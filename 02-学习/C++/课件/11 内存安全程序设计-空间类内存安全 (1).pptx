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26"/>
  </p:notesMasterIdLst>
  <p:handoutMasterIdLst>
    <p:handoutMasterId r:id="rId27"/>
  </p:handoutMasterIdLst>
  <p:sldIdLst>
    <p:sldId id="367" r:id="rId6"/>
    <p:sldId id="382" r:id="rId7"/>
    <p:sldId id="427" r:id="rId8"/>
    <p:sldId id="390" r:id="rId9"/>
    <p:sldId id="411" r:id="rId10"/>
    <p:sldId id="391" r:id="rId11"/>
    <p:sldId id="412" r:id="rId12"/>
    <p:sldId id="422" r:id="rId13"/>
    <p:sldId id="423" r:id="rId14"/>
    <p:sldId id="414" r:id="rId15"/>
    <p:sldId id="415" r:id="rId16"/>
    <p:sldId id="416" r:id="rId17"/>
    <p:sldId id="413" r:id="rId18"/>
    <p:sldId id="417" r:id="rId19"/>
    <p:sldId id="418" r:id="rId20"/>
    <p:sldId id="419" r:id="rId21"/>
    <p:sldId id="424" r:id="rId22"/>
    <p:sldId id="425" r:id="rId23"/>
    <p:sldId id="426" r:id="rId24"/>
    <p:sldId id="42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585E08"/>
    <a:srgbClr val="660066"/>
    <a:srgbClr val="F60000"/>
    <a:srgbClr val="FFFF00"/>
    <a:srgbClr val="000000"/>
    <a:srgbClr val="1BB54E"/>
    <a:srgbClr val="F1E7E7"/>
    <a:srgbClr val="FFFFFF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15" autoAdjust="0"/>
  </p:normalViewPr>
  <p:slideViewPr>
    <p:cSldViewPr snapToGrid="0">
      <p:cViewPr varScale="1">
        <p:scale>
          <a:sx n="122" d="100"/>
          <a:sy n="122" d="100"/>
        </p:scale>
        <p:origin x="396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1B7AC-EF47-46E5-B92B-F2D54A97B1EA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E4647-9947-4B64-B5DC-CF2057819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1166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194BB-0A04-4E4D-8275-4042BBD91D77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05382-D517-4F7D-80E6-28CD52617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3397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538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710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651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977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185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631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227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829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543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0162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831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676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862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790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9234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0331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053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28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E256-F66A-4B33-A526-DF4CA354039F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40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4FF6-2845-4DF7-938B-FB08AEF0EF0E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05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5FC6-87A6-4A4F-903B-2FB9B76B9D5C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619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10A6-52D1-4F03-8F9D-FFDB98576A22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7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D7D5-78B4-458A-873F-4FCA648581F1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63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4FBEF-3132-49B9-9386-DE893212B639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6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D25F7-1DFA-4B37-81B1-FD10919BCB68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45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F397-8B04-477A-B635-456E3D462023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52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B6FA5-BC77-451D-9E26-9CAFEA1688BE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34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27A41-9150-4A15-A5DE-9AF1C9B8AAD0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555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7E97-9A83-47FA-BFA7-4C32D4D0D7EF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177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 txBox="1">
            <a:spLocks/>
          </p:cNvSpPr>
          <p:nvPr userDrawn="1"/>
        </p:nvSpPr>
        <p:spPr>
          <a:xfrm>
            <a:off x="31751" y="6704014"/>
            <a:ext cx="2032000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Concordia University </a:t>
            </a:r>
            <a:endParaRPr lang="en-US" sz="1200" dirty="0"/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3407834" y="6704014"/>
            <a:ext cx="5183717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Department of Computer Science and Software Engineering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620688"/>
            <a:ext cx="11521280" cy="5976664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4"/>
          <p:cNvSpPr>
            <a:spLocks noGrp="1"/>
          </p:cNvSpPr>
          <p:nvPr>
            <p:ph type="title"/>
          </p:nvPr>
        </p:nvSpPr>
        <p:spPr>
          <a:xfrm>
            <a:off x="239350" y="180174"/>
            <a:ext cx="11728869" cy="360357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0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745133" y="6704014"/>
            <a:ext cx="2523067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0668000" y="26989"/>
            <a:ext cx="1422400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fld id="{98703A65-A875-4E9C-89CA-880E7BF5FB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2"/>
          </p:nvPr>
        </p:nvSpPr>
        <p:spPr>
          <a:xfrm>
            <a:off x="122767" y="26989"/>
            <a:ext cx="6830484" cy="109537"/>
          </a:xfrm>
        </p:spPr>
        <p:txBody>
          <a:bodyPr/>
          <a:lstStyle>
            <a:lvl1pPr algn="l">
              <a:defRPr sz="120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791331D7-8162-414A-9140-34240A59E74A}" type="datetime1">
              <a:rPr lang="zh-CN" altLang="en-US" smtClean="0"/>
              <a:t>2025/4/14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16172"/>
      </p:ext>
    </p:extLst>
  </p:cSld>
  <p:clrMapOvr>
    <a:masterClrMapping/>
  </p:clrMapOvr>
  <p:transition spd="med">
    <p:pull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/>
          <p:cNvSpPr txBox="1">
            <a:spLocks/>
          </p:cNvSpPr>
          <p:nvPr userDrawn="1"/>
        </p:nvSpPr>
        <p:spPr>
          <a:xfrm>
            <a:off x="31751" y="6704014"/>
            <a:ext cx="2032000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Concordia University </a:t>
            </a:r>
            <a:endParaRPr lang="en-US" sz="1200" dirty="0"/>
          </a:p>
        </p:txBody>
      </p:sp>
      <p:sp>
        <p:nvSpPr>
          <p:cNvPr id="4" name="Footer Placeholder 4"/>
          <p:cNvSpPr txBox="1">
            <a:spLocks/>
          </p:cNvSpPr>
          <p:nvPr userDrawn="1"/>
        </p:nvSpPr>
        <p:spPr>
          <a:xfrm>
            <a:off x="3407834" y="6704014"/>
            <a:ext cx="5183717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Department of Computer Science and Software Engineering</a:t>
            </a:r>
            <a:endParaRPr lang="en-US" sz="1200" dirty="0"/>
          </a:p>
        </p:txBody>
      </p:sp>
      <p:sp>
        <p:nvSpPr>
          <p:cNvPr id="10" name="Title Placeholder 14"/>
          <p:cNvSpPr>
            <a:spLocks noGrp="1"/>
          </p:cNvSpPr>
          <p:nvPr>
            <p:ph type="title"/>
          </p:nvPr>
        </p:nvSpPr>
        <p:spPr>
          <a:xfrm>
            <a:off x="239350" y="180174"/>
            <a:ext cx="11728869" cy="360357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0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745133" y="6704014"/>
            <a:ext cx="2523067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0668000" y="26989"/>
            <a:ext cx="1422400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fld id="{736DAF89-DCC0-41F3-8953-363ED3B501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>
          <a:xfrm>
            <a:off x="118534" y="26989"/>
            <a:ext cx="6830484" cy="109537"/>
          </a:xfrm>
        </p:spPr>
        <p:txBody>
          <a:bodyPr/>
          <a:lstStyle>
            <a:lvl1pPr algn="l">
              <a:defRPr sz="120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BCF3B33D-2AFF-4737-A67C-D70578A9E7BF}" type="datetime1">
              <a:rPr lang="zh-CN" altLang="en-US" smtClean="0"/>
              <a:t>2025/4/14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83097"/>
      </p:ext>
    </p:extLst>
  </p:cSld>
  <p:clrMapOvr>
    <a:masterClrMapping/>
  </p:clrMapOvr>
  <p:transition spd="med">
    <p:pull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7BF7FD-94E4-41A9-AC43-E1750A37824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7130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93ADA-353E-435D-82B6-9D08FCCD3BDF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7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891FFF-276D-4824-B30C-5E2E714351E7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946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913103-3534-4122-8CCF-3EE333EDD74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864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8C854-33CC-4A36-8036-4612C36F58A1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761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AF441-E971-43A4-9983-620A2F525A87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94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FBDF75-F847-4295-87F8-338793C74B9F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2778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0B81F-2814-4B9B-915E-74F5D17426CD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029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BE1D44-292C-4EF0-8808-4B90E29666A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647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D11E66-F9FF-4DC5-B334-C31A21822AB7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0912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170042-47D1-4A25-9C6B-003403385066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325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1386A4-0003-41F3-BC7E-4C7A43E3BE3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1894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6D0D60-0814-409C-9995-B2DD5A56BA8F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2079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E3E97E-DC3E-4916-8524-4798F1501CED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6484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34A766-58DB-487C-A12E-A58EE3CA2CD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3369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6DB74F-B5B7-4307-977C-6F9EE9481F8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1522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836279-0568-443E-A424-124A425A9DF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028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63BAD0-9B92-4AA4-BA88-CD2A7845EC0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0494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AB24CE-6F86-4DFB-BDE0-A3DAB8E58DDA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884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8FDE7-C330-46DF-9F6B-4DBC92275DE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4481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0376E9-50D4-4556-8A86-AC4B341E5135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5414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D5FE6-7306-4D5B-9A3D-127B4979E8D0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8740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7A8416-DE90-44ED-BD18-38E3E844A559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4626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D9F848-BC0C-460C-91DE-46AA55333A7F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7526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F79CD-DAE8-4ED3-A2F6-D570724ED50B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3039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9282B-7091-41FE-9CDA-ACCB3B78C48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80305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F289E0-3CF8-4753-B411-DDF02CC5A639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7539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183ADA-B484-4CF5-83CC-6BD07C8B0425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98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54E586-FF0F-4632-990B-CC41DF324735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0117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F0311C-036B-4C92-BD65-C3E0780CE2B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1076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8CDD34-2AA4-4718-8096-9C7525F12F4E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089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104E29-67FE-4F27-B12C-0572FAE6D7C9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7214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E3CFDD-4563-4BC5-BD1C-12F12ED197DB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8399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F2E2C7-BB10-413D-A8E8-B1E0B6E49FD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36179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29F823-08AB-4D9C-967C-B55E635F48D8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670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E3C32C-E6E6-4B2A-A102-3FBC74FFEFD8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650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9513EC-0DE9-4CFB-8C2B-9BB926171CD6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4324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70CC6-AB59-4CAA-A0C2-45CA8E78DBD7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111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B77FE0-1E89-424B-BB8D-3427DCA758B1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693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1EA4FB-5099-407B-B393-45872F28DD18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1150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904C8F-93B3-4FE2-A840-2F3FE8837F2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3557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AC352-B0D7-415B-8CC7-B5B1FEFE2447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4764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3D52F-81DC-4197-AE9A-BE697A7E55EF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92733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159ECC-F086-422B-B9B0-D69503FB65CA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48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41853-DAC4-49B8-B69A-71C83452BF83}" type="datetime1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39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08" r:id="rId12"/>
    <p:sldLayoutId id="2147483709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1DA877-BB43-4BFF-9709-AD32975033CA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26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7F49D6-1487-4855-9CA4-70223A012898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891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33858F-202D-4BF6-B1B0-3CF6C191CDB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41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D7B19F-B49C-4A39-A316-A44FCE8F59AE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2025/4/14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</a:t>
            </a:r>
            <a:r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左志强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08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69546" y="1656057"/>
            <a:ext cx="10955214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 b="1" dirty="0" smtClean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华文新魏"/>
              </a:rPr>
              <a:t>Memory-safety Programming</a:t>
            </a:r>
            <a:br>
              <a:rPr lang="en-US" altLang="zh-CN" sz="4800" b="1" dirty="0" smtClean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华文新魏"/>
              </a:rPr>
            </a:br>
            <a:r>
              <a:rPr lang="zh-CN" altLang="en-US" sz="4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/>
              </a:rPr>
              <a:t>内存安全程序设计</a:t>
            </a:r>
            <a:endParaRPr lang="zh-CN" altLang="en-US" sz="6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新魏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56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 smtClean="0">
                <a:latin typeface="Arial Black" panose="020B0A04020102020204" pitchFamily="34" charset="0"/>
                <a:ea typeface="微软雅黑" panose="020B0503020204020204" pitchFamily="34" charset="-122"/>
              </a:rPr>
              <a:t>Content</a:t>
            </a:r>
            <a:r>
              <a:rPr lang="en-US" altLang="zh-CN" sz="3600" b="1" dirty="0" smtClean="0">
                <a:latin typeface="Arial Black" panose="020B0A04020102020204" pitchFamily="34" charset="0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 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Memory-safety problems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Temporal memory problems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smart pointer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Spatial memory problems</a:t>
            </a:r>
            <a:r>
              <a:rPr lang="zh-CN" altLang="en-US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dynamic bound checking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20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989666" cy="507877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时间类内存安全（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Temporal safety caused by lifetime violation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释放后使用（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Use after free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重复释放（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Double free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悬垂指针（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Dangling pointer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内存泄漏（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Memory leak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空间类内存安全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Spatial safety caused by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wrong access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缓冲区溢出（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Buffer overflow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解引用空指针（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Null pointer dereferencing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访问未初始化内存（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Dereference uninitialized pointer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…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Taxonomy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</a:t>
            </a:r>
            <a:r>
              <a:rPr lang="en-US" altLang="zh-CN"/>
              <a:t>-</a:t>
            </a:r>
            <a:r>
              <a:rPr lang="zh-CN" altLang="en-US"/>
              <a:t>左志强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67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675" y="1418413"/>
            <a:ext cx="8638677" cy="393571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3918" y="5745707"/>
            <a:ext cx="10724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根据微软安全响应中心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(MSRC)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的报告，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空间内存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安全仍然为最常见安全类型。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76923" y="1459218"/>
            <a:ext cx="1672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图片源于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Matt Miller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Spatial Memory Safety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62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745038" y="1598193"/>
            <a:ext cx="10576473" cy="217564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空间类内存安全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Spatial safety caused by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wrong access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缓冲区溢出（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Buffer overflow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解引用空指针（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Null pointer dereferencing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访问未初始化内存（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Dereference uninitialized pointer</a:t>
            </a:r>
            <a:r>
              <a:rPr lang="zh-CN" altLang="en-US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 smtClean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…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69761" y="4234621"/>
            <a:ext cx="7594171" cy="14625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600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3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从程序设计的</a:t>
            </a:r>
            <a:r>
              <a:rPr lang="zh-CN" altLang="en-US" sz="3600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角度</a:t>
            </a:r>
            <a:r>
              <a:rPr lang="zh-CN" altLang="en-US" sz="3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防护</a:t>
            </a:r>
            <a:endParaRPr lang="en-US" altLang="zh-CN" sz="3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3600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空间类内存安全问题？</a:t>
            </a:r>
            <a:endParaRPr lang="zh-CN" altLang="en-US" sz="3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Spatial Memory Safety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4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4693" y="1637936"/>
            <a:ext cx="11004934" cy="40034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空间类内存安全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问题，</a:t>
            </a:r>
            <a:r>
              <a:rPr lang="zh-CN" alt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动态校验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必不可少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meta-data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base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bound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校验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已有增强语言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Cyclone: fat pointer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bound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信息进行封装，动态更新，访问时校验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SoftBound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fat pointer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采用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shadow memory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实现，动态更新校验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Checked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增加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annotation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，静态更新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bound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信息，编译插入动态校验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56421" y="6304002"/>
            <a:ext cx="80827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Jim et al., Cyclone: A Type-Safe Dialect of C, ATC’02</a:t>
            </a:r>
          </a:p>
          <a:p>
            <a:pPr marL="285750" indent="-2857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altLang="zh-CN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Nagarakatte</a:t>
            </a: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 et al., Everything You Want to Know About Pointer-Based Checking, SNAPL’15</a:t>
            </a:r>
          </a:p>
          <a:p>
            <a:pPr marL="285750" indent="-2857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Elliott et al., Checked C: Making C Safe by Extension, SDC’18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Consensus on Spatial Memory Safety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90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615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Fat-pointer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6173" y="18876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= </a:t>
            </a:r>
            <a:r>
              <a:rPr lang="en-US" altLang="zh-CN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zh-CN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(size</a:t>
            </a:r>
            <a:r>
              <a:rPr lang="en-US" altLang="zh-CN" b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 base = p;</a:t>
            </a:r>
          </a:p>
          <a:p>
            <a:pPr marL="0" indent="0">
              <a:buNone/>
            </a:pPr>
            <a:r>
              <a:rPr lang="en-US" altLang="zh-CN" sz="24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p_bound</a:t>
            </a: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(p!=0)?(</a:t>
            </a:r>
            <a:r>
              <a:rPr lang="en-US" altLang="zh-CN" sz="24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p+size</a:t>
            </a: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):0;</a:t>
            </a:r>
          </a:p>
          <a:p>
            <a:endParaRPr lang="en-US" altLang="zh-CN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 &lt; </a:t>
            </a:r>
            <a:r>
              <a:rPr lang="en-US" altLang="zh-CN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p_base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 p &gt;= </a:t>
            </a:r>
            <a:r>
              <a:rPr lang="en-US" altLang="zh-CN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p_bound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raise 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*p = … or … = *p;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77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615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Fat-pointer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6173" y="18876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= </a:t>
            </a:r>
            <a:r>
              <a:rPr lang="en-US" altLang="zh-CN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zh-CN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(size</a:t>
            </a:r>
            <a:r>
              <a:rPr lang="en-US" altLang="zh-CN" b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_ base = p;</a:t>
            </a:r>
          </a:p>
          <a:p>
            <a:pPr marL="0" indent="0">
              <a:buNone/>
            </a:pPr>
            <a:r>
              <a:rPr lang="en-US" altLang="zh-CN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p_bound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(p!=0)?(</a:t>
            </a:r>
            <a:r>
              <a:rPr lang="en-US" altLang="zh-CN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p+size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):0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zh-CN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 &lt; </a:t>
            </a:r>
            <a:r>
              <a:rPr lang="en-US" altLang="zh-CN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p_base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 p &gt;= </a:t>
            </a:r>
            <a:r>
              <a:rPr lang="en-US" altLang="zh-CN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p_bound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raise 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altLang="zh-CN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*p = … or … = *p;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8017792" y="1655061"/>
            <a:ext cx="3627132" cy="2995041"/>
            <a:chOff x="8017792" y="1655061"/>
            <a:chExt cx="3627132" cy="2995041"/>
          </a:xfrm>
        </p:grpSpPr>
        <p:grpSp>
          <p:nvGrpSpPr>
            <p:cNvPr id="36" name="组合 35"/>
            <p:cNvGrpSpPr/>
            <p:nvPr/>
          </p:nvGrpSpPr>
          <p:grpSpPr>
            <a:xfrm>
              <a:off x="8017792" y="1655061"/>
              <a:ext cx="3627132" cy="2995041"/>
              <a:chOff x="8017792" y="1655061"/>
              <a:chExt cx="3627132" cy="2995041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8320005" y="1655061"/>
                <a:ext cx="1560164" cy="2995041"/>
                <a:chOff x="7335863" y="1693807"/>
                <a:chExt cx="1560164" cy="2995041"/>
              </a:xfrm>
            </p:grpSpPr>
            <p:pic>
              <p:nvPicPr>
                <p:cNvPr id="9" name="Picture 7"/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875" r="9996"/>
                <a:stretch/>
              </p:blipFill>
              <p:spPr bwMode="auto">
                <a:xfrm>
                  <a:off x="7338446" y="1693807"/>
                  <a:ext cx="1557581" cy="1447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" name="Picture 7"/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875" r="9996"/>
                <a:stretch/>
              </p:blipFill>
              <p:spPr bwMode="auto">
                <a:xfrm>
                  <a:off x="7335863" y="3241048"/>
                  <a:ext cx="1557581" cy="1447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1" name="文本框 10"/>
              <p:cNvSpPr txBox="1"/>
              <p:nvPr/>
            </p:nvSpPr>
            <p:spPr>
              <a:xfrm>
                <a:off x="8965769" y="2898183"/>
                <a:ext cx="426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017792" y="1926956"/>
                <a:ext cx="4262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endParaRPr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9" name="肘形连接符 18"/>
              <p:cNvCxnSpPr/>
              <p:nvPr/>
            </p:nvCxnSpPr>
            <p:spPr>
              <a:xfrm rot="16200000" flipH="1">
                <a:off x="9190509" y="2905916"/>
                <a:ext cx="1407733" cy="12915"/>
              </a:xfrm>
              <a:prstGeom prst="bentConnector4">
                <a:avLst>
                  <a:gd name="adj1" fmla="val 68"/>
                  <a:gd name="adj2" fmla="val 1930035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文本框 28"/>
              <p:cNvSpPr txBox="1"/>
              <p:nvPr/>
            </p:nvSpPr>
            <p:spPr>
              <a:xfrm>
                <a:off x="8986434" y="3810000"/>
                <a:ext cx="426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0246965" y="3202983"/>
                <a:ext cx="1369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altLang="zh-CN" sz="2400" dirty="0" err="1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_base</a:t>
                </a:r>
                <a:endParaRPr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0275908" y="4069696"/>
                <a:ext cx="1369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err="1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p_bound</a:t>
                </a:r>
                <a:endParaRPr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33" name="直接箭头连接符 32"/>
              <p:cNvCxnSpPr/>
              <p:nvPr/>
            </p:nvCxnSpPr>
            <p:spPr>
              <a:xfrm flipH="1">
                <a:off x="9989124" y="4370867"/>
                <a:ext cx="310231" cy="118807"/>
              </a:xfrm>
              <a:prstGeom prst="straightConnector1">
                <a:avLst/>
              </a:prstGeom>
              <a:ln w="9525">
                <a:prstDash val="lgDash"/>
                <a:headEnd w="sm" len="med"/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>
              <a:xfrm flipH="1">
                <a:off x="10001573" y="3514219"/>
                <a:ext cx="278971" cy="55558"/>
              </a:xfrm>
              <a:prstGeom prst="straightConnector1">
                <a:avLst/>
              </a:prstGeom>
              <a:ln w="9525">
                <a:prstDash val="lgDash"/>
                <a:headEnd w="sm" len="med"/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左大括号 34"/>
              <p:cNvSpPr/>
              <p:nvPr/>
            </p:nvSpPr>
            <p:spPr>
              <a:xfrm>
                <a:off x="8082367" y="3595607"/>
                <a:ext cx="224726" cy="914400"/>
              </a:xfrm>
              <a:prstGeom prst="leftBrace">
                <a:avLst/>
              </a:prstGeom>
              <a:ln w="9525">
                <a:prstDash val="lg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矩形 36"/>
            <p:cNvSpPr/>
            <p:nvPr/>
          </p:nvSpPr>
          <p:spPr>
            <a:xfrm>
              <a:off x="8376834" y="3603356"/>
              <a:ext cx="1480088" cy="906651"/>
            </a:xfrm>
            <a:prstGeom prst="rect">
              <a:avLst/>
            </a:prstGeom>
            <a:solidFill>
              <a:schemeClr val="accent1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91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615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Fat-pointer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6173" y="18876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= </a:t>
            </a:r>
            <a:r>
              <a:rPr lang="en-US" altLang="zh-CN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altLang="zh-CN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(size</a:t>
            </a:r>
            <a:r>
              <a:rPr lang="en-US" altLang="zh-CN" b="1" dirty="0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_ base = p;</a:t>
            </a:r>
          </a:p>
          <a:p>
            <a:pPr marL="0" indent="0">
              <a:buNone/>
            </a:pPr>
            <a:r>
              <a:rPr lang="en-US" altLang="zh-CN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p_bound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(p!=0)?(</a:t>
            </a:r>
            <a:r>
              <a:rPr lang="en-US" altLang="zh-CN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p+size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):0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zh-CN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 &lt;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p_base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|| p &gt;=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p_bound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raise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altLang="zh-CN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*p = … or … = *p;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8017792" y="1655061"/>
            <a:ext cx="3627132" cy="2995041"/>
            <a:chOff x="8017792" y="1655061"/>
            <a:chExt cx="3627132" cy="2995041"/>
          </a:xfrm>
        </p:grpSpPr>
        <p:grpSp>
          <p:nvGrpSpPr>
            <p:cNvPr id="36" name="组合 35"/>
            <p:cNvGrpSpPr/>
            <p:nvPr/>
          </p:nvGrpSpPr>
          <p:grpSpPr>
            <a:xfrm>
              <a:off x="8017792" y="1655061"/>
              <a:ext cx="3627132" cy="2995041"/>
              <a:chOff x="8017792" y="1655061"/>
              <a:chExt cx="3627132" cy="2995041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8320005" y="1655061"/>
                <a:ext cx="1560164" cy="2995041"/>
                <a:chOff x="7335863" y="1693807"/>
                <a:chExt cx="1560164" cy="2995041"/>
              </a:xfrm>
            </p:grpSpPr>
            <p:pic>
              <p:nvPicPr>
                <p:cNvPr id="9" name="Picture 7"/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875" r="9996"/>
                <a:stretch/>
              </p:blipFill>
              <p:spPr bwMode="auto">
                <a:xfrm>
                  <a:off x="7338446" y="1693807"/>
                  <a:ext cx="1557581" cy="1447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" name="Picture 7"/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875" r="9996"/>
                <a:stretch/>
              </p:blipFill>
              <p:spPr bwMode="auto">
                <a:xfrm>
                  <a:off x="7335863" y="3241048"/>
                  <a:ext cx="1557581" cy="1447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1" name="文本框 10"/>
              <p:cNvSpPr txBox="1"/>
              <p:nvPr/>
            </p:nvSpPr>
            <p:spPr>
              <a:xfrm>
                <a:off x="8965769" y="2898183"/>
                <a:ext cx="426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017792" y="1926956"/>
                <a:ext cx="4262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endParaRPr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9" name="肘形连接符 18"/>
              <p:cNvCxnSpPr/>
              <p:nvPr/>
            </p:nvCxnSpPr>
            <p:spPr>
              <a:xfrm rot="16200000" flipH="1">
                <a:off x="9190509" y="2905916"/>
                <a:ext cx="1407733" cy="12915"/>
              </a:xfrm>
              <a:prstGeom prst="bentConnector4">
                <a:avLst>
                  <a:gd name="adj1" fmla="val 68"/>
                  <a:gd name="adj2" fmla="val 1930035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文本框 28"/>
              <p:cNvSpPr txBox="1"/>
              <p:nvPr/>
            </p:nvSpPr>
            <p:spPr>
              <a:xfrm>
                <a:off x="8986434" y="3810000"/>
                <a:ext cx="426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0246965" y="3202983"/>
                <a:ext cx="1369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altLang="zh-CN" sz="2400" dirty="0" err="1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_base</a:t>
                </a:r>
                <a:endParaRPr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0275908" y="4069696"/>
                <a:ext cx="1369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err="1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p_bound</a:t>
                </a:r>
                <a:endParaRPr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33" name="直接箭头连接符 32"/>
              <p:cNvCxnSpPr/>
              <p:nvPr/>
            </p:nvCxnSpPr>
            <p:spPr>
              <a:xfrm flipH="1">
                <a:off x="9989124" y="4370867"/>
                <a:ext cx="310231" cy="118807"/>
              </a:xfrm>
              <a:prstGeom prst="straightConnector1">
                <a:avLst/>
              </a:prstGeom>
              <a:ln w="9525">
                <a:prstDash val="lgDash"/>
                <a:headEnd w="sm" len="med"/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>
              <a:xfrm flipH="1">
                <a:off x="10001573" y="3514219"/>
                <a:ext cx="278971" cy="55558"/>
              </a:xfrm>
              <a:prstGeom prst="straightConnector1">
                <a:avLst/>
              </a:prstGeom>
              <a:ln w="9525">
                <a:prstDash val="lgDash"/>
                <a:headEnd w="sm" len="med"/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左大括号 34"/>
              <p:cNvSpPr/>
              <p:nvPr/>
            </p:nvSpPr>
            <p:spPr>
              <a:xfrm>
                <a:off x="8082367" y="3595607"/>
                <a:ext cx="224726" cy="914400"/>
              </a:xfrm>
              <a:prstGeom prst="leftBrace">
                <a:avLst/>
              </a:prstGeom>
              <a:ln w="9525">
                <a:prstDash val="lg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矩形 36"/>
            <p:cNvSpPr/>
            <p:nvPr/>
          </p:nvSpPr>
          <p:spPr>
            <a:xfrm>
              <a:off x="8376834" y="3603356"/>
              <a:ext cx="1480088" cy="906651"/>
            </a:xfrm>
            <a:prstGeom prst="rect">
              <a:avLst/>
            </a:prstGeom>
            <a:solidFill>
              <a:schemeClr val="accent1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18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Meta-data Storage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0264" y="6526034"/>
            <a:ext cx="8082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 err="1" smtClean="0"/>
              <a:t>Nagarakatte</a:t>
            </a:r>
            <a:r>
              <a:rPr lang="en-US" altLang="zh-CN" dirty="0" smtClean="0"/>
              <a:t> </a:t>
            </a:r>
            <a:r>
              <a:rPr lang="en-US" altLang="zh-CN" dirty="0"/>
              <a:t>et al., Everything You Want to Know About Pointer-Based Checking, </a:t>
            </a:r>
            <a:r>
              <a:rPr lang="en-US" altLang="zh-CN" dirty="0" smtClean="0"/>
              <a:t>SNAPL’15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33629" r="-467"/>
          <a:stretch/>
        </p:blipFill>
        <p:spPr>
          <a:xfrm>
            <a:off x="4695987" y="1554053"/>
            <a:ext cx="6005593" cy="268674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r="83975" b="56488"/>
          <a:stretch/>
        </p:blipFill>
        <p:spPr>
          <a:xfrm>
            <a:off x="1842765" y="2090253"/>
            <a:ext cx="2016314" cy="163708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91152" y="4719233"/>
            <a:ext cx="109185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近指针存储方式，导致</a:t>
            </a:r>
            <a:r>
              <a:rPr lang="en-US" altLang="zh-CN" sz="3200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layout</a:t>
            </a:r>
            <a:r>
              <a:rPr lang="zh-CN" altLang="en-US" sz="3200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的修改，</a:t>
            </a:r>
            <a:endParaRPr lang="en-US" altLang="zh-CN" sz="3200" dirty="0" smtClean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影响兼容性</a:t>
            </a:r>
            <a:endParaRPr lang="zh-CN" altLang="en-US" sz="32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27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内容占位符 20"/>
          <p:cNvSpPr>
            <a:spLocks noGrp="1"/>
          </p:cNvSpPr>
          <p:nvPr>
            <p:ph sz="half" idx="2"/>
          </p:nvPr>
        </p:nvSpPr>
        <p:spPr>
          <a:xfrm>
            <a:off x="6365927" y="2244080"/>
            <a:ext cx="59164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不同实现方式：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shadow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space 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(a linear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region of memory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hash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table</a:t>
            </a:r>
          </a:p>
          <a:p>
            <a:pPr lvl="1">
              <a:lnSpc>
                <a:spcPct val="10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trie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data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structure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2448" y="6533850"/>
            <a:ext cx="8082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 err="1" smtClean="0"/>
              <a:t>Nagarakatte</a:t>
            </a:r>
            <a:r>
              <a:rPr lang="en-US" altLang="zh-CN" dirty="0" smtClean="0"/>
              <a:t> </a:t>
            </a:r>
            <a:r>
              <a:rPr lang="en-US" altLang="zh-CN" dirty="0"/>
              <a:t>et al., Everything You Want to Know About Pointer-Based Checking, </a:t>
            </a:r>
            <a:r>
              <a:rPr lang="en-US" altLang="zh-CN" dirty="0" smtClean="0"/>
              <a:t>SNAPL’15</a:t>
            </a:r>
            <a:endParaRPr lang="en-US" altLang="zh-CN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279819" y="2014779"/>
            <a:ext cx="4919503" cy="3527075"/>
            <a:chOff x="3519324" y="1224365"/>
            <a:chExt cx="5655672" cy="4178005"/>
          </a:xfrm>
        </p:grpSpPr>
        <p:grpSp>
          <p:nvGrpSpPr>
            <p:cNvPr id="18" name="组合 17"/>
            <p:cNvGrpSpPr/>
            <p:nvPr/>
          </p:nvGrpSpPr>
          <p:grpSpPr>
            <a:xfrm>
              <a:off x="3519324" y="1224365"/>
              <a:ext cx="5252715" cy="3656793"/>
              <a:chOff x="3643312" y="1666875"/>
              <a:chExt cx="4919502" cy="3524250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3312" y="1666875"/>
                <a:ext cx="4905375" cy="3524250"/>
              </a:xfrm>
              <a:prstGeom prst="rect">
                <a:avLst/>
              </a:prstGeom>
            </p:spPr>
          </p:pic>
          <p:cxnSp>
            <p:nvCxnSpPr>
              <p:cNvPr id="11" name="直接连接符 10"/>
              <p:cNvCxnSpPr/>
              <p:nvPr/>
            </p:nvCxnSpPr>
            <p:spPr>
              <a:xfrm>
                <a:off x="8562813" y="1867546"/>
                <a:ext cx="1" cy="32004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2485" y="5036950"/>
              <a:ext cx="2522511" cy="365420"/>
            </a:xfrm>
            <a:prstGeom prst="rect">
              <a:avLst/>
            </a:prstGeom>
          </p:spPr>
        </p:pic>
      </p:grp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Meta-data Storage: Disjoint Space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22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88079" y="6526035"/>
            <a:ext cx="8082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 err="1" smtClean="0"/>
              <a:t>Nagarakatte</a:t>
            </a:r>
            <a:r>
              <a:rPr lang="en-US" altLang="zh-CN" dirty="0" smtClean="0"/>
              <a:t> </a:t>
            </a:r>
            <a:r>
              <a:rPr lang="en-US" altLang="zh-CN" dirty="0"/>
              <a:t>et al., CETS: Compiler-Enforced Temporal Safety for C, </a:t>
            </a:r>
            <a:r>
              <a:rPr lang="en-US" altLang="zh-CN" dirty="0" smtClean="0"/>
              <a:t>ISMM’10</a:t>
            </a:r>
            <a:endParaRPr lang="en-US" altLang="zh-CN" dirty="0"/>
          </a:p>
        </p:txBody>
      </p:sp>
      <p:grpSp>
        <p:nvGrpSpPr>
          <p:cNvPr id="8" name="组合 7"/>
          <p:cNvGrpSpPr/>
          <p:nvPr/>
        </p:nvGrpSpPr>
        <p:grpSpPr>
          <a:xfrm>
            <a:off x="3740097" y="1526583"/>
            <a:ext cx="5799110" cy="3457655"/>
            <a:chOff x="2291005" y="1689011"/>
            <a:chExt cx="6248561" cy="380667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91005" y="1689011"/>
              <a:ext cx="6248561" cy="380667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4"/>
            <a:srcRect t="-1" r="3121" b="2380"/>
            <a:stretch/>
          </p:blipFill>
          <p:spPr>
            <a:xfrm>
              <a:off x="7220516" y="2622323"/>
              <a:ext cx="1233810" cy="198368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3611105" y="5385661"/>
            <a:ext cx="6214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Trie</a:t>
            </a:r>
            <a:r>
              <a:rPr lang="en-US" altLang="zh-CN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 data structure for meta-data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Meta-data Storage: Disjoint Space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53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75689" y="2406868"/>
            <a:ext cx="2964574" cy="2371053"/>
            <a:chOff x="4546168" y="2267920"/>
            <a:chExt cx="3481955" cy="280002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/>
            <a:srcRect l="29265" r="36625" b="58669"/>
            <a:stretch/>
          </p:blipFill>
          <p:spPr>
            <a:xfrm>
              <a:off x="4564251" y="2267920"/>
              <a:ext cx="3463872" cy="1560162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3"/>
            <a:srcRect l="29265" t="51663" r="36625" b="23703"/>
            <a:stretch/>
          </p:blipFill>
          <p:spPr>
            <a:xfrm>
              <a:off x="4546168" y="4138047"/>
              <a:ext cx="3463872" cy="929899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8144362" y="2402238"/>
            <a:ext cx="2960174" cy="2355742"/>
            <a:chOff x="8221851" y="2110354"/>
            <a:chExt cx="3476787" cy="278194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3"/>
            <a:srcRect l="64621" t="1" r="1268" b="57164"/>
            <a:stretch/>
          </p:blipFill>
          <p:spPr>
            <a:xfrm>
              <a:off x="8221851" y="2110354"/>
              <a:ext cx="3463872" cy="161699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3"/>
            <a:srcRect l="64621" t="53169" r="1268" b="21719"/>
            <a:stretch/>
          </p:blipFill>
          <p:spPr>
            <a:xfrm>
              <a:off x="8234766" y="3944319"/>
              <a:ext cx="3463872" cy="947980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1418177" y="2440253"/>
            <a:ext cx="2342120" cy="1601318"/>
            <a:chOff x="914480" y="2156300"/>
            <a:chExt cx="2750869" cy="1891029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3"/>
            <a:srcRect l="2530" t="29335" r="72331" b="53750"/>
            <a:stretch/>
          </p:blipFill>
          <p:spPr>
            <a:xfrm>
              <a:off x="1015140" y="3408825"/>
              <a:ext cx="2552812" cy="638504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480" y="2156300"/>
              <a:ext cx="2750869" cy="1065652"/>
            </a:xfrm>
            <a:prstGeom prst="rect">
              <a:avLst/>
            </a:prstGeom>
          </p:spPr>
        </p:pic>
      </p:grpSp>
      <p:sp>
        <p:nvSpPr>
          <p:cNvPr id="18" name="文本框 17"/>
          <p:cNvSpPr txBox="1"/>
          <p:nvPr/>
        </p:nvSpPr>
        <p:spPr>
          <a:xfrm>
            <a:off x="950603" y="6533850"/>
            <a:ext cx="8082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 err="1" smtClean="0"/>
              <a:t>Nagarakatte</a:t>
            </a:r>
            <a:r>
              <a:rPr lang="en-US" altLang="zh-CN" dirty="0" smtClean="0"/>
              <a:t> </a:t>
            </a:r>
            <a:r>
              <a:rPr lang="en-US" altLang="zh-CN" dirty="0"/>
              <a:t>et al., Everything You Want to Know About Pointer-Based Checking, </a:t>
            </a:r>
            <a:r>
              <a:rPr lang="en-US" altLang="zh-CN" dirty="0" smtClean="0"/>
              <a:t>SNAPL’15</a:t>
            </a:r>
            <a:endParaRPr lang="en-US" altLang="zh-CN" dirty="0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Meta-data Update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8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/>
          <p:cNvSpPr>
            <a:spLocks noGrp="1"/>
          </p:cNvSpPr>
          <p:nvPr>
            <p:ph idx="1"/>
          </p:nvPr>
        </p:nvSpPr>
        <p:spPr>
          <a:xfrm>
            <a:off x="876945" y="1883558"/>
            <a:ext cx="10323443" cy="41685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空间开销</a:t>
            </a:r>
            <a:endParaRPr lang="en-US" altLang="zh-CN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数据结构优化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hashtable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trie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structure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硬件辅助：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Intel MPX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ARM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MTE</a:t>
            </a:r>
          </a:p>
          <a:p>
            <a:pPr lvl="1">
              <a:lnSpc>
                <a:spcPct val="1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时间开销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基于人工标注，消减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meta-data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维护开销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基于程序分析技术，消减动态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check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基于并行加速，提高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check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效率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基于专用硬件指令，提高执行效率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590568"/>
              </p:ext>
            </p:extLst>
          </p:nvPr>
        </p:nvGraphicFramePr>
        <p:xfrm>
          <a:off x="6036589" y="635430"/>
          <a:ext cx="5772036" cy="125577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24012">
                  <a:extLst>
                    <a:ext uri="{9D8B030D-6E8A-4147-A177-3AD203B41FA5}">
                      <a16:colId xmlns:a16="http://schemas.microsoft.com/office/drawing/2014/main" val="1638182426"/>
                    </a:ext>
                  </a:extLst>
                </a:gridCol>
                <a:gridCol w="1924012">
                  <a:extLst>
                    <a:ext uri="{9D8B030D-6E8A-4147-A177-3AD203B41FA5}">
                      <a16:colId xmlns:a16="http://schemas.microsoft.com/office/drawing/2014/main" val="3103177992"/>
                    </a:ext>
                  </a:extLst>
                </a:gridCol>
                <a:gridCol w="1924012">
                  <a:extLst>
                    <a:ext uri="{9D8B030D-6E8A-4147-A177-3AD203B41FA5}">
                      <a16:colId xmlns:a16="http://schemas.microsoft.com/office/drawing/2014/main" val="4141318772"/>
                    </a:ext>
                  </a:extLst>
                </a:gridCol>
              </a:tblGrid>
              <a:tr h="448349">
                <a:tc>
                  <a:txBody>
                    <a:bodyPr/>
                    <a:lstStyle/>
                    <a:p>
                      <a:pPr algn="ctr"/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空间开销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时间开销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96072"/>
                  </a:ext>
                </a:extLst>
              </a:tr>
              <a:tr h="3992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Cyclone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3.05x</a:t>
                      </a:r>
                      <a:endParaRPr lang="zh-CN" altLang="en-US" sz="1800" b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701942"/>
                  </a:ext>
                </a:extLst>
              </a:tr>
              <a:tr h="3992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SoftBound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64%-87%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2.73x</a:t>
                      </a:r>
                      <a:endParaRPr lang="zh-CN" altLang="en-US" sz="1800" b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188726"/>
                  </a:ext>
                </a:extLst>
              </a:tr>
            </a:tbl>
          </a:graphicData>
        </a:graphic>
      </p:graphicFrame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Runtime Overhead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27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7909" y="3390955"/>
            <a:ext cx="10312830" cy="266888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Range Bounds   p : bounds(e1, e2)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Only memory at or above e1, and below e2 can be accessed via pointer p</a:t>
            </a:r>
            <a:b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Count Bounds   p : count(e1)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Only memory at or above p, and below p + e1 can be accessed via pointer </a:t>
            </a:r>
            <a:r>
              <a:rPr lang="en-US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1525" y="6502588"/>
            <a:ext cx="8082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Elliott et al., Checked C: Making C Safe by Extension, SDC’18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95F6A2-8269-4C0A-B431-3EE5847E9EBF}"/>
              </a:ext>
            </a:extLst>
          </p:cNvPr>
          <p:cNvSpPr/>
          <p:nvPr/>
        </p:nvSpPr>
        <p:spPr>
          <a:xfrm>
            <a:off x="1528945" y="1729832"/>
            <a:ext cx="8932631" cy="12130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Array_ptr</a:t>
            </a: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&lt;int&gt; p : bounds(p, p + </a:t>
            </a:r>
            <a:r>
              <a:rPr 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len</a:t>
            </a: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Manual Annotation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01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Removing </a:t>
            </a: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Unsatisfiable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Checks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33370" y="6526034"/>
            <a:ext cx="92058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 smtClean="0"/>
              <a:t>Zhang </a:t>
            </a:r>
            <a:r>
              <a:rPr lang="en-US" altLang="zh-CN" dirty="0"/>
              <a:t>et al., </a:t>
            </a:r>
            <a:r>
              <a:rPr lang="en-US" altLang="zh-CN" dirty="0" err="1"/>
              <a:t>Debloating</a:t>
            </a:r>
            <a:r>
              <a:rPr lang="en-US" altLang="zh-CN" dirty="0"/>
              <a:t> Address </a:t>
            </a:r>
            <a:r>
              <a:rPr lang="en-US" altLang="zh-CN" dirty="0" smtClean="0"/>
              <a:t>Sanitizer</a:t>
            </a:r>
            <a:r>
              <a:rPr lang="en-US" altLang="zh-CN" dirty="0"/>
              <a:t>, </a:t>
            </a:r>
            <a:r>
              <a:rPr lang="en-US" altLang="zh-CN" dirty="0" smtClean="0"/>
              <a:t>Security’22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892" y="327956"/>
            <a:ext cx="4470454" cy="1415603"/>
          </a:xfrm>
          <a:prstGeom prst="rect">
            <a:avLst/>
          </a:prstGeom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Program Analysis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53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Removing </a:t>
            </a: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Unsatisfiable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Checks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Removing Recurring Checks </a:t>
            </a:r>
            <a:endParaRPr lang="en-US" altLang="zh-C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3370" y="6526034"/>
            <a:ext cx="92058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 smtClean="0"/>
              <a:t>Zhang </a:t>
            </a:r>
            <a:r>
              <a:rPr lang="en-US" altLang="zh-CN" dirty="0"/>
              <a:t>et al., </a:t>
            </a:r>
            <a:r>
              <a:rPr lang="en-US" altLang="zh-CN" dirty="0" err="1"/>
              <a:t>Debloating</a:t>
            </a:r>
            <a:r>
              <a:rPr lang="en-US" altLang="zh-CN" dirty="0"/>
              <a:t> Address </a:t>
            </a:r>
            <a:r>
              <a:rPr lang="en-US" altLang="zh-CN" dirty="0" smtClean="0"/>
              <a:t>Sanitizer</a:t>
            </a:r>
            <a:r>
              <a:rPr lang="en-US" altLang="zh-CN" dirty="0"/>
              <a:t>, </a:t>
            </a:r>
            <a:r>
              <a:rPr lang="en-US" altLang="zh-CN" dirty="0" smtClean="0"/>
              <a:t>Security’22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892" y="327956"/>
            <a:ext cx="4470454" cy="14156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r="16923"/>
          <a:stretch/>
        </p:blipFill>
        <p:spPr>
          <a:xfrm>
            <a:off x="6097806" y="1977210"/>
            <a:ext cx="4014838" cy="1277434"/>
          </a:xfrm>
          <a:prstGeom prst="rect">
            <a:avLst/>
          </a:prstGeom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Program Analysis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32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Removing </a:t>
            </a: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Unsatisfiable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Checks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Removing Recurring Checks </a:t>
            </a:r>
            <a:endParaRPr lang="en-US" altLang="zh-C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Optimizing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Neighbor </a:t>
            </a:r>
            <a:r>
              <a:rPr lang="en-US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Checks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33370" y="6526034"/>
            <a:ext cx="92058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 smtClean="0"/>
              <a:t>Zhang </a:t>
            </a:r>
            <a:r>
              <a:rPr lang="en-US" altLang="zh-CN" dirty="0"/>
              <a:t>et al., </a:t>
            </a:r>
            <a:r>
              <a:rPr lang="en-US" altLang="zh-CN" dirty="0" err="1"/>
              <a:t>Debloating</a:t>
            </a:r>
            <a:r>
              <a:rPr lang="en-US" altLang="zh-CN" dirty="0"/>
              <a:t> Address </a:t>
            </a:r>
            <a:r>
              <a:rPr lang="en-US" altLang="zh-CN" dirty="0" smtClean="0"/>
              <a:t>Sanitizer</a:t>
            </a:r>
            <a:r>
              <a:rPr lang="en-US" altLang="zh-CN" dirty="0"/>
              <a:t>, </a:t>
            </a:r>
            <a:r>
              <a:rPr lang="en-US" altLang="zh-CN" dirty="0" smtClean="0"/>
              <a:t>Security’22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892" y="327956"/>
            <a:ext cx="4470454" cy="14156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r="16923"/>
          <a:stretch/>
        </p:blipFill>
        <p:spPr>
          <a:xfrm>
            <a:off x="6097806" y="1977210"/>
            <a:ext cx="4014838" cy="127743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5"/>
          <a:srcRect r="9726"/>
          <a:stretch/>
        </p:blipFill>
        <p:spPr>
          <a:xfrm>
            <a:off x="6052597" y="3535090"/>
            <a:ext cx="4362264" cy="3098185"/>
          </a:xfrm>
          <a:prstGeom prst="rect">
            <a:avLst/>
          </a:prstGeom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Program Analysis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7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Removing </a:t>
            </a: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Unsatisfiable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Checks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Removing Recurring Checks </a:t>
            </a:r>
            <a:endParaRPr lang="en-US" altLang="zh-C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Optimizing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Neighbor </a:t>
            </a:r>
            <a:r>
              <a:rPr lang="en-US" altLang="zh-CN" dirty="0" smtClean="0">
                <a:latin typeface="Calibri" panose="020F0502020204030204" pitchFamily="34" charset="0"/>
                <a:cs typeface="Calibri" panose="020F0502020204030204" pitchFamily="34" charset="0"/>
              </a:rPr>
              <a:t>Checks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Optimizing Checks in Loops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3370" y="6526034"/>
            <a:ext cx="92058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 smtClean="0"/>
              <a:t>Zhang </a:t>
            </a:r>
            <a:r>
              <a:rPr lang="en-US" altLang="zh-CN" dirty="0"/>
              <a:t>et al., </a:t>
            </a:r>
            <a:r>
              <a:rPr lang="en-US" altLang="zh-CN" dirty="0" err="1"/>
              <a:t>Debloating</a:t>
            </a:r>
            <a:r>
              <a:rPr lang="en-US" altLang="zh-CN" dirty="0"/>
              <a:t> Address </a:t>
            </a:r>
            <a:r>
              <a:rPr lang="en-US" altLang="zh-CN" dirty="0" smtClean="0"/>
              <a:t>Sanitizer</a:t>
            </a:r>
            <a:r>
              <a:rPr lang="en-US" altLang="zh-CN" dirty="0"/>
              <a:t>, </a:t>
            </a:r>
            <a:r>
              <a:rPr lang="en-US" altLang="zh-CN" dirty="0" smtClean="0"/>
              <a:t>Security’22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892" y="327956"/>
            <a:ext cx="4470454" cy="14156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r="16923"/>
          <a:stretch/>
        </p:blipFill>
        <p:spPr>
          <a:xfrm>
            <a:off x="6097806" y="1977210"/>
            <a:ext cx="4014838" cy="1277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634" y="4262034"/>
            <a:ext cx="4272319" cy="194503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6"/>
          <a:srcRect r="9726"/>
          <a:stretch/>
        </p:blipFill>
        <p:spPr>
          <a:xfrm>
            <a:off x="6052597" y="3535090"/>
            <a:ext cx="4362264" cy="3098185"/>
          </a:xfrm>
          <a:prstGeom prst="rect">
            <a:avLst/>
          </a:prstGeom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Program Analysis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22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888078" y="6518219"/>
            <a:ext cx="10685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 smtClean="0"/>
              <a:t>Zhang </a:t>
            </a:r>
            <a:r>
              <a:rPr lang="en-US" altLang="zh-CN" dirty="0"/>
              <a:t>et al., Catamaran: Low-Overhead Memory Safety Enforcement </a:t>
            </a:r>
            <a:r>
              <a:rPr lang="en-US" altLang="zh-CN" dirty="0" smtClean="0"/>
              <a:t>via Parallel </a:t>
            </a:r>
            <a:r>
              <a:rPr lang="en-US" altLang="zh-CN" dirty="0"/>
              <a:t>Acceleration, </a:t>
            </a:r>
            <a:r>
              <a:rPr lang="en-US" altLang="zh-CN" dirty="0" smtClean="0"/>
              <a:t>ISSTA’23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406" y="1538065"/>
            <a:ext cx="7065816" cy="3948335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11676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Parallel Acceleration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南京大学</a:t>
            </a:r>
            <a:r>
              <a:rPr lang="en-US" altLang="zh-CN" smtClean="0"/>
              <a:t>-</a:t>
            </a:r>
            <a:r>
              <a:rPr lang="zh-CN" altLang="en-US" smtClean="0"/>
              <a:t>高级程序设计</a:t>
            </a:r>
            <a:r>
              <a:rPr lang="en-US" altLang="zh-CN" smtClean="0"/>
              <a:t>-</a:t>
            </a:r>
            <a:r>
              <a:rPr lang="zh-CN" altLang="en-US" smtClean="0"/>
              <a:t>左志强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63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4898</TotalTime>
  <Words>895</Words>
  <Application>Microsoft Office PowerPoint</Application>
  <PresentationFormat>宽屏</PresentationFormat>
  <Paragraphs>175</Paragraphs>
  <Slides>20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等线</vt:lpstr>
      <vt:lpstr>等线 Light</vt:lpstr>
      <vt:lpstr>黑体</vt:lpstr>
      <vt:lpstr>华文新魏</vt:lpstr>
      <vt:lpstr>微软雅黑</vt:lpstr>
      <vt:lpstr>Arial</vt:lpstr>
      <vt:lpstr>Arial Black</vt:lpstr>
      <vt:lpstr>Calibri</vt:lpstr>
      <vt:lpstr>Calibri Light</vt:lpstr>
      <vt:lpstr>Consolas</vt:lpstr>
      <vt:lpstr>Courier New</vt:lpstr>
      <vt:lpstr>Times New Roman</vt:lpstr>
      <vt:lpstr>Wingdings 2</vt:lpstr>
      <vt:lpstr>Office 主题​​</vt:lpstr>
      <vt:lpstr>HDOfficeLightV0</vt:lpstr>
      <vt:lpstr>1_HDOfficeLightV0</vt:lpstr>
      <vt:lpstr>2_HDOfficeLightV0</vt:lpstr>
      <vt:lpstr>3_HDOfficeLightV0</vt:lpstr>
      <vt:lpstr>Memory-safety Programming 内存安全程序设计</vt:lpstr>
      <vt:lpstr>Content </vt:lpstr>
      <vt:lpstr>PowerPoint 演示文稿</vt:lpstr>
      <vt:lpstr>PowerPoint 演示文稿</vt:lpstr>
      <vt:lpstr>PowerPoint 演示文稿</vt:lpstr>
      <vt:lpstr>PowerPoint 演示文稿</vt:lpstr>
      <vt:lpstr>Fat-pointer</vt:lpstr>
      <vt:lpstr>Fat-pointer</vt:lpstr>
      <vt:lpstr>Fat-pointer</vt:lpstr>
      <vt:lpstr>Meta-data Storage</vt:lpstr>
      <vt:lpstr>Meta-data Storage: Disjoint Space</vt:lpstr>
      <vt:lpstr>Meta-data Storage: Disjoint Space</vt:lpstr>
      <vt:lpstr>Meta-data Update</vt:lpstr>
      <vt:lpstr>Runtime Overhead</vt:lpstr>
      <vt:lpstr>Manual Annotation</vt:lpstr>
      <vt:lpstr>Program Analysis</vt:lpstr>
      <vt:lpstr>Program Analysis</vt:lpstr>
      <vt:lpstr>Program Analysis</vt:lpstr>
      <vt:lpstr>Program Analysis</vt:lpstr>
      <vt:lpstr>Parallel Acceleration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Zuo Zhiqiang</dc:creator>
  <cp:lastModifiedBy>Dell</cp:lastModifiedBy>
  <cp:revision>2260</cp:revision>
  <dcterms:created xsi:type="dcterms:W3CDTF">2019-12-04T06:34:48Z</dcterms:created>
  <dcterms:modified xsi:type="dcterms:W3CDTF">2025-04-14T09:23:42Z</dcterms:modified>
</cp:coreProperties>
</file>