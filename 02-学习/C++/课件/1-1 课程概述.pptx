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12"/>
  </p:notesMasterIdLst>
  <p:sldIdLst>
    <p:sldId id="256" r:id="rId2"/>
    <p:sldId id="292" r:id="rId3"/>
    <p:sldId id="293" r:id="rId4"/>
    <p:sldId id="260" r:id="rId5"/>
    <p:sldId id="283" r:id="rId6"/>
    <p:sldId id="290" r:id="rId7"/>
    <p:sldId id="291" r:id="rId8"/>
    <p:sldId id="288" r:id="rId9"/>
    <p:sldId id="294" r:id="rId10"/>
    <p:sldId id="289" r:id="rId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432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EDA1DA0C-6E33-4064-BC40-BA4167B6DF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0109257B-5E83-4EE2-BCAB-9A05FC751C7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546EB0-1328-FA24-C9E9-BE73F1EDCF8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5" name="Rectangle 5">
            <a:extLst>
              <a:ext uri="{FF2B5EF4-FFF2-40B4-BE49-F238E27FC236}">
                <a16:creationId xmlns:a16="http://schemas.microsoft.com/office/drawing/2014/main" id="{B58D2B01-498C-4BA2-BCEF-0D8D5B7A141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3126" name="Rectangle 6">
            <a:extLst>
              <a:ext uri="{FF2B5EF4-FFF2-40B4-BE49-F238E27FC236}">
                <a16:creationId xmlns:a16="http://schemas.microsoft.com/office/drawing/2014/main" id="{E5588578-C006-4CBE-8342-ECEF534D9C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7" name="Rectangle 7">
            <a:extLst>
              <a:ext uri="{FF2B5EF4-FFF2-40B4-BE49-F238E27FC236}">
                <a16:creationId xmlns:a16="http://schemas.microsoft.com/office/drawing/2014/main" id="{38D47A3F-0CAD-4005-993A-A5CE5A128E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2ECE4B0A-79C8-4777-8109-64701B3201B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5C0E1E79-5D8B-2E6A-3FDC-4FE4D6C86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50702EB-54BC-4093-BE8E-A52748AFC2E7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F75A913-7A03-B0F9-EBDF-88D9BF1FC65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D7200F7-A605-ED78-82F8-8FBFEC7C6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FF1C0F1F-19FE-B6A9-A13F-B937CAD9D8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C1BB38-14C4-41BA-BAC5-A719ED84DB5C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35ABA91-485D-1ED1-E6D8-039501F4CC2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F28F801-35D8-A869-BD82-00BAAE717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6434F8FB-1587-FB66-FABE-E40893E706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50385B-6168-43C7-94CE-C8EE9BC6BACD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9F70B07D-D8A6-2966-4FA9-AFAFB130C3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EAB7F96-1353-31BF-3EAA-D24F65A12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DF7E2BBE-706C-DD53-0DB5-9714F9DAD0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D0CC46-BB00-4094-9654-81BD4DDE73AB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2613B29-E7E9-D579-2A75-4583B6F0B4B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E246236-D9EF-5ED0-2D87-281F1C3F1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0D9BE344-47C7-6EDD-CD69-E3FBF7E2F3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4DA2CA-5A63-4A4C-B95D-F9600D0C3E0A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072830-3426-3314-743E-BADAF8445E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5F1F5BD-019D-EE4D-EEDD-FE1F35A03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8529088D-2CA7-0940-8A88-9ACB5B6B10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065FD9-9037-4E24-8158-2F93024521FD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A726E86-4B3E-84E3-44B7-7F23344948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8FB7C40-4434-40D4-FF0C-EC6FC1C38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50CBE1-5E5E-ED4F-7934-59AE18CC332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F45318-554B-12B5-CD5A-65E8BFF38E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F51055-BAA8-4933-797E-D23EB1C86D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E330F17-691D-048D-DCD2-1A65475C7E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0639EE49-7EB6-5553-3324-5B88D1F52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9571368B-7A27-BB47-A866-D112EAF8C3D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EDD1B3A8-B0FB-043E-5EB4-4F191DBF031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19A55016-6140-4EB3-5085-3AE9B43F353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A3928AFC-29A6-4354-06A3-A321FA9D46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D2BDA8B6-8DA7-F26E-AA77-61D9449667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51F8F785-DE15-AAA5-3538-9D47B80E3F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F167E944-B862-D070-280F-228EAA075C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7D27B2FB-0CA8-D06F-E030-29986CC3C97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9029A3AC-AFF7-5CC2-33A5-5764AAE21EC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46CEBDFF-D432-8B6D-869F-AFB629AA49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7602CAB-19F9-5079-4849-8CD3150C14F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C2A8A28D-6E80-B892-FD56-A5F88EF11B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FA808D08-7F52-BC3A-18D4-858BDA95A4B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F29FF6B8-AEEB-947E-EE9F-AE5BB22B7C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347669F1-93B7-624E-0365-8530985270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B2FD34B5-7BB3-B10E-717C-F6CA4E6A25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4AA4E301-E473-0645-AFBF-B3B2AB43112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79 w 717"/>
                <a:gd name="T1" fmla="*/ 845 h 845"/>
                <a:gd name="T2" fmla="*/ 879 w 717"/>
                <a:gd name="T3" fmla="*/ 821 h 845"/>
                <a:gd name="T4" fmla="*/ 736 w 717"/>
                <a:gd name="T5" fmla="*/ 605 h 845"/>
                <a:gd name="T6" fmla="*/ 487 w 717"/>
                <a:gd name="T7" fmla="*/ 396 h 845"/>
                <a:gd name="T8" fmla="*/ 30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90 w 717"/>
                <a:gd name="T15" fmla="*/ 198 h 845"/>
                <a:gd name="T16" fmla="*/ 481 w 717"/>
                <a:gd name="T17" fmla="*/ 408 h 845"/>
                <a:gd name="T18" fmla="*/ 730 w 717"/>
                <a:gd name="T19" fmla="*/ 623 h 845"/>
                <a:gd name="T20" fmla="*/ 879 w 717"/>
                <a:gd name="T21" fmla="*/ 845 h 845"/>
                <a:gd name="T22" fmla="*/ 87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2C7F510A-E6C6-3096-AAA0-1052A287F5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88 w 407"/>
                <a:gd name="T1" fmla="*/ 414 h 414"/>
                <a:gd name="T2" fmla="*/ 488 w 407"/>
                <a:gd name="T3" fmla="*/ 396 h 414"/>
                <a:gd name="T4" fmla="*/ 30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97 w 407"/>
                <a:gd name="T13" fmla="*/ 204 h 414"/>
                <a:gd name="T14" fmla="*/ 488 w 407"/>
                <a:gd name="T15" fmla="*/ 414 h 414"/>
                <a:gd name="T16" fmla="*/ 48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AA22CB81-C804-6098-6545-BEBC6AF2B0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97B1590-99D3-9AAE-8D0B-DDCAD49AB3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55 w 586"/>
                <a:gd name="T1" fmla="*/ 0 h 599"/>
                <a:gd name="T2" fmla="*/ 730 w 586"/>
                <a:gd name="T3" fmla="*/ 0 h 599"/>
                <a:gd name="T4" fmla="*/ 536 w 586"/>
                <a:gd name="T5" fmla="*/ 132 h 599"/>
                <a:gd name="T6" fmla="*/ 33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38 w 586"/>
                <a:gd name="T17" fmla="*/ 282 h 599"/>
                <a:gd name="T18" fmla="*/ 548 w 586"/>
                <a:gd name="T19" fmla="*/ 138 h 599"/>
                <a:gd name="T20" fmla="*/ 755 w 586"/>
                <a:gd name="T21" fmla="*/ 0 h 599"/>
                <a:gd name="T22" fmla="*/ 755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FCBC6B3D-8FD7-75D3-E0BC-4AE94725DFE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50 w 269"/>
                <a:gd name="T1" fmla="*/ 0 h 252"/>
                <a:gd name="T2" fmla="*/ 33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50 w 269"/>
                <a:gd name="T15" fmla="*/ 0 h 252"/>
                <a:gd name="T16" fmla="*/ 35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A9579382-ADC2-ED2B-A052-53FD31F47AB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68832980-58AC-243B-F790-054EFAB21AF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74052CAF-0B18-608B-5491-E1B31D3CC54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83E6F1B7-E336-150E-C63A-437D8B6209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54386BF4-E120-5058-4BD4-E861FE8C079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0B831DCE-B8F4-27AA-6AC1-997C2FC7E9A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ADAD8D9B-2169-5B2C-3DB2-1D7CDD2049B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B1FE8F26-F7A6-1FAC-3885-51DD8CECD5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D3CD2E50-7D25-92F5-CBBC-755DC1CD405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76F3C974-E2D8-A9A4-5F93-66A52779F4E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78579CDC-AD87-F3B3-8519-B69CC610965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655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56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6443A433-C056-CB4C-2433-59F27852937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ED0243D1-1686-A77A-BA57-67C2BCF806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C4081601-5888-FF4C-365C-F65CA2132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CF248-2505-4FE0-9229-296041DC78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126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2F50A6A-1015-1389-1D06-28671CD943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C4A6EBD4-FD7E-6396-CFF1-18F503C3C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47BB2300-54FB-339E-08C4-FC057A2E99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6A22BE-EABF-4919-9700-1382770FD6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764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D081C864-8E51-2C7B-AC2B-AF9317EAF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75D0481F-4F39-88EE-BFB9-62FFAB4196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DD6D737-F61E-6D01-C9BF-4EA53E95C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5D8105-36D7-4221-9091-FBEB0BED5D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27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065E3F6-EA23-C8CA-1154-FB49990ABD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78685561-FBEA-A4CB-6900-B570218DA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DEE9F9D3-070F-F214-D2FE-2DB6DA578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689C0A-4E15-4881-B360-4564085149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093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33788B72-ED68-EAA4-0F7E-265A6E2F0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20FFAD41-0281-259C-46FA-023D9A8D7F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D21FCFB6-AB83-8FF0-1E07-892C09140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72C72-7AA0-4BDC-90D5-55FD82A835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7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5BAE3306-6827-BA5C-E2AF-D99952702A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9AF4624C-728F-998F-EEC6-F56905DEA7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8F560643-8D5E-1B90-487A-1D476C67E5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A41036-D293-44D1-8FF5-A8C01E0F53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67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E72F0984-2CB5-E41E-A61C-E902710FC1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61A7D949-FAA9-CB7F-7189-931F5A8C46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D193ECDB-F5D9-F4BE-2AA4-9E64829D87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DAF8CB-4955-47C8-B3A0-B3FAE66EEF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89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F8AD366-4848-8D31-B2ED-69290A8A0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30A1875-5852-C321-3BCE-D43D74DB74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BAFD8FF-2330-AE78-C885-F4AB4C064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B3A200-5962-47AB-BA06-E95FA4E634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1870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77C3B3A0-D0AC-465D-0457-B117967C5A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FB150F77-2A58-2D99-7147-A2C7ACBCF1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B680D373-D40F-8715-9891-330B5600A0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3F88A4-79DD-48C0-B30C-C2AAB2915D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36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B890CE4-1A8E-34BA-9AE3-C205D17A8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45F7E7D-4747-4D3F-B976-DED7E0A28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4970798-63E9-B0ED-2911-B7923772E2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1E15C-5E9C-4681-A827-81B5B0369D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278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1EB9023A-A871-9F70-66AC-2ECBA25C3A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DF77D2C3-5AEF-8793-5759-C24FF4E191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B0D206C7-56F9-4C81-A1D6-0762F8354C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BCED86-590B-414D-BE08-9B4934165A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98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850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4740409-EEE5-4972-68CF-E6232CC3F3FB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10595" name="Freeform 3">
              <a:extLst>
                <a:ext uri="{FF2B5EF4-FFF2-40B4-BE49-F238E27FC236}">
                  <a16:creationId xmlns:a16="http://schemas.microsoft.com/office/drawing/2014/main" id="{BF3B0FCD-54B3-40D2-8905-F9B7FED880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6" name="Freeform 4">
              <a:extLst>
                <a:ext uri="{FF2B5EF4-FFF2-40B4-BE49-F238E27FC236}">
                  <a16:creationId xmlns:a16="http://schemas.microsoft.com/office/drawing/2014/main" id="{EA3D94AA-722D-4F3D-A633-A8C3CF7A31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7" name="Freeform 5">
              <a:extLst>
                <a:ext uri="{FF2B5EF4-FFF2-40B4-BE49-F238E27FC236}">
                  <a16:creationId xmlns:a16="http://schemas.microsoft.com/office/drawing/2014/main" id="{A9EDEECB-6AE7-47A0-A1A2-AD0F70141B4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8388CC46-30B6-0C5E-54FE-E12BE0FA3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10599" name="Freeform 7">
                <a:extLst>
                  <a:ext uri="{FF2B5EF4-FFF2-40B4-BE49-F238E27FC236}">
                    <a16:creationId xmlns:a16="http://schemas.microsoft.com/office/drawing/2014/main" id="{F8D7B47E-EE2C-48A6-AC20-C75E97E27BD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0" name="Freeform 8">
                <a:extLst>
                  <a:ext uri="{FF2B5EF4-FFF2-40B4-BE49-F238E27FC236}">
                    <a16:creationId xmlns:a16="http://schemas.microsoft.com/office/drawing/2014/main" id="{44A9A613-B1AB-4C0A-8935-392D8DD8B2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1" name="Freeform 9">
                <a:extLst>
                  <a:ext uri="{FF2B5EF4-FFF2-40B4-BE49-F238E27FC236}">
                    <a16:creationId xmlns:a16="http://schemas.microsoft.com/office/drawing/2014/main" id="{AC8C9B6E-D502-45EA-9269-5CE5DBC4CF8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2" name="Freeform 10">
                <a:extLst>
                  <a:ext uri="{FF2B5EF4-FFF2-40B4-BE49-F238E27FC236}">
                    <a16:creationId xmlns:a16="http://schemas.microsoft.com/office/drawing/2014/main" id="{A913AFD7-2E23-48D8-BE3F-FDBF2C3E8CB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3" name="Freeform 11">
                <a:extLst>
                  <a:ext uri="{FF2B5EF4-FFF2-40B4-BE49-F238E27FC236}">
                    <a16:creationId xmlns:a16="http://schemas.microsoft.com/office/drawing/2014/main" id="{235C531D-1023-4F02-B121-53547BF7BF1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4" name="Freeform 12">
                <a:extLst>
                  <a:ext uri="{FF2B5EF4-FFF2-40B4-BE49-F238E27FC236}">
                    <a16:creationId xmlns:a16="http://schemas.microsoft.com/office/drawing/2014/main" id="{AFB7FFEC-95C1-4999-8E19-CB0FBAB009F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5" name="Freeform 13">
                <a:extLst>
                  <a:ext uri="{FF2B5EF4-FFF2-40B4-BE49-F238E27FC236}">
                    <a16:creationId xmlns:a16="http://schemas.microsoft.com/office/drawing/2014/main" id="{4F4BD17A-7227-4A17-9389-C14E6561210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6" name="Freeform 14">
                <a:extLst>
                  <a:ext uri="{FF2B5EF4-FFF2-40B4-BE49-F238E27FC236}">
                    <a16:creationId xmlns:a16="http://schemas.microsoft.com/office/drawing/2014/main" id="{20423E1E-C8F5-4BE5-80EA-127263FA503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7" name="Freeform 15">
                <a:extLst>
                  <a:ext uri="{FF2B5EF4-FFF2-40B4-BE49-F238E27FC236}">
                    <a16:creationId xmlns:a16="http://schemas.microsoft.com/office/drawing/2014/main" id="{DEF0D13B-9E3D-4552-9A38-74B92E3C56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8" name="Freeform 16">
                <a:extLst>
                  <a:ext uri="{FF2B5EF4-FFF2-40B4-BE49-F238E27FC236}">
                    <a16:creationId xmlns:a16="http://schemas.microsoft.com/office/drawing/2014/main" id="{D09B0504-ACCE-4D89-86FF-F124AD299FF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9" name="Freeform 17">
                <a:extLst>
                  <a:ext uri="{FF2B5EF4-FFF2-40B4-BE49-F238E27FC236}">
                    <a16:creationId xmlns:a16="http://schemas.microsoft.com/office/drawing/2014/main" id="{E84B1C90-5404-41CE-836D-2EBF6F88269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0" name="Freeform 18">
                <a:extLst>
                  <a:ext uri="{FF2B5EF4-FFF2-40B4-BE49-F238E27FC236}">
                    <a16:creationId xmlns:a16="http://schemas.microsoft.com/office/drawing/2014/main" id="{2F727DA1-CFBF-4C9C-AA68-D0CFD9C720B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1" name="Freeform 19">
                <a:extLst>
                  <a:ext uri="{FF2B5EF4-FFF2-40B4-BE49-F238E27FC236}">
                    <a16:creationId xmlns:a16="http://schemas.microsoft.com/office/drawing/2014/main" id="{9E02E049-0F4D-45CA-B554-4BA8B943B9E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10612" name="Freeform 20">
              <a:extLst>
                <a:ext uri="{FF2B5EF4-FFF2-40B4-BE49-F238E27FC236}">
                  <a16:creationId xmlns:a16="http://schemas.microsoft.com/office/drawing/2014/main" id="{540F366C-A516-4037-986A-3C11A2FF87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3" name="Freeform 21">
              <a:extLst>
                <a:ext uri="{FF2B5EF4-FFF2-40B4-BE49-F238E27FC236}">
                  <a16:creationId xmlns:a16="http://schemas.microsoft.com/office/drawing/2014/main" id="{431DF715-291D-4693-8FE5-695D55A904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4" name="Freeform 22">
              <a:extLst>
                <a:ext uri="{FF2B5EF4-FFF2-40B4-BE49-F238E27FC236}">
                  <a16:creationId xmlns:a16="http://schemas.microsoft.com/office/drawing/2014/main" id="{5E0B135F-2A06-4C11-B150-B352AADEFA2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26213ABC-31CE-20A2-A76D-3C526F6505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79 w 717"/>
                <a:gd name="T1" fmla="*/ 845 h 845"/>
                <a:gd name="T2" fmla="*/ 879 w 717"/>
                <a:gd name="T3" fmla="*/ 821 h 845"/>
                <a:gd name="T4" fmla="*/ 736 w 717"/>
                <a:gd name="T5" fmla="*/ 605 h 845"/>
                <a:gd name="T6" fmla="*/ 487 w 717"/>
                <a:gd name="T7" fmla="*/ 396 h 845"/>
                <a:gd name="T8" fmla="*/ 30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90 w 717"/>
                <a:gd name="T15" fmla="*/ 198 h 845"/>
                <a:gd name="T16" fmla="*/ 481 w 717"/>
                <a:gd name="T17" fmla="*/ 408 h 845"/>
                <a:gd name="T18" fmla="*/ 730 w 717"/>
                <a:gd name="T19" fmla="*/ 623 h 845"/>
                <a:gd name="T20" fmla="*/ 879 w 717"/>
                <a:gd name="T21" fmla="*/ 845 h 845"/>
                <a:gd name="T22" fmla="*/ 87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332B7A03-622C-C575-49D7-BE8C9BF8C73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88 w 407"/>
                <a:gd name="T1" fmla="*/ 414 h 414"/>
                <a:gd name="T2" fmla="*/ 488 w 407"/>
                <a:gd name="T3" fmla="*/ 396 h 414"/>
                <a:gd name="T4" fmla="*/ 30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97 w 407"/>
                <a:gd name="T13" fmla="*/ 204 h 414"/>
                <a:gd name="T14" fmla="*/ 488 w 407"/>
                <a:gd name="T15" fmla="*/ 414 h 414"/>
                <a:gd name="T16" fmla="*/ 48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17" name="Freeform 25">
              <a:extLst>
                <a:ext uri="{FF2B5EF4-FFF2-40B4-BE49-F238E27FC236}">
                  <a16:creationId xmlns:a16="http://schemas.microsoft.com/office/drawing/2014/main" id="{C75D4B10-3772-4BC6-8A30-8D0FC900DF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1227D767-E9E2-B3FE-4C83-6B29C27A22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755 w 586"/>
                <a:gd name="T1" fmla="*/ 0 h 599"/>
                <a:gd name="T2" fmla="*/ 730 w 586"/>
                <a:gd name="T3" fmla="*/ 0 h 599"/>
                <a:gd name="T4" fmla="*/ 536 w 586"/>
                <a:gd name="T5" fmla="*/ 132 h 599"/>
                <a:gd name="T6" fmla="*/ 33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38 w 586"/>
                <a:gd name="T17" fmla="*/ 282 h 599"/>
                <a:gd name="T18" fmla="*/ 548 w 586"/>
                <a:gd name="T19" fmla="*/ 138 h 599"/>
                <a:gd name="T20" fmla="*/ 755 w 586"/>
                <a:gd name="T21" fmla="*/ 0 h 599"/>
                <a:gd name="T22" fmla="*/ 755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7CDDA42F-BC2B-E3ED-A7D0-6C84E349B6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50 w 269"/>
                <a:gd name="T1" fmla="*/ 0 h 252"/>
                <a:gd name="T2" fmla="*/ 33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50 w 269"/>
                <a:gd name="T15" fmla="*/ 0 h 252"/>
                <a:gd name="T16" fmla="*/ 35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02F37F27-2F27-32FF-2CBF-775866D58DF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F24D38B4-F527-FA7E-A840-926AFAAD0B0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42BA1395-5666-F705-CC82-059655A9B3A4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5A2B01DE-3279-6D45-FED7-4E9F806F38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CFEEFA09-0D6A-8B26-743C-AB4A7CEF048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348824AD-6B3B-07D5-8C8A-7C895BAAE9D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81D1CE87-C18F-38BF-D502-99B26B58073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6FE68F3A-A4D0-A68F-23B5-2A0B9EDAA58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F65FC3BD-BB3C-746A-0B5F-09B5C14A238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51D2960C-6633-52BD-420E-9C673288B23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6CA20A30-D3B8-5B1C-8D2C-E74556B57C7D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0631" name="Rectangle 39">
            <a:extLst>
              <a:ext uri="{FF2B5EF4-FFF2-40B4-BE49-F238E27FC236}">
                <a16:creationId xmlns:a16="http://schemas.microsoft.com/office/drawing/2014/main" id="{5FAF7D3E-364F-4AF4-9206-074AFF40E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632" name="Rectangle 40">
            <a:extLst>
              <a:ext uri="{FF2B5EF4-FFF2-40B4-BE49-F238E27FC236}">
                <a16:creationId xmlns:a16="http://schemas.microsoft.com/office/drawing/2014/main" id="{1E6F2C1B-7680-4668-868D-584740960E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3" name="Rectangle 41">
            <a:extLst>
              <a:ext uri="{FF2B5EF4-FFF2-40B4-BE49-F238E27FC236}">
                <a16:creationId xmlns:a16="http://schemas.microsoft.com/office/drawing/2014/main" id="{7A178CB4-A210-4439-B2B9-D017CBDD8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4" name="Rectangle 42">
            <a:extLst>
              <a:ext uri="{FF2B5EF4-FFF2-40B4-BE49-F238E27FC236}">
                <a16:creationId xmlns:a16="http://schemas.microsoft.com/office/drawing/2014/main" id="{33490168-E577-44C6-A259-FA84494255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CD85EC55-B025-4171-8E24-1AF46700373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10635" name="Rectangle 43">
            <a:extLst>
              <a:ext uri="{FF2B5EF4-FFF2-40B4-BE49-F238E27FC236}">
                <a16:creationId xmlns:a16="http://schemas.microsoft.com/office/drawing/2014/main" id="{D6088152-932E-4CF6-A870-E8D065B9A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11" r:id="rId1"/>
    <p:sldLayoutId id="2147484701" r:id="rId2"/>
    <p:sldLayoutId id="2147484702" r:id="rId3"/>
    <p:sldLayoutId id="2147484703" r:id="rId4"/>
    <p:sldLayoutId id="2147484704" r:id="rId5"/>
    <p:sldLayoutId id="2147484705" r:id="rId6"/>
    <p:sldLayoutId id="2147484706" r:id="rId7"/>
    <p:sldLayoutId id="2147484707" r:id="rId8"/>
    <p:sldLayoutId id="2147484708" r:id="rId9"/>
    <p:sldLayoutId id="2147484709" r:id="rId10"/>
    <p:sldLayoutId id="21474847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zqzuo@nju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cslibrary.stanford.edu/102/PointersAndMemory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4D16B4-A6A1-425F-81B5-675758610C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92275"/>
            <a:ext cx="7772400" cy="19526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/>
              <a:t>《</a:t>
            </a:r>
            <a:r>
              <a:rPr lang="zh-CN" altLang="en-US" dirty="0"/>
              <a:t>高级程序设计</a:t>
            </a:r>
            <a:r>
              <a:rPr lang="en-US" altLang="zh-CN" dirty="0"/>
              <a:t>》01</a:t>
            </a:r>
            <a:r>
              <a:rPr lang="zh-CN" altLang="en-US" dirty="0"/>
              <a:t>班</a:t>
            </a:r>
            <a:br>
              <a:rPr lang="en-US" altLang="zh-CN" dirty="0"/>
            </a:br>
            <a:r>
              <a:rPr lang="zh-CN" altLang="en-US" sz="4400" dirty="0"/>
              <a:t>课程概述</a:t>
            </a:r>
            <a:endParaRPr lang="zh-CN" altLang="en-US" sz="4400" dirty="0">
              <a:solidFill>
                <a:schemeClr val="folHlink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4E06A7A-2D80-4050-B6D2-9F718D45B6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4437063"/>
            <a:ext cx="8137525" cy="151288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任课教师：左志强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E652D-A143-4CE8-B31B-B52BD165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左志强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61B02-E82A-4C89-B529-D3DB80A4E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113"/>
            <a:ext cx="8651875" cy="4754562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/>
              <a:t>南京大学计算机学院长</a:t>
            </a:r>
            <a:r>
              <a:rPr lang="zh-CN" altLang="en-US" sz="3200" dirty="0"/>
              <a:t>聘副教授、博导</a:t>
            </a:r>
            <a:endParaRPr lang="en-US" altLang="zh-CN" sz="3200" dirty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新加坡国立大学博士、美国加州大学博士后</a:t>
            </a:r>
            <a:endParaRPr lang="en-US" altLang="zh-CN" sz="3200" dirty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研究兴趣：编译器、编程语言、程序分析</a:t>
            </a:r>
            <a:endParaRPr lang="en-US" altLang="zh-CN" sz="3200" dirty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个人主页：</a:t>
            </a:r>
            <a:r>
              <a:rPr lang="en-US" altLang="zh-CN" sz="3200" dirty="0"/>
              <a:t>z-zhiqiang.github.io</a:t>
            </a:r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邮箱：</a:t>
            </a:r>
            <a:r>
              <a:rPr lang="en-US" altLang="zh-CN" sz="3200" dirty="0">
                <a:hlinkClick r:id="rId2"/>
              </a:rPr>
              <a:t>zqzuo@nju.edu.cn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E652D-A143-4CE8-B31B-B52BD165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61B02-E82A-4C89-B529-D3DB80A4E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113"/>
            <a:ext cx="8435975" cy="4754562"/>
          </a:xfrm>
        </p:spPr>
        <p:txBody>
          <a:bodyPr>
            <a:normAutofit/>
          </a:bodyPr>
          <a:lstStyle/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掌握进一步的程序</a:t>
            </a:r>
            <a:r>
              <a:rPr lang="zh-CN" altLang="en-US" sz="3200" dirty="0">
                <a:solidFill>
                  <a:srgbClr val="FFC000"/>
                </a:solidFill>
              </a:rPr>
              <a:t>抽象与复用、面向对象程序设计、内存安全程序设计、函数及并行程序设计</a:t>
            </a:r>
            <a:r>
              <a:rPr lang="zh-CN" altLang="en-US" sz="3200" dirty="0"/>
              <a:t>等技术。</a:t>
            </a:r>
            <a:endParaRPr lang="en-US" altLang="zh-CN" sz="3200" dirty="0"/>
          </a:p>
          <a:p>
            <a:pPr marL="342900" lvl="1" indent="-342900" eaLnBrk="1" hangingPunct="1">
              <a:lnSpc>
                <a:spcPct val="120000"/>
              </a:lnSpc>
              <a:buClr>
                <a:schemeClr val="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dirty="0"/>
              <a:t>提升程序设计的熟练程度和规模，为后续专业课程提供基础。</a:t>
            </a:r>
            <a:endParaRPr lang="en-US" altLang="zh-CN" sz="3200" dirty="0"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91DD28F-5844-41EF-9F52-0E21470AB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课程主要内容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BD41212-FBBA-4E21-814C-B5ABF41B0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18488" cy="53006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掌握以下的基本程序设计思想和做法：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面向对象程序设计</a:t>
            </a:r>
            <a:r>
              <a:rPr lang="zh-CN" altLang="en-US" dirty="0"/>
              <a:t>（数据抽象与封装、对象与类、继承与子类型、消息的多态与动态绑定、基于类的模块结构）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泛型（类属）程序设计及基于</a:t>
            </a:r>
            <a:r>
              <a:rPr lang="en-US" altLang="zh-CN" dirty="0">
                <a:solidFill>
                  <a:srgbClr val="FFC000"/>
                </a:solidFill>
              </a:rPr>
              <a:t>STL</a:t>
            </a:r>
            <a:r>
              <a:rPr lang="zh-CN" altLang="en-US" dirty="0">
                <a:solidFill>
                  <a:srgbClr val="FFC000"/>
                </a:solidFill>
              </a:rPr>
              <a:t>的编程</a:t>
            </a:r>
            <a:r>
              <a:rPr lang="zh-CN" altLang="en-US" dirty="0"/>
              <a:t>（编写适合多种数据类型的通用代码、面向序列数据的基本算法及其复用）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内存安全程序设计</a:t>
            </a:r>
            <a:r>
              <a:rPr lang="zh-CN" altLang="en-US" dirty="0"/>
              <a:t>（编写内存安全的程序）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FFC000"/>
                </a:solidFill>
              </a:rPr>
              <a:t>函数式与逻辑式、并行程序设计</a:t>
            </a:r>
            <a:r>
              <a:rPr lang="zh-CN" altLang="en-US" dirty="0"/>
              <a:t>（声明式程序设计范式、并行程序设计）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编程语言：</a:t>
            </a:r>
            <a:r>
              <a:rPr lang="en-US" altLang="zh-CN" dirty="0">
                <a:solidFill>
                  <a:srgbClr val="FFC000"/>
                </a:solidFill>
              </a:rPr>
              <a:t>C++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889351F-AC49-4E7A-92FB-939E02469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课程的预备知识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A1B4450F-63D7-435B-8EAC-C35A940A5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8351838" cy="5068888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本课程需要具备以下程序设计基础知识：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基本数据类型、常量、变量、操作符、表达式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顺序</a:t>
            </a:r>
            <a:r>
              <a:rPr lang="en-US" altLang="zh-CN" dirty="0"/>
              <a:t>/</a:t>
            </a:r>
            <a:r>
              <a:rPr lang="zh-CN" altLang="en-US" dirty="0"/>
              <a:t>分支</a:t>
            </a:r>
            <a:r>
              <a:rPr lang="en-US" altLang="zh-CN" dirty="0"/>
              <a:t>/</a:t>
            </a:r>
            <a:r>
              <a:rPr lang="zh-CN" altLang="en-US" dirty="0"/>
              <a:t>循环等流程控制、结构化程序设计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过程抽象（子程序）、参数传递、局部变量与全局变量、标识符作用域与变量的生存期、程序的多模块结构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递归函数与“分而治之”的程序设计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枚举、数组、结构、联合、指针</a:t>
            </a:r>
            <a:r>
              <a:rPr lang="en-US" altLang="zh-CN" dirty="0"/>
              <a:t>/</a:t>
            </a:r>
            <a:r>
              <a:rPr lang="zh-CN" altLang="en-US" dirty="0"/>
              <a:t>引用、地址</a:t>
            </a:r>
            <a:r>
              <a:rPr lang="en-US" altLang="zh-CN" dirty="0"/>
              <a:t>/</a:t>
            </a:r>
            <a:r>
              <a:rPr lang="zh-CN" altLang="en-US" dirty="0"/>
              <a:t>引用参数传递、动态变量、动态数组、链表、函数指针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932526F-3114-4827-AF6C-57525AD95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教学安排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F5C7F4E-BD75-4A95-B8DA-AA8A5B6B1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075613" cy="53292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dirty="0"/>
              <a:t>理论教学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基本原理和知识介绍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时间：周一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地点：教</a:t>
            </a:r>
            <a:r>
              <a:rPr lang="en-US" altLang="zh-CN" dirty="0"/>
              <a:t>201</a:t>
            </a:r>
          </a:p>
          <a:p>
            <a:pPr eaLnBrk="1" hangingPunct="1">
              <a:defRPr/>
            </a:pPr>
            <a:r>
              <a:rPr lang="zh-CN" altLang="en-US" dirty="0"/>
              <a:t>实践教学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动手能力训练，加强对理论知识的掌握与运用能力。</a:t>
            </a:r>
          </a:p>
          <a:p>
            <a:pPr lvl="1" eaLnBrk="1" hangingPunct="1">
              <a:defRPr/>
            </a:pPr>
            <a:r>
              <a:rPr lang="zh-CN" altLang="en-US" dirty="0"/>
              <a:t>时间：周一</a:t>
            </a:r>
            <a:r>
              <a:rPr lang="en-US" altLang="zh-CN" dirty="0"/>
              <a:t>7-8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地点：南园综合楼 </a:t>
            </a:r>
            <a:r>
              <a:rPr lang="en-US" altLang="zh-CN" dirty="0"/>
              <a:t>503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5D59E-FA6F-4AEB-93DE-5D1A84EB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课程网站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002C8-0E5C-4AB0-BF06-B66B32D1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863" y="1600200"/>
            <a:ext cx="8434387" cy="398938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课程网站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网站：</a:t>
            </a:r>
            <a:r>
              <a:rPr lang="en-US" altLang="zh-CN" dirty="0"/>
              <a:t>https://cslab-cms.nju.edu.cn/</a:t>
            </a:r>
          </a:p>
          <a:p>
            <a:pPr lvl="1">
              <a:defRPr/>
            </a:pPr>
            <a:r>
              <a:rPr lang="zh-CN" altLang="en-US" dirty="0"/>
              <a:t>名称：高级程序设计</a:t>
            </a:r>
            <a:r>
              <a:rPr lang="en-US" altLang="zh-CN" dirty="0"/>
              <a:t>2026</a:t>
            </a:r>
            <a:r>
              <a:rPr lang="zh-CN" altLang="en-US" dirty="0"/>
              <a:t>春季</a:t>
            </a:r>
            <a:r>
              <a:rPr lang="en-US" altLang="zh-CN" dirty="0"/>
              <a:t>01</a:t>
            </a:r>
            <a:r>
              <a:rPr lang="zh-CN" altLang="en-US" dirty="0"/>
              <a:t>班</a:t>
            </a:r>
            <a:endParaRPr lang="en-US" altLang="zh-CN" dirty="0"/>
          </a:p>
          <a:p>
            <a:pPr marL="457200" lvl="1" indent="0">
              <a:buFontTx/>
              <a:buNone/>
              <a:defRPr/>
            </a:pPr>
            <a:r>
              <a:rPr lang="en-US" altLang="zh-CN" dirty="0"/>
              <a:t>         </a:t>
            </a:r>
            <a:r>
              <a:rPr lang="zh-CN" altLang="en-US" dirty="0"/>
              <a:t>（邀请码</a:t>
            </a:r>
            <a:r>
              <a:rPr lang="en-US" altLang="zh-CN" dirty="0"/>
              <a:t>OXZCP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发布课件、通知、提交作业、交流</a:t>
            </a:r>
            <a:r>
              <a:rPr lang="en-US" altLang="zh-CN" dirty="0"/>
              <a:t>/</a:t>
            </a:r>
            <a:r>
              <a:rPr lang="zh-CN" altLang="en-US" dirty="0"/>
              <a:t>讨论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QQ</a:t>
            </a:r>
            <a:r>
              <a:rPr lang="zh-CN" altLang="en-US" dirty="0"/>
              <a:t>群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1079265355</a:t>
            </a:r>
          </a:p>
          <a:p>
            <a:pPr lvl="1">
              <a:defRPr/>
            </a:pPr>
            <a:r>
              <a:rPr lang="zh-CN" altLang="en-US" dirty="0"/>
              <a:t>交流</a:t>
            </a:r>
            <a:r>
              <a:rPr lang="en-US" altLang="zh-CN" dirty="0"/>
              <a:t>/</a:t>
            </a:r>
            <a:r>
              <a:rPr lang="zh-CN" altLang="en-US" dirty="0"/>
              <a:t>讨论、通知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18FCB4E4-9E49-4DC9-98FD-20003ABC0A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课程考核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26A073FA-FD66-46AC-8212-625F74530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600200"/>
            <a:ext cx="8353425" cy="453072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zh-CN" altLang="en-US" dirty="0"/>
              <a:t>平时作业（</a:t>
            </a:r>
            <a:r>
              <a:rPr lang="en-US" altLang="zh-CN" dirty="0"/>
              <a:t>10</a:t>
            </a:r>
            <a:r>
              <a:rPr lang="zh-CN" altLang="en-US" dirty="0"/>
              <a:t>％）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选教材每章后面的练习和另外组织的题目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课程网站发布，在规定时间内提交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上机考核（</a:t>
            </a:r>
            <a:r>
              <a:rPr lang="en-US" altLang="zh-CN" dirty="0"/>
              <a:t>30</a:t>
            </a:r>
            <a:r>
              <a:rPr lang="zh-CN" altLang="en-US" dirty="0"/>
              <a:t>％）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OJ</a:t>
            </a:r>
            <a:r>
              <a:rPr lang="zh-CN" altLang="en-US" dirty="0"/>
              <a:t>系统当场出题，当场提交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课程项目（</a:t>
            </a:r>
            <a:r>
              <a:rPr lang="en-US" altLang="zh-CN" dirty="0"/>
              <a:t>20</a:t>
            </a:r>
            <a:r>
              <a:rPr lang="zh-CN" altLang="en-US" dirty="0"/>
              <a:t>％）</a:t>
            </a: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1-2</a:t>
            </a:r>
            <a:r>
              <a:rPr lang="zh-CN" altLang="en-US" dirty="0"/>
              <a:t>个较大的程序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课程网站发布，在规定时间内提交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期末笔试（</a:t>
            </a:r>
            <a:r>
              <a:rPr lang="en-US" altLang="zh-CN" dirty="0"/>
              <a:t>40</a:t>
            </a:r>
            <a:r>
              <a:rPr lang="zh-CN" altLang="en-US" dirty="0"/>
              <a:t>％）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1C21C325-5589-28BA-3D5D-D15AC09CC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使用</a:t>
            </a:r>
            <a:r>
              <a:rPr lang="en-US" altLang="zh-CN" dirty="0"/>
              <a:t>AI</a:t>
            </a:r>
            <a:r>
              <a:rPr lang="zh-CN" altLang="en-US" dirty="0"/>
              <a:t>辅助编程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1D1A2D2-D7F4-C85F-9F6E-3A99ABE14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600200"/>
            <a:ext cx="8208963" cy="4530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平时作业（</a:t>
            </a:r>
            <a:r>
              <a:rPr lang="en-US" altLang="zh-CN" dirty="0"/>
              <a:t>10</a:t>
            </a:r>
            <a:r>
              <a:rPr lang="zh-CN" altLang="en-US" dirty="0"/>
              <a:t>％）</a:t>
            </a:r>
            <a:r>
              <a:rPr lang="zh-CN" altLang="en-US" dirty="0">
                <a:solidFill>
                  <a:srgbClr val="92D050"/>
                </a:solidFill>
              </a:rPr>
              <a:t>允许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>
              <a:defRPr/>
            </a:pPr>
            <a:r>
              <a:rPr lang="zh-CN" altLang="en-US" dirty="0"/>
              <a:t>课程设计（</a:t>
            </a:r>
            <a:r>
              <a:rPr lang="en-US" altLang="zh-CN" dirty="0"/>
              <a:t>20</a:t>
            </a:r>
            <a:r>
              <a:rPr lang="zh-CN" altLang="en-US" dirty="0"/>
              <a:t>％）</a:t>
            </a:r>
            <a:r>
              <a:rPr lang="zh-CN" altLang="en-US" dirty="0">
                <a:solidFill>
                  <a:srgbClr val="92D050"/>
                </a:solidFill>
              </a:rPr>
              <a:t>允许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>
              <a:defRPr/>
            </a:pPr>
            <a:r>
              <a:rPr lang="zh-CN" altLang="en-US" dirty="0"/>
              <a:t>上机测验（</a:t>
            </a:r>
            <a:r>
              <a:rPr lang="en-US" altLang="zh-CN" dirty="0"/>
              <a:t>30</a:t>
            </a:r>
            <a:r>
              <a:rPr lang="zh-CN" altLang="en-US" dirty="0"/>
              <a:t>％）</a:t>
            </a:r>
            <a:r>
              <a:rPr lang="zh-CN" altLang="en-US" dirty="0">
                <a:solidFill>
                  <a:srgbClr val="FF0000"/>
                </a:solidFill>
              </a:rPr>
              <a:t>不允许</a:t>
            </a:r>
            <a:r>
              <a:rPr lang="zh-CN" altLang="en-US" dirty="0"/>
              <a:t>，固定机位断网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期末笔试（</a:t>
            </a:r>
            <a:r>
              <a:rPr lang="en-US" altLang="zh-CN" dirty="0"/>
              <a:t>40</a:t>
            </a:r>
            <a:r>
              <a:rPr lang="zh-CN" altLang="en-US" dirty="0"/>
              <a:t>％）</a:t>
            </a:r>
            <a:r>
              <a:rPr lang="zh-CN" altLang="en-US" dirty="0">
                <a:solidFill>
                  <a:srgbClr val="FF0000"/>
                </a:solidFill>
              </a:rPr>
              <a:t>不允许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F2284-9CB2-4B7C-B86E-3AF32999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教材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BEBB1-FD62-443C-A1EA-D6ABE5A79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陈家骏、郑滔，</a:t>
            </a:r>
            <a:r>
              <a:rPr lang="zh-CN" altLang="en-US" dirty="0">
                <a:solidFill>
                  <a:srgbClr val="FFC000"/>
                </a:solidFill>
              </a:rPr>
              <a:t>程序设计教程</a:t>
            </a:r>
            <a:r>
              <a:rPr lang="en-US" altLang="zh-CN" dirty="0">
                <a:solidFill>
                  <a:srgbClr val="FFC000"/>
                </a:solidFill>
              </a:rPr>
              <a:t>--</a:t>
            </a:r>
            <a:r>
              <a:rPr lang="zh-CN" altLang="en-US" dirty="0">
                <a:solidFill>
                  <a:srgbClr val="FFC000"/>
                </a:solidFill>
              </a:rPr>
              <a:t>用</a:t>
            </a:r>
            <a:r>
              <a:rPr lang="en-US" altLang="zh-CN" dirty="0">
                <a:solidFill>
                  <a:srgbClr val="FFC000"/>
                </a:solidFill>
              </a:rPr>
              <a:t>C++</a:t>
            </a:r>
            <a:r>
              <a:rPr lang="zh-CN" altLang="en-US" dirty="0">
                <a:solidFill>
                  <a:srgbClr val="FFC000"/>
                </a:solidFill>
              </a:rPr>
              <a:t>语言编程（第</a:t>
            </a:r>
            <a:r>
              <a:rPr lang="en-US" altLang="zh-CN" dirty="0">
                <a:solidFill>
                  <a:srgbClr val="FFC000"/>
                </a:solidFill>
              </a:rPr>
              <a:t>4</a:t>
            </a:r>
            <a:r>
              <a:rPr lang="zh-CN" altLang="en-US" dirty="0">
                <a:solidFill>
                  <a:srgbClr val="FFC000"/>
                </a:solidFill>
              </a:rPr>
              <a:t>版）</a:t>
            </a:r>
            <a:r>
              <a:rPr lang="zh-CN" altLang="en-US" dirty="0"/>
              <a:t>，机械工业出版社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 algn="ctr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推荐阅读资料</a:t>
            </a:r>
            <a:endParaRPr lang="en-US" altLang="zh-CN" sz="36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defRPr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Pointers and Memory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http://cslibrary.stanford.edu/102/PointersAndMemory.pdf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程序员的自我修养</a:t>
            </a:r>
            <a:r>
              <a:rPr lang="en-US" altLang="zh-CN" dirty="0">
                <a:solidFill>
                  <a:srgbClr val="FFC000"/>
                </a:solidFill>
              </a:rPr>
              <a:t>—</a:t>
            </a:r>
            <a:r>
              <a:rPr lang="zh-CN" altLang="en-US" dirty="0">
                <a:solidFill>
                  <a:srgbClr val="FFC000"/>
                </a:solidFill>
              </a:rPr>
              <a:t>链接、装载与库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18789</TotalTime>
  <Words>529</Words>
  <Application>Microsoft Office PowerPoint</Application>
  <PresentationFormat>全屏显示(4:3)</PresentationFormat>
  <Paragraphs>70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Verdana</vt:lpstr>
      <vt:lpstr>宋体</vt:lpstr>
      <vt:lpstr>Arial</vt:lpstr>
      <vt:lpstr>Wingdings</vt:lpstr>
      <vt:lpstr>Globe</vt:lpstr>
      <vt:lpstr>《高级程序设计》01班 课程概述</vt:lpstr>
      <vt:lpstr>左志强</vt:lpstr>
      <vt:lpstr>课程目标</vt:lpstr>
      <vt:lpstr>课程主要内容</vt:lpstr>
      <vt:lpstr>课程的预备知识</vt:lpstr>
      <vt:lpstr>教学安排</vt:lpstr>
      <vt:lpstr>课程网站</vt:lpstr>
      <vt:lpstr>课程考核</vt:lpstr>
      <vt:lpstr>使用AI辅助编程</vt:lpstr>
      <vt:lpstr>教材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《程序设计》课程教学</dc:title>
  <dc:creator>chenjiajun</dc:creator>
  <cp:lastModifiedBy>润泽 颜</cp:lastModifiedBy>
  <cp:revision>360</cp:revision>
  <dcterms:created xsi:type="dcterms:W3CDTF">2005-06-30T13:15:58Z</dcterms:created>
  <dcterms:modified xsi:type="dcterms:W3CDTF">2026-06-18T00:20:35Z</dcterms:modified>
</cp:coreProperties>
</file>