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7"/>
  </p:notesMasterIdLst>
  <p:handoutMasterIdLst>
    <p:handoutMasterId r:id="rId28"/>
  </p:handoutMasterIdLst>
  <p:sldIdLst>
    <p:sldId id="367" r:id="rId6"/>
    <p:sldId id="382" r:id="rId7"/>
    <p:sldId id="396" r:id="rId8"/>
    <p:sldId id="397" r:id="rId9"/>
    <p:sldId id="398" r:id="rId10"/>
    <p:sldId id="400" r:id="rId11"/>
    <p:sldId id="402" r:id="rId12"/>
    <p:sldId id="403" r:id="rId13"/>
    <p:sldId id="401" r:id="rId14"/>
    <p:sldId id="394" r:id="rId15"/>
    <p:sldId id="407" r:id="rId16"/>
    <p:sldId id="409" r:id="rId17"/>
    <p:sldId id="408" r:id="rId18"/>
    <p:sldId id="410" r:id="rId19"/>
    <p:sldId id="383" r:id="rId20"/>
    <p:sldId id="406" r:id="rId21"/>
    <p:sldId id="384" r:id="rId22"/>
    <p:sldId id="421" r:id="rId23"/>
    <p:sldId id="385" r:id="rId24"/>
    <p:sldId id="386" r:id="rId25"/>
    <p:sldId id="38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585E08"/>
    <a:srgbClr val="660066"/>
    <a:srgbClr val="F60000"/>
    <a:srgbClr val="FFFF00"/>
    <a:srgbClr val="000000"/>
    <a:srgbClr val="1BB54E"/>
    <a:srgbClr val="F1E7E7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615" autoAdjust="0"/>
  </p:normalViewPr>
  <p:slideViewPr>
    <p:cSldViewPr snapToGrid="0">
      <p:cViewPr varScale="1">
        <p:scale>
          <a:sx n="120" d="100"/>
          <a:sy n="120" d="100"/>
        </p:scale>
        <p:origin x="332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B1B7AC-EF47-46E5-B92B-F2D54A97B1EA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E4647-9947-4B64-B5DC-CF2057819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1166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194BB-0A04-4E4D-8275-4042BBD91D77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05382-D517-4F7D-80E6-28CD52617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39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-zhiqiang/MSRC-Security-Research/tree/master/presentations/2019_02_BlueHatIL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chromium.org/Home/chromium-security/memory-safety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-zhiqiang/MSRC-Security-Research/tree/master/presentations/2019_02_BlueHatIL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chromium.org/Home/chromium-security/memory-safety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538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59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36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00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19</a:t>
            </a:r>
            <a:r>
              <a:rPr lang="zh-CN" altLang="en-US" dirty="0"/>
              <a:t>日，由于美国网络安全公司</a:t>
            </a:r>
            <a:r>
              <a:rPr lang="en-US" altLang="zh-CN" dirty="0" err="1"/>
              <a:t>CrowdStrike</a:t>
            </a:r>
            <a:r>
              <a:rPr lang="zh-CN" altLang="en-US" dirty="0"/>
              <a:t>分发异常更新，导致其全球大量客户的</a:t>
            </a:r>
            <a:r>
              <a:rPr lang="en-US" altLang="zh-CN" dirty="0"/>
              <a:t>Windows</a:t>
            </a:r>
            <a:r>
              <a:rPr lang="zh-CN" altLang="en-US" dirty="0"/>
              <a:t>操作系统计算机和虚拟机设备出现故障，表现为显示蓝屏或恢复（</a:t>
            </a:r>
            <a:r>
              <a:rPr lang="en-US" altLang="zh-CN" dirty="0"/>
              <a:t>Recovery</a:t>
            </a:r>
            <a:r>
              <a:rPr lang="zh-CN" altLang="en-US" dirty="0"/>
              <a:t>）界面。该事件波及多个行业，造成众多服务中断。微软初步估计此次故障影响了全球近</a:t>
            </a:r>
            <a:r>
              <a:rPr lang="en-US" altLang="zh-CN" dirty="0"/>
              <a:t>850</a:t>
            </a:r>
            <a:r>
              <a:rPr lang="zh-CN" altLang="en-US" dirty="0"/>
              <a:t>万台设备。此事也被专家称为“历史上最严重的</a:t>
            </a:r>
            <a:r>
              <a:rPr lang="en-US" altLang="zh-CN" dirty="0"/>
              <a:t>IT</a:t>
            </a:r>
            <a:r>
              <a:rPr lang="zh-CN" altLang="en-US" dirty="0"/>
              <a:t>故障事件”。</a:t>
            </a:r>
          </a:p>
          <a:p>
            <a:endParaRPr lang="zh-CN" altLang="en-US" dirty="0"/>
          </a:p>
          <a:p>
            <a:r>
              <a:rPr lang="zh-CN" altLang="en-US" dirty="0"/>
              <a:t>众多行业受到冲击，如航空业、银行、酒店、医院、证券市场及广播电视；政府服务（如紧急电话号码和政府网站）亦受影响。电子支付和紧急服务也未能幸免。此事预计在全球范围内造成数十亿美元损失。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93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心脏出血漏洞（英语：</a:t>
            </a:r>
            <a:r>
              <a:rPr lang="en-US" altLang="zh-CN" dirty="0"/>
              <a:t>Heartbleed bug</a:t>
            </a:r>
            <a:r>
              <a:rPr lang="zh-CN" altLang="en-US" dirty="0"/>
              <a:t>），简称为心血漏洞，是一个出现在加密程序库</a:t>
            </a:r>
            <a:r>
              <a:rPr lang="en-US" altLang="zh-CN" dirty="0"/>
              <a:t>OpenSSL</a:t>
            </a:r>
            <a:r>
              <a:rPr lang="zh-CN" altLang="en-US" dirty="0"/>
              <a:t>的安全漏洞，该程序库广泛用于实现互联网的传输层安全（</a:t>
            </a:r>
            <a:r>
              <a:rPr lang="en-US" altLang="zh-CN" dirty="0"/>
              <a:t>TLS</a:t>
            </a:r>
            <a:r>
              <a:rPr lang="zh-CN" altLang="en-US" dirty="0"/>
              <a:t>）协议。它于</a:t>
            </a:r>
            <a:r>
              <a:rPr lang="en-US" altLang="zh-CN" dirty="0"/>
              <a:t>2012</a:t>
            </a:r>
            <a:r>
              <a:rPr lang="zh-CN" altLang="en-US" dirty="0"/>
              <a:t>年被引入</a:t>
            </a:r>
            <a:r>
              <a:rPr lang="en-US" altLang="zh-CN" dirty="0"/>
              <a:t>OpenSSL</a:t>
            </a:r>
            <a:r>
              <a:rPr lang="zh-CN" altLang="en-US" dirty="0"/>
              <a:t>，</a:t>
            </a:r>
            <a:r>
              <a:rPr lang="en-US" altLang="zh-CN" dirty="0"/>
              <a:t>2014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月首次向公众披露。使用存在缺陷的</a:t>
            </a:r>
            <a:r>
              <a:rPr lang="en-US" altLang="zh-CN" dirty="0"/>
              <a:t>OpenSSL</a:t>
            </a:r>
            <a:r>
              <a:rPr lang="zh-CN" altLang="en-US" dirty="0"/>
              <a:t>实例时，无论是服务器还是客户端，都可能因此而受到攻击。此问题的原因是在实现</a:t>
            </a:r>
            <a:r>
              <a:rPr lang="en-US" altLang="zh-CN" dirty="0"/>
              <a:t>TLS</a:t>
            </a:r>
            <a:r>
              <a:rPr lang="zh-CN" altLang="en-US" dirty="0"/>
              <a:t>的心跳扩展时没有对输入进行适当验证（缺少边界检查）</a:t>
            </a:r>
            <a:r>
              <a:rPr lang="en-US" altLang="zh-CN" dirty="0"/>
              <a:t>[3]</a:t>
            </a:r>
            <a:r>
              <a:rPr lang="zh-CN" altLang="en-US" dirty="0"/>
              <a:t>，因此漏洞的名称来源于“心跳”（</a:t>
            </a:r>
            <a:r>
              <a:rPr lang="en-US" altLang="zh-CN" dirty="0"/>
              <a:t>heartbeat</a:t>
            </a:r>
            <a:r>
              <a:rPr lang="zh-CN" altLang="en-US" dirty="0"/>
              <a:t>）</a:t>
            </a:r>
            <a:r>
              <a:rPr lang="en-US" altLang="zh-CN" dirty="0"/>
              <a:t>[4]</a:t>
            </a:r>
            <a:r>
              <a:rPr lang="zh-CN" altLang="en-US" dirty="0"/>
              <a:t>。该程序错误属于缓冲区过读</a:t>
            </a:r>
            <a:r>
              <a:rPr lang="en-US" altLang="zh-CN" dirty="0"/>
              <a:t>[5]</a:t>
            </a:r>
            <a:r>
              <a:rPr lang="zh-CN" altLang="en-US" dirty="0"/>
              <a:t>，即可以读取的数据比应该允许读取的还多</a:t>
            </a:r>
            <a:r>
              <a:rPr lang="en-US" altLang="zh-CN" dirty="0"/>
              <a:t>[6]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OpenSSL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漏洞的产生代码片段在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OpenSSL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memcpy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内存拷贝函数上，因为在拷贝调用之前没有将参数做正确的边界检查，导致攻击者能够获取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OpenSSL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分配的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64KB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缓存，通过重复的获取操作，便可能有机会使受害服务器的内存以每次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64KB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的速度进行泄漏，进而导致用户的大量敏感信息外泄。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868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60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微软安全响应中心（</a:t>
            </a:r>
            <a:r>
              <a:rPr lang="en-US" altLang="zh-CN" dirty="0"/>
              <a:t>MSRC</a:t>
            </a:r>
            <a:r>
              <a:rPr lang="zh-CN" altLang="en-US" dirty="0"/>
              <a:t>）对自 </a:t>
            </a:r>
            <a:r>
              <a:rPr lang="en-US" altLang="zh-CN" dirty="0"/>
              <a:t>2004 </a:t>
            </a:r>
            <a:r>
              <a:rPr lang="zh-CN" altLang="en-US" dirty="0"/>
              <a:t>年以来所有报告过的微软安全漏洞进行了分类，所有微软年度补丁中约有 </a:t>
            </a:r>
            <a:r>
              <a:rPr lang="en-US" altLang="zh-CN" dirty="0"/>
              <a:t>70% </a:t>
            </a:r>
            <a:r>
              <a:rPr lang="zh-CN" altLang="en-US" dirty="0"/>
              <a:t>是针对内存安全漏洞的修复程序（</a:t>
            </a:r>
            <a:r>
              <a:rPr lang="en-US" altLang="zh-CN" dirty="0">
                <a:hlinkClick r:id="rId3"/>
              </a:rPr>
              <a:t>https://github.com/z-zhiqiang/MSRC-Security-Research/tree/master/presentations/2019_02_BlueHatIL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zh-CN" altLang="en-US" dirty="0"/>
              <a:t>谷歌工程师分析了自 </a:t>
            </a:r>
            <a:r>
              <a:rPr lang="en-US" altLang="zh-CN" dirty="0"/>
              <a:t>2015 </a:t>
            </a:r>
            <a:r>
              <a:rPr lang="zh-CN" altLang="en-US" dirty="0"/>
              <a:t>年以来在 </a:t>
            </a:r>
            <a:r>
              <a:rPr lang="en-US" altLang="zh-CN" dirty="0"/>
              <a:t>Chrome </a:t>
            </a:r>
            <a:r>
              <a:rPr lang="zh-CN" altLang="en-US" dirty="0"/>
              <a:t>稳定版分支中修复的 </a:t>
            </a:r>
            <a:r>
              <a:rPr lang="en-US" altLang="zh-CN" dirty="0"/>
              <a:t>912 </a:t>
            </a:r>
            <a:r>
              <a:rPr lang="zh-CN" altLang="en-US" dirty="0"/>
              <a:t>个安全错误。并发现，在这些被标记为“高”或“严重”等级的所有安全漏洞中，大约 </a:t>
            </a:r>
            <a:r>
              <a:rPr lang="en-US" altLang="zh-CN" dirty="0"/>
              <a:t>70</a:t>
            </a:r>
            <a:r>
              <a:rPr lang="zh-CN" altLang="en-US" dirty="0"/>
              <a:t>％ 是内存管理和安全问题。（</a:t>
            </a:r>
            <a:r>
              <a:rPr lang="en-US" altLang="zh-CN" dirty="0">
                <a:hlinkClick r:id="rId4"/>
              </a:rPr>
              <a:t>https://www.chromium.org/Home/chromium-security/memory-safety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96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微软安全响应中心（</a:t>
            </a:r>
            <a:r>
              <a:rPr lang="en-US" altLang="zh-CN" dirty="0"/>
              <a:t>MSRC</a:t>
            </a:r>
            <a:r>
              <a:rPr lang="zh-CN" altLang="en-US" dirty="0"/>
              <a:t>）对自 </a:t>
            </a:r>
            <a:r>
              <a:rPr lang="en-US" altLang="zh-CN" dirty="0"/>
              <a:t>2004 </a:t>
            </a:r>
            <a:r>
              <a:rPr lang="zh-CN" altLang="en-US" dirty="0"/>
              <a:t>年以来所有报告过的微软安全漏洞进行了分类，所有微软年度补丁中约有 </a:t>
            </a:r>
            <a:r>
              <a:rPr lang="en-US" altLang="zh-CN" dirty="0"/>
              <a:t>70% </a:t>
            </a:r>
            <a:r>
              <a:rPr lang="zh-CN" altLang="en-US" dirty="0"/>
              <a:t>是针对内存安全漏洞的修复程序（</a:t>
            </a:r>
            <a:r>
              <a:rPr lang="en-US" altLang="zh-CN" dirty="0">
                <a:hlinkClick r:id="rId3"/>
              </a:rPr>
              <a:t>https://github.com/z-zhiqiang/MSRC-Security-Research/tree/master/presentations/2019_02_BlueHatIL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zh-CN" altLang="en-US" dirty="0"/>
              <a:t>谷歌工程师分析了自 </a:t>
            </a:r>
            <a:r>
              <a:rPr lang="en-US" altLang="zh-CN" dirty="0"/>
              <a:t>2015 </a:t>
            </a:r>
            <a:r>
              <a:rPr lang="zh-CN" altLang="en-US" dirty="0"/>
              <a:t>年以来在 </a:t>
            </a:r>
            <a:r>
              <a:rPr lang="en-US" altLang="zh-CN" dirty="0"/>
              <a:t>Chrome </a:t>
            </a:r>
            <a:r>
              <a:rPr lang="zh-CN" altLang="en-US" dirty="0"/>
              <a:t>稳定版分支中修复的 </a:t>
            </a:r>
            <a:r>
              <a:rPr lang="en-US" altLang="zh-CN" dirty="0"/>
              <a:t>912 </a:t>
            </a:r>
            <a:r>
              <a:rPr lang="zh-CN" altLang="en-US" dirty="0"/>
              <a:t>个安全错误。并发现，在这些被标记为“高”或“严重”等级的所有安全漏洞中，大约 </a:t>
            </a:r>
            <a:r>
              <a:rPr lang="en-US" altLang="zh-CN" dirty="0"/>
              <a:t>70</a:t>
            </a:r>
            <a:r>
              <a:rPr lang="zh-CN" altLang="en-US" dirty="0"/>
              <a:t>％ 是内存管理和安全问题。（</a:t>
            </a:r>
            <a:r>
              <a:rPr lang="en-US" altLang="zh-CN" dirty="0">
                <a:hlinkClick r:id="rId4"/>
              </a:rPr>
              <a:t>https://www.chromium.org/Home/chromium-security/memory-safety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24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0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903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080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705382-D517-4F7D-80E6-28CD526170C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49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F7717-380A-4C48-B9B9-4B7C75977594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0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2B87-51E5-43C2-816D-8FEF81D581C0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05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BA4FD-7CB1-407A-955B-1917BF0ECFF5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19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ACB7-8284-44ED-8541-EA633575988B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7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F9A8B-5204-4604-A562-744511967302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63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8086-5A03-4849-9FCA-07B9DD7DFA4E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6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1970-26B7-4EEA-88BE-6CF53E0F888C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45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5DC0-315B-4576-ADB8-D5E5DB183BB7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BA05B-4116-41C4-B688-3ABB8D141CAD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CA9-BF10-4056-85EB-6ED189566268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55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B6D3-60CA-4426-B9E9-333077190B5F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177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620688"/>
            <a:ext cx="11521280" cy="597666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98703A65-A875-4E9C-89CA-880E7BF5FB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2"/>
          </p:nvPr>
        </p:nvSpPr>
        <p:spPr>
          <a:xfrm>
            <a:off x="122767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E3760D12-DD70-4DAE-8641-36986DCDA7AC}" type="datetime1">
              <a:rPr lang="zh-CN" altLang="en-US" smtClean="0"/>
              <a:t>2026/5/11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16172"/>
      </p:ext>
    </p:extLst>
  </p:cSld>
  <p:clrMapOvr>
    <a:masterClrMapping/>
  </p:clrMapOvr>
  <p:transition spd="med">
    <p:pull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 txBox="1">
            <a:spLocks/>
          </p:cNvSpPr>
          <p:nvPr userDrawn="1"/>
        </p:nvSpPr>
        <p:spPr>
          <a:xfrm>
            <a:off x="31751" y="6704014"/>
            <a:ext cx="2032000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Concordia University </a:t>
            </a:r>
            <a:endParaRPr lang="en-US" sz="1200" dirty="0"/>
          </a:p>
        </p:txBody>
      </p:sp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3407834" y="6704014"/>
            <a:ext cx="5183717" cy="10953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CA" sz="1200" dirty="0"/>
              <a:t>Department of Computer Science and Software Engineering</a:t>
            </a:r>
            <a:endParaRPr lang="en-US" sz="1200" dirty="0"/>
          </a:p>
        </p:txBody>
      </p:sp>
      <p:sp>
        <p:nvSpPr>
          <p:cNvPr id="10" name="Title Placeholder 14"/>
          <p:cNvSpPr>
            <a:spLocks noGrp="1"/>
          </p:cNvSpPr>
          <p:nvPr>
            <p:ph type="title"/>
          </p:nvPr>
        </p:nvSpPr>
        <p:spPr>
          <a:xfrm>
            <a:off x="239350" y="180174"/>
            <a:ext cx="11728869" cy="360357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0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745133" y="6704014"/>
            <a:ext cx="2523067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0668000" y="26989"/>
            <a:ext cx="1422400" cy="109537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fld id="{736DAF89-DCC0-41F3-8953-363ED3B501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118534" y="26989"/>
            <a:ext cx="6830484" cy="109537"/>
          </a:xfrm>
        </p:spPr>
        <p:txBody>
          <a:bodyPr/>
          <a:lstStyle>
            <a:lvl1pPr algn="l">
              <a:defRPr sz="1200">
                <a:solidFill>
                  <a:srgbClr val="FFFFF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AB635703-A084-45B4-AC6E-918067294385}" type="datetime1">
              <a:rPr lang="zh-CN" altLang="en-US" smtClean="0"/>
              <a:t>2026/5/11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83097"/>
      </p:ext>
    </p:extLst>
  </p:cSld>
  <p:clrMapOvr>
    <a:masterClrMapping/>
  </p:clrMapOvr>
  <p:transition spd="med">
    <p:pull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FD9CB3-F713-407A-972F-01082B7D204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130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3FE4B-4CF3-43AC-B5B5-3DFCE54D6E1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7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A92CB1-8EE3-486B-8BD8-7FFDFE62821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94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A0ED7-9E7D-460C-BB93-5055FBD11E5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64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154BC5-F25F-43D2-B363-00DF7FA2E1E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613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5F8E81-F869-40D9-84D0-597CA18F9A1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4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30A50-4D73-46A2-AFB4-F3E10572BBF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277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D39D7A-83A7-466C-AF53-DC870FABBC8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029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8DC31C-F590-4A0C-9377-BD793C12640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64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C5AF51-0B0D-4A1F-9D0C-19873CB2D49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091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1571CB-4D52-435B-B945-0BED770A6AB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25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E51F82-E656-40CF-B06B-5721FEB144A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189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33DCF9-5CA3-4D43-9ABF-A2C3FB3FE09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2079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37D02-7568-4C73-B8D5-B9EE4457016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6484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92AF4-36CE-41E9-AA83-531E5BC0EA7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3369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69CC6-B491-44D8-A0AA-34563D276304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152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DCE65-E35E-4BF3-8C13-87ABC04A0ADF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028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CA2490-462A-4D73-9BC4-C42D568D250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494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9151F-F0B7-46EE-9EF7-9C6962B2FF80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884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EEA662-5248-4BD0-B943-F6CF5DA7ABD5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4481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BE0596-22F2-4320-A08F-4226998F1CE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541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67EDA8-DCE0-400B-907F-E096AC8E61D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8740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FAA2-8D4E-4993-9A2F-EE4BCB8967E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44626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182BB6-C970-4485-B9A6-AF3B1323B7F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52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52DD1A-338F-49A5-921A-F728CF3F747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039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1CE2C-2602-4424-B9C8-81099E6ED43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0305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77CB6B-3ECC-4E11-852E-D3A473D4B31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53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EC57F-7017-4043-8279-49E3E6C2564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98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34A77-E865-4802-9959-C2477CE6D42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0117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0DB243-962B-45E6-B967-E5338728931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1076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E61DA2-1EFE-40A0-B48E-ADDD5CBF77D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089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65027-B6DF-43D1-9DE0-3C8DD8EF9EF1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21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E16B-3A62-48FD-B07B-536BCDF4D79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8399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D0D958-D034-406B-B450-BAC4218DAD7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6179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364B69-9E0A-4DD8-9DC9-EEDCD9AF3008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67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3E12F1-F733-4AFF-B7CB-3BC1492CAA09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650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5FCB17-2B32-4CA5-977C-82F5438500A7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4324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9BEB3E-3E9A-4EB8-8B04-B123799D309D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11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740D74-3053-4971-983C-1BC1AC93B7C6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693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637F6B-DE2A-49D8-BEFC-F405C0F5AE0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15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512C2A-3FEA-493A-9A2B-C625CDE3306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355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CEA747-02E6-4083-9F1E-60B6A00CCC24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4764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FE642-25FB-496C-9E4D-5CED41550CAA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9273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9E36D-FF4E-4B51-A2F8-107C84952DAC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48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40F5B-8420-455F-81AC-BD91A8A47419}" type="datetime1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F7EB-9BEB-4B31-A188-08C81F520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9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8" r:id="rId12"/>
    <p:sldLayoutId id="2147483709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F3BC8F-E049-4868-83FC-A466B97FE74E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26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E6CD5-97D1-4AA7-850C-774297895293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9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1C3D8-FEF8-4CB0-B264-39F0C3BDA4C2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41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C9911-93C4-4BAB-B537-ACE54A96017B}" type="datetime1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2026/5/11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南京大学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-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71616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高级程序设计教学组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38A2-2991-416B-A66D-FC35820C18EB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71616">
                    <a:tint val="75000"/>
                  </a:srgbClr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171616">
                  <a:tint val="75000"/>
                </a:srgbClr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008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9546" y="1656057"/>
            <a:ext cx="10955214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b="1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  <a:t>Memory-safety Programming</a:t>
            </a:r>
            <a:br>
              <a:rPr lang="en-US" altLang="zh-CN" sz="4800" b="1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华文新魏"/>
              </a:rPr>
            </a:br>
            <a:r>
              <a:rPr lang="zh-CN" altLang="en-US" sz="4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/>
              </a:rPr>
              <a:t>内存安全程序设计</a:t>
            </a:r>
            <a:endParaRPr lang="zh-CN" altLang="en-US" sz="6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新魏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76256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Content</a:t>
            </a:r>
            <a:r>
              <a:rPr lang="en-US" altLang="zh-CN" sz="3600" b="1" dirty="0">
                <a:latin typeface="Arial Black" panose="020B0A04020102020204" pitchFamily="34" charset="0"/>
                <a:ea typeface="微软雅黑" panose="020B0503020204020204" pitchFamily="34" charset="-122"/>
              </a:rPr>
              <a:t> </a:t>
            </a:r>
            <a:endParaRPr lang="zh-CN" altLang="en-US" sz="3600" b="1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Memory-safety problems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Temporal memory problems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smart pointer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Spatial memory problems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dynamic bound checking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41220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2569" y="1445847"/>
            <a:ext cx="10515600" cy="48170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A pointer variable contains the </a:t>
            </a:r>
            <a:r>
              <a:rPr lang="en-CA" sz="2400" b="1" dirty="0">
                <a:latin typeface="Calibri" panose="020F0502020204030204" pitchFamily="34" charset="0"/>
                <a:cs typeface="Calibri" panose="020F0502020204030204" pitchFamily="34" charset="0"/>
              </a:rPr>
              <a:t>memory address </a:t>
            </a: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of a portion of memory. </a:t>
            </a:r>
          </a:p>
          <a:p>
            <a:pPr>
              <a:defRPr/>
            </a:pP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For any type </a:t>
            </a:r>
            <a:r>
              <a:rPr lang="en-CA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CA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T*</a:t>
            </a: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 is the type “pointer to T”, i.e. a variable of type </a:t>
            </a:r>
            <a:r>
              <a:rPr lang="en-CA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T*</a:t>
            </a: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 can hold the address of an object of type </a:t>
            </a:r>
            <a:r>
              <a:rPr lang="en-CA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99;</a:t>
            </a:r>
          </a:p>
          <a:p>
            <a:pPr marL="0" indent="0">
              <a:buNone/>
              <a:defRPr/>
            </a:pP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p = &amp;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None/>
              <a:defRPr/>
            </a:pP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*p &lt;&lt; </a:t>
            </a:r>
            <a:r>
              <a:rPr lang="en-CA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endl</a:t>
            </a:r>
            <a:r>
              <a:rPr lang="en-CA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>
              <a:defRPr/>
            </a:pPr>
            <a:r>
              <a:rPr lang="en-CA" sz="2400" dirty="0">
                <a:latin typeface="Calibri" panose="020F0502020204030204" pitchFamily="34" charset="0"/>
                <a:cs typeface="Calibri" panose="020F0502020204030204" pitchFamily="34" charset="0"/>
              </a:rPr>
              <a:t>Two operators on pointers:</a:t>
            </a:r>
          </a:p>
          <a:p>
            <a:pPr lvl="1">
              <a:defRPr/>
            </a:pPr>
            <a:r>
              <a:rPr lang="en-CA" b="1" dirty="0">
                <a:latin typeface="Calibri" panose="020F0502020204030204" pitchFamily="34" charset="0"/>
                <a:cs typeface="Calibri" panose="020F0502020204030204" pitchFamily="34" charset="0"/>
              </a:rPr>
              <a:t>Dereferencing operator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, e.g. </a:t>
            </a: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*p 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refers to the object pointed to by the pointer. </a:t>
            </a:r>
          </a:p>
          <a:p>
            <a:pPr lvl="1">
              <a:defRPr/>
            </a:pPr>
            <a:r>
              <a:rPr lang="en-CA" b="1" dirty="0">
                <a:latin typeface="Calibri" panose="020F0502020204030204" pitchFamily="34" charset="0"/>
                <a:cs typeface="Calibri" panose="020F0502020204030204" pitchFamily="34" charset="0"/>
              </a:rPr>
              <a:t>Address operator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, e.g. </a:t>
            </a: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CA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CA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refers to the address of the first memory cell holding a value.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66958" y="2837814"/>
            <a:ext cx="3062287" cy="1133476"/>
            <a:chOff x="6705601" y="3429000"/>
            <a:chExt cx="3062287" cy="1133476"/>
          </a:xfrm>
        </p:grpSpPr>
        <p:sp>
          <p:nvSpPr>
            <p:cNvPr id="30727" name="TextBox 7"/>
            <p:cNvSpPr txBox="1">
              <a:spLocks noChangeArrowheads="1"/>
            </p:cNvSpPr>
            <p:nvPr/>
          </p:nvSpPr>
          <p:spPr bwMode="auto">
            <a:xfrm>
              <a:off x="7812088" y="3429000"/>
              <a:ext cx="1943100" cy="36988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CA" altLang="en-US" sz="1800">
                  <a:latin typeface="Calibri Light" panose="020F0302020204030204" pitchFamily="34" charset="0"/>
                </a:rPr>
                <a:t>99</a:t>
              </a:r>
            </a:p>
          </p:txBody>
        </p:sp>
        <p:sp>
          <p:nvSpPr>
            <p:cNvPr id="30728" name="TextBox 8"/>
            <p:cNvSpPr txBox="1">
              <a:spLocks noChangeArrowheads="1"/>
            </p:cNvSpPr>
            <p:nvPr/>
          </p:nvSpPr>
          <p:spPr bwMode="auto">
            <a:xfrm>
              <a:off x="7812088" y="3800475"/>
              <a:ext cx="1943100" cy="36988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CA" altLang="en-US" sz="1800">
                <a:latin typeface="Calibri Light" panose="020F0302020204030204" pitchFamily="34" charset="0"/>
              </a:endParaRPr>
            </a:p>
          </p:txBody>
        </p:sp>
        <p:sp>
          <p:nvSpPr>
            <p:cNvPr id="30729" name="TextBox 9"/>
            <p:cNvSpPr txBox="1">
              <a:spLocks noChangeArrowheads="1"/>
            </p:cNvSpPr>
            <p:nvPr/>
          </p:nvSpPr>
          <p:spPr bwMode="auto">
            <a:xfrm>
              <a:off x="7812088" y="4183064"/>
              <a:ext cx="1943100" cy="36988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CA" altLang="en-US" sz="1800">
                  <a:latin typeface="Calibri Light" panose="020F0302020204030204" pitchFamily="34" charset="0"/>
                </a:rPr>
                <a:t>&amp;i</a:t>
              </a:r>
            </a:p>
          </p:txBody>
        </p:sp>
        <p:sp>
          <p:nvSpPr>
            <p:cNvPr id="30730" name="TextBox 19"/>
            <p:cNvSpPr txBox="1">
              <a:spLocks noChangeArrowheads="1"/>
            </p:cNvSpPr>
            <p:nvPr/>
          </p:nvSpPr>
          <p:spPr bwMode="auto">
            <a:xfrm>
              <a:off x="6710363" y="3444875"/>
              <a:ext cx="1096962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en-CA" altLang="en-US" sz="1800">
                  <a:latin typeface="Calibri Light" panose="020F0302020204030204" pitchFamily="34" charset="0"/>
                </a:rPr>
                <a:t>i (int)</a:t>
              </a:r>
            </a:p>
          </p:txBody>
        </p:sp>
        <p:sp>
          <p:nvSpPr>
            <p:cNvPr id="30731" name="TextBox 21"/>
            <p:cNvSpPr txBox="1">
              <a:spLocks noChangeArrowheads="1"/>
            </p:cNvSpPr>
            <p:nvPr/>
          </p:nvSpPr>
          <p:spPr bwMode="auto">
            <a:xfrm>
              <a:off x="6705601" y="4192589"/>
              <a:ext cx="10969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en-CA" altLang="en-US" sz="1800">
                  <a:latin typeface="Calibri Light" panose="020F0302020204030204" pitchFamily="34" charset="0"/>
                </a:rPr>
                <a:t>p (*int)</a:t>
              </a:r>
            </a:p>
          </p:txBody>
        </p:sp>
        <p:cxnSp>
          <p:nvCxnSpPr>
            <p:cNvPr id="27" name="Elbow Connector 26"/>
            <p:cNvCxnSpPr>
              <a:stCxn id="30729" idx="3"/>
              <a:endCxn id="30727" idx="3"/>
            </p:cNvCxnSpPr>
            <p:nvPr/>
          </p:nvCxnSpPr>
          <p:spPr>
            <a:xfrm flipV="1">
              <a:off x="9755188" y="3613150"/>
              <a:ext cx="12700" cy="755650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Pointer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页脚占位符 4"/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南京大学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高级程序设计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左志强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714881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4846" y="1692763"/>
            <a:ext cx="592992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altLang="en-US" sz="24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*p1, *p2, v1, v2;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p2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are now uninitialized pointers (often called “wild pointers”).</a:t>
            </a:r>
          </a:p>
          <a:p>
            <a:pPr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Pointer assignment:</a:t>
            </a:r>
          </a:p>
          <a:p>
            <a:pPr marL="0" indent="0">
              <a:buNone/>
              <a:defRPr/>
            </a:pPr>
            <a:r>
              <a:rPr lang="en-US" altLang="en-US" b="1" dirty="0">
                <a:solidFill>
                  <a:schemeClr val="folHlin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 = &amp;v1;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defRPr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Sets pointer variable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to "point to" </a:t>
            </a:r>
            <a:b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the address of variable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equals address of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Or "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points to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>
              <a:defRPr/>
            </a:pPr>
            <a:endParaRPr lang="en-C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751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63" y="1825543"/>
            <a:ext cx="304641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512" y="3965250"/>
            <a:ext cx="304641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Pointer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33450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6328508" cy="4351338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Value assignments</a:t>
            </a:r>
          </a:p>
          <a:p>
            <a:pPr marL="274637" lvl="1" indent="0">
              <a:buNone/>
              <a:defRPr/>
            </a:pP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74637" lvl="1" indent="0">
              <a:buNone/>
              <a:defRPr/>
            </a:pP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v1 = 0;</a:t>
            </a:r>
          </a:p>
          <a:p>
            <a:pPr marL="274637" lvl="1" indent="0">
              <a:buNone/>
              <a:defRPr/>
            </a:pPr>
            <a:endParaRPr lang="en-US" alt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637" lvl="1" indent="0">
              <a:buNone/>
              <a:defRPr/>
            </a:pPr>
            <a:endParaRPr lang="en-US" altLang="en-US" b="1" dirty="0">
              <a:solidFill>
                <a:schemeClr val="folHlin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74637" lvl="1" indent="0">
              <a:buNone/>
              <a:defRPr/>
            </a:pP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*p1 = 42;</a:t>
            </a:r>
          </a:p>
          <a:p>
            <a:pPr marL="274637" lvl="1" indent="0">
              <a:buNone/>
              <a:defRPr/>
            </a:pPr>
            <a:endParaRPr lang="en-US" alt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defRPr/>
            </a:pP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p1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v1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refer to same memory cell</a:t>
            </a:r>
          </a:p>
          <a:p>
            <a:pPr lvl="2"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Changing either the value pointed to by p1 or the value of v1 also changes the other variable’s value. </a:t>
            </a:r>
          </a:p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775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746" y="3912031"/>
            <a:ext cx="304641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996" y="2032753"/>
            <a:ext cx="304641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Pointer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97684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Dynamic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Require the use of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Allocated with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operator, deallocated with the </a:t>
            </a:r>
            <a:r>
              <a:rPr lang="en-US" altLang="en-US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Need to be allocated and destroyed explicitly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Local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Declared within a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Allocated on the stack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Allocation and deallocation automatically controlled by the runtime system as functions are called</a:t>
            </a: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Pointer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16968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5447" y="1811025"/>
            <a:ext cx="4315876" cy="147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3356364"/>
            <a:ext cx="4316412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6" y="4887083"/>
            <a:ext cx="4316413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948856"/>
            <a:ext cx="43037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"/>
          <p:cNvSpPr txBox="1">
            <a:spLocks/>
          </p:cNvSpPr>
          <p:nvPr/>
        </p:nvSpPr>
        <p:spPr>
          <a:xfrm>
            <a:off x="1619842" y="984661"/>
            <a:ext cx="8642350" cy="519115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CA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*p1, *p2; </a:t>
            </a:r>
          </a:p>
          <a:p>
            <a:pPr lvl="1"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p1 = new </a:t>
            </a:r>
            <a:r>
              <a:rPr lang="en-CA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*p1 = 42;</a:t>
            </a: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p2 = p1;  </a:t>
            </a:r>
          </a:p>
        </p:txBody>
      </p:sp>
      <p:sp>
        <p:nvSpPr>
          <p:cNvPr id="13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Example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D4CBD03-7A6F-91E6-069E-B85135B41EDB}"/>
              </a:ext>
            </a:extLst>
          </p:cNvPr>
          <p:cNvCxnSpPr>
            <a:cxnSpLocks/>
          </p:cNvCxnSpPr>
          <p:nvPr/>
        </p:nvCxnSpPr>
        <p:spPr>
          <a:xfrm>
            <a:off x="1590261" y="1796995"/>
            <a:ext cx="9175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FA4340A-5C0A-66B9-8FBC-90AED3956AF0}"/>
              </a:ext>
            </a:extLst>
          </p:cNvPr>
          <p:cNvCxnSpPr>
            <a:cxnSpLocks/>
          </p:cNvCxnSpPr>
          <p:nvPr/>
        </p:nvCxnSpPr>
        <p:spPr>
          <a:xfrm>
            <a:off x="1559781" y="3348824"/>
            <a:ext cx="9175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E54922A-7C86-77F9-B013-83AE21F971D9}"/>
              </a:ext>
            </a:extLst>
          </p:cNvPr>
          <p:cNvCxnSpPr>
            <a:cxnSpLocks/>
          </p:cNvCxnSpPr>
          <p:nvPr/>
        </p:nvCxnSpPr>
        <p:spPr>
          <a:xfrm>
            <a:off x="1567732" y="4883425"/>
            <a:ext cx="9175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7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5616" y="1270732"/>
            <a:ext cx="4476261" cy="4351338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*p2 = 53;</a:t>
            </a: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p1 = new </a:t>
            </a:r>
            <a:r>
              <a:rPr lang="en-CA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CA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en-CA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*p1 = 88; </a:t>
            </a:r>
          </a:p>
        </p:txBody>
      </p:sp>
      <p:pic>
        <p:nvPicPr>
          <p:cNvPr id="3891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847845"/>
            <a:ext cx="4316412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689186"/>
            <a:ext cx="431641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1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4705311"/>
            <a:ext cx="4316412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标题 1"/>
          <p:cNvSpPr txBox="1">
            <a:spLocks/>
          </p:cNvSpPr>
          <p:nvPr/>
        </p:nvSpPr>
        <p:spPr>
          <a:xfrm>
            <a:off x="523415" y="2396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Example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EAD9746-2C9E-4854-9E4D-9F2D723DE7B6}"/>
              </a:ext>
            </a:extLst>
          </p:cNvPr>
          <p:cNvCxnSpPr>
            <a:cxnSpLocks/>
          </p:cNvCxnSpPr>
          <p:nvPr/>
        </p:nvCxnSpPr>
        <p:spPr>
          <a:xfrm>
            <a:off x="1567732" y="4676693"/>
            <a:ext cx="9175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89AD1BF-B6B0-07BA-726B-A9E752CC07D8}"/>
              </a:ext>
            </a:extLst>
          </p:cNvPr>
          <p:cNvCxnSpPr>
            <a:cxnSpLocks/>
          </p:cNvCxnSpPr>
          <p:nvPr/>
        </p:nvCxnSpPr>
        <p:spPr>
          <a:xfrm>
            <a:off x="1535927" y="2482131"/>
            <a:ext cx="91758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23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Example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7068547" y="967811"/>
            <a:ext cx="3887787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global = 99;</a:t>
            </a:r>
          </a:p>
          <a:p>
            <a:endParaRPr lang="en-US" altLang="en-US" sz="16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f2(){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f2x = 3;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return (global/f2x);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en-US" sz="16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f1(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p){</a:t>
            </a:r>
          </a:p>
          <a:p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// calling this function </a:t>
            </a:r>
            <a:b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// creates a memory leak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* f1x = new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return (p + *f1x + f2());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en-US" sz="16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main(){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x,y,z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y = 1; 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z = 2; 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x = f1(y);</a:t>
            </a:r>
          </a:p>
          <a:p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584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6" y="1841500"/>
            <a:ext cx="4075113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94598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201" y="1831714"/>
            <a:ext cx="49186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*)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(SIZE);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(err) {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abrt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logError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"operation aborted before  	commit"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sz="1600" b="1" dirty="0"/>
          </a:p>
        </p:txBody>
      </p:sp>
      <p:sp>
        <p:nvSpPr>
          <p:cNvPr id="13" name="Rectangle 5"/>
          <p:cNvSpPr/>
          <p:nvPr/>
        </p:nvSpPr>
        <p:spPr>
          <a:xfrm>
            <a:off x="969938" y="6486719"/>
            <a:ext cx="4553170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CWE-416: Use After Free https://cwe.mitre.org/data/definitions/416.html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6793" y="5261674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Use-After-Free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017" y="1464591"/>
            <a:ext cx="5653564" cy="3532806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4159909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90475" y="1690197"/>
            <a:ext cx="5579063" cy="3982181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IniToHash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*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pBuf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r>
              <a:rPr lang="en-US" altLang="zh-CN" sz="1600" b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{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acBuffer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[LINE_LEN] = {0};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 char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*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NULL;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*) 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pBuf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...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&amp;&amp; !CHAR_IS_SPACE(*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))</a:t>
            </a:r>
            <a:r>
              <a:rPr lang="en-US" altLang="zh-CN" sz="1600" b="1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{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   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acBuffer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[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inum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++] 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= *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     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pcTmp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++;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altLang="zh-CN" sz="16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87500" y="5439904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Buffer overflow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886" y="1961671"/>
            <a:ext cx="5307789" cy="2734315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977753" y="6478904"/>
            <a:ext cx="4923464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CWE-787: Out-of-bounds Write https://cwe.mitre.org/data/definitions/787.html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309759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527729" y="2047158"/>
            <a:ext cx="635947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CrowdStrike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内存越界访问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引发的全球范围宕机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发生日期：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影响设备：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影响行业：机场、银行、酒店、制造等等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预计损失：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$100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15231" t="3716" r="16152" b="17580"/>
          <a:stretch/>
        </p:blipFill>
        <p:spPr>
          <a:xfrm>
            <a:off x="1010662" y="2141828"/>
            <a:ext cx="4217845" cy="2616152"/>
          </a:xfrm>
          <a:prstGeom prst="rect">
            <a:avLst/>
          </a:prstGeom>
          <a:noFill/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566203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b="4027"/>
          <a:stretch/>
        </p:blipFill>
        <p:spPr>
          <a:xfrm>
            <a:off x="1686323" y="1774557"/>
            <a:ext cx="2823683" cy="2868355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/>
        </p:nvSpPr>
        <p:spPr>
          <a:xfrm>
            <a:off x="1340603" y="5145437"/>
            <a:ext cx="369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OpenSSL Heartbleed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250" y="1918803"/>
            <a:ext cx="5514975" cy="227647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969072" y="4820368"/>
            <a:ext cx="3779003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受影响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数量为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2,590,351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678984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952" y="1983136"/>
            <a:ext cx="10583825" cy="264310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60185" y="5029596"/>
            <a:ext cx="4840636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网络攻击事件屡见不鲜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627567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410" y="1472338"/>
            <a:ext cx="8401227" cy="327748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24366" y="5026619"/>
            <a:ext cx="9787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微软安全响应中心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(MSRC)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年以来安全漏洞进行了分类，所有补丁中约有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是针对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漏洞的修复程序。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982067" y="4436294"/>
            <a:ext cx="2564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图片源于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Matt Miller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4753" y="6538030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altLang="zh-CN" sz="1100" dirty="0">
                <a:latin typeface="Calibri" panose="020F0502020204030204" pitchFamily="34" charset="0"/>
                <a:cs typeface="Calibri" panose="020F0502020204030204" pitchFamily="34" charset="0"/>
              </a:rPr>
              <a:t>      https://github.com/z-zhiqiang/MSRC-Security-Research/tree/master/presentations/2019_02_BlueHatIL</a:t>
            </a: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42516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39" y="1952786"/>
            <a:ext cx="5508315" cy="325908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54047" y="2031958"/>
            <a:ext cx="4584439" cy="313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谷歌工程师分析了自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2015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修复的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912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个安全错误，高或严重等级的安全漏洞中大约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内存管理和安全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919147" y="5029970"/>
            <a:ext cx="1981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图片源于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Google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9867" y="6522532"/>
            <a:ext cx="8082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https://www.chromium.org/Home/chromium-security/memory-safety</a:t>
            </a:r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0064" y="239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Memory-safety Problems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005962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7256" y="1536200"/>
            <a:ext cx="10989666" cy="50787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空间类内存安全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Spatial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wrong access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缓冲区溢出（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Buffer overflow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解引用空指针（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Null pointer dereferencing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访问未初始化内存（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Dereference uninitialized pointer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时间类内存安全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Temporal safety caused by 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lifetime violation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释放后使用（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Use after free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重复释放（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Double free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悬垂指针（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Dangling pointer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内存泄漏（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Memory leak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Taxonomy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58776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15" y="500599"/>
            <a:ext cx="4681275" cy="51407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14" y="1193370"/>
            <a:ext cx="4827879" cy="41922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7401" y="6502323"/>
            <a:ext cx="8988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ts val="1200"/>
              </a:lnSpc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CN" dirty="0" err="1"/>
              <a:t>Vintila</a:t>
            </a:r>
            <a:r>
              <a:rPr lang="en-US" altLang="zh-CN" dirty="0"/>
              <a:t> et al., Evaluating the Effectiveness of Memory Safety Sanitizers, S&amp;P’24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199322" y="836908"/>
            <a:ext cx="7749" cy="4967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287391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8680" y="1379868"/>
            <a:ext cx="10323443" cy="52791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内存安全程序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静态：静态分析、模型检验、程序验证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动态：模糊测试、符号执行、动态分析（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Valgrind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人工：安全函数、编码规范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内存安全环境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沙盒、虚拟机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硬件辅助：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Intel MPX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 MTE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内存安全语言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全新语言：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语言增强：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Cyclone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CCured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Checked 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 smart pointer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Solution</a:t>
            </a:r>
            <a:endParaRPr lang="zh-CN" altLang="en-US" sz="2400" b="1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418994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91316357"/>
              </p:ext>
            </p:extLst>
          </p:nvPr>
        </p:nvGraphicFramePr>
        <p:xfrm>
          <a:off x="1332855" y="2100019"/>
          <a:ext cx="9702137" cy="3431857"/>
        </p:xfrm>
        <a:graphic>
          <a:graphicData uri="http://schemas.openxmlformats.org/drawingml/2006/table">
            <a:tbl>
              <a:tblPr firstRow="1" bandRow="1"/>
              <a:tblGrid>
                <a:gridCol w="2070414">
                  <a:extLst>
                    <a:ext uri="{9D8B030D-6E8A-4147-A177-3AD203B41FA5}">
                      <a16:colId xmlns:a16="http://schemas.microsoft.com/office/drawing/2014/main" val="3286604557"/>
                    </a:ext>
                  </a:extLst>
                </a:gridCol>
                <a:gridCol w="1877866">
                  <a:extLst>
                    <a:ext uri="{9D8B030D-6E8A-4147-A177-3AD203B41FA5}">
                      <a16:colId xmlns:a16="http://schemas.microsoft.com/office/drawing/2014/main" val="3252913947"/>
                    </a:ext>
                  </a:extLst>
                </a:gridCol>
                <a:gridCol w="1877866">
                  <a:extLst>
                    <a:ext uri="{9D8B030D-6E8A-4147-A177-3AD203B41FA5}">
                      <a16:colId xmlns:a16="http://schemas.microsoft.com/office/drawing/2014/main" val="3238266961"/>
                    </a:ext>
                  </a:extLst>
                </a:gridCol>
                <a:gridCol w="1840865">
                  <a:extLst>
                    <a:ext uri="{9D8B030D-6E8A-4147-A177-3AD203B41FA5}">
                      <a16:colId xmlns:a16="http://schemas.microsoft.com/office/drawing/2014/main" val="2581911976"/>
                    </a:ext>
                  </a:extLst>
                </a:gridCol>
                <a:gridCol w="2035126">
                  <a:extLst>
                    <a:ext uri="{9D8B030D-6E8A-4147-A177-3AD203B41FA5}">
                      <a16:colId xmlns:a16="http://schemas.microsoft.com/office/drawing/2014/main" val="2608691040"/>
                    </a:ext>
                  </a:extLst>
                </a:gridCol>
              </a:tblGrid>
              <a:tr h="987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安全性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32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经济性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通用性</a:t>
                      </a:r>
                      <a:endParaRPr lang="en-US" altLang="zh-CN" sz="3200" b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可维护性</a:t>
                      </a:r>
                      <a:endParaRPr lang="en-US" altLang="zh-CN" sz="3200" b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32887"/>
                  </a:ext>
                </a:extLst>
              </a:tr>
              <a:tr h="8147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安全程序</a:t>
                      </a:r>
                      <a:endParaRPr lang="zh-CN" altLang="en-US" sz="3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10555"/>
                  </a:ext>
                </a:extLst>
              </a:tr>
              <a:tr h="8147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安全环境</a:t>
                      </a:r>
                      <a:endParaRPr lang="zh-CN" altLang="en-US" sz="3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915698"/>
                  </a:ext>
                </a:extLst>
              </a:tr>
              <a:tr h="8147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安全语言</a:t>
                      </a:r>
                      <a:endParaRPr lang="zh-CN" altLang="en-US" sz="3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4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173516"/>
                  </a:ext>
                </a:extLst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169043" y="3378630"/>
            <a:ext cx="5935855" cy="1959612"/>
            <a:chOff x="4079838" y="3479766"/>
            <a:chExt cx="6571065" cy="240866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9838" y="3495417"/>
              <a:ext cx="437782" cy="43332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7970" y="5455161"/>
              <a:ext cx="445748" cy="43326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3086" y="4455978"/>
              <a:ext cx="445748" cy="43326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0326" y="3479766"/>
              <a:ext cx="445748" cy="433265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7078" y="4430246"/>
              <a:ext cx="437782" cy="433322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2575" y="5425121"/>
              <a:ext cx="437782" cy="433322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509" y="3484248"/>
              <a:ext cx="445748" cy="433265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9760" y="5390913"/>
              <a:ext cx="445748" cy="433265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7197" y="4450226"/>
              <a:ext cx="437782" cy="43332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42026" y="3485946"/>
              <a:ext cx="437782" cy="433322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9677" y="4440924"/>
              <a:ext cx="445748" cy="43326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5155" y="5412080"/>
              <a:ext cx="445748" cy="433265"/>
            </a:xfrm>
            <a:prstGeom prst="rect">
              <a:avLst/>
            </a:prstGeom>
          </p:spPr>
        </p:pic>
      </p:grpSp>
      <p:sp>
        <p:nvSpPr>
          <p:cNvPr id="21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Solution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3145523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79" y="1772192"/>
            <a:ext cx="4119391" cy="51740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全新语言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Kotlin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增强语言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Cyclone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Checked C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 smart pointer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86488263"/>
              </p:ext>
            </p:extLst>
          </p:nvPr>
        </p:nvGraphicFramePr>
        <p:xfrm>
          <a:off x="4595250" y="2425484"/>
          <a:ext cx="7043979" cy="2388322"/>
        </p:xfrm>
        <a:graphic>
          <a:graphicData uri="http://schemas.openxmlformats.org/drawingml/2006/table">
            <a:tbl>
              <a:tblPr firstRow="1" bandRow="1"/>
              <a:tblGrid>
                <a:gridCol w="1902169">
                  <a:extLst>
                    <a:ext uri="{9D8B030D-6E8A-4147-A177-3AD203B41FA5}">
                      <a16:colId xmlns:a16="http://schemas.microsoft.com/office/drawing/2014/main" val="3286604557"/>
                    </a:ext>
                  </a:extLst>
                </a:gridCol>
                <a:gridCol w="1670126">
                  <a:extLst>
                    <a:ext uri="{9D8B030D-6E8A-4147-A177-3AD203B41FA5}">
                      <a16:colId xmlns:a16="http://schemas.microsoft.com/office/drawing/2014/main" val="3252913947"/>
                    </a:ext>
                  </a:extLst>
                </a:gridCol>
                <a:gridCol w="1822044">
                  <a:extLst>
                    <a:ext uri="{9D8B030D-6E8A-4147-A177-3AD203B41FA5}">
                      <a16:colId xmlns:a16="http://schemas.microsoft.com/office/drawing/2014/main" val="3238266961"/>
                    </a:ext>
                  </a:extLst>
                </a:gridCol>
                <a:gridCol w="1649640">
                  <a:extLst>
                    <a:ext uri="{9D8B030D-6E8A-4147-A177-3AD203B41FA5}">
                      <a16:colId xmlns:a16="http://schemas.microsoft.com/office/drawing/2014/main" val="2581911976"/>
                    </a:ext>
                  </a:extLst>
                </a:gridCol>
              </a:tblGrid>
              <a:tr h="840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兼容性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32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学习成本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性能</a:t>
                      </a:r>
                      <a:endParaRPr lang="en-US" altLang="zh-CN" sz="3200" b="0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32887"/>
                  </a:ext>
                </a:extLst>
              </a:tr>
              <a:tr h="7738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全新</a:t>
                      </a:r>
                      <a:endParaRPr lang="en-US" altLang="zh-CN" sz="3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10555"/>
                  </a:ext>
                </a:extLst>
              </a:tr>
              <a:tr h="7738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zh-CN" altLang="en-US" sz="32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</a:t>
                      </a:r>
                      <a:endParaRPr lang="en-US" altLang="zh-CN" sz="32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010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915698"/>
                  </a:ext>
                </a:extLst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7237709" y="3502617"/>
            <a:ext cx="3789336" cy="1123625"/>
            <a:chOff x="6432223" y="3673829"/>
            <a:chExt cx="4535759" cy="161884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4109" y="4743884"/>
              <a:ext cx="564598" cy="54878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223" y="3673830"/>
              <a:ext cx="554508" cy="54885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3523" y="4743883"/>
              <a:ext cx="564598" cy="54878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3613" y="3673829"/>
              <a:ext cx="554508" cy="54885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3384" y="3673829"/>
              <a:ext cx="564598" cy="54878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1051" y="4743754"/>
              <a:ext cx="554508" cy="548859"/>
            </a:xfrm>
            <a:prstGeom prst="rect">
              <a:avLst/>
            </a:prstGeom>
          </p:spPr>
        </p:pic>
      </p:grpSp>
      <p:sp>
        <p:nvSpPr>
          <p:cNvPr id="14" name="标题 1"/>
          <p:cNvSpPr txBox="1">
            <a:spLocks/>
          </p:cNvSpPr>
          <p:nvPr/>
        </p:nvSpPr>
        <p:spPr>
          <a:xfrm>
            <a:off x="750064" y="239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 Black" panose="020B0A040201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New vs. Extended Language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高级程序设计教学组</a:t>
            </a:r>
          </a:p>
        </p:txBody>
      </p:sp>
    </p:spTree>
    <p:extLst>
      <p:ext uri="{BB962C8B-B14F-4D97-AF65-F5344CB8AC3E}">
        <p14:creationId xmlns:p14="http://schemas.microsoft.com/office/powerpoint/2010/main" val="174905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HDOfficeLightV0">
  <a:themeElements>
    <a:clrScheme name="自定义 3">
      <a:dk1>
        <a:srgbClr val="171616"/>
      </a:dk1>
      <a:lt1>
        <a:sysClr val="window" lastClr="FFFFFF"/>
      </a:lt1>
      <a:dk2>
        <a:srgbClr val="002060"/>
      </a:dk2>
      <a:lt2>
        <a:srgbClr val="FFC000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4908</TotalTime>
  <Words>1738</Words>
  <Application>Microsoft Office PowerPoint</Application>
  <PresentationFormat>宽屏</PresentationFormat>
  <Paragraphs>234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等线</vt:lpstr>
      <vt:lpstr>等线 Light</vt:lpstr>
      <vt:lpstr>华文楷体</vt:lpstr>
      <vt:lpstr>微软雅黑</vt:lpstr>
      <vt:lpstr>Arial</vt:lpstr>
      <vt:lpstr>Arial Black</vt:lpstr>
      <vt:lpstr>Calibri</vt:lpstr>
      <vt:lpstr>Calibri Light</vt:lpstr>
      <vt:lpstr>Consolas</vt:lpstr>
      <vt:lpstr>Courier New</vt:lpstr>
      <vt:lpstr>Wingdings 2</vt:lpstr>
      <vt:lpstr>Office 主题​​</vt:lpstr>
      <vt:lpstr>HDOfficeLightV0</vt:lpstr>
      <vt:lpstr>1_HDOfficeLightV0</vt:lpstr>
      <vt:lpstr>2_HDOfficeLightV0</vt:lpstr>
      <vt:lpstr>3_HDOfficeLightV0</vt:lpstr>
      <vt:lpstr>Memory-safety Programming 内存安全程序设计</vt:lpstr>
      <vt:lpstr>Content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</vt:lpstr>
      <vt:lpstr>Memory-safety Problems</vt:lpstr>
      <vt:lpstr>PowerPoint 演示文稿</vt:lpstr>
      <vt:lpstr>Memory-safety Problems</vt:lpstr>
      <vt:lpstr>Memory-safety Problems</vt:lpstr>
      <vt:lpstr>Memory-safety Problems</vt:lpstr>
      <vt:lpstr>PowerPoint 演示文稿</vt:lpstr>
      <vt:lpstr>Memory-safety Problems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 Zhiqiang</dc:creator>
  <cp:lastModifiedBy>Dell</cp:lastModifiedBy>
  <cp:revision>2257</cp:revision>
  <dcterms:created xsi:type="dcterms:W3CDTF">2019-12-04T06:34:48Z</dcterms:created>
  <dcterms:modified xsi:type="dcterms:W3CDTF">2026-05-11T00:51:36Z</dcterms:modified>
</cp:coreProperties>
</file>