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96" r:id="rId4"/>
    <p:sldId id="260" r:id="rId5"/>
    <p:sldId id="266" r:id="rId6"/>
    <p:sldId id="333" r:id="rId7"/>
    <p:sldId id="289" r:id="rId8"/>
    <p:sldId id="309" r:id="rId9"/>
    <p:sldId id="290" r:id="rId10"/>
    <p:sldId id="258" r:id="rId11"/>
    <p:sldId id="259" r:id="rId12"/>
    <p:sldId id="267" r:id="rId13"/>
    <p:sldId id="340" r:id="rId14"/>
    <p:sldId id="344" r:id="rId15"/>
    <p:sldId id="331" r:id="rId16"/>
    <p:sldId id="342" r:id="rId17"/>
    <p:sldId id="330" r:id="rId18"/>
    <p:sldId id="261" r:id="rId19"/>
    <p:sldId id="293" r:id="rId20"/>
    <p:sldId id="311" r:id="rId21"/>
    <p:sldId id="345" r:id="rId22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7" autoAdjust="0"/>
    <p:restoredTop sz="94660"/>
  </p:normalViewPr>
  <p:slideViewPr>
    <p:cSldViewPr>
      <p:cViewPr varScale="1">
        <p:scale>
          <a:sx n="162" d="100"/>
          <a:sy n="162" d="100"/>
        </p:scale>
        <p:origin x="432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2CE19A-1EA1-9233-4ECB-55BE8419704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7A8839-4A93-605D-8C2D-7B377B71D0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70CABE-3F8C-7BDF-CDB2-64C5CFC974E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C93D697-B0B8-3700-3CB3-A9D0B1C5A7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94C5D2D3-69C9-1017-627F-EB0B4B522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4A1C7DCE-841E-EC5E-A8E6-19F45D0D5A9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C426A25B-A2B9-C19F-82F1-B717BD47F4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CC662B81-A4CA-9C84-DD6D-DADA8781F40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3FC8EFDC-8F01-516E-6FA6-0743C497700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02A2A990-60CA-06E8-9124-ED0296D125A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6C2C8B84-71BC-14B1-416A-CDA9067B340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2D4811C2-8F7A-6853-1098-7E35B38051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5705855C-B751-85CA-344B-AB9B6B6EA74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A36EF4AB-290D-3D77-E75B-9F5CC3875FC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0FBBBC8-CC40-439E-2DAF-A27D61A599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51234A-B91E-F27E-ADDE-24B12E057B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A06E6FA0-0B51-9559-9141-1CC6A93839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3587A82-3099-82F9-5CF5-FA10328FD0F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FB416530-FBC2-9825-37BE-696FDF97D1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172CA548-977A-AD17-BB0D-2B36040D7E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3236C86B-7DE0-4807-DCCA-6CFCA9AC05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3B12BA7-E8BE-A4E4-28CE-AEE950087B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69 w 717"/>
                <a:gd name="T1" fmla="*/ 845 h 845"/>
                <a:gd name="T2" fmla="*/ 969 w 717"/>
                <a:gd name="T3" fmla="*/ 821 h 845"/>
                <a:gd name="T4" fmla="*/ 802 w 717"/>
                <a:gd name="T5" fmla="*/ 605 h 845"/>
                <a:gd name="T6" fmla="*/ 520 w 717"/>
                <a:gd name="T7" fmla="*/ 396 h 845"/>
                <a:gd name="T8" fmla="*/ 33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23 w 717"/>
                <a:gd name="T15" fmla="*/ 198 h 845"/>
                <a:gd name="T16" fmla="*/ 514 w 717"/>
                <a:gd name="T17" fmla="*/ 408 h 845"/>
                <a:gd name="T18" fmla="*/ 796 w 717"/>
                <a:gd name="T19" fmla="*/ 623 h 845"/>
                <a:gd name="T20" fmla="*/ 969 w 717"/>
                <a:gd name="T21" fmla="*/ 845 h 845"/>
                <a:gd name="T22" fmla="*/ 96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1FCF365-1A1F-14E8-1CA1-798D6528EF5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1 w 407"/>
                <a:gd name="T1" fmla="*/ 414 h 414"/>
                <a:gd name="T2" fmla="*/ 521 w 407"/>
                <a:gd name="T3" fmla="*/ 396 h 414"/>
                <a:gd name="T4" fmla="*/ 33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0 w 407"/>
                <a:gd name="T13" fmla="*/ 204 h 414"/>
                <a:gd name="T14" fmla="*/ 521 w 407"/>
                <a:gd name="T15" fmla="*/ 414 h 414"/>
                <a:gd name="T16" fmla="*/ 52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5B02605D-901A-62B3-00CB-CB39471A5F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5217B658-12C4-F77F-AA3C-299EB0A2D1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54 w 586"/>
                <a:gd name="T1" fmla="*/ 0 h 599"/>
                <a:gd name="T2" fmla="*/ 827 w 586"/>
                <a:gd name="T3" fmla="*/ 0 h 599"/>
                <a:gd name="T4" fmla="*/ 602 w 586"/>
                <a:gd name="T5" fmla="*/ 132 h 599"/>
                <a:gd name="T6" fmla="*/ 37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1 w 586"/>
                <a:gd name="T17" fmla="*/ 282 h 599"/>
                <a:gd name="T18" fmla="*/ 614 w 586"/>
                <a:gd name="T19" fmla="*/ 138 h 599"/>
                <a:gd name="T20" fmla="*/ 854 w 586"/>
                <a:gd name="T21" fmla="*/ 0 h 599"/>
                <a:gd name="T22" fmla="*/ 85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B1644A4A-CC65-8D40-11C4-BEBB7EB7BC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83 w 269"/>
                <a:gd name="T1" fmla="*/ 0 h 252"/>
                <a:gd name="T2" fmla="*/ 36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83 w 269"/>
                <a:gd name="T15" fmla="*/ 0 h 252"/>
                <a:gd name="T16" fmla="*/ 38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1D3AC2E9-A081-E64F-2E45-7CFEF6D9D02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23AE9105-918E-6C76-2071-1BFA69C9DCD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D034EB05-E7B7-F61F-02C7-0D879C36CC7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7FD86514-D0AB-1CE0-9B77-AAE8474AF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41052C49-1990-3B26-4F33-CAEE4E87F37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DEB76632-30FD-4756-94C5-8E527EB5F69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D84151FF-D91C-86A4-1B95-704EAB4C0DA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5ABEAE2B-D7CC-BBA7-F2C5-86C08513AEA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581AB609-78A0-096F-78E0-7726C4FF19C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6188031E-8150-F0EC-93A3-861961DCF58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40CA1C7B-A3E6-3318-3506-BB8B35A71B5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4AFAA994-F695-04EA-59C3-4E7C9DC60BA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6FE69754-7F33-E1D0-50F5-165760C9B5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3C897DA9-7BDB-C75C-7911-AA9CE42C9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97889D-4D62-4C08-A8D4-55DF03BDD2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195714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4565168-E895-6143-6321-B7D52DEAD9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0AE50CCD-E553-ECB1-AE2C-7E8072EE1E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E8D487C5-EDF2-8CEC-C40D-533683457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8728DA-1F60-4142-B073-328A3762B9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60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1DD4A50-108A-EF9F-E610-EE9E383400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E26ECFE-7582-2DA7-5B30-6CD1890C9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57A3121-360B-2CED-1E3C-271AC1E7EC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FD8E76-0C63-457C-87E7-DDCDE7754D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6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84C0827-BCF2-C284-5383-88FE18D247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971B8A5D-8F88-0D73-646B-B2126E7D70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75B4FCCB-77BC-156E-3C85-96AACA30E8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676C07-BA08-475E-AB76-D1794E13CB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51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5F4B9F28-4B0C-A154-F057-9D0AAF782A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7689DAD5-891C-1967-00D6-4E5A040B56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0579D1A7-CDF1-2246-80DF-FAF0042242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915C3F-644C-48D0-8F77-918243B327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48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049BB32A-C8FF-E1FF-A57A-5AB097A176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85293A7D-741F-A8E4-F3EF-573F4BDF7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81CD5F9E-76DD-5A10-5ADF-5A26B8695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2EB09B-2F4A-4ECC-B028-22BB0A3BC1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84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F4C8FC9E-DB07-829D-D642-1A126149CA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FFC830AA-BB44-3350-060C-7B3272BDF1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230F68B9-0039-5F57-582A-64B8CF8816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8F0669-BAAD-473D-9D4B-2677E35EB1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260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69D9114-37BD-C1D0-93F3-B4CE643A62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12198647-8E4F-3947-4BD6-3BF45F244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FC758F3-2082-48DA-A762-05141EB504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7353AF-42EA-4906-BAF8-A7524B0CCC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95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7C00615-AB7B-2FDC-2CB7-CCF2AD3CFD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9ADDEB8-341F-C558-0E4B-57083F520F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9A96BD4C-07CB-9C3C-854D-C1C5B90651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9F8D5B-AF40-4600-9E37-CB81AAFC29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272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DD84837-F287-2657-F71F-987293754A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3F1992E-A400-20AA-4DB1-FE21362F5C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28D82072-5006-74DE-B4A1-5F83488FE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1F85A-AF00-42DF-9168-008022A6EC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9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686714E8-0FCC-39CA-7C50-5721139632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7081E1A9-81E2-80FE-32A0-2BE3543715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C20E866A-768D-889C-AF71-006AC4B79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9CDF3-48FD-4368-BBA4-BC5FD841F3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354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90401">
              <a:srgbClr val="002C57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763C2A4-0A17-3760-D79A-725B0A6584A5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76EA1154-1AF8-6231-AA5B-DAAA77DD0F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7EFBE5A7-2424-AEE1-D467-A427DE2E40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01" name="Freeform 5">
              <a:extLst>
                <a:ext uri="{FF2B5EF4-FFF2-40B4-BE49-F238E27FC236}">
                  <a16:creationId xmlns:a16="http://schemas.microsoft.com/office/drawing/2014/main" id="{BEDC0348-508F-8632-1AE6-73D5C492FA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DA070FBB-F2FD-68A6-066B-0E6DB476A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>
                <a:extLst>
                  <a:ext uri="{FF2B5EF4-FFF2-40B4-BE49-F238E27FC236}">
                    <a16:creationId xmlns:a16="http://schemas.microsoft.com/office/drawing/2014/main" id="{82D6BEB6-E115-5055-1CFE-831FF305EC2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4" name="Freeform 8">
                <a:extLst>
                  <a:ext uri="{FF2B5EF4-FFF2-40B4-BE49-F238E27FC236}">
                    <a16:creationId xmlns:a16="http://schemas.microsoft.com/office/drawing/2014/main" id="{2AC4AC27-06C4-30C7-82A7-8D87FA0BCDF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497AD3F7-9C6E-5A20-0579-962873E425A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D3ED25F7-611A-D7D2-FF83-528BCFA13BD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44782AD2-1686-9A10-5E31-1B5229000DC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67946CC6-A556-3F61-7A7B-70AAC1127B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FB100922-0867-84BF-B11C-98A7718F9CB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0" name="Freeform 14">
                <a:extLst>
                  <a:ext uri="{FF2B5EF4-FFF2-40B4-BE49-F238E27FC236}">
                    <a16:creationId xmlns:a16="http://schemas.microsoft.com/office/drawing/2014/main" id="{41C2FA5E-D4F6-D5A9-486F-4BE0DBB4CA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1" name="Freeform 15">
                <a:extLst>
                  <a:ext uri="{FF2B5EF4-FFF2-40B4-BE49-F238E27FC236}">
                    <a16:creationId xmlns:a16="http://schemas.microsoft.com/office/drawing/2014/main" id="{5F9276A3-7490-951D-4CD1-03EA758E996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2" name="Freeform 16">
                <a:extLst>
                  <a:ext uri="{FF2B5EF4-FFF2-40B4-BE49-F238E27FC236}">
                    <a16:creationId xmlns:a16="http://schemas.microsoft.com/office/drawing/2014/main" id="{08B23D96-8F20-939A-94D2-24B0489BEB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3" name="Freeform 17">
                <a:extLst>
                  <a:ext uri="{FF2B5EF4-FFF2-40B4-BE49-F238E27FC236}">
                    <a16:creationId xmlns:a16="http://schemas.microsoft.com/office/drawing/2014/main" id="{068895FB-4A9B-3266-6F69-7D2F006EE3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4" name="Freeform 18">
                <a:extLst>
                  <a:ext uri="{FF2B5EF4-FFF2-40B4-BE49-F238E27FC236}">
                    <a16:creationId xmlns:a16="http://schemas.microsoft.com/office/drawing/2014/main" id="{AD99C3DB-E9E0-B13D-9FA9-79C5CFBB624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5" name="Freeform 19">
                <a:extLst>
                  <a:ext uri="{FF2B5EF4-FFF2-40B4-BE49-F238E27FC236}">
                    <a16:creationId xmlns:a16="http://schemas.microsoft.com/office/drawing/2014/main" id="{C3D8A11B-924F-E73F-B1C3-B9E44AA7A0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A5DA7B2C-039B-32B3-CF94-B53D780B1B0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B8C64411-428D-3B05-3843-EC065BF254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18" name="Freeform 22">
              <a:extLst>
                <a:ext uri="{FF2B5EF4-FFF2-40B4-BE49-F238E27FC236}">
                  <a16:creationId xmlns:a16="http://schemas.microsoft.com/office/drawing/2014/main" id="{060B8AE7-2D89-8614-047B-1E8AA3C744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BB3AD97B-94FD-8BB9-E612-99EF9C6A90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69 w 717"/>
                <a:gd name="T1" fmla="*/ 845 h 845"/>
                <a:gd name="T2" fmla="*/ 969 w 717"/>
                <a:gd name="T3" fmla="*/ 821 h 845"/>
                <a:gd name="T4" fmla="*/ 802 w 717"/>
                <a:gd name="T5" fmla="*/ 605 h 845"/>
                <a:gd name="T6" fmla="*/ 520 w 717"/>
                <a:gd name="T7" fmla="*/ 396 h 845"/>
                <a:gd name="T8" fmla="*/ 33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23 w 717"/>
                <a:gd name="T15" fmla="*/ 198 h 845"/>
                <a:gd name="T16" fmla="*/ 514 w 717"/>
                <a:gd name="T17" fmla="*/ 408 h 845"/>
                <a:gd name="T18" fmla="*/ 796 w 717"/>
                <a:gd name="T19" fmla="*/ 623 h 845"/>
                <a:gd name="T20" fmla="*/ 969 w 717"/>
                <a:gd name="T21" fmla="*/ 845 h 845"/>
                <a:gd name="T22" fmla="*/ 96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F814FC77-1B30-34C9-F30D-2FB022886E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1 w 407"/>
                <a:gd name="T1" fmla="*/ 414 h 414"/>
                <a:gd name="T2" fmla="*/ 521 w 407"/>
                <a:gd name="T3" fmla="*/ 396 h 414"/>
                <a:gd name="T4" fmla="*/ 33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0 w 407"/>
                <a:gd name="T13" fmla="*/ 204 h 414"/>
                <a:gd name="T14" fmla="*/ 521 w 407"/>
                <a:gd name="T15" fmla="*/ 414 h 414"/>
                <a:gd name="T16" fmla="*/ 52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Freeform 25">
              <a:extLst>
                <a:ext uri="{FF2B5EF4-FFF2-40B4-BE49-F238E27FC236}">
                  <a16:creationId xmlns:a16="http://schemas.microsoft.com/office/drawing/2014/main" id="{C051D3D8-D2F2-59D4-0790-203B03BAC3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81C1D786-4709-36D5-712C-47E1C952D5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54 w 586"/>
                <a:gd name="T1" fmla="*/ 0 h 599"/>
                <a:gd name="T2" fmla="*/ 827 w 586"/>
                <a:gd name="T3" fmla="*/ 0 h 599"/>
                <a:gd name="T4" fmla="*/ 602 w 586"/>
                <a:gd name="T5" fmla="*/ 132 h 599"/>
                <a:gd name="T6" fmla="*/ 37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1 w 586"/>
                <a:gd name="T17" fmla="*/ 282 h 599"/>
                <a:gd name="T18" fmla="*/ 614 w 586"/>
                <a:gd name="T19" fmla="*/ 138 h 599"/>
                <a:gd name="T20" fmla="*/ 854 w 586"/>
                <a:gd name="T21" fmla="*/ 0 h 599"/>
                <a:gd name="T22" fmla="*/ 85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3B37C0B3-582B-0D29-2F97-CD8AFEEA43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83 w 269"/>
                <a:gd name="T1" fmla="*/ 0 h 252"/>
                <a:gd name="T2" fmla="*/ 36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83 w 269"/>
                <a:gd name="T15" fmla="*/ 0 h 252"/>
                <a:gd name="T16" fmla="*/ 38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28E9417C-C4DD-FFF9-7DB5-F5DFEB4FB85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E24999D7-665F-5D87-7788-518A926BCB3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CCA87236-3DD1-4C22-EE38-68CCE5C0473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AF04E953-3499-9312-6F89-44859D753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DA8127BF-4DBA-E08A-8755-1AA9BD2EB05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ADD210FB-DE67-366E-3E99-20B0DEEF819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8988C64D-4B61-A882-F1E3-DDDEAB5DDA9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71699008-1D82-47BD-A3E2-984DADB31B0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7445F0E9-6101-F106-0F74-58A36F0A9ED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51BD81E9-2851-9DCF-EDF6-FDD9D11F573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A98EA217-2B82-FA21-8967-53256CBBDA1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35" name="Rectangle 39">
            <a:extLst>
              <a:ext uri="{FF2B5EF4-FFF2-40B4-BE49-F238E27FC236}">
                <a16:creationId xmlns:a16="http://schemas.microsoft.com/office/drawing/2014/main" id="{9D75ECA6-8A66-8594-5423-8EC30F98A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D4A90F95-FF13-6991-FB4E-62B2775AA2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37" name="Rectangle 41">
            <a:extLst>
              <a:ext uri="{FF2B5EF4-FFF2-40B4-BE49-F238E27FC236}">
                <a16:creationId xmlns:a16="http://schemas.microsoft.com/office/drawing/2014/main" id="{15452F12-8779-6953-5655-1AD43844C3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173BF7E0-DC1E-AB37-0AE3-9831066E59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34930EFD-2129-4B1E-8A15-79F4CC57B26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139" name="Rectangle 43">
            <a:extLst>
              <a:ext uri="{FF2B5EF4-FFF2-40B4-BE49-F238E27FC236}">
                <a16:creationId xmlns:a16="http://schemas.microsoft.com/office/drawing/2014/main" id="{753FFFFB-09EF-2736-3C70-8BC9DF26B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12" r:id="rId1"/>
    <p:sldLayoutId id="2147485102" r:id="rId2"/>
    <p:sldLayoutId id="2147485103" r:id="rId3"/>
    <p:sldLayoutId id="2147485104" r:id="rId4"/>
    <p:sldLayoutId id="2147485105" r:id="rId5"/>
    <p:sldLayoutId id="2147485106" r:id="rId6"/>
    <p:sldLayoutId id="2147485107" r:id="rId7"/>
    <p:sldLayoutId id="2147485108" r:id="rId8"/>
    <p:sldLayoutId id="2147485109" r:id="rId9"/>
    <p:sldLayoutId id="2147485110" r:id="rId10"/>
    <p:sldLayoutId id="214748511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C701500-ACBC-FBCD-57E5-B93858428A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400" dirty="0"/>
              <a:t>事件（消息）驱动的程序设计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482A78A-EF43-8AA2-4D9A-50CA16188E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64E720-C735-96BC-4C7C-1618CCAEE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主要内容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F26393B-B798-8739-84EB-F80FD7E87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Windows</a:t>
            </a:r>
            <a:r>
              <a:rPr lang="zh-CN" altLang="en-US" dirty="0"/>
              <a:t>与事件驱动的程序设计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基于</a:t>
            </a:r>
            <a:r>
              <a:rPr lang="en-US" altLang="zh-CN" dirty="0"/>
              <a:t>Windows API</a:t>
            </a:r>
            <a:r>
              <a:rPr lang="zh-CN" altLang="en-US" dirty="0"/>
              <a:t>的过程式的事件驱动程序设计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面向对象的事件驱动程序设计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基于应用框架的事件驱动程序设计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81A32-505C-5131-41F0-9F041069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Windows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32E70-D85F-925E-5B2F-77E3B37AD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362950" cy="499745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GB" altLang="zh-CN" dirty="0"/>
              <a:t>Windows</a:t>
            </a:r>
            <a:r>
              <a:rPr lang="zh-CN" altLang="en-GB" dirty="0"/>
              <a:t>是一种基于</a:t>
            </a:r>
            <a:r>
              <a:rPr lang="zh-CN" altLang="en-GB" dirty="0">
                <a:solidFill>
                  <a:srgbClr val="FFC000"/>
                </a:solidFill>
              </a:rPr>
              <a:t>图形界面</a:t>
            </a:r>
            <a:r>
              <a:rPr lang="zh-CN" altLang="en-GB" dirty="0"/>
              <a:t>的</a:t>
            </a:r>
            <a:r>
              <a:rPr lang="zh-CN" altLang="en-GB" dirty="0">
                <a:solidFill>
                  <a:srgbClr val="FFC000"/>
                </a:solidFill>
              </a:rPr>
              <a:t>多任务</a:t>
            </a:r>
            <a:r>
              <a:rPr lang="zh-CN" altLang="en-GB" dirty="0"/>
              <a:t>操作系统。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zh-CN" dirty="0"/>
              <a:t>系统中可以同时运行多个程序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zh-CN" dirty="0"/>
              <a:t>每个程序通过各自的“</a:t>
            </a:r>
            <a:r>
              <a:rPr lang="zh-CN" altLang="zh-CN" dirty="0">
                <a:solidFill>
                  <a:srgbClr val="FFC000"/>
                </a:solidFill>
              </a:rPr>
              <a:t>窗口</a:t>
            </a:r>
            <a:r>
              <a:rPr lang="zh-CN" altLang="zh-CN" dirty="0"/>
              <a:t>”与用户进行交互</a:t>
            </a:r>
            <a:r>
              <a:rPr lang="zh-CN" altLang="en-US" dirty="0"/>
              <a:t>；用户通过鼠标以及键盘操作来与程序进行交互。</a:t>
            </a:r>
            <a:endParaRPr lang="en-GB" altLang="zh-CN" dirty="0"/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Windows</a:t>
            </a:r>
            <a:r>
              <a:rPr lang="zh-CN" altLang="en-US" dirty="0"/>
              <a:t>的功能以两种方式提供：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工具</a:t>
            </a:r>
            <a:r>
              <a:rPr lang="zh-CN" altLang="en-US" dirty="0"/>
              <a:t>：资源管理器、记事本、画图、</a:t>
            </a:r>
            <a:r>
              <a:rPr lang="en-US" altLang="zh-CN" dirty="0"/>
              <a:t>......</a:t>
            </a:r>
            <a:r>
              <a:rPr lang="zh-CN" altLang="en-US" dirty="0"/>
              <a:t>，供用户（人）使用。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函数库</a:t>
            </a:r>
            <a:r>
              <a:rPr lang="zh-CN" altLang="en-US" dirty="0"/>
              <a:t>：以</a:t>
            </a:r>
            <a:r>
              <a:rPr lang="en-US" altLang="zh-CN" dirty="0"/>
              <a:t>C</a:t>
            </a:r>
            <a:r>
              <a:rPr lang="zh-CN" altLang="en-US" dirty="0"/>
              <a:t>语言函数形式出现（在</a:t>
            </a:r>
            <a:r>
              <a:rPr lang="en-US" altLang="zh-CN" dirty="0" err="1"/>
              <a:t>windows.h</a:t>
            </a:r>
            <a:r>
              <a:rPr lang="zh-CN" altLang="en-US" dirty="0"/>
              <a:t>等头文件中申明），作为应用程序接口（</a:t>
            </a:r>
            <a:r>
              <a:rPr lang="en-US" altLang="zh-CN" dirty="0">
                <a:solidFill>
                  <a:srgbClr val="FFC000"/>
                </a:solidFill>
              </a:rPr>
              <a:t>API</a:t>
            </a:r>
            <a:r>
              <a:rPr lang="zh-CN" altLang="en-US" dirty="0"/>
              <a:t>），供</a:t>
            </a:r>
            <a:r>
              <a:rPr lang="en-US" altLang="zh-CN" dirty="0">
                <a:solidFill>
                  <a:srgbClr val="FFC000"/>
                </a:solidFill>
              </a:rPr>
              <a:t>Windows</a:t>
            </a:r>
            <a:r>
              <a:rPr lang="zh-CN" altLang="en-US" dirty="0">
                <a:solidFill>
                  <a:srgbClr val="FFC000"/>
                </a:solidFill>
              </a:rPr>
              <a:t>应用程序</a:t>
            </a:r>
            <a:r>
              <a:rPr lang="zh-CN" altLang="en-US" dirty="0"/>
              <a:t>（运行在</a:t>
            </a:r>
            <a:r>
              <a:rPr lang="en-US" altLang="zh-CN" dirty="0"/>
              <a:t>Windows</a:t>
            </a:r>
            <a:r>
              <a:rPr lang="zh-CN" altLang="en-US" dirty="0"/>
              <a:t>系统上的应用程序）使用。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249D09-CC02-A7EE-303B-1C0A785A1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事件</a:t>
            </a:r>
            <a:r>
              <a:rPr lang="zh-CN" altLang="en-GB" dirty="0"/>
              <a:t>驱动的程序</a:t>
            </a:r>
            <a:r>
              <a:rPr lang="zh-CN" altLang="en-US" dirty="0"/>
              <a:t>结构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8E9F4CA-B64C-323E-5EAC-07F62DFBD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713788" cy="5516562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GB" altLang="zh-CN" sz="2800" dirty="0"/>
              <a:t>Windows</a:t>
            </a:r>
            <a:r>
              <a:rPr lang="zh-CN" altLang="en-GB" sz="2800" dirty="0"/>
              <a:t>应用程序</a:t>
            </a:r>
            <a:r>
              <a:rPr lang="zh-CN" altLang="en-US" sz="2800" dirty="0"/>
              <a:t>采用的是一种基于</a:t>
            </a:r>
            <a:r>
              <a:rPr lang="zh-CN" altLang="en-GB" sz="2800" dirty="0">
                <a:solidFill>
                  <a:schemeClr val="folHlink"/>
                </a:solidFill>
              </a:rPr>
              <a:t>事件</a:t>
            </a:r>
            <a:r>
              <a:rPr lang="zh-CN" altLang="en-GB" sz="2800" dirty="0"/>
              <a:t>（</a:t>
            </a:r>
            <a:r>
              <a:rPr lang="zh-CN" altLang="en-GB" sz="2800" dirty="0">
                <a:solidFill>
                  <a:schemeClr val="folHlink"/>
                </a:solidFill>
              </a:rPr>
              <a:t>消息</a:t>
            </a:r>
            <a:r>
              <a:rPr lang="zh-CN" altLang="en-GB" sz="2800" dirty="0"/>
              <a:t>）</a:t>
            </a:r>
            <a:r>
              <a:rPr lang="zh-CN" altLang="en-GB" sz="2800" dirty="0">
                <a:solidFill>
                  <a:schemeClr val="folHlink"/>
                </a:solidFill>
              </a:rPr>
              <a:t>驱动</a:t>
            </a:r>
            <a:r>
              <a:rPr lang="zh-CN" altLang="en-GB" sz="2800" dirty="0"/>
              <a:t>的</a:t>
            </a:r>
            <a:r>
              <a:rPr lang="zh-CN" altLang="en-US" sz="2800" dirty="0">
                <a:solidFill>
                  <a:srgbClr val="FFC000"/>
                </a:solidFill>
              </a:rPr>
              <a:t>交互式流程控制</a:t>
            </a:r>
            <a:r>
              <a:rPr lang="zh-CN" altLang="en-US" sz="2800" dirty="0"/>
              <a:t>结构：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GB" sz="2400" dirty="0"/>
              <a:t>程序的任何一个动作都是</a:t>
            </a:r>
            <a:r>
              <a:rPr lang="zh-CN" altLang="en-US" sz="2400" dirty="0"/>
              <a:t>由某个事件激发的。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zh-CN" altLang="en-US" sz="2400" dirty="0"/>
              <a:t>事件可以是用户的键盘、鼠标、菜单等操作。</a:t>
            </a:r>
            <a:endParaRPr lang="en-US" altLang="zh-CN" sz="2400" dirty="0"/>
          </a:p>
          <a:p>
            <a:pPr eaLnBrk="1" hangingPunct="1">
              <a:defRPr/>
            </a:pPr>
            <a:r>
              <a:rPr lang="zh-CN" altLang="en-US" sz="2800" dirty="0"/>
              <a:t>每个事件都会向应用程序发送一些</a:t>
            </a:r>
            <a:r>
              <a:rPr lang="zh-CN" altLang="en-GB" sz="2800" dirty="0">
                <a:solidFill>
                  <a:srgbClr val="FFC000"/>
                </a:solidFill>
              </a:rPr>
              <a:t>消息</a:t>
            </a:r>
            <a:r>
              <a:rPr lang="zh-CN" altLang="en-US" sz="2800" dirty="0"/>
              <a:t>。例如</a:t>
            </a:r>
            <a:r>
              <a:rPr lang="zh-CN" altLang="en-GB" sz="2800" dirty="0"/>
              <a:t>：</a:t>
            </a:r>
          </a:p>
          <a:p>
            <a:pPr lvl="1" eaLnBrk="1" hangingPunct="1">
              <a:defRPr/>
            </a:pPr>
            <a:r>
              <a:rPr lang="en-GB" altLang="zh-CN" sz="2400" dirty="0"/>
              <a:t>WM_KEYDOWN/WM_KEYUP</a:t>
            </a:r>
            <a:r>
              <a:rPr lang="zh-CN" altLang="en-GB" sz="2400" dirty="0"/>
              <a:t>（键盘按键）</a:t>
            </a:r>
          </a:p>
          <a:p>
            <a:pPr lvl="1" eaLnBrk="1" hangingPunct="1">
              <a:defRPr/>
            </a:pPr>
            <a:r>
              <a:rPr lang="en-GB" altLang="zh-CN" sz="2400" dirty="0"/>
              <a:t>WM_CHAR</a:t>
            </a:r>
            <a:r>
              <a:rPr lang="zh-CN" altLang="en-GB" sz="2400" dirty="0"/>
              <a:t>（字符）</a:t>
            </a:r>
          </a:p>
          <a:p>
            <a:pPr lvl="1" eaLnBrk="1" hangingPunct="1">
              <a:defRPr/>
            </a:pPr>
            <a:r>
              <a:rPr lang="en-GB" altLang="zh-CN" sz="2400" dirty="0"/>
              <a:t>WM_LBUTTONDOWN/WM_LBUTTONUP</a:t>
            </a:r>
            <a:r>
              <a:rPr lang="en-US" altLang="zh-CN" sz="2400" dirty="0"/>
              <a:t>/</a:t>
            </a:r>
            <a:r>
              <a:rPr lang="en-GB" altLang="en-GB" sz="2400" dirty="0"/>
              <a:t>WM_LBUTTONDBLCLK/WM_MOUSEMOVE </a:t>
            </a:r>
            <a:r>
              <a:rPr lang="zh-CN" altLang="en-GB" sz="2400" dirty="0"/>
              <a:t>（鼠标</a:t>
            </a:r>
            <a:r>
              <a:rPr lang="zh-CN" altLang="en-US" sz="2400" dirty="0"/>
              <a:t>按</a:t>
            </a:r>
            <a:r>
              <a:rPr lang="zh-CN" altLang="en-GB" sz="2400" dirty="0"/>
              <a:t>键）</a:t>
            </a:r>
          </a:p>
          <a:p>
            <a:pPr lvl="1" eaLnBrk="1" hangingPunct="1">
              <a:defRPr/>
            </a:pPr>
            <a:r>
              <a:rPr lang="en-GB" altLang="zh-CN" sz="2400" dirty="0"/>
              <a:t>WM_COMMAND</a:t>
            </a:r>
            <a:r>
              <a:rPr lang="zh-CN" altLang="en-GB" sz="2400" dirty="0"/>
              <a:t>（菜单</a:t>
            </a:r>
            <a:r>
              <a:rPr lang="zh-CN" altLang="en-US" sz="2400" dirty="0"/>
              <a:t>选取</a:t>
            </a:r>
            <a:r>
              <a:rPr lang="zh-CN" altLang="en-GB" sz="2400" dirty="0"/>
              <a:t>）</a:t>
            </a:r>
          </a:p>
          <a:p>
            <a:pPr lvl="1" eaLnBrk="1" hangingPunct="1">
              <a:defRPr/>
            </a:pPr>
            <a:r>
              <a:rPr lang="en-US" altLang="zh-CN" sz="2400" dirty="0"/>
              <a:t>WM_PAINT</a:t>
            </a:r>
            <a:r>
              <a:rPr lang="zh-CN" altLang="en-US" sz="2400" dirty="0"/>
              <a:t>（窗口内容刷新）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en-US" altLang="zh-CN" sz="2400" dirty="0"/>
              <a:t>WM_TIMER</a:t>
            </a:r>
            <a:r>
              <a:rPr lang="zh-CN" altLang="en-US" sz="2400" dirty="0"/>
              <a:t>（定时器消息）</a:t>
            </a:r>
          </a:p>
          <a:p>
            <a:pPr lvl="1" eaLnBrk="1" hangingPunct="1">
              <a:defRPr/>
            </a:pPr>
            <a:r>
              <a:rPr lang="en-GB" altLang="zh-CN" sz="2400" dirty="0"/>
              <a:t>......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AA8E2-2435-836B-9104-F818296910CA}"/>
              </a:ext>
            </a:extLst>
          </p:cNvPr>
          <p:cNvSpPr txBox="1">
            <a:spLocks/>
          </p:cNvSpPr>
          <p:nvPr/>
        </p:nvSpPr>
        <p:spPr bwMode="auto">
          <a:xfrm>
            <a:off x="468313" y="476250"/>
            <a:ext cx="8135937" cy="626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kern="0" dirty="0"/>
              <a:t>每个应用程序都有一个</a:t>
            </a:r>
            <a:r>
              <a:rPr lang="zh-CN" altLang="en-US" kern="0" dirty="0">
                <a:solidFill>
                  <a:srgbClr val="FFC000"/>
                </a:solidFill>
              </a:rPr>
              <a:t>消息队列</a:t>
            </a:r>
            <a:r>
              <a:rPr lang="zh-CN" altLang="en-US" kern="0" dirty="0"/>
              <a:t>。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kern="0" dirty="0"/>
              <a:t>系统会把属于各个应用程序的消息放入各自的消息队列。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kern="0" dirty="0"/>
              <a:t>应用程序不断地从自己的消息队列中获取消息并处理获得的消息。</a:t>
            </a:r>
            <a:endParaRPr lang="en-US" altLang="zh-CN" kern="0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dirty="0"/>
              <a:t>“</a:t>
            </a:r>
            <a:r>
              <a:rPr lang="zh-CN" altLang="en-US" dirty="0">
                <a:solidFill>
                  <a:srgbClr val="FFC000"/>
                </a:solidFill>
              </a:rPr>
              <a:t>取消息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zh-CN" altLang="en-US" dirty="0">
                <a:solidFill>
                  <a:srgbClr val="FFC000"/>
                </a:solidFill>
              </a:rPr>
              <a:t>处理消息</a:t>
            </a:r>
            <a:r>
              <a:rPr lang="zh-CN" altLang="en-US" dirty="0"/>
              <a:t>”的过程称为</a:t>
            </a:r>
            <a:r>
              <a:rPr lang="zh-CN" altLang="en-US" dirty="0">
                <a:solidFill>
                  <a:srgbClr val="FFC000"/>
                </a:solidFill>
              </a:rPr>
              <a:t>消息循环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dirty="0"/>
              <a:t>当取到某个特定消息（如：</a:t>
            </a:r>
            <a:r>
              <a:rPr lang="en-US" altLang="zh-CN" dirty="0"/>
              <a:t>WM_QUIT</a:t>
            </a:r>
            <a:r>
              <a:rPr lang="zh-CN" altLang="en-US" dirty="0"/>
              <a:t>）后，消息循环结束。</a:t>
            </a:r>
            <a:endParaRPr lang="en-US" altLang="zh-CN" kern="0" dirty="0"/>
          </a:p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GB" dirty="0"/>
              <a:t>每个窗口都有一个</a:t>
            </a:r>
            <a:r>
              <a:rPr lang="zh-CN" altLang="en-GB" dirty="0">
                <a:solidFill>
                  <a:schemeClr val="folHlink"/>
                </a:solidFill>
              </a:rPr>
              <a:t>消息</a:t>
            </a:r>
            <a:r>
              <a:rPr lang="zh-CN" altLang="en-GB" dirty="0">
                <a:solidFill>
                  <a:srgbClr val="FFC000"/>
                </a:solidFill>
              </a:rPr>
              <a:t>处理函数</a:t>
            </a:r>
            <a:r>
              <a:rPr lang="zh-CN" altLang="en-GB" dirty="0"/>
              <a:t>。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GB" dirty="0"/>
              <a:t>大部分的消息都关联到某个窗口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dirty="0"/>
              <a:t>应用程序取到消息后将会去调用相应窗口的消息处理函数。</a:t>
            </a:r>
            <a:endParaRPr lang="zh-CN" altLang="en-GB" dirty="0"/>
          </a:p>
          <a:p>
            <a:pPr marL="0" indent="0" algn="just">
              <a:buFont typeface="Wingdings" pitchFamily="2" charset="2"/>
              <a:buNone/>
              <a:defRPr/>
            </a:pPr>
            <a:endParaRPr lang="zh-CN" altLang="en-US" kern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>
            <a:extLst>
              <a:ext uri="{FF2B5EF4-FFF2-40B4-BE49-F238E27FC236}">
                <a16:creationId xmlns:a16="http://schemas.microsoft.com/office/drawing/2014/main" id="{BEE75A0F-0E51-196D-E9F9-37446038E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151063"/>
            <a:ext cx="3671888" cy="3163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主程序：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//</a:t>
            </a:r>
            <a:r>
              <a:rPr lang="zh-CN" altLang="en-US" sz="2000" dirty="0"/>
              <a:t>初始化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......</a:t>
            </a:r>
            <a:endParaRPr lang="zh-CN" altLang="en-GB" sz="2000" dirty="0"/>
          </a:p>
          <a:p>
            <a:pPr marL="6254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//</a:t>
            </a:r>
            <a:r>
              <a:rPr lang="zh-CN" altLang="en-GB" sz="2000" dirty="0"/>
              <a:t>进入</a:t>
            </a:r>
            <a:r>
              <a:rPr lang="zh-CN" altLang="en-GB" sz="2000" dirty="0">
                <a:solidFill>
                  <a:srgbClr val="FFC000"/>
                </a:solidFill>
              </a:rPr>
              <a:t>消息循环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000" dirty="0"/>
              <a:t>while (</a:t>
            </a:r>
            <a:r>
              <a:rPr lang="zh-CN" altLang="en-US" sz="2000" dirty="0">
                <a:solidFill>
                  <a:srgbClr val="FFC000"/>
                </a:solidFill>
              </a:rPr>
              <a:t>取消息</a:t>
            </a:r>
            <a:r>
              <a:rPr lang="en-US" altLang="zh-CN" sz="2000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{  ......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</a:t>
            </a:r>
            <a:r>
              <a:rPr lang="zh-CN" altLang="en-US" sz="2000" dirty="0">
                <a:solidFill>
                  <a:srgbClr val="FFC000"/>
                </a:solidFill>
              </a:rPr>
              <a:t>处理消息</a:t>
            </a:r>
            <a:r>
              <a:rPr lang="en-US" altLang="zh-CN" sz="20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}</a:t>
            </a:r>
          </a:p>
        </p:txBody>
      </p:sp>
      <p:sp>
        <p:nvSpPr>
          <p:cNvPr id="8195" name="Line 6">
            <a:extLst>
              <a:ext uri="{FF2B5EF4-FFF2-40B4-BE49-F238E27FC236}">
                <a16:creationId xmlns:a16="http://schemas.microsoft.com/office/drawing/2014/main" id="{55A1C89E-781A-FBB1-EF69-F71938929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6478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7">
            <a:extLst>
              <a:ext uri="{FF2B5EF4-FFF2-40B4-BE49-F238E27FC236}">
                <a16:creationId xmlns:a16="http://schemas.microsoft.com/office/drawing/2014/main" id="{B84DA290-D8E8-26A2-1FB9-0BA9ABA38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0796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8">
            <a:extLst>
              <a:ext uri="{FF2B5EF4-FFF2-40B4-BE49-F238E27FC236}">
                <a16:creationId xmlns:a16="http://schemas.microsoft.com/office/drawing/2014/main" id="{FF624433-F4F4-FBD6-022B-7117D2F7A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16478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9">
            <a:extLst>
              <a:ext uri="{FF2B5EF4-FFF2-40B4-BE49-F238E27FC236}">
                <a16:creationId xmlns:a16="http://schemas.microsoft.com/office/drawing/2014/main" id="{A8BF9D2E-B0C4-840E-E932-F065F5CF1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16478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10">
            <a:extLst>
              <a:ext uri="{FF2B5EF4-FFF2-40B4-BE49-F238E27FC236}">
                <a16:creationId xmlns:a16="http://schemas.microsoft.com/office/drawing/2014/main" id="{529DC31D-8851-96C1-3839-EEB9B95F1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16478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11">
            <a:extLst>
              <a:ext uri="{FF2B5EF4-FFF2-40B4-BE49-F238E27FC236}">
                <a16:creationId xmlns:a16="http://schemas.microsoft.com/office/drawing/2014/main" id="{2F244C6B-3770-E3FC-E55C-81555E23C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16478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12">
            <a:extLst>
              <a:ext uri="{FF2B5EF4-FFF2-40B4-BE49-F238E27FC236}">
                <a16:creationId xmlns:a16="http://schemas.microsoft.com/office/drawing/2014/main" id="{7BDACEED-82EA-504B-C922-943632BE83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588" y="186372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1FED1129-C154-7D8D-F279-BDFABF24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981075"/>
            <a:ext cx="1724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消息队列：</a:t>
            </a:r>
          </a:p>
        </p:txBody>
      </p:sp>
      <p:sp>
        <p:nvSpPr>
          <p:cNvPr id="8203" name="Line 15">
            <a:extLst>
              <a:ext uri="{FF2B5EF4-FFF2-40B4-BE49-F238E27FC236}">
                <a16:creationId xmlns:a16="http://schemas.microsoft.com/office/drawing/2014/main" id="{14D8132C-41FC-21A4-28CA-0EAE8D1B17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1863725"/>
            <a:ext cx="2663825" cy="1871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Line 16">
            <a:extLst>
              <a:ext uri="{FF2B5EF4-FFF2-40B4-BE49-F238E27FC236}">
                <a16:creationId xmlns:a16="http://schemas.microsoft.com/office/drawing/2014/main" id="{884A37C7-CEE8-CEF6-12C1-DEB1D49AF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16478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F2911F70-BC74-88B3-3800-DC57F2D8D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614738"/>
            <a:ext cx="4545013" cy="20002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消息处理函数：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......</a:t>
            </a:r>
          </a:p>
          <a:p>
            <a:pPr eaLnBrk="1" hangingPunct="1">
              <a:defRPr/>
            </a:pP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lvl="1" eaLnBrk="1" hangingPunct="1">
              <a:defRPr/>
            </a:pP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：每个消息的处理时间不宜太长，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1" eaLnBrk="1" hangingPunct="1"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否则会造成程序“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假死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”现象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1" eaLnBrk="1" hangingPunct="1"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（程序不响应其它消息）。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06" name="Line 18">
            <a:extLst>
              <a:ext uri="{FF2B5EF4-FFF2-40B4-BE49-F238E27FC236}">
                <a16:creationId xmlns:a16="http://schemas.microsoft.com/office/drawing/2014/main" id="{D68D25ED-6B76-DFAA-89D1-6C040FB552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3789363"/>
            <a:ext cx="2520950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98FD7719-3DFE-27F1-FEBC-0F85DBA1D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1647825"/>
            <a:ext cx="696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消息</a:t>
            </a:r>
            <a:endParaRPr lang="en-US" altLang="zh-CN" sz="200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83DDB94-DEBD-8CE3-61D2-AFBF8E3D4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Windows</a:t>
            </a:r>
            <a:r>
              <a:rPr lang="zh-CN" altLang="en-US" dirty="0"/>
              <a:t>应用程序的类型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C6DC811-2F4B-886D-3832-4FFA4E84A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141912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zh-CN" altLang="en-US" sz="2800" dirty="0"/>
              <a:t>单文档</a:t>
            </a:r>
            <a:r>
              <a:rPr lang="zh-CN" altLang="en-GB" sz="2800" dirty="0"/>
              <a:t>应用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GB" sz="2400" dirty="0"/>
              <a:t>只能对</a:t>
            </a:r>
            <a:r>
              <a:rPr lang="zh-CN" altLang="en-GB" sz="2400" dirty="0">
                <a:solidFill>
                  <a:srgbClr val="FFC000"/>
                </a:solidFill>
              </a:rPr>
              <a:t>一个文档</a:t>
            </a:r>
            <a:r>
              <a:rPr lang="zh-CN" altLang="en-GB" sz="2400" dirty="0"/>
              <a:t>的数据进行操作。</a:t>
            </a:r>
          </a:p>
          <a:p>
            <a:pPr lvl="1" eaLnBrk="1" hangingPunct="1">
              <a:defRPr/>
            </a:pPr>
            <a:r>
              <a:rPr lang="zh-CN" altLang="en-GB" sz="2400" dirty="0"/>
              <a:t>必须首先</a:t>
            </a:r>
            <a:r>
              <a:rPr lang="zh-CN" altLang="en-US" sz="2400" dirty="0"/>
              <a:t>等</a:t>
            </a:r>
            <a:r>
              <a:rPr lang="zh-CN" altLang="en-GB" sz="2400" dirty="0"/>
              <a:t>当前文档的所有操作结束之后，才能进行下一个文档的操作。 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800" dirty="0"/>
              <a:t>多文档</a:t>
            </a:r>
            <a:r>
              <a:rPr lang="zh-CN" altLang="en-GB" sz="2800" dirty="0"/>
              <a:t>应用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GB" sz="2400" dirty="0"/>
              <a:t>同时可以对</a:t>
            </a:r>
            <a:r>
              <a:rPr lang="zh-CN" altLang="en-GB" sz="2400" dirty="0">
                <a:solidFill>
                  <a:srgbClr val="FFC000"/>
                </a:solidFill>
              </a:rPr>
              <a:t>多个文档</a:t>
            </a:r>
            <a:r>
              <a:rPr lang="zh-CN" altLang="en-GB" sz="2400" dirty="0"/>
              <a:t>的数据进行操作。</a:t>
            </a:r>
          </a:p>
          <a:p>
            <a:pPr lvl="1" eaLnBrk="1" hangingPunct="1">
              <a:defRPr/>
            </a:pPr>
            <a:r>
              <a:rPr lang="zh-CN" altLang="en-GB" sz="2400" dirty="0"/>
              <a:t>不必等到一个文档的所有操作结束，就可以对其它文档进行操作，对不同文档的操作是在不同的</a:t>
            </a:r>
            <a:r>
              <a:rPr lang="zh-CN" altLang="en-GB" sz="2400" dirty="0">
                <a:solidFill>
                  <a:srgbClr val="FFC000"/>
                </a:solidFill>
              </a:rPr>
              <a:t>子窗口</a:t>
            </a:r>
            <a:r>
              <a:rPr lang="zh-CN" altLang="en-GB" sz="2400" dirty="0"/>
              <a:t>中进行的。 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800" dirty="0"/>
              <a:t>对话框</a:t>
            </a:r>
            <a:r>
              <a:rPr lang="zh-CN" altLang="en-GB" sz="2800" dirty="0"/>
              <a:t>应用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GB" sz="2400" dirty="0"/>
              <a:t>以对话框的形式操作</a:t>
            </a:r>
            <a:r>
              <a:rPr lang="zh-CN" altLang="en-GB" sz="2400" dirty="0">
                <a:solidFill>
                  <a:srgbClr val="FFC000"/>
                </a:solidFill>
              </a:rPr>
              <a:t>一个文档</a:t>
            </a:r>
            <a:r>
              <a:rPr lang="zh-CN" altLang="en-GB" sz="2400" dirty="0"/>
              <a:t>数据。</a:t>
            </a:r>
          </a:p>
          <a:p>
            <a:pPr lvl="1" eaLnBrk="1" hangingPunct="1">
              <a:defRPr/>
            </a:pPr>
            <a:r>
              <a:rPr lang="zh-CN" altLang="en-GB" sz="2400" dirty="0"/>
              <a:t>对文档数据的操作以各种</a:t>
            </a:r>
            <a:r>
              <a:rPr lang="zh-CN" altLang="en-GB" sz="2400" dirty="0">
                <a:latin typeface="Arial"/>
              </a:rPr>
              <a:t>“</a:t>
            </a:r>
            <a:r>
              <a:rPr lang="zh-CN" altLang="en-GB" sz="2400" dirty="0">
                <a:solidFill>
                  <a:srgbClr val="FFC000"/>
                </a:solidFill>
              </a:rPr>
              <a:t>控</a:t>
            </a:r>
            <a:r>
              <a:rPr lang="zh-CN" altLang="en-US" sz="2400" dirty="0">
                <a:solidFill>
                  <a:srgbClr val="FFC000"/>
                </a:solidFill>
              </a:rPr>
              <a:t>件</a:t>
            </a:r>
            <a:r>
              <a:rPr lang="zh-CN" altLang="en-GB" sz="2400" dirty="0">
                <a:latin typeface="Arial"/>
              </a:rPr>
              <a:t>”</a:t>
            </a:r>
            <a:r>
              <a:rPr lang="zh-CN" altLang="en-GB" sz="2400" dirty="0"/>
              <a:t>来实现。</a:t>
            </a:r>
          </a:p>
          <a:p>
            <a:pPr lvl="1" eaLnBrk="1" hangingPunct="1">
              <a:defRPr/>
            </a:pPr>
            <a:r>
              <a:rPr lang="zh-CN" altLang="en-GB" sz="2400" dirty="0"/>
              <a:t>程序以按</a:t>
            </a:r>
            <a:r>
              <a:rPr lang="en-GB" altLang="zh-CN" sz="2400" dirty="0">
                <a:solidFill>
                  <a:srgbClr val="FFC000"/>
                </a:solidFill>
              </a:rPr>
              <a:t>&lt;</a:t>
            </a:r>
            <a:r>
              <a:rPr lang="zh-CN" altLang="en-GB" sz="2400" dirty="0">
                <a:solidFill>
                  <a:srgbClr val="FFC000"/>
                </a:solidFill>
              </a:rPr>
              <a:t>确定</a:t>
            </a:r>
            <a:r>
              <a:rPr lang="en-GB" altLang="zh-CN" sz="2400" dirty="0">
                <a:solidFill>
                  <a:srgbClr val="FFC000"/>
                </a:solidFill>
              </a:rPr>
              <a:t>&gt;</a:t>
            </a:r>
            <a:r>
              <a:rPr lang="zh-CN" altLang="en-GB" sz="2400" dirty="0"/>
              <a:t>或</a:t>
            </a:r>
            <a:r>
              <a:rPr lang="en-GB" altLang="zh-CN" sz="2400" dirty="0">
                <a:solidFill>
                  <a:srgbClr val="FFC000"/>
                </a:solidFill>
              </a:rPr>
              <a:t>&lt;</a:t>
            </a:r>
            <a:r>
              <a:rPr lang="zh-CN" altLang="en-GB" sz="2400" dirty="0">
                <a:solidFill>
                  <a:srgbClr val="FFC000"/>
                </a:solidFill>
              </a:rPr>
              <a:t>取消</a:t>
            </a:r>
            <a:r>
              <a:rPr lang="en-GB" altLang="zh-CN" sz="2400" dirty="0">
                <a:solidFill>
                  <a:srgbClr val="FFC000"/>
                </a:solidFill>
              </a:rPr>
              <a:t>&gt;</a:t>
            </a:r>
            <a:r>
              <a:rPr lang="zh-CN" altLang="en-US" sz="2400" dirty="0"/>
              <a:t>等</a:t>
            </a:r>
            <a:r>
              <a:rPr lang="zh-CN" altLang="en-GB" sz="2400" dirty="0"/>
              <a:t>按钮来结束。 </a:t>
            </a:r>
            <a:endParaRPr lang="zh-CN" altLang="en-US" sz="2400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1C51B-6666-262B-1A95-74F3490AF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8" y="1484313"/>
            <a:ext cx="8580437" cy="51133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/>
              <a:t>每个</a:t>
            </a:r>
            <a:r>
              <a:rPr lang="en-US" altLang="zh-CN" dirty="0"/>
              <a:t>Windows</a:t>
            </a:r>
            <a:r>
              <a:rPr lang="zh-CN" altLang="en-GB" dirty="0"/>
              <a:t>应用程序都必须提供一个主函数</a:t>
            </a:r>
            <a:r>
              <a:rPr lang="en-GB" altLang="zh-CN" dirty="0" err="1">
                <a:solidFill>
                  <a:schemeClr val="folHlink"/>
                </a:solidFill>
              </a:rPr>
              <a:t>WinMain</a:t>
            </a:r>
            <a:r>
              <a:rPr lang="zh-CN" altLang="en-GB" dirty="0"/>
              <a:t>，</a:t>
            </a:r>
            <a:r>
              <a:rPr lang="zh-CN" altLang="en-US" dirty="0"/>
              <a:t>其</a:t>
            </a:r>
            <a:r>
              <a:rPr lang="zh-CN" altLang="en-GB" dirty="0"/>
              <a:t>主要功能是：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/>
              <a:t>注册</a:t>
            </a:r>
            <a:r>
              <a:rPr lang="zh-CN" altLang="en-GB" dirty="0">
                <a:solidFill>
                  <a:srgbClr val="FFC000"/>
                </a:solidFill>
              </a:rPr>
              <a:t>窗口类</a:t>
            </a:r>
            <a:r>
              <a:rPr lang="zh-CN" altLang="en-US" dirty="0"/>
              <a:t>（定义程序中要创建的窗口类型）：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窗口的基本风格、</a:t>
            </a:r>
            <a:r>
              <a:rPr lang="zh-CN" altLang="en-US" dirty="0">
                <a:solidFill>
                  <a:srgbClr val="FFC000"/>
                </a:solidFill>
              </a:rPr>
              <a:t>消息处理函数</a:t>
            </a:r>
            <a:r>
              <a:rPr lang="zh-CN" altLang="en-US" dirty="0"/>
              <a:t>、图标、光标、背景颜色以及菜单等。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每类窗口（不是每个窗口）都需要注册。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/>
              <a:t>创建应用程序的</a:t>
            </a:r>
            <a:r>
              <a:rPr lang="zh-CN" altLang="en-GB" dirty="0">
                <a:solidFill>
                  <a:srgbClr val="FFC000"/>
                </a:solidFill>
              </a:rPr>
              <a:t>主窗口</a:t>
            </a:r>
            <a:r>
              <a:rPr lang="zh-CN" altLang="en-US" dirty="0"/>
              <a:t>（其它窗口等到需要时再创建）。</a:t>
            </a:r>
            <a:endParaRPr lang="zh-CN" altLang="en-GB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/>
              <a:t>进入</a:t>
            </a:r>
            <a:r>
              <a:rPr lang="zh-CN" altLang="en-GB" dirty="0">
                <a:solidFill>
                  <a:srgbClr val="FFC000"/>
                </a:solidFill>
              </a:rPr>
              <a:t>消息循环</a:t>
            </a:r>
            <a:r>
              <a:rPr lang="zh-CN" altLang="en-US" dirty="0"/>
              <a:t>，直到接收到</a:t>
            </a:r>
            <a:r>
              <a:rPr lang="en-US" altLang="zh-CN" dirty="0"/>
              <a:t>WM_QUIT</a:t>
            </a:r>
            <a:r>
              <a:rPr lang="zh-CN" altLang="en-US" dirty="0"/>
              <a:t>消息时，消息循环结束。</a:t>
            </a:r>
            <a:endParaRPr lang="en-US" altLang="zh-C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8DE1F9-232B-0588-FD6E-359020CF4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875" y="188913"/>
            <a:ext cx="8423275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基于</a:t>
            </a:r>
            <a:r>
              <a:rPr lang="en-US" altLang="zh-CN" sz="3600" dirty="0"/>
              <a:t>Windows API</a:t>
            </a:r>
            <a:r>
              <a:rPr lang="zh-CN" altLang="en-US" sz="3600" dirty="0"/>
              <a:t>的事件驱动程序设计</a:t>
            </a:r>
            <a:br>
              <a:rPr lang="en-US" altLang="zh-CN" sz="3600" dirty="0"/>
            </a:br>
            <a:r>
              <a:rPr lang="zh-CN" altLang="en-US" sz="3600" dirty="0"/>
              <a:t>（过程式）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>
            <a:extLst>
              <a:ext uri="{FF2B5EF4-FFF2-40B4-BE49-F238E27FC236}">
                <a16:creationId xmlns:a16="http://schemas.microsoft.com/office/drawing/2014/main" id="{E03194DF-6F01-313D-95FB-2716DAA6C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985838"/>
            <a:ext cx="4824413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err="1">
                <a:solidFill>
                  <a:srgbClr val="FFC000"/>
                </a:solidFill>
              </a:rPr>
              <a:t>WinMain</a:t>
            </a:r>
            <a:r>
              <a:rPr lang="en-US" altLang="zh-CN" sz="2000" dirty="0"/>
              <a:t>(...)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{ </a:t>
            </a:r>
            <a:r>
              <a:rPr lang="en-GB" altLang="zh-CN" sz="2000" dirty="0"/>
              <a:t>//</a:t>
            </a:r>
            <a:r>
              <a:rPr lang="zh-CN" altLang="en-GB" sz="2000" dirty="0"/>
              <a:t>注册窗口类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</a:t>
            </a:r>
            <a:r>
              <a:rPr lang="en-US" altLang="zh-CN" sz="2000" dirty="0" err="1">
                <a:solidFill>
                  <a:srgbClr val="FFC000"/>
                </a:solidFill>
              </a:rPr>
              <a:t>RegisterClass</a:t>
            </a:r>
            <a:r>
              <a:rPr lang="en-US" altLang="zh-CN" sz="2000" dirty="0"/>
              <a:t>(...);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</a:t>
            </a:r>
            <a:r>
              <a:rPr lang="en-GB" altLang="zh-CN" sz="2000" dirty="0"/>
              <a:t>//</a:t>
            </a:r>
            <a:r>
              <a:rPr lang="zh-CN" altLang="en-GB" sz="2000" dirty="0"/>
              <a:t>创建主窗口</a:t>
            </a:r>
            <a:endParaRPr lang="en-US" altLang="zh-CN" sz="2000" dirty="0"/>
          </a:p>
          <a:p>
            <a:pPr marL="285750"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</a:rPr>
              <a:t>   </a:t>
            </a:r>
            <a:r>
              <a:rPr lang="en-US" altLang="zh-CN" sz="2000" dirty="0" err="1">
                <a:solidFill>
                  <a:srgbClr val="FFC000"/>
                </a:solidFill>
              </a:rPr>
              <a:t>CreateWindow</a:t>
            </a:r>
            <a:r>
              <a:rPr lang="en-US" altLang="zh-CN" sz="2000" dirty="0"/>
              <a:t>(...);</a:t>
            </a:r>
          </a:p>
          <a:p>
            <a:pPr marL="285750"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</a:t>
            </a:r>
            <a:r>
              <a:rPr lang="en-GB" altLang="zh-CN" sz="2000" dirty="0"/>
              <a:t>//</a:t>
            </a:r>
            <a:r>
              <a:rPr lang="zh-CN" altLang="en-GB" sz="2000" dirty="0"/>
              <a:t>进入消息循环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  </a:t>
            </a:r>
            <a:r>
              <a:rPr lang="en-US" altLang="zh-CN" sz="2000" dirty="0"/>
              <a:t>while (</a:t>
            </a:r>
            <a:r>
              <a:rPr lang="en-US" altLang="zh-CN" sz="2000" dirty="0" err="1">
                <a:solidFill>
                  <a:srgbClr val="FFC000"/>
                </a:solidFill>
              </a:rPr>
              <a:t>GetMessage</a:t>
            </a:r>
            <a:r>
              <a:rPr lang="en-US" altLang="zh-CN" sz="2000" dirty="0"/>
              <a:t>(...)) //</a:t>
            </a:r>
            <a:r>
              <a:rPr lang="zh-CN" altLang="en-US" sz="2000" dirty="0"/>
              <a:t>取消息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{  ......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</a:t>
            </a:r>
            <a:r>
              <a:rPr lang="en-US" altLang="zh-CN" sz="2000" dirty="0" err="1">
                <a:solidFill>
                  <a:srgbClr val="FFC000"/>
                </a:solidFill>
              </a:rPr>
              <a:t>DispatchMessage</a:t>
            </a:r>
            <a:r>
              <a:rPr lang="en-US" altLang="zh-CN" sz="2000" dirty="0"/>
              <a:t>(...); //</a:t>
            </a:r>
            <a:r>
              <a:rPr lang="zh-CN" altLang="en-US" sz="2000" dirty="0"/>
              <a:t>处理消息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}</a:t>
            </a:r>
          </a:p>
        </p:txBody>
      </p:sp>
      <p:sp>
        <p:nvSpPr>
          <p:cNvPr id="11267" name="Line 6">
            <a:extLst>
              <a:ext uri="{FF2B5EF4-FFF2-40B4-BE49-F238E27FC236}">
                <a16:creationId xmlns:a16="http://schemas.microsoft.com/office/drawing/2014/main" id="{718E3C2C-E3B4-61D4-0011-FFDABB175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19697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7">
            <a:extLst>
              <a:ext uri="{FF2B5EF4-FFF2-40B4-BE49-F238E27FC236}">
                <a16:creationId xmlns:a16="http://schemas.microsoft.com/office/drawing/2014/main" id="{99BDA309-0729-5989-E71B-FBFB6EE63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62877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Line 8">
            <a:extLst>
              <a:ext uri="{FF2B5EF4-FFF2-40B4-BE49-F238E27FC236}">
                <a16:creationId xmlns:a16="http://schemas.microsoft.com/office/drawing/2014/main" id="{4A2429AD-96AE-A88F-05F6-4D7DE1917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11969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0" name="Line 9">
            <a:extLst>
              <a:ext uri="{FF2B5EF4-FFF2-40B4-BE49-F238E27FC236}">
                <a16:creationId xmlns:a16="http://schemas.microsoft.com/office/drawing/2014/main" id="{3AF68CB6-2CF9-A2E6-3B1D-86C64E54A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11969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Line 10">
            <a:extLst>
              <a:ext uri="{FF2B5EF4-FFF2-40B4-BE49-F238E27FC236}">
                <a16:creationId xmlns:a16="http://schemas.microsoft.com/office/drawing/2014/main" id="{4FE1BAEA-5730-B597-F679-AAB8F15B7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11969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11">
            <a:extLst>
              <a:ext uri="{FF2B5EF4-FFF2-40B4-BE49-F238E27FC236}">
                <a16:creationId xmlns:a16="http://schemas.microsoft.com/office/drawing/2014/main" id="{8285196F-0BD1-5857-A509-674AC9D54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11969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12">
            <a:extLst>
              <a:ext uri="{FF2B5EF4-FFF2-40B4-BE49-F238E27FC236}">
                <a16:creationId xmlns:a16="http://schemas.microsoft.com/office/drawing/2014/main" id="{DC21A073-426A-8A8D-B1D5-D04BC9809F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588" y="141287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9B5D5730-A06A-1DC5-49EE-36E941F1F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530225"/>
            <a:ext cx="1724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消息队列：</a:t>
            </a:r>
          </a:p>
        </p:txBody>
      </p:sp>
      <p:sp>
        <p:nvSpPr>
          <p:cNvPr id="11275" name="Line 15">
            <a:extLst>
              <a:ext uri="{FF2B5EF4-FFF2-40B4-BE49-F238E27FC236}">
                <a16:creationId xmlns:a16="http://schemas.microsoft.com/office/drawing/2014/main" id="{20C818F4-EF3B-C4EC-6084-9C624D3CD6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2138" y="1412875"/>
            <a:ext cx="1871662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Line 16">
            <a:extLst>
              <a:ext uri="{FF2B5EF4-FFF2-40B4-BE49-F238E27FC236}">
                <a16:creationId xmlns:a16="http://schemas.microsoft.com/office/drawing/2014/main" id="{0A2FC670-140F-96E5-CB75-D020E59D9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11969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8FB8FF17-DFB7-FA95-7F49-AC2482F21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2636838"/>
            <a:ext cx="3843337" cy="2616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消息处理函数</a:t>
            </a:r>
          </a:p>
          <a:p>
            <a:pPr eaLnBrk="1" hangingPunct="1">
              <a:defRPr/>
            </a:pPr>
            <a:r>
              <a:rPr lang="en-US" altLang="zh-CN" sz="2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WindowProc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(...,message,...)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switch(message)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{ case ...: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case ...: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278" name="Line 18">
            <a:extLst>
              <a:ext uri="{FF2B5EF4-FFF2-40B4-BE49-F238E27FC236}">
                <a16:creationId xmlns:a16="http://schemas.microsoft.com/office/drawing/2014/main" id="{8F0F46C7-58E6-59C1-8EFD-D47ABADA65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5013" y="3141663"/>
            <a:ext cx="172085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99A69EB5-3D5B-B3D2-B7AF-2A1FFD3C0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1196975"/>
            <a:ext cx="1423988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消息</a:t>
            </a:r>
            <a:endParaRPr lang="en-US" altLang="zh-CN" sz="200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(Windows)</a:t>
            </a:r>
          </a:p>
        </p:txBody>
      </p:sp>
      <p:sp>
        <p:nvSpPr>
          <p:cNvPr id="11280" name="Line 18">
            <a:extLst>
              <a:ext uri="{FF2B5EF4-FFF2-40B4-BE49-F238E27FC236}">
                <a16:creationId xmlns:a16="http://schemas.microsoft.com/office/drawing/2014/main" id="{01CA8328-3358-21EA-EB82-722438C0D7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98750" y="2000250"/>
            <a:ext cx="2297113" cy="1141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1DB65FD0-4A96-B4CB-6A20-4C41E2992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5888"/>
            <a:ext cx="9144000" cy="674211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//Windows</a:t>
            </a:r>
            <a:r>
              <a:rPr lang="zh-CN" altLang="en-US" sz="2800" dirty="0"/>
              <a:t>应用程序的</a:t>
            </a:r>
            <a:r>
              <a:rPr lang="zh-CN" altLang="en-US" sz="2800" dirty="0">
                <a:solidFill>
                  <a:srgbClr val="FFC000"/>
                </a:solidFill>
              </a:rPr>
              <a:t>主函数</a:t>
            </a:r>
            <a:endParaRPr lang="en-GB" altLang="zh-CN" sz="28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#include </a:t>
            </a:r>
            <a:r>
              <a:rPr lang="en-GB" altLang="zh-CN" sz="2000" dirty="0">
                <a:solidFill>
                  <a:srgbClr val="FFC000"/>
                </a:solidFill>
              </a:rPr>
              <a:t>&lt;</a:t>
            </a:r>
            <a:r>
              <a:rPr lang="en-GB" altLang="zh-CN" sz="2000" dirty="0" err="1">
                <a:solidFill>
                  <a:srgbClr val="FFC000"/>
                </a:solidFill>
              </a:rPr>
              <a:t>windows.h</a:t>
            </a:r>
            <a:r>
              <a:rPr lang="en-GB" altLang="zh-CN" sz="2000" dirty="0">
                <a:solidFill>
                  <a:srgbClr val="FFC000"/>
                </a:solidFill>
              </a:rPr>
              <a:t>&gt; </a:t>
            </a:r>
            <a:r>
              <a:rPr lang="en-GB" altLang="zh-CN" sz="2000" dirty="0"/>
              <a:t>//Windows</a:t>
            </a:r>
            <a:r>
              <a:rPr lang="zh-CN" altLang="en-GB" sz="2000" dirty="0"/>
              <a:t>所提供的</a:t>
            </a:r>
            <a:r>
              <a:rPr lang="en-US" altLang="zh-CN" sz="2000" dirty="0"/>
              <a:t>API</a:t>
            </a:r>
            <a:r>
              <a:rPr lang="zh-CN" altLang="en-GB" sz="2000" dirty="0"/>
              <a:t>声明文件。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APIENTRY </a:t>
            </a:r>
            <a:r>
              <a:rPr lang="en-US" altLang="zh-CN" sz="2000" dirty="0" err="1">
                <a:solidFill>
                  <a:srgbClr val="FFC000"/>
                </a:solidFill>
              </a:rPr>
              <a:t>WinMain</a:t>
            </a:r>
            <a:r>
              <a:rPr lang="en-US" altLang="zh-CN" sz="2000" dirty="0"/>
              <a:t>(HINSTANCE </a:t>
            </a:r>
            <a:r>
              <a:rPr lang="en-US" altLang="zh-CN" sz="2000" dirty="0" err="1"/>
              <a:t>hInstance</a:t>
            </a:r>
            <a:r>
              <a:rPr lang="en-US" altLang="zh-CN" sz="2000" dirty="0"/>
              <a:t>, //</a:t>
            </a:r>
            <a:r>
              <a:rPr lang="zh-CN" altLang="en-US" sz="2000" dirty="0"/>
              <a:t>本实例标识（</a:t>
            </a:r>
            <a:r>
              <a:rPr lang="en-US" altLang="zh-CN" sz="2000" dirty="0"/>
              <a:t>Handle</a:t>
            </a:r>
            <a:r>
              <a:rPr lang="zh-CN" altLang="en-US" sz="2000" dirty="0"/>
              <a:t>）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                      	 </a:t>
            </a:r>
            <a:r>
              <a:rPr lang="en-US" altLang="zh-CN" sz="2000" dirty="0"/>
              <a:t>HINSTANCE </a:t>
            </a:r>
            <a:r>
              <a:rPr lang="en-US" altLang="zh-CN" sz="2000" dirty="0" err="1"/>
              <a:t>hPrevInstance</a:t>
            </a:r>
            <a:r>
              <a:rPr lang="en-US" altLang="zh-CN" sz="2000" dirty="0"/>
              <a:t>, //</a:t>
            </a:r>
            <a:r>
              <a:rPr lang="zh-CN" altLang="en-US" sz="2000" dirty="0"/>
              <a:t>上一个实例标识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                      	 </a:t>
            </a:r>
            <a:r>
              <a:rPr lang="en-US" altLang="zh-CN" sz="2000" dirty="0"/>
              <a:t>LPSTR </a:t>
            </a:r>
            <a:r>
              <a:rPr lang="en-US" altLang="zh-CN" sz="2000" dirty="0" err="1"/>
              <a:t>lpCmdLine</a:t>
            </a:r>
            <a:r>
              <a:rPr lang="en-US" altLang="zh-CN" sz="2000" dirty="0"/>
              <a:t>, //</a:t>
            </a:r>
            <a:r>
              <a:rPr lang="zh-CN" altLang="en-US" sz="2000" dirty="0"/>
              <a:t>命令行参数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		       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nCmdShow</a:t>
            </a:r>
            <a:r>
              <a:rPr lang="en-US" altLang="zh-CN" sz="2000" dirty="0"/>
              <a:t> ) //</a:t>
            </a:r>
            <a:r>
              <a:rPr lang="zh-CN" altLang="en-US" sz="2000" dirty="0"/>
              <a:t>主窗口的初始显示方式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{	//</a:t>
            </a:r>
            <a:r>
              <a:rPr lang="zh-CN" altLang="en-US" sz="2000" dirty="0"/>
              <a:t>注册窗口类（下面是个示意，函数参数实际为一个结构</a:t>
            </a:r>
            <a:r>
              <a:rPr lang="en-US" altLang="zh-CN" sz="2000" dirty="0"/>
              <a:t>WNDCLASS</a:t>
            </a:r>
            <a:r>
              <a:rPr lang="zh-CN" altLang="en-US" sz="2000" dirty="0"/>
              <a:t>）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 err="1">
                <a:solidFill>
                  <a:srgbClr val="FFC000"/>
                </a:solidFill>
              </a:rPr>
              <a:t>RegisterClass</a:t>
            </a:r>
            <a:r>
              <a:rPr lang="en-US" altLang="zh-CN" sz="2000" dirty="0"/>
              <a:t>(..., </a:t>
            </a:r>
            <a:r>
              <a:rPr lang="en-US" altLang="zh-CN" sz="2000" dirty="0" err="1">
                <a:solidFill>
                  <a:srgbClr val="FFC000"/>
                </a:solidFill>
              </a:rPr>
              <a:t>WindowProc</a:t>
            </a:r>
            <a:r>
              <a:rPr lang="en-US" altLang="zh-CN" sz="2000" dirty="0"/>
              <a:t>,</a:t>
            </a:r>
            <a:r>
              <a:rPr lang="en-US" altLang="zh-CN" sz="2000" dirty="0">
                <a:latin typeface="Arial" charset="0"/>
              </a:rPr>
              <a:t> </a:t>
            </a:r>
            <a:r>
              <a:rPr lang="en-US" altLang="zh-CN" sz="2000" dirty="0"/>
              <a:t>"</a:t>
            </a:r>
            <a:r>
              <a:rPr lang="en-US" altLang="zh-CN" sz="2000" dirty="0" err="1">
                <a:solidFill>
                  <a:srgbClr val="FFC000"/>
                </a:solidFill>
              </a:rPr>
              <a:t>my_window_class</a:t>
            </a:r>
            <a:r>
              <a:rPr lang="en-US" altLang="zh-CN" sz="2000" dirty="0"/>
              <a:t>"); //</a:t>
            </a:r>
            <a:r>
              <a:rPr lang="zh-CN" altLang="en-US" sz="2000" dirty="0">
                <a:solidFill>
                  <a:srgbClr val="FFC000"/>
                </a:solidFill>
              </a:rPr>
              <a:t>示意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......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//</a:t>
            </a:r>
            <a:r>
              <a:rPr lang="zh-CN" altLang="en-US" sz="2000" dirty="0"/>
              <a:t>创建并显示主窗口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HWND </a:t>
            </a:r>
            <a:r>
              <a:rPr lang="en-US" altLang="zh-CN" sz="2000" dirty="0" err="1">
                <a:solidFill>
                  <a:srgbClr val="FFC000"/>
                </a:solidFill>
              </a:rPr>
              <a:t>hWnd</a:t>
            </a:r>
            <a:r>
              <a:rPr lang="en-US" altLang="zh-CN" sz="2000" dirty="0"/>
              <a:t>; //</a:t>
            </a:r>
            <a:r>
              <a:rPr lang="zh-CN" altLang="en-US" sz="2000" dirty="0"/>
              <a:t>窗口的</a:t>
            </a:r>
            <a:r>
              <a:rPr lang="en-US" altLang="zh-CN" sz="2000" dirty="0"/>
              <a:t>id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=</a:t>
            </a:r>
            <a:r>
              <a:rPr lang="en-US" altLang="zh-CN" sz="2000" dirty="0" err="1">
                <a:solidFill>
                  <a:srgbClr val="FFC000"/>
                </a:solidFill>
              </a:rPr>
              <a:t>CreateWindow</a:t>
            </a:r>
            <a:r>
              <a:rPr lang="en-US" altLang="zh-CN" sz="2000" dirty="0"/>
              <a:t>("</a:t>
            </a:r>
            <a:r>
              <a:rPr lang="en-US" altLang="zh-CN" sz="2000" dirty="0" err="1">
                <a:solidFill>
                  <a:srgbClr val="FFC000"/>
                </a:solidFill>
              </a:rPr>
              <a:t>my_window_class</a:t>
            </a:r>
            <a:r>
              <a:rPr lang="en-US" altLang="zh-CN" sz="2000" dirty="0"/>
              <a:t>",</a:t>
            </a:r>
            <a:r>
              <a:rPr lang="en-US" altLang="zh-CN" sz="2000" dirty="0">
                <a:latin typeface="Arial" charset="0"/>
              </a:rPr>
              <a:t>…</a:t>
            </a:r>
            <a:r>
              <a:rPr lang="en-US" altLang="zh-CN" sz="2000" dirty="0"/>
              <a:t>,</a:t>
            </a:r>
            <a:r>
              <a:rPr lang="en-US" altLang="zh-CN" sz="2000" dirty="0" err="1"/>
              <a:t>x,y,width,height</a:t>
            </a:r>
            <a:r>
              <a:rPr lang="en-US" altLang="zh-CN" sz="2000" dirty="0"/>
              <a:t>,...);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ShowWindow</a:t>
            </a:r>
            <a:r>
              <a:rPr lang="en-US" altLang="zh-CN" sz="2000" dirty="0"/>
              <a:t>(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nCmdShow</a:t>
            </a:r>
            <a:r>
              <a:rPr lang="en-US" altLang="zh-CN" sz="2000" dirty="0"/>
              <a:t>);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......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//</a:t>
            </a:r>
            <a:r>
              <a:rPr lang="zh-CN" altLang="en-US" sz="2000" dirty="0"/>
              <a:t>消息循环，</a:t>
            </a:r>
            <a:r>
              <a:rPr lang="zh-CN" altLang="en-GB" sz="2000" dirty="0"/>
              <a:t>直到接收到</a:t>
            </a:r>
            <a:r>
              <a:rPr lang="en-GB" altLang="zh-CN" sz="2000" dirty="0"/>
              <a:t>WM_QUIT</a:t>
            </a:r>
            <a:r>
              <a:rPr lang="zh-CN" altLang="en-GB" sz="2000" dirty="0"/>
              <a:t>消息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while (</a:t>
            </a:r>
            <a:r>
              <a:rPr lang="en-US" altLang="zh-CN" sz="2000" dirty="0" err="1">
                <a:solidFill>
                  <a:srgbClr val="FFC000"/>
                </a:solidFill>
              </a:rPr>
              <a:t>GetMessage</a:t>
            </a:r>
            <a:r>
              <a:rPr lang="en-US" altLang="zh-CN" sz="2000" dirty="0"/>
              <a:t>(&amp;</a:t>
            </a:r>
            <a:r>
              <a:rPr lang="en-US" altLang="zh-CN" sz="2000" dirty="0" err="1"/>
              <a:t>msg</a:t>
            </a:r>
            <a:r>
              <a:rPr lang="en-US" altLang="zh-CN" sz="2000" dirty="0"/>
              <a:t>, NULL, 0, 0)) //</a:t>
            </a:r>
            <a:r>
              <a:rPr lang="zh-CN" altLang="en-US" sz="2000" dirty="0"/>
              <a:t>从消息队列中取消息。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{	......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	</a:t>
            </a:r>
            <a:r>
              <a:rPr lang="en-US" altLang="zh-CN" sz="2000" dirty="0" err="1">
                <a:solidFill>
                  <a:srgbClr val="FFC000"/>
                </a:solidFill>
              </a:rPr>
              <a:t>DispatchMessage</a:t>
            </a:r>
            <a:r>
              <a:rPr lang="en-US" altLang="zh-CN" sz="2000" dirty="0"/>
              <a:t>(&amp;</a:t>
            </a:r>
            <a:r>
              <a:rPr lang="en-US" altLang="zh-CN" sz="2000" dirty="0" err="1"/>
              <a:t>msg</a:t>
            </a:r>
            <a:r>
              <a:rPr lang="en-US" altLang="zh-CN" sz="2000" dirty="0"/>
              <a:t>); //</a:t>
            </a:r>
            <a:r>
              <a:rPr lang="zh-CN" altLang="en-US" sz="2000" dirty="0"/>
              <a:t>把消息发送到程序相应的窗口。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return </a:t>
            </a:r>
            <a:r>
              <a:rPr lang="en-US" altLang="zh-CN" sz="2000" dirty="0" err="1"/>
              <a:t>msg.wParam</a:t>
            </a:r>
            <a:r>
              <a:rPr lang="en-US" altLang="zh-CN" sz="2000" dirty="0"/>
              <a:t>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2000" dirty="0"/>
          </a:p>
        </p:txBody>
      </p:sp>
      <p:sp>
        <p:nvSpPr>
          <p:cNvPr id="12291" name="文本框 1">
            <a:extLst>
              <a:ext uri="{FF2B5EF4-FFF2-40B4-BE49-F238E27FC236}">
                <a16:creationId xmlns:a16="http://schemas.microsoft.com/office/drawing/2014/main" id="{69EAC161-647B-FB9F-A8A1-EE2266ADB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2843213"/>
            <a:ext cx="1568450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消息处理函数</a:t>
            </a:r>
          </a:p>
        </p:txBody>
      </p:sp>
      <p:sp>
        <p:nvSpPr>
          <p:cNvPr id="12292" name="文本框 3">
            <a:extLst>
              <a:ext uri="{FF2B5EF4-FFF2-40B4-BE49-F238E27FC236}">
                <a16:creationId xmlns:a16="http://schemas.microsoft.com/office/drawing/2014/main" id="{B476CCF2-BA01-BF1D-B8B2-3A601B998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2843213"/>
            <a:ext cx="1570038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窗口类的名字</a:t>
            </a:r>
          </a:p>
        </p:txBody>
      </p:sp>
      <p:sp>
        <p:nvSpPr>
          <p:cNvPr id="12293" name="Line 18">
            <a:extLst>
              <a:ext uri="{FF2B5EF4-FFF2-40B4-BE49-F238E27FC236}">
                <a16:creationId xmlns:a16="http://schemas.microsoft.com/office/drawing/2014/main" id="{D9CF9C9D-598F-2AAA-74DD-D45E23C115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2636838"/>
            <a:ext cx="358775" cy="20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Line 18">
            <a:extLst>
              <a:ext uri="{FF2B5EF4-FFF2-40B4-BE49-F238E27FC236}">
                <a16:creationId xmlns:a16="http://schemas.microsoft.com/office/drawing/2014/main" id="{1EB18B76-58A0-E07D-FC24-015F8B3CC9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5600" y="2636838"/>
            <a:ext cx="360363" cy="20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6AEA2884-EF4C-7682-665F-1A3AB56BF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5888"/>
            <a:ext cx="8435975" cy="66262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224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//</a:t>
            </a:r>
            <a:r>
              <a:rPr lang="zh-CN" altLang="en-GB" sz="2800" dirty="0"/>
              <a:t>窗口的</a:t>
            </a:r>
            <a:r>
              <a:rPr lang="zh-CN" altLang="en-GB" sz="2800" dirty="0">
                <a:solidFill>
                  <a:srgbClr val="FFC000"/>
                </a:solidFill>
              </a:rPr>
              <a:t>消息处理函数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LRESULT CALLBACK </a:t>
            </a:r>
            <a:r>
              <a:rPr lang="en-US" altLang="zh-CN" sz="2000" dirty="0" err="1">
                <a:solidFill>
                  <a:srgbClr val="FFC000"/>
                </a:solidFill>
              </a:rPr>
              <a:t>WindowProc</a:t>
            </a:r>
            <a:r>
              <a:rPr lang="en-US" altLang="zh-CN" sz="2000" dirty="0"/>
              <a:t>(HWND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hWnd</a:t>
            </a:r>
            <a:r>
              <a:rPr lang="en-US" altLang="zh-CN" sz="2000" dirty="0"/>
              <a:t>, //</a:t>
            </a:r>
            <a:r>
              <a:rPr lang="zh-CN" altLang="en-US" sz="2000" dirty="0"/>
              <a:t>窗口标识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 	  			                </a:t>
            </a:r>
            <a:r>
              <a:rPr lang="en-US" altLang="zh-CN" sz="2000" dirty="0"/>
              <a:t>UINT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FFC000"/>
                </a:solidFill>
              </a:rPr>
              <a:t>message</a:t>
            </a:r>
            <a:r>
              <a:rPr lang="en-US" altLang="zh-CN" sz="2000" dirty="0"/>
              <a:t>, //</a:t>
            </a:r>
            <a:r>
              <a:rPr lang="zh-CN" altLang="en-US" sz="2000" dirty="0"/>
              <a:t>消息标识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				                </a:t>
            </a:r>
            <a:r>
              <a:rPr lang="en-US" altLang="zh-CN" sz="2000" dirty="0"/>
              <a:t>WPARAM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wParam</a:t>
            </a:r>
            <a:r>
              <a:rPr lang="en-US" altLang="zh-CN" sz="2000" dirty="0"/>
              <a:t>, //</a:t>
            </a:r>
            <a:r>
              <a:rPr lang="zh-CN" altLang="en-US" sz="2000" dirty="0"/>
              <a:t>消息的参数</a:t>
            </a:r>
            <a:r>
              <a:rPr lang="en-US" altLang="zh-CN" sz="2000" dirty="0"/>
              <a:t>1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			                LPARAM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lParam</a:t>
            </a:r>
            <a:r>
              <a:rPr lang="en-US" altLang="zh-CN" sz="2000" i="1" dirty="0"/>
              <a:t> </a:t>
            </a:r>
            <a:r>
              <a:rPr lang="en-US" altLang="zh-CN" sz="2000" dirty="0"/>
              <a:t>)</a:t>
            </a:r>
            <a:r>
              <a:rPr lang="en-US" altLang="zh-CN" sz="2000" i="1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消息的参数</a:t>
            </a:r>
            <a:r>
              <a:rPr lang="en-US" altLang="zh-CN" sz="2000" dirty="0"/>
              <a:t>2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{	</a:t>
            </a:r>
            <a:r>
              <a:rPr lang="en-GB" altLang="zh-CN" sz="2000" dirty="0"/>
              <a:t>switch (</a:t>
            </a:r>
            <a:r>
              <a:rPr lang="en-GB" altLang="zh-CN" sz="2000" dirty="0">
                <a:solidFill>
                  <a:srgbClr val="FFC000"/>
                </a:solidFill>
              </a:rPr>
              <a:t>message</a:t>
            </a:r>
            <a:r>
              <a:rPr lang="en-GB" altLang="zh-CN" sz="2000" dirty="0"/>
              <a:t>)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{	case WM_KEYDOWN: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...</a:t>
            </a:r>
            <a:r>
              <a:rPr lang="en-GB" altLang="zh-CN" sz="2000" dirty="0" err="1"/>
              <a:t>wParam</a:t>
            </a:r>
            <a:r>
              <a:rPr lang="en-GB" altLang="zh-CN" sz="2000" dirty="0"/>
              <a:t>... //</a:t>
            </a:r>
            <a:r>
              <a:rPr lang="en-GB" altLang="zh-CN" sz="2000" dirty="0" err="1"/>
              <a:t>wParam</a:t>
            </a:r>
            <a:r>
              <a:rPr lang="zh-CN" altLang="en-GB" sz="2000" dirty="0"/>
              <a:t>为按键</a:t>
            </a:r>
            <a:r>
              <a:rPr lang="zh-CN" altLang="en-US" sz="2000" dirty="0"/>
              <a:t>的名字</a:t>
            </a:r>
            <a:endParaRPr lang="zh-CN" altLang="en-GB" sz="2000" dirty="0"/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   </a:t>
            </a:r>
            <a:r>
              <a:rPr lang="en-GB" altLang="zh-CN" sz="2000" dirty="0"/>
              <a:t>......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case WM_CHAR: //</a:t>
            </a:r>
            <a:r>
              <a:rPr lang="zh-CN" altLang="en-GB" sz="2000" dirty="0"/>
              <a:t>字符键消息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    </a:t>
            </a:r>
            <a:r>
              <a:rPr lang="en-GB" altLang="zh-CN" sz="2000" dirty="0"/>
              <a:t>...</a:t>
            </a:r>
            <a:r>
              <a:rPr lang="en-GB" altLang="zh-CN" sz="2000" dirty="0" err="1"/>
              <a:t>wParam</a:t>
            </a:r>
            <a:r>
              <a:rPr lang="en-GB" altLang="zh-CN" sz="2000" dirty="0"/>
              <a:t>... //</a:t>
            </a:r>
            <a:r>
              <a:rPr lang="en-GB" altLang="zh-CN" sz="2000" dirty="0" err="1"/>
              <a:t>wParam</a:t>
            </a:r>
            <a:r>
              <a:rPr lang="zh-CN" altLang="en-GB" sz="2000" dirty="0"/>
              <a:t>是按键</a:t>
            </a:r>
            <a:r>
              <a:rPr lang="zh-CN" altLang="en-US" sz="2000" dirty="0"/>
              <a:t>对应</a:t>
            </a:r>
            <a:r>
              <a:rPr lang="zh-CN" altLang="en-GB" sz="2000" dirty="0"/>
              <a:t>字符的编码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    </a:t>
            </a:r>
            <a:r>
              <a:rPr lang="en-GB" altLang="zh-CN" sz="2000" dirty="0"/>
              <a:t>......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case WM_COMMAND: //</a:t>
            </a:r>
            <a:r>
              <a:rPr lang="zh-CN" altLang="en-GB" sz="2000" dirty="0"/>
              <a:t>菜单消息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    </a:t>
            </a:r>
            <a:r>
              <a:rPr lang="en-GB" altLang="zh-CN" sz="2000" dirty="0"/>
              <a:t>switch (</a:t>
            </a:r>
            <a:r>
              <a:rPr lang="en-GB" altLang="zh-CN" sz="2000" dirty="0" err="1"/>
              <a:t>wParam</a:t>
            </a:r>
            <a:r>
              <a:rPr lang="en-GB" altLang="zh-CN" sz="2000" dirty="0"/>
              <a:t>) //</a:t>
            </a:r>
            <a:r>
              <a:rPr lang="en-GB" altLang="zh-CN" sz="2000" dirty="0" err="1"/>
              <a:t>wParam</a:t>
            </a:r>
            <a:r>
              <a:rPr lang="zh-CN" altLang="en-GB" sz="2000" dirty="0"/>
              <a:t>是菜单项的标识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 { case ID_FILE_OPEN: //</a:t>
            </a:r>
            <a:r>
              <a:rPr lang="zh-CN" altLang="en-US" sz="2000" dirty="0"/>
              <a:t>打开文件</a:t>
            </a:r>
            <a:endParaRPr lang="en-GB" altLang="zh-CN" sz="2000" dirty="0"/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	......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    case ID_START_TIMER: //</a:t>
            </a:r>
            <a:r>
              <a:rPr lang="zh-CN" altLang="en-US" sz="2000" dirty="0"/>
              <a:t>启动定时器</a:t>
            </a:r>
            <a:endParaRPr lang="en-GB" altLang="zh-CN" sz="2000" dirty="0"/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	</a:t>
            </a:r>
            <a:r>
              <a:rPr lang="en-GB" altLang="zh-CN" sz="2000" dirty="0" err="1"/>
              <a:t>SetTimer</a:t>
            </a:r>
            <a:r>
              <a:rPr lang="en-GB" altLang="zh-CN" sz="2000" dirty="0"/>
              <a:t>(hWnd,1,1000,NULL);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	......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    ......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 }</a:t>
            </a:r>
          </a:p>
          <a:p>
            <a:pPr eaLnBrk="1" hangingPunct="1">
              <a:lnSpc>
                <a:spcPct val="110000"/>
              </a:lnSpc>
              <a:spcBef>
                <a:spcPts val="20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    ......	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C0B7CE6D-DBA2-BDC2-2018-B6576C4C6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765175"/>
            <a:ext cx="8748713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case WM_LBUTTONDOWN: //</a:t>
            </a:r>
            <a:r>
              <a:rPr lang="zh-CN" altLang="en-GB" sz="1900" dirty="0"/>
              <a:t>鼠标左键按下消息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    ...</a:t>
            </a:r>
            <a:r>
              <a:rPr lang="en-GB" altLang="zh-CN" sz="1900" dirty="0" err="1"/>
              <a:t>lParam</a:t>
            </a:r>
            <a:r>
              <a:rPr lang="en-GB" altLang="zh-CN" sz="1900" dirty="0"/>
              <a:t>... //</a:t>
            </a:r>
            <a:r>
              <a:rPr lang="en-GB" altLang="zh-CN" sz="1900" dirty="0" err="1"/>
              <a:t>lParam</a:t>
            </a:r>
            <a:r>
              <a:rPr lang="zh-CN" altLang="en-GB" sz="1900" dirty="0"/>
              <a:t>为鼠标在窗口中的位置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1900" dirty="0"/>
              <a:t>		    </a:t>
            </a:r>
            <a:r>
              <a:rPr lang="en-GB" altLang="zh-CN" sz="1900" dirty="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case WM_PAINT: //</a:t>
            </a:r>
            <a:r>
              <a:rPr lang="zh-CN" altLang="en-GB" sz="1900" dirty="0"/>
              <a:t>窗口刷新消息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1900" dirty="0"/>
              <a:t>		   </a:t>
            </a:r>
            <a:r>
              <a:rPr lang="en-GB" altLang="zh-CN" sz="1900" dirty="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case WM_TIMER: </a:t>
            </a:r>
            <a:r>
              <a:rPr lang="en-US" altLang="zh-CN" sz="1900" dirty="0"/>
              <a:t>//</a:t>
            </a:r>
            <a:r>
              <a:rPr lang="zh-CN" altLang="en-US" sz="1900" dirty="0"/>
              <a:t>定时器消息</a:t>
            </a:r>
            <a:endParaRPr lang="en-US" altLang="zh-CN" sz="19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   ...</a:t>
            </a:r>
            <a:r>
              <a:rPr lang="en-GB" altLang="zh-CN" sz="1800" dirty="0" err="1"/>
              <a:t>wParam</a:t>
            </a:r>
            <a:r>
              <a:rPr lang="en-GB" altLang="zh-CN" sz="1800" dirty="0"/>
              <a:t>... //</a:t>
            </a:r>
            <a:r>
              <a:rPr lang="en-GB" altLang="zh-CN" sz="1800" dirty="0" err="1"/>
              <a:t>wParam</a:t>
            </a:r>
            <a:r>
              <a:rPr lang="zh-CN" altLang="en-GB" sz="1800" dirty="0"/>
              <a:t>是</a:t>
            </a:r>
            <a:r>
              <a:rPr lang="zh-CN" altLang="en-US" sz="1800" dirty="0"/>
              <a:t>定时器编号</a:t>
            </a:r>
            <a:endParaRPr lang="en-US" altLang="zh-CN" sz="19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900" dirty="0"/>
              <a:t>		   ......</a:t>
            </a:r>
            <a:endParaRPr lang="en-GB" altLang="zh-CN" sz="19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case WM_CLOSE: //</a:t>
            </a:r>
            <a:r>
              <a:rPr lang="zh-CN" altLang="en-GB" sz="1900" dirty="0"/>
              <a:t>关闭窗口消息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   </a:t>
            </a:r>
            <a:r>
              <a:rPr lang="en-GB" altLang="zh-CN" sz="1900" dirty="0" err="1">
                <a:solidFill>
                  <a:srgbClr val="FFC000"/>
                </a:solidFill>
              </a:rPr>
              <a:t>DestroyWindow</a:t>
            </a:r>
            <a:r>
              <a:rPr lang="en-GB" altLang="zh-CN" sz="1900" dirty="0"/>
              <a:t>(</a:t>
            </a:r>
            <a:r>
              <a:rPr lang="en-GB" altLang="zh-CN" sz="1900" dirty="0" err="1"/>
              <a:t>hWnd</a:t>
            </a:r>
            <a:r>
              <a:rPr lang="en-GB" altLang="zh-CN" sz="1900" dirty="0"/>
              <a:t>); </a:t>
            </a:r>
            <a:r>
              <a:rPr lang="en-US" altLang="zh-CN" sz="1900" dirty="0"/>
              <a:t>//</a:t>
            </a:r>
            <a:r>
              <a:rPr lang="zh-CN" altLang="en-US" sz="1900" dirty="0"/>
              <a:t>撤销窗口</a:t>
            </a:r>
            <a:endParaRPr lang="en-GB" altLang="zh-CN" sz="19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   break;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case WM_DESTROY: //</a:t>
            </a:r>
            <a:r>
              <a:rPr lang="zh-CN" altLang="en-GB" sz="1900" dirty="0"/>
              <a:t>窗口被</a:t>
            </a:r>
            <a:r>
              <a:rPr lang="zh-CN" altLang="en-US" sz="1900" dirty="0"/>
              <a:t>撤销</a:t>
            </a:r>
            <a:r>
              <a:rPr lang="zh-CN" altLang="en-GB" sz="1900" dirty="0"/>
              <a:t>消息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1900" dirty="0"/>
              <a:t>		   </a:t>
            </a:r>
            <a:r>
              <a:rPr lang="en-GB" altLang="zh-CN" sz="1900" dirty="0" err="1">
                <a:solidFill>
                  <a:srgbClr val="FFC000"/>
                </a:solidFill>
              </a:rPr>
              <a:t>PostQuitMessage</a:t>
            </a:r>
            <a:r>
              <a:rPr lang="en-GB" altLang="zh-CN" sz="1900" dirty="0"/>
              <a:t>(0); //</a:t>
            </a:r>
            <a:r>
              <a:rPr lang="zh-CN" altLang="en-GB" sz="1900" dirty="0"/>
              <a:t>往本应用的消息队列中放入</a:t>
            </a:r>
            <a:r>
              <a:rPr lang="en-GB" altLang="zh-CN" sz="1900" dirty="0"/>
              <a:t>WM_QUIT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   break;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		default: //</a:t>
            </a:r>
            <a:r>
              <a:rPr lang="zh-CN" altLang="en-GB" sz="1900" dirty="0"/>
              <a:t>由系统</a:t>
            </a:r>
            <a:r>
              <a:rPr lang="zh-CN" altLang="en-US" sz="1900" dirty="0"/>
              <a:t>进行</a:t>
            </a:r>
            <a:r>
              <a:rPr lang="zh-CN" altLang="en-GB" sz="1900" dirty="0"/>
              <a:t>默认的消息处理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1900" dirty="0"/>
              <a:t>		    </a:t>
            </a:r>
            <a:r>
              <a:rPr lang="en-GB" altLang="zh-CN" sz="1900" dirty="0"/>
              <a:t>return </a:t>
            </a:r>
            <a:r>
              <a:rPr lang="en-GB" altLang="zh-CN" sz="1900" dirty="0" err="1">
                <a:solidFill>
                  <a:srgbClr val="FFC000"/>
                </a:solidFill>
              </a:rPr>
              <a:t>DefWindowProc</a:t>
            </a:r>
            <a:r>
              <a:rPr lang="en-GB" altLang="zh-CN" sz="1900" dirty="0"/>
              <a:t>(</a:t>
            </a:r>
            <a:r>
              <a:rPr lang="en-GB" altLang="zh-CN" sz="1900" dirty="0" err="1"/>
              <a:t>hWnd,message,wParam</a:t>
            </a:r>
            <a:r>
              <a:rPr lang="en-GB" altLang="zh-CN" sz="1900" dirty="0"/>
              <a:t>, </a:t>
            </a:r>
            <a:r>
              <a:rPr lang="en-GB" altLang="zh-CN" sz="1900" dirty="0" err="1"/>
              <a:t>lParam</a:t>
            </a:r>
            <a:r>
              <a:rPr lang="en-GB" altLang="zh-CN" sz="190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  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900" dirty="0"/>
              <a:t>  	return 0;</a:t>
            </a:r>
            <a:endParaRPr lang="en-US" altLang="zh-CN" sz="19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900"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D684A-6511-0528-69CB-36F940EA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888"/>
            <a:ext cx="8229600" cy="11811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可用</a:t>
            </a:r>
            <a:r>
              <a:rPr lang="en-US" altLang="zh-CN" dirty="0"/>
              <a:t>VC++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C000"/>
                </a:solidFill>
              </a:rPr>
              <a:t>应用向导</a:t>
            </a:r>
            <a:r>
              <a:rPr lang="zh-CN" altLang="en-US" dirty="0"/>
              <a:t>建立基于</a:t>
            </a:r>
            <a:r>
              <a:rPr lang="en-US" altLang="zh-CN" dirty="0"/>
              <a:t>Windows API</a:t>
            </a:r>
            <a:r>
              <a:rPr lang="zh-CN" altLang="en-US" dirty="0"/>
              <a:t>的事件驱动的应用程序基本框架：</a:t>
            </a:r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4879F087-E24C-47D7-FC46-5CCDF3851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268413"/>
            <a:ext cx="79216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CD0AF-3500-9043-9D51-20287639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7AF126-3456-1394-6343-30D971CB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6388" name="图片 3">
            <a:extLst>
              <a:ext uri="{FF2B5EF4-FFF2-40B4-BE49-F238E27FC236}">
                <a16:creationId xmlns:a16="http://schemas.microsoft.com/office/drawing/2014/main" id="{3DCECFC9-4642-8B73-07E1-B4484321F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57163"/>
            <a:ext cx="8267700" cy="654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>
            <a:extLst>
              <a:ext uri="{FF2B5EF4-FFF2-40B4-BE49-F238E27FC236}">
                <a16:creationId xmlns:a16="http://schemas.microsoft.com/office/drawing/2014/main" id="{FFCDF088-6FC4-5EC0-53FA-3CC85C10E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资源（</a:t>
            </a:r>
            <a:r>
              <a:rPr lang="en-US" altLang="zh-CN" sz="4000" dirty="0"/>
              <a:t>Resource</a:t>
            </a:r>
            <a:r>
              <a:rPr lang="zh-CN" altLang="en-US" sz="4000" dirty="0"/>
              <a:t>）</a:t>
            </a:r>
          </a:p>
        </p:txBody>
      </p:sp>
      <p:sp>
        <p:nvSpPr>
          <p:cNvPr id="48131" name="Rectangle 1027">
            <a:extLst>
              <a:ext uri="{FF2B5EF4-FFF2-40B4-BE49-F238E27FC236}">
                <a16:creationId xmlns:a16="http://schemas.microsoft.com/office/drawing/2014/main" id="{54FBC231-ACF7-871B-7C88-AE6567FD7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852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每个</a:t>
            </a:r>
            <a:r>
              <a:rPr lang="en-US" altLang="zh-CN" dirty="0"/>
              <a:t>Windows</a:t>
            </a:r>
            <a:r>
              <a:rPr lang="zh-CN" altLang="en-US" dirty="0"/>
              <a:t>应用程序，除了程序代码外，还包含一些</a:t>
            </a:r>
            <a:r>
              <a:rPr lang="zh-CN" altLang="en-US" dirty="0">
                <a:solidFill>
                  <a:schemeClr val="folHlink"/>
                </a:solidFill>
              </a:rPr>
              <a:t>资源</a:t>
            </a:r>
            <a:r>
              <a:rPr lang="zh-CN" altLang="en-US" dirty="0"/>
              <a:t>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菜单</a:t>
            </a:r>
            <a:r>
              <a:rPr lang="zh-CN" altLang="en-US" dirty="0"/>
              <a:t>：菜单</a:t>
            </a:r>
            <a:r>
              <a:rPr lang="en-US" altLang="zh-CN" dirty="0"/>
              <a:t>ID</a:t>
            </a:r>
            <a:r>
              <a:rPr lang="zh-CN" altLang="en-US" dirty="0"/>
              <a:t>、菜单项</a:t>
            </a:r>
            <a:r>
              <a:rPr lang="en-US" altLang="zh-CN" dirty="0"/>
              <a:t>ID/</a:t>
            </a:r>
            <a:r>
              <a:rPr lang="zh-CN" altLang="en-US" dirty="0"/>
              <a:t>显示文字。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对话框</a:t>
            </a:r>
            <a:r>
              <a:rPr lang="zh-CN" altLang="en-US" dirty="0"/>
              <a:t>：对话框</a:t>
            </a:r>
            <a:r>
              <a:rPr lang="en-US" altLang="zh-CN" dirty="0"/>
              <a:t>ID</a:t>
            </a:r>
            <a:r>
              <a:rPr lang="zh-CN" altLang="en-US" dirty="0"/>
              <a:t>和尺寸；对话框中各个控件的</a:t>
            </a:r>
            <a:r>
              <a:rPr lang="en-US" altLang="zh-CN" dirty="0"/>
              <a:t>ID</a:t>
            </a:r>
            <a:r>
              <a:rPr lang="zh-CN" altLang="en-US" dirty="0"/>
              <a:t>、类型、尺寸与位置等。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......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/>
              <a:t>资源</a:t>
            </a:r>
            <a:r>
              <a:rPr lang="zh-CN" altLang="en-US" dirty="0"/>
              <a:t>的描述有规定的格式，</a:t>
            </a:r>
            <a:r>
              <a:rPr lang="zh-CN" altLang="en-GB" dirty="0"/>
              <a:t>存储在相应的</a:t>
            </a:r>
            <a:r>
              <a:rPr lang="zh-CN" altLang="en-GB" dirty="0">
                <a:solidFill>
                  <a:srgbClr val="FFC000"/>
                </a:solidFill>
              </a:rPr>
              <a:t>资源文件</a:t>
            </a:r>
            <a:r>
              <a:rPr lang="zh-CN" altLang="en-GB" dirty="0"/>
              <a:t>（</a:t>
            </a:r>
            <a:r>
              <a:rPr lang="en-GB" altLang="zh-CN" dirty="0"/>
              <a:t>.</a:t>
            </a:r>
            <a:r>
              <a:rPr lang="en-GB" altLang="zh-CN" dirty="0" err="1"/>
              <a:t>rc</a:t>
            </a:r>
            <a:r>
              <a:rPr lang="zh-CN" altLang="en-GB" dirty="0"/>
              <a:t>）中，经编译后将作为</a:t>
            </a:r>
            <a:r>
              <a:rPr lang="en-GB" altLang="zh-CN" dirty="0"/>
              <a:t>Windows</a:t>
            </a:r>
            <a:r>
              <a:rPr lang="zh-CN" altLang="en-GB" dirty="0"/>
              <a:t>应用程序的一部分被链接到应用程序的目标文件中。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/>
              <a:t>资源可以用</a:t>
            </a:r>
            <a:r>
              <a:rPr lang="en-US" altLang="zh-CN" dirty="0"/>
              <a:t>VC++</a:t>
            </a:r>
            <a:r>
              <a:rPr lang="zh-CN" altLang="en-US" dirty="0"/>
              <a:t>的</a:t>
            </a:r>
            <a:r>
              <a:rPr lang="zh-CN" altLang="en-GB" dirty="0">
                <a:solidFill>
                  <a:schemeClr val="folHlink"/>
                </a:solidFill>
              </a:rPr>
              <a:t>资源编辑器</a:t>
            </a:r>
            <a:r>
              <a:rPr lang="zh-CN" altLang="en-GB" dirty="0"/>
              <a:t>来进行</a:t>
            </a:r>
            <a:r>
              <a:rPr lang="zh-CN" altLang="en-GB" dirty="0">
                <a:solidFill>
                  <a:schemeClr val="folHlink"/>
                </a:solidFill>
              </a:rPr>
              <a:t>可视化</a:t>
            </a:r>
            <a:r>
              <a:rPr lang="zh-CN" altLang="en-GB" dirty="0"/>
              <a:t>编辑。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7E844-FFD7-A037-A603-29D41135C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15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可用</a:t>
            </a:r>
            <a:r>
              <a:rPr lang="en-US" altLang="zh-CN" dirty="0"/>
              <a:t>VC++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C000"/>
                </a:solidFill>
              </a:rPr>
              <a:t>资源编辑器</a:t>
            </a:r>
            <a:r>
              <a:rPr lang="zh-CN" altLang="en-US" dirty="0"/>
              <a:t>来生成资源：</a:t>
            </a:r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80E0119B-D93E-FF48-6559-03A65FA20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968500"/>
            <a:ext cx="8728075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B0492-BB03-5848-78C2-BC8C27D4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/>
              <a:t>面向对象的事件驱动程序设计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76AD8-4561-BBC9-2C06-8FAFE6065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916113"/>
            <a:ext cx="8353425" cy="4608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基于</a:t>
            </a:r>
            <a:r>
              <a:rPr lang="en-US" altLang="zh-CN" dirty="0"/>
              <a:t>Windows API</a:t>
            </a:r>
            <a:r>
              <a:rPr lang="zh-CN" altLang="en-US" dirty="0"/>
              <a:t>的事件驱动程序设计属于过程式程序设计范式。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通过调用</a:t>
            </a:r>
            <a:r>
              <a:rPr lang="en-US" altLang="zh-CN" dirty="0"/>
              <a:t>API</a:t>
            </a:r>
            <a:r>
              <a:rPr lang="zh-CN" altLang="en-US" dirty="0"/>
              <a:t>函数编写程序的粒度太细、太繁琐，开发效率不高。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如何以更大粒度的程序元素（如，类</a:t>
            </a:r>
            <a:r>
              <a:rPr lang="en-US" altLang="zh-CN" dirty="0"/>
              <a:t>/</a:t>
            </a:r>
            <a:r>
              <a:rPr lang="zh-CN" altLang="en-US" dirty="0"/>
              <a:t>对象）来开发事件驱动的应用程序？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F5BA8ED-A0E1-A295-B067-C062C7E58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dirty="0"/>
              <a:t>Windows</a:t>
            </a:r>
            <a:r>
              <a:rPr lang="zh-CN" altLang="en-GB" dirty="0"/>
              <a:t>应用程序中的对象</a:t>
            </a:r>
            <a:endParaRPr lang="zh-CN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1F188F5-A295-3D8C-83D9-BA7D98920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4006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en-GB" dirty="0"/>
              <a:t>窗口对象</a:t>
            </a:r>
          </a:p>
          <a:p>
            <a:pPr lvl="1" eaLnBrk="1" hangingPunct="1">
              <a:defRPr/>
            </a:pPr>
            <a:r>
              <a:rPr lang="zh-CN" altLang="en-US" dirty="0"/>
              <a:t>显示程序的处理数据。</a:t>
            </a:r>
          </a:p>
          <a:p>
            <a:pPr lvl="1" eaLnBrk="1" hangingPunct="1">
              <a:defRPr/>
            </a:pPr>
            <a:r>
              <a:rPr lang="zh-CN" altLang="en-GB" dirty="0"/>
              <a:t>处理</a:t>
            </a:r>
            <a:r>
              <a:rPr lang="en-GB" altLang="zh-CN" dirty="0"/>
              <a:t>Windows</a:t>
            </a:r>
            <a:r>
              <a:rPr lang="zh-CN" altLang="en-GB" dirty="0"/>
              <a:t>的消息</a:t>
            </a:r>
            <a:r>
              <a:rPr lang="zh-CN" altLang="en-US" dirty="0"/>
              <a:t>、实现与用户的交互。</a:t>
            </a:r>
            <a:endParaRPr lang="zh-CN" altLang="en-GB" dirty="0"/>
          </a:p>
          <a:p>
            <a:pPr lvl="1" eaLnBrk="1" hangingPunct="1">
              <a:defRPr/>
            </a:pPr>
            <a:r>
              <a:rPr lang="zh-CN" altLang="en-GB" dirty="0"/>
              <a:t>窗口</a:t>
            </a:r>
            <a:r>
              <a:rPr lang="zh-CN" altLang="en-US" dirty="0"/>
              <a:t>对象类</a:t>
            </a:r>
            <a:r>
              <a:rPr lang="zh-CN" altLang="en-GB" dirty="0"/>
              <a:t>之间</a:t>
            </a:r>
            <a:r>
              <a:rPr lang="zh-CN" altLang="en-US" dirty="0"/>
              <a:t>可以存在继承和组合</a:t>
            </a:r>
            <a:r>
              <a:rPr lang="zh-CN" altLang="en-GB" dirty="0"/>
              <a:t>关系</a:t>
            </a:r>
            <a:r>
              <a:rPr lang="zh-CN" altLang="en-US" dirty="0"/>
              <a:t>。 </a:t>
            </a:r>
          </a:p>
          <a:p>
            <a:pPr eaLnBrk="1" hangingPunct="1">
              <a:defRPr/>
            </a:pPr>
            <a:r>
              <a:rPr lang="zh-CN" altLang="en-GB" dirty="0"/>
              <a:t>文档对象</a:t>
            </a:r>
          </a:p>
          <a:p>
            <a:pPr lvl="1" eaLnBrk="1" hangingPunct="1">
              <a:defRPr/>
            </a:pPr>
            <a:r>
              <a:rPr lang="zh-CN" altLang="en-GB" dirty="0"/>
              <a:t>管理在各个窗口中</a:t>
            </a:r>
            <a:r>
              <a:rPr lang="zh-CN" altLang="en-US" dirty="0"/>
              <a:t>显示和</a:t>
            </a:r>
            <a:r>
              <a:rPr lang="zh-CN" altLang="en-GB" dirty="0"/>
              <a:t>处理的数据</a:t>
            </a:r>
            <a:r>
              <a:rPr lang="zh-CN" altLang="en-US" dirty="0"/>
              <a:t>。</a:t>
            </a:r>
            <a:endParaRPr lang="zh-CN" altLang="en-GB" dirty="0"/>
          </a:p>
          <a:p>
            <a:pPr lvl="1" eaLnBrk="1" hangingPunct="1">
              <a:defRPr/>
            </a:pPr>
            <a:r>
              <a:rPr lang="zh-CN" altLang="en-GB" dirty="0"/>
              <a:t>文档对象与窗口对象之间可以存在</a:t>
            </a:r>
            <a:r>
              <a:rPr lang="zh-CN" altLang="en-US" dirty="0"/>
              <a:t>关联</a:t>
            </a:r>
            <a:r>
              <a:rPr lang="zh-CN" altLang="en-GB" dirty="0"/>
              <a:t>关系</a:t>
            </a:r>
            <a:r>
              <a:rPr lang="zh-CN" altLang="en-US" dirty="0"/>
              <a:t>。</a:t>
            </a:r>
          </a:p>
          <a:p>
            <a:pPr eaLnBrk="1" hangingPunct="1">
              <a:defRPr/>
            </a:pPr>
            <a:r>
              <a:rPr lang="zh-CN" altLang="en-GB" dirty="0"/>
              <a:t>应用程序对象</a:t>
            </a:r>
          </a:p>
          <a:p>
            <a:pPr lvl="1" eaLnBrk="1" hangingPunct="1">
              <a:defRPr/>
            </a:pPr>
            <a:r>
              <a:rPr lang="zh-CN" altLang="en-GB" dirty="0"/>
              <a:t>管理属于它的窗口对象和文档对象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GB" dirty="0"/>
              <a:t>实现消息循环</a:t>
            </a:r>
            <a:r>
              <a:rPr lang="zh-CN" altLang="en-US" dirty="0"/>
              <a:t>。</a:t>
            </a:r>
            <a:endParaRPr lang="zh-CN" altLang="en-GB" dirty="0"/>
          </a:p>
          <a:p>
            <a:pPr lvl="1" eaLnBrk="1" hangingPunct="1">
              <a:defRPr/>
            </a:pPr>
            <a:r>
              <a:rPr lang="zh-CN" altLang="en-GB" dirty="0"/>
              <a:t>它与窗口对象及文档对象之间构成了</a:t>
            </a:r>
            <a:r>
              <a:rPr lang="zh-CN" altLang="en-US" dirty="0"/>
              <a:t>组合</a:t>
            </a:r>
            <a:r>
              <a:rPr lang="zh-CN" altLang="en-GB" dirty="0"/>
              <a:t>关系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......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AE5CCC6D-5658-A056-BAAC-D0DC5AE83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33375"/>
            <a:ext cx="4248150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AutoShape 5">
            <a:extLst>
              <a:ext uri="{FF2B5EF4-FFF2-40B4-BE49-F238E27FC236}">
                <a16:creationId xmlns:a16="http://schemas.microsoft.com/office/drawing/2014/main" id="{B186457C-B547-3258-DF95-A2AC2456E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005263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08" name="AutoShape 6">
            <a:extLst>
              <a:ext uri="{FF2B5EF4-FFF2-40B4-BE49-F238E27FC236}">
                <a16:creationId xmlns:a16="http://schemas.microsoft.com/office/drawing/2014/main" id="{7664B3E2-C6A7-3053-80CE-9629AB64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005263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6389" name="Text Box 7">
            <a:extLst>
              <a:ext uri="{FF2B5EF4-FFF2-40B4-BE49-F238E27FC236}">
                <a16:creationId xmlns:a16="http://schemas.microsoft.com/office/drawing/2014/main" id="{D8A3C656-321A-C943-9368-FEFF9877D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33825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文档对象：</a:t>
            </a:r>
          </a:p>
        </p:txBody>
      </p:sp>
      <p:sp>
        <p:nvSpPr>
          <p:cNvPr id="16390" name="Text Box 8">
            <a:extLst>
              <a:ext uri="{FF2B5EF4-FFF2-40B4-BE49-F238E27FC236}">
                <a16:creationId xmlns:a16="http://schemas.microsoft.com/office/drawing/2014/main" id="{A6F570EB-5E5E-6784-18F2-EB538D37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476250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窗口对象：</a:t>
            </a:r>
          </a:p>
        </p:txBody>
      </p:sp>
      <p:sp>
        <p:nvSpPr>
          <p:cNvPr id="21511" name="Line 9">
            <a:extLst>
              <a:ext uri="{FF2B5EF4-FFF2-40B4-BE49-F238E27FC236}">
                <a16:creationId xmlns:a16="http://schemas.microsoft.com/office/drawing/2014/main" id="{A66CB329-6B50-BFEC-FF2E-897753D71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3716338"/>
            <a:ext cx="8713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20">
            <a:extLst>
              <a:ext uri="{FF2B5EF4-FFF2-40B4-BE49-F238E27FC236}">
                <a16:creationId xmlns:a16="http://schemas.microsoft.com/office/drawing/2014/main" id="{F1D273A0-780F-A0C1-E8CA-CCDB9961B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5589588"/>
            <a:ext cx="8713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3" name="Text Box 21">
            <a:extLst>
              <a:ext uri="{FF2B5EF4-FFF2-40B4-BE49-F238E27FC236}">
                <a16:creationId xmlns:a16="http://schemas.microsoft.com/office/drawing/2014/main" id="{DC8521D8-426C-E795-0315-47081C69D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6000750"/>
            <a:ext cx="196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应用程序对象：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A6FE5A6-7466-4881-F27B-EC96AC2BB692}"/>
              </a:ext>
            </a:extLst>
          </p:cNvPr>
          <p:cNvCxnSpPr/>
          <p:nvPr/>
        </p:nvCxnSpPr>
        <p:spPr>
          <a:xfrm>
            <a:off x="3492500" y="2205038"/>
            <a:ext cx="142875" cy="1800225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75BD7ED-1662-BA8F-220E-F6C4DFF02FD5}"/>
              </a:ext>
            </a:extLst>
          </p:cNvPr>
          <p:cNvCxnSpPr>
            <a:endCxn id="21507" idx="0"/>
          </p:cNvCxnSpPr>
          <p:nvPr/>
        </p:nvCxnSpPr>
        <p:spPr>
          <a:xfrm>
            <a:off x="5651500" y="2565400"/>
            <a:ext cx="901700" cy="1439863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430A12-3536-BBD0-580E-9B32F2C0A169}"/>
              </a:ext>
            </a:extLst>
          </p:cNvPr>
          <p:cNvSpPr txBox="1"/>
          <p:nvPr/>
        </p:nvSpPr>
        <p:spPr>
          <a:xfrm>
            <a:off x="4486275" y="5805488"/>
            <a:ext cx="1338263" cy="9223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pPr marL="0" lvl="1" eaLnBrk="1" hangingPunct="1">
              <a:defRPr/>
            </a:pPr>
            <a:r>
              <a:rPr lang="zh-CN" altLang="en-GB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注册窗口类</a:t>
            </a:r>
          </a:p>
          <a:p>
            <a:pPr marL="0" lvl="1" eaLnBrk="1" hangingPunct="1">
              <a:defRPr/>
            </a:pPr>
            <a:r>
              <a:rPr lang="zh-CN" altLang="en-GB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创建主窗口</a:t>
            </a:r>
          </a:p>
          <a:p>
            <a:pPr marL="0" lvl="1" eaLnBrk="1" hangingPunct="1">
              <a:defRPr/>
            </a:pPr>
            <a:r>
              <a:rPr lang="zh-CN" altLang="en-GB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消息循环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DEA54-B389-9434-CC48-DD137332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1847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如何为上述对象设计相应的类？下面是常见的两个类库：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微软的</a:t>
            </a:r>
            <a:r>
              <a:rPr lang="en-US" altLang="zh-CN" dirty="0"/>
              <a:t>MFC</a:t>
            </a:r>
            <a:r>
              <a:rPr lang="zh-CN" altLang="en-US" dirty="0"/>
              <a:t>：用类封装了</a:t>
            </a:r>
            <a:r>
              <a:rPr lang="en-US" altLang="zh-CN" dirty="0"/>
              <a:t>Windows API</a:t>
            </a:r>
            <a:r>
              <a:rPr lang="zh-CN" altLang="en-US" dirty="0"/>
              <a:t>的功能，与</a:t>
            </a:r>
            <a:r>
              <a:rPr lang="en-US" altLang="zh-CN" dirty="0"/>
              <a:t>Windows API</a:t>
            </a:r>
            <a:r>
              <a:rPr lang="zh-CN" altLang="en-US" dirty="0"/>
              <a:t>的联系比较紧密。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公司的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：不需要了解太多的底层实现细节（如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 API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），跨平台（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应用程序可以通过继承上面类库中的类来实现各自的特殊功能。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242D06-06B6-D3B9-B70E-ADFAE6685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支持</a:t>
            </a:r>
            <a:r>
              <a:rPr lang="en-US" altLang="zh-CN" dirty="0"/>
              <a:t>Windows</a:t>
            </a:r>
            <a:r>
              <a:rPr lang="zh-CN" altLang="en-US" dirty="0"/>
              <a:t>应用开发的类库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5E5E8F9-3436-1165-99C3-2B897CF9A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应用框架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application framework</a:t>
            </a:r>
            <a:r>
              <a:rPr lang="zh-CN" altLang="en-US" dirty="0"/>
              <a:t>）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50DDA48-75F5-DC43-7195-B88430612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16100"/>
            <a:ext cx="8229600" cy="470852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应用框架</a:t>
            </a:r>
            <a:r>
              <a:rPr lang="zh-CN" altLang="en-US" dirty="0"/>
              <a:t>是一种通用的、可复用的应用程序结构，该结构规定了程序应包含哪些</a:t>
            </a:r>
            <a:r>
              <a:rPr lang="zh-CN" altLang="en-US" dirty="0">
                <a:solidFill>
                  <a:srgbClr val="FFC000"/>
                </a:solidFill>
              </a:rPr>
              <a:t>组件</a:t>
            </a:r>
            <a:r>
              <a:rPr lang="zh-CN" altLang="en-US" dirty="0"/>
              <a:t>以及这些组件之间的</a:t>
            </a:r>
            <a:r>
              <a:rPr lang="zh-CN" altLang="en-US" dirty="0">
                <a:solidFill>
                  <a:srgbClr val="FFC000"/>
                </a:solidFill>
              </a:rPr>
              <a:t>关系</a:t>
            </a:r>
            <a:r>
              <a:rPr lang="zh-CN" altLang="en-US" dirty="0"/>
              <a:t>，它封装了程序处理流程的</a:t>
            </a:r>
            <a:r>
              <a:rPr lang="zh-CN" altLang="en-US" dirty="0">
                <a:solidFill>
                  <a:srgbClr val="FFC000"/>
                </a:solidFill>
              </a:rPr>
              <a:t>控制逻辑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在一个应用框架中，各个组件以及它们之间的关系是固定的，应用的开发者通过给各组件添加具体的</a:t>
            </a:r>
            <a:r>
              <a:rPr lang="zh-CN" altLang="en-US" dirty="0">
                <a:solidFill>
                  <a:srgbClr val="FFC000"/>
                </a:solidFill>
              </a:rPr>
              <a:t>业务代码</a:t>
            </a:r>
            <a:r>
              <a:rPr lang="zh-CN" altLang="en-US" dirty="0"/>
              <a:t>来实现不同的应用。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通过复用应用框架，使得应用的</a:t>
            </a:r>
            <a:r>
              <a:rPr lang="zh-CN" altLang="en-US" dirty="0">
                <a:solidFill>
                  <a:srgbClr val="FFC000"/>
                </a:solidFill>
              </a:rPr>
              <a:t>开发速度更快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质量更高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成本更低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有各种应该框架：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基于</a:t>
            </a:r>
            <a:r>
              <a:rPr lang="en-US" altLang="zh-CN" dirty="0"/>
              <a:t>MFC</a:t>
            </a:r>
            <a:r>
              <a:rPr lang="zh-CN" altLang="en-US" dirty="0"/>
              <a:t>的“文档</a:t>
            </a:r>
            <a:r>
              <a:rPr lang="en-US" altLang="zh-CN" dirty="0"/>
              <a:t>-</a:t>
            </a:r>
            <a:r>
              <a:rPr lang="zh-CN" altLang="en-US" dirty="0"/>
              <a:t>视”结构的应用框架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基于</a:t>
            </a:r>
            <a:r>
              <a:rPr lang="en-US" altLang="zh-CN" dirty="0" err="1"/>
              <a:t>Qt</a:t>
            </a:r>
            <a:r>
              <a:rPr lang="zh-CN" altLang="en-US" dirty="0"/>
              <a:t>的“模型</a:t>
            </a:r>
            <a:r>
              <a:rPr lang="en-US" altLang="zh-CN" dirty="0"/>
              <a:t>-</a:t>
            </a:r>
            <a:r>
              <a:rPr lang="zh-CN" altLang="en-US" dirty="0"/>
              <a:t>视”结构的应用框架</a:t>
            </a: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1_Globe 9">
    <a:dk1>
      <a:srgbClr val="003B76"/>
    </a:dk1>
    <a:lt1>
      <a:srgbClr val="FFFFFF"/>
    </a:lt1>
    <a:dk2>
      <a:srgbClr val="0066CC"/>
    </a:dk2>
    <a:lt2>
      <a:srgbClr val="FFFF00"/>
    </a:lt2>
    <a:accent1>
      <a:srgbClr val="33CCCC"/>
    </a:accent1>
    <a:accent2>
      <a:srgbClr val="66CCFF"/>
    </a:accent2>
    <a:accent3>
      <a:srgbClr val="AAB8E2"/>
    </a:accent3>
    <a:accent4>
      <a:srgbClr val="DADADA"/>
    </a:accent4>
    <a:accent5>
      <a:srgbClr val="ADE2E2"/>
    </a:accent5>
    <a:accent6>
      <a:srgbClr val="5CB9E7"/>
    </a:accent6>
    <a:hlink>
      <a:srgbClr val="FFFFCC"/>
    </a:hlink>
    <a:folHlink>
      <a:srgbClr val="FFCC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14053</TotalTime>
  <Words>1831</Words>
  <Application>Microsoft Office PowerPoint</Application>
  <PresentationFormat>全屏显示(4:3)</PresentationFormat>
  <Paragraphs>197</Paragraphs>
  <Slides>21</Slides>
  <Notes>0</Notes>
  <HiddenSlides>5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Verdana</vt:lpstr>
      <vt:lpstr>宋体</vt:lpstr>
      <vt:lpstr>Arial</vt:lpstr>
      <vt:lpstr>Wingdings</vt:lpstr>
      <vt:lpstr>等线</vt:lpstr>
      <vt:lpstr>Globe</vt:lpstr>
      <vt:lpstr>事件（消息）驱动的程序设计</vt:lpstr>
      <vt:lpstr>主要内容</vt:lpstr>
      <vt:lpstr>Windows简介</vt:lpstr>
      <vt:lpstr>事件驱动的程序结构 </vt:lpstr>
      <vt:lpstr>PowerPoint 演示文稿</vt:lpstr>
      <vt:lpstr>PowerPoint 演示文稿</vt:lpstr>
      <vt:lpstr>Windows应用程序的类型</vt:lpstr>
      <vt:lpstr>基于Windows API的事件驱动程序设计 （过程式）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资源（Resource）</vt:lpstr>
      <vt:lpstr>PowerPoint 演示文稿</vt:lpstr>
      <vt:lpstr>面向对象的事件驱动程序设计</vt:lpstr>
      <vt:lpstr>Windows应用程序中的对象</vt:lpstr>
      <vt:lpstr>PowerPoint 演示文稿</vt:lpstr>
      <vt:lpstr>支持Windows应用开发的类库</vt:lpstr>
      <vt:lpstr>应用框架 （application framework）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实例</dc:title>
  <dc:creator>chenjiajun</dc:creator>
  <cp:lastModifiedBy>润泽 颜</cp:lastModifiedBy>
  <cp:revision>443</cp:revision>
  <dcterms:created xsi:type="dcterms:W3CDTF">2005-01-07T00:41:11Z</dcterms:created>
  <dcterms:modified xsi:type="dcterms:W3CDTF">2026-06-18T00:20:46Z</dcterms:modified>
</cp:coreProperties>
</file>