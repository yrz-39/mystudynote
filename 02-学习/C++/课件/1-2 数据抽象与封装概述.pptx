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0"/>
  </p:notesMasterIdLst>
  <p:handoutMasterIdLst>
    <p:handoutMasterId r:id="rId21"/>
  </p:handoutMasterIdLst>
  <p:sldIdLst>
    <p:sldId id="931" r:id="rId2"/>
    <p:sldId id="1036" r:id="rId3"/>
    <p:sldId id="1033" r:id="rId4"/>
    <p:sldId id="1037" r:id="rId5"/>
    <p:sldId id="993" r:id="rId6"/>
    <p:sldId id="1038" r:id="rId7"/>
    <p:sldId id="1011" r:id="rId8"/>
    <p:sldId id="1002" r:id="rId9"/>
    <p:sldId id="1003" r:id="rId10"/>
    <p:sldId id="1025" r:id="rId11"/>
    <p:sldId id="1004" r:id="rId12"/>
    <p:sldId id="1005" r:id="rId13"/>
    <p:sldId id="1026" r:id="rId14"/>
    <p:sldId id="1006" r:id="rId15"/>
    <p:sldId id="1007" r:id="rId16"/>
    <p:sldId id="1008" r:id="rId17"/>
    <p:sldId id="1009" r:id="rId18"/>
    <p:sldId id="1010" r:id="rId1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000000"/>
    <a:srgbClr val="00FFFF"/>
    <a:srgbClr val="85EDA0"/>
    <a:srgbClr val="00CCFF"/>
    <a:srgbClr val="FFFF99"/>
    <a:srgbClr val="FDAFB5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3" autoAdjust="0"/>
    <p:restoredTop sz="88874" autoAdjust="0"/>
  </p:normalViewPr>
  <p:slideViewPr>
    <p:cSldViewPr>
      <p:cViewPr varScale="1">
        <p:scale>
          <a:sx n="162" d="100"/>
          <a:sy n="162" d="100"/>
        </p:scale>
        <p:origin x="4338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1348"/>
    </p:cViewPr>
  </p:sorterViewPr>
  <p:notesViewPr>
    <p:cSldViewPr>
      <p:cViewPr>
        <p:scale>
          <a:sx n="75" d="100"/>
          <a:sy n="75" d="100"/>
        </p:scale>
        <p:origin x="-726" y="63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12E6B205-2885-0706-DD15-2B81025FD0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38455665-4E24-8EFF-B398-FD7CA19B39C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30C59D44-8DB5-6A6B-613B-A5A2317C8E8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F8DC0FBF-0B5A-2DB8-C0E1-C3D33916838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D72AC661-4AF8-402B-97D2-451549C0F12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FA412FCC-E223-4065-CE3E-C21FC0536A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7CA13C8-4807-E818-1526-B2EA24B863B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C751092-21AD-E48F-A62C-BAA6A2286B8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D40D9BE8-6F2F-1374-1CD0-9EBF76F4CEE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51966326-9AAB-CEBC-BB3B-88A310A45EB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CA99C618-A025-F491-C428-503B7944D0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E989BEFD-FEE4-43EF-BE6C-50ACF052467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5151921-718A-C9A7-3220-6B2D26FFBDE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584ED3-69DB-A0C1-3707-59BDCE85A5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50CBB9E-E37E-38B7-A9EC-8147672ED7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912342C-9B3C-AED7-57DF-BB30428BEAD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F46D6572-1248-9CE2-6D58-86C0B498DE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3BEE5A7F-CC18-306A-6669-D4A2F88FD1E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D44723B0-A616-C7D4-2447-3D20B4A97FC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A2064F3C-AD57-6A07-3421-C1D6A638351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8145BEDA-1C99-2125-0403-B4810094275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C3F09369-E4CE-4982-A856-DA85BC04EFF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44B17A89-F515-F8DA-18A2-8398B3E23B4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9A6EFF4E-A021-C597-BFFF-E93A288F72F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1923888E-FE65-1169-87D5-616A5F37BC1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D38D3EBF-191F-52C7-4356-14E65AB5587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9B0DE5DC-8639-E1E9-D1CE-08CC2CC9A40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3AB2B849-1379-1C9E-770C-26EAA67C09E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5A6427E2-D4C2-5D11-BF87-88E8651E4D9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869B8D23-FEC9-C41B-36E9-F8482540E17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7D5FF853-338B-327A-9EC2-1E0E8D4675D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8FBDA95A-2C06-5873-A162-AF8B37AF7EF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D3AB686E-849B-DAEC-EEE5-4E3E6B04E43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83A2EA72-F3E1-4CBE-962E-8A5C531784F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1029 w 717"/>
                <a:gd name="T1" fmla="*/ 845 h 845"/>
                <a:gd name="T2" fmla="*/ 1029 w 717"/>
                <a:gd name="T3" fmla="*/ 821 h 845"/>
                <a:gd name="T4" fmla="*/ 842 w 717"/>
                <a:gd name="T5" fmla="*/ 605 h 845"/>
                <a:gd name="T6" fmla="*/ 542 w 717"/>
                <a:gd name="T7" fmla="*/ 396 h 845"/>
                <a:gd name="T8" fmla="*/ 355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43 w 717"/>
                <a:gd name="T15" fmla="*/ 198 h 845"/>
                <a:gd name="T16" fmla="*/ 534 w 717"/>
                <a:gd name="T17" fmla="*/ 408 h 845"/>
                <a:gd name="T18" fmla="*/ 836 w 717"/>
                <a:gd name="T19" fmla="*/ 623 h 845"/>
                <a:gd name="T20" fmla="*/ 1029 w 717"/>
                <a:gd name="T21" fmla="*/ 845 h 845"/>
                <a:gd name="T22" fmla="*/ 102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9FF326D6-4592-F7EA-BE30-FC1E1CB6780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41 w 407"/>
                <a:gd name="T1" fmla="*/ 414 h 414"/>
                <a:gd name="T2" fmla="*/ 541 w 407"/>
                <a:gd name="T3" fmla="*/ 396 h 414"/>
                <a:gd name="T4" fmla="*/ 356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50 w 407"/>
                <a:gd name="T13" fmla="*/ 204 h 414"/>
                <a:gd name="T14" fmla="*/ 541 w 407"/>
                <a:gd name="T15" fmla="*/ 414 h 414"/>
                <a:gd name="T16" fmla="*/ 541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368040FC-44B8-09F2-AADB-0D0B75A69AD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42507811-487B-E933-B9C9-D2237067AF2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914 w 586"/>
                <a:gd name="T1" fmla="*/ 0 h 599"/>
                <a:gd name="T2" fmla="*/ 887 w 586"/>
                <a:gd name="T3" fmla="*/ 0 h 599"/>
                <a:gd name="T4" fmla="*/ 642 w 586"/>
                <a:gd name="T5" fmla="*/ 132 h 599"/>
                <a:gd name="T6" fmla="*/ 391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91 w 586"/>
                <a:gd name="T17" fmla="*/ 282 h 599"/>
                <a:gd name="T18" fmla="*/ 654 w 586"/>
                <a:gd name="T19" fmla="*/ 138 h 599"/>
                <a:gd name="T20" fmla="*/ 914 w 586"/>
                <a:gd name="T21" fmla="*/ 0 h 599"/>
                <a:gd name="T22" fmla="*/ 91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D8856D8C-A45D-1E5A-A07A-8EC3E72FC52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403 w 269"/>
                <a:gd name="T1" fmla="*/ 0 h 252"/>
                <a:gd name="T2" fmla="*/ 385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403 w 269"/>
                <a:gd name="T15" fmla="*/ 0 h 252"/>
                <a:gd name="T16" fmla="*/ 403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4B83C761-0749-FC55-DFEF-C1894D42C4F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7A9EC05F-F043-54C4-45AC-ECD9994EA8C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BFBFC546-4DF4-D34A-44CF-E1EFE14AD14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8C0571C4-2BB0-9F5E-8FF5-9D36309BB5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81F354B7-1B18-07A5-6DB1-392A772FB19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3B58CD26-0909-EE72-6B25-FC4850DC1EE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15AE230C-3AFA-B1DC-F6A9-A615B1B4FA5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2C2098A5-2044-AAC7-3E52-78F086E20CE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594B1AAE-60B3-5E5A-9241-6FD5ED9A4D6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87EC12DC-A13D-8A95-8139-433EF36E313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F6E250B3-D2DC-CFCE-06EF-5CBCB0537C2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EF57B7E5-199B-31A0-7FB2-1AFB289D653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3E76C270-3C74-2547-2C90-EEDC4C20B2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88A2BBA7-80C0-11E1-2F75-8CAA5B48BB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C9AF4-48AD-4653-B1D4-C5EA6E8D53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727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DB47A0E5-C4CC-0DCC-7BD9-B9EA0FB896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1FD0CEF2-9D11-5540-197B-36EBDF498C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BA2F8BD0-F95E-E565-604F-026A13DEE8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8AF58D-81C7-4A11-8470-F1DB88C5ED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348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E9ABF6FE-B7AE-B3E1-C097-2CA0DD1D6E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910F7AD2-CF6B-0ECD-D5CA-0E1F564673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8752D174-1EFB-7B4F-3725-96CF9F9095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586478-50CB-408A-BA45-51BEE3D764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945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209CEEFB-5150-44E0-599D-BE8D7B0955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D29F6F5-64CB-83DE-F200-C8B1FD1182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FB2032B0-9921-50D6-01DF-299184F400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A43AD6-D0CD-48AC-8722-D5806BEA34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0820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C96535F2-3448-E038-618E-CE8E9B66C9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CA6F0EBE-4D3D-1D9E-646E-5D413228E9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B180BC1D-BD1E-1981-0604-0197935894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268880-BAAB-41A2-82A0-D798828D84E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546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26E6FFD8-0321-5F25-1C91-79DA3D1AD1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90675DFE-A6B2-327A-86C4-CDA66B0BE0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58E94C95-AF97-7DA3-3BA7-5F208072C3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224B75-37E3-4B4B-B495-A4E30235C1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4926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A5C6570C-60BD-4167-7F45-EE029DD264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76ABB4AB-DF62-57C8-9738-E5984834FB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B24B20C8-9B80-A9FC-6D2F-E053244B45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722DE9-7F2A-4B61-ADD2-DDDAD37E37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307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DC2FDDBD-5A09-9284-5D49-972D2E210A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880D8687-D294-D728-D1EC-414B259D27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FDD3BD86-7F4F-2147-7EDB-9464DC4168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1C54F8-5EF3-4B10-B8F1-9E1613010B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0364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9FD47D75-79E6-99EC-BE2B-1995060766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5A5FD38F-7947-2CDB-D4DE-219C3C462C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F6FB6517-6086-E618-9EAE-D718837762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1AD802-FDB7-43C3-A75C-1A9C9DB639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479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03E2A8CD-EEA1-63C3-76DC-C41F5264CF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794DF523-9F9C-DC76-E9BF-2427DFC640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2C805B47-8B82-6EA4-871C-3F43A3BD62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7EC29F-8F7F-4FDB-81D1-72FBCC9BDC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54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7DC9E48A-6DBE-6C9A-B5FA-CE2AEAB82A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1689C5D2-A321-AE72-E09D-8C4C55FDE7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40C1F310-06B9-2126-410C-F18C814094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07746-C885-4D5E-BAF2-E8839815BE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863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89700">
              <a:srgbClr val="002C58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A38AD340-654D-EDBB-56CE-C59CB83936C8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>
              <a:extLst>
                <a:ext uri="{FF2B5EF4-FFF2-40B4-BE49-F238E27FC236}">
                  <a16:creationId xmlns:a16="http://schemas.microsoft.com/office/drawing/2014/main" id="{9A042657-2D5B-2FEF-7168-829C3E2C294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44" name="Freeform 4">
              <a:extLst>
                <a:ext uri="{FF2B5EF4-FFF2-40B4-BE49-F238E27FC236}">
                  <a16:creationId xmlns:a16="http://schemas.microsoft.com/office/drawing/2014/main" id="{25893A69-F14A-CA40-E4CB-49584C8B26A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45" name="Freeform 5">
              <a:extLst>
                <a:ext uri="{FF2B5EF4-FFF2-40B4-BE49-F238E27FC236}">
                  <a16:creationId xmlns:a16="http://schemas.microsoft.com/office/drawing/2014/main" id="{4A61E36C-B598-8813-0429-91F681E6681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F97B0411-7CE7-7829-7317-AF1A367C2D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>
                <a:extLst>
                  <a:ext uri="{FF2B5EF4-FFF2-40B4-BE49-F238E27FC236}">
                    <a16:creationId xmlns:a16="http://schemas.microsoft.com/office/drawing/2014/main" id="{809F4C97-04FB-84B7-7B93-396E7BF0357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48" name="Freeform 8">
                <a:extLst>
                  <a:ext uri="{FF2B5EF4-FFF2-40B4-BE49-F238E27FC236}">
                    <a16:creationId xmlns:a16="http://schemas.microsoft.com/office/drawing/2014/main" id="{2418F8C3-45FC-BD00-5E4B-0F9FABB654F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49" name="Freeform 9">
                <a:extLst>
                  <a:ext uri="{FF2B5EF4-FFF2-40B4-BE49-F238E27FC236}">
                    <a16:creationId xmlns:a16="http://schemas.microsoft.com/office/drawing/2014/main" id="{599F2C40-7990-D479-845E-AC3714A3715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0" name="Freeform 10">
                <a:extLst>
                  <a:ext uri="{FF2B5EF4-FFF2-40B4-BE49-F238E27FC236}">
                    <a16:creationId xmlns:a16="http://schemas.microsoft.com/office/drawing/2014/main" id="{0B864505-2821-3510-19D9-A95ACE2BF4E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1" name="Freeform 11">
                <a:extLst>
                  <a:ext uri="{FF2B5EF4-FFF2-40B4-BE49-F238E27FC236}">
                    <a16:creationId xmlns:a16="http://schemas.microsoft.com/office/drawing/2014/main" id="{6458E6E0-8BE0-CEBB-FDA9-E38CEB74444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2" name="Freeform 12">
                <a:extLst>
                  <a:ext uri="{FF2B5EF4-FFF2-40B4-BE49-F238E27FC236}">
                    <a16:creationId xmlns:a16="http://schemas.microsoft.com/office/drawing/2014/main" id="{BCA0AE61-6360-BCFF-792B-320AD15CF9A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3" name="Freeform 13">
                <a:extLst>
                  <a:ext uri="{FF2B5EF4-FFF2-40B4-BE49-F238E27FC236}">
                    <a16:creationId xmlns:a16="http://schemas.microsoft.com/office/drawing/2014/main" id="{7AEACADF-ACA1-A9DA-6265-E3469679B21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4" name="Freeform 14">
                <a:extLst>
                  <a:ext uri="{FF2B5EF4-FFF2-40B4-BE49-F238E27FC236}">
                    <a16:creationId xmlns:a16="http://schemas.microsoft.com/office/drawing/2014/main" id="{EC742732-32DF-722A-C7E3-995B8DFF9D9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5" name="Freeform 15">
                <a:extLst>
                  <a:ext uri="{FF2B5EF4-FFF2-40B4-BE49-F238E27FC236}">
                    <a16:creationId xmlns:a16="http://schemas.microsoft.com/office/drawing/2014/main" id="{7DA43B7A-E2C2-9D93-80D5-D4BB9930D55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6" name="Freeform 16">
                <a:extLst>
                  <a:ext uri="{FF2B5EF4-FFF2-40B4-BE49-F238E27FC236}">
                    <a16:creationId xmlns:a16="http://schemas.microsoft.com/office/drawing/2014/main" id="{02011627-B2BF-093D-91A6-9A1FC4C9281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7" name="Freeform 17">
                <a:extLst>
                  <a:ext uri="{FF2B5EF4-FFF2-40B4-BE49-F238E27FC236}">
                    <a16:creationId xmlns:a16="http://schemas.microsoft.com/office/drawing/2014/main" id="{6847C260-5A1B-1C23-A8E0-5069418C195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8" name="Freeform 18">
                <a:extLst>
                  <a:ext uri="{FF2B5EF4-FFF2-40B4-BE49-F238E27FC236}">
                    <a16:creationId xmlns:a16="http://schemas.microsoft.com/office/drawing/2014/main" id="{267B40E9-8147-F272-C758-AEBB86CB3CA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  <p:sp>
            <p:nvSpPr>
              <p:cNvPr id="1264659" name="Freeform 19">
                <a:extLst>
                  <a:ext uri="{FF2B5EF4-FFF2-40B4-BE49-F238E27FC236}">
                    <a16:creationId xmlns:a16="http://schemas.microsoft.com/office/drawing/2014/main" id="{A0234FBA-5E8D-3126-30D3-269273937E9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 sz="1800"/>
              </a:p>
            </p:txBody>
          </p:sp>
        </p:grpSp>
        <p:sp>
          <p:nvSpPr>
            <p:cNvPr id="1264660" name="Freeform 20">
              <a:extLst>
                <a:ext uri="{FF2B5EF4-FFF2-40B4-BE49-F238E27FC236}">
                  <a16:creationId xmlns:a16="http://schemas.microsoft.com/office/drawing/2014/main" id="{572AC2B7-D149-CC6E-707D-7BFDFB0A0DE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61" name="Freeform 21">
              <a:extLst>
                <a:ext uri="{FF2B5EF4-FFF2-40B4-BE49-F238E27FC236}">
                  <a16:creationId xmlns:a16="http://schemas.microsoft.com/office/drawing/2014/main" id="{3EC6FE36-400C-724E-0A3C-DD4DF290C46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264662" name="Freeform 22">
              <a:extLst>
                <a:ext uri="{FF2B5EF4-FFF2-40B4-BE49-F238E27FC236}">
                  <a16:creationId xmlns:a16="http://schemas.microsoft.com/office/drawing/2014/main" id="{C49BCFEF-F4AA-BCC8-6306-6874A84ECDE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F18449F5-6B47-8888-1A21-D6A621E7E77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1029 w 717"/>
                <a:gd name="T1" fmla="*/ 845 h 845"/>
                <a:gd name="T2" fmla="*/ 1029 w 717"/>
                <a:gd name="T3" fmla="*/ 821 h 845"/>
                <a:gd name="T4" fmla="*/ 842 w 717"/>
                <a:gd name="T5" fmla="*/ 605 h 845"/>
                <a:gd name="T6" fmla="*/ 542 w 717"/>
                <a:gd name="T7" fmla="*/ 396 h 845"/>
                <a:gd name="T8" fmla="*/ 355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43 w 717"/>
                <a:gd name="T15" fmla="*/ 198 h 845"/>
                <a:gd name="T16" fmla="*/ 534 w 717"/>
                <a:gd name="T17" fmla="*/ 408 h 845"/>
                <a:gd name="T18" fmla="*/ 836 w 717"/>
                <a:gd name="T19" fmla="*/ 623 h 845"/>
                <a:gd name="T20" fmla="*/ 1029 w 717"/>
                <a:gd name="T21" fmla="*/ 845 h 845"/>
                <a:gd name="T22" fmla="*/ 102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2B01944F-71E1-2B2A-86B1-50217DB9719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41 w 407"/>
                <a:gd name="T1" fmla="*/ 414 h 414"/>
                <a:gd name="T2" fmla="*/ 541 w 407"/>
                <a:gd name="T3" fmla="*/ 396 h 414"/>
                <a:gd name="T4" fmla="*/ 356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50 w 407"/>
                <a:gd name="T13" fmla="*/ 204 h 414"/>
                <a:gd name="T14" fmla="*/ 541 w 407"/>
                <a:gd name="T15" fmla="*/ 414 h 414"/>
                <a:gd name="T16" fmla="*/ 541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4665" name="Freeform 25">
              <a:extLst>
                <a:ext uri="{FF2B5EF4-FFF2-40B4-BE49-F238E27FC236}">
                  <a16:creationId xmlns:a16="http://schemas.microsoft.com/office/drawing/2014/main" id="{8EBD3F80-BE9B-DC37-017F-46B904534E8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 sz="1800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24EE6C53-F071-7930-C291-0C6D9C7698E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914 w 586"/>
                <a:gd name="T1" fmla="*/ 0 h 599"/>
                <a:gd name="T2" fmla="*/ 887 w 586"/>
                <a:gd name="T3" fmla="*/ 0 h 599"/>
                <a:gd name="T4" fmla="*/ 642 w 586"/>
                <a:gd name="T5" fmla="*/ 132 h 599"/>
                <a:gd name="T6" fmla="*/ 391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91 w 586"/>
                <a:gd name="T17" fmla="*/ 282 h 599"/>
                <a:gd name="T18" fmla="*/ 654 w 586"/>
                <a:gd name="T19" fmla="*/ 138 h 599"/>
                <a:gd name="T20" fmla="*/ 914 w 586"/>
                <a:gd name="T21" fmla="*/ 0 h 599"/>
                <a:gd name="T22" fmla="*/ 91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6061A5D5-EB09-CF62-7E2A-C5ED2E8D2B4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403 w 269"/>
                <a:gd name="T1" fmla="*/ 0 h 252"/>
                <a:gd name="T2" fmla="*/ 385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403 w 269"/>
                <a:gd name="T15" fmla="*/ 0 h 252"/>
                <a:gd name="T16" fmla="*/ 403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1872296F-6EE2-9D44-C848-18F99997F0CF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9BFA03B0-C454-F37C-8DBA-01AF1C1EF57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D096C194-AAD8-3532-E351-2E39483069D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DCB8AF1E-4C38-36FE-0271-B535B261EF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3C102AB3-908C-1D2B-99A5-F54B8C12791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987A63F1-ED12-0CEF-5B5F-380E923E601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14306359-DB4D-E3D1-2EFE-81E0B8CE186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64884437-4019-2237-13C2-F5904924DCA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BFBB5B48-47CA-0144-6DA3-BC1A297043B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09653099-C6DC-552D-8D73-36696617BB0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CC83EF14-D553-13AB-2CB9-95C3F1EE56A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4679" name="Rectangle 39">
            <a:extLst>
              <a:ext uri="{FF2B5EF4-FFF2-40B4-BE49-F238E27FC236}">
                <a16:creationId xmlns:a16="http://schemas.microsoft.com/office/drawing/2014/main" id="{C2DD9AF3-6DFB-3C5E-361C-2B00E9C1F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264680" name="Rectangle 40">
            <a:extLst>
              <a:ext uri="{FF2B5EF4-FFF2-40B4-BE49-F238E27FC236}">
                <a16:creationId xmlns:a16="http://schemas.microsoft.com/office/drawing/2014/main" id="{A7DB8E89-28A2-CB59-65BB-4F132920D5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4681" name="Rectangle 41">
            <a:extLst>
              <a:ext uri="{FF2B5EF4-FFF2-40B4-BE49-F238E27FC236}">
                <a16:creationId xmlns:a16="http://schemas.microsoft.com/office/drawing/2014/main" id="{EB895197-A5AE-AB93-EED3-20C776DF3D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64682" name="Rectangle 42">
            <a:extLst>
              <a:ext uri="{FF2B5EF4-FFF2-40B4-BE49-F238E27FC236}">
                <a16:creationId xmlns:a16="http://schemas.microsoft.com/office/drawing/2014/main" id="{9CAB97A6-F0C7-DE4E-1EAE-73D00AB5DC8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1C9C296A-64B2-47A2-B574-AD0097566EF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264683" name="Rectangle 43">
            <a:extLst>
              <a:ext uri="{FF2B5EF4-FFF2-40B4-BE49-F238E27FC236}">
                <a16:creationId xmlns:a16="http://schemas.microsoft.com/office/drawing/2014/main" id="{62B21904-B390-1E24-0885-3B4E3CBD8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416" r:id="rId1"/>
    <p:sldLayoutId id="2147485406" r:id="rId2"/>
    <p:sldLayoutId id="2147485407" r:id="rId3"/>
    <p:sldLayoutId id="2147485408" r:id="rId4"/>
    <p:sldLayoutId id="2147485409" r:id="rId5"/>
    <p:sldLayoutId id="2147485410" r:id="rId6"/>
    <p:sldLayoutId id="2147485411" r:id="rId7"/>
    <p:sldLayoutId id="2147485412" r:id="rId8"/>
    <p:sldLayoutId id="2147485413" r:id="rId9"/>
    <p:sldLayoutId id="2147485414" r:id="rId10"/>
    <p:sldLayoutId id="214748541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714" name="Rectangle 2">
            <a:extLst>
              <a:ext uri="{FF2B5EF4-FFF2-40B4-BE49-F238E27FC236}">
                <a16:creationId xmlns:a16="http://schemas.microsoft.com/office/drawing/2014/main" id="{FF0488E5-E7B2-9DEC-2149-A3BF11DD8F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数据抽象与封装概述</a:t>
            </a:r>
          </a:p>
        </p:txBody>
      </p:sp>
      <p:sp>
        <p:nvSpPr>
          <p:cNvPr id="1267715" name="Rectangle 3">
            <a:extLst>
              <a:ext uri="{FF2B5EF4-FFF2-40B4-BE49-F238E27FC236}">
                <a16:creationId xmlns:a16="http://schemas.microsoft.com/office/drawing/2014/main" id="{F2568C6B-9EBD-B4D2-259E-128AD44ED3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97B8A5-9E42-4502-A5DB-1C2A5042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抽象与封装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1070CC-C2C0-29BD-F0F9-20BA3AE0D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068888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抽象与封装是两个重要的程序设计手段，主要是用来驾驭程序的复杂度，便于</a:t>
            </a:r>
            <a:r>
              <a:rPr lang="zh-CN" altLang="en-US" dirty="0">
                <a:solidFill>
                  <a:srgbClr val="FFC000"/>
                </a:solidFill>
              </a:rPr>
              <a:t>大型程序</a:t>
            </a:r>
            <a:r>
              <a:rPr lang="zh-CN" altLang="en-US" dirty="0"/>
              <a:t>的设计、理解与维护。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对于一个程序实体而言，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抽象</a:t>
            </a:r>
            <a:r>
              <a:rPr lang="zh-CN" altLang="en-US" dirty="0"/>
              <a:t>强调的是该程序实体的外部可观察到的行为，不考虑该程序实体的内部是如何实现的。（控制复杂度）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封装</a:t>
            </a:r>
            <a:r>
              <a:rPr lang="zh-CN" altLang="en-US" dirty="0"/>
              <a:t>是指把该程序实体内部的具体实现细节对使用者隐藏起来，只对外提供一个接口。（信息保护）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抽象是一种思维方式，而封装则是一种基于抽象的操作方法</a:t>
            </a:r>
            <a:endParaRPr lang="en-US" altLang="zh-CN" dirty="0">
              <a:solidFill>
                <a:srgbClr val="FFC000"/>
              </a:solidFill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主要的程序抽象与封装机制包括：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过程抽象与封装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数据抽象与封装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F7F82-C712-B533-8927-6113DA1F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过程抽象与封装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7454C6-41F5-6E81-5748-A203E3E53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313"/>
            <a:ext cx="8229600" cy="514191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过程抽象</a:t>
            </a:r>
            <a:endParaRPr lang="en-US" altLang="zh-CN" dirty="0">
              <a:solidFill>
                <a:srgbClr val="FFC000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dirty="0"/>
              <a:t>用一个名字来代表一段完成一定功能的程序代码，代码的使用者只需要知道代码的名字以及相应的功能。</a:t>
            </a:r>
            <a:endParaRPr lang="en-US" altLang="zh-CN" dirty="0"/>
          </a:p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过程封装</a:t>
            </a:r>
            <a:endParaRPr lang="en-US" altLang="zh-CN" dirty="0">
              <a:solidFill>
                <a:srgbClr val="FFC000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把代码的具体实现隐藏起来（对使用者不可见，或不可直接访问），使用者只能通过代码名字来使用相应的代码。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代码所需要的数据是通过参数（或全局变量）来获得，计算结果通过返回值机制（或全局变量）返回。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在</a:t>
            </a:r>
            <a:r>
              <a:rPr lang="en-US" altLang="zh-CN" dirty="0"/>
              <a:t>C/C++</a:t>
            </a:r>
            <a:r>
              <a:rPr lang="zh-CN" altLang="en-US" dirty="0"/>
              <a:t>语言中，实现过程抽象与封装的程序一般用</a:t>
            </a:r>
            <a:r>
              <a:rPr lang="zh-CN" altLang="en-US" dirty="0">
                <a:solidFill>
                  <a:srgbClr val="FFC000"/>
                </a:solidFill>
              </a:rPr>
              <a:t>函数</a:t>
            </a:r>
            <a:r>
              <a:rPr lang="zh-CN" altLang="en-US" dirty="0"/>
              <a:t>来表示。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81AE916-9ACF-98ED-BC18-05213DB24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88" y="260350"/>
            <a:ext cx="8229600" cy="11080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/>
              <a:t>过程抽象与封装是基于功能分解与复合的</a:t>
            </a:r>
            <a:r>
              <a:rPr lang="zh-CN" altLang="en-US" dirty="0">
                <a:solidFill>
                  <a:srgbClr val="FFC000"/>
                </a:solidFill>
              </a:rPr>
              <a:t>过程式程序设计</a:t>
            </a:r>
            <a:r>
              <a:rPr lang="zh-CN" altLang="en-US" dirty="0"/>
              <a:t>的基础。</a:t>
            </a:r>
            <a:endParaRPr lang="en-US" altLang="zh-CN" dirty="0"/>
          </a:p>
        </p:txBody>
      </p:sp>
      <p:grpSp>
        <p:nvGrpSpPr>
          <p:cNvPr id="8195" name="Group 4">
            <a:extLst>
              <a:ext uri="{FF2B5EF4-FFF2-40B4-BE49-F238E27FC236}">
                <a16:creationId xmlns:a16="http://schemas.microsoft.com/office/drawing/2014/main" id="{BA301FED-7381-C284-9531-0A6FA294DFF6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1622425"/>
            <a:ext cx="5402262" cy="4975225"/>
            <a:chOff x="158" y="935"/>
            <a:chExt cx="2960" cy="3154"/>
          </a:xfrm>
        </p:grpSpPr>
        <p:grpSp>
          <p:nvGrpSpPr>
            <p:cNvPr id="8197" name="Group 5">
              <a:extLst>
                <a:ext uri="{FF2B5EF4-FFF2-40B4-BE49-F238E27FC236}">
                  <a16:creationId xmlns:a16="http://schemas.microsoft.com/office/drawing/2014/main" id="{EF2DD13D-B8BB-AF93-0535-7AA47F63E0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" y="1029"/>
              <a:ext cx="2948" cy="2677"/>
              <a:chOff x="742" y="2528"/>
              <a:chExt cx="2376" cy="1792"/>
            </a:xfrm>
          </p:grpSpPr>
          <p:sp>
            <p:nvSpPr>
              <p:cNvPr id="8200" name="Oval 6">
                <a:extLst>
                  <a:ext uri="{FF2B5EF4-FFF2-40B4-BE49-F238E27FC236}">
                    <a16:creationId xmlns:a16="http://schemas.microsoft.com/office/drawing/2014/main" id="{6EC3DA50-92B1-8317-FA9C-CC225DBF4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0" y="2528"/>
                <a:ext cx="1872" cy="60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01" name="Rectangle 7">
                <a:extLst>
                  <a:ext uri="{FF2B5EF4-FFF2-40B4-BE49-F238E27FC236}">
                    <a16:creationId xmlns:a16="http://schemas.microsoft.com/office/drawing/2014/main" id="{E6253747-B158-06DD-7DF3-79987B7C1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" y="3544"/>
                <a:ext cx="288" cy="16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02" name="Line 8">
                <a:extLst>
                  <a:ext uri="{FF2B5EF4-FFF2-40B4-BE49-F238E27FC236}">
                    <a16:creationId xmlns:a16="http://schemas.microsoft.com/office/drawing/2014/main" id="{ED064016-A892-4B6E-164A-83FE869A97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2" y="3339"/>
                <a:ext cx="2376" cy="0"/>
              </a:xfrm>
              <a:prstGeom prst="line">
                <a:avLst/>
              </a:prstGeom>
              <a:noFill/>
              <a:ln w="19050" cap="rnd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3" name="Rectangle 9">
                <a:extLst>
                  <a:ext uri="{FF2B5EF4-FFF2-40B4-BE49-F238E27FC236}">
                    <a16:creationId xmlns:a16="http://schemas.microsoft.com/office/drawing/2014/main" id="{DEAEFFE5-F244-3377-2FA2-26791AC4F1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" y="3838"/>
                <a:ext cx="288" cy="17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04" name="Rectangle 10">
                <a:extLst>
                  <a:ext uri="{FF2B5EF4-FFF2-40B4-BE49-F238E27FC236}">
                    <a16:creationId xmlns:a16="http://schemas.microsoft.com/office/drawing/2014/main" id="{D57E80DD-1525-C4D2-0A22-74E90C1BC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2" y="4150"/>
                <a:ext cx="288" cy="17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05" name="Rectangle 11">
                <a:extLst>
                  <a:ext uri="{FF2B5EF4-FFF2-40B4-BE49-F238E27FC236}">
                    <a16:creationId xmlns:a16="http://schemas.microsoft.com/office/drawing/2014/main" id="{94BB64BC-9DC5-34B4-DA4D-61E147DC8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6" y="3838"/>
                <a:ext cx="288" cy="17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06" name="Rectangle 12">
                <a:extLst>
                  <a:ext uri="{FF2B5EF4-FFF2-40B4-BE49-F238E27FC236}">
                    <a16:creationId xmlns:a16="http://schemas.microsoft.com/office/drawing/2014/main" id="{86A87094-21E4-1E54-2D0F-ED09CE20B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" y="3838"/>
                <a:ext cx="288" cy="17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07" name="Rectangle 13">
                <a:extLst>
                  <a:ext uri="{FF2B5EF4-FFF2-40B4-BE49-F238E27FC236}">
                    <a16:creationId xmlns:a16="http://schemas.microsoft.com/office/drawing/2014/main" id="{959CE014-8C40-6BAE-B476-1533C9EBE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6" y="4150"/>
                <a:ext cx="288" cy="17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8208" name="Line 14">
                <a:extLst>
                  <a:ext uri="{FF2B5EF4-FFF2-40B4-BE49-F238E27FC236}">
                    <a16:creationId xmlns:a16="http://schemas.microsoft.com/office/drawing/2014/main" id="{EB201AD6-E25C-8A42-4E10-BB2C2FAD36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6" y="3713"/>
                <a:ext cx="0" cy="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9" name="Line 15">
                <a:extLst>
                  <a:ext uri="{FF2B5EF4-FFF2-40B4-BE49-F238E27FC236}">
                    <a16:creationId xmlns:a16="http://schemas.microsoft.com/office/drawing/2014/main" id="{C2FC883B-C42F-CE5C-5CFA-3B5D50799C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62" y="3713"/>
                <a:ext cx="504" cy="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0" name="Line 16">
                <a:extLst>
                  <a:ext uri="{FF2B5EF4-FFF2-40B4-BE49-F238E27FC236}">
                    <a16:creationId xmlns:a16="http://schemas.microsoft.com/office/drawing/2014/main" id="{0E9A4DDE-1A5D-4234-BB3F-E4CC75875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6" y="3713"/>
                <a:ext cx="504" cy="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1" name="Line 17">
                <a:extLst>
                  <a:ext uri="{FF2B5EF4-FFF2-40B4-BE49-F238E27FC236}">
                    <a16:creationId xmlns:a16="http://schemas.microsoft.com/office/drawing/2014/main" id="{D2929F15-1814-8D0A-FF03-589FC7634F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6" y="4025"/>
                <a:ext cx="216" cy="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2" name="Line 18">
                <a:extLst>
                  <a:ext uri="{FF2B5EF4-FFF2-40B4-BE49-F238E27FC236}">
                    <a16:creationId xmlns:a16="http://schemas.microsoft.com/office/drawing/2014/main" id="{F7DAF114-051F-5128-3905-04593D7F8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2" y="4025"/>
                <a:ext cx="288" cy="1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3" name="Freeform 19">
                <a:extLst>
                  <a:ext uri="{FF2B5EF4-FFF2-40B4-BE49-F238E27FC236}">
                    <a16:creationId xmlns:a16="http://schemas.microsoft.com/office/drawing/2014/main" id="{22B107E2-1AD9-AB0A-CCFC-9039E3008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6" y="2902"/>
                <a:ext cx="676" cy="692"/>
              </a:xfrm>
              <a:custGeom>
                <a:avLst/>
                <a:gdLst>
                  <a:gd name="T0" fmla="*/ 0 w 1800"/>
                  <a:gd name="T1" fmla="*/ 0 h 2028"/>
                  <a:gd name="T2" fmla="*/ 0 w 1800"/>
                  <a:gd name="T3" fmla="*/ 0 h 2028"/>
                  <a:gd name="T4" fmla="*/ 0 w 1800"/>
                  <a:gd name="T5" fmla="*/ 0 h 2028"/>
                  <a:gd name="T6" fmla="*/ 0 60000 65536"/>
                  <a:gd name="T7" fmla="*/ 0 60000 65536"/>
                  <a:gd name="T8" fmla="*/ 0 60000 65536"/>
                  <a:gd name="T9" fmla="*/ 0 w 1800"/>
                  <a:gd name="T10" fmla="*/ 0 h 2028"/>
                  <a:gd name="T11" fmla="*/ 1800 w 1800"/>
                  <a:gd name="T12" fmla="*/ 2028 h 20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00" h="2028">
                    <a:moveTo>
                      <a:pt x="1800" y="2028"/>
                    </a:moveTo>
                    <a:cubicBezTo>
                      <a:pt x="1410" y="1885"/>
                      <a:pt x="1020" y="1742"/>
                      <a:pt x="720" y="1404"/>
                    </a:cubicBezTo>
                    <a:cubicBezTo>
                      <a:pt x="420" y="1066"/>
                      <a:pt x="60" y="286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4" name="Freeform 20">
                <a:extLst>
                  <a:ext uri="{FF2B5EF4-FFF2-40B4-BE49-F238E27FC236}">
                    <a16:creationId xmlns:a16="http://schemas.microsoft.com/office/drawing/2014/main" id="{30FF8D03-5088-6D3C-7DD3-C4B96AC77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0" y="2902"/>
                <a:ext cx="360" cy="999"/>
              </a:xfrm>
              <a:custGeom>
                <a:avLst/>
                <a:gdLst>
                  <a:gd name="T0" fmla="*/ 0 w 720"/>
                  <a:gd name="T1" fmla="*/ 0 h 2964"/>
                  <a:gd name="T2" fmla="*/ 1 w 720"/>
                  <a:gd name="T3" fmla="*/ 0 h 2964"/>
                  <a:gd name="T4" fmla="*/ 0 w 720"/>
                  <a:gd name="T5" fmla="*/ 0 h 2964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2964"/>
                  <a:gd name="T11" fmla="*/ 720 w 720"/>
                  <a:gd name="T12" fmla="*/ 2964 h 29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2964">
                    <a:moveTo>
                      <a:pt x="0" y="2964"/>
                    </a:moveTo>
                    <a:cubicBezTo>
                      <a:pt x="360" y="2509"/>
                      <a:pt x="720" y="2054"/>
                      <a:pt x="720" y="1560"/>
                    </a:cubicBezTo>
                    <a:cubicBezTo>
                      <a:pt x="720" y="1066"/>
                      <a:pt x="120" y="234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5" name="Freeform 21">
                <a:extLst>
                  <a:ext uri="{FF2B5EF4-FFF2-40B4-BE49-F238E27FC236}">
                    <a16:creationId xmlns:a16="http://schemas.microsoft.com/office/drawing/2014/main" id="{5647E7B7-77E5-CFCE-8F96-D43FFA88F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4" y="2653"/>
                <a:ext cx="432" cy="1248"/>
              </a:xfrm>
              <a:custGeom>
                <a:avLst/>
                <a:gdLst>
                  <a:gd name="T0" fmla="*/ 0 w 1680"/>
                  <a:gd name="T1" fmla="*/ 0 h 2808"/>
                  <a:gd name="T2" fmla="*/ 0 w 1680"/>
                  <a:gd name="T3" fmla="*/ 0 h 2808"/>
                  <a:gd name="T4" fmla="*/ 0 w 1680"/>
                  <a:gd name="T5" fmla="*/ 0 h 2808"/>
                  <a:gd name="T6" fmla="*/ 0 60000 65536"/>
                  <a:gd name="T7" fmla="*/ 0 60000 65536"/>
                  <a:gd name="T8" fmla="*/ 0 60000 65536"/>
                  <a:gd name="T9" fmla="*/ 0 w 1680"/>
                  <a:gd name="T10" fmla="*/ 0 h 2808"/>
                  <a:gd name="T11" fmla="*/ 1680 w 1680"/>
                  <a:gd name="T12" fmla="*/ 2808 h 28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80" h="2808">
                    <a:moveTo>
                      <a:pt x="360" y="2808"/>
                    </a:moveTo>
                    <a:cubicBezTo>
                      <a:pt x="1020" y="2652"/>
                      <a:pt x="1680" y="2496"/>
                      <a:pt x="1620" y="2028"/>
                    </a:cubicBezTo>
                    <a:cubicBezTo>
                      <a:pt x="1560" y="1560"/>
                      <a:pt x="300" y="260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6" name="Freeform 22">
                <a:extLst>
                  <a:ext uri="{FF2B5EF4-FFF2-40B4-BE49-F238E27FC236}">
                    <a16:creationId xmlns:a16="http://schemas.microsoft.com/office/drawing/2014/main" id="{DD3B3C6D-9B5A-59EB-8CCB-4D46B2E290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840"/>
                <a:ext cx="576" cy="1061"/>
              </a:xfrm>
              <a:custGeom>
                <a:avLst/>
                <a:gdLst>
                  <a:gd name="T0" fmla="*/ 0 w 1860"/>
                  <a:gd name="T1" fmla="*/ 0 h 3276"/>
                  <a:gd name="T2" fmla="*/ 0 w 1860"/>
                  <a:gd name="T3" fmla="*/ 0 h 3276"/>
                  <a:gd name="T4" fmla="*/ 0 w 1860"/>
                  <a:gd name="T5" fmla="*/ 0 h 3276"/>
                  <a:gd name="T6" fmla="*/ 0 60000 65536"/>
                  <a:gd name="T7" fmla="*/ 0 60000 65536"/>
                  <a:gd name="T8" fmla="*/ 0 60000 65536"/>
                  <a:gd name="T9" fmla="*/ 0 w 1860"/>
                  <a:gd name="T10" fmla="*/ 0 h 3276"/>
                  <a:gd name="T11" fmla="*/ 1860 w 1860"/>
                  <a:gd name="T12" fmla="*/ 3276 h 32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" h="3276">
                    <a:moveTo>
                      <a:pt x="420" y="3276"/>
                    </a:moveTo>
                    <a:cubicBezTo>
                      <a:pt x="210" y="2847"/>
                      <a:pt x="0" y="2418"/>
                      <a:pt x="240" y="1872"/>
                    </a:cubicBezTo>
                    <a:cubicBezTo>
                      <a:pt x="480" y="1326"/>
                      <a:pt x="1470" y="260"/>
                      <a:pt x="186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7" name="Freeform 23">
                <a:extLst>
                  <a:ext uri="{FF2B5EF4-FFF2-40B4-BE49-F238E27FC236}">
                    <a16:creationId xmlns:a16="http://schemas.microsoft.com/office/drawing/2014/main" id="{AFCAF873-F995-DAE9-ABC8-2318B25EC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0" y="2715"/>
                <a:ext cx="1440" cy="1498"/>
              </a:xfrm>
              <a:custGeom>
                <a:avLst/>
                <a:gdLst>
                  <a:gd name="T0" fmla="*/ 0 w 3930"/>
                  <a:gd name="T1" fmla="*/ 0 h 4056"/>
                  <a:gd name="T2" fmla="*/ 0 w 3930"/>
                  <a:gd name="T3" fmla="*/ 0 h 4056"/>
                  <a:gd name="T4" fmla="*/ 0 w 3930"/>
                  <a:gd name="T5" fmla="*/ 0 h 4056"/>
                  <a:gd name="T6" fmla="*/ 0 60000 65536"/>
                  <a:gd name="T7" fmla="*/ 0 60000 65536"/>
                  <a:gd name="T8" fmla="*/ 0 60000 65536"/>
                  <a:gd name="T9" fmla="*/ 0 w 3930"/>
                  <a:gd name="T10" fmla="*/ 0 h 4056"/>
                  <a:gd name="T11" fmla="*/ 3930 w 3930"/>
                  <a:gd name="T12" fmla="*/ 4056 h 40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30" h="4056">
                    <a:moveTo>
                      <a:pt x="870" y="4056"/>
                    </a:moveTo>
                    <a:cubicBezTo>
                      <a:pt x="435" y="3692"/>
                      <a:pt x="0" y="3328"/>
                      <a:pt x="510" y="2652"/>
                    </a:cubicBezTo>
                    <a:cubicBezTo>
                      <a:pt x="1020" y="1976"/>
                      <a:pt x="2475" y="988"/>
                      <a:pt x="393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arrow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8" name="Freeform 24">
                <a:extLst>
                  <a:ext uri="{FF2B5EF4-FFF2-40B4-BE49-F238E27FC236}">
                    <a16:creationId xmlns:a16="http://schemas.microsoft.com/office/drawing/2014/main" id="{2C066C6B-3243-24D7-B37C-138E9AD732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" y="2715"/>
                <a:ext cx="144" cy="1498"/>
              </a:xfrm>
              <a:custGeom>
                <a:avLst/>
                <a:gdLst>
                  <a:gd name="T0" fmla="*/ 0 w 720"/>
                  <a:gd name="T1" fmla="*/ 0 h 4056"/>
                  <a:gd name="T2" fmla="*/ 0 w 720"/>
                  <a:gd name="T3" fmla="*/ 0 h 4056"/>
                  <a:gd name="T4" fmla="*/ 0 w 720"/>
                  <a:gd name="T5" fmla="*/ 0 h 4056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4056"/>
                  <a:gd name="T11" fmla="*/ 720 w 720"/>
                  <a:gd name="T12" fmla="*/ 4056 h 40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4056">
                    <a:moveTo>
                      <a:pt x="720" y="4056"/>
                    </a:moveTo>
                    <a:cubicBezTo>
                      <a:pt x="600" y="3614"/>
                      <a:pt x="480" y="3172"/>
                      <a:pt x="360" y="2496"/>
                    </a:cubicBezTo>
                    <a:cubicBezTo>
                      <a:pt x="240" y="1820"/>
                      <a:pt x="120" y="910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198" name="Text Box 25">
              <a:extLst>
                <a:ext uri="{FF2B5EF4-FFF2-40B4-BE49-F238E27FC236}">
                  <a16:creationId xmlns:a16="http://schemas.microsoft.com/office/drawing/2014/main" id="{E5ACFCB6-803E-A529-9CA3-0ABA300F5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935"/>
              <a:ext cx="458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Data</a:t>
              </a:r>
            </a:p>
          </p:txBody>
        </p:sp>
        <p:sp>
          <p:nvSpPr>
            <p:cNvPr id="8199" name="Text Box 26">
              <a:extLst>
                <a:ext uri="{FF2B5EF4-FFF2-40B4-BE49-F238E27FC236}">
                  <a16:creationId xmlns:a16="http://schemas.microsoft.com/office/drawing/2014/main" id="{24452CB3-739C-4C74-1771-F7FFF543B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" y="3838"/>
              <a:ext cx="115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Sub-programs</a:t>
              </a:r>
            </a:p>
          </p:txBody>
        </p:sp>
      </p:grpSp>
      <p:sp>
        <p:nvSpPr>
          <p:cNvPr id="8196" name="文本框 1">
            <a:extLst>
              <a:ext uri="{FF2B5EF4-FFF2-40B4-BE49-F238E27FC236}">
                <a16:creationId xmlns:a16="http://schemas.microsoft.com/office/drawing/2014/main" id="{29BDAEB6-C7A2-588B-3381-1E98A850E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813" y="5592763"/>
            <a:ext cx="3352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/>
              <a:t>过程实现了抽象与封装</a:t>
            </a:r>
            <a:endParaRPr lang="en-US" altLang="zh-CN" sz="2000"/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/>
              <a:t>数据是公开的，缺乏保护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570" name="Rectangle 2">
            <a:extLst>
              <a:ext uri="{FF2B5EF4-FFF2-40B4-BE49-F238E27FC236}">
                <a16:creationId xmlns:a16="http://schemas.microsoft.com/office/drawing/2014/main" id="{B2B61F56-1692-15C7-4029-DF5516BB02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数据抽象与封装</a:t>
            </a:r>
          </a:p>
        </p:txBody>
      </p:sp>
      <p:sp>
        <p:nvSpPr>
          <p:cNvPr id="1389571" name="Rectangle 3">
            <a:extLst>
              <a:ext uri="{FF2B5EF4-FFF2-40B4-BE49-F238E27FC236}">
                <a16:creationId xmlns:a16="http://schemas.microsoft.com/office/drawing/2014/main" id="{16F5FAA6-D73D-5FA3-9C01-A0E27F778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GB" dirty="0">
                <a:solidFill>
                  <a:srgbClr val="FFC000"/>
                </a:solidFill>
              </a:rPr>
              <a:t>数据抽象</a:t>
            </a:r>
            <a:endParaRPr lang="en-US" altLang="zh-CN" dirty="0">
              <a:solidFill>
                <a:srgbClr val="FFC000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只描述对数据能实施哪些</a:t>
            </a:r>
            <a:r>
              <a:rPr lang="zh-CN" altLang="en-US" dirty="0">
                <a:solidFill>
                  <a:srgbClr val="FFC000"/>
                </a:solidFill>
              </a:rPr>
              <a:t>操作</a:t>
            </a:r>
            <a:r>
              <a:rPr lang="zh-CN" altLang="en-US" dirty="0"/>
              <a:t>以及这些</a:t>
            </a:r>
            <a:r>
              <a:rPr lang="zh-CN" altLang="en-US" dirty="0">
                <a:solidFill>
                  <a:srgbClr val="FFC000"/>
                </a:solidFill>
              </a:rPr>
              <a:t>操作之间的关系</a:t>
            </a:r>
            <a:r>
              <a:rPr lang="zh-CN" altLang="en-US" dirty="0"/>
              <a:t>，数据的使用者不需要知道数据的具体表示形式。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GB" dirty="0">
                <a:solidFill>
                  <a:srgbClr val="FFC000"/>
                </a:solidFill>
              </a:rPr>
              <a:t>数据</a:t>
            </a:r>
            <a:r>
              <a:rPr lang="zh-CN" altLang="en-US" dirty="0">
                <a:solidFill>
                  <a:srgbClr val="FFC000"/>
                </a:solidFill>
              </a:rPr>
              <a:t>封装</a:t>
            </a:r>
            <a:endParaRPr lang="en-US" altLang="zh-CN" dirty="0">
              <a:solidFill>
                <a:srgbClr val="FFC000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dirty="0"/>
              <a:t>把数据及其操作作为一个</a:t>
            </a:r>
            <a:r>
              <a:rPr lang="zh-CN" altLang="en-GB" dirty="0">
                <a:solidFill>
                  <a:srgbClr val="FFC000"/>
                </a:solidFill>
              </a:rPr>
              <a:t>整体</a:t>
            </a:r>
            <a:r>
              <a:rPr lang="zh-CN" altLang="en-US" dirty="0">
                <a:solidFill>
                  <a:srgbClr val="FFC000"/>
                </a:solidFill>
              </a:rPr>
              <a:t>（封装体）</a:t>
            </a:r>
            <a:r>
              <a:rPr lang="zh-CN" altLang="en-GB" dirty="0"/>
              <a:t>来进行</a:t>
            </a:r>
            <a:r>
              <a:rPr lang="zh-CN" altLang="en-US" dirty="0"/>
              <a:t>实现，其中，</a:t>
            </a:r>
            <a:r>
              <a:rPr lang="zh-CN" altLang="zh-CN" dirty="0"/>
              <a:t>数据的</a:t>
            </a:r>
            <a:r>
              <a:rPr lang="zh-CN" altLang="zh-CN" dirty="0">
                <a:solidFill>
                  <a:srgbClr val="FFC000"/>
                </a:solidFill>
              </a:rPr>
              <a:t>具体表示</a:t>
            </a:r>
            <a:r>
              <a:rPr lang="zh-CN" altLang="en-US" dirty="0"/>
              <a:t>被隐藏起来（使用者</a:t>
            </a:r>
            <a:r>
              <a:rPr lang="zh-CN" altLang="zh-CN" dirty="0">
                <a:solidFill>
                  <a:srgbClr val="FFC000"/>
                </a:solidFill>
              </a:rPr>
              <a:t>不可见</a:t>
            </a:r>
            <a:r>
              <a:rPr lang="zh-CN" altLang="en-US" dirty="0"/>
              <a:t>，或不可直接访问）</a:t>
            </a:r>
            <a:r>
              <a:rPr lang="zh-CN" altLang="zh-CN" dirty="0"/>
              <a:t>，对数据的</a:t>
            </a:r>
            <a:r>
              <a:rPr lang="zh-CN" altLang="en-US" dirty="0"/>
              <a:t>访问（使用）</a:t>
            </a:r>
            <a:r>
              <a:rPr lang="zh-CN" altLang="zh-CN" dirty="0"/>
              <a:t>只能通过</a:t>
            </a:r>
            <a:r>
              <a:rPr lang="zh-CN" altLang="en-US" dirty="0"/>
              <a:t>封装体对外</a:t>
            </a:r>
            <a:r>
              <a:rPr lang="zh-CN" altLang="en-US" dirty="0">
                <a:solidFill>
                  <a:srgbClr val="FFC000"/>
                </a:solidFill>
              </a:rPr>
              <a:t>接口</a:t>
            </a:r>
            <a:r>
              <a:rPr lang="zh-CN" altLang="zh-CN" dirty="0"/>
              <a:t>提供</a:t>
            </a:r>
            <a:r>
              <a:rPr lang="zh-CN" altLang="en-US" dirty="0"/>
              <a:t>的</a:t>
            </a:r>
            <a:r>
              <a:rPr lang="zh-CN" altLang="zh-CN" dirty="0"/>
              <a:t>操作来完成。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与过程抽象与封装相比，数据抽象与封装能够实现更好的数据保护。</a:t>
            </a:r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0">
            <a:extLst>
              <a:ext uri="{FF2B5EF4-FFF2-40B4-BE49-F238E27FC236}">
                <a16:creationId xmlns:a16="http://schemas.microsoft.com/office/drawing/2014/main" id="{844F5AC5-FA9F-D133-1D73-237BA55179A7}"/>
              </a:ext>
            </a:extLst>
          </p:cNvPr>
          <p:cNvGrpSpPr>
            <a:grpSpLocks/>
          </p:cNvGrpSpPr>
          <p:nvPr/>
        </p:nvGrpSpPr>
        <p:grpSpPr bwMode="auto">
          <a:xfrm>
            <a:off x="1330325" y="1957388"/>
            <a:ext cx="6049963" cy="4279900"/>
            <a:chOff x="3185" y="799"/>
            <a:chExt cx="2280" cy="2224"/>
          </a:xfrm>
        </p:grpSpPr>
        <p:grpSp>
          <p:nvGrpSpPr>
            <p:cNvPr id="10244" name="Group 44">
              <a:extLst>
                <a:ext uri="{FF2B5EF4-FFF2-40B4-BE49-F238E27FC236}">
                  <a16:creationId xmlns:a16="http://schemas.microsoft.com/office/drawing/2014/main" id="{F4C8AA10-7FB8-0E6F-EB3E-EB800209D0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" y="880"/>
              <a:ext cx="2132" cy="2143"/>
              <a:chOff x="1346" y="1514"/>
              <a:chExt cx="1296" cy="1061"/>
            </a:xfrm>
          </p:grpSpPr>
          <p:sp>
            <p:nvSpPr>
              <p:cNvPr id="10246" name="Oval 0">
                <a:extLst>
                  <a:ext uri="{FF2B5EF4-FFF2-40B4-BE49-F238E27FC236}">
                    <a16:creationId xmlns:a16="http://schemas.microsoft.com/office/drawing/2014/main" id="{FF8FE7AC-9002-F468-324D-91B17CEAB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1764"/>
                <a:ext cx="144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47" name="Rectangle 1">
                <a:extLst>
                  <a:ext uri="{FF2B5EF4-FFF2-40B4-BE49-F238E27FC236}">
                    <a16:creationId xmlns:a16="http://schemas.microsoft.com/office/drawing/2014/main" id="{5E4DB896-1E3C-74A1-D1E8-9F4B0D0D1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1889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48" name="Rectangle 2">
                <a:extLst>
                  <a:ext uri="{FF2B5EF4-FFF2-40B4-BE49-F238E27FC236}">
                    <a16:creationId xmlns:a16="http://schemas.microsoft.com/office/drawing/2014/main" id="{13D0CE7E-B07C-909B-B031-A165BA4AA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6" y="2014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49" name="Line 3">
                <a:extLst>
                  <a:ext uri="{FF2B5EF4-FFF2-40B4-BE49-F238E27FC236}">
                    <a16:creationId xmlns:a16="http://schemas.microsoft.com/office/drawing/2014/main" id="{794F4F2F-E306-D429-D37B-CE552EB8F6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8" y="1702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0" name="Line 4">
                <a:extLst>
                  <a:ext uri="{FF2B5EF4-FFF2-40B4-BE49-F238E27FC236}">
                    <a16:creationId xmlns:a16="http://schemas.microsoft.com/office/drawing/2014/main" id="{3AEFEEA4-9DC0-3A0F-B2E6-6B668FD743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8" y="1702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1" name="Line 5">
                <a:extLst>
                  <a:ext uri="{FF2B5EF4-FFF2-40B4-BE49-F238E27FC236}">
                    <a16:creationId xmlns:a16="http://schemas.microsoft.com/office/drawing/2014/main" id="{CBF4C243-80FF-CE42-A3A7-404F973BD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4" y="1702"/>
                <a:ext cx="0" cy="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2" name="Line 6">
                <a:extLst>
                  <a:ext uri="{FF2B5EF4-FFF2-40B4-BE49-F238E27FC236}">
                    <a16:creationId xmlns:a16="http://schemas.microsoft.com/office/drawing/2014/main" id="{C2FCF869-A90C-15C5-A043-61085C566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18" y="2138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3" name="Line 7">
                <a:extLst>
                  <a:ext uri="{FF2B5EF4-FFF2-40B4-BE49-F238E27FC236}">
                    <a16:creationId xmlns:a16="http://schemas.microsoft.com/office/drawing/2014/main" id="{C8B6B417-306F-23D4-D094-9C24F035C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8" y="2076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4" name="Line 8">
                <a:extLst>
                  <a:ext uri="{FF2B5EF4-FFF2-40B4-BE49-F238E27FC236}">
                    <a16:creationId xmlns:a16="http://schemas.microsoft.com/office/drawing/2014/main" id="{02FB39E1-2C08-5A8C-D749-2C942F100E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8" y="1951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5" name="Line 9">
                <a:extLst>
                  <a:ext uri="{FF2B5EF4-FFF2-40B4-BE49-F238E27FC236}">
                    <a16:creationId xmlns:a16="http://schemas.microsoft.com/office/drawing/2014/main" id="{0669C633-20A1-C0D6-4169-7EEFA6CC04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18" y="1826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6" name="Oval 10">
                <a:extLst>
                  <a:ext uri="{FF2B5EF4-FFF2-40B4-BE49-F238E27FC236}">
                    <a16:creationId xmlns:a16="http://schemas.microsoft.com/office/drawing/2014/main" id="{F9F29D8D-31CD-DB56-43F1-CC78C7953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1577"/>
                <a:ext cx="144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57" name="Rectangle 11">
                <a:extLst>
                  <a:ext uri="{FF2B5EF4-FFF2-40B4-BE49-F238E27FC236}">
                    <a16:creationId xmlns:a16="http://schemas.microsoft.com/office/drawing/2014/main" id="{C47EF3A6-74EF-0225-38A9-2FB673905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1702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58" name="Rectangle 12">
                <a:extLst>
                  <a:ext uri="{FF2B5EF4-FFF2-40B4-BE49-F238E27FC236}">
                    <a16:creationId xmlns:a16="http://schemas.microsoft.com/office/drawing/2014/main" id="{F53F9795-F11C-A769-DD2A-A4D8D1864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1826"/>
                <a:ext cx="144" cy="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59" name="Line 13">
                <a:extLst>
                  <a:ext uri="{FF2B5EF4-FFF2-40B4-BE49-F238E27FC236}">
                    <a16:creationId xmlns:a16="http://schemas.microsoft.com/office/drawing/2014/main" id="{99F07B3D-E13F-B7FC-5AD6-13FFE2DC6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1514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0" name="Line 14">
                <a:extLst>
                  <a:ext uri="{FF2B5EF4-FFF2-40B4-BE49-F238E27FC236}">
                    <a16:creationId xmlns:a16="http://schemas.microsoft.com/office/drawing/2014/main" id="{508D116C-E164-BF9F-F956-91478B0DE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2" y="1514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1" name="Line 15">
                <a:extLst>
                  <a:ext uri="{FF2B5EF4-FFF2-40B4-BE49-F238E27FC236}">
                    <a16:creationId xmlns:a16="http://schemas.microsoft.com/office/drawing/2014/main" id="{AD9C2CEB-4134-3E4D-11F2-424B650F2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" y="1514"/>
                <a:ext cx="0" cy="4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2" name="Line 16">
                <a:extLst>
                  <a:ext uri="{FF2B5EF4-FFF2-40B4-BE49-F238E27FC236}">
                    <a16:creationId xmlns:a16="http://schemas.microsoft.com/office/drawing/2014/main" id="{001E6552-DF66-1969-3D4E-7516F39647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2" y="1951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3" name="Line 17">
                <a:extLst>
                  <a:ext uri="{FF2B5EF4-FFF2-40B4-BE49-F238E27FC236}">
                    <a16:creationId xmlns:a16="http://schemas.microsoft.com/office/drawing/2014/main" id="{2FB85FA4-0968-DB3A-B68B-2991478A6A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1889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4" name="Line 18">
                <a:extLst>
                  <a:ext uri="{FF2B5EF4-FFF2-40B4-BE49-F238E27FC236}">
                    <a16:creationId xmlns:a16="http://schemas.microsoft.com/office/drawing/2014/main" id="{7904ADFA-C79F-5ED9-2CC9-4BC97F53A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1764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5" name="Line 19">
                <a:extLst>
                  <a:ext uri="{FF2B5EF4-FFF2-40B4-BE49-F238E27FC236}">
                    <a16:creationId xmlns:a16="http://schemas.microsoft.com/office/drawing/2014/main" id="{AD9CC592-DC95-42BD-A835-0A2FC86855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1639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6" name="Oval 20">
                <a:extLst>
                  <a:ext uri="{FF2B5EF4-FFF2-40B4-BE49-F238E27FC236}">
                    <a16:creationId xmlns:a16="http://schemas.microsoft.com/office/drawing/2014/main" id="{887051A0-37CC-6EBC-2EAB-A43AFA04C2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2201"/>
                <a:ext cx="144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67" name="Rectangle 21">
                <a:extLst>
                  <a:ext uri="{FF2B5EF4-FFF2-40B4-BE49-F238E27FC236}">
                    <a16:creationId xmlns:a16="http://schemas.microsoft.com/office/drawing/2014/main" id="{08DFE5AD-6BC3-77A5-379D-B9548E35E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2326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68" name="Rectangle 22">
                <a:extLst>
                  <a:ext uri="{FF2B5EF4-FFF2-40B4-BE49-F238E27FC236}">
                    <a16:creationId xmlns:a16="http://schemas.microsoft.com/office/drawing/2014/main" id="{0E7ED61F-6014-81E2-04B2-279B45D4D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0" y="2450"/>
                <a:ext cx="144" cy="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69" name="Line 23">
                <a:extLst>
                  <a:ext uri="{FF2B5EF4-FFF2-40B4-BE49-F238E27FC236}">
                    <a16:creationId xmlns:a16="http://schemas.microsoft.com/office/drawing/2014/main" id="{1BFC87B9-9FA0-91D6-D13D-771AF9DE4F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2138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0" name="Line 24">
                <a:extLst>
                  <a:ext uri="{FF2B5EF4-FFF2-40B4-BE49-F238E27FC236}">
                    <a16:creationId xmlns:a16="http://schemas.microsoft.com/office/drawing/2014/main" id="{1E73EEE4-E493-CD89-8335-DB2DCED532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2" y="2138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1" name="Line 25">
                <a:extLst>
                  <a:ext uri="{FF2B5EF4-FFF2-40B4-BE49-F238E27FC236}">
                    <a16:creationId xmlns:a16="http://schemas.microsoft.com/office/drawing/2014/main" id="{DA51A947-07FC-A694-27EC-D27E215016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8" y="2138"/>
                <a:ext cx="0" cy="4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2" name="Line 26">
                <a:extLst>
                  <a:ext uri="{FF2B5EF4-FFF2-40B4-BE49-F238E27FC236}">
                    <a16:creationId xmlns:a16="http://schemas.microsoft.com/office/drawing/2014/main" id="{EFEC3DD6-0519-9581-584C-7D39D5C13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2" y="2575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3" name="Line 27">
                <a:extLst>
                  <a:ext uri="{FF2B5EF4-FFF2-40B4-BE49-F238E27FC236}">
                    <a16:creationId xmlns:a16="http://schemas.microsoft.com/office/drawing/2014/main" id="{CD0C09D5-92B6-2001-C7EB-C31AE65B30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2513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4" name="Line 28">
                <a:extLst>
                  <a:ext uri="{FF2B5EF4-FFF2-40B4-BE49-F238E27FC236}">
                    <a16:creationId xmlns:a16="http://schemas.microsoft.com/office/drawing/2014/main" id="{FFEA78E5-CD57-E317-8E1F-600C87C47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2388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5" name="Line 29">
                <a:extLst>
                  <a:ext uri="{FF2B5EF4-FFF2-40B4-BE49-F238E27FC236}">
                    <a16:creationId xmlns:a16="http://schemas.microsoft.com/office/drawing/2014/main" id="{5E829A7E-E20D-9D02-6DBC-B75B334212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2" y="2263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6" name="Oval 30">
                <a:extLst>
                  <a:ext uri="{FF2B5EF4-FFF2-40B4-BE49-F238E27FC236}">
                    <a16:creationId xmlns:a16="http://schemas.microsoft.com/office/drawing/2014/main" id="{222E99B3-E6D2-8059-9430-AC73158AB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4" y="1764"/>
                <a:ext cx="144" cy="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77" name="Rectangle 31">
                <a:extLst>
                  <a:ext uri="{FF2B5EF4-FFF2-40B4-BE49-F238E27FC236}">
                    <a16:creationId xmlns:a16="http://schemas.microsoft.com/office/drawing/2014/main" id="{9C623DBE-5ACD-F901-9B05-807D382E9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4" y="1889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78" name="Rectangle 32">
                <a:extLst>
                  <a:ext uri="{FF2B5EF4-FFF2-40B4-BE49-F238E27FC236}">
                    <a16:creationId xmlns:a16="http://schemas.microsoft.com/office/drawing/2014/main" id="{EC744833-A34F-B3A3-E0B8-294A8F1FB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4" y="2014"/>
                <a:ext cx="144" cy="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279" name="Line 33">
                <a:extLst>
                  <a:ext uri="{FF2B5EF4-FFF2-40B4-BE49-F238E27FC236}">
                    <a16:creationId xmlns:a16="http://schemas.microsoft.com/office/drawing/2014/main" id="{76C02EC0-5D81-8B87-5109-F8C16F519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6" y="1702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0" name="Line 34">
                <a:extLst>
                  <a:ext uri="{FF2B5EF4-FFF2-40B4-BE49-F238E27FC236}">
                    <a16:creationId xmlns:a16="http://schemas.microsoft.com/office/drawing/2014/main" id="{BACA1709-E8E7-3E2F-4B70-A8B84E6BD5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" y="1702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1" name="Line 35">
                <a:extLst>
                  <a:ext uri="{FF2B5EF4-FFF2-40B4-BE49-F238E27FC236}">
                    <a16:creationId xmlns:a16="http://schemas.microsoft.com/office/drawing/2014/main" id="{FADFE8D5-FAF3-EDEE-E467-91D4ADEFCC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2" y="1702"/>
                <a:ext cx="0" cy="4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2" name="Line 36">
                <a:extLst>
                  <a:ext uri="{FF2B5EF4-FFF2-40B4-BE49-F238E27FC236}">
                    <a16:creationId xmlns:a16="http://schemas.microsoft.com/office/drawing/2014/main" id="{BD480C69-E121-F799-E17F-7E233925BF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26" y="2138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3" name="Line 37">
                <a:extLst>
                  <a:ext uri="{FF2B5EF4-FFF2-40B4-BE49-F238E27FC236}">
                    <a16:creationId xmlns:a16="http://schemas.microsoft.com/office/drawing/2014/main" id="{42371EA2-3265-75F8-1198-D6A98C877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6" y="2076"/>
                <a:ext cx="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4" name="Line 38">
                <a:extLst>
                  <a:ext uri="{FF2B5EF4-FFF2-40B4-BE49-F238E27FC236}">
                    <a16:creationId xmlns:a16="http://schemas.microsoft.com/office/drawing/2014/main" id="{2564F6B0-15AD-877D-1980-7272DD0983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6" y="1951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5" name="Line 39">
                <a:extLst>
                  <a:ext uri="{FF2B5EF4-FFF2-40B4-BE49-F238E27FC236}">
                    <a16:creationId xmlns:a16="http://schemas.microsoft.com/office/drawing/2014/main" id="{9BBF61C7-02C9-D626-C926-986C9BC3C4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6" y="1826"/>
                <a:ext cx="0" cy="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6" name="Line 40">
                <a:extLst>
                  <a:ext uri="{FF2B5EF4-FFF2-40B4-BE49-F238E27FC236}">
                    <a16:creationId xmlns:a16="http://schemas.microsoft.com/office/drawing/2014/main" id="{2540AB1C-C947-44F1-484F-82EFF4B1A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2" y="1514"/>
                <a:ext cx="360" cy="3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7" name="Line 41">
                <a:extLst>
                  <a:ext uri="{FF2B5EF4-FFF2-40B4-BE49-F238E27FC236}">
                    <a16:creationId xmlns:a16="http://schemas.microsoft.com/office/drawing/2014/main" id="{F53A8E1C-C5C9-07A8-8E9B-C671660E61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2" y="1955"/>
                <a:ext cx="360" cy="1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8" name="Line 42">
                <a:extLst>
                  <a:ext uri="{FF2B5EF4-FFF2-40B4-BE49-F238E27FC236}">
                    <a16:creationId xmlns:a16="http://schemas.microsoft.com/office/drawing/2014/main" id="{C815628C-963F-48EC-5060-09D02BE74C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6" y="1702"/>
                <a:ext cx="360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9" name="Line 43">
                <a:extLst>
                  <a:ext uri="{FF2B5EF4-FFF2-40B4-BE49-F238E27FC236}">
                    <a16:creationId xmlns:a16="http://schemas.microsoft.com/office/drawing/2014/main" id="{45677197-E398-A4CC-948A-968A55E4A5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2" y="1893"/>
                <a:ext cx="648" cy="2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45" name="Text Box 46">
              <a:extLst>
                <a:ext uri="{FF2B5EF4-FFF2-40B4-BE49-F238E27FC236}">
                  <a16:creationId xmlns:a16="http://schemas.microsoft.com/office/drawing/2014/main" id="{6361110A-22F7-9727-9EF2-CA27E6749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5" y="799"/>
              <a:ext cx="66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Objects</a:t>
              </a:r>
            </a:p>
          </p:txBody>
        </p:sp>
      </p:grpSp>
      <p:sp>
        <p:nvSpPr>
          <p:cNvPr id="49" name="Rectangle 3">
            <a:extLst>
              <a:ext uri="{FF2B5EF4-FFF2-40B4-BE49-F238E27FC236}">
                <a16:creationId xmlns:a16="http://schemas.microsoft.com/office/drawing/2014/main" id="{FBA9DD31-F5F8-51F2-B163-F905FC769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8229600" cy="1096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数据抽象与封装是</a:t>
            </a:r>
            <a:r>
              <a:rPr lang="zh-CN" altLang="en-US" dirty="0">
                <a:solidFill>
                  <a:srgbClr val="FFC000"/>
                </a:solidFill>
              </a:rPr>
              <a:t>面向对象程序设计</a:t>
            </a:r>
            <a:r>
              <a:rPr lang="zh-CN" altLang="en-US" dirty="0"/>
              <a:t>的基础，其中的</a:t>
            </a:r>
            <a:r>
              <a:rPr lang="zh-CN" altLang="en-US" dirty="0">
                <a:solidFill>
                  <a:srgbClr val="FFC000"/>
                </a:solidFill>
              </a:rPr>
              <a:t>对象</a:t>
            </a:r>
            <a:r>
              <a:rPr lang="zh-CN" altLang="en-US" dirty="0"/>
              <a:t>体现了数据抽象与封装。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54" name="Rectangle 2">
            <a:extLst>
              <a:ext uri="{FF2B5EF4-FFF2-40B4-BE49-F238E27FC236}">
                <a16:creationId xmlns:a16="http://schemas.microsoft.com/office/drawing/2014/main" id="{FA20CEE1-FE13-B352-C925-66B0AA60FB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例：“栈”数据的表示与操作</a:t>
            </a:r>
          </a:p>
        </p:txBody>
      </p:sp>
      <p:sp>
        <p:nvSpPr>
          <p:cNvPr id="1354755" name="Rectangle 3">
            <a:extLst>
              <a:ext uri="{FF2B5EF4-FFF2-40B4-BE49-F238E27FC236}">
                <a16:creationId xmlns:a16="http://schemas.microsoft.com/office/drawing/2014/main" id="{0AC934C7-8E50-D00B-01AA-20978465A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341438"/>
            <a:ext cx="8507412" cy="5183187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GB" dirty="0">
                <a:solidFill>
                  <a:schemeClr val="folHlink"/>
                </a:solidFill>
              </a:rPr>
              <a:t>栈</a:t>
            </a:r>
            <a:r>
              <a:rPr lang="zh-CN" altLang="en-GB" dirty="0"/>
              <a:t>是一种由若干个具有线性次序</a:t>
            </a:r>
            <a:r>
              <a:rPr lang="zh-CN" altLang="en-US" dirty="0"/>
              <a:t>关系</a:t>
            </a:r>
            <a:r>
              <a:rPr lang="zh-CN" altLang="en-GB" dirty="0"/>
              <a:t>的元素所构成的复合数据。对栈只能实施两种操作：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dirty="0">
                <a:solidFill>
                  <a:schemeClr val="folHlink"/>
                </a:solidFill>
              </a:rPr>
              <a:t>进栈</a:t>
            </a:r>
            <a:r>
              <a:rPr lang="zh-CN" altLang="en-US" dirty="0">
                <a:solidFill>
                  <a:schemeClr val="folHlink"/>
                </a:solidFill>
              </a:rPr>
              <a:t>（</a:t>
            </a:r>
            <a:r>
              <a:rPr lang="en-US" altLang="zh-CN" dirty="0">
                <a:solidFill>
                  <a:schemeClr val="folHlink"/>
                </a:solidFill>
              </a:rPr>
              <a:t>push</a:t>
            </a:r>
            <a:r>
              <a:rPr lang="zh-CN" altLang="en-US" dirty="0">
                <a:solidFill>
                  <a:schemeClr val="folHlink"/>
                </a:solidFill>
              </a:rPr>
              <a:t>）：</a:t>
            </a:r>
            <a:r>
              <a:rPr lang="zh-CN" altLang="en-US" dirty="0"/>
              <a:t>往栈中</a:t>
            </a:r>
            <a:r>
              <a:rPr lang="zh-CN" altLang="en-GB" dirty="0"/>
              <a:t>增加一个元素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dirty="0">
                <a:solidFill>
                  <a:schemeClr val="folHlink"/>
                </a:solidFill>
              </a:rPr>
              <a:t>退栈</a:t>
            </a:r>
            <a:r>
              <a:rPr lang="zh-CN" altLang="en-US" dirty="0">
                <a:solidFill>
                  <a:schemeClr val="folHlink"/>
                </a:solidFill>
              </a:rPr>
              <a:t>（</a:t>
            </a:r>
            <a:r>
              <a:rPr lang="en-US" altLang="zh-CN" dirty="0">
                <a:solidFill>
                  <a:schemeClr val="folHlink"/>
                </a:solidFill>
              </a:rPr>
              <a:t>pop</a:t>
            </a:r>
            <a:r>
              <a:rPr lang="zh-CN" altLang="en-US" dirty="0">
                <a:solidFill>
                  <a:schemeClr val="folHlink"/>
                </a:solidFill>
              </a:rPr>
              <a:t>）：</a:t>
            </a:r>
            <a:r>
              <a:rPr lang="zh-CN" altLang="en-US" dirty="0"/>
              <a:t>从栈中</a:t>
            </a:r>
            <a:r>
              <a:rPr lang="zh-CN" altLang="en-GB" dirty="0"/>
              <a:t>删除一个元素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上述</a:t>
            </a:r>
            <a:r>
              <a:rPr lang="zh-CN" altLang="en-GB" dirty="0"/>
              <a:t>两个操作</a:t>
            </a:r>
            <a:r>
              <a:rPr lang="zh-CN" altLang="en-US" dirty="0"/>
              <a:t>满足</a:t>
            </a:r>
            <a:r>
              <a:rPr lang="zh-CN" altLang="en-GB" dirty="0"/>
              <a:t>一个重要性质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altLang="zh-CN" dirty="0"/>
              <a:t>push(...); ...pop(...); ... ;</a:t>
            </a:r>
            <a:r>
              <a:rPr lang="en-US" altLang="zh-CN" dirty="0">
                <a:solidFill>
                  <a:srgbClr val="FFC000"/>
                </a:solidFill>
              </a:rPr>
              <a:t>push(x);pop(y);</a:t>
            </a:r>
            <a:r>
              <a:rPr lang="en-US" altLang="zh-CN" dirty="0"/>
              <a:t> </a:t>
            </a:r>
            <a:endParaRPr lang="en-US" altLang="zh-CN" dirty="0">
              <a:solidFill>
                <a:srgbClr val="FFC000"/>
              </a:solidFill>
            </a:endParaRPr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altLang="zh-CN" dirty="0">
                <a:solidFill>
                  <a:srgbClr val="FFC000"/>
                </a:solidFill>
              </a:rPr>
              <a:t>x == y</a:t>
            </a:r>
            <a:endParaRPr lang="zh-CN" altLang="en-GB" dirty="0">
              <a:solidFill>
                <a:srgbClr val="FFC000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即，增加</a:t>
            </a:r>
            <a:r>
              <a:rPr lang="en-US" altLang="zh-CN" dirty="0"/>
              <a:t>/</a:t>
            </a:r>
            <a:r>
              <a:rPr lang="zh-CN" altLang="en-US" dirty="0"/>
              <a:t>删除操作在线性序列的同一端进行（</a:t>
            </a:r>
            <a:r>
              <a:rPr lang="zh-CN" altLang="en-GB" dirty="0">
                <a:solidFill>
                  <a:srgbClr val="FFC000"/>
                </a:solidFill>
              </a:rPr>
              <a:t>后进先出</a:t>
            </a:r>
            <a:r>
              <a:rPr lang="zh-CN" altLang="en-US" dirty="0"/>
              <a:t>，</a:t>
            </a:r>
            <a:r>
              <a:rPr lang="en-GB" altLang="zh-CN" dirty="0"/>
              <a:t>Last In First Out</a:t>
            </a:r>
            <a:r>
              <a:rPr lang="zh-CN" altLang="en-GB" dirty="0"/>
              <a:t>，简称</a:t>
            </a:r>
            <a:r>
              <a:rPr lang="en-GB" altLang="zh-CN" dirty="0"/>
              <a:t>LIFO</a:t>
            </a:r>
            <a:r>
              <a:rPr lang="zh-CN" altLang="en-GB" dirty="0"/>
              <a:t>）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从数据抽象的角度，栈的使用者只需要知道上面的这些信息，不需要知道栈是如何实现的（数组或链表等）。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786" name="Rectangle 2">
            <a:extLst>
              <a:ext uri="{FF2B5EF4-FFF2-40B4-BE49-F238E27FC236}">
                <a16:creationId xmlns:a16="http://schemas.microsoft.com/office/drawing/2014/main" id="{F829E51B-CF6B-2552-7238-942ECE8676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“栈”的实现</a:t>
            </a:r>
            <a:br>
              <a:rPr lang="en-US" altLang="zh-CN" sz="3600" dirty="0"/>
            </a:br>
            <a:r>
              <a:rPr lang="zh-CN" altLang="en-US" sz="3600" dirty="0"/>
              <a:t>－－非抽象和封装途径</a:t>
            </a:r>
          </a:p>
        </p:txBody>
      </p:sp>
      <p:sp>
        <p:nvSpPr>
          <p:cNvPr id="1270787" name="Rectangle 3">
            <a:extLst>
              <a:ext uri="{FF2B5EF4-FFF2-40B4-BE49-F238E27FC236}">
                <a16:creationId xmlns:a16="http://schemas.microsoft.com/office/drawing/2014/main" id="{11080CA8-6B80-8884-0BEF-297B25A0A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8368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GB" dirty="0"/>
              <a:t>定义</a:t>
            </a:r>
            <a:r>
              <a:rPr lang="zh-CN" altLang="en-US" dirty="0"/>
              <a:t>一个</a:t>
            </a:r>
            <a:r>
              <a:rPr lang="zh-CN" altLang="en-GB" dirty="0"/>
              <a:t>数据类型</a:t>
            </a:r>
            <a:r>
              <a:rPr lang="zh-CN" altLang="en-US" dirty="0"/>
              <a:t>来表示栈数据</a:t>
            </a:r>
            <a:endParaRPr lang="zh-CN" altLang="en-GB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 err="1"/>
              <a:t>const</a:t>
            </a:r>
            <a:r>
              <a:rPr lang="en-GB" altLang="zh-CN" sz="2800" dirty="0"/>
              <a:t> </a:t>
            </a:r>
            <a:r>
              <a:rPr lang="en-GB" altLang="zh-CN" sz="2800" dirty="0" err="1"/>
              <a:t>int</a:t>
            </a:r>
            <a:r>
              <a:rPr lang="en-GB" altLang="zh-CN" sz="2800" dirty="0"/>
              <a:t> STACK_SIZE=100;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 err="1"/>
              <a:t>struct</a:t>
            </a:r>
            <a:r>
              <a:rPr lang="en-GB" altLang="zh-CN" sz="2800" dirty="0"/>
              <a:t> </a:t>
            </a:r>
            <a:r>
              <a:rPr lang="en-GB" altLang="zh-CN" sz="2800" dirty="0">
                <a:solidFill>
                  <a:srgbClr val="FFC000"/>
                </a:solidFill>
              </a:rPr>
              <a:t>Stack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/>
              <a:t>{	</a:t>
            </a:r>
            <a:r>
              <a:rPr lang="en-GB" altLang="zh-CN" sz="2800" dirty="0" err="1"/>
              <a:t>int</a:t>
            </a:r>
            <a:r>
              <a:rPr lang="en-GB" altLang="zh-CN" sz="2800" dirty="0"/>
              <a:t> top;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/>
              <a:t>	</a:t>
            </a:r>
            <a:r>
              <a:rPr lang="en-GB" altLang="zh-CN" sz="2800" dirty="0" err="1"/>
              <a:t>int</a:t>
            </a:r>
            <a:r>
              <a:rPr lang="en-GB" altLang="zh-CN" sz="2800" dirty="0"/>
              <a:t> buffer[STACK_SIZE];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/>
              <a:t>};</a:t>
            </a:r>
          </a:p>
        </p:txBody>
      </p:sp>
      <p:grpSp>
        <p:nvGrpSpPr>
          <p:cNvPr id="12292" name="Group 10">
            <a:extLst>
              <a:ext uri="{FF2B5EF4-FFF2-40B4-BE49-F238E27FC236}">
                <a16:creationId xmlns:a16="http://schemas.microsoft.com/office/drawing/2014/main" id="{ED9DE30B-675F-A2A1-67EE-1E4CE030575B}"/>
              </a:ext>
            </a:extLst>
          </p:cNvPr>
          <p:cNvGrpSpPr>
            <a:grpSpLocks/>
          </p:cNvGrpSpPr>
          <p:nvPr/>
        </p:nvGrpSpPr>
        <p:grpSpPr bwMode="auto">
          <a:xfrm>
            <a:off x="1743075" y="5084763"/>
            <a:ext cx="4124325" cy="1260475"/>
            <a:chOff x="781" y="3430"/>
            <a:chExt cx="2598" cy="794"/>
          </a:xfrm>
        </p:grpSpPr>
        <p:grpSp>
          <p:nvGrpSpPr>
            <p:cNvPr id="12293" name="Group 8">
              <a:extLst>
                <a:ext uri="{FF2B5EF4-FFF2-40B4-BE49-F238E27FC236}">
                  <a16:creationId xmlns:a16="http://schemas.microsoft.com/office/drawing/2014/main" id="{4379F582-6DFB-3627-617C-9CEC2CC490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4" y="3430"/>
              <a:ext cx="1835" cy="794"/>
              <a:chOff x="1544" y="3430"/>
              <a:chExt cx="1835" cy="794"/>
            </a:xfrm>
          </p:grpSpPr>
          <p:sp>
            <p:nvSpPr>
              <p:cNvPr id="12295" name="Rectangle 0">
                <a:extLst>
                  <a:ext uri="{FF2B5EF4-FFF2-40B4-BE49-F238E27FC236}">
                    <a16:creationId xmlns:a16="http://schemas.microsoft.com/office/drawing/2014/main" id="{DAAF21AD-2644-46FA-AF0F-6207B1FE9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4" y="3430"/>
                <a:ext cx="1723" cy="317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296" name="Line 1">
                <a:extLst>
                  <a:ext uri="{FF2B5EF4-FFF2-40B4-BE49-F238E27FC236}">
                    <a16:creationId xmlns:a16="http://schemas.microsoft.com/office/drawing/2014/main" id="{B55B9257-6A6C-85BA-26FD-FD64D9094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6" y="3430"/>
                <a:ext cx="0" cy="317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7" name="Line 2">
                <a:extLst>
                  <a:ext uri="{FF2B5EF4-FFF2-40B4-BE49-F238E27FC236}">
                    <a16:creationId xmlns:a16="http://schemas.microsoft.com/office/drawing/2014/main" id="{F7C2B9CF-B5F3-AA07-3C06-6915B3454D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8" y="3430"/>
                <a:ext cx="0" cy="317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8" name="Line 3">
                <a:extLst>
                  <a:ext uri="{FF2B5EF4-FFF2-40B4-BE49-F238E27FC236}">
                    <a16:creationId xmlns:a16="http://schemas.microsoft.com/office/drawing/2014/main" id="{F64DFBCB-16FF-BA85-A7A9-055E9806AC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9" y="3430"/>
                <a:ext cx="0" cy="317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9" name="Line 4">
                <a:extLst>
                  <a:ext uri="{FF2B5EF4-FFF2-40B4-BE49-F238E27FC236}">
                    <a16:creationId xmlns:a16="http://schemas.microsoft.com/office/drawing/2014/main" id="{2F0B3548-CF51-DD27-5E8C-2B997CCE9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5" y="3430"/>
                <a:ext cx="0" cy="317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0" name="Line 5">
                <a:extLst>
                  <a:ext uri="{FF2B5EF4-FFF2-40B4-BE49-F238E27FC236}">
                    <a16:creationId xmlns:a16="http://schemas.microsoft.com/office/drawing/2014/main" id="{C4EE9CD1-253B-0554-3457-2137205DA9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1" y="3747"/>
                <a:ext cx="0" cy="227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1" name="Text Box 6">
                <a:extLst>
                  <a:ext uri="{FF2B5EF4-FFF2-40B4-BE49-F238E27FC236}">
                    <a16:creationId xmlns:a16="http://schemas.microsoft.com/office/drawing/2014/main" id="{F122F5DF-1C14-563F-4D20-1354BDC7B9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0" y="3936"/>
                <a:ext cx="42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top</a:t>
                </a:r>
              </a:p>
            </p:txBody>
          </p:sp>
        </p:grpSp>
        <p:sp>
          <p:nvSpPr>
            <p:cNvPr id="12294" name="Text Box 9">
              <a:extLst>
                <a:ext uri="{FF2B5EF4-FFF2-40B4-BE49-F238E27FC236}">
                  <a16:creationId xmlns:a16="http://schemas.microsoft.com/office/drawing/2014/main" id="{75C2EC51-6687-B37C-CF51-82D6EC884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" y="3430"/>
              <a:ext cx="89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/>
                <a:t>buffer</a:t>
              </a:r>
              <a:r>
                <a:rPr lang="zh-CN" altLang="en-US" sz="2400"/>
                <a:t>：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B1A519-1D22-981E-7D8C-C3197D60E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3375"/>
            <a:ext cx="8507413" cy="6408738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/>
              <a:t>直接操作栈数据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GB" altLang="zh-CN" sz="2600" dirty="0"/>
              <a:t>Stack </a:t>
            </a:r>
            <a:r>
              <a:rPr lang="en-GB" altLang="zh-CN" sz="2600" dirty="0" err="1">
                <a:solidFill>
                  <a:srgbClr val="FFC000"/>
                </a:solidFill>
              </a:rPr>
              <a:t>st</a:t>
            </a:r>
            <a:r>
              <a:rPr lang="en-GB" altLang="zh-CN" sz="2600" dirty="0"/>
              <a:t>; </a:t>
            </a:r>
            <a:r>
              <a:rPr lang="en-US" altLang="zh-CN" sz="2600" dirty="0"/>
              <a:t>//</a:t>
            </a:r>
            <a:r>
              <a:rPr lang="zh-CN" altLang="en-US" sz="2600" dirty="0"/>
              <a:t>定义栈数据</a:t>
            </a:r>
            <a:endParaRPr lang="en-GB" altLang="zh-CN" sz="2600" dirty="0"/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GB" altLang="zh-CN" sz="2600" dirty="0" err="1"/>
              <a:t>st.top</a:t>
            </a:r>
            <a:r>
              <a:rPr lang="en-GB" altLang="zh-CN" sz="2600" dirty="0"/>
              <a:t> = -1; //</a:t>
            </a:r>
            <a:r>
              <a:rPr lang="zh-CN" altLang="en-GB" sz="2600" dirty="0"/>
              <a:t>对</a:t>
            </a:r>
            <a:r>
              <a:rPr lang="en-GB" altLang="zh-CN" sz="2600" dirty="0" err="1"/>
              <a:t>st</a:t>
            </a:r>
            <a:r>
              <a:rPr lang="zh-CN" altLang="en-GB" sz="2600" dirty="0"/>
              <a:t>进行初始化</a:t>
            </a:r>
            <a:endParaRPr lang="en-GB" altLang="zh-CN" sz="2600" dirty="0"/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GB" altLang="zh-CN" sz="2600" dirty="0"/>
              <a:t>//</a:t>
            </a:r>
            <a:r>
              <a:rPr lang="zh-CN" altLang="en-GB" sz="2600" dirty="0"/>
              <a:t>把</a:t>
            </a:r>
            <a:r>
              <a:rPr lang="en-GB" altLang="zh-CN" sz="2600" dirty="0"/>
              <a:t>12</a:t>
            </a:r>
            <a:r>
              <a:rPr lang="zh-CN" altLang="en-GB" sz="2600" dirty="0"/>
              <a:t>放进栈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600" dirty="0"/>
              <a:t>if (</a:t>
            </a:r>
            <a:r>
              <a:rPr lang="en-US" altLang="zh-CN" sz="2600" dirty="0" err="1"/>
              <a:t>st.top</a:t>
            </a:r>
            <a:r>
              <a:rPr lang="en-US" altLang="zh-CN" sz="2600" dirty="0"/>
              <a:t> == STACK_SIZE-1)   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600" dirty="0"/>
              <a:t>{ </a:t>
            </a:r>
            <a:r>
              <a:rPr lang="en-US" altLang="zh-CN" sz="2600" dirty="0" err="1"/>
              <a:t>cout</a:t>
            </a:r>
            <a:r>
              <a:rPr lang="en-US" altLang="zh-CN" sz="2600" dirty="0"/>
              <a:t> &lt;&lt; "Stack is overflow.\n"; exit(-1); }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GB" altLang="zh-CN" sz="2600" dirty="0" err="1"/>
              <a:t>st.top</a:t>
            </a:r>
            <a:r>
              <a:rPr lang="en-GB" altLang="zh-CN" sz="2600" dirty="0"/>
              <a:t>++; </a:t>
            </a:r>
            <a:r>
              <a:rPr lang="en-GB" altLang="zh-CN" sz="2600" dirty="0" err="1"/>
              <a:t>st.buffer</a:t>
            </a:r>
            <a:r>
              <a:rPr lang="en-GB" altLang="zh-CN" sz="2600" dirty="0"/>
              <a:t>[</a:t>
            </a:r>
            <a:r>
              <a:rPr lang="en-GB" altLang="zh-CN" sz="2600" dirty="0" err="1"/>
              <a:t>st.top</a:t>
            </a:r>
            <a:r>
              <a:rPr lang="en-GB" altLang="zh-CN" sz="2600" dirty="0"/>
              <a:t>] = 12; 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600" dirty="0"/>
              <a:t>......</a:t>
            </a:r>
            <a:endParaRPr lang="en-GB" altLang="zh-CN" sz="2600" dirty="0"/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GB" altLang="zh-CN" sz="2600" dirty="0"/>
              <a:t>//</a:t>
            </a:r>
            <a:r>
              <a:rPr lang="zh-CN" altLang="en-GB" sz="2600" dirty="0"/>
              <a:t>把栈顶元素退栈并存入变量</a:t>
            </a:r>
            <a:r>
              <a:rPr lang="en-GB" altLang="zh-CN" sz="2600" dirty="0"/>
              <a:t>x</a:t>
            </a:r>
            <a:endParaRPr lang="zh-CN" altLang="en-GB" sz="2600" dirty="0"/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600" dirty="0"/>
              <a:t>if (</a:t>
            </a:r>
            <a:r>
              <a:rPr lang="en-US" altLang="zh-CN" sz="2600" dirty="0" err="1"/>
              <a:t>st.top</a:t>
            </a:r>
            <a:r>
              <a:rPr lang="en-US" altLang="zh-CN" sz="2600" dirty="0"/>
              <a:t> == -1)    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600" dirty="0"/>
              <a:t>{ </a:t>
            </a:r>
            <a:r>
              <a:rPr lang="en-US" altLang="zh-CN" sz="2600" dirty="0" err="1"/>
              <a:t>cout</a:t>
            </a:r>
            <a:r>
              <a:rPr lang="en-US" altLang="zh-CN" sz="2600" dirty="0"/>
              <a:t> &lt;&lt; "Stack is empty</a:t>
            </a:r>
            <a:r>
              <a:rPr lang="en-US" altLang="zh-CN" sz="2600"/>
              <a:t>.\n"; </a:t>
            </a:r>
            <a:r>
              <a:rPr lang="en-US" altLang="zh-CN" sz="2600" dirty="0"/>
              <a:t>exit(-1); }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GB" altLang="zh-CN" sz="2600" dirty="0" err="1"/>
              <a:t>int</a:t>
            </a:r>
            <a:r>
              <a:rPr lang="en-GB" altLang="zh-CN" sz="2600" dirty="0"/>
              <a:t> x = </a:t>
            </a:r>
            <a:r>
              <a:rPr lang="en-GB" altLang="zh-CN" sz="2600" dirty="0" err="1"/>
              <a:t>st.buffer</a:t>
            </a:r>
            <a:r>
              <a:rPr lang="en-GB" altLang="zh-CN" sz="2600" dirty="0"/>
              <a:t>[</a:t>
            </a:r>
            <a:r>
              <a:rPr lang="en-GB" altLang="zh-CN" sz="2600" dirty="0" err="1"/>
              <a:t>st.top</a:t>
            </a:r>
            <a:r>
              <a:rPr lang="en-GB" altLang="zh-CN" sz="2600" dirty="0"/>
              <a:t>]; </a:t>
            </a:r>
            <a:r>
              <a:rPr lang="en-GB" altLang="zh-CN" sz="2600" dirty="0" err="1"/>
              <a:t>st.top</a:t>
            </a:r>
            <a:r>
              <a:rPr lang="en-GB" altLang="zh-CN" sz="2600" dirty="0"/>
              <a:t>--;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1E204-D0A2-F80D-6517-A1044D41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F3994B-128D-FD23-E578-8C92AB517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存在的问题</a:t>
            </a:r>
            <a:endParaRPr lang="en-US" altLang="zh-CN" dirty="0"/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/>
              <a:t>操作必须知道数据的具体表示形式。</a:t>
            </a:r>
            <a:endParaRPr lang="en-US" altLang="zh-CN" dirty="0"/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/>
              <a:t>数据表示形式发生变化将会影响操作。</a:t>
            </a:r>
            <a:endParaRPr lang="en-US" altLang="zh-CN" dirty="0"/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/>
              <a:t>麻烦并易产生误操作，因此不安全。例如，把进栈操作误写成：</a:t>
            </a: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	   </a:t>
            </a:r>
            <a:r>
              <a:rPr lang="en-US" altLang="zh-CN" sz="26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st.top</a:t>
            </a:r>
            <a:r>
              <a:rPr lang="en-US" altLang="zh-CN" sz="26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--;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//</a:t>
            </a:r>
            <a:r>
              <a:rPr lang="zh-CN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书写失误导致误操作</a:t>
            </a: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zh-CN" altLang="en-US" dirty="0"/>
              <a:t>      忘了初始化：</a:t>
            </a:r>
            <a:r>
              <a:rPr lang="en-GB" altLang="zh-CN" dirty="0"/>
              <a:t> </a:t>
            </a:r>
            <a:r>
              <a:rPr lang="en-GB" altLang="zh-CN" dirty="0" err="1"/>
              <a:t>st.top</a:t>
            </a:r>
            <a:r>
              <a:rPr lang="en-GB" altLang="zh-CN" dirty="0"/>
              <a:t> = -1;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811" name="Rectangle 3">
            <a:extLst>
              <a:ext uri="{FF2B5EF4-FFF2-40B4-BE49-F238E27FC236}">
                <a16:creationId xmlns:a16="http://schemas.microsoft.com/office/drawing/2014/main" id="{6E395AD0-0E4B-65E0-9506-940690F66D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913"/>
            <a:ext cx="8229600" cy="659765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通过过程抽象与封装操作栈数据</a:t>
            </a:r>
            <a:endParaRPr lang="en-GB" altLang="zh-CN" sz="2800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/>
              <a:t>先预定义三个函数</a:t>
            </a:r>
            <a:endParaRPr lang="en-GB" altLang="zh-CN" sz="2400" dirty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void</a:t>
            </a:r>
            <a:r>
              <a:rPr lang="en-GB" altLang="zh-CN" sz="2000" dirty="0"/>
              <a:t> </a:t>
            </a:r>
            <a:r>
              <a:rPr lang="en-GB" altLang="zh-CN" sz="2000" dirty="0">
                <a:solidFill>
                  <a:srgbClr val="FFC000"/>
                </a:solidFill>
              </a:rPr>
              <a:t>push</a:t>
            </a:r>
            <a:r>
              <a:rPr lang="en-GB" altLang="zh-CN" sz="2000" dirty="0"/>
              <a:t>(Stack &amp;s, 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</a:t>
            </a:r>
            <a:r>
              <a:rPr lang="en-GB" altLang="zh-CN" sz="2000" dirty="0" err="1"/>
              <a:t>i</a:t>
            </a:r>
            <a:r>
              <a:rPr lang="en-GB" altLang="zh-CN" sz="2000" dirty="0"/>
              <a:t>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{	if (</a:t>
            </a:r>
            <a:r>
              <a:rPr lang="en-GB" altLang="zh-CN" sz="2000" dirty="0" err="1"/>
              <a:t>s.top</a:t>
            </a:r>
            <a:r>
              <a:rPr lang="en-GB" altLang="zh-CN" sz="2000" dirty="0"/>
              <a:t> == STACK_SIZE-1)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{	</a:t>
            </a:r>
            <a:r>
              <a:rPr lang="en-GB" altLang="zh-CN" sz="2000" dirty="0" err="1"/>
              <a:t>cout</a:t>
            </a:r>
            <a:r>
              <a:rPr lang="en-GB" altLang="zh-CN" sz="2000" dirty="0"/>
              <a:t> &lt;&lt; </a:t>
            </a:r>
            <a:r>
              <a:rPr lang="en-GB" altLang="zh-CN" sz="2000" dirty="0">
                <a:latin typeface="Arial"/>
              </a:rPr>
              <a:t>“</a:t>
            </a:r>
            <a:r>
              <a:rPr lang="en-GB" altLang="zh-CN" sz="2000" dirty="0"/>
              <a:t>Stack is overflow.\n</a:t>
            </a:r>
            <a:r>
              <a:rPr lang="en-GB" altLang="zh-CN" sz="2000" dirty="0">
                <a:latin typeface="Arial"/>
              </a:rPr>
              <a:t>”</a:t>
            </a:r>
            <a:r>
              <a:rPr lang="en-GB" altLang="zh-CN" sz="2000" dirty="0"/>
              <a:t>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	exit(-1);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}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else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{	</a:t>
            </a:r>
            <a:r>
              <a:rPr lang="en-GB" altLang="zh-CN" sz="2000" dirty="0" err="1"/>
              <a:t>s.top</a:t>
            </a:r>
            <a:r>
              <a:rPr lang="en-GB" altLang="zh-CN" sz="2000" dirty="0"/>
              <a:t>++; </a:t>
            </a:r>
            <a:r>
              <a:rPr lang="en-GB" altLang="zh-CN" sz="2000" dirty="0" err="1"/>
              <a:t>s.buffer</a:t>
            </a:r>
            <a:r>
              <a:rPr lang="en-GB" altLang="zh-CN" sz="2000" dirty="0"/>
              <a:t>[</a:t>
            </a:r>
            <a:r>
              <a:rPr lang="en-GB" altLang="zh-CN" sz="2000" dirty="0" err="1"/>
              <a:t>s.top</a:t>
            </a:r>
            <a:r>
              <a:rPr lang="en-GB" altLang="zh-CN" sz="2000" dirty="0"/>
              <a:t>] = </a:t>
            </a:r>
            <a:r>
              <a:rPr lang="en-GB" altLang="zh-CN" sz="2000" dirty="0" err="1"/>
              <a:t>i</a:t>
            </a:r>
            <a:r>
              <a:rPr lang="en-GB" altLang="zh-CN" sz="2000" dirty="0"/>
              <a:t>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	return;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}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}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/>
              <a:t>void</a:t>
            </a:r>
            <a:r>
              <a:rPr lang="en-GB" altLang="zh-CN" sz="2000" dirty="0"/>
              <a:t> </a:t>
            </a:r>
            <a:r>
              <a:rPr lang="en-GB" altLang="zh-CN" sz="2000" dirty="0">
                <a:solidFill>
                  <a:srgbClr val="FFC000"/>
                </a:solidFill>
              </a:rPr>
              <a:t>pop</a:t>
            </a:r>
            <a:r>
              <a:rPr lang="en-GB" altLang="zh-CN" sz="2000" dirty="0"/>
              <a:t>(Stack &amp;s, 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&amp;</a:t>
            </a:r>
            <a:r>
              <a:rPr lang="en-GB" altLang="zh-CN" sz="2000" dirty="0" err="1"/>
              <a:t>i</a:t>
            </a:r>
            <a:r>
              <a:rPr lang="en-GB" altLang="zh-CN" sz="2000" dirty="0"/>
              <a:t>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{	if (</a:t>
            </a:r>
            <a:r>
              <a:rPr lang="en-GB" altLang="zh-CN" sz="2000" dirty="0" err="1"/>
              <a:t>s.top</a:t>
            </a:r>
            <a:r>
              <a:rPr lang="en-GB" altLang="zh-CN" sz="2000" dirty="0"/>
              <a:t> == -1)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{	</a:t>
            </a:r>
            <a:r>
              <a:rPr lang="en-GB" altLang="zh-CN" sz="2000" dirty="0" err="1"/>
              <a:t>cout</a:t>
            </a:r>
            <a:r>
              <a:rPr lang="en-GB" altLang="zh-CN" sz="2000" dirty="0"/>
              <a:t> &lt;&lt;</a:t>
            </a:r>
            <a:r>
              <a:rPr lang="en-GB" altLang="zh-CN" sz="2000" dirty="0">
                <a:latin typeface="Arial"/>
              </a:rPr>
              <a:t>“</a:t>
            </a:r>
            <a:r>
              <a:rPr lang="en-GB" altLang="zh-CN" sz="2000" dirty="0"/>
              <a:t>Stack is empty.\n</a:t>
            </a:r>
            <a:r>
              <a:rPr lang="en-GB" altLang="zh-CN" sz="2000" dirty="0">
                <a:latin typeface="Arial"/>
              </a:rPr>
              <a:t>”</a:t>
            </a:r>
            <a:r>
              <a:rPr lang="en-GB" altLang="zh-CN" sz="2000" dirty="0"/>
              <a:t>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	exit(-1);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}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  	else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{	 </a:t>
            </a:r>
            <a:r>
              <a:rPr lang="en-GB" altLang="zh-CN" sz="2000" dirty="0" err="1"/>
              <a:t>i</a:t>
            </a:r>
            <a:r>
              <a:rPr lang="en-GB" altLang="zh-CN" sz="2000" dirty="0"/>
              <a:t> = </a:t>
            </a:r>
            <a:r>
              <a:rPr lang="en-GB" altLang="zh-CN" sz="2000" dirty="0" err="1"/>
              <a:t>s.buffer</a:t>
            </a:r>
            <a:r>
              <a:rPr lang="en-GB" altLang="zh-CN" sz="2000" dirty="0"/>
              <a:t>[</a:t>
            </a:r>
            <a:r>
              <a:rPr lang="en-GB" altLang="zh-CN" sz="2000" dirty="0" err="1"/>
              <a:t>s.top</a:t>
            </a:r>
            <a:r>
              <a:rPr lang="en-GB" altLang="zh-CN" sz="2000" dirty="0"/>
              <a:t>]; </a:t>
            </a:r>
            <a:r>
              <a:rPr lang="en-GB" altLang="zh-CN" sz="2000" dirty="0" err="1"/>
              <a:t>s.top</a:t>
            </a:r>
            <a:r>
              <a:rPr lang="en-GB" altLang="zh-CN" sz="2000" dirty="0"/>
              <a:t>--;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	return;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	}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/>
              <a:t>}</a:t>
            </a:r>
            <a:endParaRPr lang="en-US" altLang="zh-CN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D92393-251C-9B08-A8B8-73257F2278D3}"/>
              </a:ext>
            </a:extLst>
          </p:cNvPr>
          <p:cNvSpPr txBox="1"/>
          <p:nvPr/>
        </p:nvSpPr>
        <p:spPr>
          <a:xfrm>
            <a:off x="6300788" y="3141663"/>
            <a:ext cx="2551112" cy="92233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>
            <a:spAutoFit/>
          </a:bodyPr>
          <a:lstStyle/>
          <a:p>
            <a:pPr marL="0"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ea typeface="宋体" charset="-122"/>
              </a:rPr>
              <a:t>void </a:t>
            </a:r>
            <a:r>
              <a:rPr lang="en-US" altLang="zh-CN" sz="2000" dirty="0" err="1">
                <a:solidFill>
                  <a:srgbClr val="FFC000"/>
                </a:solidFill>
                <a:ea typeface="宋体" charset="-122"/>
              </a:rPr>
              <a:t>init</a:t>
            </a:r>
            <a:r>
              <a:rPr lang="en-US" altLang="zh-CN" sz="2000" dirty="0">
                <a:ea typeface="宋体" charset="-122"/>
              </a:rPr>
              <a:t>(Stack &amp;s)</a:t>
            </a:r>
          </a:p>
          <a:p>
            <a:pPr marL="0"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ea typeface="宋体" charset="-122"/>
              </a:rPr>
              <a:t>{   </a:t>
            </a:r>
            <a:r>
              <a:rPr lang="en-US" altLang="zh-CN" sz="2000" dirty="0" err="1">
                <a:ea typeface="宋体" charset="-122"/>
              </a:rPr>
              <a:t>s.top</a:t>
            </a:r>
            <a:r>
              <a:rPr lang="en-US" altLang="zh-CN" sz="2000" dirty="0">
                <a:ea typeface="宋体" charset="-122"/>
              </a:rPr>
              <a:t> = -1;</a:t>
            </a:r>
          </a:p>
          <a:p>
            <a:pPr marL="0"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ea typeface="宋体" charset="-122"/>
              </a:rPr>
              <a:t>}</a:t>
            </a:r>
            <a:endParaRPr lang="zh-CN" altLang="en-US" dirty="0">
              <a:ea typeface="宋体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835" name="Rectangle 3">
            <a:extLst>
              <a:ext uri="{FF2B5EF4-FFF2-40B4-BE49-F238E27FC236}">
                <a16:creationId xmlns:a16="http://schemas.microsoft.com/office/drawing/2014/main" id="{861683B9-B859-E791-E435-2610BA6340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620713"/>
            <a:ext cx="8351837" cy="6021387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/>
              <a:t>利用预定义的函数操作栈数据</a:t>
            </a:r>
            <a:endParaRPr lang="en-GB" altLang="zh-CN" sz="24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Stack </a:t>
            </a:r>
            <a:r>
              <a:rPr lang="en-GB" altLang="zh-CN" sz="2400" dirty="0" err="1">
                <a:solidFill>
                  <a:srgbClr val="FFC000"/>
                </a:solidFill>
              </a:rPr>
              <a:t>st</a:t>
            </a:r>
            <a:r>
              <a:rPr lang="en-GB" altLang="zh-CN" sz="2400" dirty="0"/>
              <a:t>; </a:t>
            </a:r>
            <a:r>
              <a:rPr lang="en-US" altLang="zh-CN" sz="2400" dirty="0"/>
              <a:t>//</a:t>
            </a:r>
            <a:r>
              <a:rPr lang="zh-CN" altLang="en-US" sz="2400" dirty="0"/>
              <a:t>定义栈数据</a:t>
            </a:r>
            <a:endParaRPr lang="en-GB" altLang="zh-CN" sz="24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400" dirty="0" err="1"/>
              <a:t>int</a:t>
            </a:r>
            <a:r>
              <a:rPr lang="en-GB" altLang="zh-CN" sz="2400" dirty="0"/>
              <a:t> x;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400" dirty="0" err="1"/>
              <a:t>init</a:t>
            </a:r>
            <a:r>
              <a:rPr lang="en-GB" altLang="zh-CN" sz="2400" dirty="0"/>
              <a:t>(</a:t>
            </a:r>
            <a:r>
              <a:rPr lang="en-GB" altLang="zh-CN" sz="2400" dirty="0" err="1"/>
              <a:t>st</a:t>
            </a:r>
            <a:r>
              <a:rPr lang="en-GB" altLang="zh-CN" sz="2400" dirty="0"/>
              <a:t>);  //</a:t>
            </a:r>
            <a:r>
              <a:rPr lang="zh-CN" altLang="en-GB" sz="2400" dirty="0"/>
              <a:t>对</a:t>
            </a:r>
            <a:r>
              <a:rPr lang="en-GB" altLang="zh-CN" sz="2400" dirty="0" err="1"/>
              <a:t>st</a:t>
            </a:r>
            <a:r>
              <a:rPr lang="zh-CN" altLang="en-GB" sz="2400" dirty="0"/>
              <a:t>进行初始化。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push(st,12);  //</a:t>
            </a:r>
            <a:r>
              <a:rPr lang="zh-CN" altLang="en-GB" sz="2400" dirty="0"/>
              <a:t>把</a:t>
            </a:r>
            <a:r>
              <a:rPr lang="en-GB" altLang="zh-CN" sz="2400" dirty="0"/>
              <a:t>12</a:t>
            </a:r>
            <a:r>
              <a:rPr lang="zh-CN" altLang="en-GB" sz="2400" dirty="0"/>
              <a:t>放进栈。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......</a:t>
            </a:r>
            <a:endParaRPr lang="zh-CN" altLang="en-GB" sz="24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400" dirty="0"/>
              <a:t>pop(</a:t>
            </a:r>
            <a:r>
              <a:rPr lang="en-GB" altLang="zh-CN" sz="2400" dirty="0" err="1"/>
              <a:t>st,x</a:t>
            </a:r>
            <a:r>
              <a:rPr lang="en-GB" altLang="zh-CN" sz="2400" dirty="0"/>
              <a:t>);  //</a:t>
            </a:r>
            <a:r>
              <a:rPr lang="zh-CN" altLang="en-GB" sz="2400" dirty="0"/>
              <a:t>把栈顶元素退栈并存入变量</a:t>
            </a:r>
            <a:r>
              <a:rPr lang="en-GB" altLang="zh-CN" sz="2400" dirty="0"/>
              <a:t>x</a:t>
            </a:r>
            <a:r>
              <a:rPr lang="zh-CN" altLang="en-GB" sz="2400" dirty="0"/>
              <a:t>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203C43-2976-EB12-8C76-F4D081ED6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9275"/>
            <a:ext cx="8229600" cy="5903913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9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存在的问题</a:t>
            </a:r>
            <a:endParaRPr lang="en-US" altLang="zh-CN" dirty="0"/>
          </a:p>
          <a:p>
            <a:pPr lvl="2" eaLnBrk="1" hangingPunct="1">
              <a:defRPr/>
            </a:pPr>
            <a:endParaRPr lang="en-US" altLang="zh-CN" dirty="0"/>
          </a:p>
          <a:p>
            <a:pPr lvl="2" eaLnBrk="1" hangingPunct="1">
              <a:defRPr/>
            </a:pPr>
            <a:r>
              <a:rPr lang="zh-CN" altLang="en-US" dirty="0"/>
              <a:t>数据表示是公开的，无法防止使用者直接操作栈数据，因此也会面临直接操作栈数据所带来的问题。例如，把进栈操作误写成：</a:t>
            </a:r>
            <a:endParaRPr lang="en-US" altLang="zh-CN" dirty="0"/>
          </a:p>
          <a:p>
            <a:pPr marL="914400" lvl="2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</a:t>
            </a:r>
            <a:r>
              <a:rPr lang="en-US" altLang="zh-CN" dirty="0" err="1">
                <a:solidFill>
                  <a:srgbClr val="FFC000"/>
                </a:solidFill>
              </a:rPr>
              <a:t>st.top</a:t>
            </a:r>
            <a:r>
              <a:rPr lang="en-US" altLang="zh-CN" dirty="0">
                <a:solidFill>
                  <a:srgbClr val="FFC000"/>
                </a:solidFill>
              </a:rPr>
              <a:t>--;</a:t>
            </a:r>
            <a:r>
              <a:rPr lang="en-US" altLang="zh-CN" dirty="0"/>
              <a:t> </a:t>
            </a:r>
          </a:p>
          <a:p>
            <a:pPr marL="914400" lvl="2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忘了初始化：</a:t>
            </a:r>
            <a:r>
              <a:rPr lang="en-US" altLang="zh-CN" dirty="0" err="1"/>
              <a:t>init</a:t>
            </a:r>
            <a:r>
              <a:rPr lang="en-US" altLang="zh-CN" dirty="0"/>
              <a:t>(</a:t>
            </a:r>
            <a:r>
              <a:rPr lang="en-US" altLang="zh-CN" dirty="0" err="1"/>
              <a:t>st</a:t>
            </a:r>
            <a:r>
              <a:rPr lang="en-US" altLang="zh-CN" dirty="0"/>
              <a:t>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858" name="Rectangle 2">
            <a:extLst>
              <a:ext uri="{FF2B5EF4-FFF2-40B4-BE49-F238E27FC236}">
                <a16:creationId xmlns:a16="http://schemas.microsoft.com/office/drawing/2014/main" id="{D3012FA4-79BB-E6D4-6421-4EB048E35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“栈”的实现</a:t>
            </a:r>
            <a:br>
              <a:rPr lang="en-US" altLang="zh-CN" sz="3600" dirty="0"/>
            </a:br>
            <a:r>
              <a:rPr lang="zh-CN" altLang="en-US" sz="3600" dirty="0"/>
              <a:t>－－数据抽象和封装途径</a:t>
            </a:r>
          </a:p>
        </p:txBody>
      </p:sp>
      <p:sp>
        <p:nvSpPr>
          <p:cNvPr id="1273859" name="Rectangle 3">
            <a:extLst>
              <a:ext uri="{FF2B5EF4-FFF2-40B4-BE49-F238E27FC236}">
                <a16:creationId xmlns:a16="http://schemas.microsoft.com/office/drawing/2014/main" id="{D4E9908E-B604-9963-E15B-E6573567C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95488"/>
            <a:ext cx="8229600" cy="44577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GB" sz="3300" dirty="0"/>
              <a:t>定义栈数据类型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err="1"/>
              <a:t>const</a:t>
            </a:r>
            <a:r>
              <a:rPr lang="en-GB" altLang="zh-CN" sz="2400" dirty="0"/>
              <a:t> </a:t>
            </a:r>
            <a:r>
              <a:rPr lang="en-GB" altLang="zh-CN" sz="2400" dirty="0" err="1"/>
              <a:t>int</a:t>
            </a:r>
            <a:r>
              <a:rPr lang="en-GB" altLang="zh-CN" sz="2400" dirty="0"/>
              <a:t> STACK_SIZE=100;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>
                <a:solidFill>
                  <a:srgbClr val="FFC000"/>
                </a:solidFill>
              </a:rPr>
              <a:t>class</a:t>
            </a:r>
            <a:r>
              <a:rPr lang="en-GB" altLang="zh-CN" sz="2400" dirty="0"/>
              <a:t> Stack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600" dirty="0"/>
              <a:t>public: </a:t>
            </a:r>
            <a:r>
              <a:rPr lang="en-US" altLang="zh-CN" sz="2600" dirty="0"/>
              <a:t>//</a:t>
            </a:r>
            <a:r>
              <a:rPr lang="zh-CN" altLang="en-US" sz="2600" dirty="0"/>
              <a:t>对外的接口（外部可使用的内容）</a:t>
            </a:r>
            <a:endParaRPr lang="en-GB" altLang="zh-CN" sz="26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</a:t>
            </a:r>
            <a:r>
              <a:rPr lang="en-GB" altLang="zh-CN" sz="2400" dirty="0">
                <a:solidFill>
                  <a:srgbClr val="FFC000"/>
                </a:solidFill>
              </a:rPr>
              <a:t>Stack();</a:t>
            </a:r>
            <a:endParaRPr lang="en-GB" altLang="zh-CN" sz="2400" dirty="0"/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600" dirty="0">
                <a:solidFill>
                  <a:srgbClr val="FFC000"/>
                </a:solidFill>
              </a:rPr>
              <a:t>   void push(</a:t>
            </a:r>
            <a:r>
              <a:rPr lang="en-GB" altLang="zh-CN" sz="2600" dirty="0" err="1">
                <a:solidFill>
                  <a:srgbClr val="FFC000"/>
                </a:solidFill>
              </a:rPr>
              <a:t>int</a:t>
            </a:r>
            <a:r>
              <a:rPr lang="en-GB" altLang="zh-CN" sz="2600" dirty="0">
                <a:solidFill>
                  <a:srgbClr val="FFC000"/>
                </a:solidFill>
              </a:rPr>
              <a:t> </a:t>
            </a:r>
            <a:r>
              <a:rPr lang="en-GB" altLang="zh-CN" sz="2600" dirty="0" err="1">
                <a:solidFill>
                  <a:srgbClr val="FFC000"/>
                </a:solidFill>
              </a:rPr>
              <a:t>i</a:t>
            </a:r>
            <a:r>
              <a:rPr lang="en-GB" altLang="zh-CN" sz="2600" dirty="0">
                <a:solidFill>
                  <a:srgbClr val="FFC000"/>
                </a:solidFill>
              </a:rPr>
              <a:t>);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600" dirty="0">
                <a:solidFill>
                  <a:srgbClr val="FFC000"/>
                </a:solidFill>
              </a:rPr>
              <a:t>   void pop(</a:t>
            </a:r>
            <a:r>
              <a:rPr lang="en-GB" altLang="zh-CN" sz="2600" dirty="0" err="1">
                <a:solidFill>
                  <a:srgbClr val="FFC000"/>
                </a:solidFill>
              </a:rPr>
              <a:t>int</a:t>
            </a:r>
            <a:r>
              <a:rPr lang="en-GB" altLang="zh-CN" sz="2600" dirty="0">
                <a:solidFill>
                  <a:srgbClr val="FFC000"/>
                </a:solidFill>
              </a:rPr>
              <a:t> &amp;</a:t>
            </a:r>
            <a:r>
              <a:rPr lang="en-GB" altLang="zh-CN" sz="2600" dirty="0" err="1">
                <a:solidFill>
                  <a:srgbClr val="FFC000"/>
                </a:solidFill>
              </a:rPr>
              <a:t>i</a:t>
            </a:r>
            <a:r>
              <a:rPr lang="en-GB" altLang="zh-CN" sz="2600" dirty="0">
                <a:solidFill>
                  <a:srgbClr val="FFC000"/>
                </a:solidFill>
              </a:rPr>
              <a:t>);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600" dirty="0">
                <a:solidFill>
                  <a:srgbClr val="00FFFF"/>
                </a:solidFill>
              </a:rPr>
              <a:t>private: </a:t>
            </a:r>
            <a:r>
              <a:rPr lang="en-US" altLang="zh-CN" sz="2600" dirty="0"/>
              <a:t>//</a:t>
            </a:r>
            <a:r>
              <a:rPr lang="zh-CN" altLang="en-US" sz="2600" dirty="0"/>
              <a:t>隐藏的内容，外部不可使用</a:t>
            </a:r>
            <a:endParaRPr lang="en-GB" altLang="zh-CN" sz="26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600" dirty="0"/>
              <a:t>   </a:t>
            </a:r>
            <a:r>
              <a:rPr lang="en-GB" altLang="zh-CN" sz="2600" dirty="0" err="1"/>
              <a:t>int</a:t>
            </a:r>
            <a:r>
              <a:rPr lang="en-GB" altLang="zh-CN" sz="2600" dirty="0"/>
              <a:t> top;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600" dirty="0"/>
              <a:t>	</a:t>
            </a:r>
            <a:r>
              <a:rPr lang="en-GB" altLang="zh-CN" sz="2600" dirty="0" err="1"/>
              <a:t>int</a:t>
            </a:r>
            <a:r>
              <a:rPr lang="en-GB" altLang="zh-CN" sz="2600" dirty="0"/>
              <a:t> buffer[STACK_SIZE];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GB" altLang="zh-CN" sz="2600" dirty="0"/>
              <a:t>};</a:t>
            </a:r>
            <a:endParaRPr lang="en-US" altLang="zh-CN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883" name="Rectangle 3">
            <a:extLst>
              <a:ext uri="{FF2B5EF4-FFF2-40B4-BE49-F238E27FC236}">
                <a16:creationId xmlns:a16="http://schemas.microsoft.com/office/drawing/2014/main" id="{F89236F6-3827-EBFD-AFD2-29F1D96775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25" y="188913"/>
            <a:ext cx="8229600" cy="6669087"/>
          </a:xfrm>
        </p:spPr>
        <p:txBody>
          <a:bodyPr/>
          <a:lstStyle/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zh-CN" altLang="en-GB" sz="2200" dirty="0"/>
              <a:t>	</a:t>
            </a:r>
            <a:r>
              <a:rPr lang="en-US" altLang="zh-CN" sz="2200" dirty="0"/>
              <a:t>void</a:t>
            </a:r>
            <a:r>
              <a:rPr lang="en-GB" altLang="zh-CN" sz="2200" dirty="0"/>
              <a:t> </a:t>
            </a:r>
            <a:r>
              <a:rPr lang="en-GB" altLang="zh-CN" sz="2200" dirty="0">
                <a:solidFill>
                  <a:srgbClr val="FFC000"/>
                </a:solidFill>
              </a:rPr>
              <a:t>Stack::</a:t>
            </a:r>
            <a:r>
              <a:rPr lang="en-GB" altLang="zh-CN" sz="2200" dirty="0"/>
              <a:t>push(</a:t>
            </a:r>
            <a:r>
              <a:rPr lang="en-GB" altLang="zh-CN" sz="2200" dirty="0" err="1"/>
              <a:t>int</a:t>
            </a:r>
            <a:r>
              <a:rPr lang="en-GB" altLang="zh-CN" sz="2200" dirty="0"/>
              <a:t> </a:t>
            </a:r>
            <a:r>
              <a:rPr lang="en-GB" altLang="zh-CN" sz="2200" dirty="0" err="1"/>
              <a:t>i</a:t>
            </a:r>
            <a:r>
              <a:rPr lang="en-GB" altLang="zh-CN" sz="2200" dirty="0"/>
              <a:t>)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{ 	if (top == STACK_SIZE-1) 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{	</a:t>
            </a:r>
            <a:r>
              <a:rPr lang="en-GB" altLang="zh-CN" sz="2200" dirty="0" err="1"/>
              <a:t>cout</a:t>
            </a:r>
            <a:r>
              <a:rPr lang="en-GB" altLang="zh-CN" sz="2200" dirty="0"/>
              <a:t> &lt;&lt; </a:t>
            </a:r>
            <a:r>
              <a:rPr lang="en-GB" altLang="zh-CN" sz="2200" dirty="0">
                <a:latin typeface="Arial"/>
              </a:rPr>
              <a:t>“</a:t>
            </a:r>
            <a:r>
              <a:rPr lang="en-GB" altLang="zh-CN" sz="2200" dirty="0"/>
              <a:t>Stack is overflow.\n</a:t>
            </a:r>
            <a:r>
              <a:rPr lang="en-GB" altLang="zh-CN" sz="2200" dirty="0">
                <a:latin typeface="Arial"/>
              </a:rPr>
              <a:t>”</a:t>
            </a:r>
            <a:r>
              <a:rPr lang="en-GB" altLang="zh-CN" sz="2200" dirty="0"/>
              <a:t>;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	exit(-1);</a:t>
            </a:r>
          </a:p>
          <a:p>
            <a:pPr defTabSz="803275"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}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else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{	top++;  buffer[top] = </a:t>
            </a:r>
            <a:r>
              <a:rPr lang="en-GB" altLang="zh-CN" sz="2200" dirty="0" err="1"/>
              <a:t>i</a:t>
            </a:r>
            <a:r>
              <a:rPr lang="en-GB" altLang="zh-CN" sz="2200" dirty="0"/>
              <a:t>;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	return;</a:t>
            </a:r>
          </a:p>
          <a:p>
            <a:pPr defTabSz="803275"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}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}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void </a:t>
            </a:r>
            <a:r>
              <a:rPr lang="en-GB" altLang="zh-CN" sz="2200" dirty="0">
                <a:solidFill>
                  <a:srgbClr val="FFC000"/>
                </a:solidFill>
              </a:rPr>
              <a:t>Stack::</a:t>
            </a:r>
            <a:r>
              <a:rPr lang="en-GB" altLang="zh-CN" sz="2200" dirty="0"/>
              <a:t>pop(</a:t>
            </a:r>
            <a:r>
              <a:rPr lang="en-GB" altLang="zh-CN" sz="2200" dirty="0" err="1"/>
              <a:t>int</a:t>
            </a:r>
            <a:r>
              <a:rPr lang="en-GB" altLang="zh-CN" sz="2200" dirty="0"/>
              <a:t> &amp;</a:t>
            </a:r>
            <a:r>
              <a:rPr lang="en-GB" altLang="zh-CN" sz="2200" dirty="0" err="1"/>
              <a:t>i</a:t>
            </a:r>
            <a:r>
              <a:rPr lang="en-GB" altLang="zh-CN" sz="2200" dirty="0"/>
              <a:t>)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{ 	if (top == -1) 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{	</a:t>
            </a:r>
            <a:r>
              <a:rPr lang="en-GB" altLang="zh-CN" sz="2200" dirty="0" err="1"/>
              <a:t>cout</a:t>
            </a:r>
            <a:r>
              <a:rPr lang="en-GB" altLang="zh-CN" sz="2200" dirty="0"/>
              <a:t> &lt;&lt; </a:t>
            </a:r>
            <a:r>
              <a:rPr lang="en-GB" altLang="zh-CN" sz="2200" dirty="0">
                <a:latin typeface="Arial"/>
              </a:rPr>
              <a:t>“</a:t>
            </a:r>
            <a:r>
              <a:rPr lang="en-GB" altLang="zh-CN" sz="2200" dirty="0"/>
              <a:t>Stack is empty.\n</a:t>
            </a:r>
            <a:r>
              <a:rPr lang="en-GB" altLang="zh-CN" sz="2200" dirty="0">
                <a:latin typeface="Arial"/>
              </a:rPr>
              <a:t>”</a:t>
            </a:r>
            <a:r>
              <a:rPr lang="en-GB" altLang="zh-CN" sz="2200" dirty="0"/>
              <a:t>;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	exit(-1);</a:t>
            </a:r>
          </a:p>
          <a:p>
            <a:pPr defTabSz="803275"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}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else 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{	</a:t>
            </a:r>
            <a:r>
              <a:rPr lang="en-GB" altLang="zh-CN" sz="2200" dirty="0" err="1"/>
              <a:t>i</a:t>
            </a:r>
            <a:r>
              <a:rPr lang="en-GB" altLang="zh-CN" sz="2200" dirty="0"/>
              <a:t> = buffer[top]; top--;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	return;</a:t>
            </a:r>
          </a:p>
          <a:p>
            <a:pPr defTabSz="803275"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	}</a:t>
            </a:r>
          </a:p>
          <a:p>
            <a:pPr defTabSz="803275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725488" algn="l"/>
                <a:tab pos="1071563" algn="l"/>
              </a:tabLst>
              <a:defRPr/>
            </a:pPr>
            <a:r>
              <a:rPr lang="en-GB" altLang="zh-CN" sz="2200" dirty="0"/>
              <a:t>	}</a:t>
            </a:r>
            <a:endParaRPr lang="en-US" altLang="zh-CN"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6E081-04C5-4CA1-B844-76AE579701FC}"/>
              </a:ext>
            </a:extLst>
          </p:cNvPr>
          <p:cNvSpPr txBox="1"/>
          <p:nvPr/>
        </p:nvSpPr>
        <p:spPr>
          <a:xfrm>
            <a:off x="6403975" y="2825750"/>
            <a:ext cx="2271713" cy="11080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altLang="zh-CN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Stack::Stack()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{ top = -1; 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}</a:t>
            </a:r>
            <a:endParaRPr lang="zh-CN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907" name="Rectangle 3">
            <a:extLst>
              <a:ext uri="{FF2B5EF4-FFF2-40B4-BE49-F238E27FC236}">
                <a16:creationId xmlns:a16="http://schemas.microsoft.com/office/drawing/2014/main" id="{EAD07077-F70C-C166-083A-0DD245B15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229600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GB" sz="2800" dirty="0"/>
              <a:t>使用栈类型数据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Stack </a:t>
            </a:r>
            <a:r>
              <a:rPr lang="en-GB" altLang="zh-CN" sz="2400" dirty="0" err="1">
                <a:solidFill>
                  <a:srgbClr val="FFC000"/>
                </a:solidFill>
              </a:rPr>
              <a:t>st</a:t>
            </a:r>
            <a:r>
              <a:rPr lang="en-GB" altLang="zh-CN" sz="2400" dirty="0"/>
              <a:t>;  //</a:t>
            </a:r>
            <a:r>
              <a:rPr lang="zh-CN" altLang="en-US" sz="2400" dirty="0"/>
              <a:t>会</a:t>
            </a:r>
            <a:r>
              <a:rPr lang="zh-CN" altLang="en-GB" sz="2400" dirty="0"/>
              <a:t>自动地去调用</a:t>
            </a:r>
            <a:r>
              <a:rPr lang="en-GB" altLang="zh-CN" sz="2400" dirty="0" err="1"/>
              <a:t>st.Stack</a:t>
            </a:r>
            <a:r>
              <a:rPr lang="en-GB" altLang="zh-CN" sz="2400" dirty="0"/>
              <a:t>()</a:t>
            </a:r>
            <a:r>
              <a:rPr lang="zh-CN" altLang="en-GB" sz="2400" dirty="0"/>
              <a:t>对</a:t>
            </a:r>
            <a:r>
              <a:rPr lang="en-GB" altLang="zh-CN" sz="2400" dirty="0" err="1"/>
              <a:t>st</a:t>
            </a:r>
            <a:r>
              <a:rPr lang="zh-CN" altLang="en-GB" sz="2400" dirty="0"/>
              <a:t>进行初始化。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err="1"/>
              <a:t>int</a:t>
            </a:r>
            <a:r>
              <a:rPr lang="en-GB" altLang="zh-CN" sz="2400" dirty="0"/>
              <a:t> x;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err="1"/>
              <a:t>st.push</a:t>
            </a:r>
            <a:r>
              <a:rPr lang="en-GB" altLang="zh-CN" sz="2400" dirty="0"/>
              <a:t>(12);  //</a:t>
            </a:r>
            <a:r>
              <a:rPr lang="zh-CN" altLang="en-GB" sz="2400" dirty="0"/>
              <a:t>把</a:t>
            </a:r>
            <a:r>
              <a:rPr lang="en-GB" altLang="zh-CN" sz="2400" dirty="0"/>
              <a:t>12</a:t>
            </a:r>
            <a:r>
              <a:rPr lang="zh-CN" altLang="en-GB" sz="2400" dirty="0"/>
              <a:t>放进栈</a:t>
            </a:r>
            <a:r>
              <a:rPr lang="en-GB" altLang="zh-CN" sz="2400" dirty="0" err="1"/>
              <a:t>st</a:t>
            </a:r>
            <a:r>
              <a:rPr lang="zh-CN" altLang="en-GB" sz="2400" dirty="0"/>
              <a:t>。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......</a:t>
            </a:r>
            <a:endParaRPr lang="zh-CN" altLang="en-GB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err="1"/>
              <a:t>st.pop</a:t>
            </a:r>
            <a:r>
              <a:rPr lang="en-GB" altLang="zh-CN" sz="2400" dirty="0"/>
              <a:t>(x);  //</a:t>
            </a:r>
            <a:r>
              <a:rPr lang="zh-CN" altLang="en-GB" sz="2400" dirty="0"/>
              <a:t>把栈顶元素退栈并存入变量</a:t>
            </a:r>
            <a:r>
              <a:rPr lang="en-GB" altLang="zh-CN" sz="2400" dirty="0"/>
              <a:t>x</a:t>
            </a:r>
            <a:r>
              <a:rPr lang="zh-CN" altLang="en-GB" sz="2400" dirty="0"/>
              <a:t>。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......</a:t>
            </a:r>
            <a:endParaRPr lang="zh-CN" altLang="en-GB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err="1"/>
              <a:t>st.top</a:t>
            </a:r>
            <a:r>
              <a:rPr lang="en-GB" altLang="zh-CN" sz="2400" dirty="0"/>
              <a:t> = -1;  //</a:t>
            </a:r>
            <a:r>
              <a:rPr lang="en-GB" altLang="zh-CN" sz="2400" dirty="0">
                <a:solidFill>
                  <a:schemeClr val="folHlink"/>
                </a:solidFill>
              </a:rPr>
              <a:t>Error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err="1"/>
              <a:t>st.top</a:t>
            </a:r>
            <a:r>
              <a:rPr lang="en-GB" altLang="zh-CN" sz="2400" dirty="0"/>
              <a:t>++;  //</a:t>
            </a:r>
            <a:r>
              <a:rPr lang="en-GB" altLang="zh-CN" sz="2400" dirty="0">
                <a:solidFill>
                  <a:schemeClr val="folHlink"/>
                </a:solidFill>
              </a:rPr>
              <a:t>Error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 err="1"/>
              <a:t>st.buffer</a:t>
            </a:r>
            <a:r>
              <a:rPr lang="en-GB" altLang="zh-CN" sz="2400" dirty="0"/>
              <a:t>[</a:t>
            </a:r>
            <a:r>
              <a:rPr lang="en-GB" altLang="zh-CN" sz="2400" dirty="0" err="1"/>
              <a:t>st.top</a:t>
            </a:r>
            <a:r>
              <a:rPr lang="en-GB" altLang="zh-CN" sz="2400" dirty="0"/>
              <a:t>] = 12;  //</a:t>
            </a:r>
            <a:r>
              <a:rPr lang="en-GB" altLang="zh-CN" sz="2400" dirty="0">
                <a:solidFill>
                  <a:schemeClr val="folHlink"/>
                </a:solidFill>
              </a:rPr>
              <a:t>Error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/>
              <a:t>st.f</a:t>
            </a:r>
            <a:r>
              <a:rPr lang="en-US" altLang="zh-CN" sz="2400" dirty="0"/>
              <a:t>(); //</a:t>
            </a:r>
            <a:r>
              <a:rPr lang="en-US" altLang="zh-CN" sz="2400" dirty="0">
                <a:solidFill>
                  <a:schemeClr val="folHlink"/>
                </a:solidFill>
              </a:rPr>
              <a:t>Error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706" name="Rectangle 2">
            <a:extLst>
              <a:ext uri="{FF2B5EF4-FFF2-40B4-BE49-F238E27FC236}">
                <a16:creationId xmlns:a16="http://schemas.microsoft.com/office/drawing/2014/main" id="{A13A627C-DD5B-3FA3-4D02-80B412B75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“栈”的另一种实现（链表表示）</a:t>
            </a:r>
            <a:br>
              <a:rPr lang="en-US" altLang="zh-CN" sz="4000" dirty="0"/>
            </a:br>
            <a:r>
              <a:rPr lang="zh-CN" altLang="en-US" sz="4000" dirty="0"/>
              <a:t>－－数据抽象和封装途径</a:t>
            </a:r>
            <a:endParaRPr lang="en-US" altLang="zh-CN" sz="4000" dirty="0"/>
          </a:p>
        </p:txBody>
      </p:sp>
      <p:sp>
        <p:nvSpPr>
          <p:cNvPr id="1352707" name="Rectangle 3">
            <a:extLst>
              <a:ext uri="{FF2B5EF4-FFF2-40B4-BE49-F238E27FC236}">
                <a16:creationId xmlns:a16="http://schemas.microsoft.com/office/drawing/2014/main" id="{872951F7-B057-8044-A207-08EB3FC576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21163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/>
              <a:t>栈的数据表示发生变化！</a:t>
            </a:r>
            <a:endParaRPr lang="en-GB" altLang="zh-CN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class Stack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public:</a:t>
            </a:r>
            <a:endParaRPr lang="zh-CN" altLang="en-GB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</a:t>
            </a:r>
            <a:r>
              <a:rPr lang="en-GB" altLang="zh-CN" sz="2400" dirty="0">
                <a:solidFill>
                  <a:srgbClr val="FFC000"/>
                </a:solidFill>
              </a:rPr>
              <a:t>Stack();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>
                <a:solidFill>
                  <a:srgbClr val="FFC000"/>
                </a:solidFill>
              </a:rPr>
              <a:t>		void push(</a:t>
            </a:r>
            <a:r>
              <a:rPr lang="en-GB" altLang="zh-CN" sz="2400" dirty="0" err="1">
                <a:solidFill>
                  <a:srgbClr val="FFC000"/>
                </a:solidFill>
              </a:rPr>
              <a:t>int</a:t>
            </a:r>
            <a:r>
              <a:rPr lang="en-GB" altLang="zh-CN" sz="2400" dirty="0">
                <a:solidFill>
                  <a:srgbClr val="FFC000"/>
                </a:solidFill>
              </a:rPr>
              <a:t> </a:t>
            </a:r>
            <a:r>
              <a:rPr lang="en-GB" altLang="zh-CN" sz="2400" dirty="0" err="1">
                <a:solidFill>
                  <a:srgbClr val="FFC000"/>
                </a:solidFill>
              </a:rPr>
              <a:t>i</a:t>
            </a:r>
            <a:r>
              <a:rPr lang="en-GB" altLang="zh-CN" sz="2400" dirty="0">
                <a:solidFill>
                  <a:srgbClr val="FFC000"/>
                </a:solidFill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>
                <a:solidFill>
                  <a:srgbClr val="FFC000"/>
                </a:solidFill>
              </a:rPr>
              <a:t>		void pop(</a:t>
            </a:r>
            <a:r>
              <a:rPr lang="en-GB" altLang="zh-CN" sz="2400" dirty="0" err="1">
                <a:solidFill>
                  <a:srgbClr val="FFC000"/>
                </a:solidFill>
              </a:rPr>
              <a:t>int</a:t>
            </a:r>
            <a:r>
              <a:rPr lang="en-GB" altLang="zh-CN" sz="2400" dirty="0">
                <a:solidFill>
                  <a:srgbClr val="FFC000"/>
                </a:solidFill>
              </a:rPr>
              <a:t> &amp;</a:t>
            </a:r>
            <a:r>
              <a:rPr lang="en-GB" altLang="zh-CN" sz="2400" dirty="0" err="1">
                <a:solidFill>
                  <a:srgbClr val="FFC000"/>
                </a:solidFill>
              </a:rPr>
              <a:t>i</a:t>
            </a:r>
            <a:r>
              <a:rPr lang="en-GB" altLang="zh-CN" sz="2400" dirty="0">
                <a:solidFill>
                  <a:srgbClr val="FFC000"/>
                </a:solidFill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</a:t>
            </a:r>
            <a:r>
              <a:rPr lang="en-GB" altLang="zh-CN" sz="2400" dirty="0">
                <a:solidFill>
                  <a:schemeClr val="accent2"/>
                </a:solidFill>
              </a:rPr>
              <a:t>private: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 err="1"/>
              <a:t>struct</a:t>
            </a:r>
            <a:r>
              <a:rPr lang="en-US" altLang="zh-CN" sz="2400" dirty="0"/>
              <a:t> Node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{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content</a:t>
            </a:r>
            <a:r>
              <a:rPr lang="en-GB" altLang="zh-CN" sz="2400" dirty="0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   Node *next;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	} *top; //</a:t>
            </a:r>
            <a:r>
              <a:rPr lang="zh-CN" altLang="en-US" sz="2400" dirty="0"/>
              <a:t>数据表示了改成链表</a:t>
            </a:r>
            <a:endParaRPr lang="en-GB" altLang="zh-CN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};</a:t>
            </a:r>
            <a:endParaRPr lang="en-US" altLang="zh-CN" sz="2400" dirty="0"/>
          </a:p>
        </p:txBody>
      </p:sp>
      <p:sp>
        <p:nvSpPr>
          <p:cNvPr id="21508" name="Rectangle 5">
            <a:extLst>
              <a:ext uri="{FF2B5EF4-FFF2-40B4-BE49-F238E27FC236}">
                <a16:creationId xmlns:a16="http://schemas.microsoft.com/office/drawing/2014/main" id="{C3C52C22-BDC1-06C3-7ACC-E6BDDA40F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63" y="5581650"/>
            <a:ext cx="673100" cy="936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1509" name="Rectangle 6">
            <a:extLst>
              <a:ext uri="{FF2B5EF4-FFF2-40B4-BE49-F238E27FC236}">
                <a16:creationId xmlns:a16="http://schemas.microsoft.com/office/drawing/2014/main" id="{7E5986E6-74A6-60A4-6060-E97386428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5581650"/>
            <a:ext cx="673100" cy="936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1510" name="Rectangle 7">
            <a:extLst>
              <a:ext uri="{FF2B5EF4-FFF2-40B4-BE49-F238E27FC236}">
                <a16:creationId xmlns:a16="http://schemas.microsoft.com/office/drawing/2014/main" id="{9A136E0C-AD87-0AC9-F147-554A2FEA5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5938" y="5581650"/>
            <a:ext cx="673100" cy="936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1511" name="Line 8">
            <a:extLst>
              <a:ext uri="{FF2B5EF4-FFF2-40B4-BE49-F238E27FC236}">
                <a16:creationId xmlns:a16="http://schemas.microsoft.com/office/drawing/2014/main" id="{AF342A07-A1B4-5F61-5385-32E0E88881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2763" y="6048375"/>
            <a:ext cx="67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2" name="Line 9">
            <a:extLst>
              <a:ext uri="{FF2B5EF4-FFF2-40B4-BE49-F238E27FC236}">
                <a16:creationId xmlns:a16="http://schemas.microsoft.com/office/drawing/2014/main" id="{F4A7D6E9-800C-5009-91C8-C98F026A33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8963" y="6048375"/>
            <a:ext cx="67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3" name="Line 10">
            <a:extLst>
              <a:ext uri="{FF2B5EF4-FFF2-40B4-BE49-F238E27FC236}">
                <a16:creationId xmlns:a16="http://schemas.microsoft.com/office/drawing/2014/main" id="{873C7F40-6C14-C544-74F8-DEEB3B7452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5938" y="6048375"/>
            <a:ext cx="67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4" name="Rectangle 11">
            <a:extLst>
              <a:ext uri="{FF2B5EF4-FFF2-40B4-BE49-F238E27FC236}">
                <a16:creationId xmlns:a16="http://schemas.microsoft.com/office/drawing/2014/main" id="{5EDD3947-9250-16BD-5D10-22B482E5E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6048375"/>
            <a:ext cx="673100" cy="469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1515" name="Line 12">
            <a:extLst>
              <a:ext uri="{FF2B5EF4-FFF2-40B4-BE49-F238E27FC236}">
                <a16:creationId xmlns:a16="http://schemas.microsoft.com/office/drawing/2014/main" id="{613C28CC-D5A5-B7A7-4211-774C78FFCB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5825" y="6284913"/>
            <a:ext cx="447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6" name="Line 13">
            <a:extLst>
              <a:ext uri="{FF2B5EF4-FFF2-40B4-BE49-F238E27FC236}">
                <a16:creationId xmlns:a16="http://schemas.microsoft.com/office/drawing/2014/main" id="{0B47CFD4-8F91-0397-2859-AD3F3AC2F5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73500" y="5815013"/>
            <a:ext cx="0" cy="469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7" name="Line 14">
            <a:extLst>
              <a:ext uri="{FF2B5EF4-FFF2-40B4-BE49-F238E27FC236}">
                <a16:creationId xmlns:a16="http://schemas.microsoft.com/office/drawing/2014/main" id="{78D8DADD-D3CC-1F3E-5E0C-58378A19E9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3500" y="5815013"/>
            <a:ext cx="449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8" name="Line 15">
            <a:extLst>
              <a:ext uri="{FF2B5EF4-FFF2-40B4-BE49-F238E27FC236}">
                <a16:creationId xmlns:a16="http://schemas.microsoft.com/office/drawing/2014/main" id="{6D2FF9D9-8120-A93A-5DCF-1848D512B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0438" y="6284913"/>
            <a:ext cx="449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9" name="Line 16">
            <a:extLst>
              <a:ext uri="{FF2B5EF4-FFF2-40B4-BE49-F238E27FC236}">
                <a16:creationId xmlns:a16="http://schemas.microsoft.com/office/drawing/2014/main" id="{2830A47F-BD38-9A9A-A743-814EADB117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700" y="5815013"/>
            <a:ext cx="0" cy="469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0" name="Line 17">
            <a:extLst>
              <a:ext uri="{FF2B5EF4-FFF2-40B4-BE49-F238E27FC236}">
                <a16:creationId xmlns:a16="http://schemas.microsoft.com/office/drawing/2014/main" id="{7C3ADCAA-8319-C1C2-A31F-D0A4AC28A2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815013"/>
            <a:ext cx="449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1" name="Line 18">
            <a:extLst>
              <a:ext uri="{FF2B5EF4-FFF2-40B4-BE49-F238E27FC236}">
                <a16:creationId xmlns:a16="http://schemas.microsoft.com/office/drawing/2014/main" id="{45C0AC3D-16F1-9550-3628-8933E5C261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6638" y="6284913"/>
            <a:ext cx="449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2" name="Line 19">
            <a:extLst>
              <a:ext uri="{FF2B5EF4-FFF2-40B4-BE49-F238E27FC236}">
                <a16:creationId xmlns:a16="http://schemas.microsoft.com/office/drawing/2014/main" id="{F0CF26ED-7F5C-04DF-AF34-5F4F79360D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65900" y="5815013"/>
            <a:ext cx="0" cy="469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3" name="Line 20">
            <a:extLst>
              <a:ext uri="{FF2B5EF4-FFF2-40B4-BE49-F238E27FC236}">
                <a16:creationId xmlns:a16="http://schemas.microsoft.com/office/drawing/2014/main" id="{2F78EA8C-2AD1-D1BC-558B-CF114AB16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5900" y="5815013"/>
            <a:ext cx="449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4" name="Line 21">
            <a:extLst>
              <a:ext uri="{FF2B5EF4-FFF2-40B4-BE49-F238E27FC236}">
                <a16:creationId xmlns:a16="http://schemas.microsoft.com/office/drawing/2014/main" id="{6ED4A7D8-DA42-2124-426A-207B916903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6284913"/>
            <a:ext cx="447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5" name="Line 22">
            <a:extLst>
              <a:ext uri="{FF2B5EF4-FFF2-40B4-BE49-F238E27FC236}">
                <a16:creationId xmlns:a16="http://schemas.microsoft.com/office/drawing/2014/main" id="{AC164694-C616-F84A-D8C9-161C5C42F5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86675" y="5815013"/>
            <a:ext cx="0" cy="469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6" name="Line 23">
            <a:extLst>
              <a:ext uri="{FF2B5EF4-FFF2-40B4-BE49-F238E27FC236}">
                <a16:creationId xmlns:a16="http://schemas.microsoft.com/office/drawing/2014/main" id="{7434E4D3-B006-18CE-B5F6-FC469DCFF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6675" y="5815013"/>
            <a:ext cx="449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7" name="Text Box 24">
            <a:extLst>
              <a:ext uri="{FF2B5EF4-FFF2-40B4-BE49-F238E27FC236}">
                <a16:creationId xmlns:a16="http://schemas.microsoft.com/office/drawing/2014/main" id="{4C0BA4EC-5EBF-A1D6-FEC5-3A7A29F9D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5651500"/>
            <a:ext cx="6413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/>
              <a:t> top</a:t>
            </a:r>
            <a:endParaRPr lang="en-US" altLang="zh-CN" sz="1600"/>
          </a:p>
        </p:txBody>
      </p:sp>
      <p:sp>
        <p:nvSpPr>
          <p:cNvPr id="21528" name="Text Box 25">
            <a:extLst>
              <a:ext uri="{FF2B5EF4-FFF2-40B4-BE49-F238E27FC236}">
                <a16:creationId xmlns:a16="http://schemas.microsoft.com/office/drawing/2014/main" id="{570EABAD-78CD-927E-C141-459382B25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5788" y="5595938"/>
            <a:ext cx="417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/>
              <a:t>a</a:t>
            </a:r>
            <a:r>
              <a:rPr lang="en-US" altLang="zh-CN" sz="1800" baseline="-25000"/>
              <a:t>1</a:t>
            </a:r>
          </a:p>
        </p:txBody>
      </p:sp>
      <p:sp>
        <p:nvSpPr>
          <p:cNvPr id="21529" name="Text Box 26">
            <a:extLst>
              <a:ext uri="{FF2B5EF4-FFF2-40B4-BE49-F238E27FC236}">
                <a16:creationId xmlns:a16="http://schemas.microsoft.com/office/drawing/2014/main" id="{140FD1B9-1CA3-D951-9901-FEE2F71F4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5581650"/>
            <a:ext cx="4175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/>
              <a:t>a</a:t>
            </a:r>
            <a:r>
              <a:rPr lang="en-US" altLang="zh-CN" sz="1800" baseline="-25000"/>
              <a:t>2</a:t>
            </a:r>
          </a:p>
        </p:txBody>
      </p:sp>
      <p:sp>
        <p:nvSpPr>
          <p:cNvPr id="21530" name="Text Box 27">
            <a:extLst>
              <a:ext uri="{FF2B5EF4-FFF2-40B4-BE49-F238E27FC236}">
                <a16:creationId xmlns:a16="http://schemas.microsoft.com/office/drawing/2014/main" id="{C18D0899-3D7E-8D9A-9604-B42502255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5595938"/>
            <a:ext cx="4175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/>
              <a:t>a</a:t>
            </a:r>
            <a:r>
              <a:rPr lang="en-US" altLang="zh-CN" sz="1800" baseline="-25000"/>
              <a:t>n</a:t>
            </a:r>
          </a:p>
        </p:txBody>
      </p:sp>
      <p:sp>
        <p:nvSpPr>
          <p:cNvPr id="21531" name="Line 28">
            <a:extLst>
              <a:ext uri="{FF2B5EF4-FFF2-40B4-BE49-F238E27FC236}">
                <a16:creationId xmlns:a16="http://schemas.microsoft.com/office/drawing/2014/main" id="{FF781FF7-B3BE-F27F-EDD7-FA252BADBA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4350" y="608488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1532" name="Text Box 29">
            <a:extLst>
              <a:ext uri="{FF2B5EF4-FFF2-40B4-BE49-F238E27FC236}">
                <a16:creationId xmlns:a16="http://schemas.microsoft.com/office/drawing/2014/main" id="{E80EA46F-4266-212C-97F0-5AF014E24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650" y="6157913"/>
            <a:ext cx="7762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/>
              <a:t>NULL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731" name="Rectangle 3">
            <a:extLst>
              <a:ext uri="{FF2B5EF4-FFF2-40B4-BE49-F238E27FC236}">
                <a16:creationId xmlns:a16="http://schemas.microsoft.com/office/drawing/2014/main" id="{85805C3E-A2B8-1714-366E-93B5568CD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59765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void Stack::push(</a:t>
            </a:r>
            <a:r>
              <a:rPr lang="en-GB" altLang="zh-CN" sz="1800" dirty="0" err="1"/>
              <a:t>int</a:t>
            </a:r>
            <a:r>
              <a:rPr lang="en-GB" altLang="zh-CN" sz="1800" dirty="0"/>
              <a:t> </a:t>
            </a:r>
            <a:r>
              <a:rPr lang="en-GB" altLang="zh-CN" sz="1800" dirty="0" err="1"/>
              <a:t>i</a:t>
            </a:r>
            <a:r>
              <a:rPr lang="en-GB" altLang="zh-CN" sz="1800" dirty="0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{	Node *p=new Node;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if (p == NULL)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{	</a:t>
            </a:r>
            <a:r>
              <a:rPr lang="en-GB" altLang="zh-CN" sz="1800" dirty="0" err="1"/>
              <a:t>cout</a:t>
            </a:r>
            <a:r>
              <a:rPr lang="en-GB" altLang="zh-CN" sz="1800" dirty="0"/>
              <a:t> &lt;&lt; "Stack is overflow.\n";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	exit(-1);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else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{	p-&gt;content = </a:t>
            </a:r>
            <a:r>
              <a:rPr lang="en-GB" altLang="zh-CN" sz="1800" dirty="0" err="1"/>
              <a:t>i</a:t>
            </a:r>
            <a:r>
              <a:rPr lang="en-GB" altLang="zh-CN" sz="1800" dirty="0"/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	p-&gt;next = top;	top = 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	return;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void Stack::pop(</a:t>
            </a:r>
            <a:r>
              <a:rPr lang="en-GB" altLang="zh-CN" sz="1800" dirty="0" err="1"/>
              <a:t>int</a:t>
            </a:r>
            <a:r>
              <a:rPr lang="en-GB" altLang="zh-CN" sz="1800" dirty="0"/>
              <a:t> &amp;</a:t>
            </a:r>
            <a:r>
              <a:rPr lang="en-GB" altLang="zh-CN" sz="1800" dirty="0" err="1"/>
              <a:t>i</a:t>
            </a:r>
            <a:r>
              <a:rPr lang="en-GB" altLang="zh-CN" sz="1800" dirty="0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{	if (top == NULL)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{	</a:t>
            </a:r>
            <a:r>
              <a:rPr lang="en-GB" altLang="zh-CN" sz="1800" dirty="0" err="1"/>
              <a:t>cout</a:t>
            </a:r>
            <a:r>
              <a:rPr lang="en-GB" altLang="zh-CN" sz="1800" dirty="0"/>
              <a:t> &lt;&lt; "Stack is empty.\n";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	exit(-1);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else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{	Node *p=top;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	top = top-&gt;next;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	</a:t>
            </a:r>
            <a:r>
              <a:rPr lang="en-GB" altLang="zh-CN" sz="1800" dirty="0" err="1"/>
              <a:t>i</a:t>
            </a:r>
            <a:r>
              <a:rPr lang="en-GB" altLang="zh-CN" sz="1800" dirty="0"/>
              <a:t> = p-&gt;content;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	delete 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	return;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1800" dirty="0"/>
              <a:t>}</a:t>
            </a:r>
            <a:endParaRPr lang="en-US" altLang="zh-CN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53136B-AE16-5C4A-8732-E452E997C35E}"/>
              </a:ext>
            </a:extLst>
          </p:cNvPr>
          <p:cNvSpPr txBox="1"/>
          <p:nvPr/>
        </p:nvSpPr>
        <p:spPr>
          <a:xfrm>
            <a:off x="5129213" y="4221163"/>
            <a:ext cx="3979862" cy="2308225"/>
          </a:xfrm>
          <a:prstGeom prst="rect">
            <a:avLst/>
          </a:prstGeom>
          <a:solidFill>
            <a:srgbClr val="005CB8"/>
          </a:solidFill>
        </p:spPr>
        <p:txBody>
          <a:bodyPr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改变栈</a:t>
            </a:r>
            <a:r>
              <a:rPr lang="zh-CN" altLang="en-US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的数据表示</a:t>
            </a:r>
            <a:r>
              <a:rPr lang="zh-CN" alt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对使用者没有影响！</a:t>
            </a:r>
          </a:p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Stack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st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; </a:t>
            </a:r>
          </a:p>
          <a:p>
            <a:pPr eaLnBrk="1" hangingPunct="1">
              <a:defRPr/>
            </a:pPr>
            <a:r>
              <a:rPr lang="en-GB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int</a:t>
            </a:r>
            <a:r>
              <a:rPr lang="en-GB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 x;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charset="-122"/>
            </a:endParaRPr>
          </a:p>
          <a:p>
            <a:pPr eaLnBrk="1" hangingPunct="1">
              <a:defRPr/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st.push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(12);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charset="-122"/>
            </a:endParaRPr>
          </a:p>
          <a:p>
            <a:pPr eaLnBrk="1" hangingPunct="1">
              <a:defRPr/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st.pop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(x);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32AFB-CBDF-AEA3-AC80-5A28FA763853}"/>
              </a:ext>
            </a:extLst>
          </p:cNvPr>
          <p:cNvSpPr txBox="1"/>
          <p:nvPr/>
        </p:nvSpPr>
        <p:spPr>
          <a:xfrm>
            <a:off x="6416675" y="2052638"/>
            <a:ext cx="2116138" cy="101600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altLang="zh-CN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Stack::Stack()</a:t>
            </a:r>
          </a:p>
          <a:p>
            <a:pPr eaLnBrk="1" hangingPunct="1">
              <a:defRPr/>
            </a:pPr>
            <a:r>
              <a:rPr lang="en-GB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{ top = NULL; </a:t>
            </a:r>
          </a:p>
          <a:p>
            <a:pPr eaLnBrk="1" hangingPunct="1">
              <a:defRPr/>
            </a:pPr>
            <a:r>
              <a:rPr lang="en-GB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}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33725</TotalTime>
  <Words>1667</Words>
  <Application>Microsoft Office PowerPoint</Application>
  <PresentationFormat>全屏显示(4:3)</PresentationFormat>
  <Paragraphs>201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Verdana</vt:lpstr>
      <vt:lpstr>宋体</vt:lpstr>
      <vt:lpstr>Arial</vt:lpstr>
      <vt:lpstr>Wingdings</vt:lpstr>
      <vt:lpstr>Times New Roman</vt:lpstr>
      <vt:lpstr>Globe</vt:lpstr>
      <vt:lpstr>数据抽象与封装概述</vt:lpstr>
      <vt:lpstr>抽象与封装</vt:lpstr>
      <vt:lpstr>过程抽象与封装</vt:lpstr>
      <vt:lpstr>PowerPoint 演示文稿</vt:lpstr>
      <vt:lpstr>数据抽象与封装</vt:lpstr>
      <vt:lpstr>PowerPoint 演示文稿</vt:lpstr>
      <vt:lpstr>例：“栈”数据的表示与操作</vt:lpstr>
      <vt:lpstr>“栈”的实现 －－非抽象和封装途径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“栈”的实现 －－数据抽象和封装途径</vt:lpstr>
      <vt:lpstr>PowerPoint 演示文稿</vt:lpstr>
      <vt:lpstr>PowerPoint 演示文稿</vt:lpstr>
      <vt:lpstr>“栈”的另一种实现（链表表示） －－数据抽象和封装途径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润泽 颜</cp:lastModifiedBy>
  <cp:revision>628</cp:revision>
  <dcterms:created xsi:type="dcterms:W3CDTF">1999-05-22T12:40:20Z</dcterms:created>
  <dcterms:modified xsi:type="dcterms:W3CDTF">2026-06-18T00:20:36Z</dcterms:modified>
</cp:coreProperties>
</file>