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handoutMasterIdLst>
    <p:handoutMasterId r:id="rId13"/>
  </p:handoutMasterIdLst>
  <p:sldIdLst>
    <p:sldId id="931" r:id="rId2"/>
    <p:sldId id="994" r:id="rId3"/>
    <p:sldId id="1018" r:id="rId4"/>
    <p:sldId id="1017" r:id="rId5"/>
    <p:sldId id="1019" r:id="rId6"/>
    <p:sldId id="1020" r:id="rId7"/>
    <p:sldId id="1021" r:id="rId8"/>
    <p:sldId id="932" r:id="rId9"/>
    <p:sldId id="992" r:id="rId10"/>
    <p:sldId id="927" r:id="rId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162" d="100"/>
          <a:sy n="162" d="100"/>
        </p:scale>
        <p:origin x="433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D29DE1E8-C701-C8C6-3EDA-76C3BC80F0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DE8E0810-2FC5-0B0B-A1EF-6D06444249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DF06D4CB-0033-B5E1-9B0D-ADF4FE226C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2442929A-0829-2A55-33D6-C6B25A32372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F823667-C29E-4D36-9CD3-54F7D07EBEE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447109A-82F4-331B-2F70-C4B619193A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77ED77D-CD3B-2ECA-F7F6-53463553CB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1C31EDE-2280-344F-9906-71356E1652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962569E8-5E7F-311C-8B43-611AAEF7156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13C2765-ED98-F021-791C-DABA2FD14B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83D9BE08-EF4F-6DC5-CC88-B2C53A37C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BECCA613-2E18-4854-867D-8CADC193AD8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CF69622C-B3CA-F7D2-EA75-1316AFD72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F5C714A-1D91-48CD-A0C1-873B7778CB60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4ED9976-08BE-E963-D2A8-3C8281E2E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7986198-137D-82A6-AE73-4595DE9AD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US" sz="2000"/>
              <a:t>面向对象的观点：认为自然界是由一组彼此相关并能相互通信的实体（对象）所组成。</a:t>
            </a:r>
          </a:p>
          <a:p>
            <a:pPr eaLnBrk="1" hangingPunct="1">
              <a:buFontTx/>
              <a:buChar char="•"/>
            </a:pPr>
            <a:r>
              <a:rPr lang="zh-CN" altLang="en-US" sz="2000"/>
              <a:t>面向对象的程序设计方法：使用面向对象的观点来描述现实问题，然后用计算机语言来模仿并处理该问题。</a:t>
            </a:r>
          </a:p>
          <a:p>
            <a:pPr eaLnBrk="1" hangingPunct="1">
              <a:buFontTx/>
              <a:buChar char="•"/>
            </a:pPr>
            <a:r>
              <a:rPr lang="zh-CN" altLang="en-US" sz="2000"/>
              <a:t>要求：描述或处理问题时应高度概括、分类、和抽象。</a:t>
            </a:r>
          </a:p>
          <a:p>
            <a:pPr eaLnBrk="1" hangingPunct="1">
              <a:buFontTx/>
              <a:buChar char="•"/>
            </a:pPr>
            <a:r>
              <a:rPr lang="zh-CN" altLang="en-US" sz="2000"/>
              <a:t>目的：实现软件设计的产业化。</a:t>
            </a:r>
          </a:p>
          <a:p>
            <a:pPr eaLnBrk="1" hangingPunct="1">
              <a:buFontTx/>
              <a:buChar char="•"/>
            </a:pPr>
            <a:endParaRPr lang="en-US" altLang="zh-CN" sz="2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3D876D-B634-68F0-F4F2-9EFA8581F81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E4DBC0-068C-015B-51EE-68279FF301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79DD7F-C2B1-0CF7-5687-0AD0D3B763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9CF8BB-CA58-1ECD-3812-5B31BE60EB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5C3813C-7809-EEB1-8B12-93B091E639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78C652FC-2DF8-C99E-C0CF-00BA306FDE2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05950968-CBA7-2D6E-8917-CC045E58DC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BD60B1A6-868A-236E-85EB-96AC19AD2B5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FEF5E57D-62A8-7759-6A41-D5861831A4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D1F48142-EE07-2893-22D4-C7C6A8EE00A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B60FE8AA-5240-BF2C-DF0E-B07F823F980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74F7FD6F-CC69-AE55-CEB8-B9AA13C716F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F46355D0-F060-4588-9A3C-40F61507D3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EE09B6CB-5456-E0E8-3B20-C188CCAD52D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832C2F58-FD49-E4CB-DBB5-8FF7933D835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17EA6BD6-FBB7-417D-B4A2-508A559230B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C3F9B809-8659-9614-B343-22A80473EAE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21E872E-3969-E420-0066-93FA447D7E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3BC17242-0614-DADE-DC01-23AE1FF5B8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048E7BFA-88C3-AA8A-83EB-6139F6C511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11B51268-A5BF-D928-E57C-1B37F816AD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F8CD6EA-FDCF-981B-F2A3-F11E4693A3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08 w 717"/>
                <a:gd name="T1" fmla="*/ 845 h 845"/>
                <a:gd name="T2" fmla="*/ 1008 w 717"/>
                <a:gd name="T3" fmla="*/ 821 h 845"/>
                <a:gd name="T4" fmla="*/ 828 w 717"/>
                <a:gd name="T5" fmla="*/ 605 h 845"/>
                <a:gd name="T6" fmla="*/ 533 w 717"/>
                <a:gd name="T7" fmla="*/ 396 h 845"/>
                <a:gd name="T8" fmla="*/ 348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6 w 717"/>
                <a:gd name="T15" fmla="*/ 198 h 845"/>
                <a:gd name="T16" fmla="*/ 527 w 717"/>
                <a:gd name="T17" fmla="*/ 408 h 845"/>
                <a:gd name="T18" fmla="*/ 822 w 717"/>
                <a:gd name="T19" fmla="*/ 623 h 845"/>
                <a:gd name="T20" fmla="*/ 1008 w 717"/>
                <a:gd name="T21" fmla="*/ 845 h 845"/>
                <a:gd name="T22" fmla="*/ 1008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EE71E55B-FB8D-616B-1D60-DD91581F39D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4 w 407"/>
                <a:gd name="T1" fmla="*/ 414 h 414"/>
                <a:gd name="T2" fmla="*/ 534 w 407"/>
                <a:gd name="T3" fmla="*/ 396 h 414"/>
                <a:gd name="T4" fmla="*/ 349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3 w 407"/>
                <a:gd name="T13" fmla="*/ 204 h 414"/>
                <a:gd name="T14" fmla="*/ 534 w 407"/>
                <a:gd name="T15" fmla="*/ 414 h 414"/>
                <a:gd name="T16" fmla="*/ 534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8478E33E-0D12-75AC-2A2B-3C70CABBFE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B24CFA3D-ACF7-0C48-580A-A729336F61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93 w 586"/>
                <a:gd name="T1" fmla="*/ 0 h 599"/>
                <a:gd name="T2" fmla="*/ 866 w 586"/>
                <a:gd name="T3" fmla="*/ 0 h 599"/>
                <a:gd name="T4" fmla="*/ 628 w 586"/>
                <a:gd name="T5" fmla="*/ 132 h 599"/>
                <a:gd name="T6" fmla="*/ 384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4 w 586"/>
                <a:gd name="T17" fmla="*/ 282 h 599"/>
                <a:gd name="T18" fmla="*/ 640 w 586"/>
                <a:gd name="T19" fmla="*/ 138 h 599"/>
                <a:gd name="T20" fmla="*/ 893 w 586"/>
                <a:gd name="T21" fmla="*/ 0 h 599"/>
                <a:gd name="T22" fmla="*/ 893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1FBA7FA4-EB4E-39D8-99F1-0EEA4A4D242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6 w 269"/>
                <a:gd name="T1" fmla="*/ 0 h 252"/>
                <a:gd name="T2" fmla="*/ 378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6 w 269"/>
                <a:gd name="T15" fmla="*/ 0 h 252"/>
                <a:gd name="T16" fmla="*/ 396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AE25598B-1BE0-A8D0-920E-F83972F25EB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9A0CFAE9-97B4-F582-D5DE-B6379E8F107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93FABA6D-784D-E072-E7A5-F03EB47ED9B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869558D5-C5AA-008B-58FA-A01D32215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EF9E3F4E-9885-AF35-ED52-2564BB089C6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C07DBDCB-E6E0-1B2C-E273-24B066B9A50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87AEECF7-79BA-73AF-579C-1A11D167D1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C70F5610-DA5B-923F-4906-0E5BF055896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367F6B5F-0699-7AB5-F335-08F333DE43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A7DEBA6F-8A31-937A-7DDE-80C5B419F78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936B7896-3570-A3CB-AD4D-04306396FFF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84A2D282-72B0-38C3-9FBC-22F1DFE32B2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9515E3F1-444D-2622-BEA5-8905FB447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502DD358-14C5-78AB-8280-914BDFAD48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EA42DD-6B5E-4B04-BA67-FDEBBCF165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9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35CE570-5047-F412-6681-89EF3A6B50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342F07B-6B37-030A-117F-64058784CC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97E37D4-1070-46F7-7419-FF3930F28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B4FDD2-D555-4BF3-B595-5159B9CEEF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7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3F78C9F-6D54-F196-2349-9E28E49C54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F6F0C660-E84F-5312-134E-B86873EF0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A9F8602-65A4-3FEE-EF50-D83E42267D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3898C0-75D6-4A11-A520-95616A8583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859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83A3785-1279-2812-E415-CF3D272A8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38CD9634-21E7-7E43-B35E-CEB4F65E97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2643D47-22ED-D789-D7E0-7069C5F5C0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600A0-6D28-432B-AA4B-C78A862EA0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52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E347ACE-2017-D321-F3BB-1FAEADE2A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633689D1-97AB-F28E-9D62-82D391E62B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7CE60177-803D-51EE-78D2-9C346290EC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59E12B-0DE6-4897-987C-0A89429AB0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289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528BCEA5-4313-8F94-6637-96A4047DEE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D40D190F-16F9-5894-1A42-F46D01E5AF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7A8813F0-D4D0-ED5D-338F-F0CB19FD93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0DD1F-5CA9-47DE-9AA7-766C5137C3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70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48B269A9-B537-7CA8-AC63-682A04D50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FBA358EA-1D1F-1DA0-2ABE-127F6445BC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BB0EB256-FF29-46CE-530F-45C3E148C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C6C40-79AB-4A0F-B351-AC697B37C4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75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D25081A-175C-8D67-68B0-75E5A046E0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89E73CB4-811B-5348-60E6-CB32313E8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740EDB3-9C00-9562-E4F3-9E9979F672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A9520B-9F7B-4761-A908-427D4C3CF1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428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1642FD5-5B1E-A835-6918-96936F61F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AB69E88D-89CB-673F-9D61-EC62C42B13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9F2DBEBB-9012-C5E4-DBEF-8BD658DFB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2170A2-8E22-45AE-8EE8-6B587F7AA6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80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D05E406A-A8C8-3361-320D-E38756A3A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6B2FAF8-E821-7F9B-A22D-2FE43C1FF8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157160F-D986-B47F-A363-EDD13696B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8BD9F-F19F-4A42-B591-4D23B1F75C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62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32E8FE2F-F67C-B555-382D-E37F167D19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713DB7F-B7ED-F272-1CDF-B4CD5F059B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8C3799E-47E7-A654-0452-1A23F082D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BFE715-D52C-4111-A32F-F1AC9B0945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78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700">
              <a:srgbClr val="002C58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8154B7D-A9DE-6BE0-7012-BBA1F3EAE95B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A2AD5F6E-8786-50EE-6B68-54052E314C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04362A05-00B2-1742-2E94-B019E2A6E5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0233D722-A247-1627-CF9E-6D01D20E6FB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5AA633BE-09AE-E840-8431-441163C142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E2F78D31-973D-9306-ECC1-7587725942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08A5D44F-85BD-F4FF-0E44-05118695662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8483807B-0814-D0C4-0B2D-AC7589F12D0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4E56B4C2-DF76-1408-4BAB-6C826020E48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D42FA67F-738E-C4E1-C786-3B30D1FA9D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97A64AE7-6195-7468-5416-8A43B9065C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17906EE2-942E-CE29-2040-1DBEF15A1F9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AEA327C8-D653-6388-06BA-7203DACE76F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855253FB-E8FF-3C56-2F90-F361D7B3A6C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2B25E862-D522-D07B-2A55-9CB76149CD4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5F3F47BE-9D0B-450F-30B9-AAD6969CC4C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3BA77898-C10F-7463-4AD8-CA91379A00D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56F88DC0-346F-908A-1A84-B446B7F19E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7053B790-74C1-5B69-423F-9FA5F6662B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446909AB-884A-D75E-1E52-76A6C82A6A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FED1BD8B-5799-82D8-3F9D-66FF40EED5B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580BA40F-864A-DA44-1DDE-8543A616B9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08 w 717"/>
                <a:gd name="T1" fmla="*/ 845 h 845"/>
                <a:gd name="T2" fmla="*/ 1008 w 717"/>
                <a:gd name="T3" fmla="*/ 821 h 845"/>
                <a:gd name="T4" fmla="*/ 828 w 717"/>
                <a:gd name="T5" fmla="*/ 605 h 845"/>
                <a:gd name="T6" fmla="*/ 533 w 717"/>
                <a:gd name="T7" fmla="*/ 396 h 845"/>
                <a:gd name="T8" fmla="*/ 348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36 w 717"/>
                <a:gd name="T15" fmla="*/ 198 h 845"/>
                <a:gd name="T16" fmla="*/ 527 w 717"/>
                <a:gd name="T17" fmla="*/ 408 h 845"/>
                <a:gd name="T18" fmla="*/ 822 w 717"/>
                <a:gd name="T19" fmla="*/ 623 h 845"/>
                <a:gd name="T20" fmla="*/ 1008 w 717"/>
                <a:gd name="T21" fmla="*/ 845 h 845"/>
                <a:gd name="T22" fmla="*/ 1008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4F80410D-07AA-DAB7-7A70-3B1FCDB971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34 w 407"/>
                <a:gd name="T1" fmla="*/ 414 h 414"/>
                <a:gd name="T2" fmla="*/ 534 w 407"/>
                <a:gd name="T3" fmla="*/ 396 h 414"/>
                <a:gd name="T4" fmla="*/ 349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43 w 407"/>
                <a:gd name="T13" fmla="*/ 204 h 414"/>
                <a:gd name="T14" fmla="*/ 534 w 407"/>
                <a:gd name="T15" fmla="*/ 414 h 414"/>
                <a:gd name="T16" fmla="*/ 534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C1290715-2902-DA89-FB0C-7D18BB455E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5EAAABCB-0E66-83B0-4B43-DE1E7676E0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93 w 586"/>
                <a:gd name="T1" fmla="*/ 0 h 599"/>
                <a:gd name="T2" fmla="*/ 866 w 586"/>
                <a:gd name="T3" fmla="*/ 0 h 599"/>
                <a:gd name="T4" fmla="*/ 628 w 586"/>
                <a:gd name="T5" fmla="*/ 132 h 599"/>
                <a:gd name="T6" fmla="*/ 384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84 w 586"/>
                <a:gd name="T17" fmla="*/ 282 h 599"/>
                <a:gd name="T18" fmla="*/ 640 w 586"/>
                <a:gd name="T19" fmla="*/ 138 h 599"/>
                <a:gd name="T20" fmla="*/ 893 w 586"/>
                <a:gd name="T21" fmla="*/ 0 h 599"/>
                <a:gd name="T22" fmla="*/ 893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FB4E2548-F566-F833-E582-BA55E14870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96 w 269"/>
                <a:gd name="T1" fmla="*/ 0 h 252"/>
                <a:gd name="T2" fmla="*/ 378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96 w 269"/>
                <a:gd name="T15" fmla="*/ 0 h 252"/>
                <a:gd name="T16" fmla="*/ 396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D1C66FA7-6CC0-A2C3-77E9-C998708511E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D4CA112B-517F-6B2B-A010-8399335FAF6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6FD5E334-E462-1F56-D767-547E0CA03D1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A89AEBC2-D000-00BF-866B-06A0B0A03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1EAF5183-B975-4E29-0F8F-D6055E3D09A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D6CF24D2-7B10-67C4-6722-E319C35A47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E6428C43-8370-D82E-EC14-8104ACECE5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F6D00535-8FF9-5350-7025-AFD53AD0D49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138340A1-91A8-F0B9-1F19-E75027D098B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F9C98253-DBE9-920A-3FF7-702807604CE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202EB67F-778E-8F66-BF4C-31FFBBCB8F3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733AD21C-BAE7-3BF6-6589-CFC92B44F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15EB5034-A1FF-963E-2E34-532CB7AA59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61C6247F-8771-C3E5-4780-0B0A2A5890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70516517-DC4D-C233-2D83-920247500A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66054BE-F274-46F7-9936-21BA0011D61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02A1A35F-2E68-C822-B0A8-604D35360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332" r:id="rId1"/>
    <p:sldLayoutId id="2147485322" r:id="rId2"/>
    <p:sldLayoutId id="2147485323" r:id="rId3"/>
    <p:sldLayoutId id="2147485324" r:id="rId4"/>
    <p:sldLayoutId id="2147485325" r:id="rId5"/>
    <p:sldLayoutId id="2147485326" r:id="rId6"/>
    <p:sldLayoutId id="2147485327" r:id="rId7"/>
    <p:sldLayoutId id="2147485328" r:id="rId8"/>
    <p:sldLayoutId id="2147485329" r:id="rId9"/>
    <p:sldLayoutId id="2147485330" r:id="rId10"/>
    <p:sldLayoutId id="21474853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2B2731FD-34DC-D429-FABA-8F1062FD6F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面向对象程序设计概述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1EB8113D-D6C5-1E50-5F35-F921430EAC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618" name="Rectangle 2">
            <a:extLst>
              <a:ext uri="{FF2B5EF4-FFF2-40B4-BE49-F238E27FC236}">
                <a16:creationId xmlns:a16="http://schemas.microsoft.com/office/drawing/2014/main" id="{9CB1A271-EB94-CC6C-E88A-95B1D7612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3017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什么是</a:t>
            </a:r>
            <a:r>
              <a:rPr lang="zh-CN" altLang="en-GB" sz="4000" dirty="0"/>
              <a:t>面向对象程序设计</a:t>
            </a:r>
            <a:r>
              <a:rPr lang="zh-CN" altLang="en-GB" dirty="0"/>
              <a:t> </a:t>
            </a:r>
            <a:endParaRPr lang="zh-CN" altLang="en-US" dirty="0"/>
          </a:p>
        </p:txBody>
      </p:sp>
      <p:sp>
        <p:nvSpPr>
          <p:cNvPr id="1391619" name="Rectangle 3">
            <a:extLst>
              <a:ext uri="{FF2B5EF4-FFF2-40B4-BE49-F238E27FC236}">
                <a16:creationId xmlns:a16="http://schemas.microsoft.com/office/drawing/2014/main" id="{9788D6F5-54E7-A582-62EF-5188C1BA7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50403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>
                <a:solidFill>
                  <a:srgbClr val="FFC000"/>
                </a:solidFill>
              </a:rPr>
              <a:t>面向对象程序设计</a:t>
            </a:r>
            <a:r>
              <a:rPr lang="zh-CN" altLang="en-US" sz="2800" dirty="0"/>
              <a:t>（</a:t>
            </a:r>
            <a:r>
              <a:rPr lang="en-US" altLang="zh-CN" sz="2800" dirty="0"/>
              <a:t>Object-oriented Programming</a:t>
            </a:r>
            <a:r>
              <a:rPr lang="zh-CN" altLang="en-US" sz="2800" dirty="0"/>
              <a:t>）具有以下几个特征：</a:t>
            </a:r>
            <a:endParaRPr lang="en-US" altLang="zh-CN" sz="28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sz="2400" dirty="0"/>
              <a:t>程序由若干</a:t>
            </a:r>
            <a:r>
              <a:rPr lang="zh-CN" altLang="en-GB" sz="2400" dirty="0">
                <a:solidFill>
                  <a:schemeClr val="folHlink"/>
                </a:solidFill>
              </a:rPr>
              <a:t>对象</a:t>
            </a:r>
            <a:r>
              <a:rPr lang="zh-CN" altLang="en-GB" sz="2400" dirty="0"/>
              <a:t>组成，每个对象</a:t>
            </a:r>
            <a:r>
              <a:rPr lang="zh-CN" altLang="en-US" sz="2400" dirty="0"/>
              <a:t>是</a:t>
            </a:r>
            <a:r>
              <a:rPr lang="zh-CN" altLang="en-GB" sz="2400" dirty="0"/>
              <a:t>由一些</a:t>
            </a:r>
            <a:r>
              <a:rPr lang="zh-CN" altLang="en-GB" sz="2400" dirty="0">
                <a:solidFill>
                  <a:schemeClr val="folHlink"/>
                </a:solidFill>
              </a:rPr>
              <a:t>数据</a:t>
            </a:r>
            <a:r>
              <a:rPr lang="zh-CN" altLang="en-GB" sz="2400" dirty="0"/>
              <a:t>以及对这些数据所能实施的</a:t>
            </a:r>
            <a:r>
              <a:rPr lang="zh-CN" altLang="en-GB" sz="2400" dirty="0">
                <a:solidFill>
                  <a:schemeClr val="folHlink"/>
                </a:solidFill>
              </a:rPr>
              <a:t>操作</a:t>
            </a:r>
            <a:r>
              <a:rPr lang="zh-CN" altLang="en-US" sz="2400" dirty="0"/>
              <a:t>所</a:t>
            </a:r>
            <a:r>
              <a:rPr lang="zh-CN" altLang="en-GB" sz="2400" dirty="0"/>
              <a:t>构成</a:t>
            </a:r>
            <a:r>
              <a:rPr lang="zh-CN" altLang="en-US" sz="2400" dirty="0"/>
              <a:t>的封装体；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sz="2400" dirty="0"/>
              <a:t>对象的特征（</a:t>
            </a:r>
            <a:r>
              <a:rPr lang="zh-CN" altLang="en-US" sz="2400" dirty="0"/>
              <a:t>包含那些</a:t>
            </a:r>
            <a:r>
              <a:rPr lang="zh-CN" altLang="en-GB" sz="2400" dirty="0"/>
              <a:t>数据与操作）由相应的</a:t>
            </a:r>
            <a:r>
              <a:rPr lang="zh-CN" altLang="en-GB" sz="2400" dirty="0">
                <a:solidFill>
                  <a:schemeClr val="folHlink"/>
                </a:solidFill>
              </a:rPr>
              <a:t>类</a:t>
            </a:r>
            <a:r>
              <a:rPr lang="zh-CN" altLang="en-GB" sz="2400" dirty="0"/>
              <a:t>来描述；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sz="2400" dirty="0"/>
              <a:t>对数据的</a:t>
            </a:r>
            <a:r>
              <a:rPr lang="zh-CN" altLang="en-US" sz="2400" dirty="0"/>
              <a:t>操作</a:t>
            </a:r>
            <a:r>
              <a:rPr lang="zh-CN" altLang="en-GB" sz="2400" dirty="0"/>
              <a:t>是通过向包含数据的对象发送</a:t>
            </a:r>
            <a:r>
              <a:rPr lang="zh-CN" altLang="en-GB" sz="2400" dirty="0">
                <a:solidFill>
                  <a:schemeClr val="folHlink"/>
                </a:solidFill>
              </a:rPr>
              <a:t>消息</a:t>
            </a:r>
            <a:r>
              <a:rPr lang="zh-CN" altLang="en-GB" sz="2400" dirty="0"/>
              <a:t>（调用对象</a:t>
            </a:r>
            <a:r>
              <a:rPr lang="zh-CN" altLang="en-US" sz="2400" dirty="0"/>
              <a:t>类的对外接口中</a:t>
            </a:r>
            <a:r>
              <a:rPr lang="zh-CN" altLang="en-GB" sz="2400" dirty="0"/>
              <a:t>的操作）来实现</a:t>
            </a:r>
            <a:r>
              <a:rPr lang="zh-CN" altLang="en-US" sz="2400" dirty="0"/>
              <a:t>的</a:t>
            </a:r>
            <a:r>
              <a:rPr lang="zh-CN" altLang="en-GB" sz="2400" dirty="0"/>
              <a:t>；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sz="2400" dirty="0"/>
              <a:t>一个类所描述的对象特征可以从其它的类</a:t>
            </a:r>
            <a:r>
              <a:rPr lang="zh-CN" altLang="en-GB" sz="2400" dirty="0">
                <a:solidFill>
                  <a:schemeClr val="folHlink"/>
                </a:solidFill>
              </a:rPr>
              <a:t>继承</a:t>
            </a:r>
            <a:r>
              <a:rPr lang="zh-CN" altLang="en-GB" sz="2400" dirty="0"/>
              <a:t>（获得）。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/>
              <a:t>在面向对象的程序设计中，对象</a:t>
            </a:r>
            <a:r>
              <a:rPr lang="en-US" altLang="zh-CN" sz="2800" dirty="0"/>
              <a:t>/</a:t>
            </a:r>
            <a:r>
              <a:rPr lang="zh-CN" altLang="en-US" sz="2800" dirty="0"/>
              <a:t>类体现了数据抽象与封装！</a:t>
            </a:r>
            <a:endParaRPr lang="zh-CN" altLang="en-GB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0">
            <a:extLst>
              <a:ext uri="{FF2B5EF4-FFF2-40B4-BE49-F238E27FC236}">
                <a16:creationId xmlns:a16="http://schemas.microsoft.com/office/drawing/2014/main" id="{F9BAF0F8-1573-5CC5-2716-35D9B4CFE068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1557338"/>
            <a:ext cx="6121400" cy="4827587"/>
            <a:chOff x="3185" y="799"/>
            <a:chExt cx="2280" cy="2224"/>
          </a:xfrm>
        </p:grpSpPr>
        <p:grpSp>
          <p:nvGrpSpPr>
            <p:cNvPr id="8196" name="Group 44">
              <a:extLst>
                <a:ext uri="{FF2B5EF4-FFF2-40B4-BE49-F238E27FC236}">
                  <a16:creationId xmlns:a16="http://schemas.microsoft.com/office/drawing/2014/main" id="{469C9135-A3FE-044C-C3DC-8F45C33FC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8198" name="Oval 0">
                <a:extLst>
                  <a:ext uri="{FF2B5EF4-FFF2-40B4-BE49-F238E27FC236}">
                    <a16:creationId xmlns:a16="http://schemas.microsoft.com/office/drawing/2014/main" id="{839460E2-0C57-22EC-A0B2-7A826DEBB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199" name="Rectangle 1">
                <a:extLst>
                  <a:ext uri="{FF2B5EF4-FFF2-40B4-BE49-F238E27FC236}">
                    <a16:creationId xmlns:a16="http://schemas.microsoft.com/office/drawing/2014/main" id="{B7B1BAAA-EC1E-167D-65DF-794FF6954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0" name="Rectangle 2">
                <a:extLst>
                  <a:ext uri="{FF2B5EF4-FFF2-40B4-BE49-F238E27FC236}">
                    <a16:creationId xmlns:a16="http://schemas.microsoft.com/office/drawing/2014/main" id="{20BF2782-76FE-78F6-A2F5-0D80F0AEF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1" name="Line 3">
                <a:extLst>
                  <a:ext uri="{FF2B5EF4-FFF2-40B4-BE49-F238E27FC236}">
                    <a16:creationId xmlns:a16="http://schemas.microsoft.com/office/drawing/2014/main" id="{ED078F19-37C0-3CA6-D666-B019C4BCA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2" name="Line 4">
                <a:extLst>
                  <a:ext uri="{FF2B5EF4-FFF2-40B4-BE49-F238E27FC236}">
                    <a16:creationId xmlns:a16="http://schemas.microsoft.com/office/drawing/2014/main" id="{751475DB-639A-4B67-FCB1-06C0499F6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8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Line 5">
                <a:extLst>
                  <a:ext uri="{FF2B5EF4-FFF2-40B4-BE49-F238E27FC236}">
                    <a16:creationId xmlns:a16="http://schemas.microsoft.com/office/drawing/2014/main" id="{1A1BC2CE-646C-FE8D-F6C9-CBBA8B9F1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4" name="Line 6">
                <a:extLst>
                  <a:ext uri="{FF2B5EF4-FFF2-40B4-BE49-F238E27FC236}">
                    <a16:creationId xmlns:a16="http://schemas.microsoft.com/office/drawing/2014/main" id="{961DE6DA-3537-3BC0-2273-EDCE1FBD0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8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5" name="Line 7">
                <a:extLst>
                  <a:ext uri="{FF2B5EF4-FFF2-40B4-BE49-F238E27FC236}">
                    <a16:creationId xmlns:a16="http://schemas.microsoft.com/office/drawing/2014/main" id="{B0A3EF77-D447-488C-4954-36B23F1DA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Line 8">
                <a:extLst>
                  <a:ext uri="{FF2B5EF4-FFF2-40B4-BE49-F238E27FC236}">
                    <a16:creationId xmlns:a16="http://schemas.microsoft.com/office/drawing/2014/main" id="{00CEE5D3-C918-38C7-A9E0-42AEF6BFD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7" name="Line 9">
                <a:extLst>
                  <a:ext uri="{FF2B5EF4-FFF2-40B4-BE49-F238E27FC236}">
                    <a16:creationId xmlns:a16="http://schemas.microsoft.com/office/drawing/2014/main" id="{84A20587-E9F4-A147-B92D-A14345DA3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8" name="Oval 10">
                <a:extLst>
                  <a:ext uri="{FF2B5EF4-FFF2-40B4-BE49-F238E27FC236}">
                    <a16:creationId xmlns:a16="http://schemas.microsoft.com/office/drawing/2014/main" id="{25C468AC-26F9-D526-C60F-3EDD4F3B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9" name="Rectangle 11">
                <a:extLst>
                  <a:ext uri="{FF2B5EF4-FFF2-40B4-BE49-F238E27FC236}">
                    <a16:creationId xmlns:a16="http://schemas.microsoft.com/office/drawing/2014/main" id="{F94F4A71-E5A0-A125-A5CF-E2B6CD5DC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10" name="Rectangle 12">
                <a:extLst>
                  <a:ext uri="{FF2B5EF4-FFF2-40B4-BE49-F238E27FC236}">
                    <a16:creationId xmlns:a16="http://schemas.microsoft.com/office/drawing/2014/main" id="{1AE4F10B-A048-6BA5-F916-74558EA9F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11" name="Line 13">
                <a:extLst>
                  <a:ext uri="{FF2B5EF4-FFF2-40B4-BE49-F238E27FC236}">
                    <a16:creationId xmlns:a16="http://schemas.microsoft.com/office/drawing/2014/main" id="{3306E216-D035-208C-0BF4-783A94B13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514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2" name="Line 14">
                <a:extLst>
                  <a:ext uri="{FF2B5EF4-FFF2-40B4-BE49-F238E27FC236}">
                    <a16:creationId xmlns:a16="http://schemas.microsoft.com/office/drawing/2014/main" id="{F82AFDEC-29DD-5EB6-CD57-72049E976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151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3" name="Line 15">
                <a:extLst>
                  <a:ext uri="{FF2B5EF4-FFF2-40B4-BE49-F238E27FC236}">
                    <a16:creationId xmlns:a16="http://schemas.microsoft.com/office/drawing/2014/main" id="{3DA5B8AD-F604-4581-A5D1-79B422A4C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1514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4" name="Line 16">
                <a:extLst>
                  <a:ext uri="{FF2B5EF4-FFF2-40B4-BE49-F238E27FC236}">
                    <a16:creationId xmlns:a16="http://schemas.microsoft.com/office/drawing/2014/main" id="{6A9001F5-BE19-7EA7-8292-D5ED0C1DE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951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5" name="Line 17">
                <a:extLst>
                  <a:ext uri="{FF2B5EF4-FFF2-40B4-BE49-F238E27FC236}">
                    <a16:creationId xmlns:a16="http://schemas.microsoft.com/office/drawing/2014/main" id="{0CA8A7D0-946D-2585-4CEC-110D0AE56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889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6" name="Line 18">
                <a:extLst>
                  <a:ext uri="{FF2B5EF4-FFF2-40B4-BE49-F238E27FC236}">
                    <a16:creationId xmlns:a16="http://schemas.microsoft.com/office/drawing/2014/main" id="{FB098565-95CD-F4D1-FDE4-CC32F8F5F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764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Line 19">
                <a:extLst>
                  <a:ext uri="{FF2B5EF4-FFF2-40B4-BE49-F238E27FC236}">
                    <a16:creationId xmlns:a16="http://schemas.microsoft.com/office/drawing/2014/main" id="{51DF4F01-D42C-88D3-0D15-093887E1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639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8" name="Oval 20">
                <a:extLst>
                  <a:ext uri="{FF2B5EF4-FFF2-40B4-BE49-F238E27FC236}">
                    <a16:creationId xmlns:a16="http://schemas.microsoft.com/office/drawing/2014/main" id="{89C234BE-6B1F-9ED5-45A0-26151C82D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19" name="Rectangle 21">
                <a:extLst>
                  <a:ext uri="{FF2B5EF4-FFF2-40B4-BE49-F238E27FC236}">
                    <a16:creationId xmlns:a16="http://schemas.microsoft.com/office/drawing/2014/main" id="{9DF01E72-747B-706E-E507-BB52AB045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20" name="Rectangle 22">
                <a:extLst>
                  <a:ext uri="{FF2B5EF4-FFF2-40B4-BE49-F238E27FC236}">
                    <a16:creationId xmlns:a16="http://schemas.microsoft.com/office/drawing/2014/main" id="{01093CA3-7B26-FFA3-F036-C9C32D75B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21" name="Line 23">
                <a:extLst>
                  <a:ext uri="{FF2B5EF4-FFF2-40B4-BE49-F238E27FC236}">
                    <a16:creationId xmlns:a16="http://schemas.microsoft.com/office/drawing/2014/main" id="{A3B06027-80D9-07F0-E7E9-7DB80E024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138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2" name="Line 24">
                <a:extLst>
                  <a:ext uri="{FF2B5EF4-FFF2-40B4-BE49-F238E27FC236}">
                    <a16:creationId xmlns:a16="http://schemas.microsoft.com/office/drawing/2014/main" id="{62BAECBC-2188-209F-864F-7741A3F2F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3" name="Line 25">
                <a:extLst>
                  <a:ext uri="{FF2B5EF4-FFF2-40B4-BE49-F238E27FC236}">
                    <a16:creationId xmlns:a16="http://schemas.microsoft.com/office/drawing/2014/main" id="{C61BF644-6A6D-9C5E-B2A8-4CD5376A2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2138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4" name="Line 26">
                <a:extLst>
                  <a:ext uri="{FF2B5EF4-FFF2-40B4-BE49-F238E27FC236}">
                    <a16:creationId xmlns:a16="http://schemas.microsoft.com/office/drawing/2014/main" id="{1367A86E-F17E-AF1A-EF0C-41DDABE2A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2575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5" name="Line 27">
                <a:extLst>
                  <a:ext uri="{FF2B5EF4-FFF2-40B4-BE49-F238E27FC236}">
                    <a16:creationId xmlns:a16="http://schemas.microsoft.com/office/drawing/2014/main" id="{70614322-A58F-C852-7445-B84A4039B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513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6" name="Line 28">
                <a:extLst>
                  <a:ext uri="{FF2B5EF4-FFF2-40B4-BE49-F238E27FC236}">
                    <a16:creationId xmlns:a16="http://schemas.microsoft.com/office/drawing/2014/main" id="{D30678A6-0F38-050F-B581-8085275BB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388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7" name="Line 29">
                <a:extLst>
                  <a:ext uri="{FF2B5EF4-FFF2-40B4-BE49-F238E27FC236}">
                    <a16:creationId xmlns:a16="http://schemas.microsoft.com/office/drawing/2014/main" id="{54C1AD9E-92FF-5519-DCEF-34A6DE4AE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263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8" name="Oval 30">
                <a:extLst>
                  <a:ext uri="{FF2B5EF4-FFF2-40B4-BE49-F238E27FC236}">
                    <a16:creationId xmlns:a16="http://schemas.microsoft.com/office/drawing/2014/main" id="{CED6D03A-31E1-77E5-8384-E106DD81D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29" name="Rectangle 31">
                <a:extLst>
                  <a:ext uri="{FF2B5EF4-FFF2-40B4-BE49-F238E27FC236}">
                    <a16:creationId xmlns:a16="http://schemas.microsoft.com/office/drawing/2014/main" id="{5FEBBEBE-976E-F80E-2295-CC74CD908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30" name="Rectangle 32">
                <a:extLst>
                  <a:ext uri="{FF2B5EF4-FFF2-40B4-BE49-F238E27FC236}">
                    <a16:creationId xmlns:a16="http://schemas.microsoft.com/office/drawing/2014/main" id="{69F192B3-CC45-3FA6-E4A4-011FF869B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31" name="Line 33">
                <a:extLst>
                  <a:ext uri="{FF2B5EF4-FFF2-40B4-BE49-F238E27FC236}">
                    <a16:creationId xmlns:a16="http://schemas.microsoft.com/office/drawing/2014/main" id="{891966D9-607D-9FE3-2140-4D931EF66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2" name="Line 34">
                <a:extLst>
                  <a:ext uri="{FF2B5EF4-FFF2-40B4-BE49-F238E27FC236}">
                    <a16:creationId xmlns:a16="http://schemas.microsoft.com/office/drawing/2014/main" id="{0615C45F-15F9-890E-07DD-767C38AB6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3" name="Line 35">
                <a:extLst>
                  <a:ext uri="{FF2B5EF4-FFF2-40B4-BE49-F238E27FC236}">
                    <a16:creationId xmlns:a16="http://schemas.microsoft.com/office/drawing/2014/main" id="{4B9F1E93-CB75-E116-5B82-FF2A0B500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4" name="Line 36">
                <a:extLst>
                  <a:ext uri="{FF2B5EF4-FFF2-40B4-BE49-F238E27FC236}">
                    <a16:creationId xmlns:a16="http://schemas.microsoft.com/office/drawing/2014/main" id="{799C7B8C-55F7-FBFF-50CC-CFA20C05A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26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5" name="Line 37">
                <a:extLst>
                  <a:ext uri="{FF2B5EF4-FFF2-40B4-BE49-F238E27FC236}">
                    <a16:creationId xmlns:a16="http://schemas.microsoft.com/office/drawing/2014/main" id="{42BD3735-78C9-0A57-1E43-05953AF40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6" name="Line 38">
                <a:extLst>
                  <a:ext uri="{FF2B5EF4-FFF2-40B4-BE49-F238E27FC236}">
                    <a16:creationId xmlns:a16="http://schemas.microsoft.com/office/drawing/2014/main" id="{1B83B9D7-7ACC-78C8-CD8D-3607882EB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7" name="Line 39">
                <a:extLst>
                  <a:ext uri="{FF2B5EF4-FFF2-40B4-BE49-F238E27FC236}">
                    <a16:creationId xmlns:a16="http://schemas.microsoft.com/office/drawing/2014/main" id="{7D0ED097-92D1-23F0-A05A-A5DA360DA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8" name="Line 40">
                <a:extLst>
                  <a:ext uri="{FF2B5EF4-FFF2-40B4-BE49-F238E27FC236}">
                    <a16:creationId xmlns:a16="http://schemas.microsoft.com/office/drawing/2014/main" id="{2D0CB73E-75DB-30E6-F026-2B3BC6405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2" y="1514"/>
                <a:ext cx="360" cy="3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9" name="Line 41">
                <a:extLst>
                  <a:ext uri="{FF2B5EF4-FFF2-40B4-BE49-F238E27FC236}">
                    <a16:creationId xmlns:a16="http://schemas.microsoft.com/office/drawing/2014/main" id="{29F739C8-3AB7-1712-0414-B8698EE12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2" y="1955"/>
                <a:ext cx="360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0" name="Line 42">
                <a:extLst>
                  <a:ext uri="{FF2B5EF4-FFF2-40B4-BE49-F238E27FC236}">
                    <a16:creationId xmlns:a16="http://schemas.microsoft.com/office/drawing/2014/main" id="{4895B5A0-9D12-454F-79ED-274D666F0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6" y="1702"/>
                <a:ext cx="36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1" name="Line 43">
                <a:extLst>
                  <a:ext uri="{FF2B5EF4-FFF2-40B4-BE49-F238E27FC236}">
                    <a16:creationId xmlns:a16="http://schemas.microsoft.com/office/drawing/2014/main" id="{AC8BAD3B-6615-01C7-021A-619EF90BD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893"/>
                <a:ext cx="648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197" name="Text Box 46">
              <a:extLst>
                <a:ext uri="{FF2B5EF4-FFF2-40B4-BE49-F238E27FC236}">
                  <a16:creationId xmlns:a16="http://schemas.microsoft.com/office/drawing/2014/main" id="{A26D5215-DE32-0E0D-663F-0136A9FAB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799"/>
              <a:ext cx="6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Objects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0EE24A7-5F0A-9E53-EF68-608203D2B72D}"/>
              </a:ext>
            </a:extLst>
          </p:cNvPr>
          <p:cNvSpPr/>
          <p:nvPr/>
        </p:nvSpPr>
        <p:spPr>
          <a:xfrm>
            <a:off x="395288" y="301625"/>
            <a:ext cx="7632700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面向对象程序的构成：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8BEE5-29B6-40A5-F068-6FCC6AF1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GB" dirty="0"/>
              <a:t>面向对象程序</a:t>
            </a:r>
            <a:r>
              <a:rPr lang="zh-CN" altLang="en-US" dirty="0"/>
              <a:t>的执行过程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A4F0A-4028-7E84-CC85-F442CBEA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3292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对象构成了面向对象程序的基本</a:t>
            </a:r>
            <a:r>
              <a:rPr lang="zh-CN" altLang="en-US" dirty="0">
                <a:solidFill>
                  <a:srgbClr val="FFC000"/>
                </a:solidFill>
              </a:rPr>
              <a:t>计算</a:t>
            </a:r>
            <a:r>
              <a:rPr lang="zh-CN" altLang="en-US" dirty="0"/>
              <a:t>单位，程序的执行体现为：对象间的一系列</a:t>
            </a:r>
            <a:r>
              <a:rPr lang="zh-CN" altLang="en-US" dirty="0">
                <a:solidFill>
                  <a:srgbClr val="FFC000"/>
                </a:solidFill>
              </a:rPr>
              <a:t>消息传递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10000"/>
              </a:lnSpc>
              <a:defRPr/>
            </a:pPr>
            <a:r>
              <a:rPr lang="zh-CN" altLang="en-US" dirty="0"/>
              <a:t>从程序外部向程序中的某个对象发送第一条消息启动计算过程；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该对象在处理这条消息的过程中，又向程序中的其它对象发送消息，从而引起进一步的计算；</a:t>
            </a:r>
            <a:endParaRPr lang="en-US" altLang="zh-CN" dirty="0"/>
          </a:p>
          <a:p>
            <a:pPr>
              <a:lnSpc>
                <a:spcPct val="110000"/>
              </a:lnSpc>
              <a:defRPr/>
            </a:pPr>
            <a:r>
              <a:rPr lang="zh-CN" altLang="en-US" dirty="0"/>
              <a:t>消息传递通过</a:t>
            </a:r>
            <a:r>
              <a:rPr lang="zh-CN" altLang="en-GB" dirty="0"/>
              <a:t>调用对象</a:t>
            </a:r>
            <a:r>
              <a:rPr lang="zh-CN" altLang="en-US" dirty="0"/>
              <a:t>类</a:t>
            </a:r>
            <a:r>
              <a:rPr lang="zh-CN" altLang="en-GB" dirty="0"/>
              <a:t>的</a:t>
            </a:r>
            <a:r>
              <a:rPr lang="zh-CN" altLang="en-GB" dirty="0">
                <a:solidFill>
                  <a:srgbClr val="FFC000"/>
                </a:solidFill>
              </a:rPr>
              <a:t>操作</a:t>
            </a:r>
            <a:r>
              <a:rPr lang="zh-CN" altLang="en-GB" dirty="0"/>
              <a:t>来实现</a:t>
            </a:r>
            <a:endParaRPr lang="en-US" altLang="zh-CN" dirty="0"/>
          </a:p>
          <a:p>
            <a:pPr lvl="1">
              <a:lnSpc>
                <a:spcPct val="110000"/>
              </a:lnSpc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498" name="Rectangle 2">
            <a:extLst>
              <a:ext uri="{FF2B5EF4-FFF2-40B4-BE49-F238E27FC236}">
                <a16:creationId xmlns:a16="http://schemas.microsoft.com/office/drawing/2014/main" id="{D8690BDB-9C7E-3634-8323-380F8CD45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71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面向对象程序设计的基本内容 </a:t>
            </a:r>
            <a:endParaRPr lang="zh-CN" altLang="en-US" dirty="0"/>
          </a:p>
        </p:txBody>
      </p:sp>
      <p:sp>
        <p:nvSpPr>
          <p:cNvPr id="1258499" name="Rectangle 3">
            <a:extLst>
              <a:ext uri="{FF2B5EF4-FFF2-40B4-BE49-F238E27FC236}">
                <a16:creationId xmlns:a16="http://schemas.microsoft.com/office/drawing/2014/main" id="{A0A18D48-413C-51AA-8672-C1924E9A9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605838" cy="5329237"/>
          </a:xfrm>
        </p:spPr>
        <p:txBody>
          <a:bodyPr>
            <a:normAutofit fontScale="92500" lnSpcReduction="10000"/>
          </a:bodyPr>
          <a:lstStyle/>
          <a:p>
            <a:pPr marL="441325" indent="-441325" eaLnBrk="1" hangingPunct="1">
              <a:lnSpc>
                <a:spcPct val="110000"/>
              </a:lnSpc>
              <a:defRPr/>
            </a:pPr>
            <a:r>
              <a:rPr lang="zh-CN" altLang="en-GB" dirty="0"/>
              <a:t>对象</a:t>
            </a:r>
            <a:r>
              <a:rPr lang="en-GB" altLang="zh-CN" dirty="0"/>
              <a:t>/</a:t>
            </a:r>
            <a:r>
              <a:rPr lang="zh-CN" altLang="en-GB" dirty="0"/>
              <a:t>类</a:t>
            </a:r>
            <a:r>
              <a:rPr lang="en-GB" altLang="zh-CN" dirty="0"/>
              <a:t>(</a:t>
            </a:r>
            <a:r>
              <a:rPr lang="en-GB" altLang="zh-CN" dirty="0" err="1"/>
              <a:t>Object&amp;Class</a:t>
            </a:r>
            <a:r>
              <a:rPr lang="en-GB" altLang="zh-CN" dirty="0"/>
              <a:t>)</a:t>
            </a:r>
            <a:r>
              <a:rPr lang="en-US" altLang="zh-CN" dirty="0"/>
              <a:t> </a:t>
            </a:r>
            <a:endParaRPr lang="zh-CN" altLang="en-GB" dirty="0"/>
          </a:p>
          <a:p>
            <a:pPr marL="801688" lvl="1" indent="-363538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对象</a:t>
            </a:r>
            <a:r>
              <a:rPr lang="zh-CN" altLang="en-US" dirty="0"/>
              <a:t>是由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及能对其实施的</a:t>
            </a:r>
            <a:r>
              <a:rPr lang="zh-CN" altLang="en-US" dirty="0">
                <a:solidFill>
                  <a:srgbClr val="FFC000"/>
                </a:solidFill>
              </a:rPr>
              <a:t>操作</a:t>
            </a:r>
            <a:r>
              <a:rPr lang="zh-CN" altLang="en-US" dirty="0"/>
              <a:t>所构成的封装体。</a:t>
            </a:r>
            <a:endParaRPr lang="en-US" altLang="zh-CN" dirty="0"/>
          </a:p>
          <a:p>
            <a:pPr marL="801688" lvl="1" indent="-363538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类</a:t>
            </a:r>
            <a:r>
              <a:rPr lang="zh-CN" altLang="en-US" dirty="0"/>
              <a:t>描述了对象的</a:t>
            </a:r>
            <a:r>
              <a:rPr lang="zh-CN" altLang="en-US" dirty="0">
                <a:solidFill>
                  <a:srgbClr val="FFC000"/>
                </a:solidFill>
              </a:rPr>
              <a:t>特征</a:t>
            </a:r>
            <a:r>
              <a:rPr lang="zh-CN" altLang="en-US" dirty="0"/>
              <a:t>（包含什么类型的数据和哪些操作），实现抽象。</a:t>
            </a:r>
            <a:endParaRPr lang="en-US" altLang="zh-CN" dirty="0"/>
          </a:p>
          <a:p>
            <a:pPr marL="801688" lvl="1" indent="-363538" eaLnBrk="1" hangingPunct="1">
              <a:lnSpc>
                <a:spcPct val="110000"/>
              </a:lnSpc>
              <a:defRPr/>
            </a:pPr>
            <a:r>
              <a:rPr lang="zh-CN" altLang="en-US" dirty="0"/>
              <a:t>对象</a:t>
            </a:r>
            <a:r>
              <a:rPr lang="zh-CN" altLang="en-GB" dirty="0"/>
              <a:t>属于</a:t>
            </a:r>
            <a:r>
              <a:rPr lang="zh-CN" altLang="en-GB" dirty="0">
                <a:solidFill>
                  <a:srgbClr val="FFC000"/>
                </a:solidFill>
              </a:rPr>
              <a:t>值</a:t>
            </a:r>
            <a:r>
              <a:rPr lang="zh-CN" altLang="en-GB" dirty="0"/>
              <a:t>的范畴</a:t>
            </a:r>
            <a:r>
              <a:rPr lang="zh-CN" altLang="en-US" dirty="0"/>
              <a:t>，是程序</a:t>
            </a:r>
            <a:r>
              <a:rPr lang="zh-CN" altLang="en-US" dirty="0">
                <a:solidFill>
                  <a:srgbClr val="FFC000"/>
                </a:solidFill>
              </a:rPr>
              <a:t>动态运行时刻</a:t>
            </a:r>
            <a:r>
              <a:rPr lang="zh-CN" altLang="en-US" dirty="0"/>
              <a:t>的实体；类则</a:t>
            </a:r>
            <a:r>
              <a:rPr lang="zh-CN" altLang="en-GB" dirty="0"/>
              <a:t>属于</a:t>
            </a:r>
            <a:r>
              <a:rPr lang="zh-CN" altLang="en-GB" dirty="0">
                <a:solidFill>
                  <a:srgbClr val="FFC000"/>
                </a:solidFill>
              </a:rPr>
              <a:t>类型</a:t>
            </a:r>
            <a:r>
              <a:rPr lang="zh-CN" altLang="en-GB" dirty="0"/>
              <a:t>的范畴</a:t>
            </a:r>
            <a:r>
              <a:rPr lang="zh-CN" altLang="en-US" dirty="0"/>
              <a:t>，属于</a:t>
            </a:r>
            <a:r>
              <a:rPr lang="zh-CN" altLang="en-US" dirty="0">
                <a:solidFill>
                  <a:srgbClr val="FFC000"/>
                </a:solidFill>
              </a:rPr>
              <a:t>静态编译时刻</a:t>
            </a:r>
            <a:r>
              <a:rPr lang="zh-CN" altLang="en-US" dirty="0"/>
              <a:t>的实体。</a:t>
            </a:r>
            <a:endParaRPr lang="en-US" altLang="zh-CN" dirty="0"/>
          </a:p>
          <a:p>
            <a:pPr marL="441325" indent="-441325" eaLnBrk="1" hangingPunct="1">
              <a:lnSpc>
                <a:spcPct val="110000"/>
              </a:lnSpc>
              <a:defRPr/>
            </a:pPr>
            <a:r>
              <a:rPr lang="zh-CN" altLang="en-GB" dirty="0"/>
              <a:t>继承</a:t>
            </a:r>
            <a:r>
              <a:rPr lang="en-GB" altLang="zh-CN" dirty="0"/>
              <a:t>(Inheritance)</a:t>
            </a:r>
            <a:r>
              <a:rPr lang="en-US" altLang="zh-CN" dirty="0"/>
              <a:t> </a:t>
            </a:r>
            <a:endParaRPr lang="zh-CN" altLang="en-GB" dirty="0"/>
          </a:p>
          <a:p>
            <a:pPr marL="993775" lvl="1" indent="-363538" eaLnBrk="1" hangingPunct="1">
              <a:lnSpc>
                <a:spcPct val="110000"/>
              </a:lnSpc>
              <a:defRPr/>
            </a:pPr>
            <a:r>
              <a:rPr lang="zh-CN" altLang="en-GB" dirty="0"/>
              <a:t>在定义一个新</a:t>
            </a:r>
            <a:r>
              <a:rPr lang="zh-CN" altLang="en-US" dirty="0"/>
              <a:t>的</a:t>
            </a:r>
            <a:r>
              <a:rPr lang="zh-CN" altLang="en-GB" dirty="0"/>
              <a:t>类（子类、</a:t>
            </a:r>
            <a:r>
              <a:rPr lang="zh-CN" altLang="en-GB" dirty="0">
                <a:solidFill>
                  <a:srgbClr val="FFC000"/>
                </a:solidFill>
              </a:rPr>
              <a:t>派生类</a:t>
            </a:r>
            <a:r>
              <a:rPr lang="zh-CN" altLang="en-GB" dirty="0"/>
              <a:t>）时，可以</a:t>
            </a:r>
            <a:r>
              <a:rPr lang="zh-CN" altLang="en-US" dirty="0"/>
              <a:t>把</a:t>
            </a:r>
            <a:r>
              <a:rPr lang="zh-CN" altLang="en-GB" dirty="0"/>
              <a:t>已有类（父类、</a:t>
            </a:r>
            <a:r>
              <a:rPr lang="zh-CN" altLang="en-GB" dirty="0">
                <a:solidFill>
                  <a:srgbClr val="FFC000"/>
                </a:solidFill>
              </a:rPr>
              <a:t>基类</a:t>
            </a:r>
            <a:r>
              <a:rPr lang="zh-CN" altLang="en-GB" dirty="0"/>
              <a:t>）的一些特征描述</a:t>
            </a:r>
            <a:r>
              <a:rPr lang="zh-CN" altLang="en-US" dirty="0"/>
              <a:t>先包含进来，然后再定义新的特征</a:t>
            </a:r>
            <a:r>
              <a:rPr lang="zh-CN" altLang="en-GB" dirty="0"/>
              <a:t>。</a:t>
            </a:r>
          </a:p>
          <a:p>
            <a:pPr marL="993775" lvl="1" indent="-363538" eaLnBrk="1" hangingPunct="1">
              <a:lnSpc>
                <a:spcPct val="11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单继承</a:t>
            </a:r>
            <a:r>
              <a:rPr lang="zh-CN" altLang="en-GB" dirty="0"/>
              <a:t>与</a:t>
            </a:r>
            <a:r>
              <a:rPr lang="zh-CN" altLang="en-GB" dirty="0">
                <a:solidFill>
                  <a:srgbClr val="FFC000"/>
                </a:solidFill>
              </a:rPr>
              <a:t>多继承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931" name="Rectangle 3">
            <a:extLst>
              <a:ext uri="{FF2B5EF4-FFF2-40B4-BE49-F238E27FC236}">
                <a16:creationId xmlns:a16="http://schemas.microsoft.com/office/drawing/2014/main" id="{2D55E2D6-709E-1570-92A5-5AF31A1AB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8686800" cy="6264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消息的</a:t>
            </a:r>
            <a:r>
              <a:rPr lang="zh-CN" altLang="en-GB" dirty="0"/>
              <a:t>多态与动态绑定</a:t>
            </a:r>
            <a:endParaRPr lang="en-GB" altLang="zh-CN" sz="22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多态</a:t>
            </a:r>
            <a:r>
              <a:rPr lang="en-GB" altLang="zh-CN" dirty="0"/>
              <a:t>(Polymorphism)</a:t>
            </a:r>
            <a:r>
              <a:rPr lang="zh-CN" altLang="en-GB" dirty="0"/>
              <a:t>：某一论域中的一个元素存在多种</a:t>
            </a:r>
            <a:r>
              <a:rPr lang="zh-CN" altLang="en-US" dirty="0"/>
              <a:t>形式和</a:t>
            </a:r>
            <a:r>
              <a:rPr lang="zh-CN" altLang="en-GB" dirty="0"/>
              <a:t>解释。</a:t>
            </a:r>
            <a:r>
              <a:rPr lang="zh-CN" altLang="en-US" dirty="0"/>
              <a:t>在程序中，多态</a:t>
            </a:r>
            <a:r>
              <a:rPr lang="zh-CN" altLang="en-GB" dirty="0"/>
              <a:t>通常体现为：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一名多用</a:t>
            </a:r>
            <a:r>
              <a:rPr lang="zh-CN" altLang="en-US" dirty="0"/>
              <a:t>：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zh-CN" altLang="en-GB" dirty="0"/>
              <a:t>函数名重载</a:t>
            </a:r>
            <a:r>
              <a:rPr lang="zh-CN" altLang="en-US" dirty="0"/>
              <a:t>、</a:t>
            </a:r>
            <a:r>
              <a:rPr lang="zh-CN" altLang="en-GB" dirty="0"/>
              <a:t>操作符重载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类属</a:t>
            </a:r>
            <a:r>
              <a:rPr lang="zh-CN" altLang="en-US" dirty="0"/>
              <a:t>：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zh-CN" altLang="en-GB" dirty="0"/>
              <a:t>类属函数：一个函数能对多种类型的数据进行操作。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zh-CN" altLang="en-GB" dirty="0"/>
              <a:t>类属类：一个类可以描述多种类型的</a:t>
            </a:r>
            <a:r>
              <a:rPr lang="zh-CN" altLang="en-US" dirty="0"/>
              <a:t>对象。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面向对象程序特有的多态（继承机制带来的）：</a:t>
            </a:r>
          </a:p>
          <a:p>
            <a:pPr lvl="3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对象类型</a:t>
            </a:r>
            <a:r>
              <a:rPr lang="zh-CN" altLang="en-US" dirty="0"/>
              <a:t>的多态：子类对象既属于子类，也属于父类。 </a:t>
            </a:r>
          </a:p>
          <a:p>
            <a:pPr lvl="3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对象标识</a:t>
            </a:r>
            <a:r>
              <a:rPr lang="zh-CN" altLang="en-US" dirty="0"/>
              <a:t>的多态：父类的引用或指针可以引用或指向父类对象，也可以引用或指向子类对象。</a:t>
            </a:r>
          </a:p>
          <a:p>
            <a:pPr lvl="3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消息</a:t>
            </a:r>
            <a:r>
              <a:rPr lang="zh-CN" altLang="en-US" dirty="0"/>
              <a:t>的多态：发给父类对象的消息也可以发给子类对象，父类与子类会给出不同的解释（处理）。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5" name="Rectangle 3">
            <a:extLst>
              <a:ext uri="{FF2B5EF4-FFF2-40B4-BE49-F238E27FC236}">
                <a16:creationId xmlns:a16="http://schemas.microsoft.com/office/drawing/2014/main" id="{11B62CC5-8327-99AF-F16F-24B35F519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686800" cy="5976938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绑定</a:t>
            </a:r>
            <a:r>
              <a:rPr lang="en-GB" altLang="zh-CN" dirty="0"/>
              <a:t>(Binding)</a:t>
            </a:r>
            <a:r>
              <a:rPr lang="zh-CN" altLang="en-GB" dirty="0"/>
              <a:t>：确定对多态元素的某个使用是多态元素的</a:t>
            </a:r>
            <a:r>
              <a:rPr lang="zh-CN" altLang="en-US" dirty="0"/>
              <a:t>哪</a:t>
            </a:r>
            <a:r>
              <a:rPr lang="zh-CN" altLang="en-GB" dirty="0"/>
              <a:t>一种形式。</a:t>
            </a:r>
            <a:r>
              <a:rPr lang="zh-CN" altLang="en-US" dirty="0"/>
              <a:t>可分为静态绑定和动态绑定。</a:t>
            </a:r>
            <a:endParaRPr lang="zh-CN" altLang="en-GB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静态绑定</a:t>
            </a:r>
            <a:r>
              <a:rPr lang="zh-CN" altLang="en-GB" dirty="0"/>
              <a:t>（</a:t>
            </a:r>
            <a:r>
              <a:rPr lang="en-GB" altLang="zh-CN" dirty="0"/>
              <a:t>Static Binding</a:t>
            </a:r>
            <a:r>
              <a:rPr lang="zh-CN" altLang="en-GB" dirty="0"/>
              <a:t>）</a:t>
            </a:r>
            <a:r>
              <a:rPr lang="zh-CN" altLang="en-US" dirty="0"/>
              <a:t>：</a:t>
            </a:r>
            <a:r>
              <a:rPr lang="zh-CN" altLang="en-GB" dirty="0"/>
              <a:t>在编译时刻确定</a:t>
            </a:r>
            <a:r>
              <a:rPr lang="zh-CN" altLang="en-US" dirty="0"/>
              <a:t>。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动态绑定</a:t>
            </a:r>
            <a:r>
              <a:rPr lang="zh-CN" altLang="en-GB" dirty="0"/>
              <a:t>（</a:t>
            </a:r>
            <a:r>
              <a:rPr lang="en-GB" altLang="zh-CN" dirty="0"/>
              <a:t>Dynamic Binding</a:t>
            </a:r>
            <a:r>
              <a:rPr lang="zh-CN" altLang="en-GB" dirty="0"/>
              <a:t>）：在运行时刻确定。</a:t>
            </a:r>
            <a:endParaRPr lang="en-US" altLang="zh-CN" dirty="0"/>
          </a:p>
          <a:p>
            <a:pPr lvl="3" eaLnBrk="1" hangingPunct="1">
              <a:lnSpc>
                <a:spcPct val="90000"/>
              </a:lnSpc>
              <a:defRPr/>
            </a:pPr>
            <a:r>
              <a:rPr lang="zh-CN" altLang="en-US" dirty="0"/>
              <a:t>通过父类的引用或指针向子类对象发送消息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多态带来的好处</a:t>
            </a:r>
          </a:p>
          <a:p>
            <a:pPr lvl="2" eaLnBrk="1" hangingPunct="1">
              <a:defRPr/>
            </a:pPr>
            <a:r>
              <a:rPr lang="zh-CN" altLang="en-US" dirty="0"/>
              <a:t>使得程序功能扩充变得容易（程序上层代码不变，只要增加底层的具体实现即可）。</a:t>
            </a:r>
          </a:p>
          <a:p>
            <a:pPr lvl="2" eaLnBrk="1" hangingPunct="1">
              <a:defRPr/>
            </a:pPr>
            <a:r>
              <a:rPr lang="zh-CN" altLang="en-US" dirty="0"/>
              <a:t>增强</a:t>
            </a:r>
            <a:r>
              <a:rPr lang="zh-CN" altLang="en-GB" dirty="0"/>
              <a:t>语言的可扩充性（</a:t>
            </a:r>
            <a:r>
              <a:rPr lang="zh-CN" altLang="en-US" dirty="0"/>
              <a:t>如</a:t>
            </a:r>
            <a:r>
              <a:rPr lang="zh-CN" altLang="en-GB" dirty="0"/>
              <a:t>操作符重载等）。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738" name="Rectangle 2">
            <a:extLst>
              <a:ext uri="{FF2B5EF4-FFF2-40B4-BE49-F238E27FC236}">
                <a16:creationId xmlns:a16="http://schemas.microsoft.com/office/drawing/2014/main" id="{7D6B7EB4-E29F-F084-404A-A41D63F4A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面向对象程序设计带来的好处</a:t>
            </a:r>
          </a:p>
        </p:txBody>
      </p:sp>
      <p:sp>
        <p:nvSpPr>
          <p:cNvPr id="1268739" name="Rectangle 3">
            <a:extLst>
              <a:ext uri="{FF2B5EF4-FFF2-40B4-BE49-F238E27FC236}">
                <a16:creationId xmlns:a16="http://schemas.microsoft.com/office/drawing/2014/main" id="{F022BCDE-E634-8B4B-81E9-7EA752DA5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569325" cy="48958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一个方法的优劣主要看它是否能提高</a:t>
            </a:r>
            <a:r>
              <a:rPr lang="zh-CN" altLang="en-GB" dirty="0"/>
              <a:t>软件</a:t>
            </a:r>
            <a:r>
              <a:rPr lang="zh-CN" altLang="en-GB" dirty="0">
                <a:solidFill>
                  <a:srgbClr val="FFC000"/>
                </a:solidFill>
              </a:rPr>
              <a:t>开发效率</a:t>
            </a:r>
            <a:r>
              <a:rPr lang="zh-CN" altLang="en-GB" dirty="0"/>
              <a:t>和</a:t>
            </a:r>
            <a:r>
              <a:rPr lang="zh-CN" altLang="en-US" dirty="0"/>
              <a:t>保证</a:t>
            </a:r>
            <a:r>
              <a:rPr lang="zh-CN" altLang="en-GB" dirty="0">
                <a:solidFill>
                  <a:srgbClr val="FFC000"/>
                </a:solidFill>
              </a:rPr>
              <a:t>软件质量</a:t>
            </a:r>
            <a:r>
              <a:rPr lang="zh-CN" altLang="en-US" dirty="0"/>
              <a:t>！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影响软件</a:t>
            </a:r>
            <a:r>
              <a:rPr lang="zh-CN" altLang="en-GB" dirty="0"/>
              <a:t>开发效率和软件质量</a:t>
            </a:r>
            <a:r>
              <a:rPr lang="zh-CN" altLang="en-US" dirty="0"/>
              <a:t>的因素主要包括：</a:t>
            </a:r>
            <a:r>
              <a:rPr lang="zh-CN" altLang="en-GB" dirty="0"/>
              <a:t>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抽象</a:t>
            </a:r>
            <a:r>
              <a:rPr lang="zh-CN" altLang="en-US" dirty="0"/>
              <a:t>（控制复杂度）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封装</a:t>
            </a:r>
            <a:r>
              <a:rPr lang="zh-CN" altLang="en-US" dirty="0"/>
              <a:t>（保护信息）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模块化</a:t>
            </a:r>
            <a:r>
              <a:rPr lang="zh-CN" altLang="en-US" dirty="0"/>
              <a:t>（组织和管理大型程序）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软件复用</a:t>
            </a:r>
            <a:r>
              <a:rPr lang="zh-CN" altLang="en-US" dirty="0"/>
              <a:t>（缩短开发周期）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可维护性</a:t>
            </a:r>
            <a:r>
              <a:rPr lang="zh-CN" altLang="en-US" dirty="0"/>
              <a:t>（延长软件寿命）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522" name="Rectangle 2">
            <a:extLst>
              <a:ext uri="{FF2B5EF4-FFF2-40B4-BE49-F238E27FC236}">
                <a16:creationId xmlns:a16="http://schemas.microsoft.com/office/drawing/2014/main" id="{A9408ED4-0BA2-54E5-61DE-389D42DC7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过程式程序设计的特点</a:t>
            </a:r>
          </a:p>
        </p:txBody>
      </p:sp>
      <p:sp>
        <p:nvSpPr>
          <p:cNvPr id="1387523" name="Rectangle 3">
            <a:extLst>
              <a:ext uri="{FF2B5EF4-FFF2-40B4-BE49-F238E27FC236}">
                <a16:creationId xmlns:a16="http://schemas.microsoft.com/office/drawing/2014/main" id="{0CC2E86D-3A0C-5A9B-A2AA-1EA51125B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32363" y="1341438"/>
            <a:ext cx="3960812" cy="5373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以功能为中心，强调过程（功能）抽象，但数据与操作分离，二者联系松散。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实现了操作的封装，但数据是公开的，数据缺乏保护。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按子程序划分模块，模块边界模糊。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子程序往往针对某个程序而设计，这使得程序难以复用。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功能易变，程序维护困难。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29E9EDCE-BE7C-CD05-E816-5658678248A2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622425"/>
            <a:ext cx="4681538" cy="4605338"/>
            <a:chOff x="158" y="935"/>
            <a:chExt cx="2960" cy="3154"/>
          </a:xfrm>
        </p:grpSpPr>
        <p:grpSp>
          <p:nvGrpSpPr>
            <p:cNvPr id="14341" name="Group 5">
              <a:extLst>
                <a:ext uri="{FF2B5EF4-FFF2-40B4-BE49-F238E27FC236}">
                  <a16:creationId xmlns:a16="http://schemas.microsoft.com/office/drawing/2014/main" id="{F2864A2F-4B00-4B92-66EA-38A88706A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" y="1029"/>
              <a:ext cx="2948" cy="2677"/>
              <a:chOff x="742" y="2528"/>
              <a:chExt cx="2376" cy="1792"/>
            </a:xfrm>
          </p:grpSpPr>
          <p:sp>
            <p:nvSpPr>
              <p:cNvPr id="14344" name="Oval 6">
                <a:extLst>
                  <a:ext uri="{FF2B5EF4-FFF2-40B4-BE49-F238E27FC236}">
                    <a16:creationId xmlns:a16="http://schemas.microsoft.com/office/drawing/2014/main" id="{BC6489CF-4EFC-6ED0-803E-B7FFBB2DF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0" y="2528"/>
                <a:ext cx="1872" cy="60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45" name="Rectangle 7">
                <a:extLst>
                  <a:ext uri="{FF2B5EF4-FFF2-40B4-BE49-F238E27FC236}">
                    <a16:creationId xmlns:a16="http://schemas.microsoft.com/office/drawing/2014/main" id="{118D5341-9409-B882-DBDB-0E578B426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44"/>
                <a:ext cx="288" cy="16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46" name="Line 8">
                <a:extLst>
                  <a:ext uri="{FF2B5EF4-FFF2-40B4-BE49-F238E27FC236}">
                    <a16:creationId xmlns:a16="http://schemas.microsoft.com/office/drawing/2014/main" id="{717399C7-664D-126E-95D2-43EB70FE4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2" y="3339"/>
                <a:ext cx="2376" cy="0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7" name="Rectangle 9">
                <a:extLst>
                  <a:ext uri="{FF2B5EF4-FFF2-40B4-BE49-F238E27FC236}">
                    <a16:creationId xmlns:a16="http://schemas.microsoft.com/office/drawing/2014/main" id="{8C14F758-31CA-A807-F5C9-8C892E810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48" name="Rectangle 10">
                <a:extLst>
                  <a:ext uri="{FF2B5EF4-FFF2-40B4-BE49-F238E27FC236}">
                    <a16:creationId xmlns:a16="http://schemas.microsoft.com/office/drawing/2014/main" id="{12E96889-055D-6BA5-2E34-A37935E0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" y="4150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49" name="Rectangle 11">
                <a:extLst>
                  <a:ext uri="{FF2B5EF4-FFF2-40B4-BE49-F238E27FC236}">
                    <a16:creationId xmlns:a16="http://schemas.microsoft.com/office/drawing/2014/main" id="{5DA70A1B-D588-852C-1DB9-07035053D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6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50" name="Rectangle 12">
                <a:extLst>
                  <a:ext uri="{FF2B5EF4-FFF2-40B4-BE49-F238E27FC236}">
                    <a16:creationId xmlns:a16="http://schemas.microsoft.com/office/drawing/2014/main" id="{7DF7CB5F-6933-1D22-6D89-7E11030FC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51" name="Rectangle 13">
                <a:extLst>
                  <a:ext uri="{FF2B5EF4-FFF2-40B4-BE49-F238E27FC236}">
                    <a16:creationId xmlns:a16="http://schemas.microsoft.com/office/drawing/2014/main" id="{BAD64038-8159-6CF2-108E-887A36B99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4150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4352" name="Line 14">
                <a:extLst>
                  <a:ext uri="{FF2B5EF4-FFF2-40B4-BE49-F238E27FC236}">
                    <a16:creationId xmlns:a16="http://schemas.microsoft.com/office/drawing/2014/main" id="{6140384B-A5E7-9B20-B107-6AA4456E7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6" y="3713"/>
                <a:ext cx="0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3" name="Line 15">
                <a:extLst>
                  <a:ext uri="{FF2B5EF4-FFF2-40B4-BE49-F238E27FC236}">
                    <a16:creationId xmlns:a16="http://schemas.microsoft.com/office/drawing/2014/main" id="{2A3EDC57-0EE5-3314-21AA-BCBE69330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62" y="3713"/>
                <a:ext cx="504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4" name="Line 16">
                <a:extLst>
                  <a:ext uri="{FF2B5EF4-FFF2-40B4-BE49-F238E27FC236}">
                    <a16:creationId xmlns:a16="http://schemas.microsoft.com/office/drawing/2014/main" id="{67E0144D-3B46-42E1-D707-38908A99B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6" y="3713"/>
                <a:ext cx="504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5" name="Line 17">
                <a:extLst>
                  <a:ext uri="{FF2B5EF4-FFF2-40B4-BE49-F238E27FC236}">
                    <a16:creationId xmlns:a16="http://schemas.microsoft.com/office/drawing/2014/main" id="{CC84A6FE-0BDA-384F-00E0-99B2F613B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6" y="4025"/>
                <a:ext cx="216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6" name="Line 18">
                <a:extLst>
                  <a:ext uri="{FF2B5EF4-FFF2-40B4-BE49-F238E27FC236}">
                    <a16:creationId xmlns:a16="http://schemas.microsoft.com/office/drawing/2014/main" id="{337C6739-CDE4-A943-D4B8-2FEE3F645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2" y="4025"/>
                <a:ext cx="288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7" name="Freeform 19">
                <a:extLst>
                  <a:ext uri="{FF2B5EF4-FFF2-40B4-BE49-F238E27FC236}">
                    <a16:creationId xmlns:a16="http://schemas.microsoft.com/office/drawing/2014/main" id="{6D7CD164-64A4-E31F-A63E-3DEBB9776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" y="2902"/>
                <a:ext cx="676" cy="692"/>
              </a:xfrm>
              <a:custGeom>
                <a:avLst/>
                <a:gdLst>
                  <a:gd name="T0" fmla="*/ 0 w 1800"/>
                  <a:gd name="T1" fmla="*/ 0 h 2028"/>
                  <a:gd name="T2" fmla="*/ 0 w 1800"/>
                  <a:gd name="T3" fmla="*/ 0 h 2028"/>
                  <a:gd name="T4" fmla="*/ 0 w 1800"/>
                  <a:gd name="T5" fmla="*/ 0 h 2028"/>
                  <a:gd name="T6" fmla="*/ 0 60000 65536"/>
                  <a:gd name="T7" fmla="*/ 0 60000 65536"/>
                  <a:gd name="T8" fmla="*/ 0 60000 65536"/>
                  <a:gd name="T9" fmla="*/ 0 w 1800"/>
                  <a:gd name="T10" fmla="*/ 0 h 2028"/>
                  <a:gd name="T11" fmla="*/ 1800 w 1800"/>
                  <a:gd name="T12" fmla="*/ 2028 h 20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0" h="2028">
                    <a:moveTo>
                      <a:pt x="1800" y="2028"/>
                    </a:moveTo>
                    <a:cubicBezTo>
                      <a:pt x="1410" y="1885"/>
                      <a:pt x="1020" y="1742"/>
                      <a:pt x="720" y="1404"/>
                    </a:cubicBezTo>
                    <a:cubicBezTo>
                      <a:pt x="420" y="1066"/>
                      <a:pt x="60" y="286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8" name="Freeform 20">
                <a:extLst>
                  <a:ext uri="{FF2B5EF4-FFF2-40B4-BE49-F238E27FC236}">
                    <a16:creationId xmlns:a16="http://schemas.microsoft.com/office/drawing/2014/main" id="{3D0785BA-1D05-53B3-7032-50D1ACA1E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" y="2902"/>
                <a:ext cx="360" cy="999"/>
              </a:xfrm>
              <a:custGeom>
                <a:avLst/>
                <a:gdLst>
                  <a:gd name="T0" fmla="*/ 0 w 720"/>
                  <a:gd name="T1" fmla="*/ 0 h 2964"/>
                  <a:gd name="T2" fmla="*/ 1 w 720"/>
                  <a:gd name="T3" fmla="*/ 0 h 2964"/>
                  <a:gd name="T4" fmla="*/ 0 w 720"/>
                  <a:gd name="T5" fmla="*/ 0 h 29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964"/>
                  <a:gd name="T11" fmla="*/ 720 w 720"/>
                  <a:gd name="T12" fmla="*/ 2964 h 29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964">
                    <a:moveTo>
                      <a:pt x="0" y="2964"/>
                    </a:moveTo>
                    <a:cubicBezTo>
                      <a:pt x="360" y="2509"/>
                      <a:pt x="720" y="2054"/>
                      <a:pt x="720" y="1560"/>
                    </a:cubicBezTo>
                    <a:cubicBezTo>
                      <a:pt x="720" y="1066"/>
                      <a:pt x="120" y="23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9" name="Freeform 21">
                <a:extLst>
                  <a:ext uri="{FF2B5EF4-FFF2-40B4-BE49-F238E27FC236}">
                    <a16:creationId xmlns:a16="http://schemas.microsoft.com/office/drawing/2014/main" id="{2215BAE1-13F0-BE42-4B86-0AB897865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4" y="2653"/>
                <a:ext cx="432" cy="1248"/>
              </a:xfrm>
              <a:custGeom>
                <a:avLst/>
                <a:gdLst>
                  <a:gd name="T0" fmla="*/ 0 w 1680"/>
                  <a:gd name="T1" fmla="*/ 0 h 2808"/>
                  <a:gd name="T2" fmla="*/ 0 w 1680"/>
                  <a:gd name="T3" fmla="*/ 0 h 2808"/>
                  <a:gd name="T4" fmla="*/ 0 w 1680"/>
                  <a:gd name="T5" fmla="*/ 0 h 2808"/>
                  <a:gd name="T6" fmla="*/ 0 60000 65536"/>
                  <a:gd name="T7" fmla="*/ 0 60000 65536"/>
                  <a:gd name="T8" fmla="*/ 0 60000 65536"/>
                  <a:gd name="T9" fmla="*/ 0 w 1680"/>
                  <a:gd name="T10" fmla="*/ 0 h 2808"/>
                  <a:gd name="T11" fmla="*/ 1680 w 1680"/>
                  <a:gd name="T12" fmla="*/ 2808 h 28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80" h="2808">
                    <a:moveTo>
                      <a:pt x="360" y="2808"/>
                    </a:moveTo>
                    <a:cubicBezTo>
                      <a:pt x="1020" y="2652"/>
                      <a:pt x="1680" y="2496"/>
                      <a:pt x="1620" y="2028"/>
                    </a:cubicBezTo>
                    <a:cubicBezTo>
                      <a:pt x="1560" y="1560"/>
                      <a:pt x="300" y="26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0" name="Freeform 22">
                <a:extLst>
                  <a:ext uri="{FF2B5EF4-FFF2-40B4-BE49-F238E27FC236}">
                    <a16:creationId xmlns:a16="http://schemas.microsoft.com/office/drawing/2014/main" id="{1CC0487F-96DA-DB41-B215-44B880572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840"/>
                <a:ext cx="576" cy="1061"/>
              </a:xfrm>
              <a:custGeom>
                <a:avLst/>
                <a:gdLst>
                  <a:gd name="T0" fmla="*/ 0 w 1860"/>
                  <a:gd name="T1" fmla="*/ 0 h 3276"/>
                  <a:gd name="T2" fmla="*/ 0 w 1860"/>
                  <a:gd name="T3" fmla="*/ 0 h 3276"/>
                  <a:gd name="T4" fmla="*/ 0 w 1860"/>
                  <a:gd name="T5" fmla="*/ 0 h 3276"/>
                  <a:gd name="T6" fmla="*/ 0 60000 65536"/>
                  <a:gd name="T7" fmla="*/ 0 60000 65536"/>
                  <a:gd name="T8" fmla="*/ 0 60000 65536"/>
                  <a:gd name="T9" fmla="*/ 0 w 1860"/>
                  <a:gd name="T10" fmla="*/ 0 h 3276"/>
                  <a:gd name="T11" fmla="*/ 1860 w 1860"/>
                  <a:gd name="T12" fmla="*/ 3276 h 32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" h="3276">
                    <a:moveTo>
                      <a:pt x="420" y="3276"/>
                    </a:moveTo>
                    <a:cubicBezTo>
                      <a:pt x="210" y="2847"/>
                      <a:pt x="0" y="2418"/>
                      <a:pt x="240" y="1872"/>
                    </a:cubicBezTo>
                    <a:cubicBezTo>
                      <a:pt x="480" y="1326"/>
                      <a:pt x="1470" y="260"/>
                      <a:pt x="186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1" name="Freeform 23">
                <a:extLst>
                  <a:ext uri="{FF2B5EF4-FFF2-40B4-BE49-F238E27FC236}">
                    <a16:creationId xmlns:a16="http://schemas.microsoft.com/office/drawing/2014/main" id="{67BB9BC1-A284-E103-6803-79A406B65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2715"/>
                <a:ext cx="1440" cy="1498"/>
              </a:xfrm>
              <a:custGeom>
                <a:avLst/>
                <a:gdLst>
                  <a:gd name="T0" fmla="*/ 0 w 3930"/>
                  <a:gd name="T1" fmla="*/ 0 h 4056"/>
                  <a:gd name="T2" fmla="*/ 0 w 3930"/>
                  <a:gd name="T3" fmla="*/ 0 h 4056"/>
                  <a:gd name="T4" fmla="*/ 0 w 3930"/>
                  <a:gd name="T5" fmla="*/ 0 h 4056"/>
                  <a:gd name="T6" fmla="*/ 0 60000 65536"/>
                  <a:gd name="T7" fmla="*/ 0 60000 65536"/>
                  <a:gd name="T8" fmla="*/ 0 60000 65536"/>
                  <a:gd name="T9" fmla="*/ 0 w 3930"/>
                  <a:gd name="T10" fmla="*/ 0 h 4056"/>
                  <a:gd name="T11" fmla="*/ 3930 w 3930"/>
                  <a:gd name="T12" fmla="*/ 4056 h 40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30" h="4056">
                    <a:moveTo>
                      <a:pt x="870" y="4056"/>
                    </a:moveTo>
                    <a:cubicBezTo>
                      <a:pt x="435" y="3692"/>
                      <a:pt x="0" y="3328"/>
                      <a:pt x="510" y="2652"/>
                    </a:cubicBezTo>
                    <a:cubicBezTo>
                      <a:pt x="1020" y="1976"/>
                      <a:pt x="2475" y="988"/>
                      <a:pt x="393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Freeform 24">
                <a:extLst>
                  <a:ext uri="{FF2B5EF4-FFF2-40B4-BE49-F238E27FC236}">
                    <a16:creationId xmlns:a16="http://schemas.microsoft.com/office/drawing/2014/main" id="{BA4644BB-A0BE-A1DC-3F7B-07C968C7F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2715"/>
                <a:ext cx="144" cy="1498"/>
              </a:xfrm>
              <a:custGeom>
                <a:avLst/>
                <a:gdLst>
                  <a:gd name="T0" fmla="*/ 0 w 720"/>
                  <a:gd name="T1" fmla="*/ 0 h 4056"/>
                  <a:gd name="T2" fmla="*/ 0 w 720"/>
                  <a:gd name="T3" fmla="*/ 0 h 4056"/>
                  <a:gd name="T4" fmla="*/ 0 w 720"/>
                  <a:gd name="T5" fmla="*/ 0 h 4056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56"/>
                  <a:gd name="T11" fmla="*/ 720 w 720"/>
                  <a:gd name="T12" fmla="*/ 4056 h 40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56">
                    <a:moveTo>
                      <a:pt x="720" y="4056"/>
                    </a:moveTo>
                    <a:cubicBezTo>
                      <a:pt x="600" y="3614"/>
                      <a:pt x="480" y="3172"/>
                      <a:pt x="360" y="2496"/>
                    </a:cubicBezTo>
                    <a:cubicBezTo>
                      <a:pt x="240" y="1820"/>
                      <a:pt x="120" y="91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42" name="Text Box 25">
              <a:extLst>
                <a:ext uri="{FF2B5EF4-FFF2-40B4-BE49-F238E27FC236}">
                  <a16:creationId xmlns:a16="http://schemas.microsoft.com/office/drawing/2014/main" id="{A5ABC167-25C3-265E-57F3-3FD705099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935"/>
              <a:ext cx="45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Data</a:t>
              </a:r>
            </a:p>
          </p:txBody>
        </p:sp>
        <p:sp>
          <p:nvSpPr>
            <p:cNvPr id="14343" name="Text Box 26">
              <a:extLst>
                <a:ext uri="{FF2B5EF4-FFF2-40B4-BE49-F238E27FC236}">
                  <a16:creationId xmlns:a16="http://schemas.microsoft.com/office/drawing/2014/main" id="{831D8220-8957-3123-0F0E-7C1263B17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" y="3838"/>
              <a:ext cx="11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Sub-programs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547" name="Rectangle 3">
            <a:extLst>
              <a:ext uri="{FF2B5EF4-FFF2-40B4-BE49-F238E27FC236}">
                <a16:creationId xmlns:a16="http://schemas.microsoft.com/office/drawing/2014/main" id="{AE7C34D3-F40D-E59C-3FB5-FADE13FEA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32363" y="1341438"/>
            <a:ext cx="40322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GB" sz="2400" dirty="0"/>
              <a:t>以数据为中心，强调数据抽象</a:t>
            </a:r>
            <a:r>
              <a:rPr lang="zh-CN" altLang="en-US" sz="2400" dirty="0"/>
              <a:t>，</a:t>
            </a:r>
            <a:r>
              <a:rPr lang="zh-CN" altLang="en-GB" sz="2400" dirty="0"/>
              <a:t>操作</a:t>
            </a:r>
            <a:r>
              <a:rPr lang="zh-CN" altLang="en-US" sz="2400" dirty="0"/>
              <a:t>依附于</a:t>
            </a:r>
            <a:r>
              <a:rPr lang="zh-CN" altLang="en-GB" sz="2400" dirty="0"/>
              <a:t>数据</a:t>
            </a:r>
            <a:r>
              <a:rPr lang="zh-CN" altLang="en-US" sz="2400" dirty="0"/>
              <a:t>，二者联系紧密</a:t>
            </a:r>
            <a:r>
              <a:rPr lang="zh-CN" altLang="en-GB" sz="2400" dirty="0"/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400" dirty="0"/>
              <a:t>实现了数据的封装，加强了数据的保护。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按对象类划分模块，</a:t>
            </a:r>
            <a:r>
              <a:rPr lang="zh-CN" altLang="en-GB" sz="2400" dirty="0"/>
              <a:t>模块边界清晰。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400" dirty="0"/>
              <a:t>对象</a:t>
            </a:r>
            <a:r>
              <a:rPr lang="zh-CN" altLang="en-US" sz="2400" dirty="0"/>
              <a:t>类</a:t>
            </a:r>
            <a:r>
              <a:rPr lang="zh-CN" altLang="en-GB" sz="2400" dirty="0"/>
              <a:t>往往具有通用性，</a:t>
            </a:r>
            <a:r>
              <a:rPr lang="zh-CN" altLang="en-US" sz="2400" dirty="0"/>
              <a:t>再加上继承机制，</a:t>
            </a:r>
            <a:r>
              <a:rPr lang="zh-CN" altLang="en-GB" sz="2400" dirty="0"/>
              <a:t>使得程序容易复用。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400" dirty="0"/>
              <a:t>对象</a:t>
            </a:r>
            <a:r>
              <a:rPr lang="zh-CN" altLang="en-US" sz="2400" dirty="0"/>
              <a:t>类</a:t>
            </a:r>
            <a:r>
              <a:rPr lang="zh-CN" altLang="en-GB" sz="2400" dirty="0"/>
              <a:t>相对稳定，有利于程序维护。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400" dirty="0">
                <a:solidFill>
                  <a:srgbClr val="FFC000"/>
                </a:solidFill>
              </a:rPr>
              <a:t>基于对象</a:t>
            </a:r>
            <a:r>
              <a:rPr lang="zh-CN" altLang="en-US" sz="2400" dirty="0">
                <a:solidFill>
                  <a:srgbClr val="FFC000"/>
                </a:solidFill>
              </a:rPr>
              <a:t>交互</a:t>
            </a:r>
            <a:r>
              <a:rPr lang="zh-CN" altLang="en-GB" sz="2400" dirty="0">
                <a:solidFill>
                  <a:srgbClr val="FFC000"/>
                </a:solidFill>
              </a:rPr>
              <a:t>的解题方式与问题空间有很好的对应。</a:t>
            </a:r>
          </a:p>
        </p:txBody>
      </p:sp>
      <p:grpSp>
        <p:nvGrpSpPr>
          <p:cNvPr id="15363" name="Group 0">
            <a:extLst>
              <a:ext uri="{FF2B5EF4-FFF2-40B4-BE49-F238E27FC236}">
                <a16:creationId xmlns:a16="http://schemas.microsoft.com/office/drawing/2014/main" id="{81310AB1-E532-EC79-9B0F-28EE97A809E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698625"/>
            <a:ext cx="3619500" cy="3530600"/>
            <a:chOff x="3185" y="799"/>
            <a:chExt cx="2280" cy="2224"/>
          </a:xfrm>
        </p:grpSpPr>
        <p:grpSp>
          <p:nvGrpSpPr>
            <p:cNvPr id="15365" name="Group 44">
              <a:extLst>
                <a:ext uri="{FF2B5EF4-FFF2-40B4-BE49-F238E27FC236}">
                  <a16:creationId xmlns:a16="http://schemas.microsoft.com/office/drawing/2014/main" id="{0E4F3F6D-66E4-6CAD-8785-2AC59107C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15367" name="Oval 0">
                <a:extLst>
                  <a:ext uri="{FF2B5EF4-FFF2-40B4-BE49-F238E27FC236}">
                    <a16:creationId xmlns:a16="http://schemas.microsoft.com/office/drawing/2014/main" id="{985FDF8B-1751-C6F9-AD7D-BEBFC8F86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68" name="Rectangle 1">
                <a:extLst>
                  <a:ext uri="{FF2B5EF4-FFF2-40B4-BE49-F238E27FC236}">
                    <a16:creationId xmlns:a16="http://schemas.microsoft.com/office/drawing/2014/main" id="{88378A23-111C-4539-B4EE-63FAF6FE3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69" name="Rectangle 2">
                <a:extLst>
                  <a:ext uri="{FF2B5EF4-FFF2-40B4-BE49-F238E27FC236}">
                    <a16:creationId xmlns:a16="http://schemas.microsoft.com/office/drawing/2014/main" id="{AD74A34E-5C43-6360-7408-9C26CAD3E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70" name="Line 3">
                <a:extLst>
                  <a:ext uri="{FF2B5EF4-FFF2-40B4-BE49-F238E27FC236}">
                    <a16:creationId xmlns:a16="http://schemas.microsoft.com/office/drawing/2014/main" id="{1C593C3D-E48D-B8F8-BD89-D0983E2FA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1" name="Line 4">
                <a:extLst>
                  <a:ext uri="{FF2B5EF4-FFF2-40B4-BE49-F238E27FC236}">
                    <a16:creationId xmlns:a16="http://schemas.microsoft.com/office/drawing/2014/main" id="{D3C432DC-448C-A4CA-B618-D97DB4710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8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2" name="Line 5">
                <a:extLst>
                  <a:ext uri="{FF2B5EF4-FFF2-40B4-BE49-F238E27FC236}">
                    <a16:creationId xmlns:a16="http://schemas.microsoft.com/office/drawing/2014/main" id="{82212602-EFE3-6F68-56C3-2C0C99AEE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3" name="Line 6">
                <a:extLst>
                  <a:ext uri="{FF2B5EF4-FFF2-40B4-BE49-F238E27FC236}">
                    <a16:creationId xmlns:a16="http://schemas.microsoft.com/office/drawing/2014/main" id="{71777745-75A8-B384-2676-629237912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8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Line 7">
                <a:extLst>
                  <a:ext uri="{FF2B5EF4-FFF2-40B4-BE49-F238E27FC236}">
                    <a16:creationId xmlns:a16="http://schemas.microsoft.com/office/drawing/2014/main" id="{3261DA7E-1715-2D4C-0B6A-25771C8B0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5" name="Line 8">
                <a:extLst>
                  <a:ext uri="{FF2B5EF4-FFF2-40B4-BE49-F238E27FC236}">
                    <a16:creationId xmlns:a16="http://schemas.microsoft.com/office/drawing/2014/main" id="{FD9C9EA4-6508-A186-0F1A-F01E3A2CA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6" name="Line 9">
                <a:extLst>
                  <a:ext uri="{FF2B5EF4-FFF2-40B4-BE49-F238E27FC236}">
                    <a16:creationId xmlns:a16="http://schemas.microsoft.com/office/drawing/2014/main" id="{689BC6E7-ABA7-6D0C-CAEE-CF9A440109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7" name="Oval 10">
                <a:extLst>
                  <a:ext uri="{FF2B5EF4-FFF2-40B4-BE49-F238E27FC236}">
                    <a16:creationId xmlns:a16="http://schemas.microsoft.com/office/drawing/2014/main" id="{6D447C7A-109F-40A3-0E34-A5D68A24B2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78" name="Rectangle 11">
                <a:extLst>
                  <a:ext uri="{FF2B5EF4-FFF2-40B4-BE49-F238E27FC236}">
                    <a16:creationId xmlns:a16="http://schemas.microsoft.com/office/drawing/2014/main" id="{57F4B960-033C-F236-4096-980229A1A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79" name="Rectangle 12">
                <a:extLst>
                  <a:ext uri="{FF2B5EF4-FFF2-40B4-BE49-F238E27FC236}">
                    <a16:creationId xmlns:a16="http://schemas.microsoft.com/office/drawing/2014/main" id="{A7490FDD-1AC5-0D99-1288-971F71FDD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80" name="Line 13">
                <a:extLst>
                  <a:ext uri="{FF2B5EF4-FFF2-40B4-BE49-F238E27FC236}">
                    <a16:creationId xmlns:a16="http://schemas.microsoft.com/office/drawing/2014/main" id="{95788277-1CC7-E315-3DA7-94C6A4491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514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1" name="Line 14">
                <a:extLst>
                  <a:ext uri="{FF2B5EF4-FFF2-40B4-BE49-F238E27FC236}">
                    <a16:creationId xmlns:a16="http://schemas.microsoft.com/office/drawing/2014/main" id="{DB174B6B-BE38-547A-8D89-F620CEA9E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151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2" name="Line 15">
                <a:extLst>
                  <a:ext uri="{FF2B5EF4-FFF2-40B4-BE49-F238E27FC236}">
                    <a16:creationId xmlns:a16="http://schemas.microsoft.com/office/drawing/2014/main" id="{AD5C9580-7910-4A16-DB50-3605B2C8D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1514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3" name="Line 16">
                <a:extLst>
                  <a:ext uri="{FF2B5EF4-FFF2-40B4-BE49-F238E27FC236}">
                    <a16:creationId xmlns:a16="http://schemas.microsoft.com/office/drawing/2014/main" id="{24C835C0-3BAE-BFB5-A941-041CFFFC7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951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4" name="Line 17">
                <a:extLst>
                  <a:ext uri="{FF2B5EF4-FFF2-40B4-BE49-F238E27FC236}">
                    <a16:creationId xmlns:a16="http://schemas.microsoft.com/office/drawing/2014/main" id="{EF5975EA-74C7-ECED-E9F0-50B0F1B8D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889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5" name="Line 18">
                <a:extLst>
                  <a:ext uri="{FF2B5EF4-FFF2-40B4-BE49-F238E27FC236}">
                    <a16:creationId xmlns:a16="http://schemas.microsoft.com/office/drawing/2014/main" id="{C63DD2EE-22AF-D829-4996-E82572A71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764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6" name="Line 19">
                <a:extLst>
                  <a:ext uri="{FF2B5EF4-FFF2-40B4-BE49-F238E27FC236}">
                    <a16:creationId xmlns:a16="http://schemas.microsoft.com/office/drawing/2014/main" id="{B7013378-F310-F953-84DD-B111361E4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639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7" name="Oval 20">
                <a:extLst>
                  <a:ext uri="{FF2B5EF4-FFF2-40B4-BE49-F238E27FC236}">
                    <a16:creationId xmlns:a16="http://schemas.microsoft.com/office/drawing/2014/main" id="{0FC885D3-D8C6-3859-255C-9B23DEA3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88" name="Rectangle 21">
                <a:extLst>
                  <a:ext uri="{FF2B5EF4-FFF2-40B4-BE49-F238E27FC236}">
                    <a16:creationId xmlns:a16="http://schemas.microsoft.com/office/drawing/2014/main" id="{CE5D3421-0DB3-E110-5D8E-316129CCD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89" name="Rectangle 22">
                <a:extLst>
                  <a:ext uri="{FF2B5EF4-FFF2-40B4-BE49-F238E27FC236}">
                    <a16:creationId xmlns:a16="http://schemas.microsoft.com/office/drawing/2014/main" id="{B0F32485-F94E-7D90-290C-3BA7C379C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90" name="Line 23">
                <a:extLst>
                  <a:ext uri="{FF2B5EF4-FFF2-40B4-BE49-F238E27FC236}">
                    <a16:creationId xmlns:a16="http://schemas.microsoft.com/office/drawing/2014/main" id="{2A20E6EA-63D0-5E57-D590-F9D2489B8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138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Line 24">
                <a:extLst>
                  <a:ext uri="{FF2B5EF4-FFF2-40B4-BE49-F238E27FC236}">
                    <a16:creationId xmlns:a16="http://schemas.microsoft.com/office/drawing/2014/main" id="{95EC6502-93A5-DE9C-429F-99D57B7FB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25">
                <a:extLst>
                  <a:ext uri="{FF2B5EF4-FFF2-40B4-BE49-F238E27FC236}">
                    <a16:creationId xmlns:a16="http://schemas.microsoft.com/office/drawing/2014/main" id="{23DE7C0C-2A01-B691-1545-AD4488290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2138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26">
                <a:extLst>
                  <a:ext uri="{FF2B5EF4-FFF2-40B4-BE49-F238E27FC236}">
                    <a16:creationId xmlns:a16="http://schemas.microsoft.com/office/drawing/2014/main" id="{C3C9FEF1-7AB0-BBC1-9608-87B960970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2575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4" name="Line 27">
                <a:extLst>
                  <a:ext uri="{FF2B5EF4-FFF2-40B4-BE49-F238E27FC236}">
                    <a16:creationId xmlns:a16="http://schemas.microsoft.com/office/drawing/2014/main" id="{F8E3E0F6-BBB4-1C57-DB9E-3F375B6BE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513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Line 28">
                <a:extLst>
                  <a:ext uri="{FF2B5EF4-FFF2-40B4-BE49-F238E27FC236}">
                    <a16:creationId xmlns:a16="http://schemas.microsoft.com/office/drawing/2014/main" id="{BD0AB7D1-C3D0-9985-4C2F-77C2D8D2A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388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Line 29">
                <a:extLst>
                  <a:ext uri="{FF2B5EF4-FFF2-40B4-BE49-F238E27FC236}">
                    <a16:creationId xmlns:a16="http://schemas.microsoft.com/office/drawing/2014/main" id="{46F7BFE2-C9D6-043F-C17C-B6E48F9B2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263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7" name="Oval 30">
                <a:extLst>
                  <a:ext uri="{FF2B5EF4-FFF2-40B4-BE49-F238E27FC236}">
                    <a16:creationId xmlns:a16="http://schemas.microsoft.com/office/drawing/2014/main" id="{2AF8E524-76E4-B3DD-CBC6-52B3CA398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98" name="Rectangle 31">
                <a:extLst>
                  <a:ext uri="{FF2B5EF4-FFF2-40B4-BE49-F238E27FC236}">
                    <a16:creationId xmlns:a16="http://schemas.microsoft.com/office/drawing/2014/main" id="{B1B5A9F5-A95A-37B3-2E79-323A04A96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399" name="Rectangle 32">
                <a:extLst>
                  <a:ext uri="{FF2B5EF4-FFF2-40B4-BE49-F238E27FC236}">
                    <a16:creationId xmlns:a16="http://schemas.microsoft.com/office/drawing/2014/main" id="{1B90CCE7-4A11-F090-C6C6-1F6596B51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5400" name="Line 33">
                <a:extLst>
                  <a:ext uri="{FF2B5EF4-FFF2-40B4-BE49-F238E27FC236}">
                    <a16:creationId xmlns:a16="http://schemas.microsoft.com/office/drawing/2014/main" id="{AA4D5E28-C8B6-4A65-5EB6-C50D33DD6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" name="Line 34">
                <a:extLst>
                  <a:ext uri="{FF2B5EF4-FFF2-40B4-BE49-F238E27FC236}">
                    <a16:creationId xmlns:a16="http://schemas.microsoft.com/office/drawing/2014/main" id="{E567C125-A52D-C8B7-B1DB-6DB18756F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2" name="Line 35">
                <a:extLst>
                  <a:ext uri="{FF2B5EF4-FFF2-40B4-BE49-F238E27FC236}">
                    <a16:creationId xmlns:a16="http://schemas.microsoft.com/office/drawing/2014/main" id="{1A648EFC-3F7C-A5BB-6E34-E69C21D43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3" name="Line 36">
                <a:extLst>
                  <a:ext uri="{FF2B5EF4-FFF2-40B4-BE49-F238E27FC236}">
                    <a16:creationId xmlns:a16="http://schemas.microsoft.com/office/drawing/2014/main" id="{DFC1BA86-F29F-4352-AD00-79BDEFCB9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26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4" name="Line 37">
                <a:extLst>
                  <a:ext uri="{FF2B5EF4-FFF2-40B4-BE49-F238E27FC236}">
                    <a16:creationId xmlns:a16="http://schemas.microsoft.com/office/drawing/2014/main" id="{859D8869-CB3E-3014-8EB4-11E20597E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5" name="Line 38">
                <a:extLst>
                  <a:ext uri="{FF2B5EF4-FFF2-40B4-BE49-F238E27FC236}">
                    <a16:creationId xmlns:a16="http://schemas.microsoft.com/office/drawing/2014/main" id="{C2C4EBA7-14BA-3995-108C-2735CE6F2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Line 39">
                <a:extLst>
                  <a:ext uri="{FF2B5EF4-FFF2-40B4-BE49-F238E27FC236}">
                    <a16:creationId xmlns:a16="http://schemas.microsoft.com/office/drawing/2014/main" id="{562AF2CD-AD58-CE07-5A09-35455FEE5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Line 40">
                <a:extLst>
                  <a:ext uri="{FF2B5EF4-FFF2-40B4-BE49-F238E27FC236}">
                    <a16:creationId xmlns:a16="http://schemas.microsoft.com/office/drawing/2014/main" id="{ED88566C-5BCF-CCEF-6ABD-CA5E73057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2" y="1514"/>
                <a:ext cx="360" cy="3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8" name="Line 41">
                <a:extLst>
                  <a:ext uri="{FF2B5EF4-FFF2-40B4-BE49-F238E27FC236}">
                    <a16:creationId xmlns:a16="http://schemas.microsoft.com/office/drawing/2014/main" id="{C14238DE-6026-E185-8835-A0E367758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2" y="1955"/>
                <a:ext cx="360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9" name="Line 42">
                <a:extLst>
                  <a:ext uri="{FF2B5EF4-FFF2-40B4-BE49-F238E27FC236}">
                    <a16:creationId xmlns:a16="http://schemas.microsoft.com/office/drawing/2014/main" id="{5A6F6752-9252-EAFA-F103-3A440F8FD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6" y="1702"/>
                <a:ext cx="36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0" name="Line 43">
                <a:extLst>
                  <a:ext uri="{FF2B5EF4-FFF2-40B4-BE49-F238E27FC236}">
                    <a16:creationId xmlns:a16="http://schemas.microsoft.com/office/drawing/2014/main" id="{5DFC819D-B69D-7103-7D0D-775BFF3EB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893"/>
                <a:ext cx="648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66" name="Text Box 46">
              <a:extLst>
                <a:ext uri="{FF2B5EF4-FFF2-40B4-BE49-F238E27FC236}">
                  <a16:creationId xmlns:a16="http://schemas.microsoft.com/office/drawing/2014/main" id="{27C8DD36-4F06-152B-8ABC-2CAD1CB0D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799"/>
              <a:ext cx="6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Objects</a:t>
              </a:r>
            </a:p>
          </p:txBody>
        </p:sp>
      </p:grpSp>
      <p:sp>
        <p:nvSpPr>
          <p:cNvPr id="1388544" name="Rectangle 1024">
            <a:extLst>
              <a:ext uri="{FF2B5EF4-FFF2-40B4-BE49-F238E27FC236}">
                <a16:creationId xmlns:a16="http://schemas.microsoft.com/office/drawing/2014/main" id="{B3608351-5063-53F8-F595-6001D344B9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面</a:t>
            </a:r>
            <a:r>
              <a:rPr lang="zh-CN" altLang="en-GB"/>
              <a:t>向对象程序设计的特点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33410</TotalTime>
  <Words>898</Words>
  <Application>Microsoft Office PowerPoint</Application>
  <PresentationFormat>全屏显示(4:3)</PresentationFormat>
  <Paragraphs>70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Verdana</vt:lpstr>
      <vt:lpstr>宋体</vt:lpstr>
      <vt:lpstr>Arial</vt:lpstr>
      <vt:lpstr>Wingdings</vt:lpstr>
      <vt:lpstr>Times New Roman</vt:lpstr>
      <vt:lpstr>Globe</vt:lpstr>
      <vt:lpstr>面向对象程序设计概述</vt:lpstr>
      <vt:lpstr>什么是面向对象程序设计 </vt:lpstr>
      <vt:lpstr>PowerPoint 演示文稿</vt:lpstr>
      <vt:lpstr>面向对象程序的执行过程</vt:lpstr>
      <vt:lpstr>面向对象程序设计的基本内容 </vt:lpstr>
      <vt:lpstr>PowerPoint 演示文稿</vt:lpstr>
      <vt:lpstr>PowerPoint 演示文稿</vt:lpstr>
      <vt:lpstr>面向对象程序设计带来的好处</vt:lpstr>
      <vt:lpstr>过程式程序设计的特点</vt:lpstr>
      <vt:lpstr>面向对象程序设计的特点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618</cp:revision>
  <dcterms:created xsi:type="dcterms:W3CDTF">1999-05-22T12:40:20Z</dcterms:created>
  <dcterms:modified xsi:type="dcterms:W3CDTF">2026-06-18T00:20:36Z</dcterms:modified>
</cp:coreProperties>
</file>