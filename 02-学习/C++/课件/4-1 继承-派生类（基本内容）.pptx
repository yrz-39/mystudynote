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6"/>
  </p:notesMasterIdLst>
  <p:sldIdLst>
    <p:sldId id="573" r:id="rId2"/>
    <p:sldId id="572" r:id="rId3"/>
    <p:sldId id="726" r:id="rId4"/>
    <p:sldId id="731" r:id="rId5"/>
    <p:sldId id="574" r:id="rId6"/>
    <p:sldId id="575" r:id="rId7"/>
    <p:sldId id="577" r:id="rId8"/>
    <p:sldId id="730" r:id="rId9"/>
    <p:sldId id="578" r:id="rId10"/>
    <p:sldId id="579" r:id="rId11"/>
    <p:sldId id="580" r:id="rId12"/>
    <p:sldId id="584" r:id="rId13"/>
    <p:sldId id="585" r:id="rId14"/>
    <p:sldId id="586" r:id="rId15"/>
    <p:sldId id="657" r:id="rId16"/>
    <p:sldId id="656" r:id="rId17"/>
    <p:sldId id="587" r:id="rId18"/>
    <p:sldId id="678" r:id="rId19"/>
    <p:sldId id="733" r:id="rId20"/>
    <p:sldId id="679" r:id="rId21"/>
    <p:sldId id="680" r:id="rId22"/>
    <p:sldId id="729" r:id="rId23"/>
    <p:sldId id="665" r:id="rId24"/>
    <p:sldId id="709" r:id="rId25"/>
    <p:sldId id="727" r:id="rId26"/>
    <p:sldId id="673" r:id="rId27"/>
    <p:sldId id="717" r:id="rId28"/>
    <p:sldId id="718" r:id="rId29"/>
    <p:sldId id="725" r:id="rId30"/>
    <p:sldId id="734" r:id="rId31"/>
    <p:sldId id="735" r:id="rId32"/>
    <p:sldId id="736" r:id="rId33"/>
    <p:sldId id="719" r:id="rId34"/>
    <p:sldId id="720" r:id="rId35"/>
    <p:sldId id="724" r:id="rId36"/>
    <p:sldId id="723" r:id="rId37"/>
    <p:sldId id="722" r:id="rId38"/>
    <p:sldId id="721" r:id="rId39"/>
    <p:sldId id="700" r:id="rId40"/>
    <p:sldId id="701" r:id="rId41"/>
    <p:sldId id="702" r:id="rId42"/>
    <p:sldId id="600" r:id="rId43"/>
    <p:sldId id="601" r:id="rId44"/>
    <p:sldId id="728" r:id="rId4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autoAdjust="0"/>
    <p:restoredTop sz="84897" autoAdjust="0"/>
  </p:normalViewPr>
  <p:slideViewPr>
    <p:cSldViewPr>
      <p:cViewPr varScale="1">
        <p:scale>
          <a:sx n="135" d="100"/>
          <a:sy n="135" d="100"/>
        </p:scale>
        <p:origin x="5076" y="11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p:scale>
          <a:sx n="75" d="100"/>
          <a:sy n="75" d="100"/>
        </p:scale>
        <p:origin x="-173" y="14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236E56B-EEDB-BBFB-6D7A-C4851C54479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FAD4B77C-1B31-4912-E90B-7A7C32825B8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08E28B89-870D-0E51-2D58-A5E70829BB0F}"/>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1011651-86B5-D448-0ED2-5972FE015B6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9FF7AF3B-66F6-A0D8-8A0E-9C9EFA70328D}"/>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30F72C8B-F5DD-EBD6-59C5-F651F4C9837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667FF299-3558-4885-8528-E245F8EB666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B9AB359F-346E-3EF8-9D2D-1FA4CB0A5CF9}"/>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8D765A42-0CBD-2B49-34E0-FF2284EE2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t>派生类不能访问基类的私有成员。</a:t>
            </a:r>
            <a:r>
              <a:rPr kumimoji="1" lang="zh-CN" altLang="zh-CN"/>
              <a:t>B</a:t>
            </a:r>
            <a:r>
              <a:rPr kumimoji="1" lang="zh-CN" altLang="en-US"/>
              <a:t>的继承方式只影响“</a:t>
            </a:r>
            <a:r>
              <a:rPr kumimoji="1" lang="zh-CN" altLang="zh-CN"/>
              <a:t>B</a:t>
            </a:r>
            <a:r>
              <a:rPr kumimoji="1" lang="zh-CN" altLang="en-US"/>
              <a:t>的派生类”以及“</a:t>
            </a:r>
            <a:r>
              <a:rPr kumimoji="1" lang="zh-CN" altLang="zh-CN"/>
              <a:t>B</a:t>
            </a:r>
            <a:r>
              <a:rPr kumimoji="1" lang="zh-CN" altLang="en-US"/>
              <a:t>类的对象”对“</a:t>
            </a:r>
            <a:r>
              <a:rPr kumimoji="1" lang="zh-CN" altLang="zh-CN"/>
              <a:t>A</a:t>
            </a:r>
            <a:r>
              <a:rPr kumimoji="1" lang="zh-CN" altLang="en-US"/>
              <a:t>类成员”的访问</a:t>
            </a:r>
          </a:p>
          <a:p>
            <a:endParaRPr kumimoji="1" lang="zh-CN" altLang="en-US"/>
          </a:p>
        </p:txBody>
      </p:sp>
      <p:sp>
        <p:nvSpPr>
          <p:cNvPr id="25604" name="灯片编号占位符 3">
            <a:extLst>
              <a:ext uri="{FF2B5EF4-FFF2-40B4-BE49-F238E27FC236}">
                <a16:creationId xmlns:a16="http://schemas.microsoft.com/office/drawing/2014/main" id="{A60F787A-2A18-3948-78BE-4434C7C060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568EC6D-A5E2-42FD-A92B-DCEB8EC1C68C}" type="slidenum">
              <a:rPr lang="en-US" altLang="zh-CN" smtClean="0">
                <a:latin typeface="Times New Roman" panose="02020603050405020304" pitchFamily="18" charset="0"/>
              </a:rPr>
              <a:pPr/>
              <a:t>21</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AC41C7D-8055-4CCB-731E-CBBBA98DF48E}"/>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FE50168A-562D-3A1B-ACCA-B080ECFFAF77}"/>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 name="Freeform 4">
              <a:extLst>
                <a:ext uri="{FF2B5EF4-FFF2-40B4-BE49-F238E27FC236}">
                  <a16:creationId xmlns:a16="http://schemas.microsoft.com/office/drawing/2014/main" id="{1BC8B19C-D63A-ACAC-060C-1F286A61382F}"/>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5" name="Freeform 5">
              <a:extLst>
                <a:ext uri="{FF2B5EF4-FFF2-40B4-BE49-F238E27FC236}">
                  <a16:creationId xmlns:a16="http://schemas.microsoft.com/office/drawing/2014/main" id="{4737B50D-5FCA-87A1-6FD0-3867A657231D}"/>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6" name="Group 6">
              <a:extLst>
                <a:ext uri="{FF2B5EF4-FFF2-40B4-BE49-F238E27FC236}">
                  <a16:creationId xmlns:a16="http://schemas.microsoft.com/office/drawing/2014/main" id="{D2E738B0-54A3-4A1F-21CB-B04E4296D62A}"/>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44A00EE4-F5B8-28D7-4A0F-5E1AA486FDFF}"/>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7" name="Freeform 8">
                <a:extLst>
                  <a:ext uri="{FF2B5EF4-FFF2-40B4-BE49-F238E27FC236}">
                    <a16:creationId xmlns:a16="http://schemas.microsoft.com/office/drawing/2014/main" id="{A2A62B66-5AC9-7D2B-A67E-78911E0E3D32}"/>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8" name="Freeform 9">
                <a:extLst>
                  <a:ext uri="{FF2B5EF4-FFF2-40B4-BE49-F238E27FC236}">
                    <a16:creationId xmlns:a16="http://schemas.microsoft.com/office/drawing/2014/main" id="{5359DDAB-D365-D886-0EA9-F228B3D085CB}"/>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9" name="Freeform 10">
                <a:extLst>
                  <a:ext uri="{FF2B5EF4-FFF2-40B4-BE49-F238E27FC236}">
                    <a16:creationId xmlns:a16="http://schemas.microsoft.com/office/drawing/2014/main" id="{79FCA5A3-BA38-E01D-F26B-252ACC2EA510}"/>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0" name="Freeform 11">
                <a:extLst>
                  <a:ext uri="{FF2B5EF4-FFF2-40B4-BE49-F238E27FC236}">
                    <a16:creationId xmlns:a16="http://schemas.microsoft.com/office/drawing/2014/main" id="{DC427808-3340-EBC9-82AF-BB2226B21524}"/>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1" name="Freeform 12">
                <a:extLst>
                  <a:ext uri="{FF2B5EF4-FFF2-40B4-BE49-F238E27FC236}">
                    <a16:creationId xmlns:a16="http://schemas.microsoft.com/office/drawing/2014/main" id="{BF4E4DB1-CBDB-BE43-A501-67CFF6DE27B5}"/>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2" name="Freeform 13">
                <a:extLst>
                  <a:ext uri="{FF2B5EF4-FFF2-40B4-BE49-F238E27FC236}">
                    <a16:creationId xmlns:a16="http://schemas.microsoft.com/office/drawing/2014/main" id="{82004EAF-39AB-AAA5-670D-D29E7C8620FC}"/>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3" name="Freeform 14">
                <a:extLst>
                  <a:ext uri="{FF2B5EF4-FFF2-40B4-BE49-F238E27FC236}">
                    <a16:creationId xmlns:a16="http://schemas.microsoft.com/office/drawing/2014/main" id="{194BB7C0-17EC-966C-EEDF-6C39A2AD9CEA}"/>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4" name="Freeform 15">
                <a:extLst>
                  <a:ext uri="{FF2B5EF4-FFF2-40B4-BE49-F238E27FC236}">
                    <a16:creationId xmlns:a16="http://schemas.microsoft.com/office/drawing/2014/main" id="{9459EE22-F09D-599A-D39F-EEF717E7E202}"/>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5" name="Freeform 16">
                <a:extLst>
                  <a:ext uri="{FF2B5EF4-FFF2-40B4-BE49-F238E27FC236}">
                    <a16:creationId xmlns:a16="http://schemas.microsoft.com/office/drawing/2014/main" id="{30DF2196-876F-7CC4-BA5C-A82DA5154992}"/>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6" name="Freeform 17">
                <a:extLst>
                  <a:ext uri="{FF2B5EF4-FFF2-40B4-BE49-F238E27FC236}">
                    <a16:creationId xmlns:a16="http://schemas.microsoft.com/office/drawing/2014/main" id="{02FE8415-87E3-149A-4F6F-2E5025D9B533}"/>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7" name="Freeform 18">
                <a:extLst>
                  <a:ext uri="{FF2B5EF4-FFF2-40B4-BE49-F238E27FC236}">
                    <a16:creationId xmlns:a16="http://schemas.microsoft.com/office/drawing/2014/main" id="{167E9555-C797-1DB0-8986-27E8119105C2}"/>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8" name="Freeform 19">
                <a:extLst>
                  <a:ext uri="{FF2B5EF4-FFF2-40B4-BE49-F238E27FC236}">
                    <a16:creationId xmlns:a16="http://schemas.microsoft.com/office/drawing/2014/main" id="{DFA24BCA-40F5-39B8-626E-AFB2BCA10FBB}"/>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7" name="Freeform 20">
              <a:extLst>
                <a:ext uri="{FF2B5EF4-FFF2-40B4-BE49-F238E27FC236}">
                  <a16:creationId xmlns:a16="http://schemas.microsoft.com/office/drawing/2014/main" id="{A4ACE5F9-BA4D-9CC7-80FB-1FF1935C3FE3}"/>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8" name="Freeform 21">
              <a:extLst>
                <a:ext uri="{FF2B5EF4-FFF2-40B4-BE49-F238E27FC236}">
                  <a16:creationId xmlns:a16="http://schemas.microsoft.com/office/drawing/2014/main" id="{10513DB3-4D9C-A4E9-DF59-6A40FE258C5A}"/>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9" name="Freeform 22">
              <a:extLst>
                <a:ext uri="{FF2B5EF4-FFF2-40B4-BE49-F238E27FC236}">
                  <a16:creationId xmlns:a16="http://schemas.microsoft.com/office/drawing/2014/main" id="{1C43C737-B1B2-A25E-098F-6DCA8F8D78E4}"/>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 name="Freeform 23">
              <a:extLst>
                <a:ext uri="{FF2B5EF4-FFF2-40B4-BE49-F238E27FC236}">
                  <a16:creationId xmlns:a16="http://schemas.microsoft.com/office/drawing/2014/main" id="{7FA8A215-418E-D9DF-B0FE-A7458CFDDB29}"/>
                </a:ext>
              </a:extLst>
            </p:cNvPr>
            <p:cNvSpPr>
              <a:spLocks/>
            </p:cNvSpPr>
            <p:nvPr/>
          </p:nvSpPr>
          <p:spPr bwMode="hidden">
            <a:xfrm>
              <a:off x="5041" y="0"/>
              <a:ext cx="719" cy="845"/>
            </a:xfrm>
            <a:custGeom>
              <a:avLst/>
              <a:gdLst>
                <a:gd name="T0" fmla="*/ 969 w 717"/>
                <a:gd name="T1" fmla="*/ 845 h 845"/>
                <a:gd name="T2" fmla="*/ 969 w 717"/>
                <a:gd name="T3" fmla="*/ 821 h 845"/>
                <a:gd name="T4" fmla="*/ 802 w 717"/>
                <a:gd name="T5" fmla="*/ 605 h 845"/>
                <a:gd name="T6" fmla="*/ 520 w 717"/>
                <a:gd name="T7" fmla="*/ 396 h 845"/>
                <a:gd name="T8" fmla="*/ 335 w 717"/>
                <a:gd name="T9" fmla="*/ 192 h 845"/>
                <a:gd name="T10" fmla="*/ 17 w 717"/>
                <a:gd name="T11" fmla="*/ 0 h 845"/>
                <a:gd name="T12" fmla="*/ 0 w 717"/>
                <a:gd name="T13" fmla="*/ 0 h 845"/>
                <a:gd name="T14" fmla="*/ 323 w 717"/>
                <a:gd name="T15" fmla="*/ 198 h 845"/>
                <a:gd name="T16" fmla="*/ 514 w 717"/>
                <a:gd name="T17" fmla="*/ 408 h 845"/>
                <a:gd name="T18" fmla="*/ 796 w 717"/>
                <a:gd name="T19" fmla="*/ 623 h 845"/>
                <a:gd name="T20" fmla="*/ 969 w 717"/>
                <a:gd name="T21" fmla="*/ 845 h 845"/>
                <a:gd name="T22" fmla="*/ 96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D4B31E90-BC65-3275-C616-C237872E777C}"/>
                </a:ext>
              </a:extLst>
            </p:cNvPr>
            <p:cNvSpPr>
              <a:spLocks/>
            </p:cNvSpPr>
            <p:nvPr/>
          </p:nvSpPr>
          <p:spPr bwMode="hidden">
            <a:xfrm>
              <a:off x="5352" y="0"/>
              <a:ext cx="408" cy="414"/>
            </a:xfrm>
            <a:custGeom>
              <a:avLst/>
              <a:gdLst>
                <a:gd name="T0" fmla="*/ 521 w 407"/>
                <a:gd name="T1" fmla="*/ 414 h 414"/>
                <a:gd name="T2" fmla="*/ 521 w 407"/>
                <a:gd name="T3" fmla="*/ 396 h 414"/>
                <a:gd name="T4" fmla="*/ 336 w 407"/>
                <a:gd name="T5" fmla="*/ 192 h 414"/>
                <a:gd name="T6" fmla="*/ 12 w 407"/>
                <a:gd name="T7" fmla="*/ 0 h 414"/>
                <a:gd name="T8" fmla="*/ 0 w 407"/>
                <a:gd name="T9" fmla="*/ 0 h 414"/>
                <a:gd name="T10" fmla="*/ 108 w 407"/>
                <a:gd name="T11" fmla="*/ 102 h 414"/>
                <a:gd name="T12" fmla="*/ 330 w 407"/>
                <a:gd name="T13" fmla="*/ 204 h 414"/>
                <a:gd name="T14" fmla="*/ 521 w 407"/>
                <a:gd name="T15" fmla="*/ 414 h 414"/>
                <a:gd name="T16" fmla="*/ 52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C90E1455-CF23-8AF4-B260-AB009885AB56}"/>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3" name="Freeform 26">
              <a:extLst>
                <a:ext uri="{FF2B5EF4-FFF2-40B4-BE49-F238E27FC236}">
                  <a16:creationId xmlns:a16="http://schemas.microsoft.com/office/drawing/2014/main" id="{39CDA00D-02D5-4E1F-7FFE-304B33C8CD77}"/>
                </a:ext>
              </a:extLst>
            </p:cNvPr>
            <p:cNvSpPr>
              <a:spLocks/>
            </p:cNvSpPr>
            <p:nvPr/>
          </p:nvSpPr>
          <p:spPr bwMode="hidden">
            <a:xfrm>
              <a:off x="6" y="0"/>
              <a:ext cx="588" cy="599"/>
            </a:xfrm>
            <a:custGeom>
              <a:avLst/>
              <a:gdLst>
                <a:gd name="T0" fmla="*/ 854 w 586"/>
                <a:gd name="T1" fmla="*/ 0 h 599"/>
                <a:gd name="T2" fmla="*/ 827 w 586"/>
                <a:gd name="T3" fmla="*/ 0 h 599"/>
                <a:gd name="T4" fmla="*/ 602 w 586"/>
                <a:gd name="T5" fmla="*/ 132 h 599"/>
                <a:gd name="T6" fmla="*/ 371 w 586"/>
                <a:gd name="T7" fmla="*/ 270 h 599"/>
                <a:gd name="T8" fmla="*/ 120 w 586"/>
                <a:gd name="T9" fmla="*/ 420 h 599"/>
                <a:gd name="T10" fmla="*/ 0 w 586"/>
                <a:gd name="T11" fmla="*/ 575 h 599"/>
                <a:gd name="T12" fmla="*/ 0 w 586"/>
                <a:gd name="T13" fmla="*/ 599 h 599"/>
                <a:gd name="T14" fmla="*/ 120 w 586"/>
                <a:gd name="T15" fmla="*/ 432 h 599"/>
                <a:gd name="T16" fmla="*/ 371 w 586"/>
                <a:gd name="T17" fmla="*/ 282 h 599"/>
                <a:gd name="T18" fmla="*/ 614 w 586"/>
                <a:gd name="T19" fmla="*/ 138 h 599"/>
                <a:gd name="T20" fmla="*/ 854 w 586"/>
                <a:gd name="T21" fmla="*/ 0 h 599"/>
                <a:gd name="T22" fmla="*/ 85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6A85C29E-C032-A4FE-6FDF-85C8A1FE459C}"/>
                </a:ext>
              </a:extLst>
            </p:cNvPr>
            <p:cNvSpPr>
              <a:spLocks/>
            </p:cNvSpPr>
            <p:nvPr/>
          </p:nvSpPr>
          <p:spPr bwMode="hidden">
            <a:xfrm>
              <a:off x="6" y="0"/>
              <a:ext cx="270" cy="252"/>
            </a:xfrm>
            <a:custGeom>
              <a:avLst/>
              <a:gdLst>
                <a:gd name="T0" fmla="*/ 383 w 269"/>
                <a:gd name="T1" fmla="*/ 0 h 252"/>
                <a:gd name="T2" fmla="*/ 36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83 w 269"/>
                <a:gd name="T15" fmla="*/ 0 h 252"/>
                <a:gd name="T16" fmla="*/ 38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D7BF4F8D-A143-E1AF-3311-0EB44F75AF88}"/>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38E0FA3F-9261-1686-1840-71B5F860C2CF}"/>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81AD7D21-1B84-B68F-B489-DB42BA467F55}"/>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FEFE306A-0E30-25FA-FBEB-E2C0C144A47D}"/>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2A71C1C5-E640-68F1-7D84-DD47459A6A93}"/>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C0D3911B-C1F1-272D-2A9C-8967A0BBA87C}"/>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15376031-7EED-0127-DFDF-77F01E4D30D3}"/>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4377D9D0-4A95-80BB-3884-D9C419751FEC}"/>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766242A-7A0E-1AFB-C9CE-548B1101C1EC}"/>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B8DCB504-58EE-636E-6C0E-C1C66A4992E0}"/>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A80A3446-E20C-46F1-013C-7D6CF53F2ED0}"/>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042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40042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B287156F-25EA-32D9-7ED4-3AC3A3AE974E}"/>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FC0E3D92-0164-4B99-6A19-5B7B88CDDC90}"/>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F03CE44F-CD12-40D9-47D8-3269EB5D7DAE}"/>
              </a:ext>
            </a:extLst>
          </p:cNvPr>
          <p:cNvSpPr>
            <a:spLocks noGrp="1" noChangeArrowheads="1"/>
          </p:cNvSpPr>
          <p:nvPr>
            <p:ph type="sldNum" sz="quarter" idx="12"/>
          </p:nvPr>
        </p:nvSpPr>
        <p:spPr/>
        <p:txBody>
          <a:bodyPr/>
          <a:lstStyle>
            <a:lvl1pPr>
              <a:defRPr/>
            </a:lvl1pPr>
          </a:lstStyle>
          <a:p>
            <a:pPr>
              <a:defRPr/>
            </a:pPr>
            <a:fld id="{C03406A9-6C07-4A28-990E-F73752728E98}" type="slidenum">
              <a:rPr lang="en-US" altLang="zh-CN"/>
              <a:pPr>
                <a:defRPr/>
              </a:pPr>
              <a:t>‹#›</a:t>
            </a:fld>
            <a:endParaRPr lang="en-US" altLang="zh-CN"/>
          </a:p>
        </p:txBody>
      </p:sp>
    </p:spTree>
    <p:extLst>
      <p:ext uri="{BB962C8B-B14F-4D97-AF65-F5344CB8AC3E}">
        <p14:creationId xmlns:p14="http://schemas.microsoft.com/office/powerpoint/2010/main" val="776775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9A288E46-87CD-EC8D-3896-D950924081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99193E34-21B4-F5C7-8346-15C06F7E17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4166F828-63E8-7384-E491-8F5BB30A0E79}"/>
              </a:ext>
            </a:extLst>
          </p:cNvPr>
          <p:cNvSpPr>
            <a:spLocks noGrp="1" noChangeArrowheads="1"/>
          </p:cNvSpPr>
          <p:nvPr>
            <p:ph type="sldNum" sz="quarter" idx="12"/>
          </p:nvPr>
        </p:nvSpPr>
        <p:spPr>
          <a:ln/>
        </p:spPr>
        <p:txBody>
          <a:bodyPr/>
          <a:lstStyle>
            <a:lvl1pPr>
              <a:defRPr/>
            </a:lvl1pPr>
          </a:lstStyle>
          <a:p>
            <a:pPr>
              <a:defRPr/>
            </a:pPr>
            <a:fld id="{4970744B-46D2-439D-8DE2-EDF0A839BC31}" type="slidenum">
              <a:rPr lang="en-US" altLang="zh-CN"/>
              <a:pPr>
                <a:defRPr/>
              </a:pPr>
              <a:t>‹#›</a:t>
            </a:fld>
            <a:endParaRPr lang="en-US" altLang="zh-CN"/>
          </a:p>
        </p:txBody>
      </p:sp>
    </p:spTree>
    <p:extLst>
      <p:ext uri="{BB962C8B-B14F-4D97-AF65-F5344CB8AC3E}">
        <p14:creationId xmlns:p14="http://schemas.microsoft.com/office/powerpoint/2010/main" val="2875296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3F1A9AB1-0528-BA88-EB4F-058592C34A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D0087DD5-F14C-0FF3-8A8D-785E08A305B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ED26069B-EEE3-7E3A-82C5-A1F8A414E8E4}"/>
              </a:ext>
            </a:extLst>
          </p:cNvPr>
          <p:cNvSpPr>
            <a:spLocks noGrp="1" noChangeArrowheads="1"/>
          </p:cNvSpPr>
          <p:nvPr>
            <p:ph type="sldNum" sz="quarter" idx="12"/>
          </p:nvPr>
        </p:nvSpPr>
        <p:spPr>
          <a:ln/>
        </p:spPr>
        <p:txBody>
          <a:bodyPr/>
          <a:lstStyle>
            <a:lvl1pPr>
              <a:defRPr/>
            </a:lvl1pPr>
          </a:lstStyle>
          <a:p>
            <a:pPr>
              <a:defRPr/>
            </a:pPr>
            <a:fld id="{1EA32AC1-8443-44A9-BCD5-39E27F5EDC4F}" type="slidenum">
              <a:rPr lang="en-US" altLang="zh-CN"/>
              <a:pPr>
                <a:defRPr/>
              </a:pPr>
              <a:t>‹#›</a:t>
            </a:fld>
            <a:endParaRPr lang="en-US" altLang="zh-CN"/>
          </a:p>
        </p:txBody>
      </p:sp>
    </p:spTree>
    <p:extLst>
      <p:ext uri="{BB962C8B-B14F-4D97-AF65-F5344CB8AC3E}">
        <p14:creationId xmlns:p14="http://schemas.microsoft.com/office/powerpoint/2010/main" val="68484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AE0A7C44-89B7-36A3-3648-02311F0EF2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F4F8BE42-0765-4A85-FAEA-DC15EAD3A4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8E200198-F499-FB0A-B45F-A3C0AFE40E59}"/>
              </a:ext>
            </a:extLst>
          </p:cNvPr>
          <p:cNvSpPr>
            <a:spLocks noGrp="1" noChangeArrowheads="1"/>
          </p:cNvSpPr>
          <p:nvPr>
            <p:ph type="sldNum" sz="quarter" idx="12"/>
          </p:nvPr>
        </p:nvSpPr>
        <p:spPr>
          <a:ln/>
        </p:spPr>
        <p:txBody>
          <a:bodyPr/>
          <a:lstStyle>
            <a:lvl1pPr>
              <a:defRPr/>
            </a:lvl1pPr>
          </a:lstStyle>
          <a:p>
            <a:pPr>
              <a:defRPr/>
            </a:pPr>
            <a:fld id="{F8D7E049-2088-4B7E-8FE7-025390237FC8}" type="slidenum">
              <a:rPr lang="en-US" altLang="zh-CN"/>
              <a:pPr>
                <a:defRPr/>
              </a:pPr>
              <a:t>‹#›</a:t>
            </a:fld>
            <a:endParaRPr lang="en-US" altLang="zh-CN"/>
          </a:p>
        </p:txBody>
      </p:sp>
    </p:spTree>
    <p:extLst>
      <p:ext uri="{BB962C8B-B14F-4D97-AF65-F5344CB8AC3E}">
        <p14:creationId xmlns:p14="http://schemas.microsoft.com/office/powerpoint/2010/main" val="3932978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01AA89E7-FA94-9A7F-C65B-5C9C5AAD21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BCE0C904-AD3E-2CA8-CE84-F220D452731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23293019-530B-50D2-EBAD-8DA079492813}"/>
              </a:ext>
            </a:extLst>
          </p:cNvPr>
          <p:cNvSpPr>
            <a:spLocks noGrp="1" noChangeArrowheads="1"/>
          </p:cNvSpPr>
          <p:nvPr>
            <p:ph type="sldNum" sz="quarter" idx="12"/>
          </p:nvPr>
        </p:nvSpPr>
        <p:spPr>
          <a:ln/>
        </p:spPr>
        <p:txBody>
          <a:bodyPr/>
          <a:lstStyle>
            <a:lvl1pPr>
              <a:defRPr/>
            </a:lvl1pPr>
          </a:lstStyle>
          <a:p>
            <a:pPr>
              <a:defRPr/>
            </a:pPr>
            <a:fld id="{452CA9C3-95BC-4E58-BBED-C36C7C476FC7}" type="slidenum">
              <a:rPr lang="en-US" altLang="zh-CN"/>
              <a:pPr>
                <a:defRPr/>
              </a:pPr>
              <a:t>‹#›</a:t>
            </a:fld>
            <a:endParaRPr lang="en-US" altLang="zh-CN"/>
          </a:p>
        </p:txBody>
      </p:sp>
    </p:spTree>
    <p:extLst>
      <p:ext uri="{BB962C8B-B14F-4D97-AF65-F5344CB8AC3E}">
        <p14:creationId xmlns:p14="http://schemas.microsoft.com/office/powerpoint/2010/main" val="244846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74FD3FDE-7B4B-2F4E-7D26-A3824305C0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6179B8A7-3A49-899B-D819-29F96BC62EB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EE91A77F-6FB4-EBE9-2D4F-FB072D210219}"/>
              </a:ext>
            </a:extLst>
          </p:cNvPr>
          <p:cNvSpPr>
            <a:spLocks noGrp="1" noChangeArrowheads="1"/>
          </p:cNvSpPr>
          <p:nvPr>
            <p:ph type="sldNum" sz="quarter" idx="12"/>
          </p:nvPr>
        </p:nvSpPr>
        <p:spPr>
          <a:ln/>
        </p:spPr>
        <p:txBody>
          <a:bodyPr/>
          <a:lstStyle>
            <a:lvl1pPr>
              <a:defRPr/>
            </a:lvl1pPr>
          </a:lstStyle>
          <a:p>
            <a:pPr>
              <a:defRPr/>
            </a:pPr>
            <a:fld id="{A27E2569-814A-488E-BE87-9F283299A93B}" type="slidenum">
              <a:rPr lang="en-US" altLang="zh-CN"/>
              <a:pPr>
                <a:defRPr/>
              </a:pPr>
              <a:t>‹#›</a:t>
            </a:fld>
            <a:endParaRPr lang="en-US" altLang="zh-CN"/>
          </a:p>
        </p:txBody>
      </p:sp>
    </p:spTree>
    <p:extLst>
      <p:ext uri="{BB962C8B-B14F-4D97-AF65-F5344CB8AC3E}">
        <p14:creationId xmlns:p14="http://schemas.microsoft.com/office/powerpoint/2010/main" val="1726470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09405454-3633-C92C-A37C-4DAD90B72EC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E22F8EEC-5256-C727-ADCD-3750FCD461B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A4177CAA-F1EF-4B88-7087-4D4291C3B5AE}"/>
              </a:ext>
            </a:extLst>
          </p:cNvPr>
          <p:cNvSpPr>
            <a:spLocks noGrp="1" noChangeArrowheads="1"/>
          </p:cNvSpPr>
          <p:nvPr>
            <p:ph type="sldNum" sz="quarter" idx="12"/>
          </p:nvPr>
        </p:nvSpPr>
        <p:spPr>
          <a:ln/>
        </p:spPr>
        <p:txBody>
          <a:bodyPr/>
          <a:lstStyle>
            <a:lvl1pPr>
              <a:defRPr/>
            </a:lvl1pPr>
          </a:lstStyle>
          <a:p>
            <a:pPr>
              <a:defRPr/>
            </a:pPr>
            <a:fld id="{4B562FB8-E01C-43F8-BC37-5C34C796BDBF}" type="slidenum">
              <a:rPr lang="en-US" altLang="zh-CN"/>
              <a:pPr>
                <a:defRPr/>
              </a:pPr>
              <a:t>‹#›</a:t>
            </a:fld>
            <a:endParaRPr lang="en-US" altLang="zh-CN"/>
          </a:p>
        </p:txBody>
      </p:sp>
    </p:spTree>
    <p:extLst>
      <p:ext uri="{BB962C8B-B14F-4D97-AF65-F5344CB8AC3E}">
        <p14:creationId xmlns:p14="http://schemas.microsoft.com/office/powerpoint/2010/main" val="2620558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1F2BF770-29D0-0081-28C7-7EDF5B427D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9DB341EF-97C9-0801-597F-9260594906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26133AF3-FC39-43CC-6285-3598EE904E5A}"/>
              </a:ext>
            </a:extLst>
          </p:cNvPr>
          <p:cNvSpPr>
            <a:spLocks noGrp="1" noChangeArrowheads="1"/>
          </p:cNvSpPr>
          <p:nvPr>
            <p:ph type="sldNum" sz="quarter" idx="12"/>
          </p:nvPr>
        </p:nvSpPr>
        <p:spPr>
          <a:ln/>
        </p:spPr>
        <p:txBody>
          <a:bodyPr/>
          <a:lstStyle>
            <a:lvl1pPr>
              <a:defRPr/>
            </a:lvl1pPr>
          </a:lstStyle>
          <a:p>
            <a:pPr>
              <a:defRPr/>
            </a:pPr>
            <a:fld id="{CA2DCA11-4421-4AA1-BA6A-20F4F25ADE42}" type="slidenum">
              <a:rPr lang="en-US" altLang="zh-CN"/>
              <a:pPr>
                <a:defRPr/>
              </a:pPr>
              <a:t>‹#›</a:t>
            </a:fld>
            <a:endParaRPr lang="en-US" altLang="zh-CN"/>
          </a:p>
        </p:txBody>
      </p:sp>
    </p:spTree>
    <p:extLst>
      <p:ext uri="{BB962C8B-B14F-4D97-AF65-F5344CB8AC3E}">
        <p14:creationId xmlns:p14="http://schemas.microsoft.com/office/powerpoint/2010/main" val="469640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80BC2DE5-E626-1D9F-C940-08F7C8B466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BEAE5EB-4D24-6D83-E344-46B555F19D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62D86CD2-16B8-1A79-4E8D-2D04E8E5D50A}"/>
              </a:ext>
            </a:extLst>
          </p:cNvPr>
          <p:cNvSpPr>
            <a:spLocks noGrp="1" noChangeArrowheads="1"/>
          </p:cNvSpPr>
          <p:nvPr>
            <p:ph type="sldNum" sz="quarter" idx="12"/>
          </p:nvPr>
        </p:nvSpPr>
        <p:spPr>
          <a:ln/>
        </p:spPr>
        <p:txBody>
          <a:bodyPr/>
          <a:lstStyle>
            <a:lvl1pPr>
              <a:defRPr/>
            </a:lvl1pPr>
          </a:lstStyle>
          <a:p>
            <a:pPr>
              <a:defRPr/>
            </a:pPr>
            <a:fld id="{43F1E978-591C-4ACA-BF3F-1A9BE7F4A00B}" type="slidenum">
              <a:rPr lang="en-US" altLang="zh-CN"/>
              <a:pPr>
                <a:defRPr/>
              </a:pPr>
              <a:t>‹#›</a:t>
            </a:fld>
            <a:endParaRPr lang="en-US" altLang="zh-CN"/>
          </a:p>
        </p:txBody>
      </p:sp>
    </p:spTree>
    <p:extLst>
      <p:ext uri="{BB962C8B-B14F-4D97-AF65-F5344CB8AC3E}">
        <p14:creationId xmlns:p14="http://schemas.microsoft.com/office/powerpoint/2010/main" val="3929555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2904A2DF-F03F-3952-6652-C9AADCC9BC8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02C42F0-B247-575B-3A5D-B93F119BBB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AFE3EAFD-1F5A-46CD-EF5F-7C542F117A30}"/>
              </a:ext>
            </a:extLst>
          </p:cNvPr>
          <p:cNvSpPr>
            <a:spLocks noGrp="1" noChangeArrowheads="1"/>
          </p:cNvSpPr>
          <p:nvPr>
            <p:ph type="sldNum" sz="quarter" idx="12"/>
          </p:nvPr>
        </p:nvSpPr>
        <p:spPr>
          <a:ln/>
        </p:spPr>
        <p:txBody>
          <a:bodyPr/>
          <a:lstStyle>
            <a:lvl1pPr>
              <a:defRPr/>
            </a:lvl1pPr>
          </a:lstStyle>
          <a:p>
            <a:pPr>
              <a:defRPr/>
            </a:pPr>
            <a:fld id="{DE154984-B884-4707-BD7B-FD5E297A608D}" type="slidenum">
              <a:rPr lang="en-US" altLang="zh-CN"/>
              <a:pPr>
                <a:defRPr/>
              </a:pPr>
              <a:t>‹#›</a:t>
            </a:fld>
            <a:endParaRPr lang="en-US" altLang="zh-CN"/>
          </a:p>
        </p:txBody>
      </p:sp>
    </p:spTree>
    <p:extLst>
      <p:ext uri="{BB962C8B-B14F-4D97-AF65-F5344CB8AC3E}">
        <p14:creationId xmlns:p14="http://schemas.microsoft.com/office/powerpoint/2010/main" val="2310188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4DB8568E-A4DF-F803-1FAE-AF868AC52F9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D382EEEC-061E-1FC0-9AEC-EB5DEA79A0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B1755E5A-C283-A70E-7B64-045CE938474F}"/>
              </a:ext>
            </a:extLst>
          </p:cNvPr>
          <p:cNvSpPr>
            <a:spLocks noGrp="1" noChangeArrowheads="1"/>
          </p:cNvSpPr>
          <p:nvPr>
            <p:ph type="sldNum" sz="quarter" idx="12"/>
          </p:nvPr>
        </p:nvSpPr>
        <p:spPr>
          <a:ln/>
        </p:spPr>
        <p:txBody>
          <a:bodyPr/>
          <a:lstStyle>
            <a:lvl1pPr>
              <a:defRPr/>
            </a:lvl1pPr>
          </a:lstStyle>
          <a:p>
            <a:pPr>
              <a:defRPr/>
            </a:pPr>
            <a:fld id="{274E843D-F574-417D-B286-010F6E6FC57E}" type="slidenum">
              <a:rPr lang="en-US" altLang="zh-CN"/>
              <a:pPr>
                <a:defRPr/>
              </a:pPr>
              <a:t>‹#›</a:t>
            </a:fld>
            <a:endParaRPr lang="en-US" altLang="zh-CN"/>
          </a:p>
        </p:txBody>
      </p:sp>
    </p:spTree>
    <p:extLst>
      <p:ext uri="{BB962C8B-B14F-4D97-AF65-F5344CB8AC3E}">
        <p14:creationId xmlns:p14="http://schemas.microsoft.com/office/powerpoint/2010/main" val="2356252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FB4EFE5C-1267-5E4B-0A0F-C3E6AF45AB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85012FC4-6841-E441-4070-545BA7A46AD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66CCDD62-E3E5-B079-FA21-8BBC2B13AC14}"/>
              </a:ext>
            </a:extLst>
          </p:cNvPr>
          <p:cNvSpPr>
            <a:spLocks noGrp="1" noChangeArrowheads="1"/>
          </p:cNvSpPr>
          <p:nvPr>
            <p:ph type="sldNum" sz="quarter" idx="12"/>
          </p:nvPr>
        </p:nvSpPr>
        <p:spPr>
          <a:ln/>
        </p:spPr>
        <p:txBody>
          <a:bodyPr/>
          <a:lstStyle>
            <a:lvl1pPr>
              <a:defRPr/>
            </a:lvl1pPr>
          </a:lstStyle>
          <a:p>
            <a:pPr>
              <a:defRPr/>
            </a:pPr>
            <a:fld id="{7EDEACFF-46A7-4022-801B-7EE8D0AA473B}" type="slidenum">
              <a:rPr lang="en-US" altLang="zh-CN"/>
              <a:pPr>
                <a:defRPr/>
              </a:pPr>
              <a:t>‹#›</a:t>
            </a:fld>
            <a:endParaRPr lang="en-US" altLang="zh-CN"/>
          </a:p>
        </p:txBody>
      </p:sp>
    </p:spTree>
    <p:extLst>
      <p:ext uri="{BB962C8B-B14F-4D97-AF65-F5344CB8AC3E}">
        <p14:creationId xmlns:p14="http://schemas.microsoft.com/office/powerpoint/2010/main" val="2637620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Rectangle 40">
            <a:extLst>
              <a:ext uri="{FF2B5EF4-FFF2-40B4-BE49-F238E27FC236}">
                <a16:creationId xmlns:a16="http://schemas.microsoft.com/office/drawing/2014/main" id="{47A56A28-B286-43AB-D648-332BE93EEED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C4EDAE17-F0BF-438E-221B-9DF106E2BB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AC17BCCC-F6E4-F7F3-5FBA-52AE2E3FF0B1}"/>
              </a:ext>
            </a:extLst>
          </p:cNvPr>
          <p:cNvSpPr>
            <a:spLocks noGrp="1" noChangeArrowheads="1"/>
          </p:cNvSpPr>
          <p:nvPr>
            <p:ph type="sldNum" sz="quarter" idx="12"/>
          </p:nvPr>
        </p:nvSpPr>
        <p:spPr>
          <a:ln/>
        </p:spPr>
        <p:txBody>
          <a:bodyPr/>
          <a:lstStyle>
            <a:lvl1pPr>
              <a:defRPr/>
            </a:lvl1pPr>
          </a:lstStyle>
          <a:p>
            <a:pPr>
              <a:defRPr/>
            </a:pPr>
            <a:fld id="{66951742-0A81-4C64-9A1C-9A5DC9E71645}" type="slidenum">
              <a:rPr lang="en-US" altLang="zh-CN"/>
              <a:pPr>
                <a:defRPr/>
              </a:pPr>
              <a:t>‹#›</a:t>
            </a:fld>
            <a:endParaRPr lang="en-US" altLang="zh-CN"/>
          </a:p>
        </p:txBody>
      </p:sp>
    </p:spTree>
    <p:extLst>
      <p:ext uri="{BB962C8B-B14F-4D97-AF65-F5344CB8AC3E}">
        <p14:creationId xmlns:p14="http://schemas.microsoft.com/office/powerpoint/2010/main" val="2782852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90401">
              <a:srgbClr val="002C57"/>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9A235D71-9DB8-7159-34AB-5D304CBC5E48}"/>
              </a:ext>
            </a:extLst>
          </p:cNvPr>
          <p:cNvGrpSpPr>
            <a:grpSpLocks/>
          </p:cNvGrpSpPr>
          <p:nvPr/>
        </p:nvGrpSpPr>
        <p:grpSpPr bwMode="auto">
          <a:xfrm>
            <a:off x="1588" y="0"/>
            <a:ext cx="9148762" cy="6851650"/>
            <a:chOff x="1" y="0"/>
            <a:chExt cx="5763" cy="4316"/>
          </a:xfrm>
        </p:grpSpPr>
        <p:sp>
          <p:nvSpPr>
            <p:cNvPr id="399363" name="Freeform 3">
              <a:extLst>
                <a:ext uri="{FF2B5EF4-FFF2-40B4-BE49-F238E27FC236}">
                  <a16:creationId xmlns:a16="http://schemas.microsoft.com/office/drawing/2014/main" id="{CBDA6406-3E1E-897D-4662-E76A2A596ACE}"/>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399364" name="Freeform 4">
              <a:extLst>
                <a:ext uri="{FF2B5EF4-FFF2-40B4-BE49-F238E27FC236}">
                  <a16:creationId xmlns:a16="http://schemas.microsoft.com/office/drawing/2014/main" id="{73C3114B-E7E5-571A-0422-A1868C3CB78F}"/>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399365" name="Freeform 5">
              <a:extLst>
                <a:ext uri="{FF2B5EF4-FFF2-40B4-BE49-F238E27FC236}">
                  <a16:creationId xmlns:a16="http://schemas.microsoft.com/office/drawing/2014/main" id="{BD17C3AC-90DF-2EC6-54DA-9013584A67BC}"/>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1035" name="Group 6">
              <a:extLst>
                <a:ext uri="{FF2B5EF4-FFF2-40B4-BE49-F238E27FC236}">
                  <a16:creationId xmlns:a16="http://schemas.microsoft.com/office/drawing/2014/main" id="{B1CA6601-32C3-1AA7-8712-826AD413CA00}"/>
                </a:ext>
              </a:extLst>
            </p:cNvPr>
            <p:cNvGrpSpPr>
              <a:grpSpLocks/>
            </p:cNvGrpSpPr>
            <p:nvPr/>
          </p:nvGrpSpPr>
          <p:grpSpPr bwMode="auto">
            <a:xfrm>
              <a:off x="288" y="0"/>
              <a:ext cx="5098" cy="4316"/>
              <a:chOff x="288" y="0"/>
              <a:chExt cx="5098" cy="4316"/>
            </a:xfrm>
          </p:grpSpPr>
          <p:sp>
            <p:nvSpPr>
              <p:cNvPr id="399367" name="Freeform 7">
                <a:extLst>
                  <a:ext uri="{FF2B5EF4-FFF2-40B4-BE49-F238E27FC236}">
                    <a16:creationId xmlns:a16="http://schemas.microsoft.com/office/drawing/2014/main" id="{35F3E1C6-A3D6-EAE5-BB15-8E3929CF1D87}"/>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68" name="Freeform 8">
                <a:extLst>
                  <a:ext uri="{FF2B5EF4-FFF2-40B4-BE49-F238E27FC236}">
                    <a16:creationId xmlns:a16="http://schemas.microsoft.com/office/drawing/2014/main" id="{EABF87EB-E0D9-119A-626C-40DFCFA97D03}"/>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69" name="Freeform 9">
                <a:extLst>
                  <a:ext uri="{FF2B5EF4-FFF2-40B4-BE49-F238E27FC236}">
                    <a16:creationId xmlns:a16="http://schemas.microsoft.com/office/drawing/2014/main" id="{AE6D4608-50EA-2933-5FE2-476393CDF623}"/>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0" name="Freeform 10">
                <a:extLst>
                  <a:ext uri="{FF2B5EF4-FFF2-40B4-BE49-F238E27FC236}">
                    <a16:creationId xmlns:a16="http://schemas.microsoft.com/office/drawing/2014/main" id="{9EA6D63A-3B56-8FA8-4AAE-151433ECFD26}"/>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1" name="Freeform 11">
                <a:extLst>
                  <a:ext uri="{FF2B5EF4-FFF2-40B4-BE49-F238E27FC236}">
                    <a16:creationId xmlns:a16="http://schemas.microsoft.com/office/drawing/2014/main" id="{AF431431-DD8D-9089-9D99-C7CC986A705F}"/>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2" name="Freeform 12">
                <a:extLst>
                  <a:ext uri="{FF2B5EF4-FFF2-40B4-BE49-F238E27FC236}">
                    <a16:creationId xmlns:a16="http://schemas.microsoft.com/office/drawing/2014/main" id="{42AA675C-C0C5-07FC-1D7C-E494109FB7A7}"/>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3" name="Freeform 13">
                <a:extLst>
                  <a:ext uri="{FF2B5EF4-FFF2-40B4-BE49-F238E27FC236}">
                    <a16:creationId xmlns:a16="http://schemas.microsoft.com/office/drawing/2014/main" id="{E19A3909-58A8-712F-2AC1-C93101354BD9}"/>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4" name="Freeform 14">
                <a:extLst>
                  <a:ext uri="{FF2B5EF4-FFF2-40B4-BE49-F238E27FC236}">
                    <a16:creationId xmlns:a16="http://schemas.microsoft.com/office/drawing/2014/main" id="{7C5951EB-9630-F256-8F09-A957E2622B1B}"/>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5" name="Freeform 15">
                <a:extLst>
                  <a:ext uri="{FF2B5EF4-FFF2-40B4-BE49-F238E27FC236}">
                    <a16:creationId xmlns:a16="http://schemas.microsoft.com/office/drawing/2014/main" id="{EA42D712-B45F-ED62-3B13-70B508F78D87}"/>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6" name="Freeform 16">
                <a:extLst>
                  <a:ext uri="{FF2B5EF4-FFF2-40B4-BE49-F238E27FC236}">
                    <a16:creationId xmlns:a16="http://schemas.microsoft.com/office/drawing/2014/main" id="{B403948F-0795-C8D0-A3DC-DA8EA22AAFA1}"/>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7" name="Freeform 17">
                <a:extLst>
                  <a:ext uri="{FF2B5EF4-FFF2-40B4-BE49-F238E27FC236}">
                    <a16:creationId xmlns:a16="http://schemas.microsoft.com/office/drawing/2014/main" id="{7CDA7E0B-A0C5-8BD5-5F57-84C91C994547}"/>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8" name="Freeform 18">
                <a:extLst>
                  <a:ext uri="{FF2B5EF4-FFF2-40B4-BE49-F238E27FC236}">
                    <a16:creationId xmlns:a16="http://schemas.microsoft.com/office/drawing/2014/main" id="{53D4E508-5AE2-4429-EA1C-AB90357D2C9E}"/>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99379" name="Freeform 19">
                <a:extLst>
                  <a:ext uri="{FF2B5EF4-FFF2-40B4-BE49-F238E27FC236}">
                    <a16:creationId xmlns:a16="http://schemas.microsoft.com/office/drawing/2014/main" id="{64E1FE17-7C9B-7736-7938-E941DBEC0E32}"/>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399380" name="Freeform 20">
              <a:extLst>
                <a:ext uri="{FF2B5EF4-FFF2-40B4-BE49-F238E27FC236}">
                  <a16:creationId xmlns:a16="http://schemas.microsoft.com/office/drawing/2014/main" id="{D6637A58-396E-481E-053C-D1F303675EBA}"/>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399381" name="Freeform 21">
              <a:extLst>
                <a:ext uri="{FF2B5EF4-FFF2-40B4-BE49-F238E27FC236}">
                  <a16:creationId xmlns:a16="http://schemas.microsoft.com/office/drawing/2014/main" id="{05683165-0DF1-C4DF-9ACF-C073D688B792}"/>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399382" name="Freeform 22">
              <a:extLst>
                <a:ext uri="{FF2B5EF4-FFF2-40B4-BE49-F238E27FC236}">
                  <a16:creationId xmlns:a16="http://schemas.microsoft.com/office/drawing/2014/main" id="{E1A8190D-4F90-C279-A683-C071C64DC94E}"/>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39" name="Freeform 23">
              <a:extLst>
                <a:ext uri="{FF2B5EF4-FFF2-40B4-BE49-F238E27FC236}">
                  <a16:creationId xmlns:a16="http://schemas.microsoft.com/office/drawing/2014/main" id="{E4AE9825-9E53-4627-99AD-4F1CEA561047}"/>
                </a:ext>
              </a:extLst>
            </p:cNvPr>
            <p:cNvSpPr>
              <a:spLocks/>
            </p:cNvSpPr>
            <p:nvPr/>
          </p:nvSpPr>
          <p:spPr bwMode="hidden">
            <a:xfrm>
              <a:off x="5041" y="0"/>
              <a:ext cx="719" cy="845"/>
            </a:xfrm>
            <a:custGeom>
              <a:avLst/>
              <a:gdLst>
                <a:gd name="T0" fmla="*/ 969 w 717"/>
                <a:gd name="T1" fmla="*/ 845 h 845"/>
                <a:gd name="T2" fmla="*/ 969 w 717"/>
                <a:gd name="T3" fmla="*/ 821 h 845"/>
                <a:gd name="T4" fmla="*/ 802 w 717"/>
                <a:gd name="T5" fmla="*/ 605 h 845"/>
                <a:gd name="T6" fmla="*/ 520 w 717"/>
                <a:gd name="T7" fmla="*/ 396 h 845"/>
                <a:gd name="T8" fmla="*/ 335 w 717"/>
                <a:gd name="T9" fmla="*/ 192 h 845"/>
                <a:gd name="T10" fmla="*/ 17 w 717"/>
                <a:gd name="T11" fmla="*/ 0 h 845"/>
                <a:gd name="T12" fmla="*/ 0 w 717"/>
                <a:gd name="T13" fmla="*/ 0 h 845"/>
                <a:gd name="T14" fmla="*/ 323 w 717"/>
                <a:gd name="T15" fmla="*/ 198 h 845"/>
                <a:gd name="T16" fmla="*/ 514 w 717"/>
                <a:gd name="T17" fmla="*/ 408 h 845"/>
                <a:gd name="T18" fmla="*/ 796 w 717"/>
                <a:gd name="T19" fmla="*/ 623 h 845"/>
                <a:gd name="T20" fmla="*/ 969 w 717"/>
                <a:gd name="T21" fmla="*/ 845 h 845"/>
                <a:gd name="T22" fmla="*/ 96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869310B1-DDE9-994F-B4FF-D56C4FD38DC9}"/>
                </a:ext>
              </a:extLst>
            </p:cNvPr>
            <p:cNvSpPr>
              <a:spLocks/>
            </p:cNvSpPr>
            <p:nvPr/>
          </p:nvSpPr>
          <p:spPr bwMode="hidden">
            <a:xfrm>
              <a:off x="5352" y="0"/>
              <a:ext cx="408" cy="414"/>
            </a:xfrm>
            <a:custGeom>
              <a:avLst/>
              <a:gdLst>
                <a:gd name="T0" fmla="*/ 521 w 407"/>
                <a:gd name="T1" fmla="*/ 414 h 414"/>
                <a:gd name="T2" fmla="*/ 521 w 407"/>
                <a:gd name="T3" fmla="*/ 396 h 414"/>
                <a:gd name="T4" fmla="*/ 336 w 407"/>
                <a:gd name="T5" fmla="*/ 192 h 414"/>
                <a:gd name="T6" fmla="*/ 12 w 407"/>
                <a:gd name="T7" fmla="*/ 0 h 414"/>
                <a:gd name="T8" fmla="*/ 0 w 407"/>
                <a:gd name="T9" fmla="*/ 0 h 414"/>
                <a:gd name="T10" fmla="*/ 108 w 407"/>
                <a:gd name="T11" fmla="*/ 102 h 414"/>
                <a:gd name="T12" fmla="*/ 330 w 407"/>
                <a:gd name="T13" fmla="*/ 204 h 414"/>
                <a:gd name="T14" fmla="*/ 521 w 407"/>
                <a:gd name="T15" fmla="*/ 414 h 414"/>
                <a:gd name="T16" fmla="*/ 521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385" name="Freeform 25">
              <a:extLst>
                <a:ext uri="{FF2B5EF4-FFF2-40B4-BE49-F238E27FC236}">
                  <a16:creationId xmlns:a16="http://schemas.microsoft.com/office/drawing/2014/main" id="{CE284248-993F-90C0-67A4-4B0850B28C14}"/>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42" name="Freeform 26">
              <a:extLst>
                <a:ext uri="{FF2B5EF4-FFF2-40B4-BE49-F238E27FC236}">
                  <a16:creationId xmlns:a16="http://schemas.microsoft.com/office/drawing/2014/main" id="{2E8FB360-0AE6-F8AD-8AC5-65B0BE5CA668}"/>
                </a:ext>
              </a:extLst>
            </p:cNvPr>
            <p:cNvSpPr>
              <a:spLocks/>
            </p:cNvSpPr>
            <p:nvPr/>
          </p:nvSpPr>
          <p:spPr bwMode="hidden">
            <a:xfrm>
              <a:off x="6" y="0"/>
              <a:ext cx="588" cy="599"/>
            </a:xfrm>
            <a:custGeom>
              <a:avLst/>
              <a:gdLst>
                <a:gd name="T0" fmla="*/ 854 w 586"/>
                <a:gd name="T1" fmla="*/ 0 h 599"/>
                <a:gd name="T2" fmla="*/ 827 w 586"/>
                <a:gd name="T3" fmla="*/ 0 h 599"/>
                <a:gd name="T4" fmla="*/ 602 w 586"/>
                <a:gd name="T5" fmla="*/ 132 h 599"/>
                <a:gd name="T6" fmla="*/ 371 w 586"/>
                <a:gd name="T7" fmla="*/ 270 h 599"/>
                <a:gd name="T8" fmla="*/ 120 w 586"/>
                <a:gd name="T9" fmla="*/ 420 h 599"/>
                <a:gd name="T10" fmla="*/ 0 w 586"/>
                <a:gd name="T11" fmla="*/ 575 h 599"/>
                <a:gd name="T12" fmla="*/ 0 w 586"/>
                <a:gd name="T13" fmla="*/ 599 h 599"/>
                <a:gd name="T14" fmla="*/ 120 w 586"/>
                <a:gd name="T15" fmla="*/ 432 h 599"/>
                <a:gd name="T16" fmla="*/ 371 w 586"/>
                <a:gd name="T17" fmla="*/ 282 h 599"/>
                <a:gd name="T18" fmla="*/ 614 w 586"/>
                <a:gd name="T19" fmla="*/ 138 h 599"/>
                <a:gd name="T20" fmla="*/ 854 w 586"/>
                <a:gd name="T21" fmla="*/ 0 h 599"/>
                <a:gd name="T22" fmla="*/ 85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F2DAADFE-C6ED-5E65-0D5E-092D58ADB426}"/>
                </a:ext>
              </a:extLst>
            </p:cNvPr>
            <p:cNvSpPr>
              <a:spLocks/>
            </p:cNvSpPr>
            <p:nvPr/>
          </p:nvSpPr>
          <p:spPr bwMode="hidden">
            <a:xfrm>
              <a:off x="6" y="0"/>
              <a:ext cx="270" cy="252"/>
            </a:xfrm>
            <a:custGeom>
              <a:avLst/>
              <a:gdLst>
                <a:gd name="T0" fmla="*/ 383 w 269"/>
                <a:gd name="T1" fmla="*/ 0 h 252"/>
                <a:gd name="T2" fmla="*/ 365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83 w 269"/>
                <a:gd name="T15" fmla="*/ 0 h 252"/>
                <a:gd name="T16" fmla="*/ 383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C7DD5448-7C60-7396-0306-54A60FF6E654}"/>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2B7CA382-9F36-2618-2227-46A2FD1B0602}"/>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A6E3D68C-ADFE-36AF-A09F-926B3B722B35}"/>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CBF5DAB0-615D-AAC4-36A9-8A7C1EBCE8CE}"/>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1B543089-2063-0322-2D03-3CE0230954F6}"/>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39473A29-6AEB-0184-2524-E194A4EC8DF4}"/>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24AA6B89-D43D-2236-5DEB-32B255A11F80}"/>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88913F3C-1671-1D83-9D8D-CDBF27095329}"/>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7F15DA25-E5B6-8C24-06B9-1805665B4456}"/>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C6985663-10E0-3D79-F79D-7661FAA4ADA7}"/>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A2D3FB6A-6AF8-B19B-71A3-A868A4C9BA00}"/>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9399" name="Rectangle 39">
            <a:extLst>
              <a:ext uri="{FF2B5EF4-FFF2-40B4-BE49-F238E27FC236}">
                <a16:creationId xmlns:a16="http://schemas.microsoft.com/office/drawing/2014/main" id="{AEA2AEB4-CE09-1EE7-91F5-50470569A402}"/>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399400" name="Rectangle 40">
            <a:extLst>
              <a:ext uri="{FF2B5EF4-FFF2-40B4-BE49-F238E27FC236}">
                <a16:creationId xmlns:a16="http://schemas.microsoft.com/office/drawing/2014/main" id="{6A8B79AF-E1F7-E892-AA49-F0846AC9E530}"/>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399401" name="Rectangle 41">
            <a:extLst>
              <a:ext uri="{FF2B5EF4-FFF2-40B4-BE49-F238E27FC236}">
                <a16:creationId xmlns:a16="http://schemas.microsoft.com/office/drawing/2014/main" id="{02BE082C-E225-663E-4991-8118BDA8F9E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399402" name="Rectangle 42">
            <a:extLst>
              <a:ext uri="{FF2B5EF4-FFF2-40B4-BE49-F238E27FC236}">
                <a16:creationId xmlns:a16="http://schemas.microsoft.com/office/drawing/2014/main" id="{344409DE-AC8B-DDF4-42F1-6EC4E88089F0}"/>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pPr>
              <a:defRPr/>
            </a:pPr>
            <a:fld id="{F3353A5E-63E9-4D91-BEBD-0AB33B40722B}" type="slidenum">
              <a:rPr lang="en-US" altLang="zh-CN"/>
              <a:pPr>
                <a:defRPr/>
              </a:pPr>
              <a:t>‹#›</a:t>
            </a:fld>
            <a:endParaRPr lang="en-US" altLang="zh-CN"/>
          </a:p>
        </p:txBody>
      </p:sp>
      <p:sp>
        <p:nvSpPr>
          <p:cNvPr id="399403" name="Rectangle 43">
            <a:extLst>
              <a:ext uri="{FF2B5EF4-FFF2-40B4-BE49-F238E27FC236}">
                <a16:creationId xmlns:a16="http://schemas.microsoft.com/office/drawing/2014/main" id="{8CE66E9B-02E7-E258-F139-FCA489D5C09A}"/>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368" r:id="rId1"/>
    <p:sldLayoutId id="2147485356" r:id="rId2"/>
    <p:sldLayoutId id="2147485357" r:id="rId3"/>
    <p:sldLayoutId id="2147485358" r:id="rId4"/>
    <p:sldLayoutId id="2147485359" r:id="rId5"/>
    <p:sldLayoutId id="2147485360" r:id="rId6"/>
    <p:sldLayoutId id="2147485361" r:id="rId7"/>
    <p:sldLayoutId id="2147485362" r:id="rId8"/>
    <p:sldLayoutId id="2147485363" r:id="rId9"/>
    <p:sldLayoutId id="2147485364" r:id="rId10"/>
    <p:sldLayoutId id="2147485365" r:id="rId11"/>
    <p:sldLayoutId id="2147485366" r:id="rId12"/>
    <p:sldLayoutId id="2147485367" r:id="rId13"/>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3EE3542C-4331-B903-D28A-FE93DEAA2A31}"/>
              </a:ext>
            </a:extLst>
          </p:cNvPr>
          <p:cNvSpPr>
            <a:spLocks noGrp="1" noChangeArrowheads="1"/>
          </p:cNvSpPr>
          <p:nvPr>
            <p:ph type="ctrTitle"/>
          </p:nvPr>
        </p:nvSpPr>
        <p:spPr/>
        <p:txBody>
          <a:bodyPr/>
          <a:lstStyle/>
          <a:p>
            <a:pPr eaLnBrk="1" hangingPunct="1">
              <a:defRPr/>
            </a:pPr>
            <a:r>
              <a:rPr lang="zh-CN" altLang="en-US"/>
              <a:t>继承－－派生类</a:t>
            </a:r>
          </a:p>
        </p:txBody>
      </p:sp>
      <p:sp>
        <p:nvSpPr>
          <p:cNvPr id="402435" name="Rectangle 3">
            <a:extLst>
              <a:ext uri="{FF2B5EF4-FFF2-40B4-BE49-F238E27FC236}">
                <a16:creationId xmlns:a16="http://schemas.microsoft.com/office/drawing/2014/main" id="{F89F828A-E06B-58E3-E852-5579DA68EF0D}"/>
              </a:ext>
            </a:extLst>
          </p:cNvPr>
          <p:cNvSpPr>
            <a:spLocks noGrp="1" noChangeArrowheads="1"/>
          </p:cNvSpPr>
          <p:nvPr>
            <p:ph type="subTitle" idx="1"/>
          </p:nvPr>
        </p:nvSpPr>
        <p:spPr/>
        <p:txBody>
          <a:bodyPr/>
          <a:lstStyle/>
          <a:p>
            <a:pPr eaLnBrk="1" hangingPunct="1">
              <a:defRPr/>
            </a:pPr>
            <a:r>
              <a:rPr lang="zh-CN" altLang="en-US" dirty="0"/>
              <a:t>基本内容</a:t>
            </a:r>
            <a:endParaRPr lang="zh-CN"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98C8CDAF-E7ED-45F2-C6A1-147A8F2E732B}"/>
              </a:ext>
            </a:extLst>
          </p:cNvPr>
          <p:cNvSpPr>
            <a:spLocks noGrp="1" noChangeArrowheads="1"/>
          </p:cNvSpPr>
          <p:nvPr>
            <p:ph type="title"/>
          </p:nvPr>
        </p:nvSpPr>
        <p:spPr/>
        <p:txBody>
          <a:bodyPr/>
          <a:lstStyle/>
          <a:p>
            <a:pPr eaLnBrk="1" hangingPunct="1">
              <a:defRPr/>
            </a:pPr>
            <a:r>
              <a:rPr lang="zh-CN" altLang="en-US" dirty="0"/>
              <a:t>主要内容</a:t>
            </a:r>
          </a:p>
        </p:txBody>
      </p:sp>
      <p:sp>
        <p:nvSpPr>
          <p:cNvPr id="401411" name="Rectangle 3">
            <a:extLst>
              <a:ext uri="{FF2B5EF4-FFF2-40B4-BE49-F238E27FC236}">
                <a16:creationId xmlns:a16="http://schemas.microsoft.com/office/drawing/2014/main" id="{19C6E539-BCAB-E89D-0C67-57A5595BEE21}"/>
              </a:ext>
            </a:extLst>
          </p:cNvPr>
          <p:cNvSpPr>
            <a:spLocks noGrp="1" noChangeArrowheads="1"/>
          </p:cNvSpPr>
          <p:nvPr>
            <p:ph type="body" idx="1"/>
          </p:nvPr>
        </p:nvSpPr>
        <p:spPr/>
        <p:txBody>
          <a:bodyPr/>
          <a:lstStyle/>
          <a:p>
            <a:pPr eaLnBrk="1" hangingPunct="1">
              <a:defRPr/>
            </a:pPr>
            <a:r>
              <a:rPr lang="zh-CN" altLang="en-US"/>
              <a:t>继承的基本概念</a:t>
            </a:r>
          </a:p>
          <a:p>
            <a:pPr eaLnBrk="1" hangingPunct="1">
              <a:defRPr/>
            </a:pPr>
            <a:r>
              <a:rPr lang="zh-CN" altLang="en-US"/>
              <a:t>单继承</a:t>
            </a:r>
            <a:endParaRPr lang="en-US" altLang="zh-CN"/>
          </a:p>
          <a:p>
            <a:pPr eaLnBrk="1" hangingPunct="1">
              <a:defRPr/>
            </a:pPr>
            <a:r>
              <a:rPr lang="en-US" altLang="zh-CN"/>
              <a:t>protected</a:t>
            </a:r>
            <a:r>
              <a:rPr lang="zh-CN" altLang="en-US"/>
              <a:t>访问控制</a:t>
            </a:r>
            <a:endParaRPr lang="en-US" altLang="zh-CN"/>
          </a:p>
          <a:p>
            <a:pPr eaLnBrk="1" hangingPunct="1">
              <a:defRPr/>
            </a:pPr>
            <a:r>
              <a:rPr lang="zh-CN" altLang="en-US"/>
              <a:t>继承方式与子类型</a:t>
            </a:r>
          </a:p>
          <a:p>
            <a:pPr eaLnBrk="1" hangingPunct="1">
              <a:defRPr/>
            </a:pPr>
            <a:r>
              <a:rPr lang="zh-CN" altLang="en-US"/>
              <a:t>派生类对象的初始化与消亡处理</a:t>
            </a:r>
            <a:endParaRPr lang="en-US" altLang="zh-CN"/>
          </a:p>
          <a:p>
            <a:pPr eaLnBrk="1" hangingPunct="1">
              <a:defRPr/>
            </a:pPr>
            <a:r>
              <a:rPr lang="zh-CN" altLang="en-US"/>
              <a:t>派生类对象的赋值</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3ECE-A4AE-8787-FD3F-E6055599F51F}"/>
              </a:ext>
            </a:extLst>
          </p:cNvPr>
          <p:cNvSpPr>
            <a:spLocks noGrp="1"/>
          </p:cNvSpPr>
          <p:nvPr>
            <p:ph type="title"/>
          </p:nvPr>
        </p:nvSpPr>
        <p:spPr>
          <a:xfrm>
            <a:off x="457200" y="44450"/>
            <a:ext cx="8229600" cy="1139825"/>
          </a:xfrm>
        </p:spPr>
        <p:txBody>
          <a:bodyPr/>
          <a:lstStyle/>
          <a:p>
            <a:pPr>
              <a:defRPr/>
            </a:pPr>
            <a:r>
              <a:rPr lang="zh-CN" altLang="en-US"/>
              <a:t>软件复用</a:t>
            </a:r>
          </a:p>
        </p:txBody>
      </p:sp>
      <p:sp>
        <p:nvSpPr>
          <p:cNvPr id="3" name="内容占位符 2">
            <a:extLst>
              <a:ext uri="{FF2B5EF4-FFF2-40B4-BE49-F238E27FC236}">
                <a16:creationId xmlns:a16="http://schemas.microsoft.com/office/drawing/2014/main" id="{2F337564-2CD0-B09F-5C08-B3C2E1D3CF53}"/>
              </a:ext>
            </a:extLst>
          </p:cNvPr>
          <p:cNvSpPr>
            <a:spLocks noGrp="1"/>
          </p:cNvSpPr>
          <p:nvPr>
            <p:ph idx="1"/>
          </p:nvPr>
        </p:nvSpPr>
        <p:spPr>
          <a:xfrm>
            <a:off x="457200" y="1341438"/>
            <a:ext cx="8229600" cy="5327650"/>
          </a:xfrm>
        </p:spPr>
        <p:txBody>
          <a:bodyPr>
            <a:normAutofit/>
          </a:bodyPr>
          <a:lstStyle/>
          <a:p>
            <a:pPr>
              <a:defRPr/>
            </a:pPr>
            <a:r>
              <a:rPr lang="zh-CN" altLang="en-US" sz="3000"/>
              <a:t>在开发一个新软件时，把现有软件或软件的一部分拿过来用称为</a:t>
            </a:r>
            <a:r>
              <a:rPr lang="zh-CN" altLang="en-US" sz="3000">
                <a:solidFill>
                  <a:srgbClr val="FFC000"/>
                </a:solidFill>
              </a:rPr>
              <a:t>软件复用</a:t>
            </a:r>
            <a:r>
              <a:rPr lang="zh-CN" altLang="en-US" sz="3000"/>
              <a:t>。</a:t>
            </a:r>
          </a:p>
          <a:p>
            <a:pPr eaLnBrk="1" hangingPunct="1">
              <a:defRPr/>
            </a:pPr>
            <a:r>
              <a:rPr lang="zh-CN" altLang="en-US" sz="3000"/>
              <a:t>目前，不加修改地直接复用已有软件比较困难。已有软件的功能与新软件所需要的功能总是有差别的。解决这个差别有下面的途径：</a:t>
            </a:r>
          </a:p>
          <a:p>
            <a:pPr lvl="1">
              <a:defRPr/>
            </a:pPr>
            <a:r>
              <a:rPr lang="zh-CN" altLang="en-US" sz="2600"/>
              <a:t>修改已有软件的源代码，它的缺点是：</a:t>
            </a:r>
          </a:p>
          <a:p>
            <a:pPr lvl="2">
              <a:defRPr/>
            </a:pPr>
            <a:r>
              <a:rPr lang="zh-CN" altLang="en-US" sz="2200"/>
              <a:t>需读懂源代码，可靠性差、易出错，有时源代码难以获得</a:t>
            </a:r>
            <a:endParaRPr lang="en-US" altLang="zh-CN" sz="2200"/>
          </a:p>
          <a:p>
            <a:pPr lvl="1">
              <a:defRPr/>
            </a:pPr>
            <a:r>
              <a:rPr lang="zh-CN" altLang="en-US" sz="2600"/>
              <a:t>函数库，不足之处：</a:t>
            </a:r>
            <a:endParaRPr lang="en-US" altLang="zh-CN" sz="2600"/>
          </a:p>
          <a:p>
            <a:pPr lvl="2" eaLnBrk="1" hangingPunct="1">
              <a:defRPr/>
            </a:pPr>
            <a:r>
              <a:rPr lang="zh-CN" altLang="en-US" sz="2200"/>
              <a:t>除了一些最基本的函数（如数学函数），已有软件的函数不是为新软件设计的，常常不完全符合新软件的功能要求。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98063-2B84-0BC4-014E-F7A8A1B2B2D1}"/>
              </a:ext>
            </a:extLst>
          </p:cNvPr>
          <p:cNvSpPr>
            <a:spLocks noGrp="1"/>
          </p:cNvSpPr>
          <p:nvPr>
            <p:ph type="title"/>
          </p:nvPr>
        </p:nvSpPr>
        <p:spPr/>
        <p:txBody>
          <a:bodyPr/>
          <a:lstStyle/>
          <a:p>
            <a:pPr>
              <a:defRPr/>
            </a:pPr>
            <a:r>
              <a:rPr lang="zh-CN" altLang="en-US"/>
              <a:t>继承（</a:t>
            </a:r>
            <a:r>
              <a:rPr lang="en-US" altLang="zh-CN"/>
              <a:t>Inheritance</a:t>
            </a:r>
            <a:r>
              <a:rPr lang="zh-CN" altLang="en-US"/>
              <a:t>）</a:t>
            </a:r>
          </a:p>
        </p:txBody>
      </p:sp>
      <p:sp>
        <p:nvSpPr>
          <p:cNvPr id="3" name="内容占位符 2">
            <a:extLst>
              <a:ext uri="{FF2B5EF4-FFF2-40B4-BE49-F238E27FC236}">
                <a16:creationId xmlns:a16="http://schemas.microsoft.com/office/drawing/2014/main" id="{72AA3E0C-D603-5906-FCD4-5A9E43FFC688}"/>
              </a:ext>
            </a:extLst>
          </p:cNvPr>
          <p:cNvSpPr>
            <a:spLocks noGrp="1"/>
          </p:cNvSpPr>
          <p:nvPr>
            <p:ph idx="1"/>
          </p:nvPr>
        </p:nvSpPr>
        <p:spPr>
          <a:xfrm>
            <a:off x="457200" y="1744663"/>
            <a:ext cx="8229600" cy="3700462"/>
          </a:xfrm>
        </p:spPr>
        <p:txBody>
          <a:bodyPr>
            <a:normAutofit/>
          </a:bodyPr>
          <a:lstStyle/>
          <a:p>
            <a:pPr eaLnBrk="1" hangingPunct="1">
              <a:lnSpc>
                <a:spcPct val="120000"/>
              </a:lnSpc>
              <a:defRPr/>
            </a:pPr>
            <a:r>
              <a:rPr lang="zh-CN" altLang="en-US" sz="3000" dirty="0"/>
              <a:t>在定义一个新的类时，先把已有的一个或多个类的功能全部包含进来，然后再在新的类中给出新功能的定义或对已有类的某些功能进行重新定义，这个机制称为</a:t>
            </a:r>
            <a:r>
              <a:rPr lang="zh-CN" altLang="en-US" sz="3000" dirty="0">
                <a:solidFill>
                  <a:srgbClr val="FFC000"/>
                </a:solidFill>
              </a:rPr>
              <a:t>继承</a:t>
            </a:r>
            <a:r>
              <a:rPr lang="zh-CN" altLang="en-US" sz="3000" dirty="0"/>
              <a:t>（</a:t>
            </a:r>
            <a:r>
              <a:rPr lang="en-US" altLang="zh-CN" sz="3000" dirty="0"/>
              <a:t>Inheritance</a:t>
            </a:r>
            <a:r>
              <a:rPr lang="zh-CN" altLang="en-US" sz="3000" dirty="0"/>
              <a:t>）。</a:t>
            </a:r>
          </a:p>
          <a:p>
            <a:pPr>
              <a:defRPr/>
            </a:pPr>
            <a:endParaRPr lang="zh-CN" alt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C1BAB845-6D17-1138-9B9D-BFB6F623713B}"/>
              </a:ext>
            </a:extLst>
          </p:cNvPr>
          <p:cNvSpPr>
            <a:spLocks noGrp="1" noChangeArrowheads="1"/>
          </p:cNvSpPr>
          <p:nvPr>
            <p:ph type="title"/>
          </p:nvPr>
        </p:nvSpPr>
        <p:spPr>
          <a:xfrm>
            <a:off x="457200" y="111125"/>
            <a:ext cx="8229600" cy="941388"/>
          </a:xfrm>
        </p:spPr>
        <p:txBody>
          <a:bodyPr/>
          <a:lstStyle/>
          <a:p>
            <a:pPr eaLnBrk="1" hangingPunct="1">
              <a:defRPr/>
            </a:pPr>
            <a:r>
              <a:rPr lang="zh-CN" altLang="en-US"/>
              <a:t>基类与派生类</a:t>
            </a:r>
          </a:p>
        </p:txBody>
      </p:sp>
      <p:sp>
        <p:nvSpPr>
          <p:cNvPr id="403459" name="Rectangle 3">
            <a:extLst>
              <a:ext uri="{FF2B5EF4-FFF2-40B4-BE49-F238E27FC236}">
                <a16:creationId xmlns:a16="http://schemas.microsoft.com/office/drawing/2014/main" id="{61B153BA-382B-8677-39B2-13CF86C862B2}"/>
              </a:ext>
            </a:extLst>
          </p:cNvPr>
          <p:cNvSpPr>
            <a:spLocks noGrp="1" noChangeArrowheads="1"/>
          </p:cNvSpPr>
          <p:nvPr>
            <p:ph type="body" idx="1"/>
          </p:nvPr>
        </p:nvSpPr>
        <p:spPr>
          <a:xfrm>
            <a:off x="250825" y="1125538"/>
            <a:ext cx="8686800" cy="3168650"/>
          </a:xfrm>
        </p:spPr>
        <p:txBody>
          <a:bodyPr>
            <a:normAutofit/>
          </a:bodyPr>
          <a:lstStyle/>
          <a:p>
            <a:pPr eaLnBrk="1" hangingPunct="1">
              <a:defRPr/>
            </a:pPr>
            <a:r>
              <a:rPr lang="zh-CN" altLang="en-GB" sz="2600" dirty="0"/>
              <a:t>在继承关系中存在两个类：</a:t>
            </a:r>
            <a:r>
              <a:rPr lang="zh-CN" altLang="en-GB" sz="2600" dirty="0">
                <a:solidFill>
                  <a:schemeClr val="folHlink"/>
                </a:solidFill>
              </a:rPr>
              <a:t>基类</a:t>
            </a:r>
            <a:r>
              <a:rPr lang="zh-CN" altLang="en-GB" sz="2600" dirty="0"/>
              <a:t>（或称父类）和</a:t>
            </a:r>
            <a:r>
              <a:rPr lang="zh-CN" altLang="en-GB" sz="2600" dirty="0">
                <a:solidFill>
                  <a:schemeClr val="folHlink"/>
                </a:solidFill>
              </a:rPr>
              <a:t>派生类</a:t>
            </a:r>
            <a:r>
              <a:rPr lang="zh-CN" altLang="en-GB" sz="2600" dirty="0"/>
              <a:t>（或称子类）。派生类拥有</a:t>
            </a:r>
            <a:r>
              <a:rPr lang="zh-CN" altLang="en-GB" sz="2600" dirty="0">
                <a:solidFill>
                  <a:schemeClr val="folHlink"/>
                </a:solidFill>
              </a:rPr>
              <a:t>基类的所有</a:t>
            </a:r>
            <a:r>
              <a:rPr lang="zh-CN" altLang="en-US" sz="2600" dirty="0">
                <a:solidFill>
                  <a:schemeClr val="folHlink"/>
                </a:solidFill>
              </a:rPr>
              <a:t>成员</a:t>
            </a:r>
            <a:r>
              <a:rPr lang="zh-CN" altLang="en-GB" sz="2600" dirty="0"/>
              <a:t>，并可以</a:t>
            </a:r>
          </a:p>
          <a:p>
            <a:pPr lvl="1" eaLnBrk="1" hangingPunct="1">
              <a:defRPr/>
            </a:pPr>
            <a:r>
              <a:rPr lang="zh-CN" altLang="en-GB" sz="2200" dirty="0"/>
              <a:t>定义</a:t>
            </a:r>
            <a:r>
              <a:rPr lang="zh-CN" altLang="en-GB" sz="2200" dirty="0">
                <a:solidFill>
                  <a:schemeClr val="folHlink"/>
                </a:solidFill>
              </a:rPr>
              <a:t>新的</a:t>
            </a:r>
            <a:r>
              <a:rPr lang="zh-CN" altLang="en-US" sz="2200" dirty="0">
                <a:solidFill>
                  <a:schemeClr val="folHlink"/>
                </a:solidFill>
              </a:rPr>
              <a:t>成员</a:t>
            </a:r>
            <a:r>
              <a:rPr lang="zh-CN" altLang="en-US" sz="2200" dirty="0"/>
              <a:t>。</a:t>
            </a:r>
            <a:endParaRPr lang="zh-CN" altLang="en-GB" sz="2200" dirty="0"/>
          </a:p>
          <a:p>
            <a:pPr lvl="1" eaLnBrk="1" hangingPunct="1">
              <a:defRPr/>
            </a:pPr>
            <a:r>
              <a:rPr lang="zh-CN" altLang="en-GB" sz="2200" dirty="0"/>
              <a:t>对基类的一些</a:t>
            </a:r>
            <a:r>
              <a:rPr lang="zh-CN" altLang="en-US" sz="2200" dirty="0"/>
              <a:t>成员（成员函数）</a:t>
            </a:r>
            <a:r>
              <a:rPr lang="zh-CN" altLang="en-GB" sz="2200" dirty="0"/>
              <a:t>进行</a:t>
            </a:r>
            <a:r>
              <a:rPr lang="zh-CN" altLang="en-GB" sz="2200" dirty="0">
                <a:solidFill>
                  <a:schemeClr val="folHlink"/>
                </a:solidFill>
              </a:rPr>
              <a:t>重定义</a:t>
            </a:r>
            <a:r>
              <a:rPr lang="zh-CN" altLang="en-US" sz="2200" dirty="0">
                <a:solidFill>
                  <a:schemeClr val="folHlink"/>
                </a:solidFill>
              </a:rPr>
              <a:t>（</a:t>
            </a:r>
            <a:r>
              <a:rPr lang="en-US" altLang="zh-CN" sz="2200" dirty="0">
                <a:solidFill>
                  <a:schemeClr val="folHlink"/>
                </a:solidFill>
              </a:rPr>
              <a:t>override</a:t>
            </a:r>
            <a:r>
              <a:rPr lang="zh-CN" altLang="en-US" sz="2200" dirty="0">
                <a:solidFill>
                  <a:schemeClr val="folHlink"/>
                </a:solidFill>
              </a:rPr>
              <a:t>）</a:t>
            </a:r>
            <a:r>
              <a:rPr lang="zh-CN" altLang="en-GB" sz="2200" dirty="0"/>
              <a:t>。</a:t>
            </a:r>
            <a:r>
              <a:rPr lang="zh-CN" altLang="en-US" sz="2200" dirty="0"/>
              <a:t> </a:t>
            </a:r>
          </a:p>
          <a:p>
            <a:pPr eaLnBrk="1" hangingPunct="1">
              <a:defRPr/>
            </a:pPr>
            <a:r>
              <a:rPr lang="zh-CN" altLang="en-US" sz="2600" dirty="0"/>
              <a:t>继承分为：</a:t>
            </a:r>
            <a:r>
              <a:rPr lang="zh-CN" altLang="en-US" sz="2600" dirty="0">
                <a:solidFill>
                  <a:schemeClr val="folHlink"/>
                </a:solidFill>
              </a:rPr>
              <a:t>单继承</a:t>
            </a:r>
            <a:r>
              <a:rPr lang="zh-CN" altLang="en-US" sz="2600" dirty="0"/>
              <a:t>和</a:t>
            </a:r>
            <a:r>
              <a:rPr lang="zh-CN" altLang="en-US" sz="2600" dirty="0">
                <a:solidFill>
                  <a:schemeClr val="folHlink"/>
                </a:solidFill>
              </a:rPr>
              <a:t>多继承</a:t>
            </a:r>
          </a:p>
          <a:p>
            <a:pPr lvl="1" eaLnBrk="1" hangingPunct="1">
              <a:defRPr/>
            </a:pPr>
            <a:r>
              <a:rPr lang="zh-CN" altLang="en-US" sz="2200" dirty="0"/>
              <a:t>单继承：一个类只有</a:t>
            </a:r>
            <a:r>
              <a:rPr lang="zh-CN" altLang="en-US" sz="2200" dirty="0">
                <a:solidFill>
                  <a:schemeClr val="folHlink"/>
                </a:solidFill>
              </a:rPr>
              <a:t>一个直接基类</a:t>
            </a:r>
            <a:r>
              <a:rPr lang="zh-CN" altLang="en-US" sz="2200" dirty="0"/>
              <a:t>。</a:t>
            </a:r>
          </a:p>
          <a:p>
            <a:pPr lvl="1" eaLnBrk="1" hangingPunct="1">
              <a:defRPr/>
            </a:pPr>
            <a:r>
              <a:rPr lang="zh-CN" altLang="en-US" sz="2200" dirty="0"/>
              <a:t>多继承：一个类有</a:t>
            </a:r>
            <a:r>
              <a:rPr lang="zh-CN" altLang="en-US" sz="2200" dirty="0">
                <a:solidFill>
                  <a:schemeClr val="folHlink"/>
                </a:solidFill>
              </a:rPr>
              <a:t>多个直接基类</a:t>
            </a:r>
            <a:r>
              <a:rPr lang="zh-CN" altLang="en-US" sz="2200" dirty="0"/>
              <a:t>。</a:t>
            </a:r>
          </a:p>
        </p:txBody>
      </p:sp>
      <p:grpSp>
        <p:nvGrpSpPr>
          <p:cNvPr id="8196" name="组合 1">
            <a:extLst>
              <a:ext uri="{FF2B5EF4-FFF2-40B4-BE49-F238E27FC236}">
                <a16:creationId xmlns:a16="http://schemas.microsoft.com/office/drawing/2014/main" id="{ACDFE858-4241-DED4-A75C-9CF204C28A88}"/>
              </a:ext>
            </a:extLst>
          </p:cNvPr>
          <p:cNvGrpSpPr>
            <a:grpSpLocks/>
          </p:cNvGrpSpPr>
          <p:nvPr/>
        </p:nvGrpSpPr>
        <p:grpSpPr bwMode="auto">
          <a:xfrm>
            <a:off x="1547813" y="4365625"/>
            <a:ext cx="6624637" cy="2238375"/>
            <a:chOff x="1547813" y="4581525"/>
            <a:chExt cx="6624637" cy="2238375"/>
          </a:xfrm>
        </p:grpSpPr>
        <p:grpSp>
          <p:nvGrpSpPr>
            <p:cNvPr id="8197" name="Group 29">
              <a:extLst>
                <a:ext uri="{FF2B5EF4-FFF2-40B4-BE49-F238E27FC236}">
                  <a16:creationId xmlns:a16="http://schemas.microsoft.com/office/drawing/2014/main" id="{CC90EEC5-2A85-CA63-723D-BA3229A352E1}"/>
                </a:ext>
              </a:extLst>
            </p:cNvPr>
            <p:cNvGrpSpPr>
              <a:grpSpLocks/>
            </p:cNvGrpSpPr>
            <p:nvPr/>
          </p:nvGrpSpPr>
          <p:grpSpPr bwMode="auto">
            <a:xfrm>
              <a:off x="1547813" y="4581525"/>
              <a:ext cx="1685925" cy="1727200"/>
              <a:chOff x="975" y="2977"/>
              <a:chExt cx="1062" cy="1088"/>
            </a:xfrm>
          </p:grpSpPr>
          <p:grpSp>
            <p:nvGrpSpPr>
              <p:cNvPr id="8210" name="Group 7">
                <a:extLst>
                  <a:ext uri="{FF2B5EF4-FFF2-40B4-BE49-F238E27FC236}">
                    <a16:creationId xmlns:a16="http://schemas.microsoft.com/office/drawing/2014/main" id="{2217FC65-4F63-6054-DB9C-27D99E4340C5}"/>
                  </a:ext>
                </a:extLst>
              </p:cNvPr>
              <p:cNvGrpSpPr>
                <a:grpSpLocks/>
              </p:cNvGrpSpPr>
              <p:nvPr/>
            </p:nvGrpSpPr>
            <p:grpSpPr bwMode="auto">
              <a:xfrm>
                <a:off x="975" y="2977"/>
                <a:ext cx="1062" cy="1088"/>
                <a:chOff x="1274" y="3428"/>
                <a:chExt cx="432" cy="557"/>
              </a:xfrm>
            </p:grpSpPr>
            <p:sp>
              <p:nvSpPr>
                <p:cNvPr id="8213" name="Oval 4">
                  <a:extLst>
                    <a:ext uri="{FF2B5EF4-FFF2-40B4-BE49-F238E27FC236}">
                      <a16:creationId xmlns:a16="http://schemas.microsoft.com/office/drawing/2014/main" id="{3863FA22-76C2-C386-E05C-D5F84B839EEE}"/>
                    </a:ext>
                  </a:extLst>
                </p:cNvPr>
                <p:cNvSpPr>
                  <a:spLocks noChangeArrowheads="1"/>
                </p:cNvSpPr>
                <p:nvPr/>
              </p:nvSpPr>
              <p:spPr bwMode="auto">
                <a:xfrm>
                  <a:off x="1274" y="3428"/>
                  <a:ext cx="432" cy="1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14" name="Oval 5">
                  <a:extLst>
                    <a:ext uri="{FF2B5EF4-FFF2-40B4-BE49-F238E27FC236}">
                      <a16:creationId xmlns:a16="http://schemas.microsoft.com/office/drawing/2014/main" id="{D1372BF0-647C-3492-E12A-8FB5B6B5412D}"/>
                    </a:ext>
                  </a:extLst>
                </p:cNvPr>
                <p:cNvSpPr>
                  <a:spLocks noChangeArrowheads="1"/>
                </p:cNvSpPr>
                <p:nvPr/>
              </p:nvSpPr>
              <p:spPr bwMode="auto">
                <a:xfrm>
                  <a:off x="1274" y="3798"/>
                  <a:ext cx="432" cy="1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15" name="Line 6">
                  <a:extLst>
                    <a:ext uri="{FF2B5EF4-FFF2-40B4-BE49-F238E27FC236}">
                      <a16:creationId xmlns:a16="http://schemas.microsoft.com/office/drawing/2014/main" id="{F3CBABA7-83B9-03D3-BDC6-B3403ADB2064}"/>
                    </a:ext>
                  </a:extLst>
                </p:cNvPr>
                <p:cNvSpPr>
                  <a:spLocks noChangeShapeType="1"/>
                </p:cNvSpPr>
                <p:nvPr/>
              </p:nvSpPr>
              <p:spPr bwMode="auto">
                <a:xfrm flipV="1">
                  <a:off x="1490" y="3610"/>
                  <a:ext cx="0"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11" name="Text Box 8">
                <a:extLst>
                  <a:ext uri="{FF2B5EF4-FFF2-40B4-BE49-F238E27FC236}">
                    <a16:creationId xmlns:a16="http://schemas.microsoft.com/office/drawing/2014/main" id="{738ED369-99A4-37CF-E131-89B61379FEC2}"/>
                  </a:ext>
                </a:extLst>
              </p:cNvPr>
              <p:cNvSpPr txBox="1">
                <a:spLocks noChangeArrowheads="1"/>
              </p:cNvSpPr>
              <p:nvPr/>
            </p:nvSpPr>
            <p:spPr bwMode="auto">
              <a:xfrm>
                <a:off x="1292" y="3022"/>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基类</a:t>
                </a:r>
              </a:p>
            </p:txBody>
          </p:sp>
          <p:sp>
            <p:nvSpPr>
              <p:cNvPr id="8212" name="Text Box 9">
                <a:extLst>
                  <a:ext uri="{FF2B5EF4-FFF2-40B4-BE49-F238E27FC236}">
                    <a16:creationId xmlns:a16="http://schemas.microsoft.com/office/drawing/2014/main" id="{B9B6A975-CB82-2AAC-DA29-EBD093F1C261}"/>
                  </a:ext>
                </a:extLst>
              </p:cNvPr>
              <p:cNvSpPr txBox="1">
                <a:spLocks noChangeArrowheads="1"/>
              </p:cNvSpPr>
              <p:nvPr/>
            </p:nvSpPr>
            <p:spPr bwMode="auto">
              <a:xfrm>
                <a:off x="1201" y="3702"/>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派生类</a:t>
                </a:r>
              </a:p>
            </p:txBody>
          </p:sp>
        </p:grpSp>
        <p:grpSp>
          <p:nvGrpSpPr>
            <p:cNvPr id="8198" name="Group 30">
              <a:extLst>
                <a:ext uri="{FF2B5EF4-FFF2-40B4-BE49-F238E27FC236}">
                  <a16:creationId xmlns:a16="http://schemas.microsoft.com/office/drawing/2014/main" id="{CFEEC50F-C05C-FE72-A7BD-A7457FEA865C}"/>
                </a:ext>
              </a:extLst>
            </p:cNvPr>
            <p:cNvGrpSpPr>
              <a:grpSpLocks/>
            </p:cNvGrpSpPr>
            <p:nvPr/>
          </p:nvGrpSpPr>
          <p:grpSpPr bwMode="auto">
            <a:xfrm>
              <a:off x="4140200" y="4652963"/>
              <a:ext cx="4032250" cy="1658937"/>
              <a:chOff x="2608" y="3022"/>
              <a:chExt cx="2540" cy="1045"/>
            </a:xfrm>
          </p:grpSpPr>
          <p:sp>
            <p:nvSpPr>
              <p:cNvPr id="8201" name="Oval 2">
                <a:extLst>
                  <a:ext uri="{FF2B5EF4-FFF2-40B4-BE49-F238E27FC236}">
                    <a16:creationId xmlns:a16="http://schemas.microsoft.com/office/drawing/2014/main" id="{7D31674F-C50D-B5A6-3CEA-1A1F319E082D}"/>
                  </a:ext>
                </a:extLst>
              </p:cNvPr>
              <p:cNvSpPr>
                <a:spLocks noChangeArrowheads="1"/>
              </p:cNvSpPr>
              <p:nvPr/>
            </p:nvSpPr>
            <p:spPr bwMode="auto">
              <a:xfrm>
                <a:off x="3379" y="3702"/>
                <a:ext cx="1062" cy="365"/>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02" name="Line 3">
                <a:extLst>
                  <a:ext uri="{FF2B5EF4-FFF2-40B4-BE49-F238E27FC236}">
                    <a16:creationId xmlns:a16="http://schemas.microsoft.com/office/drawing/2014/main" id="{F117DC07-C77B-14C8-E1EE-3E13C10CB6A5}"/>
                  </a:ext>
                </a:extLst>
              </p:cNvPr>
              <p:cNvSpPr>
                <a:spLocks noChangeShapeType="1"/>
              </p:cNvSpPr>
              <p:nvPr/>
            </p:nvSpPr>
            <p:spPr bwMode="auto">
              <a:xfrm flipH="1" flipV="1">
                <a:off x="3243" y="3385"/>
                <a:ext cx="544" cy="31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3" name="Text Box 5">
                <a:extLst>
                  <a:ext uri="{FF2B5EF4-FFF2-40B4-BE49-F238E27FC236}">
                    <a16:creationId xmlns:a16="http://schemas.microsoft.com/office/drawing/2014/main" id="{E24E21F4-139C-4CD4-649F-717274DB7D1D}"/>
                  </a:ext>
                </a:extLst>
              </p:cNvPr>
              <p:cNvSpPr txBox="1">
                <a:spLocks noChangeArrowheads="1"/>
              </p:cNvSpPr>
              <p:nvPr/>
            </p:nvSpPr>
            <p:spPr bwMode="auto">
              <a:xfrm>
                <a:off x="3606" y="3748"/>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派生类</a:t>
                </a:r>
              </a:p>
            </p:txBody>
          </p:sp>
          <p:sp>
            <p:nvSpPr>
              <p:cNvPr id="8204" name="Line 11">
                <a:extLst>
                  <a:ext uri="{FF2B5EF4-FFF2-40B4-BE49-F238E27FC236}">
                    <a16:creationId xmlns:a16="http://schemas.microsoft.com/office/drawing/2014/main" id="{3988D6F5-1F29-47A2-3A48-32EC4910B274}"/>
                  </a:ext>
                </a:extLst>
              </p:cNvPr>
              <p:cNvSpPr>
                <a:spLocks noChangeShapeType="1"/>
              </p:cNvSpPr>
              <p:nvPr/>
            </p:nvSpPr>
            <p:spPr bwMode="auto">
              <a:xfrm flipV="1">
                <a:off x="3878" y="3385"/>
                <a:ext cx="499" cy="31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Oval 12">
                <a:extLst>
                  <a:ext uri="{FF2B5EF4-FFF2-40B4-BE49-F238E27FC236}">
                    <a16:creationId xmlns:a16="http://schemas.microsoft.com/office/drawing/2014/main" id="{5DF1BDE6-20A2-4B9A-7F4E-905236C3C5A0}"/>
                  </a:ext>
                </a:extLst>
              </p:cNvPr>
              <p:cNvSpPr>
                <a:spLocks noChangeArrowheads="1"/>
              </p:cNvSpPr>
              <p:nvPr/>
            </p:nvSpPr>
            <p:spPr bwMode="auto">
              <a:xfrm>
                <a:off x="4086" y="3022"/>
                <a:ext cx="1062" cy="365"/>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06" name="Text Box 13">
                <a:extLst>
                  <a:ext uri="{FF2B5EF4-FFF2-40B4-BE49-F238E27FC236}">
                    <a16:creationId xmlns:a16="http://schemas.microsoft.com/office/drawing/2014/main" id="{3645EF3C-AAE5-BD95-3085-17769D561529}"/>
                  </a:ext>
                </a:extLst>
              </p:cNvPr>
              <p:cNvSpPr txBox="1">
                <a:spLocks noChangeArrowheads="1"/>
              </p:cNvSpPr>
              <p:nvPr/>
            </p:nvSpPr>
            <p:spPr bwMode="auto">
              <a:xfrm>
                <a:off x="4384" y="3073"/>
                <a:ext cx="5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基类</a:t>
                </a:r>
                <a:r>
                  <a:rPr lang="en-US" altLang="zh-CN" sz="2000"/>
                  <a:t>n</a:t>
                </a:r>
              </a:p>
            </p:txBody>
          </p:sp>
          <p:sp>
            <p:nvSpPr>
              <p:cNvPr id="8207" name="Oval 14">
                <a:extLst>
                  <a:ext uri="{FF2B5EF4-FFF2-40B4-BE49-F238E27FC236}">
                    <a16:creationId xmlns:a16="http://schemas.microsoft.com/office/drawing/2014/main" id="{ED671B73-4F83-656B-B135-A7E62E5F6904}"/>
                  </a:ext>
                </a:extLst>
              </p:cNvPr>
              <p:cNvSpPr>
                <a:spLocks noChangeArrowheads="1"/>
              </p:cNvSpPr>
              <p:nvPr/>
            </p:nvSpPr>
            <p:spPr bwMode="auto">
              <a:xfrm>
                <a:off x="2608" y="3022"/>
                <a:ext cx="1062" cy="365"/>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08" name="Text Box 15">
                <a:extLst>
                  <a:ext uri="{FF2B5EF4-FFF2-40B4-BE49-F238E27FC236}">
                    <a16:creationId xmlns:a16="http://schemas.microsoft.com/office/drawing/2014/main" id="{EB289AB2-6E21-622D-6D5E-F2E7C3F1C816}"/>
                  </a:ext>
                </a:extLst>
              </p:cNvPr>
              <p:cNvSpPr txBox="1">
                <a:spLocks noChangeArrowheads="1"/>
              </p:cNvSpPr>
              <p:nvPr/>
            </p:nvSpPr>
            <p:spPr bwMode="auto">
              <a:xfrm>
                <a:off x="2925" y="3073"/>
                <a:ext cx="5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基类</a:t>
                </a:r>
                <a:r>
                  <a:rPr lang="en-US" altLang="zh-CN" sz="2000"/>
                  <a:t>1</a:t>
                </a:r>
              </a:p>
            </p:txBody>
          </p:sp>
          <p:sp>
            <p:nvSpPr>
              <p:cNvPr id="8209" name="Text Box 28">
                <a:extLst>
                  <a:ext uri="{FF2B5EF4-FFF2-40B4-BE49-F238E27FC236}">
                    <a16:creationId xmlns:a16="http://schemas.microsoft.com/office/drawing/2014/main" id="{879552CC-1788-DF58-5909-AEEAD01F969A}"/>
                  </a:ext>
                </a:extLst>
              </p:cNvPr>
              <p:cNvSpPr txBox="1">
                <a:spLocks noChangeArrowheads="1"/>
              </p:cNvSpPr>
              <p:nvPr/>
            </p:nvSpPr>
            <p:spPr bwMode="auto">
              <a:xfrm>
                <a:off x="3729" y="308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latin typeface="Arial" panose="020B0604020202020204" pitchFamily="34" charset="0"/>
                  </a:rPr>
                  <a:t>…</a:t>
                </a:r>
                <a:endParaRPr lang="en-US" altLang="zh-CN" sz="1800"/>
              </a:p>
            </p:txBody>
          </p:sp>
        </p:grpSp>
        <p:sp>
          <p:nvSpPr>
            <p:cNvPr id="8199" name="Text Box 31">
              <a:extLst>
                <a:ext uri="{FF2B5EF4-FFF2-40B4-BE49-F238E27FC236}">
                  <a16:creationId xmlns:a16="http://schemas.microsoft.com/office/drawing/2014/main" id="{80092863-042B-F777-D5BA-4AF29A8E498D}"/>
                </a:ext>
              </a:extLst>
            </p:cNvPr>
            <p:cNvSpPr txBox="1">
              <a:spLocks noChangeArrowheads="1"/>
            </p:cNvSpPr>
            <p:nvPr/>
          </p:nvSpPr>
          <p:spPr bwMode="auto">
            <a:xfrm>
              <a:off x="1973263" y="6453188"/>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800"/>
                <a:t>单继承</a:t>
              </a:r>
            </a:p>
          </p:txBody>
        </p:sp>
        <p:sp>
          <p:nvSpPr>
            <p:cNvPr id="8200" name="Text Box 32">
              <a:extLst>
                <a:ext uri="{FF2B5EF4-FFF2-40B4-BE49-F238E27FC236}">
                  <a16:creationId xmlns:a16="http://schemas.microsoft.com/office/drawing/2014/main" id="{F3FC1F8C-2243-F95F-0922-59B57FA07CC7}"/>
                </a:ext>
              </a:extLst>
            </p:cNvPr>
            <p:cNvSpPr txBox="1">
              <a:spLocks noChangeArrowheads="1"/>
            </p:cNvSpPr>
            <p:nvPr/>
          </p:nvSpPr>
          <p:spPr bwMode="auto">
            <a:xfrm>
              <a:off x="5862638" y="6446838"/>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800"/>
                <a:t>多继承</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80017ADF-2C27-4270-BA62-E9E836476C57}"/>
              </a:ext>
            </a:extLst>
          </p:cNvPr>
          <p:cNvSpPr>
            <a:spLocks noGrp="1" noChangeArrowheads="1"/>
          </p:cNvSpPr>
          <p:nvPr>
            <p:ph type="title"/>
          </p:nvPr>
        </p:nvSpPr>
        <p:spPr>
          <a:xfrm>
            <a:off x="457200" y="115888"/>
            <a:ext cx="8229600" cy="1139825"/>
          </a:xfrm>
        </p:spPr>
        <p:txBody>
          <a:bodyPr/>
          <a:lstStyle/>
          <a:p>
            <a:pPr eaLnBrk="1" hangingPunct="1">
              <a:defRPr/>
            </a:pPr>
            <a:r>
              <a:rPr lang="zh-CN" altLang="en-US"/>
              <a:t>继承对程序设计的支持</a:t>
            </a:r>
          </a:p>
        </p:txBody>
      </p:sp>
      <p:sp>
        <p:nvSpPr>
          <p:cNvPr id="404483" name="Rectangle 3">
            <a:extLst>
              <a:ext uri="{FF2B5EF4-FFF2-40B4-BE49-F238E27FC236}">
                <a16:creationId xmlns:a16="http://schemas.microsoft.com/office/drawing/2014/main" id="{78EEA7DA-7051-E877-9C16-6705E6DE6724}"/>
              </a:ext>
            </a:extLst>
          </p:cNvPr>
          <p:cNvSpPr>
            <a:spLocks noGrp="1" noChangeArrowheads="1"/>
          </p:cNvSpPr>
          <p:nvPr>
            <p:ph type="body" sz="half" idx="1"/>
          </p:nvPr>
        </p:nvSpPr>
        <p:spPr>
          <a:xfrm>
            <a:off x="457200" y="1341438"/>
            <a:ext cx="7931150" cy="2016125"/>
          </a:xfrm>
        </p:spPr>
        <p:txBody>
          <a:bodyPr/>
          <a:lstStyle/>
          <a:p>
            <a:pPr eaLnBrk="1" hangingPunct="1">
              <a:defRPr/>
            </a:pPr>
            <a:r>
              <a:rPr lang="zh-CN" altLang="en-GB" sz="2800"/>
              <a:t>继承机制除了支持软件复用外，它还具有下面的作用：</a:t>
            </a:r>
            <a:r>
              <a:rPr lang="zh-CN" altLang="en-US" sz="2800"/>
              <a:t> </a:t>
            </a:r>
          </a:p>
          <a:p>
            <a:pPr lvl="1" eaLnBrk="1" hangingPunct="1">
              <a:defRPr/>
            </a:pPr>
            <a:r>
              <a:rPr lang="zh-CN" altLang="en-GB" sz="2400"/>
              <a:t>对</a:t>
            </a:r>
            <a:r>
              <a:rPr lang="zh-CN" altLang="en-US" sz="2400"/>
              <a:t>处理的对象按</a:t>
            </a:r>
            <a:r>
              <a:rPr lang="zh-CN" altLang="en-US" sz="2400">
                <a:solidFill>
                  <a:srgbClr val="FFC000"/>
                </a:solidFill>
              </a:rPr>
              <a:t>层次</a:t>
            </a:r>
            <a:r>
              <a:rPr lang="zh-CN" altLang="en-GB" sz="2400"/>
              <a:t>进行分类。</a:t>
            </a:r>
            <a:endParaRPr lang="en-US" altLang="zh-CN" sz="2400"/>
          </a:p>
          <a:p>
            <a:pPr lvl="2" eaLnBrk="1" hangingPunct="1">
              <a:defRPr/>
            </a:pPr>
            <a:r>
              <a:rPr lang="zh-CN" altLang="en-US" sz="2000"/>
              <a:t>有利于问题的描述和解决。</a:t>
            </a:r>
            <a:endParaRPr lang="en-US" altLang="zh-CN" sz="2000"/>
          </a:p>
        </p:txBody>
      </p:sp>
      <p:pic>
        <p:nvPicPr>
          <p:cNvPr id="9220" name="Picture 4" descr="16">
            <a:extLst>
              <a:ext uri="{FF2B5EF4-FFF2-40B4-BE49-F238E27FC236}">
                <a16:creationId xmlns:a16="http://schemas.microsoft.com/office/drawing/2014/main" id="{49D5B6AD-9F18-5DA2-5504-65730FEA6BD8}"/>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189038" y="3503613"/>
            <a:ext cx="6696075" cy="3065462"/>
          </a:xfr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BD9D7864-8B96-1620-ED2E-B43D70F2BAFB}"/>
              </a:ext>
            </a:extLst>
          </p:cNvPr>
          <p:cNvSpPr>
            <a:spLocks noGrp="1" noChangeArrowheads="1"/>
          </p:cNvSpPr>
          <p:nvPr>
            <p:ph type="title"/>
          </p:nvPr>
        </p:nvSpPr>
        <p:spPr/>
        <p:txBody>
          <a:bodyPr/>
          <a:lstStyle/>
          <a:p>
            <a:pPr eaLnBrk="1" hangingPunct="1">
              <a:defRPr/>
            </a:pPr>
            <a:endParaRPr lang="zh-CN" altLang="zh-CN"/>
          </a:p>
        </p:txBody>
      </p:sp>
      <p:sp>
        <p:nvSpPr>
          <p:cNvPr id="407555" name="Rectangle 3">
            <a:extLst>
              <a:ext uri="{FF2B5EF4-FFF2-40B4-BE49-F238E27FC236}">
                <a16:creationId xmlns:a16="http://schemas.microsoft.com/office/drawing/2014/main" id="{51D576FC-47B8-B2E4-4D70-6E2973351CB0}"/>
              </a:ext>
            </a:extLst>
          </p:cNvPr>
          <p:cNvSpPr>
            <a:spLocks noGrp="1" noChangeArrowheads="1"/>
          </p:cNvSpPr>
          <p:nvPr>
            <p:ph type="body" idx="1"/>
          </p:nvPr>
        </p:nvSpPr>
        <p:spPr>
          <a:xfrm>
            <a:off x="457200" y="1600200"/>
            <a:ext cx="8229600" cy="1036638"/>
          </a:xfrm>
        </p:spPr>
        <p:txBody>
          <a:bodyPr/>
          <a:lstStyle/>
          <a:p>
            <a:pPr lvl="1" eaLnBrk="1" hangingPunct="1">
              <a:defRPr/>
            </a:pPr>
            <a:r>
              <a:rPr lang="zh-CN" altLang="en-GB"/>
              <a:t>对概念进行组合</a:t>
            </a:r>
            <a:endParaRPr lang="en-US" altLang="zh-CN"/>
          </a:p>
          <a:p>
            <a:pPr lvl="2" eaLnBrk="1" hangingPunct="1">
              <a:defRPr/>
            </a:pPr>
            <a:r>
              <a:rPr lang="zh-CN" altLang="en-US"/>
              <a:t>给新类的设计进一步带来便利</a:t>
            </a:r>
            <a:r>
              <a:rPr lang="zh-CN" altLang="en-GB"/>
              <a:t>。</a:t>
            </a:r>
            <a:r>
              <a:rPr lang="zh-CN" altLang="en-US"/>
              <a:t> </a:t>
            </a:r>
          </a:p>
        </p:txBody>
      </p:sp>
      <p:grpSp>
        <p:nvGrpSpPr>
          <p:cNvPr id="10244" name="Group 9">
            <a:extLst>
              <a:ext uri="{FF2B5EF4-FFF2-40B4-BE49-F238E27FC236}">
                <a16:creationId xmlns:a16="http://schemas.microsoft.com/office/drawing/2014/main" id="{1C1649A0-4F85-CE03-FBFF-73315CC470E1}"/>
              </a:ext>
            </a:extLst>
          </p:cNvPr>
          <p:cNvGrpSpPr>
            <a:grpSpLocks/>
          </p:cNvGrpSpPr>
          <p:nvPr/>
        </p:nvGrpSpPr>
        <p:grpSpPr bwMode="auto">
          <a:xfrm>
            <a:off x="2700338" y="2781300"/>
            <a:ext cx="4103687" cy="2574925"/>
            <a:chOff x="1058" y="3691"/>
            <a:chExt cx="1152" cy="624"/>
          </a:xfrm>
        </p:grpSpPr>
        <p:sp>
          <p:nvSpPr>
            <p:cNvPr id="10248" name="Oval 4">
              <a:extLst>
                <a:ext uri="{FF2B5EF4-FFF2-40B4-BE49-F238E27FC236}">
                  <a16:creationId xmlns:a16="http://schemas.microsoft.com/office/drawing/2014/main" id="{EEC86309-4390-D1E9-23D1-D363FE670DE6}"/>
                </a:ext>
              </a:extLst>
            </p:cNvPr>
            <p:cNvSpPr>
              <a:spLocks noChangeArrowheads="1"/>
            </p:cNvSpPr>
            <p:nvPr/>
          </p:nvSpPr>
          <p:spPr bwMode="auto">
            <a:xfrm>
              <a:off x="1058" y="3691"/>
              <a:ext cx="504" cy="2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249" name="Oval 5">
              <a:extLst>
                <a:ext uri="{FF2B5EF4-FFF2-40B4-BE49-F238E27FC236}">
                  <a16:creationId xmlns:a16="http://schemas.microsoft.com/office/drawing/2014/main" id="{291F82AF-F2A2-8581-CD36-962FCF7A0D7B}"/>
                </a:ext>
              </a:extLst>
            </p:cNvPr>
            <p:cNvSpPr>
              <a:spLocks noChangeArrowheads="1"/>
            </p:cNvSpPr>
            <p:nvPr/>
          </p:nvSpPr>
          <p:spPr bwMode="auto">
            <a:xfrm>
              <a:off x="1706" y="3691"/>
              <a:ext cx="504" cy="2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250" name="Oval 6">
              <a:extLst>
                <a:ext uri="{FF2B5EF4-FFF2-40B4-BE49-F238E27FC236}">
                  <a16:creationId xmlns:a16="http://schemas.microsoft.com/office/drawing/2014/main" id="{91175204-CDB2-41D9-022E-887FF511207F}"/>
                </a:ext>
              </a:extLst>
            </p:cNvPr>
            <p:cNvSpPr>
              <a:spLocks noChangeArrowheads="1"/>
            </p:cNvSpPr>
            <p:nvPr/>
          </p:nvSpPr>
          <p:spPr bwMode="auto">
            <a:xfrm>
              <a:off x="1375" y="4066"/>
              <a:ext cx="504" cy="2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251" name="Line 7">
              <a:extLst>
                <a:ext uri="{FF2B5EF4-FFF2-40B4-BE49-F238E27FC236}">
                  <a16:creationId xmlns:a16="http://schemas.microsoft.com/office/drawing/2014/main" id="{14F6B7FD-EC33-AB5D-32B9-F23E94780E54}"/>
                </a:ext>
              </a:extLst>
            </p:cNvPr>
            <p:cNvSpPr>
              <a:spLocks noChangeShapeType="1"/>
            </p:cNvSpPr>
            <p:nvPr/>
          </p:nvSpPr>
          <p:spPr bwMode="auto">
            <a:xfrm>
              <a:off x="1346" y="3941"/>
              <a:ext cx="173" cy="14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252" name="Line 8">
              <a:extLst>
                <a:ext uri="{FF2B5EF4-FFF2-40B4-BE49-F238E27FC236}">
                  <a16:creationId xmlns:a16="http://schemas.microsoft.com/office/drawing/2014/main" id="{5C30FCE9-7DFC-8439-49B0-2344F0DE8EA9}"/>
                </a:ext>
              </a:extLst>
            </p:cNvPr>
            <p:cNvSpPr>
              <a:spLocks noChangeShapeType="1"/>
            </p:cNvSpPr>
            <p:nvPr/>
          </p:nvSpPr>
          <p:spPr bwMode="auto">
            <a:xfrm flipH="1">
              <a:off x="1764" y="3941"/>
              <a:ext cx="187" cy="14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45" name="Text Box 11">
            <a:extLst>
              <a:ext uri="{FF2B5EF4-FFF2-40B4-BE49-F238E27FC236}">
                <a16:creationId xmlns:a16="http://schemas.microsoft.com/office/drawing/2014/main" id="{192A8959-1186-3FF8-B497-D2F18178E5BB}"/>
              </a:ext>
            </a:extLst>
          </p:cNvPr>
          <p:cNvSpPr txBox="1">
            <a:spLocks noChangeArrowheads="1"/>
          </p:cNvSpPr>
          <p:nvPr/>
        </p:nvSpPr>
        <p:spPr bwMode="auto">
          <a:xfrm>
            <a:off x="3194050" y="3032125"/>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研究生</a:t>
            </a:r>
          </a:p>
        </p:txBody>
      </p:sp>
      <p:sp>
        <p:nvSpPr>
          <p:cNvPr id="10246" name="Text Box 12">
            <a:extLst>
              <a:ext uri="{FF2B5EF4-FFF2-40B4-BE49-F238E27FC236}">
                <a16:creationId xmlns:a16="http://schemas.microsoft.com/office/drawing/2014/main" id="{4313291C-47D3-67EC-ECFB-2F0BFE110FDF}"/>
              </a:ext>
            </a:extLst>
          </p:cNvPr>
          <p:cNvSpPr txBox="1">
            <a:spLocks noChangeArrowheads="1"/>
          </p:cNvSpPr>
          <p:nvPr/>
        </p:nvSpPr>
        <p:spPr bwMode="auto">
          <a:xfrm>
            <a:off x="5586413" y="3049588"/>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教师</a:t>
            </a:r>
          </a:p>
        </p:txBody>
      </p:sp>
      <p:sp>
        <p:nvSpPr>
          <p:cNvPr id="10247" name="Text Box 13">
            <a:extLst>
              <a:ext uri="{FF2B5EF4-FFF2-40B4-BE49-F238E27FC236}">
                <a16:creationId xmlns:a16="http://schemas.microsoft.com/office/drawing/2014/main" id="{E98921DA-4D55-345E-30E1-77E2C383D3B3}"/>
              </a:ext>
            </a:extLst>
          </p:cNvPr>
          <p:cNvSpPr txBox="1">
            <a:spLocks noChangeArrowheads="1"/>
          </p:cNvSpPr>
          <p:nvPr/>
        </p:nvSpPr>
        <p:spPr bwMode="auto">
          <a:xfrm>
            <a:off x="4048125" y="4633913"/>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a:t>在职研究生</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B4962814-98CF-A476-9E64-527EECE24251}"/>
              </a:ext>
            </a:extLst>
          </p:cNvPr>
          <p:cNvSpPr>
            <a:spLocks noGrp="1" noChangeArrowheads="1"/>
          </p:cNvSpPr>
          <p:nvPr>
            <p:ph type="title"/>
          </p:nvPr>
        </p:nvSpPr>
        <p:spPr/>
        <p:txBody>
          <a:bodyPr/>
          <a:lstStyle/>
          <a:p>
            <a:pPr eaLnBrk="1" hangingPunct="1">
              <a:defRPr/>
            </a:pPr>
            <a:endParaRPr lang="zh-CN" altLang="zh-CN"/>
          </a:p>
        </p:txBody>
      </p:sp>
      <p:sp>
        <p:nvSpPr>
          <p:cNvPr id="406531" name="Rectangle 3">
            <a:extLst>
              <a:ext uri="{FF2B5EF4-FFF2-40B4-BE49-F238E27FC236}">
                <a16:creationId xmlns:a16="http://schemas.microsoft.com/office/drawing/2014/main" id="{C748335D-7290-EA02-70E3-5E180E8B3115}"/>
              </a:ext>
            </a:extLst>
          </p:cNvPr>
          <p:cNvSpPr>
            <a:spLocks noGrp="1" noChangeArrowheads="1"/>
          </p:cNvSpPr>
          <p:nvPr>
            <p:ph type="body" idx="1"/>
          </p:nvPr>
        </p:nvSpPr>
        <p:spPr>
          <a:xfrm>
            <a:off x="457200" y="1484313"/>
            <a:ext cx="8229600" cy="936625"/>
          </a:xfrm>
        </p:spPr>
        <p:txBody>
          <a:bodyPr/>
          <a:lstStyle/>
          <a:p>
            <a:pPr lvl="1" eaLnBrk="1" hangingPunct="1">
              <a:defRPr/>
            </a:pPr>
            <a:r>
              <a:rPr lang="zh-CN" altLang="en-GB"/>
              <a:t>支持软件的增量开发。</a:t>
            </a:r>
            <a:r>
              <a:rPr lang="zh-CN" altLang="en-US"/>
              <a:t>（版本升级）</a:t>
            </a:r>
            <a:endParaRPr lang="en-US" altLang="zh-CN"/>
          </a:p>
          <a:p>
            <a:pPr lvl="2" eaLnBrk="1" hangingPunct="1">
              <a:defRPr/>
            </a:pPr>
            <a:r>
              <a:rPr lang="zh-CN" altLang="en-US"/>
              <a:t>这给软件开发和维护带来便利。</a:t>
            </a:r>
          </a:p>
        </p:txBody>
      </p:sp>
      <p:grpSp>
        <p:nvGrpSpPr>
          <p:cNvPr id="11268" name="Group 9">
            <a:extLst>
              <a:ext uri="{FF2B5EF4-FFF2-40B4-BE49-F238E27FC236}">
                <a16:creationId xmlns:a16="http://schemas.microsoft.com/office/drawing/2014/main" id="{DD61E30C-A655-6E61-172C-281711B26B22}"/>
              </a:ext>
            </a:extLst>
          </p:cNvPr>
          <p:cNvGrpSpPr>
            <a:grpSpLocks/>
          </p:cNvGrpSpPr>
          <p:nvPr/>
        </p:nvGrpSpPr>
        <p:grpSpPr bwMode="auto">
          <a:xfrm>
            <a:off x="3592513" y="2963863"/>
            <a:ext cx="1771650" cy="3057525"/>
            <a:chOff x="1174" y="2758"/>
            <a:chExt cx="288" cy="874"/>
          </a:xfrm>
        </p:grpSpPr>
        <p:sp>
          <p:nvSpPr>
            <p:cNvPr id="11272" name="Oval 4">
              <a:extLst>
                <a:ext uri="{FF2B5EF4-FFF2-40B4-BE49-F238E27FC236}">
                  <a16:creationId xmlns:a16="http://schemas.microsoft.com/office/drawing/2014/main" id="{E7BF245C-17AE-1202-EC8F-8597023EF488}"/>
                </a:ext>
              </a:extLst>
            </p:cNvPr>
            <p:cNvSpPr>
              <a:spLocks noChangeArrowheads="1"/>
            </p:cNvSpPr>
            <p:nvPr/>
          </p:nvSpPr>
          <p:spPr bwMode="auto">
            <a:xfrm>
              <a:off x="1174" y="2758"/>
              <a:ext cx="288" cy="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73" name="Oval 5">
              <a:extLst>
                <a:ext uri="{FF2B5EF4-FFF2-40B4-BE49-F238E27FC236}">
                  <a16:creationId xmlns:a16="http://schemas.microsoft.com/office/drawing/2014/main" id="{3BA6F404-EFC3-AF41-B1DA-F3257BE02D7F}"/>
                </a:ext>
              </a:extLst>
            </p:cNvPr>
            <p:cNvSpPr>
              <a:spLocks noChangeArrowheads="1"/>
            </p:cNvSpPr>
            <p:nvPr/>
          </p:nvSpPr>
          <p:spPr bwMode="auto">
            <a:xfrm>
              <a:off x="1174" y="3133"/>
              <a:ext cx="288" cy="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74" name="Oval 6">
              <a:extLst>
                <a:ext uri="{FF2B5EF4-FFF2-40B4-BE49-F238E27FC236}">
                  <a16:creationId xmlns:a16="http://schemas.microsoft.com/office/drawing/2014/main" id="{E419D4FF-FB84-F4A3-9DA0-173D34DBD0F6}"/>
                </a:ext>
              </a:extLst>
            </p:cNvPr>
            <p:cNvSpPr>
              <a:spLocks noChangeArrowheads="1"/>
            </p:cNvSpPr>
            <p:nvPr/>
          </p:nvSpPr>
          <p:spPr bwMode="auto">
            <a:xfrm>
              <a:off x="1174" y="3507"/>
              <a:ext cx="288" cy="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75" name="Line 7">
              <a:extLst>
                <a:ext uri="{FF2B5EF4-FFF2-40B4-BE49-F238E27FC236}">
                  <a16:creationId xmlns:a16="http://schemas.microsoft.com/office/drawing/2014/main" id="{E8B4AC92-E151-0AEE-976D-35106F04AED5}"/>
                </a:ext>
              </a:extLst>
            </p:cNvPr>
            <p:cNvSpPr>
              <a:spLocks noChangeShapeType="1"/>
            </p:cNvSpPr>
            <p:nvPr/>
          </p:nvSpPr>
          <p:spPr bwMode="auto">
            <a:xfrm>
              <a:off x="1318" y="2883"/>
              <a:ext cx="0" cy="25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276" name="Line 8">
              <a:extLst>
                <a:ext uri="{FF2B5EF4-FFF2-40B4-BE49-F238E27FC236}">
                  <a16:creationId xmlns:a16="http://schemas.microsoft.com/office/drawing/2014/main" id="{4BBF76E9-2EF8-0EA0-580C-66AFE5CD1502}"/>
                </a:ext>
              </a:extLst>
            </p:cNvPr>
            <p:cNvSpPr>
              <a:spLocks noChangeShapeType="1"/>
            </p:cNvSpPr>
            <p:nvPr/>
          </p:nvSpPr>
          <p:spPr bwMode="auto">
            <a:xfrm>
              <a:off x="1318" y="3258"/>
              <a:ext cx="0" cy="24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69" name="Text Box 10">
            <a:extLst>
              <a:ext uri="{FF2B5EF4-FFF2-40B4-BE49-F238E27FC236}">
                <a16:creationId xmlns:a16="http://schemas.microsoft.com/office/drawing/2014/main" id="{6FFDEBD6-CDC9-47F2-DA90-DC7F3658B4E5}"/>
              </a:ext>
            </a:extLst>
          </p:cNvPr>
          <p:cNvSpPr txBox="1">
            <a:spLocks noChangeArrowheads="1"/>
          </p:cNvSpPr>
          <p:nvPr/>
        </p:nvSpPr>
        <p:spPr bwMode="auto">
          <a:xfrm>
            <a:off x="4140200" y="2997200"/>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A_v1</a:t>
            </a:r>
          </a:p>
        </p:txBody>
      </p:sp>
      <p:sp>
        <p:nvSpPr>
          <p:cNvPr id="11270" name="Text Box 11">
            <a:extLst>
              <a:ext uri="{FF2B5EF4-FFF2-40B4-BE49-F238E27FC236}">
                <a16:creationId xmlns:a16="http://schemas.microsoft.com/office/drawing/2014/main" id="{72349739-7492-08A7-8369-AEF3B9303DAB}"/>
              </a:ext>
            </a:extLst>
          </p:cNvPr>
          <p:cNvSpPr txBox="1">
            <a:spLocks noChangeArrowheads="1"/>
          </p:cNvSpPr>
          <p:nvPr/>
        </p:nvSpPr>
        <p:spPr bwMode="auto">
          <a:xfrm>
            <a:off x="4086225" y="4308475"/>
            <a:ext cx="773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A_v2</a:t>
            </a:r>
          </a:p>
        </p:txBody>
      </p:sp>
      <p:sp>
        <p:nvSpPr>
          <p:cNvPr id="11271" name="Text Box 12">
            <a:extLst>
              <a:ext uri="{FF2B5EF4-FFF2-40B4-BE49-F238E27FC236}">
                <a16:creationId xmlns:a16="http://schemas.microsoft.com/office/drawing/2014/main" id="{82BE1860-4B3E-4821-AA89-BFFBAD0F3B31}"/>
              </a:ext>
            </a:extLst>
          </p:cNvPr>
          <p:cNvSpPr txBox="1">
            <a:spLocks noChangeArrowheads="1"/>
          </p:cNvSpPr>
          <p:nvPr/>
        </p:nvSpPr>
        <p:spPr bwMode="auto">
          <a:xfrm>
            <a:off x="4140200" y="5651500"/>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A_v3</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1065A51C-B0B8-3693-C26B-B71887DD806A}"/>
              </a:ext>
            </a:extLst>
          </p:cNvPr>
          <p:cNvSpPr>
            <a:spLocks noGrp="1" noChangeArrowheads="1"/>
          </p:cNvSpPr>
          <p:nvPr>
            <p:ph type="title"/>
          </p:nvPr>
        </p:nvSpPr>
        <p:spPr/>
        <p:txBody>
          <a:bodyPr/>
          <a:lstStyle/>
          <a:p>
            <a:pPr eaLnBrk="1" hangingPunct="1">
              <a:defRPr/>
            </a:pPr>
            <a:r>
              <a:rPr lang="zh-CN" altLang="en-US"/>
              <a:t>单继承</a:t>
            </a:r>
          </a:p>
        </p:txBody>
      </p:sp>
      <p:sp>
        <p:nvSpPr>
          <p:cNvPr id="409603" name="Rectangle 3">
            <a:extLst>
              <a:ext uri="{FF2B5EF4-FFF2-40B4-BE49-F238E27FC236}">
                <a16:creationId xmlns:a16="http://schemas.microsoft.com/office/drawing/2014/main" id="{78E7A2A3-391D-57B8-A326-100439CD5714}"/>
              </a:ext>
            </a:extLst>
          </p:cNvPr>
          <p:cNvSpPr>
            <a:spLocks noGrp="1" noChangeArrowheads="1"/>
          </p:cNvSpPr>
          <p:nvPr>
            <p:ph type="body" idx="1"/>
          </p:nvPr>
        </p:nvSpPr>
        <p:spPr>
          <a:xfrm>
            <a:off x="457200" y="1600200"/>
            <a:ext cx="8229600" cy="4852988"/>
          </a:xfrm>
        </p:spPr>
        <p:txBody>
          <a:bodyPr/>
          <a:lstStyle/>
          <a:p>
            <a:pPr eaLnBrk="1" hangingPunct="1">
              <a:defRPr/>
            </a:pPr>
            <a:r>
              <a:rPr lang="zh-CN" altLang="en-GB" sz="2800"/>
              <a:t>在定义单继承时，派生类只能有一个</a:t>
            </a:r>
            <a:r>
              <a:rPr lang="zh-CN" altLang="en-GB" sz="2800">
                <a:solidFill>
                  <a:schemeClr val="folHlink"/>
                </a:solidFill>
              </a:rPr>
              <a:t>直接基类</a:t>
            </a:r>
            <a:r>
              <a:rPr lang="zh-CN" altLang="en-GB" sz="2800"/>
              <a:t>，其定义格式如下：</a:t>
            </a:r>
          </a:p>
          <a:p>
            <a:pPr lvl="2" eaLnBrk="1" hangingPunct="1">
              <a:buFontTx/>
              <a:buNone/>
              <a:defRPr/>
            </a:pPr>
            <a:r>
              <a:rPr lang="en-GB" altLang="zh-CN" sz="2000"/>
              <a:t>class &lt;</a:t>
            </a:r>
            <a:r>
              <a:rPr lang="zh-CN" altLang="en-GB" sz="2000">
                <a:solidFill>
                  <a:schemeClr val="folHlink"/>
                </a:solidFill>
              </a:rPr>
              <a:t>派生类名</a:t>
            </a:r>
            <a:r>
              <a:rPr lang="en-GB" altLang="zh-CN" sz="2000"/>
              <a:t>&gt;</a:t>
            </a:r>
            <a:r>
              <a:rPr lang="en-US" altLang="zh-CN" sz="2000">
                <a:solidFill>
                  <a:schemeClr val="folHlink"/>
                </a:solidFill>
              </a:rPr>
              <a:t>:</a:t>
            </a:r>
            <a:r>
              <a:rPr lang="en-GB" altLang="zh-CN" sz="2000"/>
              <a:t>[</a:t>
            </a:r>
            <a:r>
              <a:rPr lang="en-GB" altLang="zh-CN" sz="2000">
                <a:solidFill>
                  <a:schemeClr val="folHlink"/>
                </a:solidFill>
              </a:rPr>
              <a:t>&lt;</a:t>
            </a:r>
            <a:r>
              <a:rPr lang="zh-CN" altLang="en-GB" sz="2000">
                <a:solidFill>
                  <a:schemeClr val="folHlink"/>
                </a:solidFill>
              </a:rPr>
              <a:t>继承方式</a:t>
            </a:r>
            <a:r>
              <a:rPr lang="en-GB" altLang="zh-CN" sz="2000">
                <a:solidFill>
                  <a:schemeClr val="folHlink"/>
                </a:solidFill>
              </a:rPr>
              <a:t>&gt;</a:t>
            </a:r>
            <a:r>
              <a:rPr lang="en-GB" altLang="zh-CN" sz="2000"/>
              <a:t>] </a:t>
            </a:r>
            <a:r>
              <a:rPr lang="en-GB" altLang="zh-CN" sz="2000">
                <a:solidFill>
                  <a:schemeClr val="folHlink"/>
                </a:solidFill>
              </a:rPr>
              <a:t>&lt;</a:t>
            </a:r>
            <a:r>
              <a:rPr lang="zh-CN" altLang="en-GB" sz="2000">
                <a:solidFill>
                  <a:schemeClr val="folHlink"/>
                </a:solidFill>
              </a:rPr>
              <a:t>基类名</a:t>
            </a:r>
            <a:r>
              <a:rPr lang="en-GB" altLang="zh-CN" sz="2000">
                <a:solidFill>
                  <a:schemeClr val="folHlink"/>
                </a:solidFill>
              </a:rPr>
              <a:t>&gt;</a:t>
            </a:r>
          </a:p>
          <a:p>
            <a:pPr lvl="2" eaLnBrk="1" hangingPunct="1">
              <a:buFontTx/>
              <a:buNone/>
              <a:defRPr/>
            </a:pPr>
            <a:r>
              <a:rPr lang="en-GB" altLang="zh-CN" sz="2000"/>
              <a:t>{	&lt;</a:t>
            </a:r>
            <a:r>
              <a:rPr lang="zh-CN" altLang="en-GB" sz="2000"/>
              <a:t>成员说明表</a:t>
            </a:r>
            <a:r>
              <a:rPr lang="en-GB" altLang="zh-CN" sz="2000"/>
              <a:t>&gt;</a:t>
            </a:r>
          </a:p>
          <a:p>
            <a:pPr lvl="2" eaLnBrk="1" hangingPunct="1">
              <a:buFontTx/>
              <a:buNone/>
              <a:defRPr/>
            </a:pPr>
            <a:r>
              <a:rPr lang="en-GB" altLang="zh-CN" sz="2000"/>
              <a:t>};</a:t>
            </a:r>
            <a:r>
              <a:rPr lang="en-US" altLang="zh-CN" sz="2000"/>
              <a:t> </a:t>
            </a:r>
          </a:p>
          <a:p>
            <a:pPr lvl="1" eaLnBrk="1" hangingPunct="1">
              <a:defRPr/>
            </a:pPr>
            <a:r>
              <a:rPr lang="en-GB" altLang="zh-CN" sz="2400"/>
              <a:t>&lt;</a:t>
            </a:r>
            <a:r>
              <a:rPr lang="zh-CN" altLang="en-GB" sz="2400"/>
              <a:t>派生类名</a:t>
            </a:r>
            <a:r>
              <a:rPr lang="en-GB" altLang="zh-CN" sz="2400"/>
              <a:t>&gt;</a:t>
            </a:r>
            <a:r>
              <a:rPr lang="zh-CN" altLang="en-GB" sz="2400"/>
              <a:t>为派生类的名字。</a:t>
            </a:r>
          </a:p>
          <a:p>
            <a:pPr lvl="1" eaLnBrk="1" hangingPunct="1">
              <a:defRPr/>
            </a:pPr>
            <a:r>
              <a:rPr lang="en-GB" altLang="zh-CN" sz="2400"/>
              <a:t>&lt;</a:t>
            </a:r>
            <a:r>
              <a:rPr lang="zh-CN" altLang="en-GB" sz="2400"/>
              <a:t>基类名</a:t>
            </a:r>
            <a:r>
              <a:rPr lang="en-GB" altLang="zh-CN" sz="2400"/>
              <a:t>&gt;</a:t>
            </a:r>
            <a:r>
              <a:rPr lang="zh-CN" altLang="en-GB" sz="2400"/>
              <a:t>为直接基类的名字。</a:t>
            </a:r>
          </a:p>
          <a:p>
            <a:pPr lvl="1" eaLnBrk="1" hangingPunct="1">
              <a:defRPr/>
            </a:pPr>
            <a:r>
              <a:rPr lang="en-GB" altLang="zh-CN" sz="2400"/>
              <a:t>&lt;</a:t>
            </a:r>
            <a:r>
              <a:rPr lang="zh-CN" altLang="en-GB" sz="2400"/>
              <a:t>成员说明表</a:t>
            </a:r>
            <a:r>
              <a:rPr lang="en-GB" altLang="zh-CN" sz="2400"/>
              <a:t>&gt;</a:t>
            </a:r>
            <a:r>
              <a:rPr lang="zh-CN" altLang="en-GB" sz="2400"/>
              <a:t>是在派生类中</a:t>
            </a:r>
            <a:r>
              <a:rPr lang="zh-CN" altLang="en-GB" sz="2400">
                <a:solidFill>
                  <a:schemeClr val="folHlink"/>
                </a:solidFill>
              </a:rPr>
              <a:t>新定义</a:t>
            </a:r>
            <a:r>
              <a:rPr lang="zh-CN" altLang="en-GB" sz="2400"/>
              <a:t>的成员，其中包括对基类成员的</a:t>
            </a:r>
            <a:r>
              <a:rPr lang="zh-CN" altLang="en-GB" sz="2400">
                <a:solidFill>
                  <a:schemeClr val="folHlink"/>
                </a:solidFill>
              </a:rPr>
              <a:t>重定义</a:t>
            </a:r>
            <a:r>
              <a:rPr lang="zh-CN" altLang="en-US" sz="2400"/>
              <a:t>。</a:t>
            </a:r>
          </a:p>
          <a:p>
            <a:pPr lvl="1" eaLnBrk="1" hangingPunct="1">
              <a:defRPr/>
            </a:pPr>
            <a:r>
              <a:rPr lang="en-GB" altLang="zh-CN" sz="2400"/>
              <a:t>&lt;</a:t>
            </a:r>
            <a:r>
              <a:rPr lang="zh-CN" altLang="en-GB" sz="2400"/>
              <a:t>继承方式</a:t>
            </a:r>
            <a:r>
              <a:rPr lang="en-GB" altLang="zh-CN" sz="2400"/>
              <a:t>&gt;</a:t>
            </a:r>
            <a:r>
              <a:rPr lang="zh-CN" altLang="en-US" sz="2400"/>
              <a:t>用于</a:t>
            </a:r>
            <a:r>
              <a:rPr lang="zh-CN" altLang="en-GB" sz="2400"/>
              <a:t>指出从基类继承来的成员</a:t>
            </a:r>
            <a:r>
              <a:rPr lang="zh-CN" altLang="en-US" sz="2400"/>
              <a:t>在派生类中对外</a:t>
            </a:r>
            <a:r>
              <a:rPr lang="zh-CN" altLang="en-GB" sz="2400"/>
              <a:t>的访问控制</a:t>
            </a:r>
            <a:r>
              <a:rPr lang="zh-CN" altLang="en-US" sz="24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a:extLst>
              <a:ext uri="{FF2B5EF4-FFF2-40B4-BE49-F238E27FC236}">
                <a16:creationId xmlns:a16="http://schemas.microsoft.com/office/drawing/2014/main" id="{164EBE59-E5E0-5201-627F-BB4E9B935A26}"/>
              </a:ext>
            </a:extLst>
          </p:cNvPr>
          <p:cNvSpPr>
            <a:spLocks noGrp="1" noChangeArrowheads="1"/>
          </p:cNvSpPr>
          <p:nvPr>
            <p:ph type="body" idx="1"/>
          </p:nvPr>
        </p:nvSpPr>
        <p:spPr>
          <a:xfrm>
            <a:off x="457200" y="476250"/>
            <a:ext cx="8229600" cy="5976938"/>
          </a:xfrm>
        </p:spPr>
        <p:txBody>
          <a:bodyPr/>
          <a:lstStyle/>
          <a:p>
            <a:pPr eaLnBrk="1" hangingPunct="1">
              <a:lnSpc>
                <a:spcPct val="90000"/>
              </a:lnSpc>
              <a:buFont typeface="Wingdings" panose="05000000000000000000" pitchFamily="2" charset="2"/>
              <a:buNone/>
              <a:defRPr/>
            </a:pPr>
            <a:r>
              <a:rPr lang="en-GB" altLang="zh-CN" dirty="0"/>
              <a:t>class A //</a:t>
            </a:r>
            <a:r>
              <a:rPr lang="zh-CN" altLang="en-GB" dirty="0">
                <a:solidFill>
                  <a:srgbClr val="FFC000"/>
                </a:solidFill>
              </a:rPr>
              <a:t>基类</a:t>
            </a:r>
          </a:p>
          <a:p>
            <a:pPr eaLnBrk="1" hangingPunct="1">
              <a:lnSpc>
                <a:spcPct val="90000"/>
              </a:lnSpc>
              <a:buFont typeface="Wingdings" panose="05000000000000000000" pitchFamily="2" charset="2"/>
              <a:buNone/>
              <a:defRPr/>
            </a:pPr>
            <a:r>
              <a:rPr lang="en-GB" altLang="zh-CN" dirty="0"/>
              <a:t>{		int </a:t>
            </a:r>
            <a:r>
              <a:rPr lang="en-GB" altLang="zh-CN" dirty="0" err="1"/>
              <a:t>x,y</a:t>
            </a:r>
            <a:r>
              <a:rPr lang="en-GB" altLang="zh-CN" dirty="0"/>
              <a:t>;</a:t>
            </a:r>
          </a:p>
          <a:p>
            <a:pPr eaLnBrk="1" hangingPunct="1">
              <a:lnSpc>
                <a:spcPct val="90000"/>
              </a:lnSpc>
              <a:buFont typeface="Wingdings" panose="05000000000000000000" pitchFamily="2" charset="2"/>
              <a:buNone/>
              <a:defRPr/>
            </a:pPr>
            <a:r>
              <a:rPr lang="en-GB" altLang="zh-CN" dirty="0"/>
              <a:t>	public:</a:t>
            </a:r>
          </a:p>
          <a:p>
            <a:pPr eaLnBrk="1" hangingPunct="1">
              <a:lnSpc>
                <a:spcPct val="90000"/>
              </a:lnSpc>
              <a:buFont typeface="Wingdings" panose="05000000000000000000" pitchFamily="2" charset="2"/>
              <a:buNone/>
              <a:defRPr/>
            </a:pPr>
            <a:r>
              <a:rPr lang="en-GB" altLang="zh-CN" dirty="0"/>
              <a:t>		void f();</a:t>
            </a:r>
          </a:p>
          <a:p>
            <a:pPr eaLnBrk="1" hangingPunct="1">
              <a:lnSpc>
                <a:spcPct val="90000"/>
              </a:lnSpc>
              <a:buFont typeface="Wingdings" panose="05000000000000000000" pitchFamily="2" charset="2"/>
              <a:buNone/>
              <a:defRPr/>
            </a:pPr>
            <a:r>
              <a:rPr lang="en-GB" altLang="zh-CN" dirty="0"/>
              <a:t>		void g();</a:t>
            </a:r>
          </a:p>
          <a:p>
            <a:pPr eaLnBrk="1" hangingPunct="1">
              <a:lnSpc>
                <a:spcPct val="90000"/>
              </a:lnSpc>
              <a:buFont typeface="Wingdings" panose="05000000000000000000" pitchFamily="2" charset="2"/>
              <a:buNone/>
              <a:defRPr/>
            </a:pPr>
            <a:r>
              <a:rPr lang="en-GB" altLang="zh-CN" dirty="0"/>
              <a:t>};</a:t>
            </a:r>
          </a:p>
          <a:p>
            <a:pPr eaLnBrk="1" hangingPunct="1">
              <a:lnSpc>
                <a:spcPct val="90000"/>
              </a:lnSpc>
              <a:buFont typeface="Wingdings" panose="05000000000000000000" pitchFamily="2" charset="2"/>
              <a:buNone/>
              <a:defRPr/>
            </a:pPr>
            <a:r>
              <a:rPr lang="en-GB" altLang="zh-CN" dirty="0"/>
              <a:t>class </a:t>
            </a:r>
            <a:r>
              <a:rPr lang="en-GB" altLang="zh-CN" dirty="0">
                <a:solidFill>
                  <a:srgbClr val="FFC000"/>
                </a:solidFill>
              </a:rPr>
              <a:t>B</a:t>
            </a:r>
            <a:r>
              <a:rPr lang="en-GB" altLang="zh-CN" dirty="0"/>
              <a:t>: public </a:t>
            </a:r>
            <a:r>
              <a:rPr lang="en-GB" altLang="zh-CN" dirty="0">
                <a:solidFill>
                  <a:srgbClr val="FFC000"/>
                </a:solidFill>
              </a:rPr>
              <a:t>A</a:t>
            </a:r>
            <a:r>
              <a:rPr lang="en-GB" altLang="zh-CN" dirty="0"/>
              <a:t> //</a:t>
            </a:r>
            <a:r>
              <a:rPr lang="zh-CN" altLang="en-GB" dirty="0">
                <a:solidFill>
                  <a:srgbClr val="FFC000"/>
                </a:solidFill>
              </a:rPr>
              <a:t>派生类</a:t>
            </a:r>
          </a:p>
          <a:p>
            <a:pPr eaLnBrk="1" hangingPunct="1">
              <a:lnSpc>
                <a:spcPct val="90000"/>
              </a:lnSpc>
              <a:buFont typeface="Wingdings" panose="05000000000000000000" pitchFamily="2" charset="2"/>
              <a:buNone/>
              <a:defRPr/>
            </a:pPr>
            <a:r>
              <a:rPr lang="en-GB" altLang="zh-CN" dirty="0"/>
              <a:t>{		int z; //</a:t>
            </a:r>
            <a:r>
              <a:rPr lang="zh-CN" altLang="en-GB" dirty="0"/>
              <a:t>新成员</a:t>
            </a:r>
          </a:p>
          <a:p>
            <a:pPr eaLnBrk="1" hangingPunct="1">
              <a:lnSpc>
                <a:spcPct val="90000"/>
              </a:lnSpc>
              <a:buFont typeface="Wingdings" panose="05000000000000000000" pitchFamily="2" charset="2"/>
              <a:buNone/>
              <a:defRPr/>
            </a:pPr>
            <a:r>
              <a:rPr lang="en-GB" altLang="zh-CN" dirty="0"/>
              <a:t>	public:</a:t>
            </a:r>
          </a:p>
          <a:p>
            <a:pPr eaLnBrk="1" hangingPunct="1">
              <a:lnSpc>
                <a:spcPct val="90000"/>
              </a:lnSpc>
              <a:buFont typeface="Wingdings" panose="05000000000000000000" pitchFamily="2" charset="2"/>
              <a:buNone/>
              <a:defRPr/>
            </a:pPr>
            <a:r>
              <a:rPr lang="en-GB" altLang="zh-CN" dirty="0"/>
              <a:t>		void h(); //</a:t>
            </a:r>
            <a:r>
              <a:rPr lang="zh-CN" altLang="en-GB" dirty="0"/>
              <a:t>新成员</a:t>
            </a:r>
          </a:p>
          <a:p>
            <a:pPr eaLnBrk="1" hangingPunct="1">
              <a:lnSpc>
                <a:spcPct val="90000"/>
              </a:lnSpc>
              <a:buFont typeface="Wingdings" panose="05000000000000000000" pitchFamily="2" charset="2"/>
              <a:buNone/>
              <a:defRPr/>
            </a:pPr>
            <a:r>
              <a:rPr lang="en-GB" altLang="zh-C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Rectangle 3">
            <a:extLst>
              <a:ext uri="{FF2B5EF4-FFF2-40B4-BE49-F238E27FC236}">
                <a16:creationId xmlns:a16="http://schemas.microsoft.com/office/drawing/2014/main" id="{C626F2A8-8F8F-EB1F-12F0-2E56707D9574}"/>
              </a:ext>
            </a:extLst>
          </p:cNvPr>
          <p:cNvSpPr>
            <a:spLocks noGrp="1" noChangeArrowheads="1"/>
          </p:cNvSpPr>
          <p:nvPr>
            <p:ph type="body" idx="1"/>
          </p:nvPr>
        </p:nvSpPr>
        <p:spPr>
          <a:xfrm>
            <a:off x="457200" y="765175"/>
            <a:ext cx="8229600" cy="4997450"/>
          </a:xfrm>
        </p:spPr>
        <p:txBody>
          <a:bodyPr/>
          <a:lstStyle/>
          <a:p>
            <a:pPr eaLnBrk="1" hangingPunct="1">
              <a:lnSpc>
                <a:spcPct val="90000"/>
              </a:lnSpc>
              <a:defRPr/>
            </a:pPr>
            <a:r>
              <a:rPr lang="zh-CN" altLang="en-GB" dirty="0">
                <a:solidFill>
                  <a:srgbClr val="FFC000"/>
                </a:solidFill>
              </a:rPr>
              <a:t>派生类除了拥有新定义的成员外，还拥有基类的所有成员</a:t>
            </a:r>
            <a:r>
              <a:rPr lang="zh-CN" altLang="en-GB" sz="2800" dirty="0"/>
              <a:t>（基类的构造函数</a:t>
            </a:r>
            <a:r>
              <a:rPr lang="zh-CN" altLang="en-US" sz="2800" dirty="0"/>
              <a:t>、析构函数</a:t>
            </a:r>
            <a:r>
              <a:rPr lang="zh-CN" altLang="en-GB" sz="2800" dirty="0"/>
              <a:t>和赋值操作符重载函数除外）。例如：</a:t>
            </a:r>
          </a:p>
          <a:p>
            <a:pPr lvl="1" eaLnBrk="1" hangingPunct="1">
              <a:lnSpc>
                <a:spcPct val="90000"/>
              </a:lnSpc>
              <a:buFontTx/>
              <a:buNone/>
              <a:defRPr/>
            </a:pPr>
            <a:r>
              <a:rPr lang="en-GB" altLang="zh-CN" sz="2400" dirty="0"/>
              <a:t>B </a:t>
            </a:r>
            <a:r>
              <a:rPr lang="en-GB" altLang="zh-CN" sz="2400" dirty="0" err="1"/>
              <a:t>b</a:t>
            </a:r>
            <a:r>
              <a:rPr lang="en-GB" altLang="zh-CN" sz="2400" dirty="0"/>
              <a:t>;	</a:t>
            </a:r>
          </a:p>
          <a:p>
            <a:pPr lvl="1" eaLnBrk="1" hangingPunct="1">
              <a:lnSpc>
                <a:spcPct val="90000"/>
              </a:lnSpc>
              <a:buFontTx/>
              <a:buNone/>
              <a:defRPr/>
            </a:pPr>
            <a:r>
              <a:rPr lang="en-GB" altLang="zh-CN" sz="2400" dirty="0"/>
              <a:t>		         b</a:t>
            </a:r>
          </a:p>
          <a:p>
            <a:pPr lvl="1" eaLnBrk="1" hangingPunct="1">
              <a:lnSpc>
                <a:spcPct val="90000"/>
              </a:lnSpc>
              <a:buFontTx/>
              <a:buNone/>
              <a:defRPr/>
            </a:pPr>
            <a:r>
              <a:rPr lang="en-GB" altLang="zh-CN" sz="2400" dirty="0"/>
              <a:t>	</a:t>
            </a:r>
            <a:r>
              <a:rPr lang="en-GB" altLang="zh-CN" sz="2400" dirty="0" err="1"/>
              <a:t>b.x</a:t>
            </a:r>
            <a:r>
              <a:rPr lang="en-GB" altLang="zh-CN" sz="2400" dirty="0"/>
              <a:t>:</a:t>
            </a:r>
          </a:p>
          <a:p>
            <a:pPr lvl="1" eaLnBrk="1" hangingPunct="1">
              <a:lnSpc>
                <a:spcPct val="90000"/>
              </a:lnSpc>
              <a:buFontTx/>
              <a:buNone/>
              <a:defRPr/>
            </a:pPr>
            <a:r>
              <a:rPr lang="en-GB" altLang="zh-CN" sz="2400" dirty="0"/>
              <a:t>	</a:t>
            </a:r>
            <a:r>
              <a:rPr lang="en-GB" altLang="zh-CN" sz="2400" dirty="0" err="1"/>
              <a:t>b.y</a:t>
            </a:r>
            <a:r>
              <a:rPr lang="en-GB" altLang="zh-CN" sz="2400" dirty="0"/>
              <a:t>:</a:t>
            </a:r>
          </a:p>
          <a:p>
            <a:pPr lvl="1" eaLnBrk="1" hangingPunct="1">
              <a:lnSpc>
                <a:spcPct val="90000"/>
              </a:lnSpc>
              <a:buFontTx/>
              <a:buNone/>
              <a:defRPr/>
            </a:pPr>
            <a:r>
              <a:rPr lang="en-GB" altLang="zh-CN" sz="2400" dirty="0"/>
              <a:t>	</a:t>
            </a:r>
            <a:r>
              <a:rPr lang="en-GB" altLang="zh-CN" sz="2400" dirty="0" err="1"/>
              <a:t>b.z</a:t>
            </a:r>
            <a:r>
              <a:rPr lang="en-GB" altLang="zh-CN" sz="2400" dirty="0"/>
              <a:t>:</a:t>
            </a:r>
          </a:p>
          <a:p>
            <a:pPr lvl="1" eaLnBrk="1" hangingPunct="1">
              <a:lnSpc>
                <a:spcPct val="90000"/>
              </a:lnSpc>
              <a:buFontTx/>
              <a:buNone/>
              <a:defRPr/>
            </a:pPr>
            <a:endParaRPr lang="en-GB" altLang="zh-CN" sz="2400" dirty="0"/>
          </a:p>
          <a:p>
            <a:pPr lvl="1" eaLnBrk="1" hangingPunct="1">
              <a:lnSpc>
                <a:spcPct val="90000"/>
              </a:lnSpc>
              <a:buFontTx/>
              <a:buNone/>
              <a:defRPr/>
            </a:pPr>
            <a:r>
              <a:rPr lang="en-GB" altLang="zh-CN" sz="2400" dirty="0" err="1"/>
              <a:t>b.f</a:t>
            </a:r>
            <a:r>
              <a:rPr lang="en-GB" altLang="zh-CN" sz="2400" dirty="0"/>
              <a:t>();   //A</a:t>
            </a:r>
            <a:r>
              <a:rPr lang="zh-CN" altLang="en-GB" sz="2400" dirty="0"/>
              <a:t>类中的</a:t>
            </a:r>
            <a:r>
              <a:rPr lang="en-GB" altLang="zh-CN" sz="2400" dirty="0"/>
              <a:t>f</a:t>
            </a:r>
          </a:p>
          <a:p>
            <a:pPr lvl="1" eaLnBrk="1" hangingPunct="1">
              <a:lnSpc>
                <a:spcPct val="90000"/>
              </a:lnSpc>
              <a:buFontTx/>
              <a:buNone/>
              <a:defRPr/>
            </a:pPr>
            <a:r>
              <a:rPr lang="en-GB" altLang="zh-CN" sz="2400" dirty="0" err="1"/>
              <a:t>b.g</a:t>
            </a:r>
            <a:r>
              <a:rPr lang="en-GB" altLang="zh-CN" sz="2400" dirty="0"/>
              <a:t>();  //A</a:t>
            </a:r>
            <a:r>
              <a:rPr lang="zh-CN" altLang="en-GB" sz="2400" dirty="0"/>
              <a:t>类中的</a:t>
            </a:r>
            <a:r>
              <a:rPr lang="en-GB" altLang="zh-CN" sz="2400" dirty="0"/>
              <a:t>g</a:t>
            </a:r>
          </a:p>
          <a:p>
            <a:pPr lvl="1" eaLnBrk="1" hangingPunct="1">
              <a:lnSpc>
                <a:spcPct val="90000"/>
              </a:lnSpc>
              <a:buFontTx/>
              <a:buNone/>
              <a:defRPr/>
            </a:pPr>
            <a:r>
              <a:rPr lang="en-GB" altLang="zh-CN" sz="2400" dirty="0" err="1"/>
              <a:t>b.h</a:t>
            </a:r>
            <a:r>
              <a:rPr lang="en-GB" altLang="zh-CN" sz="2400" dirty="0"/>
              <a:t>();  //B</a:t>
            </a:r>
            <a:r>
              <a:rPr lang="zh-CN" altLang="en-GB" sz="2400" dirty="0"/>
              <a:t>类中的</a:t>
            </a:r>
            <a:r>
              <a:rPr lang="en-GB" altLang="zh-CN" sz="2400" dirty="0"/>
              <a:t>h</a:t>
            </a:r>
            <a:r>
              <a:rPr lang="en-US" altLang="zh-CN" sz="2400" dirty="0"/>
              <a:t> </a:t>
            </a:r>
          </a:p>
        </p:txBody>
      </p:sp>
      <p:grpSp>
        <p:nvGrpSpPr>
          <p:cNvPr id="14339" name="Group 7">
            <a:extLst>
              <a:ext uri="{FF2B5EF4-FFF2-40B4-BE49-F238E27FC236}">
                <a16:creationId xmlns:a16="http://schemas.microsoft.com/office/drawing/2014/main" id="{EFBE6302-0955-7CFE-7AFD-70BDA327C4CB}"/>
              </a:ext>
            </a:extLst>
          </p:cNvPr>
          <p:cNvGrpSpPr>
            <a:grpSpLocks/>
          </p:cNvGrpSpPr>
          <p:nvPr/>
        </p:nvGrpSpPr>
        <p:grpSpPr bwMode="auto">
          <a:xfrm>
            <a:off x="2068513" y="2801938"/>
            <a:ext cx="990600" cy="1150937"/>
            <a:chOff x="814" y="2693"/>
            <a:chExt cx="216" cy="374"/>
          </a:xfrm>
        </p:grpSpPr>
        <p:sp>
          <p:nvSpPr>
            <p:cNvPr id="14341" name="Rectangle 4">
              <a:extLst>
                <a:ext uri="{FF2B5EF4-FFF2-40B4-BE49-F238E27FC236}">
                  <a16:creationId xmlns:a16="http://schemas.microsoft.com/office/drawing/2014/main" id="{3FEB4C26-674B-303D-4A8D-B41C53C1F9EC}"/>
                </a:ext>
              </a:extLst>
            </p:cNvPr>
            <p:cNvSpPr>
              <a:spLocks noChangeArrowheads="1"/>
            </p:cNvSpPr>
            <p:nvPr/>
          </p:nvSpPr>
          <p:spPr bwMode="auto">
            <a:xfrm>
              <a:off x="814" y="2693"/>
              <a:ext cx="216" cy="37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4342" name="Line 5">
              <a:extLst>
                <a:ext uri="{FF2B5EF4-FFF2-40B4-BE49-F238E27FC236}">
                  <a16:creationId xmlns:a16="http://schemas.microsoft.com/office/drawing/2014/main" id="{6E0098BA-93B8-E731-29D6-132B2E94A42F}"/>
                </a:ext>
              </a:extLst>
            </p:cNvPr>
            <p:cNvSpPr>
              <a:spLocks noChangeShapeType="1"/>
            </p:cNvSpPr>
            <p:nvPr/>
          </p:nvSpPr>
          <p:spPr bwMode="auto">
            <a:xfrm>
              <a:off x="814" y="2817"/>
              <a:ext cx="2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3" name="Line 6">
              <a:extLst>
                <a:ext uri="{FF2B5EF4-FFF2-40B4-BE49-F238E27FC236}">
                  <a16:creationId xmlns:a16="http://schemas.microsoft.com/office/drawing/2014/main" id="{98F53252-B3CF-2761-7382-98A59F03AB85}"/>
                </a:ext>
              </a:extLst>
            </p:cNvPr>
            <p:cNvSpPr>
              <a:spLocks noChangeShapeType="1"/>
            </p:cNvSpPr>
            <p:nvPr/>
          </p:nvSpPr>
          <p:spPr bwMode="auto">
            <a:xfrm>
              <a:off x="814" y="2942"/>
              <a:ext cx="2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1696" name="Text Box 0">
            <a:extLst>
              <a:ext uri="{FF2B5EF4-FFF2-40B4-BE49-F238E27FC236}">
                <a16:creationId xmlns:a16="http://schemas.microsoft.com/office/drawing/2014/main" id="{250B6251-4265-F7F3-6FBE-A8B22BC3D052}"/>
              </a:ext>
            </a:extLst>
          </p:cNvPr>
          <p:cNvSpPr txBox="1">
            <a:spLocks noChangeArrowheads="1"/>
          </p:cNvSpPr>
          <p:nvPr/>
        </p:nvSpPr>
        <p:spPr bwMode="auto">
          <a:xfrm>
            <a:off x="4859338" y="2273300"/>
            <a:ext cx="4006850" cy="4108450"/>
          </a:xfrm>
          <a:prstGeom prst="rect">
            <a:avLst/>
          </a:prstGeom>
          <a:solidFill>
            <a:schemeClr val="bg1"/>
          </a:solidFill>
          <a:ln w="9525">
            <a:noFill/>
            <a:miter lim="800000"/>
            <a:headEnd/>
            <a:tailEnd/>
          </a:ln>
          <a:effectLst/>
        </p:spPr>
        <p:txBody>
          <a:bodyPr wrap="none" lIns="92075" tIns="46038" rIns="92075" bIns="46038">
            <a:spAutoFit/>
          </a:bodyPr>
          <a:lstStyle>
            <a:lvl1pPr defTabSz="45085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defTabSz="4508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defTabSz="45085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defTabSz="45085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defTabSz="45085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defRPr/>
            </a:pPr>
            <a:r>
              <a:rPr lang="en-GB" altLang="zh-CN" sz="2400" dirty="0">
                <a:effectLst>
                  <a:outerShdw blurRad="38100" dist="38100" dir="2700000" algn="tl">
                    <a:srgbClr val="000000"/>
                  </a:outerShdw>
                </a:effectLst>
              </a:rPr>
              <a:t>class A //</a:t>
            </a:r>
            <a:r>
              <a:rPr lang="zh-CN" altLang="en-GB" sz="2400" dirty="0">
                <a:effectLst>
                  <a:outerShdw blurRad="38100" dist="38100" dir="2700000" algn="tl">
                    <a:srgbClr val="000000"/>
                  </a:outerShdw>
                </a:effectLst>
              </a:rPr>
              <a:t>基类</a:t>
            </a:r>
          </a:p>
          <a:p>
            <a:pPr eaLnBrk="1" hangingPunct="1">
              <a:spcBef>
                <a:spcPct val="0"/>
              </a:spcBef>
              <a:buClrTx/>
              <a:buSzTx/>
              <a:buFontTx/>
              <a:buNone/>
              <a:defRPr/>
            </a:pPr>
            <a:r>
              <a:rPr lang="en-GB" altLang="zh-CN" sz="2400" dirty="0">
                <a:effectLst>
                  <a:outerShdw blurRad="38100" dist="38100" dir="2700000" algn="tl">
                    <a:srgbClr val="000000"/>
                  </a:outerShdw>
                </a:effectLst>
              </a:rPr>
              <a:t>{		int </a:t>
            </a:r>
            <a:r>
              <a:rPr lang="en-GB" altLang="zh-CN" sz="2400" dirty="0" err="1">
                <a:effectLst>
                  <a:outerShdw blurRad="38100" dist="38100" dir="2700000" algn="tl">
                    <a:srgbClr val="000000"/>
                  </a:outerShdw>
                </a:effectLst>
              </a:rPr>
              <a:t>x,y</a:t>
            </a:r>
            <a:r>
              <a:rPr lang="en-GB" altLang="zh-CN" sz="2400" dirty="0">
                <a:effectLst>
                  <a:outerShdw blurRad="38100" dist="38100" dir="2700000" algn="tl">
                    <a:srgbClr val="000000"/>
                  </a:outerShdw>
                </a:effectLst>
              </a:rPr>
              <a:t>;</a:t>
            </a:r>
          </a:p>
          <a:p>
            <a:pPr eaLnBrk="1" hangingPunct="1">
              <a:spcBef>
                <a:spcPct val="0"/>
              </a:spcBef>
              <a:buClrTx/>
              <a:buSzTx/>
              <a:buFontTx/>
              <a:buNone/>
              <a:defRPr/>
            </a:pPr>
            <a:r>
              <a:rPr lang="en-GB" altLang="zh-CN" sz="2400" dirty="0">
                <a:effectLst>
                  <a:outerShdw blurRad="38100" dist="38100" dir="2700000" algn="tl">
                    <a:srgbClr val="000000"/>
                  </a:outerShdw>
                </a:effectLst>
              </a:rPr>
              <a:t>	public:</a:t>
            </a:r>
          </a:p>
          <a:p>
            <a:pPr eaLnBrk="1" hangingPunct="1">
              <a:spcBef>
                <a:spcPct val="0"/>
              </a:spcBef>
              <a:buClrTx/>
              <a:buSzTx/>
              <a:buFontTx/>
              <a:buNone/>
              <a:defRPr/>
            </a:pPr>
            <a:r>
              <a:rPr lang="en-GB" altLang="zh-CN" sz="2400" dirty="0">
                <a:effectLst>
                  <a:outerShdw blurRad="38100" dist="38100" dir="2700000" algn="tl">
                    <a:srgbClr val="000000"/>
                  </a:outerShdw>
                </a:effectLst>
              </a:rPr>
              <a:t>		void f();</a:t>
            </a:r>
          </a:p>
          <a:p>
            <a:pPr eaLnBrk="1" hangingPunct="1">
              <a:spcBef>
                <a:spcPct val="0"/>
              </a:spcBef>
              <a:buClrTx/>
              <a:buSzTx/>
              <a:buFontTx/>
              <a:buNone/>
              <a:defRPr/>
            </a:pPr>
            <a:r>
              <a:rPr lang="en-GB" altLang="zh-CN" sz="2400" dirty="0">
                <a:effectLst>
                  <a:outerShdw blurRad="38100" dist="38100" dir="2700000" algn="tl">
                    <a:srgbClr val="000000"/>
                  </a:outerShdw>
                </a:effectLst>
              </a:rPr>
              <a:t>		void g();</a:t>
            </a:r>
          </a:p>
          <a:p>
            <a:pPr eaLnBrk="1" hangingPunct="1">
              <a:spcBef>
                <a:spcPct val="0"/>
              </a:spcBef>
              <a:buClrTx/>
              <a:buSzTx/>
              <a:buFontTx/>
              <a:buNone/>
              <a:defRPr/>
            </a:pPr>
            <a:r>
              <a:rPr lang="en-GB" altLang="zh-CN" sz="2400" dirty="0">
                <a:effectLst>
                  <a:outerShdw blurRad="38100" dist="38100" dir="2700000" algn="tl">
                    <a:srgbClr val="000000"/>
                  </a:outerShdw>
                </a:effectLst>
              </a:rPr>
              <a:t>};</a:t>
            </a:r>
          </a:p>
          <a:p>
            <a:pPr eaLnBrk="1" hangingPunct="1">
              <a:spcBef>
                <a:spcPct val="0"/>
              </a:spcBef>
              <a:buClrTx/>
              <a:buSzTx/>
              <a:buFontTx/>
              <a:buNone/>
              <a:defRPr/>
            </a:pPr>
            <a:r>
              <a:rPr lang="en-GB" altLang="zh-CN" sz="2400" dirty="0">
                <a:effectLst>
                  <a:outerShdw blurRad="38100" dist="38100" dir="2700000" algn="tl">
                    <a:srgbClr val="000000"/>
                  </a:outerShdw>
                </a:effectLst>
              </a:rPr>
              <a:t>class B: public A //</a:t>
            </a:r>
            <a:r>
              <a:rPr lang="zh-CN" altLang="en-GB" sz="2400" dirty="0">
                <a:effectLst>
                  <a:outerShdw blurRad="38100" dist="38100" dir="2700000" algn="tl">
                    <a:srgbClr val="000000"/>
                  </a:outerShdw>
                </a:effectLst>
              </a:rPr>
              <a:t>派生类</a:t>
            </a:r>
          </a:p>
          <a:p>
            <a:pPr eaLnBrk="1" hangingPunct="1">
              <a:spcBef>
                <a:spcPct val="0"/>
              </a:spcBef>
              <a:buClrTx/>
              <a:buSzTx/>
              <a:buFontTx/>
              <a:buNone/>
              <a:defRPr/>
            </a:pPr>
            <a:r>
              <a:rPr lang="en-GB" altLang="zh-CN" sz="2400" dirty="0">
                <a:effectLst>
                  <a:outerShdw blurRad="38100" dist="38100" dir="2700000" algn="tl">
                    <a:srgbClr val="000000"/>
                  </a:outerShdw>
                </a:effectLst>
              </a:rPr>
              <a:t>{		int z; //</a:t>
            </a:r>
            <a:r>
              <a:rPr lang="zh-CN" altLang="en-GB" sz="2400" dirty="0">
                <a:effectLst>
                  <a:outerShdw blurRad="38100" dist="38100" dir="2700000" algn="tl">
                    <a:srgbClr val="000000"/>
                  </a:outerShdw>
                </a:effectLst>
              </a:rPr>
              <a:t>新成员</a:t>
            </a:r>
          </a:p>
          <a:p>
            <a:pPr eaLnBrk="1" hangingPunct="1">
              <a:spcBef>
                <a:spcPct val="0"/>
              </a:spcBef>
              <a:buClrTx/>
              <a:buSzTx/>
              <a:buFontTx/>
              <a:buNone/>
              <a:defRPr/>
            </a:pPr>
            <a:r>
              <a:rPr lang="en-GB" altLang="zh-CN" sz="2400" dirty="0">
                <a:effectLst>
                  <a:outerShdw blurRad="38100" dist="38100" dir="2700000" algn="tl">
                    <a:srgbClr val="000000"/>
                  </a:outerShdw>
                </a:effectLst>
              </a:rPr>
              <a:t>	public:</a:t>
            </a:r>
          </a:p>
          <a:p>
            <a:pPr eaLnBrk="1" hangingPunct="1">
              <a:spcBef>
                <a:spcPct val="0"/>
              </a:spcBef>
              <a:buClrTx/>
              <a:buSzTx/>
              <a:buFontTx/>
              <a:buNone/>
              <a:defRPr/>
            </a:pPr>
            <a:r>
              <a:rPr lang="en-GB" altLang="zh-CN" sz="2400" dirty="0">
                <a:effectLst>
                  <a:outerShdw blurRad="38100" dist="38100" dir="2700000" algn="tl">
                    <a:srgbClr val="000000"/>
                  </a:outerShdw>
                </a:effectLst>
              </a:rPr>
              <a:t>		void h(); //</a:t>
            </a:r>
            <a:r>
              <a:rPr lang="zh-CN" altLang="en-GB" sz="2400" dirty="0">
                <a:effectLst>
                  <a:outerShdw blurRad="38100" dist="38100" dir="2700000" algn="tl">
                    <a:srgbClr val="000000"/>
                  </a:outerShdw>
                </a:effectLst>
              </a:rPr>
              <a:t>新成员</a:t>
            </a:r>
          </a:p>
          <a:p>
            <a:pPr eaLnBrk="1" hangingPunct="1">
              <a:spcBef>
                <a:spcPct val="0"/>
              </a:spcBef>
              <a:buClrTx/>
              <a:buSzTx/>
              <a:buFontTx/>
              <a:buNone/>
              <a:defRPr/>
            </a:pPr>
            <a:r>
              <a:rPr lang="en-GB" altLang="zh-CN" sz="2400" dirty="0">
                <a:effectLst>
                  <a:outerShdw blurRad="38100" dist="38100" dir="2700000" algn="tl">
                    <a:srgbClr val="000000"/>
                  </a:outerShdw>
                </a:effectLst>
              </a:rPr>
              <a:t>};</a:t>
            </a:r>
            <a:endParaRPr lang="en-US" altLang="zh-C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a:extLst>
              <a:ext uri="{FF2B5EF4-FFF2-40B4-BE49-F238E27FC236}">
                <a16:creationId xmlns:a16="http://schemas.microsoft.com/office/drawing/2014/main" id="{9CB6B4A9-DE59-6672-77CA-9342389CC977}"/>
              </a:ext>
            </a:extLst>
          </p:cNvPr>
          <p:cNvSpPr>
            <a:spLocks noGrp="1" noChangeArrowheads="1"/>
          </p:cNvSpPr>
          <p:nvPr>
            <p:ph type="body" idx="1"/>
          </p:nvPr>
        </p:nvSpPr>
        <p:spPr>
          <a:xfrm>
            <a:off x="457200" y="439738"/>
            <a:ext cx="8229600" cy="6157912"/>
          </a:xfrm>
        </p:spPr>
        <p:txBody>
          <a:bodyPr>
            <a:normAutofit/>
          </a:bodyPr>
          <a:lstStyle/>
          <a:p>
            <a:pPr eaLnBrk="1" hangingPunct="1">
              <a:lnSpc>
                <a:spcPct val="90000"/>
              </a:lnSpc>
              <a:defRPr/>
            </a:pPr>
            <a:r>
              <a:rPr lang="zh-CN" altLang="en-GB" sz="2800" dirty="0"/>
              <a:t>定义派生类时一定要见到基类的定义。</a:t>
            </a:r>
          </a:p>
          <a:p>
            <a:pPr lvl="1" eaLnBrk="1" hangingPunct="1">
              <a:lnSpc>
                <a:spcPct val="90000"/>
              </a:lnSpc>
              <a:buFontTx/>
              <a:buNone/>
              <a:defRPr/>
            </a:pPr>
            <a:r>
              <a:rPr lang="en-GB" altLang="zh-CN" sz="2400" dirty="0"/>
              <a:t>class A;  //</a:t>
            </a:r>
            <a:r>
              <a:rPr lang="zh-CN" altLang="en-GB" sz="2400" dirty="0"/>
              <a:t>声明</a:t>
            </a:r>
          </a:p>
          <a:p>
            <a:pPr lvl="1" eaLnBrk="1" hangingPunct="1">
              <a:lnSpc>
                <a:spcPct val="90000"/>
              </a:lnSpc>
              <a:buFontTx/>
              <a:buNone/>
              <a:defRPr/>
            </a:pPr>
            <a:r>
              <a:rPr lang="en-GB" altLang="zh-CN" sz="2400" dirty="0"/>
              <a:t>class B: public A  //</a:t>
            </a:r>
            <a:r>
              <a:rPr lang="en-GB" altLang="zh-CN" sz="2400" dirty="0">
                <a:solidFill>
                  <a:schemeClr val="folHlink"/>
                </a:solidFill>
              </a:rPr>
              <a:t>Error</a:t>
            </a:r>
          </a:p>
          <a:p>
            <a:pPr lvl="1" eaLnBrk="1" hangingPunct="1">
              <a:lnSpc>
                <a:spcPct val="90000"/>
              </a:lnSpc>
              <a:buFontTx/>
              <a:buNone/>
              <a:defRPr/>
            </a:pPr>
            <a:r>
              <a:rPr lang="en-GB" altLang="zh-CN" sz="2400" dirty="0"/>
              <a:t>{  </a:t>
            </a:r>
            <a:r>
              <a:rPr lang="en-GB" altLang="zh-CN" sz="2400" dirty="0" err="1"/>
              <a:t>int</a:t>
            </a:r>
            <a:r>
              <a:rPr lang="en-GB" altLang="zh-CN" sz="2400" dirty="0"/>
              <a:t> z;</a:t>
            </a:r>
          </a:p>
          <a:p>
            <a:pPr lvl="1" eaLnBrk="1" hangingPunct="1">
              <a:lnSpc>
                <a:spcPct val="90000"/>
              </a:lnSpc>
              <a:buFontTx/>
              <a:buNone/>
              <a:defRPr/>
            </a:pPr>
            <a:r>
              <a:rPr lang="en-GB" altLang="zh-CN" sz="2400" dirty="0"/>
              <a:t>  public:</a:t>
            </a:r>
          </a:p>
          <a:p>
            <a:pPr lvl="1" eaLnBrk="1" hangingPunct="1">
              <a:lnSpc>
                <a:spcPct val="90000"/>
              </a:lnSpc>
              <a:buFontTx/>
              <a:buNone/>
              <a:defRPr/>
            </a:pPr>
            <a:r>
              <a:rPr lang="en-GB" altLang="zh-CN" sz="2400" dirty="0"/>
              <a:t>   void h() { g(); }  //</a:t>
            </a:r>
            <a:r>
              <a:rPr lang="en-GB" altLang="zh-CN" sz="2400" dirty="0">
                <a:solidFill>
                  <a:schemeClr val="folHlink"/>
                </a:solidFill>
              </a:rPr>
              <a:t>Error</a:t>
            </a:r>
            <a:r>
              <a:rPr lang="zh-CN" altLang="en-GB" sz="2400" dirty="0"/>
              <a:t>，编译程序不知道基类中</a:t>
            </a:r>
          </a:p>
          <a:p>
            <a:pPr lvl="1" eaLnBrk="1" hangingPunct="1">
              <a:lnSpc>
                <a:spcPct val="90000"/>
              </a:lnSpc>
              <a:buFontTx/>
              <a:buNone/>
              <a:defRPr/>
            </a:pPr>
            <a:r>
              <a:rPr lang="zh-CN" altLang="en-GB" sz="2400" dirty="0"/>
              <a:t>				       </a:t>
            </a:r>
            <a:r>
              <a:rPr lang="en-GB" altLang="zh-CN" sz="2400" dirty="0"/>
              <a:t>//</a:t>
            </a:r>
            <a:r>
              <a:rPr lang="zh-CN" altLang="en-GB" sz="2400" dirty="0"/>
              <a:t>是否有函数</a:t>
            </a:r>
            <a:r>
              <a:rPr lang="en-GB" altLang="zh-CN" sz="2400" dirty="0"/>
              <a:t>g</a:t>
            </a:r>
            <a:r>
              <a:rPr lang="zh-CN" altLang="en-GB" sz="2400" dirty="0"/>
              <a:t>。</a:t>
            </a:r>
          </a:p>
          <a:p>
            <a:pPr lvl="1" eaLnBrk="1" hangingPunct="1">
              <a:lnSpc>
                <a:spcPct val="90000"/>
              </a:lnSpc>
              <a:buFontTx/>
              <a:buNone/>
              <a:defRPr/>
            </a:pPr>
            <a:r>
              <a:rPr lang="en-GB" altLang="zh-CN" sz="2400" dirty="0"/>
              <a:t>};</a:t>
            </a:r>
          </a:p>
          <a:p>
            <a:pPr lvl="1" eaLnBrk="1" hangingPunct="1">
              <a:lnSpc>
                <a:spcPct val="90000"/>
              </a:lnSpc>
              <a:buFontTx/>
              <a:buNone/>
              <a:defRPr/>
            </a:pPr>
            <a:r>
              <a:rPr lang="en-GB" altLang="zh-CN" sz="2400" dirty="0"/>
              <a:t>......</a:t>
            </a:r>
          </a:p>
          <a:p>
            <a:pPr lvl="1" eaLnBrk="1" hangingPunct="1">
              <a:lnSpc>
                <a:spcPct val="90000"/>
              </a:lnSpc>
              <a:buFontTx/>
              <a:buNone/>
              <a:defRPr/>
            </a:pPr>
            <a:r>
              <a:rPr lang="en-GB" altLang="zh-CN" sz="2400" dirty="0"/>
              <a:t>B </a:t>
            </a:r>
            <a:r>
              <a:rPr lang="en-GB" altLang="zh-CN" sz="2400" dirty="0" err="1"/>
              <a:t>b</a:t>
            </a:r>
            <a:r>
              <a:rPr lang="en-GB" altLang="zh-CN" sz="2400" dirty="0"/>
              <a:t>; //</a:t>
            </a:r>
            <a:r>
              <a:rPr lang="en-GB" altLang="zh-CN" sz="2400" dirty="0">
                <a:solidFill>
                  <a:schemeClr val="folHlink"/>
                </a:solidFill>
              </a:rPr>
              <a:t>Error</a:t>
            </a:r>
            <a:r>
              <a:rPr lang="zh-CN" altLang="en-GB" sz="2400" dirty="0"/>
              <a:t>，编译无法确定</a:t>
            </a:r>
            <a:r>
              <a:rPr lang="en-GB" altLang="zh-CN" sz="2400" dirty="0"/>
              <a:t>b</a:t>
            </a:r>
            <a:r>
              <a:rPr lang="zh-CN" altLang="en-GB" sz="2400" dirty="0"/>
              <a:t>所需内存空间的大小。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1" name="Rectangle 3">
            <a:extLst>
              <a:ext uri="{FF2B5EF4-FFF2-40B4-BE49-F238E27FC236}">
                <a16:creationId xmlns:a16="http://schemas.microsoft.com/office/drawing/2014/main" id="{0D98170D-D329-418C-3813-4165155E6F0D}"/>
              </a:ext>
            </a:extLst>
          </p:cNvPr>
          <p:cNvSpPr>
            <a:spLocks noGrp="1" noChangeArrowheads="1"/>
          </p:cNvSpPr>
          <p:nvPr>
            <p:ph type="body" idx="1"/>
          </p:nvPr>
        </p:nvSpPr>
        <p:spPr>
          <a:xfrm>
            <a:off x="250825" y="1341438"/>
            <a:ext cx="8748713" cy="5516562"/>
          </a:xfrm>
        </p:spPr>
        <p:txBody>
          <a:bodyPr>
            <a:normAutofit/>
          </a:bodyPr>
          <a:lstStyle/>
          <a:p>
            <a:pPr defTabSz="604838" eaLnBrk="1" hangingPunct="1">
              <a:lnSpc>
                <a:spcPct val="70000"/>
              </a:lnSpc>
              <a:defRPr/>
            </a:pPr>
            <a:r>
              <a:rPr lang="en-US" altLang="zh-CN" sz="2800"/>
              <a:t>C++</a:t>
            </a:r>
            <a:r>
              <a:rPr lang="zh-CN" altLang="en-US" sz="2800"/>
              <a:t>中，</a:t>
            </a:r>
            <a:r>
              <a:rPr lang="zh-CN" altLang="en-GB" sz="2800"/>
              <a:t>派生类不能直接访问基类的私有成员。</a:t>
            </a:r>
          </a:p>
          <a:p>
            <a:pPr lvl="1" defTabSz="604838" eaLnBrk="1" hangingPunct="1">
              <a:buFontTx/>
              <a:buNone/>
              <a:defRPr/>
            </a:pPr>
            <a:r>
              <a:rPr lang="en-GB" altLang="zh-CN" sz="2200"/>
              <a:t>class A</a:t>
            </a:r>
          </a:p>
          <a:p>
            <a:pPr lvl="1" defTabSz="604838" eaLnBrk="1" hangingPunct="1">
              <a:lnSpc>
                <a:spcPct val="70000"/>
              </a:lnSpc>
              <a:buFontTx/>
              <a:buNone/>
              <a:defRPr/>
            </a:pPr>
            <a:r>
              <a:rPr lang="en-GB" altLang="zh-CN" sz="2200"/>
              <a:t>{		int x,y;</a:t>
            </a:r>
          </a:p>
          <a:p>
            <a:pPr lvl="1" defTabSz="604838" eaLnBrk="1" hangingPunct="1">
              <a:lnSpc>
                <a:spcPct val="70000"/>
              </a:lnSpc>
              <a:buFontTx/>
              <a:buNone/>
              <a:defRPr/>
            </a:pPr>
            <a:r>
              <a:rPr lang="en-GB" altLang="zh-CN" sz="2200"/>
              <a:t>	public:</a:t>
            </a:r>
          </a:p>
          <a:p>
            <a:pPr lvl="1" defTabSz="604838" eaLnBrk="1" hangingPunct="1">
              <a:lnSpc>
                <a:spcPct val="70000"/>
              </a:lnSpc>
              <a:buFontTx/>
              <a:buNone/>
              <a:defRPr/>
            </a:pPr>
            <a:r>
              <a:rPr lang="en-GB" altLang="zh-CN" sz="2200"/>
              <a:t>		void f();</a:t>
            </a:r>
          </a:p>
          <a:p>
            <a:pPr lvl="1" defTabSz="604838" eaLnBrk="1" hangingPunct="1">
              <a:lnSpc>
                <a:spcPct val="70000"/>
              </a:lnSpc>
              <a:buFontTx/>
              <a:buNone/>
              <a:defRPr/>
            </a:pPr>
            <a:r>
              <a:rPr lang="en-GB" altLang="zh-CN" sz="2200"/>
              <a:t>		void g() { ... x </a:t>
            </a:r>
            <a:r>
              <a:rPr lang="zh-CN" altLang="en-US" sz="2200"/>
              <a:t>，</a:t>
            </a:r>
            <a:r>
              <a:rPr lang="en-US" altLang="zh-CN" sz="2200"/>
              <a:t>y </a:t>
            </a:r>
            <a:r>
              <a:rPr lang="en-GB" altLang="zh-CN" sz="2200"/>
              <a:t>... }</a:t>
            </a:r>
          </a:p>
          <a:p>
            <a:pPr lvl="1" defTabSz="604838" eaLnBrk="1" hangingPunct="1">
              <a:lnSpc>
                <a:spcPct val="70000"/>
              </a:lnSpc>
              <a:buFontTx/>
              <a:buNone/>
              <a:defRPr/>
            </a:pPr>
            <a:r>
              <a:rPr lang="en-GB" altLang="zh-CN" sz="2200"/>
              <a:t>};</a:t>
            </a:r>
          </a:p>
          <a:p>
            <a:pPr lvl="1" defTabSz="604838" eaLnBrk="1" hangingPunct="1">
              <a:lnSpc>
                <a:spcPct val="70000"/>
              </a:lnSpc>
              <a:buFontTx/>
              <a:buNone/>
              <a:defRPr/>
            </a:pPr>
            <a:r>
              <a:rPr lang="en-GB" altLang="zh-CN" sz="2200"/>
              <a:t>class B: public A</a:t>
            </a:r>
          </a:p>
          <a:p>
            <a:pPr lvl="1" defTabSz="604838" eaLnBrk="1" hangingPunct="1">
              <a:lnSpc>
                <a:spcPct val="70000"/>
              </a:lnSpc>
              <a:buFontTx/>
              <a:buNone/>
              <a:defRPr/>
            </a:pPr>
            <a:r>
              <a:rPr lang="en-GB" altLang="zh-CN" sz="2200"/>
              <a:t>{		int z;</a:t>
            </a:r>
          </a:p>
          <a:p>
            <a:pPr lvl="1" defTabSz="604838" eaLnBrk="1" hangingPunct="1">
              <a:lnSpc>
                <a:spcPct val="70000"/>
              </a:lnSpc>
              <a:buFontTx/>
              <a:buNone/>
              <a:defRPr/>
            </a:pPr>
            <a:r>
              <a:rPr lang="en-GB" altLang="zh-CN" sz="2200"/>
              <a:t>	public:</a:t>
            </a:r>
          </a:p>
          <a:p>
            <a:pPr lvl="1" defTabSz="604838" eaLnBrk="1" hangingPunct="1">
              <a:lnSpc>
                <a:spcPct val="70000"/>
              </a:lnSpc>
              <a:buFontTx/>
              <a:buNone/>
              <a:defRPr/>
            </a:pPr>
            <a:r>
              <a:rPr lang="en-GB" altLang="zh-CN" sz="2200"/>
              <a:t>		void h() </a:t>
            </a:r>
          </a:p>
          <a:p>
            <a:pPr lvl="1" defTabSz="604838" eaLnBrk="1" hangingPunct="1">
              <a:lnSpc>
                <a:spcPct val="70000"/>
              </a:lnSpc>
              <a:buFontTx/>
              <a:buNone/>
              <a:defRPr/>
            </a:pPr>
            <a:r>
              <a:rPr lang="en-GB" altLang="zh-CN" sz="2200"/>
              <a:t>		{	... x</a:t>
            </a:r>
            <a:r>
              <a:rPr lang="zh-CN" altLang="en-US" sz="2200"/>
              <a:t>，</a:t>
            </a:r>
            <a:r>
              <a:rPr lang="en-US" altLang="zh-CN" sz="2200"/>
              <a:t>y</a:t>
            </a:r>
            <a:r>
              <a:rPr lang="en-GB" altLang="zh-CN" sz="2200"/>
              <a:t> ...  //</a:t>
            </a:r>
            <a:r>
              <a:rPr lang="en-GB" altLang="zh-CN" sz="2200">
                <a:solidFill>
                  <a:srgbClr val="FFC000"/>
                </a:solidFill>
              </a:rPr>
              <a:t>Error</a:t>
            </a:r>
            <a:r>
              <a:rPr lang="zh-CN" altLang="en-GB" sz="2200"/>
              <a:t>，</a:t>
            </a:r>
            <a:r>
              <a:rPr lang="en-GB" altLang="zh-CN" sz="2200"/>
              <a:t>x</a:t>
            </a:r>
            <a:r>
              <a:rPr lang="zh-CN" altLang="en-US" sz="2200"/>
              <a:t>、</a:t>
            </a:r>
            <a:r>
              <a:rPr lang="en-US" altLang="zh-CN" sz="2200"/>
              <a:t>y</a:t>
            </a:r>
            <a:r>
              <a:rPr lang="zh-CN" altLang="en-GB" sz="2200"/>
              <a:t>为基类的私有成员。</a:t>
            </a:r>
            <a:endParaRPr lang="en-US" altLang="zh-CN" sz="2200"/>
          </a:p>
          <a:p>
            <a:pPr lvl="1" defTabSz="604838" eaLnBrk="1" hangingPunct="1">
              <a:lnSpc>
                <a:spcPct val="70000"/>
              </a:lnSpc>
              <a:buFontTx/>
              <a:buNone/>
              <a:defRPr/>
            </a:pPr>
            <a:r>
              <a:rPr lang="en-US" altLang="zh-CN" sz="2200"/>
              <a:t>			f();  //OK</a:t>
            </a:r>
            <a:endParaRPr lang="zh-CN" altLang="en-GB" sz="2200"/>
          </a:p>
          <a:p>
            <a:pPr lvl="1" defTabSz="604838" eaLnBrk="1" hangingPunct="1">
              <a:lnSpc>
                <a:spcPct val="70000"/>
              </a:lnSpc>
              <a:buFontTx/>
              <a:buNone/>
              <a:defRPr/>
            </a:pPr>
            <a:r>
              <a:rPr lang="zh-CN" altLang="en-GB" sz="2200"/>
              <a:t>			</a:t>
            </a:r>
            <a:r>
              <a:rPr lang="en-GB" altLang="zh-CN" sz="2200"/>
              <a:t>g();  //OK</a:t>
            </a:r>
            <a:r>
              <a:rPr lang="zh-CN" altLang="en-GB" sz="2200"/>
              <a:t>，通过函数</a:t>
            </a:r>
            <a:r>
              <a:rPr lang="en-GB" altLang="zh-CN" sz="2200"/>
              <a:t>g</a:t>
            </a:r>
            <a:r>
              <a:rPr lang="zh-CN" altLang="en-GB" sz="2200"/>
              <a:t>访问基类的私有成员</a:t>
            </a:r>
            <a:r>
              <a:rPr lang="en-GB" altLang="zh-CN" sz="2200"/>
              <a:t>x</a:t>
            </a:r>
            <a:r>
              <a:rPr lang="zh-CN" altLang="en-US" sz="2200"/>
              <a:t>和</a:t>
            </a:r>
            <a:r>
              <a:rPr lang="en-US" altLang="zh-CN" sz="2200"/>
              <a:t>y</a:t>
            </a:r>
            <a:r>
              <a:rPr lang="zh-CN" altLang="en-GB" sz="2200"/>
              <a:t>。</a:t>
            </a:r>
          </a:p>
          <a:p>
            <a:pPr lvl="1" defTabSz="604838" eaLnBrk="1" hangingPunct="1">
              <a:lnSpc>
                <a:spcPct val="70000"/>
              </a:lnSpc>
              <a:buFontTx/>
              <a:buNone/>
              <a:defRPr/>
            </a:pPr>
            <a:r>
              <a:rPr lang="zh-CN" altLang="en-GB" sz="2200"/>
              <a:t>		</a:t>
            </a:r>
            <a:r>
              <a:rPr lang="en-GB" altLang="zh-CN" sz="2200"/>
              <a:t>}</a:t>
            </a:r>
          </a:p>
          <a:p>
            <a:pPr lvl="1" defTabSz="604838" eaLnBrk="1" hangingPunct="1">
              <a:lnSpc>
                <a:spcPct val="70000"/>
              </a:lnSpc>
              <a:buFontTx/>
              <a:buNone/>
              <a:defRPr/>
            </a:pPr>
            <a:r>
              <a:rPr lang="en-GB" altLang="zh-CN" sz="2200"/>
              <a:t>};</a:t>
            </a:r>
            <a:r>
              <a:rPr lang="en-US" altLang="zh-CN" sz="2200"/>
              <a:t> </a:t>
            </a:r>
          </a:p>
        </p:txBody>
      </p:sp>
      <p:sp>
        <p:nvSpPr>
          <p:cNvPr id="536576" name="Rectangle 0">
            <a:extLst>
              <a:ext uri="{FF2B5EF4-FFF2-40B4-BE49-F238E27FC236}">
                <a16:creationId xmlns:a16="http://schemas.microsoft.com/office/drawing/2014/main" id="{8DCF133E-AA69-BD67-80D5-1CB431007D8A}"/>
              </a:ext>
            </a:extLst>
          </p:cNvPr>
          <p:cNvSpPr>
            <a:spLocks noGrp="1" noChangeArrowheads="1"/>
          </p:cNvSpPr>
          <p:nvPr>
            <p:ph type="title"/>
          </p:nvPr>
        </p:nvSpPr>
        <p:spPr>
          <a:xfrm>
            <a:off x="457200" y="44450"/>
            <a:ext cx="8229600" cy="1139825"/>
          </a:xfrm>
        </p:spPr>
        <p:txBody>
          <a:bodyPr/>
          <a:lstStyle/>
          <a:p>
            <a:pPr eaLnBrk="1" hangingPunct="1">
              <a:defRPr/>
            </a:pPr>
            <a:r>
              <a:rPr lang="zh-CN" altLang="en-GB"/>
              <a:t>在派生类中访问基类成员</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a:extLst>
              <a:ext uri="{FF2B5EF4-FFF2-40B4-BE49-F238E27FC236}">
                <a16:creationId xmlns:a16="http://schemas.microsoft.com/office/drawing/2014/main" id="{437E9FD2-7A49-1C96-F4F8-DFD4A9F318D2}"/>
              </a:ext>
            </a:extLst>
          </p:cNvPr>
          <p:cNvSpPr>
            <a:spLocks noGrp="1" noChangeArrowheads="1"/>
          </p:cNvSpPr>
          <p:nvPr>
            <p:ph type="title"/>
          </p:nvPr>
        </p:nvSpPr>
        <p:spPr>
          <a:xfrm>
            <a:off x="457200" y="188913"/>
            <a:ext cx="8229600" cy="1012825"/>
          </a:xfrm>
        </p:spPr>
        <p:txBody>
          <a:bodyPr/>
          <a:lstStyle/>
          <a:p>
            <a:pPr eaLnBrk="1" hangingPunct="1">
              <a:defRPr/>
            </a:pPr>
            <a:r>
              <a:rPr lang="zh-CN" altLang="en-GB"/>
              <a:t>继承与封装的矛盾</a:t>
            </a:r>
            <a:r>
              <a:rPr lang="zh-CN" altLang="en-US"/>
              <a:t> </a:t>
            </a:r>
          </a:p>
        </p:txBody>
      </p:sp>
      <p:sp>
        <p:nvSpPr>
          <p:cNvPr id="417795" name="Rectangle 3">
            <a:extLst>
              <a:ext uri="{FF2B5EF4-FFF2-40B4-BE49-F238E27FC236}">
                <a16:creationId xmlns:a16="http://schemas.microsoft.com/office/drawing/2014/main" id="{11CD972D-DB0E-B005-5072-5FBF454EC955}"/>
              </a:ext>
            </a:extLst>
          </p:cNvPr>
          <p:cNvSpPr>
            <a:spLocks noGrp="1" noChangeArrowheads="1"/>
          </p:cNvSpPr>
          <p:nvPr>
            <p:ph type="body" idx="1"/>
          </p:nvPr>
        </p:nvSpPr>
        <p:spPr>
          <a:xfrm>
            <a:off x="468313" y="1585913"/>
            <a:ext cx="8135937" cy="3571875"/>
          </a:xfrm>
        </p:spPr>
        <p:txBody>
          <a:bodyPr>
            <a:normAutofit/>
          </a:bodyPr>
          <a:lstStyle/>
          <a:p>
            <a:pPr eaLnBrk="1" hangingPunct="1">
              <a:defRPr/>
            </a:pPr>
            <a:r>
              <a:rPr lang="zh-CN" altLang="en-GB" sz="3000"/>
              <a:t>在派生类中定义新的成员</a:t>
            </a:r>
            <a:r>
              <a:rPr lang="zh-CN" altLang="en-US" sz="3000"/>
              <a:t>函数或对基类已有成员函数重定义</a:t>
            </a:r>
            <a:r>
              <a:rPr lang="zh-CN" altLang="en-GB" sz="3000"/>
              <a:t>时，往往需要</a:t>
            </a:r>
            <a:r>
              <a:rPr lang="zh-CN" altLang="en-US" sz="3000"/>
              <a:t>直接访问</a:t>
            </a:r>
            <a:r>
              <a:rPr lang="zh-CN" altLang="en-GB" sz="3000"/>
              <a:t>基类的一些</a:t>
            </a:r>
            <a:r>
              <a:rPr lang="en-GB" altLang="zh-CN" sz="3000"/>
              <a:t>private</a:t>
            </a:r>
            <a:r>
              <a:rPr lang="zh-CN" altLang="en-GB" sz="3000"/>
              <a:t>成员</a:t>
            </a:r>
            <a:r>
              <a:rPr lang="zh-CN" altLang="en-US" sz="3000"/>
              <a:t>（特别是</a:t>
            </a:r>
            <a:r>
              <a:rPr lang="en-US" altLang="zh-CN" sz="3000"/>
              <a:t>private</a:t>
            </a:r>
            <a:r>
              <a:rPr lang="zh-CN" altLang="en-US" sz="3000"/>
              <a:t>数据成员），否则新的功能无法实现！</a:t>
            </a:r>
            <a:endParaRPr lang="en-US" altLang="zh-CN" sz="3000"/>
          </a:p>
          <a:p>
            <a:pPr eaLnBrk="1" hangingPunct="1">
              <a:defRPr/>
            </a:pPr>
            <a:r>
              <a:rPr lang="zh-CN" altLang="en-US" sz="3000"/>
              <a:t>而</a:t>
            </a:r>
            <a:r>
              <a:rPr lang="zh-CN" altLang="en-GB" sz="3000"/>
              <a:t>类的</a:t>
            </a:r>
            <a:r>
              <a:rPr lang="en-GB" altLang="zh-CN" sz="3000"/>
              <a:t>private</a:t>
            </a:r>
            <a:r>
              <a:rPr lang="zh-CN" altLang="en-GB" sz="3000"/>
              <a:t>成员</a:t>
            </a:r>
            <a:r>
              <a:rPr lang="zh-CN" altLang="en-US" sz="3000"/>
              <a:t>是不允许外界使用的（数据</a:t>
            </a:r>
            <a:r>
              <a:rPr lang="zh-CN" altLang="en-GB" sz="3000"/>
              <a:t>封装</a:t>
            </a:r>
            <a:r>
              <a:rPr lang="zh-CN" altLang="en-US" sz="3000"/>
              <a:t>）！</a:t>
            </a:r>
            <a:endParaRPr lang="en-US" altLang="zh-CN" sz="3000"/>
          </a:p>
          <a:p>
            <a:pPr eaLnBrk="1" hangingPunct="1">
              <a:defRPr/>
            </a:pPr>
            <a:r>
              <a:rPr lang="zh-CN" altLang="en-US" sz="3000"/>
              <a:t>这样就带来了</a:t>
            </a:r>
            <a:r>
              <a:rPr lang="zh-CN" altLang="en-GB" sz="3000">
                <a:solidFill>
                  <a:srgbClr val="FFC000"/>
                </a:solidFill>
              </a:rPr>
              <a:t>继承</a:t>
            </a:r>
            <a:r>
              <a:rPr lang="zh-CN" altLang="en-GB" sz="3000"/>
              <a:t>与</a:t>
            </a:r>
            <a:r>
              <a:rPr lang="zh-CN" altLang="en-US" sz="3000">
                <a:solidFill>
                  <a:srgbClr val="FFC000"/>
                </a:solidFill>
              </a:rPr>
              <a:t>封装</a:t>
            </a:r>
            <a:r>
              <a:rPr lang="zh-CN" altLang="en-GB" sz="3000"/>
              <a:t>的矛盾</a:t>
            </a:r>
            <a:r>
              <a:rPr lang="zh-CN" altLang="en-US" sz="3000"/>
              <a:t>。</a:t>
            </a:r>
            <a:endParaRPr lang="zh-CN" altLang="en-GB" sz="3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1" name="Rectangle 3">
            <a:extLst>
              <a:ext uri="{FF2B5EF4-FFF2-40B4-BE49-F238E27FC236}">
                <a16:creationId xmlns:a16="http://schemas.microsoft.com/office/drawing/2014/main" id="{A32BFBA5-F7C8-C373-20B8-C1023F29E2B7}"/>
              </a:ext>
            </a:extLst>
          </p:cNvPr>
          <p:cNvSpPr>
            <a:spLocks noGrp="1" noChangeArrowheads="1"/>
          </p:cNvSpPr>
          <p:nvPr>
            <p:ph type="body" idx="1"/>
          </p:nvPr>
        </p:nvSpPr>
        <p:spPr>
          <a:xfrm>
            <a:off x="457200" y="333375"/>
            <a:ext cx="8229600" cy="6335713"/>
          </a:xfrm>
        </p:spPr>
        <p:txBody>
          <a:bodyPr>
            <a:normAutofit/>
          </a:bodyPr>
          <a:lstStyle/>
          <a:p>
            <a:pPr eaLnBrk="1" hangingPunct="1">
              <a:defRPr/>
            </a:pPr>
            <a:r>
              <a:rPr lang="zh-CN" altLang="en-US" dirty="0"/>
              <a:t>实际上，</a:t>
            </a:r>
            <a:r>
              <a:rPr lang="zh-CN" altLang="en-GB" dirty="0"/>
              <a:t>有了继承机制以后，一个类的成员有两种被外界使用的场合：</a:t>
            </a:r>
          </a:p>
          <a:p>
            <a:pPr lvl="1" eaLnBrk="1" hangingPunct="1">
              <a:defRPr/>
            </a:pPr>
            <a:r>
              <a:rPr lang="zh-CN" altLang="en-GB" dirty="0"/>
              <a:t>在派生类中使用</a:t>
            </a:r>
          </a:p>
          <a:p>
            <a:pPr lvl="1" eaLnBrk="1" hangingPunct="1">
              <a:defRPr/>
            </a:pPr>
            <a:r>
              <a:rPr lang="zh-CN" altLang="en-US" dirty="0"/>
              <a:t>在本类及其派生类之外</a:t>
            </a:r>
            <a:r>
              <a:rPr lang="zh-CN" altLang="en-GB" dirty="0"/>
              <a:t>使用</a:t>
            </a:r>
          </a:p>
          <a:p>
            <a:pPr eaLnBrk="1" hangingPunct="1">
              <a:lnSpc>
                <a:spcPct val="70000"/>
              </a:lnSpc>
              <a:buFont typeface="Wingdings" panose="05000000000000000000" pitchFamily="2" charset="2"/>
              <a:buNone/>
              <a:defRPr/>
            </a:pPr>
            <a:r>
              <a:rPr lang="en-US" altLang="zh-CN" sz="2400" dirty="0"/>
              <a:t>class A</a:t>
            </a:r>
          </a:p>
          <a:p>
            <a:pPr eaLnBrk="1" hangingPunct="1">
              <a:lnSpc>
                <a:spcPct val="70000"/>
              </a:lnSpc>
              <a:buFont typeface="Wingdings" panose="05000000000000000000" pitchFamily="2" charset="2"/>
              <a:buNone/>
              <a:defRPr/>
            </a:pPr>
            <a:r>
              <a:rPr lang="en-US" altLang="zh-CN" sz="2400" dirty="0"/>
              <a:t>{ ......</a:t>
            </a:r>
          </a:p>
          <a:p>
            <a:pPr eaLnBrk="1" hangingPunct="1">
              <a:lnSpc>
                <a:spcPct val="70000"/>
              </a:lnSpc>
              <a:buFont typeface="Wingdings" panose="05000000000000000000" pitchFamily="2" charset="2"/>
              <a:buNone/>
              <a:defRPr/>
            </a:pPr>
            <a:r>
              <a:rPr lang="en-US" altLang="zh-CN" sz="2400" dirty="0"/>
              <a:t>    </a:t>
            </a:r>
            <a:r>
              <a:rPr lang="en-US" altLang="zh-CN" sz="2400" dirty="0">
                <a:solidFill>
                  <a:srgbClr val="FFC000"/>
                </a:solidFill>
              </a:rPr>
              <a:t>m</a:t>
            </a:r>
          </a:p>
          <a:p>
            <a:pPr eaLnBrk="1" hangingPunct="1">
              <a:lnSpc>
                <a:spcPct val="70000"/>
              </a:lnSpc>
              <a:buFont typeface="Wingdings" panose="05000000000000000000" pitchFamily="2" charset="2"/>
              <a:buNone/>
              <a:defRPr/>
            </a:pPr>
            <a:r>
              <a:rPr lang="en-US" altLang="zh-CN" sz="2400" dirty="0"/>
              <a:t>};</a:t>
            </a:r>
          </a:p>
          <a:p>
            <a:pPr eaLnBrk="1" hangingPunct="1">
              <a:lnSpc>
                <a:spcPct val="70000"/>
              </a:lnSpc>
              <a:buFont typeface="Wingdings" panose="05000000000000000000" pitchFamily="2" charset="2"/>
              <a:buNone/>
              <a:defRPr/>
            </a:pPr>
            <a:r>
              <a:rPr lang="en-US" altLang="zh-CN" sz="2400" dirty="0"/>
              <a:t>class B: public A</a:t>
            </a:r>
            <a:endParaRPr lang="en-US" altLang="zh-CN" sz="2400" dirty="0">
              <a:solidFill>
                <a:schemeClr val="folHlink"/>
              </a:solidFill>
            </a:endParaRPr>
          </a:p>
          <a:p>
            <a:pPr eaLnBrk="1" hangingPunct="1">
              <a:lnSpc>
                <a:spcPct val="70000"/>
              </a:lnSpc>
              <a:buFont typeface="Wingdings" panose="05000000000000000000" pitchFamily="2" charset="2"/>
              <a:buNone/>
              <a:defRPr/>
            </a:pPr>
            <a:r>
              <a:rPr lang="en-US" altLang="zh-CN" sz="2400" dirty="0"/>
              <a:t>{ ......</a:t>
            </a:r>
          </a:p>
          <a:p>
            <a:pPr eaLnBrk="1" hangingPunct="1">
              <a:lnSpc>
                <a:spcPct val="70000"/>
              </a:lnSpc>
              <a:buFont typeface="Wingdings" panose="05000000000000000000" pitchFamily="2" charset="2"/>
              <a:buNone/>
              <a:defRPr/>
            </a:pPr>
            <a:r>
              <a:rPr lang="en-US" altLang="zh-CN" sz="2400" dirty="0"/>
              <a:t>   f() { ... </a:t>
            </a:r>
            <a:r>
              <a:rPr lang="en-US" altLang="zh-CN" sz="2400" dirty="0">
                <a:solidFill>
                  <a:srgbClr val="FFC000"/>
                </a:solidFill>
              </a:rPr>
              <a:t>m</a:t>
            </a:r>
            <a:r>
              <a:rPr lang="en-US" altLang="zh-CN" sz="2400" dirty="0"/>
              <a:t> ...} //</a:t>
            </a:r>
            <a:r>
              <a:rPr lang="zh-CN" altLang="en-US" sz="2400" dirty="0">
                <a:solidFill>
                  <a:schemeClr val="folHlink"/>
                </a:solidFill>
              </a:rPr>
              <a:t>通过派生类使用</a:t>
            </a:r>
            <a:r>
              <a:rPr lang="en-US" altLang="zh-CN" sz="2400" dirty="0">
                <a:solidFill>
                  <a:schemeClr val="folHlink"/>
                </a:solidFill>
              </a:rPr>
              <a:t>A</a:t>
            </a:r>
            <a:r>
              <a:rPr lang="zh-CN" altLang="en-US" sz="2400" dirty="0">
                <a:solidFill>
                  <a:schemeClr val="folHlink"/>
                </a:solidFill>
              </a:rPr>
              <a:t>的成员</a:t>
            </a:r>
            <a:r>
              <a:rPr lang="en-US" altLang="zh-CN" sz="2400" dirty="0">
                <a:solidFill>
                  <a:schemeClr val="folHlink"/>
                </a:solidFill>
              </a:rPr>
              <a:t>m</a:t>
            </a:r>
            <a:endParaRPr lang="en-US" altLang="zh-CN" sz="2400" dirty="0"/>
          </a:p>
          <a:p>
            <a:pPr eaLnBrk="1" hangingPunct="1">
              <a:lnSpc>
                <a:spcPct val="70000"/>
              </a:lnSpc>
              <a:buFont typeface="Wingdings" panose="05000000000000000000" pitchFamily="2" charset="2"/>
              <a:buNone/>
              <a:defRPr/>
            </a:pPr>
            <a:r>
              <a:rPr lang="en-US" altLang="zh-CN" sz="2400" dirty="0"/>
              <a:t>};</a:t>
            </a:r>
          </a:p>
          <a:p>
            <a:pPr eaLnBrk="1" hangingPunct="1">
              <a:lnSpc>
                <a:spcPct val="70000"/>
              </a:lnSpc>
              <a:buFont typeface="Wingdings" panose="05000000000000000000" pitchFamily="2" charset="2"/>
              <a:buNone/>
              <a:defRPr/>
            </a:pPr>
            <a:r>
              <a:rPr lang="en-US" altLang="zh-CN" sz="2400" dirty="0"/>
              <a:t>void main()</a:t>
            </a:r>
            <a:endParaRPr lang="en-US" altLang="zh-CN" sz="2400" dirty="0">
              <a:solidFill>
                <a:schemeClr val="folHlink"/>
              </a:solidFill>
            </a:endParaRPr>
          </a:p>
          <a:p>
            <a:pPr eaLnBrk="1" hangingPunct="1">
              <a:lnSpc>
                <a:spcPct val="70000"/>
              </a:lnSpc>
              <a:buFont typeface="Wingdings" panose="05000000000000000000" pitchFamily="2" charset="2"/>
              <a:buNone/>
              <a:defRPr/>
            </a:pPr>
            <a:r>
              <a:rPr lang="en-US" altLang="zh-CN" sz="2400" dirty="0"/>
              <a:t>{ A </a:t>
            </a:r>
            <a:r>
              <a:rPr lang="en-US" altLang="zh-CN" sz="2400" dirty="0" err="1"/>
              <a:t>a</a:t>
            </a:r>
            <a:r>
              <a:rPr lang="en-US" altLang="zh-CN" sz="2400" dirty="0"/>
              <a:t>;</a:t>
            </a:r>
          </a:p>
          <a:p>
            <a:pPr eaLnBrk="1" hangingPunct="1">
              <a:lnSpc>
                <a:spcPct val="70000"/>
              </a:lnSpc>
              <a:buFont typeface="Wingdings" panose="05000000000000000000" pitchFamily="2" charset="2"/>
              <a:buNone/>
              <a:defRPr/>
            </a:pPr>
            <a:r>
              <a:rPr lang="en-US" altLang="zh-CN" sz="2400" dirty="0"/>
              <a:t>   ... </a:t>
            </a:r>
            <a:r>
              <a:rPr lang="en-US" altLang="zh-CN" sz="2400" dirty="0" err="1"/>
              <a:t>a.</a:t>
            </a:r>
            <a:r>
              <a:rPr lang="en-US" altLang="zh-CN" sz="2400" dirty="0" err="1">
                <a:solidFill>
                  <a:srgbClr val="FFC000"/>
                </a:solidFill>
              </a:rPr>
              <a:t>m</a:t>
            </a:r>
            <a:r>
              <a:rPr lang="en-US" altLang="zh-CN" sz="2400" dirty="0"/>
              <a:t> ... //</a:t>
            </a:r>
            <a:r>
              <a:rPr lang="zh-CN" altLang="en-US" sz="2400" dirty="0">
                <a:solidFill>
                  <a:schemeClr val="folHlink"/>
                </a:solidFill>
              </a:rPr>
              <a:t>本类及其派生类之外使用</a:t>
            </a:r>
            <a:r>
              <a:rPr lang="en-US" altLang="zh-CN" sz="2400" dirty="0">
                <a:solidFill>
                  <a:schemeClr val="folHlink"/>
                </a:solidFill>
              </a:rPr>
              <a:t>A</a:t>
            </a:r>
            <a:r>
              <a:rPr lang="zh-CN" altLang="en-US" sz="2400" dirty="0">
                <a:solidFill>
                  <a:schemeClr val="folHlink"/>
                </a:solidFill>
              </a:rPr>
              <a:t>的成员</a:t>
            </a:r>
            <a:r>
              <a:rPr lang="en-US" altLang="zh-CN" sz="2400" dirty="0">
                <a:solidFill>
                  <a:schemeClr val="folHlink"/>
                </a:solidFill>
              </a:rPr>
              <a:t>m</a:t>
            </a:r>
            <a:endParaRPr lang="en-US" altLang="zh-CN" sz="2400" dirty="0"/>
          </a:p>
          <a:p>
            <a:pPr eaLnBrk="1" hangingPunct="1">
              <a:lnSpc>
                <a:spcPct val="70000"/>
              </a:lnSpc>
              <a:buFont typeface="Wingdings" panose="05000000000000000000" pitchFamily="2" charset="2"/>
              <a:buNone/>
              <a:defRPr/>
            </a:pPr>
            <a:r>
              <a:rPr lang="en-US" altLang="zh-CN" sz="24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a:extLst>
              <a:ext uri="{FF2B5EF4-FFF2-40B4-BE49-F238E27FC236}">
                <a16:creationId xmlns:a16="http://schemas.microsoft.com/office/drawing/2014/main" id="{ADE15656-960B-6983-FEF7-E7AD9E346917}"/>
              </a:ext>
            </a:extLst>
          </p:cNvPr>
          <p:cNvSpPr>
            <a:spLocks noGrp="1" noChangeArrowheads="1"/>
          </p:cNvSpPr>
          <p:nvPr>
            <p:ph type="title"/>
          </p:nvPr>
        </p:nvSpPr>
        <p:spPr/>
        <p:txBody>
          <a:bodyPr/>
          <a:lstStyle/>
          <a:p>
            <a:pPr eaLnBrk="1" hangingPunct="1">
              <a:defRPr/>
            </a:pPr>
            <a:r>
              <a:rPr lang="zh-CN" altLang="en-US" sz="4000"/>
              <a:t>在派生类中访问基类成员（</a:t>
            </a:r>
            <a:r>
              <a:rPr lang="en-US" altLang="zh-CN" sz="4000"/>
              <a:t>protected</a:t>
            </a:r>
            <a:r>
              <a:rPr lang="zh-CN" altLang="en-US" sz="4000"/>
              <a:t>访问控制）</a:t>
            </a:r>
            <a:endParaRPr lang="zh-CN" altLang="zh-CN" sz="4000"/>
          </a:p>
        </p:txBody>
      </p:sp>
      <p:sp>
        <p:nvSpPr>
          <p:cNvPr id="625667" name="Rectangle 3">
            <a:extLst>
              <a:ext uri="{FF2B5EF4-FFF2-40B4-BE49-F238E27FC236}">
                <a16:creationId xmlns:a16="http://schemas.microsoft.com/office/drawing/2014/main" id="{538F2D5E-5DE7-39A9-3F28-867C9C117007}"/>
              </a:ext>
            </a:extLst>
          </p:cNvPr>
          <p:cNvSpPr>
            <a:spLocks noGrp="1" noChangeArrowheads="1"/>
          </p:cNvSpPr>
          <p:nvPr>
            <p:ph type="body" idx="1"/>
          </p:nvPr>
        </p:nvSpPr>
        <p:spPr>
          <a:xfrm>
            <a:off x="457200" y="1600200"/>
            <a:ext cx="8229600" cy="4781550"/>
          </a:xfrm>
        </p:spPr>
        <p:txBody>
          <a:bodyPr>
            <a:normAutofit/>
          </a:bodyPr>
          <a:lstStyle/>
          <a:p>
            <a:pPr eaLnBrk="1" hangingPunct="1">
              <a:defRPr/>
            </a:pPr>
            <a:r>
              <a:rPr lang="zh-CN" altLang="en-GB" dirty="0"/>
              <a:t>在</a:t>
            </a:r>
            <a:r>
              <a:rPr lang="en-GB" altLang="zh-CN" dirty="0"/>
              <a:t>C++</a:t>
            </a:r>
            <a:r>
              <a:rPr lang="zh-CN" altLang="en-GB" dirty="0"/>
              <a:t>中，</a:t>
            </a:r>
            <a:r>
              <a:rPr lang="zh-CN" altLang="en-US" dirty="0"/>
              <a:t>除了</a:t>
            </a:r>
            <a:r>
              <a:rPr lang="en-US" altLang="zh-CN" dirty="0"/>
              <a:t>public</a:t>
            </a:r>
            <a:r>
              <a:rPr lang="zh-CN" altLang="en-US" dirty="0"/>
              <a:t>和</a:t>
            </a:r>
            <a:r>
              <a:rPr lang="en-US" altLang="zh-CN" dirty="0"/>
              <a:t>private</a:t>
            </a:r>
            <a:r>
              <a:rPr lang="zh-CN" altLang="en-US" dirty="0"/>
              <a:t>，还</a:t>
            </a:r>
            <a:r>
              <a:rPr lang="zh-CN" altLang="en-GB" dirty="0"/>
              <a:t>提供了另外一种类成员访问控制：</a:t>
            </a:r>
            <a:r>
              <a:rPr lang="en-GB" altLang="zh-CN" dirty="0">
                <a:solidFill>
                  <a:srgbClr val="FFC000"/>
                </a:solidFill>
              </a:rPr>
              <a:t>protected</a:t>
            </a:r>
            <a:r>
              <a:rPr lang="zh-CN" altLang="en-GB" dirty="0"/>
              <a:t>，</a:t>
            </a:r>
            <a:endParaRPr lang="en-US" altLang="zh-CN" dirty="0"/>
          </a:p>
          <a:p>
            <a:pPr lvl="1" eaLnBrk="1" hangingPunct="1">
              <a:defRPr/>
            </a:pPr>
            <a:r>
              <a:rPr lang="en-US" altLang="zh-CN" dirty="0"/>
              <a:t>protected</a:t>
            </a:r>
            <a:r>
              <a:rPr lang="zh-CN" altLang="en-GB" dirty="0"/>
              <a:t>说明的成员可以在派生类中使用</a:t>
            </a:r>
          </a:p>
          <a:p>
            <a:pPr lvl="1" eaLnBrk="1" hangingPunct="1">
              <a:defRPr/>
            </a:pPr>
            <a:r>
              <a:rPr lang="en-GB" altLang="zh-CN" dirty="0"/>
              <a:t>protected</a:t>
            </a:r>
            <a:r>
              <a:rPr lang="zh-CN" altLang="en-GB" dirty="0"/>
              <a:t>访问控制</a:t>
            </a:r>
            <a:r>
              <a:rPr lang="zh-CN" altLang="en-US" dirty="0">
                <a:solidFill>
                  <a:schemeClr val="folHlink"/>
                </a:solidFill>
              </a:rPr>
              <a:t>缓解了</a:t>
            </a:r>
            <a:r>
              <a:rPr lang="zh-CN" altLang="en-US" dirty="0"/>
              <a:t>封装与继承的矛盾</a:t>
            </a:r>
            <a:endParaRPr lang="zh-CN" altLang="en-GB" dirty="0"/>
          </a:p>
          <a:p>
            <a:pPr eaLnBrk="1" hangingPunct="1">
              <a:defRPr/>
            </a:pPr>
            <a:r>
              <a:rPr lang="en-GB" altLang="zh-CN" dirty="0"/>
              <a:t>C++</a:t>
            </a:r>
            <a:r>
              <a:rPr lang="zh-CN" altLang="en-US" dirty="0"/>
              <a:t>类向外界提供两种接口：</a:t>
            </a:r>
          </a:p>
          <a:p>
            <a:pPr lvl="1" eaLnBrk="1" hangingPunct="1">
              <a:defRPr/>
            </a:pPr>
            <a:r>
              <a:rPr lang="en-GB" altLang="zh-CN" dirty="0"/>
              <a:t>public</a:t>
            </a:r>
            <a:r>
              <a:rPr lang="zh-CN" altLang="en-GB" dirty="0"/>
              <a:t>：</a:t>
            </a:r>
            <a:r>
              <a:rPr lang="zh-CN" altLang="en-US" dirty="0"/>
              <a:t>通过对象（类的实例用户）使用</a:t>
            </a:r>
          </a:p>
          <a:p>
            <a:pPr lvl="1" eaLnBrk="1" hangingPunct="1">
              <a:defRPr/>
            </a:pPr>
            <a:r>
              <a:rPr lang="en-GB" altLang="zh-CN" dirty="0"/>
              <a:t>protected</a:t>
            </a:r>
            <a:r>
              <a:rPr lang="zh-CN" altLang="en-GB" dirty="0"/>
              <a:t>：</a:t>
            </a:r>
            <a:r>
              <a:rPr lang="zh-CN" altLang="en-US" dirty="0"/>
              <a:t>供派生类使用</a:t>
            </a:r>
            <a:endParaRPr lang="en-GB" altLang="zh-CN" dirty="0"/>
          </a:p>
          <a:p>
            <a:pPr eaLnBrk="1" hangingPunct="1">
              <a:defRPr/>
            </a:pP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6EDE666C-EEAF-8F00-0E52-0E41162C1838}"/>
              </a:ext>
            </a:extLst>
          </p:cNvPr>
          <p:cNvSpPr>
            <a:spLocks noGrp="1" noChangeArrowheads="1"/>
          </p:cNvSpPr>
          <p:nvPr>
            <p:ph type="body" idx="1"/>
          </p:nvPr>
        </p:nvSpPr>
        <p:spPr>
          <a:xfrm>
            <a:off x="457200" y="260350"/>
            <a:ext cx="8229600" cy="6481763"/>
          </a:xfrm>
        </p:spPr>
        <p:txBody>
          <a:bodyPr/>
          <a:lstStyle/>
          <a:p>
            <a:pPr defTabSz="527050" eaLnBrk="1" hangingPunct="1">
              <a:lnSpc>
                <a:spcPct val="80000"/>
              </a:lnSpc>
              <a:buFont typeface="Wingdings" panose="05000000000000000000" pitchFamily="2" charset="2"/>
              <a:buNone/>
              <a:defRPr/>
            </a:pPr>
            <a:r>
              <a:rPr lang="en-GB" altLang="zh-CN" sz="2000" dirty="0"/>
              <a:t>class A</a:t>
            </a:r>
          </a:p>
          <a:p>
            <a:pPr defTabSz="527050" eaLnBrk="1" hangingPunct="1">
              <a:lnSpc>
                <a:spcPct val="80000"/>
              </a:lnSpc>
              <a:buFont typeface="Wingdings" panose="05000000000000000000" pitchFamily="2" charset="2"/>
              <a:buNone/>
              <a:defRPr/>
            </a:pPr>
            <a:r>
              <a:rPr lang="en-GB" altLang="zh-CN" sz="2000" dirty="0"/>
              <a:t>{	</a:t>
            </a:r>
            <a:r>
              <a:rPr lang="en-GB" altLang="zh-CN" sz="2000" dirty="0">
                <a:solidFill>
                  <a:srgbClr val="FFC000"/>
                </a:solidFill>
              </a:rPr>
              <a:t>protected</a:t>
            </a:r>
            <a:r>
              <a:rPr lang="en-GB" altLang="zh-CN" sz="2000" dirty="0"/>
              <a:t>:</a:t>
            </a:r>
          </a:p>
          <a:p>
            <a:pPr defTabSz="527050" eaLnBrk="1" hangingPunct="1">
              <a:lnSpc>
                <a:spcPct val="80000"/>
              </a:lnSpc>
              <a:buFont typeface="Wingdings" panose="05000000000000000000" pitchFamily="2" charset="2"/>
              <a:buNone/>
              <a:defRPr/>
            </a:pPr>
            <a:r>
              <a:rPr lang="en-GB" altLang="zh-CN" sz="2000" dirty="0"/>
              <a:t>		</a:t>
            </a:r>
            <a:r>
              <a:rPr lang="en-GB" altLang="zh-CN" sz="2000" dirty="0" err="1"/>
              <a:t>int</a:t>
            </a:r>
            <a:r>
              <a:rPr lang="en-GB" altLang="zh-CN" sz="2000" dirty="0"/>
              <a:t> </a:t>
            </a:r>
            <a:r>
              <a:rPr lang="en-GB" altLang="zh-CN" sz="2000" dirty="0" err="1"/>
              <a:t>x,y</a:t>
            </a:r>
            <a:r>
              <a:rPr lang="en-GB" altLang="zh-CN" sz="2000" dirty="0"/>
              <a:t>;</a:t>
            </a:r>
          </a:p>
          <a:p>
            <a:pPr defTabSz="527050" eaLnBrk="1" hangingPunct="1">
              <a:lnSpc>
                <a:spcPct val="80000"/>
              </a:lnSpc>
              <a:buFont typeface="Wingdings" panose="05000000000000000000" pitchFamily="2" charset="2"/>
              <a:buNone/>
              <a:defRPr/>
            </a:pPr>
            <a:r>
              <a:rPr lang="en-GB" altLang="zh-CN" sz="2000" dirty="0"/>
              <a:t>	public:</a:t>
            </a:r>
          </a:p>
          <a:p>
            <a:pPr defTabSz="527050" eaLnBrk="1" hangingPunct="1">
              <a:lnSpc>
                <a:spcPct val="80000"/>
              </a:lnSpc>
              <a:buFont typeface="Wingdings" panose="05000000000000000000" pitchFamily="2" charset="2"/>
              <a:buNone/>
              <a:defRPr/>
            </a:pPr>
            <a:r>
              <a:rPr lang="en-GB" altLang="zh-CN" sz="2000" dirty="0"/>
              <a:t>		void f();</a:t>
            </a:r>
          </a:p>
          <a:p>
            <a:pPr defTabSz="527050" eaLnBrk="1" hangingPunct="1">
              <a:lnSpc>
                <a:spcPct val="80000"/>
              </a:lnSpc>
              <a:buFont typeface="Wingdings" panose="05000000000000000000" pitchFamily="2" charset="2"/>
              <a:buNone/>
              <a:defRPr/>
            </a:pPr>
            <a:r>
              <a:rPr lang="en-GB" altLang="zh-CN" sz="2000" dirty="0"/>
              <a:t>};</a:t>
            </a:r>
          </a:p>
          <a:p>
            <a:pPr defTabSz="527050" eaLnBrk="1" hangingPunct="1">
              <a:lnSpc>
                <a:spcPct val="80000"/>
              </a:lnSpc>
              <a:buFont typeface="Wingdings" panose="05000000000000000000" pitchFamily="2" charset="2"/>
              <a:buNone/>
              <a:defRPr/>
            </a:pPr>
            <a:r>
              <a:rPr lang="en-GB" altLang="zh-CN" sz="2000" dirty="0"/>
              <a:t>class B: public A</a:t>
            </a:r>
          </a:p>
          <a:p>
            <a:pPr defTabSz="527050" eaLnBrk="1" hangingPunct="1">
              <a:lnSpc>
                <a:spcPct val="80000"/>
              </a:lnSpc>
              <a:buFont typeface="Wingdings" panose="05000000000000000000" pitchFamily="2" charset="2"/>
              <a:buNone/>
              <a:defRPr/>
            </a:pPr>
            <a:r>
              <a:rPr lang="en-GB" altLang="zh-CN" sz="2000" dirty="0"/>
              <a:t>{		......</a:t>
            </a:r>
          </a:p>
          <a:p>
            <a:pPr defTabSz="527050" eaLnBrk="1" hangingPunct="1">
              <a:lnSpc>
                <a:spcPct val="80000"/>
              </a:lnSpc>
              <a:buFont typeface="Wingdings" panose="05000000000000000000" pitchFamily="2" charset="2"/>
              <a:buNone/>
              <a:defRPr/>
            </a:pPr>
            <a:r>
              <a:rPr lang="en-GB" altLang="zh-CN" sz="2000" dirty="0"/>
              <a:t>		void h()</a:t>
            </a:r>
          </a:p>
          <a:p>
            <a:pPr defTabSz="527050" eaLnBrk="1" hangingPunct="1">
              <a:lnSpc>
                <a:spcPct val="80000"/>
              </a:lnSpc>
              <a:buFont typeface="Wingdings" panose="05000000000000000000" pitchFamily="2" charset="2"/>
              <a:buNone/>
              <a:defRPr/>
            </a:pPr>
            <a:r>
              <a:rPr lang="en-GB" altLang="zh-CN" sz="2000" dirty="0"/>
              <a:t>		{	f();  //OK</a:t>
            </a:r>
          </a:p>
          <a:p>
            <a:pPr defTabSz="527050" eaLnBrk="1" hangingPunct="1">
              <a:lnSpc>
                <a:spcPct val="80000"/>
              </a:lnSpc>
              <a:buFont typeface="Wingdings" panose="05000000000000000000" pitchFamily="2" charset="2"/>
              <a:buNone/>
              <a:defRPr/>
            </a:pPr>
            <a:r>
              <a:rPr lang="en-GB" altLang="zh-CN" sz="2000" dirty="0"/>
              <a:t>			... x ...  //</a:t>
            </a:r>
            <a:r>
              <a:rPr lang="en-GB" altLang="zh-CN" sz="2000" dirty="0">
                <a:solidFill>
                  <a:schemeClr val="folHlink"/>
                </a:solidFill>
              </a:rPr>
              <a:t>OK</a:t>
            </a:r>
          </a:p>
          <a:p>
            <a:pPr defTabSz="527050" eaLnBrk="1" hangingPunct="1">
              <a:lnSpc>
                <a:spcPct val="80000"/>
              </a:lnSpc>
              <a:buFont typeface="Wingdings" panose="05000000000000000000" pitchFamily="2" charset="2"/>
              <a:buNone/>
              <a:defRPr/>
            </a:pPr>
            <a:r>
              <a:rPr lang="en-GB" altLang="zh-CN" sz="2000" dirty="0"/>
              <a:t>			... y ...  //</a:t>
            </a:r>
            <a:r>
              <a:rPr lang="en-GB" altLang="zh-CN" sz="2000" dirty="0">
                <a:solidFill>
                  <a:schemeClr val="folHlink"/>
                </a:solidFill>
              </a:rPr>
              <a:t>OK</a:t>
            </a:r>
          </a:p>
          <a:p>
            <a:pPr defTabSz="527050" eaLnBrk="1" hangingPunct="1">
              <a:lnSpc>
                <a:spcPct val="80000"/>
              </a:lnSpc>
              <a:buFont typeface="Wingdings" panose="05000000000000000000" pitchFamily="2" charset="2"/>
              <a:buNone/>
              <a:defRPr/>
            </a:pPr>
            <a:r>
              <a:rPr lang="en-GB" altLang="zh-CN" sz="2000" dirty="0"/>
              <a:t>		}</a:t>
            </a:r>
          </a:p>
          <a:p>
            <a:pPr defTabSz="527050" eaLnBrk="1" hangingPunct="1">
              <a:lnSpc>
                <a:spcPct val="80000"/>
              </a:lnSpc>
              <a:buFont typeface="Wingdings" panose="05000000000000000000" pitchFamily="2" charset="2"/>
              <a:buNone/>
              <a:defRPr/>
            </a:pPr>
            <a:r>
              <a:rPr lang="en-GB" altLang="zh-CN" sz="2000" dirty="0"/>
              <a:t>};</a:t>
            </a:r>
          </a:p>
          <a:p>
            <a:pPr defTabSz="527050" eaLnBrk="1" hangingPunct="1">
              <a:lnSpc>
                <a:spcPct val="80000"/>
              </a:lnSpc>
              <a:buFont typeface="Wingdings" panose="05000000000000000000" pitchFamily="2" charset="2"/>
              <a:buNone/>
              <a:defRPr/>
            </a:pPr>
            <a:r>
              <a:rPr lang="en-GB" altLang="zh-CN" sz="2000" dirty="0"/>
              <a:t>void </a:t>
            </a:r>
            <a:r>
              <a:rPr lang="en-US" altLang="zh-CN" sz="2000" dirty="0"/>
              <a:t>main</a:t>
            </a:r>
            <a:r>
              <a:rPr lang="en-GB" altLang="zh-CN" sz="2000" dirty="0"/>
              <a:t>()</a:t>
            </a:r>
          </a:p>
          <a:p>
            <a:pPr defTabSz="527050" eaLnBrk="1" hangingPunct="1">
              <a:lnSpc>
                <a:spcPct val="80000"/>
              </a:lnSpc>
              <a:buFont typeface="Wingdings" panose="05000000000000000000" pitchFamily="2" charset="2"/>
              <a:buNone/>
              <a:defRPr/>
            </a:pPr>
            <a:r>
              <a:rPr lang="en-GB" altLang="zh-CN" sz="2000" dirty="0"/>
              <a:t>{	A </a:t>
            </a:r>
            <a:r>
              <a:rPr lang="en-GB" altLang="zh-CN" sz="2000" dirty="0" err="1"/>
              <a:t>a</a:t>
            </a:r>
            <a:r>
              <a:rPr lang="en-GB" altLang="zh-CN" sz="2000" dirty="0"/>
              <a:t>;</a:t>
            </a:r>
          </a:p>
          <a:p>
            <a:pPr defTabSz="527050" eaLnBrk="1" hangingPunct="1">
              <a:lnSpc>
                <a:spcPct val="80000"/>
              </a:lnSpc>
              <a:buFont typeface="Wingdings" panose="05000000000000000000" pitchFamily="2" charset="2"/>
              <a:buNone/>
              <a:defRPr/>
            </a:pPr>
            <a:r>
              <a:rPr lang="en-GB" altLang="zh-CN" sz="2000" dirty="0"/>
              <a:t>	</a:t>
            </a:r>
            <a:r>
              <a:rPr lang="en-GB" altLang="zh-CN" sz="2000" dirty="0" err="1"/>
              <a:t>a.f</a:t>
            </a:r>
            <a:r>
              <a:rPr lang="en-GB" altLang="zh-CN" sz="2000" dirty="0"/>
              <a:t>();  //OK</a:t>
            </a:r>
          </a:p>
          <a:p>
            <a:pPr defTabSz="527050" eaLnBrk="1" hangingPunct="1">
              <a:lnSpc>
                <a:spcPct val="80000"/>
              </a:lnSpc>
              <a:buFont typeface="Wingdings" panose="05000000000000000000" pitchFamily="2" charset="2"/>
              <a:buNone/>
              <a:defRPr/>
            </a:pPr>
            <a:r>
              <a:rPr lang="en-GB" altLang="zh-CN" sz="2000" dirty="0"/>
              <a:t>	... </a:t>
            </a:r>
            <a:r>
              <a:rPr lang="en-GB" altLang="zh-CN" sz="2000" dirty="0" err="1"/>
              <a:t>a.x</a:t>
            </a:r>
            <a:r>
              <a:rPr lang="en-GB" altLang="zh-CN" sz="2000" dirty="0"/>
              <a:t> ...  //</a:t>
            </a:r>
            <a:r>
              <a:rPr lang="en-GB" altLang="zh-CN" sz="2000" dirty="0">
                <a:solidFill>
                  <a:schemeClr val="folHlink"/>
                </a:solidFill>
              </a:rPr>
              <a:t>Error</a:t>
            </a:r>
          </a:p>
          <a:p>
            <a:pPr defTabSz="527050" eaLnBrk="1" hangingPunct="1">
              <a:lnSpc>
                <a:spcPct val="80000"/>
              </a:lnSpc>
              <a:buFont typeface="Wingdings" panose="05000000000000000000" pitchFamily="2" charset="2"/>
              <a:buNone/>
              <a:defRPr/>
            </a:pPr>
            <a:r>
              <a:rPr lang="en-GB" altLang="zh-CN" sz="2000" dirty="0"/>
              <a:t>	... </a:t>
            </a:r>
            <a:r>
              <a:rPr lang="en-GB" altLang="zh-CN" sz="2000" dirty="0" err="1"/>
              <a:t>a.y</a:t>
            </a:r>
            <a:r>
              <a:rPr lang="en-GB" altLang="zh-CN" sz="2000" dirty="0"/>
              <a:t> ...  //</a:t>
            </a:r>
            <a:r>
              <a:rPr lang="en-GB" altLang="zh-CN" sz="2000" dirty="0">
                <a:solidFill>
                  <a:schemeClr val="folHlink"/>
                </a:solidFill>
              </a:rPr>
              <a:t>Error</a:t>
            </a:r>
          </a:p>
          <a:p>
            <a:pPr defTabSz="527050" eaLnBrk="1" hangingPunct="1">
              <a:lnSpc>
                <a:spcPct val="80000"/>
              </a:lnSpc>
              <a:buFont typeface="Wingdings" panose="05000000000000000000" pitchFamily="2" charset="2"/>
              <a:buNone/>
              <a:defRPr/>
            </a:pPr>
            <a:r>
              <a:rPr lang="en-GB" altLang="zh-CN" sz="2000" dirty="0"/>
              <a:t>}</a:t>
            </a:r>
            <a:endParaRPr lang="en-US" altLang="zh-CN" sz="2000" dirty="0"/>
          </a:p>
        </p:txBody>
      </p:sp>
      <p:sp>
        <p:nvSpPr>
          <p:cNvPr id="4" name="TextBox 3">
            <a:extLst>
              <a:ext uri="{FF2B5EF4-FFF2-40B4-BE49-F238E27FC236}">
                <a16:creationId xmlns:a16="http://schemas.microsoft.com/office/drawing/2014/main" id="{D9BF9E2C-9084-4942-56B7-7E9939570AE3}"/>
              </a:ext>
            </a:extLst>
          </p:cNvPr>
          <p:cNvSpPr txBox="1"/>
          <p:nvPr/>
        </p:nvSpPr>
        <p:spPr>
          <a:xfrm>
            <a:off x="4500563" y="908050"/>
            <a:ext cx="4319587" cy="1938338"/>
          </a:xfrm>
          <a:prstGeom prst="rect">
            <a:avLst/>
          </a:prstGeom>
          <a:solidFill>
            <a:schemeClr val="bg1">
              <a:lumMod val="50000"/>
            </a:schemeClr>
          </a:solidFill>
        </p:spPr>
        <p:txBody>
          <a:bodyPr>
            <a:spAutoFit/>
          </a:bodyPr>
          <a:lstStyle>
            <a:lvl1pPr marL="342900" indent="-34290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Char char="•"/>
              <a:defRPr/>
            </a:pPr>
            <a:r>
              <a:rPr lang="zh-CN" altLang="zh-CN" sz="2400" dirty="0">
                <a:effectLst>
                  <a:outerShdw blurRad="38100" dist="38100" dir="2700000" algn="tl">
                    <a:srgbClr val="000000"/>
                  </a:outerShdw>
                </a:effectLst>
              </a:rPr>
              <a:t>一般情况下，应该把今后不太可能发生变动的、有可能被派生类使用的、不宜对</a:t>
            </a:r>
            <a:r>
              <a:rPr lang="zh-CN" altLang="en-US" sz="2400" dirty="0">
                <a:effectLst>
                  <a:outerShdw blurRad="38100" dist="38100" dir="2700000" algn="tl">
                    <a:srgbClr val="000000"/>
                  </a:outerShdw>
                </a:effectLst>
              </a:rPr>
              <a:t>实例</a:t>
            </a:r>
            <a:r>
              <a:rPr lang="zh-CN" altLang="zh-CN" sz="2400" dirty="0">
                <a:effectLst>
                  <a:outerShdw blurRad="38100" dist="38100" dir="2700000" algn="tl">
                    <a:srgbClr val="000000"/>
                  </a:outerShdw>
                </a:effectLst>
              </a:rPr>
              <a:t>用户公开的成员声明为</a:t>
            </a:r>
            <a:r>
              <a:rPr lang="en-GB" altLang="zh-CN" sz="2400" dirty="0">
                <a:effectLst>
                  <a:outerShdw blurRad="38100" dist="38100" dir="2700000" algn="tl">
                    <a:srgbClr val="000000"/>
                  </a:outerShdw>
                </a:effectLst>
              </a:rPr>
              <a:t>protected</a:t>
            </a:r>
            <a:r>
              <a:rPr lang="zh-CN" altLang="en-US" sz="2400" dirty="0">
                <a:effectLst>
                  <a:outerShdw blurRad="38100" dist="38100" dir="2700000" algn="tl">
                    <a:srgbClr val="00000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88B376BF-74DA-B987-A38C-5FA8A5E6BB9C}"/>
              </a:ext>
            </a:extLst>
          </p:cNvPr>
          <p:cNvSpPr>
            <a:spLocks noGrp="1" noChangeArrowheads="1"/>
          </p:cNvSpPr>
          <p:nvPr>
            <p:ph type="title"/>
          </p:nvPr>
        </p:nvSpPr>
        <p:spPr>
          <a:xfrm>
            <a:off x="250825" y="277813"/>
            <a:ext cx="8642350" cy="1139825"/>
          </a:xfrm>
        </p:spPr>
        <p:txBody>
          <a:bodyPr/>
          <a:lstStyle/>
          <a:p>
            <a:pPr eaLnBrk="1" hangingPunct="1">
              <a:defRPr/>
            </a:pPr>
            <a:r>
              <a:rPr lang="zh-CN" altLang="en-US" sz="4000"/>
              <a:t>基类成员在派生类中对外的访问控制 </a:t>
            </a:r>
          </a:p>
        </p:txBody>
      </p:sp>
      <p:sp>
        <p:nvSpPr>
          <p:cNvPr id="422915" name="Rectangle 3">
            <a:extLst>
              <a:ext uri="{FF2B5EF4-FFF2-40B4-BE49-F238E27FC236}">
                <a16:creationId xmlns:a16="http://schemas.microsoft.com/office/drawing/2014/main" id="{CE3B0FAC-314E-1B7C-E3A6-90636020A266}"/>
              </a:ext>
            </a:extLst>
          </p:cNvPr>
          <p:cNvSpPr>
            <a:spLocks noGrp="1" noChangeArrowheads="1"/>
          </p:cNvSpPr>
          <p:nvPr>
            <p:ph type="body" idx="1"/>
          </p:nvPr>
        </p:nvSpPr>
        <p:spPr>
          <a:xfrm>
            <a:off x="457200" y="1628775"/>
            <a:ext cx="8218488" cy="1584325"/>
          </a:xfrm>
        </p:spPr>
        <p:txBody>
          <a:bodyPr/>
          <a:lstStyle/>
          <a:p>
            <a:pPr eaLnBrk="1" hangingPunct="1">
              <a:defRPr/>
            </a:pPr>
            <a:r>
              <a:rPr lang="zh-CN" altLang="en-GB" sz="2800" dirty="0"/>
              <a:t>在</a:t>
            </a:r>
            <a:r>
              <a:rPr lang="en-GB" altLang="zh-CN" sz="2800" dirty="0"/>
              <a:t>C++</a:t>
            </a:r>
            <a:r>
              <a:rPr lang="zh-CN" altLang="en-GB" sz="2800" dirty="0"/>
              <a:t>中，派生类拥有基类的所有成员。问题是：</a:t>
            </a:r>
            <a:endParaRPr lang="en-US" altLang="zh-CN" sz="2800" dirty="0"/>
          </a:p>
          <a:p>
            <a:pPr lvl="1" eaLnBrk="1" hangingPunct="1">
              <a:defRPr/>
            </a:pPr>
            <a:r>
              <a:rPr lang="zh-CN" altLang="en-US" sz="2400" dirty="0"/>
              <a:t>基类的成员在派生类中对外的访问控制是什么</a:t>
            </a:r>
            <a:r>
              <a:rPr lang="zh-CN" altLang="en-GB" sz="2400" dirty="0"/>
              <a:t>？</a:t>
            </a:r>
            <a:r>
              <a:rPr lang="zh-CN" altLang="en-US" sz="2400" dirty="0"/>
              <a:t>即派生类的用户能访问基类的哪些成员？</a:t>
            </a:r>
            <a:endParaRPr lang="zh-CN" altLang="en-GB" sz="2400" dirty="0"/>
          </a:p>
        </p:txBody>
      </p:sp>
      <p:sp>
        <p:nvSpPr>
          <p:cNvPr id="4" name="Rectangle 3">
            <a:extLst>
              <a:ext uri="{FF2B5EF4-FFF2-40B4-BE49-F238E27FC236}">
                <a16:creationId xmlns:a16="http://schemas.microsoft.com/office/drawing/2014/main" id="{55A54F84-9696-EF8F-A116-C8DEBEB4A218}"/>
              </a:ext>
            </a:extLst>
          </p:cNvPr>
          <p:cNvSpPr txBox="1">
            <a:spLocks noChangeArrowheads="1"/>
          </p:cNvSpPr>
          <p:nvPr/>
        </p:nvSpPr>
        <p:spPr bwMode="auto">
          <a:xfrm>
            <a:off x="360363" y="3284538"/>
            <a:ext cx="2482850" cy="3529012"/>
          </a:xfrm>
          <a:prstGeom prst="rect">
            <a:avLst/>
          </a:prstGeom>
          <a:solidFill>
            <a:schemeClr val="bg1">
              <a:lumMod val="75000"/>
            </a:schemeClr>
          </a:solidFill>
          <a:ln w="9525">
            <a:noFill/>
            <a:miter lim="800000"/>
            <a:headEnd/>
            <a:tailEnd/>
          </a:ln>
          <a:effectLst/>
        </p:spPr>
        <p:txBody>
          <a:bodyPr>
            <a:norm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eaLnBrk="1" hangingPunct="1">
              <a:lnSpc>
                <a:spcPct val="80000"/>
              </a:lnSpc>
              <a:buFont typeface="Wingdings" panose="05000000000000000000" pitchFamily="2" charset="2"/>
              <a:buNone/>
              <a:defRPr/>
            </a:pPr>
            <a:r>
              <a:rPr lang="en-GB" altLang="zh-CN" sz="2000" kern="0" dirty="0"/>
              <a:t>class A</a:t>
            </a:r>
          </a:p>
          <a:p>
            <a:pPr eaLnBrk="1" hangingPunct="1">
              <a:lnSpc>
                <a:spcPct val="80000"/>
              </a:lnSpc>
              <a:buFont typeface="Wingdings" panose="05000000000000000000" pitchFamily="2" charset="2"/>
              <a:buNone/>
              <a:defRPr/>
            </a:pPr>
            <a:r>
              <a:rPr lang="en-GB" altLang="zh-CN" sz="2000" kern="0" dirty="0"/>
              <a:t>{	public:</a:t>
            </a:r>
          </a:p>
          <a:p>
            <a:pPr eaLnBrk="1" hangingPunct="1">
              <a:lnSpc>
                <a:spcPct val="80000"/>
              </a:lnSpc>
              <a:buFont typeface="Wingdings" panose="05000000000000000000" pitchFamily="2" charset="2"/>
              <a:buNone/>
              <a:defRPr/>
            </a:pPr>
            <a:r>
              <a:rPr lang="en-GB" altLang="zh-CN" sz="2000" kern="0" dirty="0"/>
              <a:t>		void f();</a:t>
            </a:r>
          </a:p>
          <a:p>
            <a:pPr eaLnBrk="1" hangingPunct="1">
              <a:lnSpc>
                <a:spcPct val="80000"/>
              </a:lnSpc>
              <a:buFont typeface="Wingdings" panose="05000000000000000000" pitchFamily="2" charset="2"/>
              <a:buNone/>
              <a:defRPr/>
            </a:pPr>
            <a:r>
              <a:rPr lang="en-GB" altLang="zh-CN" sz="2000" kern="0" dirty="0"/>
              <a:t>	protected:</a:t>
            </a:r>
          </a:p>
          <a:p>
            <a:pPr eaLnBrk="1" hangingPunct="1">
              <a:lnSpc>
                <a:spcPct val="80000"/>
              </a:lnSpc>
              <a:buFont typeface="Wingdings" panose="05000000000000000000" pitchFamily="2" charset="2"/>
              <a:buNone/>
              <a:defRPr/>
            </a:pPr>
            <a:r>
              <a:rPr lang="en-GB" altLang="zh-CN" sz="2000" kern="0" dirty="0"/>
              <a:t>		void g();</a:t>
            </a:r>
          </a:p>
          <a:p>
            <a:pPr eaLnBrk="1" hangingPunct="1">
              <a:lnSpc>
                <a:spcPct val="80000"/>
              </a:lnSpc>
              <a:buFont typeface="Wingdings" panose="05000000000000000000" pitchFamily="2" charset="2"/>
              <a:buNone/>
              <a:defRPr/>
            </a:pPr>
            <a:r>
              <a:rPr lang="en-GB" altLang="zh-CN" sz="2000" kern="0" dirty="0"/>
              <a:t>	private:</a:t>
            </a:r>
          </a:p>
          <a:p>
            <a:pPr eaLnBrk="1" hangingPunct="1">
              <a:lnSpc>
                <a:spcPct val="80000"/>
              </a:lnSpc>
              <a:buFont typeface="Wingdings" panose="05000000000000000000" pitchFamily="2" charset="2"/>
              <a:buNone/>
              <a:defRPr/>
            </a:pPr>
            <a:r>
              <a:rPr lang="en-GB" altLang="zh-CN" sz="2000" kern="0" dirty="0"/>
              <a:t>		void h();</a:t>
            </a:r>
          </a:p>
          <a:p>
            <a:pPr eaLnBrk="1" hangingPunct="1">
              <a:lnSpc>
                <a:spcPct val="80000"/>
              </a:lnSpc>
              <a:buFont typeface="Wingdings" panose="05000000000000000000" pitchFamily="2" charset="2"/>
              <a:buNone/>
              <a:defRPr/>
            </a:pPr>
            <a:r>
              <a:rPr lang="en-GB" altLang="zh-CN" sz="2000" kern="0" dirty="0"/>
              <a:t>};</a:t>
            </a:r>
          </a:p>
          <a:p>
            <a:pPr eaLnBrk="1" hangingPunct="1">
              <a:lnSpc>
                <a:spcPct val="80000"/>
              </a:lnSpc>
              <a:buFont typeface="Wingdings" panose="05000000000000000000" pitchFamily="2" charset="2"/>
              <a:buNone/>
              <a:defRPr/>
            </a:pPr>
            <a:r>
              <a:rPr lang="en-GB" altLang="zh-CN" sz="2000" kern="0" dirty="0"/>
              <a:t>class </a:t>
            </a:r>
            <a:r>
              <a:rPr lang="en-GB" altLang="zh-CN" sz="2000" kern="0" dirty="0">
                <a:solidFill>
                  <a:srgbClr val="99FF66"/>
                </a:solidFill>
              </a:rPr>
              <a:t>B</a:t>
            </a:r>
            <a:r>
              <a:rPr lang="en-GB" altLang="zh-CN" sz="2000" kern="0" dirty="0"/>
              <a:t>: </a:t>
            </a:r>
            <a:r>
              <a:rPr lang="en-US" altLang="zh-CN" sz="2000" kern="0" dirty="0">
                <a:solidFill>
                  <a:srgbClr val="99FF66"/>
                </a:solidFill>
              </a:rPr>
              <a:t>... </a:t>
            </a:r>
            <a:r>
              <a:rPr lang="en-GB" altLang="zh-CN" sz="2000" kern="0" dirty="0"/>
              <a:t>A</a:t>
            </a:r>
          </a:p>
          <a:p>
            <a:pPr eaLnBrk="1" hangingPunct="1">
              <a:lnSpc>
                <a:spcPct val="90000"/>
              </a:lnSpc>
              <a:buFont typeface="Wingdings" panose="05000000000000000000" pitchFamily="2" charset="2"/>
              <a:buNone/>
              <a:defRPr/>
            </a:pPr>
            <a:r>
              <a:rPr lang="en-GB" altLang="zh-CN" sz="2000" kern="0" dirty="0"/>
              <a:t>{      </a:t>
            </a:r>
            <a:r>
              <a:rPr lang="en-US" altLang="zh-CN" sz="2000" kern="0" dirty="0"/>
              <a:t>......</a:t>
            </a:r>
            <a:endParaRPr lang="zh-CN" altLang="en-GB" sz="2000" kern="0" dirty="0"/>
          </a:p>
          <a:p>
            <a:pPr eaLnBrk="1" hangingPunct="1">
              <a:lnSpc>
                <a:spcPct val="80000"/>
              </a:lnSpc>
              <a:buFont typeface="Wingdings" panose="05000000000000000000" pitchFamily="2" charset="2"/>
              <a:buNone/>
              <a:defRPr/>
            </a:pPr>
            <a:r>
              <a:rPr lang="en-GB" altLang="zh-CN" sz="2000" kern="0" dirty="0"/>
              <a:t>};</a:t>
            </a:r>
            <a:endParaRPr lang="en-US" altLang="zh-CN" sz="2000" kern="0" dirty="0"/>
          </a:p>
        </p:txBody>
      </p:sp>
      <p:sp>
        <p:nvSpPr>
          <p:cNvPr id="5" name="Rectangle 3">
            <a:extLst>
              <a:ext uri="{FF2B5EF4-FFF2-40B4-BE49-F238E27FC236}">
                <a16:creationId xmlns:a16="http://schemas.microsoft.com/office/drawing/2014/main" id="{6B8AE838-8588-CF40-0651-AE1804A39DC0}"/>
              </a:ext>
            </a:extLst>
          </p:cNvPr>
          <p:cNvSpPr txBox="1">
            <a:spLocks noChangeArrowheads="1"/>
          </p:cNvSpPr>
          <p:nvPr/>
        </p:nvSpPr>
        <p:spPr bwMode="auto">
          <a:xfrm>
            <a:off x="6300788" y="3429000"/>
            <a:ext cx="2519362" cy="2879725"/>
          </a:xfrm>
          <a:prstGeom prst="rect">
            <a:avLst/>
          </a:prstGeom>
          <a:solidFill>
            <a:schemeClr val="bg1">
              <a:lumMod val="75000"/>
            </a:schemeClr>
          </a:solid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defTabSz="527050" eaLnBrk="1" hangingPunct="1">
              <a:lnSpc>
                <a:spcPct val="90000"/>
              </a:lnSpc>
              <a:buFont typeface="Wingdings" pitchFamily="2" charset="2"/>
              <a:buNone/>
              <a:defRPr/>
            </a:pPr>
            <a:r>
              <a:rPr lang="en-GB" altLang="zh-CN" sz="2000" dirty="0"/>
              <a:t>class </a:t>
            </a:r>
            <a:r>
              <a:rPr lang="en-GB" altLang="zh-CN" sz="2000" dirty="0">
                <a:solidFill>
                  <a:srgbClr val="FFC000"/>
                </a:solidFill>
              </a:rPr>
              <a:t>C</a:t>
            </a:r>
            <a:r>
              <a:rPr lang="en-GB" altLang="zh-CN" sz="2000" dirty="0"/>
              <a:t>: public </a:t>
            </a:r>
            <a:r>
              <a:rPr lang="en-GB" altLang="zh-CN" sz="2000" dirty="0">
                <a:solidFill>
                  <a:srgbClr val="99FF66"/>
                </a:solidFill>
              </a:rPr>
              <a:t>B</a:t>
            </a:r>
          </a:p>
          <a:p>
            <a:pPr defTabSz="527050" eaLnBrk="1" hangingPunct="1">
              <a:lnSpc>
                <a:spcPct val="90000"/>
              </a:lnSpc>
              <a:buFont typeface="Wingdings" pitchFamily="2" charset="2"/>
              <a:buNone/>
              <a:defRPr/>
            </a:pPr>
            <a:r>
              <a:rPr lang="en-GB" altLang="zh-CN" sz="2000" dirty="0"/>
              <a:t>{	public:</a:t>
            </a:r>
          </a:p>
          <a:p>
            <a:pPr defTabSz="527050" eaLnBrk="1" hangingPunct="1">
              <a:lnSpc>
                <a:spcPct val="90000"/>
              </a:lnSpc>
              <a:buFont typeface="Wingdings" pitchFamily="2" charset="2"/>
              <a:buNone/>
              <a:defRPr/>
            </a:pPr>
            <a:r>
              <a:rPr lang="en-GB" altLang="zh-CN" sz="2000" dirty="0"/>
              <a:t>		void r()</a:t>
            </a:r>
          </a:p>
          <a:p>
            <a:pPr defTabSz="527050" eaLnBrk="1" hangingPunct="1">
              <a:lnSpc>
                <a:spcPct val="90000"/>
              </a:lnSpc>
              <a:buFont typeface="Wingdings" pitchFamily="2" charset="2"/>
              <a:buNone/>
              <a:defRPr/>
            </a:pPr>
            <a:r>
              <a:rPr lang="en-GB" altLang="zh-CN" sz="2000" dirty="0"/>
              <a:t>		{	f();  //</a:t>
            </a:r>
            <a:r>
              <a:rPr lang="en-US" altLang="zh-CN" sz="2000" dirty="0">
                <a:solidFill>
                  <a:srgbClr val="FFC000"/>
                </a:solidFill>
              </a:rPr>
              <a:t>?</a:t>
            </a:r>
            <a:endParaRPr lang="en-GB" altLang="zh-CN" sz="2000" dirty="0">
              <a:solidFill>
                <a:srgbClr val="FFC000"/>
              </a:solidFill>
            </a:endParaRPr>
          </a:p>
          <a:p>
            <a:pPr defTabSz="527050" eaLnBrk="1" hangingPunct="1">
              <a:lnSpc>
                <a:spcPct val="90000"/>
              </a:lnSpc>
              <a:buFont typeface="Wingdings" pitchFamily="2" charset="2"/>
              <a:buNone/>
              <a:defRPr/>
            </a:pPr>
            <a:r>
              <a:rPr lang="en-GB" altLang="zh-CN" sz="2000" dirty="0"/>
              <a:t>			g(); //</a:t>
            </a:r>
            <a:r>
              <a:rPr lang="en-US" altLang="zh-CN" sz="2000" dirty="0">
                <a:solidFill>
                  <a:srgbClr val="FFC000"/>
                </a:solidFill>
              </a:rPr>
              <a:t>?</a:t>
            </a:r>
            <a:endParaRPr lang="en-GB" altLang="zh-CN" sz="2000" dirty="0">
              <a:solidFill>
                <a:srgbClr val="FFC000"/>
              </a:solidFill>
            </a:endParaRPr>
          </a:p>
          <a:p>
            <a:pPr defTabSz="527050" eaLnBrk="1" hangingPunct="1">
              <a:lnSpc>
                <a:spcPct val="90000"/>
              </a:lnSpc>
              <a:buFont typeface="Wingdings" pitchFamily="2" charset="2"/>
              <a:buNone/>
              <a:defRPr/>
            </a:pPr>
            <a:r>
              <a:rPr lang="en-GB" altLang="zh-CN" sz="2000" dirty="0"/>
              <a:t>			h(); //</a:t>
            </a:r>
            <a:r>
              <a:rPr lang="en-GB" altLang="zh-CN" sz="2000" dirty="0">
                <a:solidFill>
                  <a:srgbClr val="FFC000"/>
                </a:solidFill>
              </a:rPr>
              <a:t>?</a:t>
            </a:r>
          </a:p>
          <a:p>
            <a:pPr defTabSz="527050" eaLnBrk="1" hangingPunct="1">
              <a:lnSpc>
                <a:spcPct val="90000"/>
              </a:lnSpc>
              <a:buFont typeface="Wingdings" pitchFamily="2" charset="2"/>
              <a:buNone/>
              <a:defRPr/>
            </a:pPr>
            <a:r>
              <a:rPr lang="en-GB" altLang="zh-CN" sz="2000" dirty="0"/>
              <a:t>     }</a:t>
            </a:r>
          </a:p>
          <a:p>
            <a:pPr defTabSz="527050" eaLnBrk="1" hangingPunct="1">
              <a:lnSpc>
                <a:spcPct val="90000"/>
              </a:lnSpc>
              <a:buFont typeface="Wingdings" pitchFamily="2" charset="2"/>
              <a:buNone/>
              <a:defRPr/>
            </a:pPr>
            <a:r>
              <a:rPr lang="en-GB" altLang="zh-CN" sz="2000" dirty="0"/>
              <a:t>};</a:t>
            </a:r>
          </a:p>
        </p:txBody>
      </p:sp>
      <p:sp>
        <p:nvSpPr>
          <p:cNvPr id="6" name="Rectangle 3">
            <a:extLst>
              <a:ext uri="{FF2B5EF4-FFF2-40B4-BE49-F238E27FC236}">
                <a16:creationId xmlns:a16="http://schemas.microsoft.com/office/drawing/2014/main" id="{95AA4AD8-A9D7-40DE-DF4B-66A1A7157704}"/>
              </a:ext>
            </a:extLst>
          </p:cNvPr>
          <p:cNvSpPr txBox="1">
            <a:spLocks noChangeArrowheads="1"/>
          </p:cNvSpPr>
          <p:nvPr/>
        </p:nvSpPr>
        <p:spPr bwMode="auto">
          <a:xfrm>
            <a:off x="3500438" y="3829050"/>
            <a:ext cx="2295525" cy="2079625"/>
          </a:xfrm>
          <a:prstGeom prst="rect">
            <a:avLst/>
          </a:prstGeom>
          <a:solidFill>
            <a:schemeClr val="bg1">
              <a:lumMod val="75000"/>
            </a:schemeClr>
          </a:solid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defTabSz="527050" eaLnBrk="1" hangingPunct="1">
              <a:lnSpc>
                <a:spcPct val="90000"/>
              </a:lnSpc>
              <a:buFont typeface="Wingdings" pitchFamily="2" charset="2"/>
              <a:buNone/>
              <a:defRPr/>
            </a:pPr>
            <a:r>
              <a:rPr lang="en-GB" altLang="zh-CN" sz="2000" dirty="0"/>
              <a:t>void </a:t>
            </a:r>
            <a:r>
              <a:rPr lang="en-GB" altLang="zh-CN" sz="2000" dirty="0" err="1">
                <a:solidFill>
                  <a:srgbClr val="FFC000"/>
                </a:solidFill>
              </a:rPr>
              <a:t>func</a:t>
            </a:r>
            <a:r>
              <a:rPr lang="en-GB" altLang="zh-CN" sz="2000" dirty="0"/>
              <a:t>()</a:t>
            </a:r>
          </a:p>
          <a:p>
            <a:pPr defTabSz="527050" eaLnBrk="1" hangingPunct="1">
              <a:lnSpc>
                <a:spcPct val="90000"/>
              </a:lnSpc>
              <a:buFont typeface="Wingdings" pitchFamily="2" charset="2"/>
              <a:buNone/>
              <a:defRPr/>
            </a:pPr>
            <a:r>
              <a:rPr lang="en-GB" altLang="zh-CN" sz="2000" dirty="0"/>
              <a:t>{ </a:t>
            </a:r>
            <a:r>
              <a:rPr lang="en-GB" altLang="zh-CN" sz="2000" dirty="0">
                <a:solidFill>
                  <a:srgbClr val="99FF66"/>
                </a:solidFill>
              </a:rPr>
              <a:t>B</a:t>
            </a:r>
            <a:r>
              <a:rPr lang="en-GB" altLang="zh-CN" sz="2000" dirty="0"/>
              <a:t> b;</a:t>
            </a:r>
          </a:p>
          <a:p>
            <a:pPr defTabSz="527050" eaLnBrk="1" hangingPunct="1">
              <a:lnSpc>
                <a:spcPct val="90000"/>
              </a:lnSpc>
              <a:buFont typeface="Wingdings" pitchFamily="2" charset="2"/>
              <a:buNone/>
              <a:defRPr/>
            </a:pPr>
            <a:r>
              <a:rPr lang="en-GB" altLang="zh-CN" sz="2000" dirty="0"/>
              <a:t>   </a:t>
            </a:r>
            <a:r>
              <a:rPr lang="en-GB" altLang="zh-CN" sz="2000" dirty="0" err="1"/>
              <a:t>b.f</a:t>
            </a:r>
            <a:r>
              <a:rPr lang="en-GB" altLang="zh-CN" sz="2000" dirty="0"/>
              <a:t>();  //</a:t>
            </a:r>
            <a:r>
              <a:rPr lang="en-GB" altLang="zh-CN" sz="2000" dirty="0">
                <a:solidFill>
                  <a:srgbClr val="FFC000"/>
                </a:solidFill>
              </a:rPr>
              <a:t>?</a:t>
            </a:r>
            <a:endParaRPr lang="zh-CN" altLang="en-GB" sz="2000" dirty="0"/>
          </a:p>
          <a:p>
            <a:pPr defTabSz="527050" eaLnBrk="1" hangingPunct="1">
              <a:lnSpc>
                <a:spcPct val="90000"/>
              </a:lnSpc>
              <a:buFont typeface="Wingdings" pitchFamily="2" charset="2"/>
              <a:buNone/>
              <a:defRPr/>
            </a:pPr>
            <a:r>
              <a:rPr lang="en-GB" altLang="zh-CN" sz="2000" dirty="0"/>
              <a:t>   </a:t>
            </a:r>
            <a:r>
              <a:rPr lang="en-GB" altLang="zh-CN" sz="2000" dirty="0" err="1"/>
              <a:t>b.g</a:t>
            </a:r>
            <a:r>
              <a:rPr lang="en-GB" altLang="zh-CN" sz="2000" dirty="0"/>
              <a:t>(); //</a:t>
            </a:r>
            <a:r>
              <a:rPr lang="en-GB" altLang="zh-CN" sz="2000" dirty="0">
                <a:solidFill>
                  <a:srgbClr val="FFC000"/>
                </a:solidFill>
              </a:rPr>
              <a:t>?</a:t>
            </a:r>
            <a:endParaRPr lang="zh-CN" altLang="en-GB" sz="2000" dirty="0">
              <a:solidFill>
                <a:srgbClr val="FFC000"/>
              </a:solidFill>
            </a:endParaRPr>
          </a:p>
          <a:p>
            <a:pPr defTabSz="527050" eaLnBrk="1" hangingPunct="1">
              <a:lnSpc>
                <a:spcPct val="90000"/>
              </a:lnSpc>
              <a:buFont typeface="Wingdings" pitchFamily="2" charset="2"/>
              <a:buNone/>
              <a:defRPr/>
            </a:pPr>
            <a:r>
              <a:rPr lang="en-GB" altLang="zh-CN" sz="2000" dirty="0"/>
              <a:t>   </a:t>
            </a:r>
            <a:r>
              <a:rPr lang="en-GB" altLang="zh-CN" sz="2000" dirty="0" err="1"/>
              <a:t>b.h</a:t>
            </a:r>
            <a:r>
              <a:rPr lang="en-GB" altLang="zh-CN" sz="2000" dirty="0"/>
              <a:t>(); //</a:t>
            </a:r>
            <a:r>
              <a:rPr lang="en-GB" altLang="zh-CN" sz="2000" dirty="0">
                <a:solidFill>
                  <a:srgbClr val="FFC000"/>
                </a:solidFill>
              </a:rPr>
              <a:t>?</a:t>
            </a:r>
          </a:p>
          <a:p>
            <a:pPr defTabSz="527050" eaLnBrk="1" hangingPunct="1">
              <a:lnSpc>
                <a:spcPct val="90000"/>
              </a:lnSpc>
              <a:buFont typeface="Wingdings" pitchFamily="2" charset="2"/>
              <a:buNone/>
              <a:defRPr/>
            </a:pPr>
            <a:r>
              <a:rPr lang="en-GB" altLang="zh-CN" sz="2000" dirty="0"/>
              <a:t>}</a:t>
            </a: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DCE719-85E1-47A9-963C-7DD2C15077E3}"/>
              </a:ext>
            </a:extLst>
          </p:cNvPr>
          <p:cNvSpPr>
            <a:spLocks noGrp="1"/>
          </p:cNvSpPr>
          <p:nvPr>
            <p:ph type="title"/>
          </p:nvPr>
        </p:nvSpPr>
        <p:spPr/>
        <p:txBody>
          <a:bodyPr/>
          <a:lstStyle/>
          <a:p>
            <a:pPr>
              <a:defRPr/>
            </a:pPr>
            <a:r>
              <a:rPr lang="zh-CN" altLang="en-GB"/>
              <a:t>继承方式</a:t>
            </a:r>
            <a:endParaRPr lang="zh-CN" altLang="en-US"/>
          </a:p>
        </p:txBody>
      </p:sp>
      <p:sp>
        <p:nvSpPr>
          <p:cNvPr id="3" name="内容占位符 2">
            <a:extLst>
              <a:ext uri="{FF2B5EF4-FFF2-40B4-BE49-F238E27FC236}">
                <a16:creationId xmlns:a16="http://schemas.microsoft.com/office/drawing/2014/main" id="{4EBEC96B-A138-46E2-FC23-6114D5B77ECB}"/>
              </a:ext>
            </a:extLst>
          </p:cNvPr>
          <p:cNvSpPr>
            <a:spLocks noGrp="1"/>
          </p:cNvSpPr>
          <p:nvPr>
            <p:ph idx="1"/>
          </p:nvPr>
        </p:nvSpPr>
        <p:spPr/>
        <p:txBody>
          <a:bodyPr/>
          <a:lstStyle/>
          <a:p>
            <a:pPr eaLnBrk="1" hangingPunct="1">
              <a:lnSpc>
                <a:spcPct val="120000"/>
              </a:lnSpc>
              <a:defRPr/>
            </a:pPr>
            <a:r>
              <a:rPr lang="zh-CN" altLang="en-GB" sz="2800"/>
              <a:t>上面的问题由</a:t>
            </a:r>
            <a:r>
              <a:rPr lang="zh-CN" altLang="en-US" sz="2800">
                <a:solidFill>
                  <a:srgbClr val="FFC000"/>
                </a:solidFill>
              </a:rPr>
              <a:t>基类的访问控制</a:t>
            </a:r>
            <a:r>
              <a:rPr lang="zh-CN" altLang="en-US" sz="2800"/>
              <a:t>与</a:t>
            </a:r>
            <a:r>
              <a:rPr lang="zh-CN" altLang="en-GB" sz="2800">
                <a:solidFill>
                  <a:schemeClr val="folHlink"/>
                </a:solidFill>
              </a:rPr>
              <a:t>继承方式</a:t>
            </a:r>
            <a:r>
              <a:rPr lang="zh-CN" altLang="en-US" sz="2800"/>
              <a:t>共同</a:t>
            </a:r>
            <a:r>
              <a:rPr lang="zh-CN" altLang="en-GB" sz="2800"/>
              <a:t>决定。继承方式在定义派生类时指定：</a:t>
            </a:r>
          </a:p>
          <a:p>
            <a:pPr lvl="1" eaLnBrk="1" hangingPunct="1">
              <a:buFontTx/>
              <a:buNone/>
              <a:defRPr/>
            </a:pPr>
            <a:r>
              <a:rPr lang="en-GB" altLang="zh-CN" sz="2400"/>
              <a:t>class &lt;</a:t>
            </a:r>
            <a:r>
              <a:rPr lang="zh-CN" altLang="en-GB" sz="2400"/>
              <a:t>派生类名</a:t>
            </a:r>
            <a:r>
              <a:rPr lang="en-GB" altLang="zh-CN" sz="2400"/>
              <a:t>&gt;</a:t>
            </a:r>
            <a:r>
              <a:rPr lang="zh-CN" altLang="en-GB" sz="2400"/>
              <a:t>：</a:t>
            </a:r>
            <a:r>
              <a:rPr lang="en-GB" altLang="zh-CN" sz="2400">
                <a:solidFill>
                  <a:schemeClr val="folHlink"/>
                </a:solidFill>
              </a:rPr>
              <a:t>[&lt;</a:t>
            </a:r>
            <a:r>
              <a:rPr lang="zh-CN" altLang="en-GB" sz="2400">
                <a:solidFill>
                  <a:schemeClr val="folHlink"/>
                </a:solidFill>
              </a:rPr>
              <a:t>继承方式</a:t>
            </a:r>
            <a:r>
              <a:rPr lang="en-GB" altLang="zh-CN" sz="2400">
                <a:solidFill>
                  <a:schemeClr val="folHlink"/>
                </a:solidFill>
              </a:rPr>
              <a:t>&gt;]</a:t>
            </a:r>
            <a:r>
              <a:rPr lang="en-GB" altLang="zh-CN" sz="2400"/>
              <a:t> &lt;</a:t>
            </a:r>
            <a:r>
              <a:rPr lang="zh-CN" altLang="en-GB" sz="2400"/>
              <a:t>基类名</a:t>
            </a:r>
            <a:r>
              <a:rPr lang="en-GB" altLang="zh-CN" sz="2400"/>
              <a:t>&gt;</a:t>
            </a:r>
          </a:p>
          <a:p>
            <a:pPr lvl="1" eaLnBrk="1" hangingPunct="1">
              <a:buFontTx/>
              <a:buNone/>
              <a:defRPr/>
            </a:pPr>
            <a:r>
              <a:rPr lang="en-GB" altLang="zh-CN" sz="2400"/>
              <a:t>{	&lt;</a:t>
            </a:r>
            <a:r>
              <a:rPr lang="zh-CN" altLang="en-GB" sz="2400"/>
              <a:t>成员说明表</a:t>
            </a:r>
            <a:r>
              <a:rPr lang="en-GB" altLang="zh-CN" sz="2400"/>
              <a:t>&gt;</a:t>
            </a:r>
          </a:p>
          <a:p>
            <a:pPr lvl="1" eaLnBrk="1" hangingPunct="1">
              <a:buFontTx/>
              <a:buNone/>
              <a:defRPr/>
            </a:pPr>
            <a:r>
              <a:rPr lang="en-GB" altLang="zh-CN" sz="2400"/>
              <a:t>};</a:t>
            </a:r>
          </a:p>
          <a:p>
            <a:pPr lvl="1" algn="just" eaLnBrk="1" hangingPunct="1">
              <a:defRPr/>
            </a:pPr>
            <a:r>
              <a:rPr lang="zh-CN" altLang="en-US" sz="2400"/>
              <a:t>继承方式可以是：</a:t>
            </a:r>
            <a:r>
              <a:rPr lang="en-US" altLang="zh-CN" sz="2400"/>
              <a:t>public</a:t>
            </a:r>
            <a:r>
              <a:rPr lang="zh-CN" altLang="en-US" sz="2400"/>
              <a:t>、</a:t>
            </a:r>
            <a:r>
              <a:rPr lang="en-US" altLang="zh-CN" sz="2400"/>
              <a:t>private</a:t>
            </a:r>
            <a:r>
              <a:rPr lang="zh-CN" altLang="en-US" sz="2400"/>
              <a:t>和</a:t>
            </a:r>
            <a:r>
              <a:rPr lang="en-US" altLang="zh-CN" sz="2400"/>
              <a:t>protected</a:t>
            </a:r>
            <a:r>
              <a:rPr lang="zh-CN" altLang="en-US" sz="2400"/>
              <a:t>。</a:t>
            </a:r>
          </a:p>
          <a:p>
            <a:pPr lvl="1" algn="just" eaLnBrk="1" hangingPunct="1">
              <a:defRPr/>
            </a:pPr>
            <a:r>
              <a:rPr lang="zh-CN" altLang="en-US" sz="2400"/>
              <a:t>默认的继承方式为：</a:t>
            </a:r>
            <a:r>
              <a:rPr lang="en-US" altLang="zh-CN" sz="2400"/>
              <a:t>private</a:t>
            </a:r>
            <a:r>
              <a:rPr lang="zh-CN" altLang="en-US" sz="2400"/>
              <a:t>。</a:t>
            </a:r>
          </a:p>
          <a:p>
            <a:pPr>
              <a:defRPr/>
            </a:pP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68" name="Rectangle 32">
            <a:extLst>
              <a:ext uri="{FF2B5EF4-FFF2-40B4-BE49-F238E27FC236}">
                <a16:creationId xmlns:a16="http://schemas.microsoft.com/office/drawing/2014/main" id="{AD2D3619-2285-05E4-7553-1912E54806F8}"/>
              </a:ext>
            </a:extLst>
          </p:cNvPr>
          <p:cNvSpPr>
            <a:spLocks noGrp="1" noChangeArrowheads="1"/>
          </p:cNvSpPr>
          <p:nvPr>
            <p:ph type="title"/>
          </p:nvPr>
        </p:nvSpPr>
        <p:spPr/>
        <p:txBody>
          <a:bodyPr/>
          <a:lstStyle/>
          <a:p>
            <a:pPr eaLnBrk="1" hangingPunct="1">
              <a:defRPr/>
            </a:pPr>
            <a:r>
              <a:rPr lang="zh-CN" altLang="en-US"/>
              <a:t>继承方式的含义</a:t>
            </a:r>
          </a:p>
        </p:txBody>
      </p:sp>
      <p:graphicFrame>
        <p:nvGraphicFramePr>
          <p:cNvPr id="423937" name="Group 1">
            <a:extLst>
              <a:ext uri="{FF2B5EF4-FFF2-40B4-BE49-F238E27FC236}">
                <a16:creationId xmlns:a16="http://schemas.microsoft.com/office/drawing/2014/main" id="{90FEB1B4-65DA-C24A-57E9-7FAF5A6E9CFA}"/>
              </a:ext>
            </a:extLst>
          </p:cNvPr>
          <p:cNvGraphicFramePr>
            <a:graphicFrameLocks noGrp="1"/>
          </p:cNvGraphicFramePr>
          <p:nvPr>
            <p:ph idx="1"/>
          </p:nvPr>
        </p:nvGraphicFramePr>
        <p:xfrm>
          <a:off x="457200" y="1851025"/>
          <a:ext cx="8229600" cy="4530725"/>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133475">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000" b="0" i="0" u="none" strike="noStrike" cap="none" normalizeH="0" baseline="0" dirty="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         </a:t>
                      </a:r>
                      <a:endParaRPr kumimoji="0" lang="zh-CN" altLang="en-US" sz="1800" b="0" i="0" u="none" strike="noStrike" cap="none" normalizeH="0" baseline="0" dirty="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zh-CN" altLang="en-US" sz="2000" b="0" i="0" u="none" strike="noStrike" cap="none" normalizeH="0" baseline="0" dirty="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    </a:t>
                      </a:r>
                      <a:endParaRPr kumimoji="0" lang="zh-CN" altLang="en-US" sz="1400" b="0" i="0" u="none" strike="noStrike" cap="none" normalizeH="0" baseline="0" dirty="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endParaRPr kumimoji="0" lang="zh-CN" altLang="en-US" sz="2000" b="0" i="0" u="none" strike="noStrike" cap="none" normalizeH="0" baseline="0" dirty="0">
                        <a:ln>
                          <a:noFill/>
                        </a:ln>
                        <a:solidFill>
                          <a:srgbClr val="FFC000"/>
                        </a:solidFill>
                        <a:effectLst>
                          <a:outerShdw blurRad="38100" dist="38100" dir="2700000" algn="tl">
                            <a:srgbClr val="000000"/>
                          </a:outerShdw>
                        </a:effectLst>
                        <a:latin typeface="Verdana" panose="020B0604030504040204" pitchFamily="34" charset="0"/>
                        <a:ea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public</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private</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protected</a:t>
                      </a:r>
                    </a:p>
                  </a:txBody>
                  <a:tcPr marL="93600" marR="936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31888">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public</a:t>
                      </a:r>
                    </a:p>
                  </a:txBody>
                  <a:tcPr marL="93600" marR="936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public</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zh-CN" altLang="en-US" sz="24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不可直接访问</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protected</a:t>
                      </a:r>
                    </a:p>
                  </a:txBody>
                  <a:tcPr marL="93600" marR="936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3475">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private</a:t>
                      </a:r>
                    </a:p>
                  </a:txBody>
                  <a:tcPr marL="93600" marR="936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private</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zh-CN" altLang="en-US" sz="24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不可直接访问</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private</a:t>
                      </a:r>
                    </a:p>
                  </a:txBody>
                  <a:tcPr marL="93600" marR="936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1888">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protected</a:t>
                      </a:r>
                    </a:p>
                  </a:txBody>
                  <a:tcPr marL="93600" marR="936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protected</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zh-CN" altLang="en-US" sz="2400" b="0" i="0" u="none" strike="noStrike" cap="none" normalizeH="0" baseline="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不可直接访问</a:t>
                      </a:r>
                    </a:p>
                  </a:txBody>
                  <a:tcPr marL="93600" marR="936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defRPr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defRPr>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altLang="zh-CN" sz="2800" b="0" i="0" u="none" strike="noStrike" cap="none" normalizeH="0" baseline="0" dirty="0">
                          <a:ln>
                            <a:noFill/>
                          </a:ln>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rPr>
                        <a:t>protected</a:t>
                      </a:r>
                    </a:p>
                  </a:txBody>
                  <a:tcPr marL="93600" marR="936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582" name="Line 34">
            <a:extLst>
              <a:ext uri="{FF2B5EF4-FFF2-40B4-BE49-F238E27FC236}">
                <a16:creationId xmlns:a16="http://schemas.microsoft.com/office/drawing/2014/main" id="{FC7DE5CB-D514-1F0B-4746-9760AEFE2F2F}"/>
              </a:ext>
            </a:extLst>
          </p:cNvPr>
          <p:cNvSpPr>
            <a:spLocks noChangeShapeType="1"/>
          </p:cNvSpPr>
          <p:nvPr/>
        </p:nvSpPr>
        <p:spPr bwMode="auto">
          <a:xfrm>
            <a:off x="971550" y="1844675"/>
            <a:ext cx="1512888" cy="1079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23583" name="Line 35">
            <a:extLst>
              <a:ext uri="{FF2B5EF4-FFF2-40B4-BE49-F238E27FC236}">
                <a16:creationId xmlns:a16="http://schemas.microsoft.com/office/drawing/2014/main" id="{39E79968-F347-E56E-1F6E-463B1FF35DD3}"/>
              </a:ext>
            </a:extLst>
          </p:cNvPr>
          <p:cNvSpPr>
            <a:spLocks noChangeShapeType="1"/>
          </p:cNvSpPr>
          <p:nvPr/>
        </p:nvSpPr>
        <p:spPr bwMode="auto">
          <a:xfrm flipH="1" flipV="1">
            <a:off x="468313" y="2492375"/>
            <a:ext cx="20161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23584" name="文本框 2">
            <a:extLst>
              <a:ext uri="{FF2B5EF4-FFF2-40B4-BE49-F238E27FC236}">
                <a16:creationId xmlns:a16="http://schemas.microsoft.com/office/drawing/2014/main" id="{D9487F48-8223-9888-7E54-DB948A078866}"/>
              </a:ext>
            </a:extLst>
          </p:cNvPr>
          <p:cNvSpPr txBox="1">
            <a:spLocks noChangeArrowheads="1"/>
          </p:cNvSpPr>
          <p:nvPr/>
        </p:nvSpPr>
        <p:spPr bwMode="auto">
          <a:xfrm rot="1819209">
            <a:off x="438150" y="220186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zh-CN" altLang="en-US" sz="1800"/>
              <a:t>派生类访问控制</a:t>
            </a:r>
          </a:p>
        </p:txBody>
      </p:sp>
      <p:sp>
        <p:nvSpPr>
          <p:cNvPr id="23585" name="文本框 7">
            <a:extLst>
              <a:ext uri="{FF2B5EF4-FFF2-40B4-BE49-F238E27FC236}">
                <a16:creationId xmlns:a16="http://schemas.microsoft.com/office/drawing/2014/main" id="{B002A17A-98AE-1899-0909-81B3F486771E}"/>
              </a:ext>
            </a:extLst>
          </p:cNvPr>
          <p:cNvSpPr txBox="1">
            <a:spLocks noChangeArrowheads="1"/>
          </p:cNvSpPr>
          <p:nvPr/>
        </p:nvSpPr>
        <p:spPr bwMode="auto">
          <a:xfrm rot="454923">
            <a:off x="1150938" y="1816100"/>
            <a:ext cx="18002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SzTx/>
              <a:buFontTx/>
              <a:buNone/>
            </a:pPr>
            <a:r>
              <a:rPr lang="zh-CN" altLang="en-US" sz="1800"/>
              <a:t>基类</a:t>
            </a:r>
            <a:endParaRPr lang="en-US" altLang="zh-CN" sz="1800"/>
          </a:p>
          <a:p>
            <a:pPr algn="ctr">
              <a:spcBef>
                <a:spcPct val="0"/>
              </a:spcBef>
              <a:buClrTx/>
              <a:buSzTx/>
              <a:buFontTx/>
              <a:buNone/>
            </a:pPr>
            <a:r>
              <a:rPr lang="zh-CN" altLang="en-US" sz="1800"/>
              <a:t>访问控制</a:t>
            </a:r>
          </a:p>
        </p:txBody>
      </p:sp>
      <p:sp>
        <p:nvSpPr>
          <p:cNvPr id="23586" name="文本框 8">
            <a:extLst>
              <a:ext uri="{FF2B5EF4-FFF2-40B4-BE49-F238E27FC236}">
                <a16:creationId xmlns:a16="http://schemas.microsoft.com/office/drawing/2014/main" id="{9381CF6B-BE00-01CC-E97E-41507BC88917}"/>
              </a:ext>
            </a:extLst>
          </p:cNvPr>
          <p:cNvSpPr txBox="1">
            <a:spLocks noChangeArrowheads="1"/>
          </p:cNvSpPr>
          <p:nvPr/>
        </p:nvSpPr>
        <p:spPr bwMode="auto">
          <a:xfrm rot="454923">
            <a:off x="123825" y="2609850"/>
            <a:ext cx="1800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SzTx/>
              <a:buFontTx/>
              <a:buNone/>
            </a:pPr>
            <a:r>
              <a:rPr lang="zh-CN" altLang="en-US" sz="1800"/>
              <a:t>继承方式</a:t>
            </a:r>
            <a:endParaRPr lang="en-US" altLang="zh-CN"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3">
            <a:extLst>
              <a:ext uri="{FF2B5EF4-FFF2-40B4-BE49-F238E27FC236}">
                <a16:creationId xmlns:a16="http://schemas.microsoft.com/office/drawing/2014/main" id="{7983435C-13A8-D9DA-002B-33F1714832A4}"/>
              </a:ext>
            </a:extLst>
          </p:cNvPr>
          <p:cNvSpPr>
            <a:spLocks noGrp="1" noChangeArrowheads="1"/>
          </p:cNvSpPr>
          <p:nvPr>
            <p:ph type="body" idx="1"/>
          </p:nvPr>
        </p:nvSpPr>
        <p:spPr>
          <a:xfrm>
            <a:off x="215900" y="115888"/>
            <a:ext cx="4356100" cy="6192837"/>
          </a:xfrm>
          <a:solidFill>
            <a:schemeClr val="bg1">
              <a:lumMod val="75000"/>
            </a:schemeClr>
          </a:solidFill>
        </p:spPr>
        <p:txBody>
          <a:bodyPr>
            <a:normAutofit/>
          </a:bodyPr>
          <a:lstStyle/>
          <a:p>
            <a:pPr eaLnBrk="1" hangingPunct="1">
              <a:lnSpc>
                <a:spcPct val="70000"/>
              </a:lnSpc>
              <a:buFont typeface="Wingdings" panose="05000000000000000000" pitchFamily="2" charset="2"/>
              <a:buNone/>
              <a:defRPr/>
            </a:pPr>
            <a:r>
              <a:rPr lang="en-GB" altLang="zh-CN" sz="2200" dirty="0"/>
              <a:t>class A</a:t>
            </a:r>
          </a:p>
          <a:p>
            <a:pPr eaLnBrk="1" hangingPunct="1">
              <a:lnSpc>
                <a:spcPct val="70000"/>
              </a:lnSpc>
              <a:buFont typeface="Wingdings" panose="05000000000000000000" pitchFamily="2" charset="2"/>
              <a:buNone/>
              <a:defRPr/>
            </a:pPr>
            <a:r>
              <a:rPr lang="en-GB" altLang="zh-CN" sz="2200" dirty="0"/>
              <a:t>{	public:</a:t>
            </a:r>
          </a:p>
          <a:p>
            <a:pPr eaLnBrk="1" hangingPunct="1">
              <a:lnSpc>
                <a:spcPct val="70000"/>
              </a:lnSpc>
              <a:buFont typeface="Wingdings" panose="05000000000000000000" pitchFamily="2" charset="2"/>
              <a:buNone/>
              <a:defRPr/>
            </a:pPr>
            <a:r>
              <a:rPr lang="en-GB" altLang="zh-CN" sz="2200" dirty="0"/>
              <a:t>		void f();</a:t>
            </a:r>
          </a:p>
          <a:p>
            <a:pPr eaLnBrk="1" hangingPunct="1">
              <a:lnSpc>
                <a:spcPct val="70000"/>
              </a:lnSpc>
              <a:buFont typeface="Wingdings" panose="05000000000000000000" pitchFamily="2" charset="2"/>
              <a:buNone/>
              <a:defRPr/>
            </a:pPr>
            <a:r>
              <a:rPr lang="en-GB" altLang="zh-CN" sz="2200" dirty="0"/>
              <a:t>	protected:</a:t>
            </a:r>
          </a:p>
          <a:p>
            <a:pPr eaLnBrk="1" hangingPunct="1">
              <a:lnSpc>
                <a:spcPct val="70000"/>
              </a:lnSpc>
              <a:buFont typeface="Wingdings" panose="05000000000000000000" pitchFamily="2" charset="2"/>
              <a:buNone/>
              <a:defRPr/>
            </a:pPr>
            <a:r>
              <a:rPr lang="en-GB" altLang="zh-CN" sz="2200" dirty="0"/>
              <a:t>		void g();</a:t>
            </a:r>
          </a:p>
          <a:p>
            <a:pPr eaLnBrk="1" hangingPunct="1">
              <a:lnSpc>
                <a:spcPct val="70000"/>
              </a:lnSpc>
              <a:buFont typeface="Wingdings" panose="05000000000000000000" pitchFamily="2" charset="2"/>
              <a:buNone/>
              <a:defRPr/>
            </a:pPr>
            <a:r>
              <a:rPr lang="en-GB" altLang="zh-CN" sz="2200" dirty="0"/>
              <a:t>	private:</a:t>
            </a:r>
          </a:p>
          <a:p>
            <a:pPr eaLnBrk="1" hangingPunct="1">
              <a:lnSpc>
                <a:spcPct val="70000"/>
              </a:lnSpc>
              <a:buFont typeface="Wingdings" panose="05000000000000000000" pitchFamily="2" charset="2"/>
              <a:buNone/>
              <a:defRPr/>
            </a:pPr>
            <a:r>
              <a:rPr lang="en-GB" altLang="zh-CN" sz="2200" dirty="0"/>
              <a:t>		void h();</a:t>
            </a:r>
          </a:p>
          <a:p>
            <a:pPr eaLnBrk="1" hangingPunct="1">
              <a:lnSpc>
                <a:spcPct val="70000"/>
              </a:lnSpc>
              <a:buFont typeface="Wingdings" panose="05000000000000000000" pitchFamily="2" charset="2"/>
              <a:buNone/>
              <a:defRPr/>
            </a:pPr>
            <a:r>
              <a:rPr lang="en-GB" altLang="zh-CN" sz="2200" dirty="0"/>
              <a:t>};</a:t>
            </a:r>
          </a:p>
          <a:p>
            <a:pPr eaLnBrk="1" hangingPunct="1">
              <a:lnSpc>
                <a:spcPct val="70000"/>
              </a:lnSpc>
              <a:buFont typeface="Wingdings" panose="05000000000000000000" pitchFamily="2" charset="2"/>
              <a:buNone/>
              <a:defRPr/>
            </a:pPr>
            <a:r>
              <a:rPr lang="en-GB" altLang="zh-CN" sz="2200" dirty="0"/>
              <a:t>class </a:t>
            </a:r>
            <a:r>
              <a:rPr lang="en-GB" altLang="zh-CN" sz="2200" dirty="0">
                <a:solidFill>
                  <a:srgbClr val="99FF66"/>
                </a:solidFill>
              </a:rPr>
              <a:t>B</a:t>
            </a:r>
            <a:r>
              <a:rPr lang="en-GB" altLang="zh-CN" sz="2200" dirty="0"/>
              <a:t>: </a:t>
            </a:r>
            <a:r>
              <a:rPr lang="en-US" altLang="zh-CN" sz="2200" dirty="0">
                <a:solidFill>
                  <a:srgbClr val="99FF66"/>
                </a:solidFill>
              </a:rPr>
              <a:t>protected </a:t>
            </a:r>
            <a:r>
              <a:rPr lang="en-GB" altLang="zh-CN" sz="2200" dirty="0"/>
              <a:t>A</a:t>
            </a:r>
          </a:p>
          <a:p>
            <a:pPr eaLnBrk="1" hangingPunct="1">
              <a:lnSpc>
                <a:spcPct val="80000"/>
              </a:lnSpc>
              <a:buFont typeface="Wingdings" panose="05000000000000000000" pitchFamily="2" charset="2"/>
              <a:buNone/>
              <a:defRPr/>
            </a:pPr>
            <a:r>
              <a:rPr lang="en-GB" altLang="zh-CN" sz="2200" dirty="0"/>
              <a:t>{ </a:t>
            </a:r>
            <a:r>
              <a:rPr lang="en-US" altLang="zh-CN" sz="2200" dirty="0"/>
              <a:t>//f</a:t>
            </a:r>
            <a:r>
              <a:rPr lang="zh-CN" altLang="en-US" sz="2200" dirty="0"/>
              <a:t>为</a:t>
            </a:r>
            <a:r>
              <a:rPr lang="en-US" altLang="zh-CN" sz="2200" dirty="0"/>
              <a:t>protected</a:t>
            </a:r>
          </a:p>
          <a:p>
            <a:pPr eaLnBrk="1" hangingPunct="1">
              <a:lnSpc>
                <a:spcPct val="80000"/>
              </a:lnSpc>
              <a:buFont typeface="Wingdings" panose="05000000000000000000" pitchFamily="2" charset="2"/>
              <a:buNone/>
              <a:defRPr/>
            </a:pPr>
            <a:r>
              <a:rPr lang="en-US" altLang="zh-CN" sz="2200" dirty="0"/>
              <a:t>   //g</a:t>
            </a:r>
            <a:r>
              <a:rPr lang="zh-CN" altLang="en-US" sz="2200" dirty="0"/>
              <a:t>为</a:t>
            </a:r>
            <a:r>
              <a:rPr lang="en-US" altLang="zh-CN" sz="2200" dirty="0"/>
              <a:t>protected</a:t>
            </a:r>
          </a:p>
          <a:p>
            <a:pPr eaLnBrk="1" hangingPunct="1">
              <a:lnSpc>
                <a:spcPct val="80000"/>
              </a:lnSpc>
              <a:buFont typeface="Wingdings" panose="05000000000000000000" pitchFamily="2" charset="2"/>
              <a:buNone/>
              <a:defRPr/>
            </a:pPr>
            <a:r>
              <a:rPr lang="en-US" altLang="zh-CN" sz="2200" dirty="0"/>
              <a:t>   //h</a:t>
            </a:r>
            <a:r>
              <a:rPr lang="zh-CN" altLang="en-US" sz="2200" dirty="0"/>
              <a:t>为不可直接访问</a:t>
            </a:r>
            <a:endParaRPr lang="en-GB" altLang="zh-CN" sz="2200" dirty="0"/>
          </a:p>
          <a:p>
            <a:pPr eaLnBrk="1" hangingPunct="1">
              <a:lnSpc>
                <a:spcPct val="70000"/>
              </a:lnSpc>
              <a:buFont typeface="Wingdings" panose="05000000000000000000" pitchFamily="2" charset="2"/>
              <a:buNone/>
              <a:defRPr/>
            </a:pPr>
            <a:r>
              <a:rPr lang="en-GB" altLang="zh-CN" sz="2200" dirty="0"/>
              <a:t>   public:</a:t>
            </a:r>
          </a:p>
          <a:p>
            <a:pPr eaLnBrk="1" hangingPunct="1">
              <a:lnSpc>
                <a:spcPct val="70000"/>
              </a:lnSpc>
              <a:buFont typeface="Wingdings" panose="05000000000000000000" pitchFamily="2" charset="2"/>
              <a:buNone/>
              <a:defRPr/>
            </a:pPr>
            <a:r>
              <a:rPr lang="en-GB" altLang="zh-CN" sz="2200" dirty="0"/>
              <a:t>		void q() </a:t>
            </a:r>
          </a:p>
          <a:p>
            <a:pPr eaLnBrk="1" hangingPunct="1">
              <a:lnSpc>
                <a:spcPct val="90000"/>
              </a:lnSpc>
              <a:buFont typeface="Wingdings" panose="05000000000000000000" pitchFamily="2" charset="2"/>
              <a:buNone/>
              <a:defRPr/>
            </a:pPr>
            <a:r>
              <a:rPr lang="en-GB" altLang="zh-CN" sz="2200" dirty="0"/>
              <a:t>		{ f(); //</a:t>
            </a:r>
            <a:r>
              <a:rPr lang="en-GB" altLang="zh-CN" sz="2200" dirty="0">
                <a:solidFill>
                  <a:srgbClr val="FFC000"/>
                </a:solidFill>
              </a:rPr>
              <a:t>?</a:t>
            </a:r>
          </a:p>
          <a:p>
            <a:pPr eaLnBrk="1" hangingPunct="1">
              <a:lnSpc>
                <a:spcPct val="90000"/>
              </a:lnSpc>
              <a:buFont typeface="Wingdings" panose="05000000000000000000" pitchFamily="2" charset="2"/>
              <a:buNone/>
              <a:defRPr/>
            </a:pPr>
            <a:r>
              <a:rPr lang="en-GB" altLang="zh-CN" sz="2200" dirty="0"/>
              <a:t>		   g(); //</a:t>
            </a:r>
            <a:r>
              <a:rPr lang="en-GB" altLang="zh-CN" sz="2200" dirty="0">
                <a:solidFill>
                  <a:srgbClr val="FFC000"/>
                </a:solidFill>
              </a:rPr>
              <a:t>?</a:t>
            </a:r>
          </a:p>
          <a:p>
            <a:pPr eaLnBrk="1" hangingPunct="1">
              <a:lnSpc>
                <a:spcPct val="90000"/>
              </a:lnSpc>
              <a:buFont typeface="Wingdings" panose="05000000000000000000" pitchFamily="2" charset="2"/>
              <a:buNone/>
              <a:defRPr/>
            </a:pPr>
            <a:r>
              <a:rPr lang="en-GB" altLang="zh-CN" sz="2200" dirty="0"/>
              <a:t>		   h(); //</a:t>
            </a:r>
            <a:r>
              <a:rPr lang="en-GB" altLang="zh-CN" sz="2200" dirty="0">
                <a:solidFill>
                  <a:srgbClr val="FFC000"/>
                </a:solidFill>
              </a:rPr>
              <a:t>?</a:t>
            </a:r>
          </a:p>
          <a:p>
            <a:pPr eaLnBrk="1" hangingPunct="1">
              <a:lnSpc>
                <a:spcPct val="90000"/>
              </a:lnSpc>
              <a:buFont typeface="Wingdings" panose="05000000000000000000" pitchFamily="2" charset="2"/>
              <a:buNone/>
              <a:defRPr/>
            </a:pPr>
            <a:r>
              <a:rPr lang="en-GB" altLang="zh-CN" sz="2200" dirty="0"/>
              <a:t>		}</a:t>
            </a:r>
            <a:endParaRPr lang="zh-CN" altLang="en-GB" sz="2200" dirty="0"/>
          </a:p>
          <a:p>
            <a:pPr eaLnBrk="1" hangingPunct="1">
              <a:lnSpc>
                <a:spcPct val="70000"/>
              </a:lnSpc>
              <a:buFont typeface="Wingdings" panose="05000000000000000000" pitchFamily="2" charset="2"/>
              <a:buNone/>
              <a:defRPr/>
            </a:pPr>
            <a:r>
              <a:rPr lang="en-GB" altLang="zh-CN" sz="2200" dirty="0"/>
              <a:t>};</a:t>
            </a:r>
            <a:endParaRPr lang="en-US" altLang="zh-CN" sz="2200" dirty="0"/>
          </a:p>
        </p:txBody>
      </p:sp>
      <p:sp>
        <p:nvSpPr>
          <p:cNvPr id="3" name="Rectangle 3">
            <a:extLst>
              <a:ext uri="{FF2B5EF4-FFF2-40B4-BE49-F238E27FC236}">
                <a16:creationId xmlns:a16="http://schemas.microsoft.com/office/drawing/2014/main" id="{E0B9E3C4-6FCC-239F-B1D7-1B060CFCD4CB}"/>
              </a:ext>
            </a:extLst>
          </p:cNvPr>
          <p:cNvSpPr txBox="1">
            <a:spLocks noChangeArrowheads="1"/>
          </p:cNvSpPr>
          <p:nvPr/>
        </p:nvSpPr>
        <p:spPr bwMode="auto">
          <a:xfrm>
            <a:off x="4860925" y="115888"/>
            <a:ext cx="4103688" cy="6597650"/>
          </a:xfrm>
          <a:prstGeom prst="rect">
            <a:avLst/>
          </a:prstGeom>
          <a:solidFill>
            <a:schemeClr val="bg1">
              <a:lumMod val="75000"/>
            </a:schemeClr>
          </a:solid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defTabSz="527050" eaLnBrk="1" hangingPunct="1">
              <a:lnSpc>
                <a:spcPct val="90000"/>
              </a:lnSpc>
              <a:buFont typeface="Wingdings" pitchFamily="2" charset="2"/>
              <a:buNone/>
              <a:defRPr/>
            </a:pPr>
            <a:r>
              <a:rPr lang="en-GB" altLang="zh-CN" sz="2400" dirty="0"/>
              <a:t>class </a:t>
            </a:r>
            <a:r>
              <a:rPr lang="en-GB" altLang="zh-CN" sz="2400" dirty="0">
                <a:solidFill>
                  <a:srgbClr val="FFC000"/>
                </a:solidFill>
              </a:rPr>
              <a:t>C</a:t>
            </a:r>
            <a:r>
              <a:rPr lang="en-GB" altLang="zh-CN" sz="2400" dirty="0"/>
              <a:t>: public B</a:t>
            </a:r>
          </a:p>
          <a:p>
            <a:pPr defTabSz="527050" eaLnBrk="1" hangingPunct="1">
              <a:lnSpc>
                <a:spcPct val="90000"/>
              </a:lnSpc>
              <a:buFont typeface="Wingdings" pitchFamily="2" charset="2"/>
              <a:buNone/>
              <a:defRPr/>
            </a:pPr>
            <a:r>
              <a:rPr lang="en-GB" altLang="zh-CN" sz="2400" dirty="0"/>
              <a:t>{	public:</a:t>
            </a:r>
          </a:p>
          <a:p>
            <a:pPr defTabSz="527050" eaLnBrk="1" hangingPunct="1">
              <a:lnSpc>
                <a:spcPct val="90000"/>
              </a:lnSpc>
              <a:buFont typeface="Wingdings" pitchFamily="2" charset="2"/>
              <a:buNone/>
              <a:defRPr/>
            </a:pPr>
            <a:r>
              <a:rPr lang="en-GB" altLang="zh-CN" sz="2400" dirty="0"/>
              <a:t>		void r()</a:t>
            </a:r>
          </a:p>
          <a:p>
            <a:pPr defTabSz="527050" eaLnBrk="1" hangingPunct="1">
              <a:lnSpc>
                <a:spcPct val="90000"/>
              </a:lnSpc>
              <a:buFont typeface="Wingdings" pitchFamily="2" charset="2"/>
              <a:buNone/>
              <a:defRPr/>
            </a:pPr>
            <a:r>
              <a:rPr lang="en-GB" altLang="zh-CN" sz="2400" dirty="0"/>
              <a:t>		{	f();  //OK</a:t>
            </a:r>
          </a:p>
          <a:p>
            <a:pPr defTabSz="527050" eaLnBrk="1" hangingPunct="1">
              <a:lnSpc>
                <a:spcPct val="90000"/>
              </a:lnSpc>
              <a:buFont typeface="Wingdings" pitchFamily="2" charset="2"/>
              <a:buNone/>
              <a:defRPr/>
            </a:pPr>
            <a:r>
              <a:rPr lang="en-GB" altLang="zh-CN" sz="2400" dirty="0"/>
              <a:t>			g();  //OK</a:t>
            </a:r>
          </a:p>
          <a:p>
            <a:pPr defTabSz="527050" eaLnBrk="1" hangingPunct="1">
              <a:lnSpc>
                <a:spcPct val="90000"/>
              </a:lnSpc>
              <a:buFont typeface="Wingdings" pitchFamily="2" charset="2"/>
              <a:buNone/>
              <a:defRPr/>
            </a:pPr>
            <a:r>
              <a:rPr lang="en-GB" altLang="zh-CN" sz="2400" dirty="0"/>
              <a:t>			h();  //</a:t>
            </a:r>
            <a:r>
              <a:rPr lang="en-GB" altLang="zh-CN" sz="2400" dirty="0">
                <a:solidFill>
                  <a:srgbClr val="FFC000"/>
                </a:solidFill>
              </a:rPr>
              <a:t>Error</a:t>
            </a:r>
            <a:endParaRPr lang="zh-CN" altLang="en-GB" sz="2400" dirty="0">
              <a:solidFill>
                <a:srgbClr val="FFC000"/>
              </a:solidFill>
            </a:endParaRPr>
          </a:p>
          <a:p>
            <a:pPr defTabSz="527050" eaLnBrk="1" hangingPunct="1">
              <a:lnSpc>
                <a:spcPct val="90000"/>
              </a:lnSpc>
              <a:buFont typeface="Wingdings" pitchFamily="2" charset="2"/>
              <a:buNone/>
              <a:defRPr/>
            </a:pPr>
            <a:r>
              <a:rPr lang="zh-CN" altLang="en-GB" sz="2400" dirty="0"/>
              <a:t>		     </a:t>
            </a:r>
            <a:r>
              <a:rPr lang="en-GB" altLang="zh-CN" sz="2400" dirty="0">
                <a:solidFill>
                  <a:srgbClr val="FFC000"/>
                </a:solidFill>
              </a:rPr>
              <a:t>q()</a:t>
            </a:r>
            <a:r>
              <a:rPr lang="en-GB" altLang="zh-CN" sz="2400" dirty="0"/>
              <a:t>;  //</a:t>
            </a:r>
            <a:r>
              <a:rPr lang="en-GB" altLang="zh-CN" sz="2400" dirty="0">
                <a:solidFill>
                  <a:srgbClr val="FFC000"/>
                </a:solidFill>
              </a:rPr>
              <a:t>?</a:t>
            </a:r>
          </a:p>
          <a:p>
            <a:pPr defTabSz="527050" eaLnBrk="1" hangingPunct="1">
              <a:lnSpc>
                <a:spcPct val="90000"/>
              </a:lnSpc>
              <a:buFont typeface="Wingdings" pitchFamily="2" charset="2"/>
              <a:buNone/>
              <a:defRPr/>
            </a:pPr>
            <a:r>
              <a:rPr lang="en-GB" altLang="zh-CN" sz="2400" dirty="0"/>
              <a:t>     }</a:t>
            </a:r>
          </a:p>
          <a:p>
            <a:pPr defTabSz="527050" eaLnBrk="1" hangingPunct="1">
              <a:lnSpc>
                <a:spcPct val="90000"/>
              </a:lnSpc>
              <a:buFont typeface="Wingdings" pitchFamily="2" charset="2"/>
              <a:buNone/>
              <a:defRPr/>
            </a:pPr>
            <a:r>
              <a:rPr lang="en-GB" altLang="zh-CN" sz="2400" dirty="0"/>
              <a:t>};</a:t>
            </a:r>
          </a:p>
          <a:p>
            <a:pPr defTabSz="527050" eaLnBrk="1" hangingPunct="1">
              <a:lnSpc>
                <a:spcPct val="90000"/>
              </a:lnSpc>
              <a:buFont typeface="Wingdings" pitchFamily="2" charset="2"/>
              <a:buNone/>
              <a:defRPr/>
            </a:pPr>
            <a:r>
              <a:rPr lang="en-GB" altLang="zh-CN" sz="2400" dirty="0"/>
              <a:t>void </a:t>
            </a:r>
            <a:r>
              <a:rPr lang="en-GB" altLang="zh-CN" sz="2400" dirty="0" err="1">
                <a:solidFill>
                  <a:srgbClr val="FFC000"/>
                </a:solidFill>
              </a:rPr>
              <a:t>func</a:t>
            </a:r>
            <a:r>
              <a:rPr lang="en-GB" altLang="zh-CN" sz="2400" dirty="0"/>
              <a:t>()</a:t>
            </a:r>
          </a:p>
          <a:p>
            <a:pPr defTabSz="527050" eaLnBrk="1" hangingPunct="1">
              <a:lnSpc>
                <a:spcPct val="90000"/>
              </a:lnSpc>
              <a:buFont typeface="Wingdings" pitchFamily="2" charset="2"/>
              <a:buNone/>
              <a:defRPr/>
            </a:pPr>
            <a:r>
              <a:rPr lang="en-GB" altLang="zh-CN" sz="2400" dirty="0"/>
              <a:t>{ B </a:t>
            </a:r>
            <a:r>
              <a:rPr lang="en-GB" altLang="zh-CN" sz="2400" dirty="0">
                <a:solidFill>
                  <a:srgbClr val="FFC000"/>
                </a:solidFill>
              </a:rPr>
              <a:t>b</a:t>
            </a:r>
            <a:r>
              <a:rPr lang="en-GB" altLang="zh-CN" sz="2400" dirty="0"/>
              <a:t>;</a:t>
            </a:r>
          </a:p>
          <a:p>
            <a:pPr defTabSz="527050" eaLnBrk="1" hangingPunct="1">
              <a:lnSpc>
                <a:spcPct val="90000"/>
              </a:lnSpc>
              <a:buFont typeface="Wingdings" pitchFamily="2" charset="2"/>
              <a:buNone/>
              <a:defRPr/>
            </a:pPr>
            <a:r>
              <a:rPr lang="en-GB" altLang="zh-CN" sz="2400" dirty="0"/>
              <a:t>   </a:t>
            </a:r>
            <a:r>
              <a:rPr lang="en-GB" altLang="zh-CN" sz="2400" dirty="0" err="1"/>
              <a:t>b.f</a:t>
            </a:r>
            <a:r>
              <a:rPr lang="en-GB" altLang="zh-CN" sz="2400" dirty="0"/>
              <a:t>();  //</a:t>
            </a:r>
            <a:r>
              <a:rPr lang="en-GB" altLang="zh-CN" sz="2400" dirty="0">
                <a:solidFill>
                  <a:srgbClr val="FFC000"/>
                </a:solidFill>
              </a:rPr>
              <a:t>Error</a:t>
            </a:r>
            <a:endParaRPr lang="zh-CN" altLang="en-GB" sz="2400" dirty="0"/>
          </a:p>
          <a:p>
            <a:pPr defTabSz="527050" eaLnBrk="1" hangingPunct="1">
              <a:lnSpc>
                <a:spcPct val="90000"/>
              </a:lnSpc>
              <a:buFont typeface="Wingdings" pitchFamily="2" charset="2"/>
              <a:buNone/>
              <a:defRPr/>
            </a:pPr>
            <a:r>
              <a:rPr lang="en-GB" altLang="zh-CN" sz="2400" dirty="0"/>
              <a:t>   </a:t>
            </a:r>
            <a:r>
              <a:rPr lang="en-GB" altLang="zh-CN" sz="2400" dirty="0" err="1"/>
              <a:t>b.g</a:t>
            </a:r>
            <a:r>
              <a:rPr lang="en-GB" altLang="zh-CN" sz="2400" dirty="0"/>
              <a:t>(); //</a:t>
            </a:r>
            <a:r>
              <a:rPr lang="en-GB" altLang="zh-CN" sz="2400" dirty="0">
                <a:solidFill>
                  <a:srgbClr val="FFC000"/>
                </a:solidFill>
              </a:rPr>
              <a:t>Error</a:t>
            </a:r>
            <a:endParaRPr lang="zh-CN" altLang="en-GB" sz="2400" dirty="0">
              <a:solidFill>
                <a:srgbClr val="FFC000"/>
              </a:solidFill>
            </a:endParaRPr>
          </a:p>
          <a:p>
            <a:pPr defTabSz="527050" eaLnBrk="1" hangingPunct="1">
              <a:lnSpc>
                <a:spcPct val="90000"/>
              </a:lnSpc>
              <a:buFont typeface="Wingdings" pitchFamily="2" charset="2"/>
              <a:buNone/>
              <a:defRPr/>
            </a:pPr>
            <a:r>
              <a:rPr lang="en-GB" altLang="zh-CN" sz="2400" dirty="0"/>
              <a:t>   </a:t>
            </a:r>
            <a:r>
              <a:rPr lang="en-GB" altLang="zh-CN" sz="2400" dirty="0" err="1"/>
              <a:t>b.h</a:t>
            </a:r>
            <a:r>
              <a:rPr lang="en-GB" altLang="zh-CN" sz="2400" dirty="0"/>
              <a:t>(); //</a:t>
            </a:r>
            <a:r>
              <a:rPr lang="en-GB" altLang="zh-CN" sz="2400" dirty="0">
                <a:solidFill>
                  <a:srgbClr val="FFC000"/>
                </a:solidFill>
              </a:rPr>
              <a:t>Error</a:t>
            </a:r>
          </a:p>
          <a:p>
            <a:pPr defTabSz="527050" eaLnBrk="1" hangingPunct="1">
              <a:lnSpc>
                <a:spcPct val="90000"/>
              </a:lnSpc>
              <a:buFont typeface="Wingdings" pitchFamily="2" charset="2"/>
              <a:buNone/>
              <a:defRPr/>
            </a:pPr>
            <a:r>
              <a:rPr lang="en-GB" altLang="zh-CN" sz="2400" dirty="0"/>
              <a:t>   </a:t>
            </a:r>
            <a:r>
              <a:rPr lang="en-GB" altLang="zh-CN" sz="2400" dirty="0" err="1"/>
              <a:t>b.</a:t>
            </a:r>
            <a:r>
              <a:rPr lang="en-GB" altLang="zh-CN" sz="2400" dirty="0" err="1">
                <a:solidFill>
                  <a:srgbClr val="FFC000"/>
                </a:solidFill>
              </a:rPr>
              <a:t>q</a:t>
            </a:r>
            <a:r>
              <a:rPr lang="en-GB" altLang="zh-CN" sz="2400" dirty="0">
                <a:solidFill>
                  <a:srgbClr val="FFC000"/>
                </a:solidFill>
              </a:rPr>
              <a:t>()</a:t>
            </a:r>
            <a:r>
              <a:rPr lang="en-GB" altLang="zh-CN" sz="2400" dirty="0"/>
              <a:t>; //</a:t>
            </a:r>
            <a:r>
              <a:rPr lang="en-GB" altLang="zh-CN" sz="2400" dirty="0">
                <a:solidFill>
                  <a:srgbClr val="FFC000"/>
                </a:solidFill>
              </a:rPr>
              <a:t>?</a:t>
            </a:r>
          </a:p>
          <a:p>
            <a:pPr defTabSz="527050" eaLnBrk="1" hangingPunct="1">
              <a:lnSpc>
                <a:spcPct val="90000"/>
              </a:lnSpc>
              <a:buFont typeface="Wingdings" pitchFamily="2" charset="2"/>
              <a:buNone/>
              <a:defRPr/>
            </a:pPr>
            <a:r>
              <a:rPr lang="en-GB" altLang="zh-CN"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5987">
                                            <p:txEl>
                                              <p:pRg st="14" end="14"/>
                                            </p:txEl>
                                          </p:spTgt>
                                        </p:tgtEl>
                                        <p:attrNameLst>
                                          <p:attrName>style.visibility</p:attrName>
                                        </p:attrNameLst>
                                      </p:cBhvr>
                                      <p:to>
                                        <p:strVal val="visible"/>
                                      </p:to>
                                    </p:set>
                                    <p:anim calcmode="lin" valueType="num">
                                      <p:cBhvr additive="base">
                                        <p:cTn id="7" dur="500" fill="hold"/>
                                        <p:tgtEl>
                                          <p:spTgt spid="425987">
                                            <p:txEl>
                                              <p:pRg st="14" end="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5987">
                                            <p:txEl>
                                              <p:pRg st="14" end="1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5987">
                                            <p:txEl>
                                              <p:pRg st="15" end="15"/>
                                            </p:txEl>
                                          </p:spTgt>
                                        </p:tgtEl>
                                        <p:attrNameLst>
                                          <p:attrName>style.visibility</p:attrName>
                                        </p:attrNameLst>
                                      </p:cBhvr>
                                      <p:to>
                                        <p:strVal val="visible"/>
                                      </p:to>
                                    </p:set>
                                    <p:anim calcmode="lin" valueType="num">
                                      <p:cBhvr additive="base">
                                        <p:cTn id="11" dur="500" fill="hold"/>
                                        <p:tgtEl>
                                          <p:spTgt spid="425987">
                                            <p:txEl>
                                              <p:pRg st="15" end="1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5987">
                                            <p:txEl>
                                              <p:pRg st="15" end="1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5987">
                                            <p:txEl>
                                              <p:pRg st="16" end="16"/>
                                            </p:txEl>
                                          </p:spTgt>
                                        </p:tgtEl>
                                        <p:attrNameLst>
                                          <p:attrName>style.visibility</p:attrName>
                                        </p:attrNameLst>
                                      </p:cBhvr>
                                      <p:to>
                                        <p:strVal val="visible"/>
                                      </p:to>
                                    </p:set>
                                    <p:anim calcmode="lin" valueType="num">
                                      <p:cBhvr additive="base">
                                        <p:cTn id="15" dur="500" fill="hold"/>
                                        <p:tgtEl>
                                          <p:spTgt spid="425987">
                                            <p:txEl>
                                              <p:pRg st="16" end="1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25987">
                                            <p:txEl>
                                              <p:pRg st="16" end="1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5987">
                                            <p:txEl>
                                              <p:pRg st="17" end="17"/>
                                            </p:txEl>
                                          </p:spTgt>
                                        </p:tgtEl>
                                        <p:attrNameLst>
                                          <p:attrName>style.visibility</p:attrName>
                                        </p:attrNameLst>
                                      </p:cBhvr>
                                      <p:to>
                                        <p:strVal val="visible"/>
                                      </p:to>
                                    </p:set>
                                    <p:anim calcmode="lin" valueType="num">
                                      <p:cBhvr additive="base">
                                        <p:cTn id="19" dur="500" fill="hold"/>
                                        <p:tgtEl>
                                          <p:spTgt spid="425987">
                                            <p:txEl>
                                              <p:pRg st="17" end="1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5987">
                                            <p:txEl>
                                              <p:pRg st="17" end="1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25987">
                                            <p:txEl>
                                              <p:pRg st="13" end="13"/>
                                            </p:txEl>
                                          </p:spTgt>
                                        </p:tgtEl>
                                        <p:attrNameLst>
                                          <p:attrName>style.visibility</p:attrName>
                                        </p:attrNameLst>
                                      </p:cBhvr>
                                      <p:to>
                                        <p:strVal val="visible"/>
                                      </p:to>
                                    </p:set>
                                    <p:anim calcmode="lin" valueType="num">
                                      <p:cBhvr additive="base">
                                        <p:cTn id="31" dur="500" fill="hold"/>
                                        <p:tgtEl>
                                          <p:spTgt spid="425987">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2598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580D2A0-6972-E9D7-6F20-8F831C8CB487}"/>
              </a:ext>
            </a:extLst>
          </p:cNvPr>
          <p:cNvSpPr>
            <a:spLocks noGrp="1"/>
          </p:cNvSpPr>
          <p:nvPr>
            <p:ph idx="1"/>
          </p:nvPr>
        </p:nvSpPr>
        <p:spPr>
          <a:xfrm>
            <a:off x="457200" y="188913"/>
            <a:ext cx="8229600" cy="6553200"/>
          </a:xfrm>
        </p:spPr>
        <p:txBody>
          <a:bodyPr>
            <a:normAutofit/>
          </a:bodyPr>
          <a:lstStyle/>
          <a:p>
            <a:pPr>
              <a:lnSpc>
                <a:spcPct val="80000"/>
              </a:lnSpc>
              <a:defRPr/>
            </a:pPr>
            <a:r>
              <a:rPr lang="zh-CN" altLang="en-US" sz="2000"/>
              <a:t>继承方式的调整</a:t>
            </a:r>
            <a:endParaRPr lang="en-US" altLang="zh-CN" sz="2000"/>
          </a:p>
          <a:p>
            <a:pPr>
              <a:lnSpc>
                <a:spcPct val="80000"/>
              </a:lnSpc>
              <a:buFont typeface="Wingdings" panose="05000000000000000000" pitchFamily="2" charset="2"/>
              <a:buNone/>
              <a:defRPr/>
            </a:pPr>
            <a:r>
              <a:rPr lang="en-US" altLang="zh-CN" sz="2000"/>
              <a:t>class A</a:t>
            </a:r>
          </a:p>
          <a:p>
            <a:pPr>
              <a:lnSpc>
                <a:spcPct val="80000"/>
              </a:lnSpc>
              <a:buFont typeface="Wingdings" panose="05000000000000000000" pitchFamily="2" charset="2"/>
              <a:buNone/>
              <a:defRPr/>
            </a:pPr>
            <a:r>
              <a:rPr lang="en-US" altLang="zh-CN" sz="2000"/>
              <a:t>{  public:</a:t>
            </a:r>
          </a:p>
          <a:p>
            <a:pPr>
              <a:lnSpc>
                <a:spcPct val="80000"/>
              </a:lnSpc>
              <a:buFont typeface="Wingdings" panose="05000000000000000000" pitchFamily="2" charset="2"/>
              <a:buNone/>
              <a:defRPr/>
            </a:pPr>
            <a:r>
              <a:rPr lang="en-US" altLang="zh-CN" sz="2000"/>
              <a:t>	void f1();</a:t>
            </a:r>
          </a:p>
          <a:p>
            <a:pPr>
              <a:lnSpc>
                <a:spcPct val="80000"/>
              </a:lnSpc>
              <a:buFont typeface="Wingdings" panose="05000000000000000000" pitchFamily="2" charset="2"/>
              <a:buNone/>
              <a:defRPr/>
            </a:pPr>
            <a:r>
              <a:rPr lang="en-US" altLang="zh-CN" sz="2000"/>
              <a:t>	void f2();</a:t>
            </a:r>
          </a:p>
          <a:p>
            <a:pPr>
              <a:lnSpc>
                <a:spcPct val="80000"/>
              </a:lnSpc>
              <a:buFont typeface="Wingdings" panose="05000000000000000000" pitchFamily="2" charset="2"/>
              <a:buNone/>
              <a:defRPr/>
            </a:pPr>
            <a:r>
              <a:rPr lang="en-US" altLang="zh-CN" sz="2000"/>
              <a:t>	void f3();</a:t>
            </a:r>
          </a:p>
          <a:p>
            <a:pPr>
              <a:lnSpc>
                <a:spcPct val="80000"/>
              </a:lnSpc>
              <a:buFont typeface="Wingdings" panose="05000000000000000000" pitchFamily="2" charset="2"/>
              <a:buNone/>
              <a:defRPr/>
            </a:pPr>
            <a:r>
              <a:rPr lang="en-US" altLang="zh-CN" sz="2000"/>
              <a:t>  protected:</a:t>
            </a:r>
          </a:p>
          <a:p>
            <a:pPr>
              <a:lnSpc>
                <a:spcPct val="80000"/>
              </a:lnSpc>
              <a:buFont typeface="Wingdings" panose="05000000000000000000" pitchFamily="2" charset="2"/>
              <a:buNone/>
              <a:defRPr/>
            </a:pPr>
            <a:r>
              <a:rPr lang="en-US" altLang="zh-CN" sz="2000"/>
              <a:t>	void g1();</a:t>
            </a:r>
          </a:p>
          <a:p>
            <a:pPr>
              <a:lnSpc>
                <a:spcPct val="80000"/>
              </a:lnSpc>
              <a:buFont typeface="Wingdings" panose="05000000000000000000" pitchFamily="2" charset="2"/>
              <a:buNone/>
              <a:defRPr/>
            </a:pPr>
            <a:r>
              <a:rPr lang="en-US" altLang="zh-CN" sz="2000"/>
              <a:t>	void g2();</a:t>
            </a:r>
          </a:p>
          <a:p>
            <a:pPr>
              <a:lnSpc>
                <a:spcPct val="80000"/>
              </a:lnSpc>
              <a:buFont typeface="Wingdings" panose="05000000000000000000" pitchFamily="2" charset="2"/>
              <a:buNone/>
              <a:defRPr/>
            </a:pPr>
            <a:r>
              <a:rPr lang="en-US" altLang="zh-CN" sz="2000"/>
              <a:t>	void g3();</a:t>
            </a:r>
          </a:p>
          <a:p>
            <a:pPr>
              <a:lnSpc>
                <a:spcPct val="80000"/>
              </a:lnSpc>
              <a:buFont typeface="Wingdings" panose="05000000000000000000" pitchFamily="2" charset="2"/>
              <a:buNone/>
              <a:defRPr/>
            </a:pPr>
            <a:r>
              <a:rPr lang="en-US" altLang="zh-CN" sz="2000"/>
              <a:t>};</a:t>
            </a:r>
          </a:p>
          <a:p>
            <a:pPr>
              <a:lnSpc>
                <a:spcPct val="80000"/>
              </a:lnSpc>
              <a:buFont typeface="Wingdings" panose="05000000000000000000" pitchFamily="2" charset="2"/>
              <a:buNone/>
              <a:defRPr/>
            </a:pPr>
            <a:r>
              <a:rPr lang="en-US" altLang="zh-CN" sz="2000"/>
              <a:t>class B: </a:t>
            </a:r>
            <a:r>
              <a:rPr lang="en-US" altLang="zh-CN" sz="2000">
                <a:solidFill>
                  <a:srgbClr val="FFC000"/>
                </a:solidFill>
              </a:rPr>
              <a:t>private</a:t>
            </a:r>
            <a:r>
              <a:rPr lang="en-US" altLang="zh-CN" sz="2000"/>
              <a:t> A</a:t>
            </a:r>
          </a:p>
          <a:p>
            <a:pPr>
              <a:lnSpc>
                <a:spcPct val="80000"/>
              </a:lnSpc>
              <a:buFont typeface="Wingdings" panose="05000000000000000000" pitchFamily="2" charset="2"/>
              <a:buNone/>
              <a:defRPr/>
            </a:pPr>
            <a:r>
              <a:rPr lang="en-US" altLang="zh-CN" sz="2000"/>
              <a:t>{ public:</a:t>
            </a:r>
          </a:p>
          <a:p>
            <a:pPr>
              <a:lnSpc>
                <a:spcPct val="80000"/>
              </a:lnSpc>
              <a:buFont typeface="Wingdings" panose="05000000000000000000" pitchFamily="2" charset="2"/>
              <a:buNone/>
              <a:defRPr/>
            </a:pPr>
            <a:r>
              <a:rPr lang="en-US" altLang="zh-CN" sz="2000"/>
              <a:t>	A::f1;  //</a:t>
            </a:r>
            <a:r>
              <a:rPr lang="zh-CN" altLang="en-US" sz="2000"/>
              <a:t>把</a:t>
            </a:r>
            <a:r>
              <a:rPr lang="en-US" altLang="zh-CN" sz="2000"/>
              <a:t>f1</a:t>
            </a:r>
            <a:r>
              <a:rPr lang="zh-CN" altLang="en-US" sz="2000"/>
              <a:t>调整为</a:t>
            </a:r>
            <a:r>
              <a:rPr lang="en-US" altLang="zh-CN" sz="2000"/>
              <a:t>public</a:t>
            </a:r>
          </a:p>
          <a:p>
            <a:pPr>
              <a:lnSpc>
                <a:spcPct val="80000"/>
              </a:lnSpc>
              <a:buFont typeface="Wingdings" panose="05000000000000000000" pitchFamily="2" charset="2"/>
              <a:buNone/>
              <a:defRPr/>
            </a:pPr>
            <a:r>
              <a:rPr lang="en-US" altLang="zh-CN" sz="2000"/>
              <a:t>	A::g1;  //</a:t>
            </a:r>
            <a:r>
              <a:rPr lang="zh-CN" altLang="en-US" sz="2000"/>
              <a:t>把</a:t>
            </a:r>
            <a:r>
              <a:rPr lang="en-US" altLang="zh-CN" sz="2000"/>
              <a:t>g1</a:t>
            </a:r>
            <a:r>
              <a:rPr lang="zh-CN" altLang="en-US" sz="2000"/>
              <a:t>调整为</a:t>
            </a:r>
            <a:r>
              <a:rPr lang="en-US" altLang="zh-CN" sz="2000"/>
              <a:t>public</a:t>
            </a:r>
          </a:p>
          <a:p>
            <a:pPr>
              <a:lnSpc>
                <a:spcPct val="80000"/>
              </a:lnSpc>
              <a:buFont typeface="Wingdings" panose="05000000000000000000" pitchFamily="2" charset="2"/>
              <a:buNone/>
              <a:defRPr/>
            </a:pPr>
            <a:r>
              <a:rPr lang="en-US" altLang="zh-CN" sz="2000"/>
              <a:t>		 //</a:t>
            </a:r>
            <a:r>
              <a:rPr lang="zh-CN" altLang="en-US" sz="2000"/>
              <a:t>是否允许弱化基类的访问控制要视具体的实现而定</a:t>
            </a:r>
          </a:p>
          <a:p>
            <a:pPr>
              <a:lnSpc>
                <a:spcPct val="80000"/>
              </a:lnSpc>
              <a:buFont typeface="Wingdings" panose="05000000000000000000" pitchFamily="2" charset="2"/>
              <a:buNone/>
              <a:defRPr/>
            </a:pPr>
            <a:r>
              <a:rPr lang="en-US" altLang="zh-CN" sz="2000"/>
              <a:t>  protected:</a:t>
            </a:r>
          </a:p>
          <a:p>
            <a:pPr>
              <a:lnSpc>
                <a:spcPct val="80000"/>
              </a:lnSpc>
              <a:buFont typeface="Wingdings" panose="05000000000000000000" pitchFamily="2" charset="2"/>
              <a:buNone/>
              <a:defRPr/>
            </a:pPr>
            <a:r>
              <a:rPr lang="en-US" altLang="zh-CN" sz="2000"/>
              <a:t>	A::f2; //</a:t>
            </a:r>
            <a:r>
              <a:rPr lang="zh-CN" altLang="en-US" sz="2000"/>
              <a:t>把</a:t>
            </a:r>
            <a:r>
              <a:rPr lang="en-US" altLang="zh-CN" sz="2000"/>
              <a:t>f2</a:t>
            </a:r>
            <a:r>
              <a:rPr lang="zh-CN" altLang="en-US" sz="2000"/>
              <a:t>调整为</a:t>
            </a:r>
            <a:r>
              <a:rPr lang="en-US" altLang="zh-CN" sz="2000"/>
              <a:t>protected</a:t>
            </a:r>
          </a:p>
          <a:p>
            <a:pPr>
              <a:lnSpc>
                <a:spcPct val="80000"/>
              </a:lnSpc>
              <a:buFont typeface="Wingdings" panose="05000000000000000000" pitchFamily="2" charset="2"/>
              <a:buNone/>
              <a:defRPr/>
            </a:pPr>
            <a:r>
              <a:rPr lang="en-US" altLang="zh-CN" sz="2000"/>
              <a:t>	A::g2; //</a:t>
            </a:r>
            <a:r>
              <a:rPr lang="zh-CN" altLang="en-US" sz="2000"/>
              <a:t>把</a:t>
            </a:r>
            <a:r>
              <a:rPr lang="en-US" altLang="zh-CN" sz="2000"/>
              <a:t>g2</a:t>
            </a:r>
            <a:r>
              <a:rPr lang="zh-CN" altLang="en-US" sz="2000"/>
              <a:t>调整为</a:t>
            </a:r>
            <a:r>
              <a:rPr lang="en-US" altLang="zh-CN" sz="2000"/>
              <a:t>protected</a:t>
            </a:r>
          </a:p>
          <a:p>
            <a:pPr>
              <a:lnSpc>
                <a:spcPct val="80000"/>
              </a:lnSpc>
              <a:buFont typeface="Wingdings" panose="05000000000000000000" pitchFamily="2" charset="2"/>
              <a:buNone/>
              <a:defRPr/>
            </a:pPr>
            <a:r>
              <a:rPr lang="en-US" altLang="zh-CN" sz="2000"/>
              <a:t>   ......</a:t>
            </a:r>
          </a:p>
          <a:p>
            <a:pPr>
              <a:lnSpc>
                <a:spcPct val="80000"/>
              </a:lnSpc>
              <a:buFont typeface="Wingdings" panose="05000000000000000000" pitchFamily="2" charset="2"/>
              <a:buNone/>
              <a:defRPr/>
            </a:pPr>
            <a:r>
              <a:rPr lang="en-US" altLang="zh-CN" sz="2000"/>
              <a:t>};</a:t>
            </a:r>
          </a:p>
          <a:p>
            <a:pPr>
              <a:lnSpc>
                <a:spcPct val="80000"/>
              </a:lnSpc>
              <a:buFont typeface="Wingdings" panose="05000000000000000000" pitchFamily="2" charset="2"/>
              <a:buNone/>
              <a:defRPr/>
            </a:pPr>
            <a:endParaRPr lang="zh-CN" altLang="en-US" sz="2000"/>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a:extLst>
              <a:ext uri="{FF2B5EF4-FFF2-40B4-BE49-F238E27FC236}">
                <a16:creationId xmlns:a16="http://schemas.microsoft.com/office/drawing/2014/main" id="{CEA8FAAD-7EB6-9DEF-209D-E994F13926FF}"/>
              </a:ext>
            </a:extLst>
          </p:cNvPr>
          <p:cNvSpPr>
            <a:spLocks noGrp="1" noChangeArrowheads="1"/>
          </p:cNvSpPr>
          <p:nvPr>
            <p:ph type="title"/>
          </p:nvPr>
        </p:nvSpPr>
        <p:spPr>
          <a:xfrm>
            <a:off x="457200" y="115888"/>
            <a:ext cx="8229600" cy="1139825"/>
          </a:xfrm>
        </p:spPr>
        <p:txBody>
          <a:bodyPr/>
          <a:lstStyle/>
          <a:p>
            <a:pPr eaLnBrk="1" hangingPunct="1">
              <a:defRPr/>
            </a:pPr>
            <a:r>
              <a:rPr lang="zh-CN" altLang="en-US"/>
              <a:t>子类型</a:t>
            </a:r>
          </a:p>
        </p:txBody>
      </p:sp>
      <p:sp>
        <p:nvSpPr>
          <p:cNvPr id="634883" name="Rectangle 3">
            <a:extLst>
              <a:ext uri="{FF2B5EF4-FFF2-40B4-BE49-F238E27FC236}">
                <a16:creationId xmlns:a16="http://schemas.microsoft.com/office/drawing/2014/main" id="{A043F0F0-E97E-8316-4B66-4BBDF3EFE289}"/>
              </a:ext>
            </a:extLst>
          </p:cNvPr>
          <p:cNvSpPr>
            <a:spLocks noGrp="1" noChangeArrowheads="1"/>
          </p:cNvSpPr>
          <p:nvPr>
            <p:ph type="body" idx="1"/>
          </p:nvPr>
        </p:nvSpPr>
        <p:spPr>
          <a:xfrm>
            <a:off x="457200" y="1628775"/>
            <a:ext cx="8229600" cy="4608513"/>
          </a:xfrm>
        </p:spPr>
        <p:txBody>
          <a:bodyPr>
            <a:normAutofit/>
          </a:bodyPr>
          <a:lstStyle/>
          <a:p>
            <a:pPr eaLnBrk="1" hangingPunct="1">
              <a:defRPr/>
            </a:pPr>
            <a:r>
              <a:rPr lang="zh-CN" altLang="en-GB" sz="2800"/>
              <a:t>对用</a:t>
            </a:r>
            <a:r>
              <a:rPr lang="zh-CN" altLang="en-US" sz="2800"/>
              <a:t>类型</a:t>
            </a:r>
            <a:r>
              <a:rPr lang="en-GB" altLang="zh-CN" sz="2800"/>
              <a:t>T</a:t>
            </a:r>
            <a:r>
              <a:rPr lang="zh-CN" altLang="en-GB" sz="2800"/>
              <a:t>表达的所有程序</a:t>
            </a:r>
            <a:r>
              <a:rPr lang="en-GB" altLang="zh-CN" sz="2800"/>
              <a:t>P</a:t>
            </a:r>
            <a:r>
              <a:rPr lang="zh-CN" altLang="en-GB" sz="2800"/>
              <a:t>，当用</a:t>
            </a:r>
            <a:r>
              <a:rPr lang="zh-CN" altLang="en-US" sz="2800"/>
              <a:t>类型</a:t>
            </a:r>
            <a:r>
              <a:rPr lang="en-GB" altLang="zh-CN" sz="2800"/>
              <a:t>S</a:t>
            </a:r>
            <a:r>
              <a:rPr lang="zh-CN" altLang="en-GB" sz="2800"/>
              <a:t>去替换程序</a:t>
            </a:r>
            <a:r>
              <a:rPr lang="en-GB" altLang="zh-CN" sz="2800"/>
              <a:t>P</a:t>
            </a:r>
            <a:r>
              <a:rPr lang="zh-CN" altLang="en-GB" sz="2800"/>
              <a:t>中的所有</a:t>
            </a:r>
            <a:r>
              <a:rPr lang="zh-CN" altLang="en-US" sz="2800"/>
              <a:t>的类型</a:t>
            </a:r>
            <a:r>
              <a:rPr lang="en-GB" altLang="zh-CN" sz="2800"/>
              <a:t>T</a:t>
            </a:r>
            <a:r>
              <a:rPr lang="zh-CN" altLang="en-GB" sz="2800"/>
              <a:t>时，程序</a:t>
            </a:r>
            <a:r>
              <a:rPr lang="en-GB" altLang="zh-CN" sz="2800"/>
              <a:t>P</a:t>
            </a:r>
            <a:r>
              <a:rPr lang="zh-CN" altLang="en-GB" sz="2800"/>
              <a:t>的功能不变</a:t>
            </a:r>
            <a:r>
              <a:rPr lang="zh-CN" altLang="en-US" sz="2800"/>
              <a:t>，则称</a:t>
            </a:r>
            <a:r>
              <a:rPr lang="zh-CN" altLang="en-GB" sz="2800"/>
              <a:t>类型</a:t>
            </a:r>
            <a:r>
              <a:rPr lang="en-GB" altLang="zh-CN" sz="2800"/>
              <a:t>S</a:t>
            </a:r>
            <a:r>
              <a:rPr lang="zh-CN" altLang="en-GB" sz="2800"/>
              <a:t>是类型</a:t>
            </a:r>
            <a:r>
              <a:rPr lang="en-GB" altLang="zh-CN" sz="2800"/>
              <a:t>T</a:t>
            </a:r>
            <a:r>
              <a:rPr lang="zh-CN" altLang="en-GB" sz="2800"/>
              <a:t>的子类型</a:t>
            </a:r>
            <a:r>
              <a:rPr lang="zh-CN" altLang="en-US" sz="2800"/>
              <a:t>。</a:t>
            </a:r>
            <a:endParaRPr lang="zh-CN" altLang="en-US" sz="2400"/>
          </a:p>
          <a:p>
            <a:pPr eaLnBrk="1" hangingPunct="1">
              <a:defRPr/>
            </a:pPr>
            <a:r>
              <a:rPr lang="zh-CN" altLang="en-US" sz="2800"/>
              <a:t>在</a:t>
            </a:r>
            <a:r>
              <a:rPr lang="en-US" altLang="zh-CN" sz="2800"/>
              <a:t>C++</a:t>
            </a:r>
            <a:r>
              <a:rPr lang="zh-CN" altLang="en-US" sz="2800"/>
              <a:t>中，把类看作类型，把以</a:t>
            </a:r>
            <a:r>
              <a:rPr lang="en-US" altLang="zh-CN" sz="2800">
                <a:solidFill>
                  <a:schemeClr val="folHlink"/>
                </a:solidFill>
              </a:rPr>
              <a:t>public</a:t>
            </a:r>
            <a:r>
              <a:rPr lang="zh-CN" altLang="en-US" sz="2800">
                <a:solidFill>
                  <a:schemeClr val="folHlink"/>
                </a:solidFill>
              </a:rPr>
              <a:t>方式继承</a:t>
            </a:r>
            <a:r>
              <a:rPr lang="zh-CN" altLang="en-US" sz="2800"/>
              <a:t>的派生类看作是基类的子类型。</a:t>
            </a:r>
          </a:p>
          <a:p>
            <a:pPr lvl="1" eaLnBrk="1" hangingPunct="1">
              <a:defRPr/>
            </a:pPr>
            <a:r>
              <a:rPr lang="zh-CN" altLang="en-US" sz="2400"/>
              <a:t>对</a:t>
            </a:r>
            <a:r>
              <a:rPr lang="zh-CN" altLang="en-GB" sz="2400"/>
              <a:t>基类对象</a:t>
            </a:r>
            <a:r>
              <a:rPr lang="zh-CN" altLang="en-US" sz="2400"/>
              <a:t>能实施的操作也能作用于</a:t>
            </a:r>
            <a:r>
              <a:rPr lang="zh-CN" altLang="en-GB" sz="2400"/>
              <a:t>派生类对象。</a:t>
            </a:r>
          </a:p>
          <a:p>
            <a:pPr lvl="1" eaLnBrk="1" hangingPunct="1">
              <a:defRPr/>
            </a:pPr>
            <a:r>
              <a:rPr lang="zh-CN" altLang="en-GB" sz="2400"/>
              <a:t>在需要基类对象的地方可以用派生类对象去替代</a:t>
            </a:r>
            <a:r>
              <a:rPr lang="zh-CN" altLang="en-US" sz="2400"/>
              <a:t>（派生类对象</a:t>
            </a:r>
            <a:r>
              <a:rPr lang="zh-CN" altLang="en-GB" sz="2400"/>
              <a:t>可以赋值或作为函数参数传给</a:t>
            </a:r>
            <a:r>
              <a:rPr lang="zh-CN" altLang="en-US" sz="2400"/>
              <a:t>基类</a:t>
            </a:r>
            <a:r>
              <a:rPr lang="zh-CN" altLang="en-GB" sz="2400"/>
              <a:t>变量</a:t>
            </a:r>
            <a:r>
              <a:rPr lang="zh-CN" altLang="en-US" sz="2400"/>
              <a:t>） </a:t>
            </a:r>
            <a:r>
              <a:rPr lang="zh-CN" altLang="en-GB" sz="2400"/>
              <a:t>。</a:t>
            </a:r>
            <a:endParaRPr lang="zh-CN"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133392C-5B84-EAC9-A4E6-54CC8634C5CC}"/>
              </a:ext>
            </a:extLst>
          </p:cNvPr>
          <p:cNvSpPr>
            <a:spLocks noGrp="1"/>
          </p:cNvSpPr>
          <p:nvPr>
            <p:ph idx="1"/>
          </p:nvPr>
        </p:nvSpPr>
        <p:spPr>
          <a:xfrm>
            <a:off x="457200" y="1052513"/>
            <a:ext cx="8229600" cy="5078412"/>
          </a:xfrm>
        </p:spPr>
        <p:txBody>
          <a:bodyPr>
            <a:normAutofit/>
          </a:bodyPr>
          <a:lstStyle/>
          <a:p>
            <a:pPr eaLnBrk="1" hangingPunct="1">
              <a:lnSpc>
                <a:spcPct val="70000"/>
              </a:lnSpc>
              <a:defRPr/>
            </a:pPr>
            <a:r>
              <a:rPr lang="zh-CN" altLang="en-US" sz="3000" dirty="0"/>
              <a:t>对于下面的两个类</a:t>
            </a:r>
            <a:r>
              <a:rPr lang="en-US" altLang="zh-CN" sz="3000" dirty="0"/>
              <a:t>A</a:t>
            </a:r>
            <a:r>
              <a:rPr lang="zh-CN" altLang="en-US" sz="3000" dirty="0"/>
              <a:t>和</a:t>
            </a:r>
            <a:r>
              <a:rPr lang="en-US" altLang="zh-CN" sz="3000" dirty="0"/>
              <a:t>B</a:t>
            </a:r>
            <a:endParaRPr lang="en-GB" altLang="zh-CN" sz="3000" dirty="0"/>
          </a:p>
          <a:p>
            <a:pPr lvl="1" eaLnBrk="1" hangingPunct="1">
              <a:lnSpc>
                <a:spcPct val="70000"/>
              </a:lnSpc>
              <a:buFontTx/>
              <a:buNone/>
              <a:defRPr/>
            </a:pPr>
            <a:r>
              <a:rPr lang="en-GB" altLang="zh-CN" sz="2600" dirty="0"/>
              <a:t>class A //</a:t>
            </a:r>
            <a:r>
              <a:rPr lang="zh-CN" altLang="en-GB" sz="2600" dirty="0">
                <a:solidFill>
                  <a:srgbClr val="FFC000"/>
                </a:solidFill>
              </a:rPr>
              <a:t>基类</a:t>
            </a:r>
          </a:p>
          <a:p>
            <a:pPr lvl="1" eaLnBrk="1" hangingPunct="1">
              <a:lnSpc>
                <a:spcPct val="70000"/>
              </a:lnSpc>
              <a:buFontTx/>
              <a:buNone/>
              <a:defRPr/>
            </a:pPr>
            <a:r>
              <a:rPr lang="en-GB" altLang="zh-CN" sz="2600" dirty="0"/>
              <a:t>{	  </a:t>
            </a:r>
            <a:r>
              <a:rPr lang="en-GB" altLang="zh-CN" sz="2600" dirty="0" err="1"/>
              <a:t>int</a:t>
            </a:r>
            <a:r>
              <a:rPr lang="en-GB" altLang="zh-CN" sz="2600" dirty="0"/>
              <a:t> </a:t>
            </a:r>
            <a:r>
              <a:rPr lang="en-GB" altLang="zh-CN" sz="2600" dirty="0" err="1"/>
              <a:t>x,y</a:t>
            </a:r>
            <a:r>
              <a:rPr lang="en-GB" altLang="zh-CN" sz="2600" dirty="0"/>
              <a:t>;</a:t>
            </a:r>
          </a:p>
          <a:p>
            <a:pPr lvl="1" eaLnBrk="1" hangingPunct="1">
              <a:lnSpc>
                <a:spcPct val="70000"/>
              </a:lnSpc>
              <a:buFontTx/>
              <a:buNone/>
              <a:defRPr/>
            </a:pPr>
            <a:r>
              <a:rPr lang="en-GB" altLang="zh-CN" sz="2600" dirty="0"/>
              <a:t>	public:</a:t>
            </a:r>
          </a:p>
          <a:p>
            <a:pPr lvl="1" eaLnBrk="1" hangingPunct="1">
              <a:lnSpc>
                <a:spcPct val="70000"/>
              </a:lnSpc>
              <a:buFontTx/>
              <a:buNone/>
              <a:defRPr/>
            </a:pPr>
            <a:r>
              <a:rPr lang="en-GB" altLang="zh-CN" sz="2600" dirty="0"/>
              <a:t>	  void f() { x++; y++; }</a:t>
            </a:r>
          </a:p>
          <a:p>
            <a:pPr lvl="1" eaLnBrk="1" hangingPunct="1">
              <a:lnSpc>
                <a:spcPct val="70000"/>
              </a:lnSpc>
              <a:buFontTx/>
              <a:buNone/>
              <a:defRPr/>
            </a:pPr>
            <a:r>
              <a:rPr lang="en-GB" altLang="zh-CN" sz="2600" dirty="0"/>
              <a:t>	  </a:t>
            </a:r>
            <a:r>
              <a:rPr lang="en-US" altLang="zh-CN" sz="2600" dirty="0"/>
              <a:t>......</a:t>
            </a:r>
            <a:endParaRPr lang="en-GB" altLang="zh-CN" sz="2600" dirty="0"/>
          </a:p>
          <a:p>
            <a:pPr lvl="1" eaLnBrk="1" hangingPunct="1">
              <a:lnSpc>
                <a:spcPct val="70000"/>
              </a:lnSpc>
              <a:buFontTx/>
              <a:buNone/>
              <a:defRPr/>
            </a:pPr>
            <a:r>
              <a:rPr lang="en-GB" altLang="zh-CN" sz="2600" dirty="0"/>
              <a:t>};</a:t>
            </a:r>
          </a:p>
          <a:p>
            <a:pPr lvl="1" eaLnBrk="1" hangingPunct="1">
              <a:lnSpc>
                <a:spcPct val="70000"/>
              </a:lnSpc>
              <a:buFontTx/>
              <a:buNone/>
              <a:defRPr/>
            </a:pPr>
            <a:r>
              <a:rPr lang="en-GB" altLang="zh-CN" sz="2600" dirty="0"/>
              <a:t>class B: </a:t>
            </a:r>
            <a:r>
              <a:rPr lang="en-GB" altLang="zh-CN" sz="2600" dirty="0">
                <a:solidFill>
                  <a:srgbClr val="FFC000"/>
                </a:solidFill>
              </a:rPr>
              <a:t>public</a:t>
            </a:r>
            <a:r>
              <a:rPr lang="en-GB" altLang="zh-CN" sz="2600" dirty="0"/>
              <a:t> A //</a:t>
            </a:r>
            <a:r>
              <a:rPr lang="zh-CN" altLang="en-GB" sz="2600" dirty="0">
                <a:solidFill>
                  <a:srgbClr val="FFC000"/>
                </a:solidFill>
              </a:rPr>
              <a:t>派生类</a:t>
            </a:r>
          </a:p>
          <a:p>
            <a:pPr lvl="1" eaLnBrk="1" hangingPunct="1">
              <a:lnSpc>
                <a:spcPct val="70000"/>
              </a:lnSpc>
              <a:buFontTx/>
              <a:buNone/>
              <a:defRPr/>
            </a:pPr>
            <a:r>
              <a:rPr lang="en-GB" altLang="zh-CN" sz="2600" dirty="0"/>
              <a:t>{	  </a:t>
            </a:r>
            <a:r>
              <a:rPr lang="en-US" altLang="zh-CN" sz="2600" dirty="0" err="1"/>
              <a:t>int</a:t>
            </a:r>
            <a:r>
              <a:rPr lang="en-US" altLang="zh-CN" sz="2600" dirty="0"/>
              <a:t> z;</a:t>
            </a:r>
            <a:endParaRPr lang="zh-CN" altLang="en-GB" sz="2600" dirty="0"/>
          </a:p>
          <a:p>
            <a:pPr lvl="1" eaLnBrk="1" hangingPunct="1">
              <a:lnSpc>
                <a:spcPct val="70000"/>
              </a:lnSpc>
              <a:buFontTx/>
              <a:buNone/>
              <a:defRPr/>
            </a:pPr>
            <a:r>
              <a:rPr lang="en-GB" altLang="zh-CN" sz="2600" dirty="0"/>
              <a:t>	public:</a:t>
            </a:r>
          </a:p>
          <a:p>
            <a:pPr lvl="1" eaLnBrk="1" hangingPunct="1">
              <a:lnSpc>
                <a:spcPct val="70000"/>
              </a:lnSpc>
              <a:buFontTx/>
              <a:buNone/>
              <a:defRPr/>
            </a:pPr>
            <a:r>
              <a:rPr lang="en-GB" altLang="zh-CN" sz="2600" dirty="0"/>
              <a:t>	  void g() { z++; } </a:t>
            </a:r>
          </a:p>
          <a:p>
            <a:pPr lvl="1" eaLnBrk="1" hangingPunct="1">
              <a:lnSpc>
                <a:spcPct val="70000"/>
              </a:lnSpc>
              <a:buFontTx/>
              <a:buNone/>
              <a:defRPr/>
            </a:pPr>
            <a:r>
              <a:rPr lang="en-GB" altLang="zh-CN" sz="2600" dirty="0"/>
              <a:t>     ......</a:t>
            </a:r>
            <a:endParaRPr lang="zh-CN" altLang="en-GB" sz="2600" dirty="0"/>
          </a:p>
          <a:p>
            <a:pPr lvl="1" eaLnBrk="1" hangingPunct="1">
              <a:lnSpc>
                <a:spcPct val="70000"/>
              </a:lnSpc>
              <a:buFontTx/>
              <a:buNone/>
              <a:defRPr/>
            </a:pPr>
            <a:r>
              <a:rPr lang="en-GB" altLang="zh-CN" sz="2600" dirty="0"/>
              <a:t>};</a:t>
            </a:r>
          </a:p>
          <a:p>
            <a:pPr>
              <a:lnSpc>
                <a:spcPct val="80000"/>
              </a:lnSpc>
              <a:defRPr/>
            </a:pPr>
            <a:endParaRPr lang="zh-CN" alt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a:extLst>
              <a:ext uri="{FF2B5EF4-FFF2-40B4-BE49-F238E27FC236}">
                <a16:creationId xmlns:a16="http://schemas.microsoft.com/office/drawing/2014/main" id="{05DF79AA-F449-D70D-F489-77121CFD3829}"/>
              </a:ext>
            </a:extLst>
          </p:cNvPr>
          <p:cNvSpPr>
            <a:spLocks noGrp="1" noChangeArrowheads="1"/>
          </p:cNvSpPr>
          <p:nvPr>
            <p:ph type="body" idx="1"/>
          </p:nvPr>
        </p:nvSpPr>
        <p:spPr>
          <a:xfrm>
            <a:off x="179388" y="692150"/>
            <a:ext cx="8713787" cy="5761038"/>
          </a:xfrm>
        </p:spPr>
        <p:txBody>
          <a:bodyPr>
            <a:normAutofit/>
          </a:bodyPr>
          <a:lstStyle/>
          <a:p>
            <a:pPr marL="496888" indent="-496888" eaLnBrk="1" hangingPunct="1">
              <a:lnSpc>
                <a:spcPct val="90000"/>
              </a:lnSpc>
              <a:defRPr/>
            </a:pPr>
            <a:r>
              <a:rPr lang="zh-CN" altLang="en-GB" sz="2700" dirty="0"/>
              <a:t>下面</a:t>
            </a:r>
            <a:r>
              <a:rPr lang="zh-CN" altLang="en-US" sz="2700" dirty="0"/>
              <a:t>的操作</a:t>
            </a:r>
            <a:r>
              <a:rPr lang="zh-CN" altLang="en-GB" sz="2700" dirty="0"/>
              <a:t>是合法的：</a:t>
            </a:r>
            <a:r>
              <a:rPr lang="zh-CN" altLang="en-US" sz="2700" dirty="0"/>
              <a:t> </a:t>
            </a:r>
            <a:endParaRPr lang="zh-CN" altLang="en-GB" sz="2700" dirty="0"/>
          </a:p>
          <a:p>
            <a:pPr marL="622300" lvl="1" indent="-457200" eaLnBrk="1" hangingPunct="1">
              <a:lnSpc>
                <a:spcPct val="110000"/>
              </a:lnSpc>
              <a:buFont typeface="Wingdings" panose="05000000000000000000" pitchFamily="2" charset="2"/>
              <a:buNone/>
              <a:defRPr/>
            </a:pPr>
            <a:r>
              <a:rPr lang="en-GB" altLang="zh-CN" sz="2400" dirty="0"/>
              <a:t>A </a:t>
            </a:r>
            <a:r>
              <a:rPr lang="en-GB" altLang="zh-CN" sz="2400" dirty="0" err="1"/>
              <a:t>a</a:t>
            </a:r>
            <a:r>
              <a:rPr lang="en-GB" altLang="zh-CN" sz="2400" dirty="0"/>
              <a:t>;</a:t>
            </a:r>
          </a:p>
          <a:p>
            <a:pPr marL="622300" lvl="1" indent="-457200" eaLnBrk="1" hangingPunct="1">
              <a:lnSpc>
                <a:spcPct val="110000"/>
              </a:lnSpc>
              <a:buFont typeface="Wingdings" panose="05000000000000000000" pitchFamily="2" charset="2"/>
              <a:buNone/>
              <a:defRPr/>
            </a:pPr>
            <a:r>
              <a:rPr lang="en-GB" altLang="zh-CN" sz="2400" dirty="0"/>
              <a:t>B </a:t>
            </a:r>
            <a:r>
              <a:rPr lang="en-GB" altLang="zh-CN" sz="2400" dirty="0" err="1"/>
              <a:t>b</a:t>
            </a:r>
            <a:r>
              <a:rPr lang="en-GB" altLang="zh-CN" sz="2400" dirty="0"/>
              <a:t>;</a:t>
            </a:r>
          </a:p>
          <a:p>
            <a:pPr marL="622300" lvl="1" indent="-457200" eaLnBrk="1" hangingPunct="1">
              <a:lnSpc>
                <a:spcPct val="110000"/>
              </a:lnSpc>
              <a:buFont typeface="Wingdings" panose="05000000000000000000" pitchFamily="2" charset="2"/>
              <a:buNone/>
              <a:defRPr/>
            </a:pPr>
            <a:r>
              <a:rPr lang="en-GB" altLang="zh-CN" sz="2400" dirty="0" err="1">
                <a:solidFill>
                  <a:srgbClr val="FFC000"/>
                </a:solidFill>
              </a:rPr>
              <a:t>b</a:t>
            </a:r>
            <a:r>
              <a:rPr lang="en-GB" altLang="zh-CN" sz="2400" dirty="0" err="1"/>
              <a:t>.f</a:t>
            </a:r>
            <a:r>
              <a:rPr lang="en-GB" altLang="zh-CN" sz="2400" dirty="0"/>
              <a:t>(); //</a:t>
            </a:r>
            <a:r>
              <a:rPr lang="en-US" altLang="zh-CN" sz="2400" dirty="0"/>
              <a:t>OK</a:t>
            </a:r>
            <a:r>
              <a:rPr lang="zh-CN" altLang="en-US" sz="2400" dirty="0"/>
              <a:t>，基类的操作可以实施到派生类对象</a:t>
            </a:r>
            <a:endParaRPr lang="en-US" altLang="zh-CN" sz="2400" dirty="0"/>
          </a:p>
          <a:p>
            <a:pPr marL="622300" lvl="1" indent="-457200" eaLnBrk="1" hangingPunct="1">
              <a:lnSpc>
                <a:spcPct val="110000"/>
              </a:lnSpc>
              <a:buFontTx/>
              <a:buNone/>
              <a:defRPr/>
            </a:pPr>
            <a:r>
              <a:rPr lang="en-GB" altLang="zh-CN" sz="2400" dirty="0"/>
              <a:t>a = </a:t>
            </a:r>
            <a:r>
              <a:rPr lang="en-GB" altLang="zh-CN" sz="2400" dirty="0">
                <a:solidFill>
                  <a:srgbClr val="FFC000"/>
                </a:solidFill>
              </a:rPr>
              <a:t>b</a:t>
            </a:r>
            <a:r>
              <a:rPr lang="en-GB" altLang="zh-CN" sz="2400" dirty="0"/>
              <a:t>;  //</a:t>
            </a:r>
            <a:r>
              <a:rPr lang="en-US" altLang="zh-CN" sz="2400" dirty="0"/>
              <a:t>OK</a:t>
            </a:r>
            <a:r>
              <a:rPr lang="zh-CN" altLang="en-US" sz="2400" dirty="0"/>
              <a:t>，派生类对象可以赋值给基类对象，</a:t>
            </a:r>
            <a:r>
              <a:rPr lang="en-US" altLang="zh-CN" sz="2400" dirty="0"/>
              <a:t>	      </a:t>
            </a:r>
          </a:p>
          <a:p>
            <a:pPr marL="622300" lvl="1" indent="-457200" eaLnBrk="1" hangingPunct="1">
              <a:lnSpc>
                <a:spcPct val="110000"/>
              </a:lnSpc>
              <a:buFontTx/>
              <a:buNone/>
              <a:defRPr/>
            </a:pPr>
            <a:r>
              <a:rPr lang="en-US" altLang="zh-CN" sz="2400" dirty="0"/>
              <a:t>          //</a:t>
            </a:r>
            <a:r>
              <a:rPr lang="zh-CN" altLang="en-US" sz="2400" dirty="0"/>
              <a:t>属于派生类但不属于基类的数据成员将被忽略</a:t>
            </a:r>
            <a:endParaRPr lang="en-US" altLang="zh-CN" sz="2400" dirty="0"/>
          </a:p>
          <a:p>
            <a:pPr marL="622300" lvl="1" indent="-457200" eaLnBrk="1" hangingPunct="1">
              <a:lnSpc>
                <a:spcPct val="110000"/>
              </a:lnSpc>
              <a:buFont typeface="Wingdings" panose="05000000000000000000" pitchFamily="2" charset="2"/>
              <a:buNone/>
              <a:defRPr/>
            </a:pPr>
            <a:r>
              <a:rPr lang="en-GB" altLang="zh-CN" sz="2400" dirty="0"/>
              <a:t>A *p = &amp;</a:t>
            </a:r>
            <a:r>
              <a:rPr lang="en-GB" altLang="zh-CN" sz="2400" dirty="0">
                <a:solidFill>
                  <a:srgbClr val="FFC000"/>
                </a:solidFill>
              </a:rPr>
              <a:t>b</a:t>
            </a:r>
            <a:r>
              <a:rPr lang="en-GB" altLang="zh-CN" sz="2400" dirty="0"/>
              <a:t>;  //</a:t>
            </a:r>
            <a:r>
              <a:rPr lang="en-US" altLang="zh-CN" sz="2400" dirty="0"/>
              <a:t>OK</a:t>
            </a:r>
            <a:r>
              <a:rPr lang="zh-CN" altLang="en-US" sz="2400" dirty="0"/>
              <a:t>，基类指针变量可以指向派生类对象</a:t>
            </a:r>
            <a:endParaRPr lang="en-US" altLang="zh-CN" sz="2400" dirty="0"/>
          </a:p>
          <a:p>
            <a:pPr marL="622300" lvl="1" indent="-457200" eaLnBrk="1" hangingPunct="1">
              <a:lnSpc>
                <a:spcPct val="110000"/>
              </a:lnSpc>
              <a:buFont typeface="Wingdings" panose="05000000000000000000" pitchFamily="2" charset="2"/>
              <a:buNone/>
              <a:defRPr/>
            </a:pPr>
            <a:r>
              <a:rPr lang="en-US" altLang="zh-CN" sz="2400" dirty="0"/>
              <a:t>......</a:t>
            </a:r>
          </a:p>
          <a:p>
            <a:pPr marL="622300" lvl="1" indent="-457200" eaLnBrk="1" hangingPunct="1">
              <a:lnSpc>
                <a:spcPct val="110000"/>
              </a:lnSpc>
              <a:buFont typeface="Wingdings" panose="05000000000000000000" pitchFamily="2" charset="2"/>
              <a:buNone/>
              <a:defRPr/>
            </a:pPr>
            <a:r>
              <a:rPr lang="en-US" altLang="zh-CN" sz="2400" dirty="0"/>
              <a:t>void func1(A *p); </a:t>
            </a:r>
          </a:p>
          <a:p>
            <a:pPr marL="622300" lvl="1" indent="-457200" eaLnBrk="1" hangingPunct="1">
              <a:lnSpc>
                <a:spcPct val="110000"/>
              </a:lnSpc>
              <a:buFont typeface="Wingdings" panose="05000000000000000000" pitchFamily="2" charset="2"/>
              <a:buNone/>
              <a:defRPr/>
            </a:pPr>
            <a:r>
              <a:rPr lang="en-US" altLang="zh-CN" sz="2400" dirty="0"/>
              <a:t>void func2(A &amp;x);</a:t>
            </a:r>
          </a:p>
          <a:p>
            <a:pPr marL="622300" lvl="1" indent="-457200" eaLnBrk="1" hangingPunct="1">
              <a:lnSpc>
                <a:spcPct val="110000"/>
              </a:lnSpc>
              <a:buFont typeface="Wingdings" panose="05000000000000000000" pitchFamily="2" charset="2"/>
              <a:buNone/>
              <a:defRPr/>
            </a:pPr>
            <a:r>
              <a:rPr lang="en-US" altLang="zh-CN" sz="2400" dirty="0"/>
              <a:t>void func3(A x);</a:t>
            </a:r>
          </a:p>
          <a:p>
            <a:pPr marL="622300" lvl="1" indent="-457200" eaLnBrk="1" hangingPunct="1">
              <a:lnSpc>
                <a:spcPct val="110000"/>
              </a:lnSpc>
              <a:buFont typeface="Wingdings" panose="05000000000000000000" pitchFamily="2" charset="2"/>
              <a:buNone/>
              <a:defRPr/>
            </a:pPr>
            <a:r>
              <a:rPr lang="en-US" altLang="zh-CN" sz="2400" dirty="0"/>
              <a:t>func1(&amp;</a:t>
            </a:r>
            <a:r>
              <a:rPr lang="en-US" altLang="zh-CN" sz="2400" dirty="0">
                <a:solidFill>
                  <a:srgbClr val="FFC000"/>
                </a:solidFill>
              </a:rPr>
              <a:t>b</a:t>
            </a:r>
            <a:r>
              <a:rPr lang="en-US" altLang="zh-CN" sz="2400" dirty="0"/>
              <a:t>); func2(</a:t>
            </a:r>
            <a:r>
              <a:rPr lang="en-US" altLang="zh-CN" sz="2400" dirty="0">
                <a:solidFill>
                  <a:srgbClr val="FFC000"/>
                </a:solidFill>
              </a:rPr>
              <a:t>b</a:t>
            </a:r>
            <a:r>
              <a:rPr lang="en-US" altLang="zh-CN" sz="2400" dirty="0"/>
              <a:t>); func3(</a:t>
            </a:r>
            <a:r>
              <a:rPr lang="en-US" altLang="zh-CN" sz="2400" dirty="0">
                <a:solidFill>
                  <a:srgbClr val="FFC000"/>
                </a:solidFill>
              </a:rPr>
              <a:t>b</a:t>
            </a:r>
            <a:r>
              <a:rPr lang="en-US" altLang="zh-CN" sz="2400" dirty="0"/>
              <a:t>); //OK</a:t>
            </a:r>
          </a:p>
          <a:p>
            <a:pPr marL="1371600" lvl="2" indent="-457200" eaLnBrk="1" hangingPunct="1">
              <a:lnSpc>
                <a:spcPct val="90000"/>
              </a:lnSpc>
              <a:buFont typeface="Wingdings" panose="05000000000000000000" pitchFamily="2" charset="2"/>
              <a:buNone/>
              <a:defRPr/>
            </a:pPr>
            <a:endParaRPr lang="zh-CN" altLang="en-GB"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14BDB04-031F-D8D2-309A-CFB5CD8275E4}"/>
              </a:ext>
            </a:extLst>
          </p:cNvPr>
          <p:cNvSpPr>
            <a:spLocks noGrp="1"/>
          </p:cNvSpPr>
          <p:nvPr>
            <p:ph idx="1"/>
          </p:nvPr>
        </p:nvSpPr>
        <p:spPr>
          <a:xfrm>
            <a:off x="179388" y="333375"/>
            <a:ext cx="8713787" cy="5903913"/>
          </a:xfrm>
        </p:spPr>
        <p:txBody>
          <a:bodyPr>
            <a:normAutofit/>
          </a:bodyPr>
          <a:lstStyle/>
          <a:p>
            <a:pPr marL="496888" indent="-439738" eaLnBrk="1" hangingPunct="1">
              <a:lnSpc>
                <a:spcPct val="90000"/>
              </a:lnSpc>
              <a:defRPr/>
            </a:pPr>
            <a:r>
              <a:rPr lang="zh-CN" altLang="en-GB" dirty="0"/>
              <a:t>下面</a:t>
            </a:r>
            <a:r>
              <a:rPr lang="zh-CN" altLang="en-US" dirty="0"/>
              <a:t>的操作</a:t>
            </a:r>
            <a:r>
              <a:rPr lang="zh-CN" altLang="en-GB" dirty="0"/>
              <a:t>是不合法的：</a:t>
            </a:r>
          </a:p>
          <a:p>
            <a:pPr marL="803275" lvl="1" indent="-457200" eaLnBrk="1" hangingPunct="1">
              <a:lnSpc>
                <a:spcPct val="90000"/>
              </a:lnSpc>
              <a:buFont typeface="Wingdings" panose="05000000000000000000" pitchFamily="2" charset="2"/>
              <a:buNone/>
              <a:defRPr/>
            </a:pPr>
            <a:r>
              <a:rPr lang="en-GB" altLang="zh-CN" sz="2600" dirty="0"/>
              <a:t>A </a:t>
            </a:r>
            <a:r>
              <a:rPr lang="en-GB" altLang="zh-CN" sz="2600" dirty="0" err="1"/>
              <a:t>a</a:t>
            </a:r>
            <a:r>
              <a:rPr lang="en-GB" altLang="zh-CN" sz="2600" dirty="0"/>
              <a:t>;</a:t>
            </a:r>
          </a:p>
          <a:p>
            <a:pPr marL="803275" lvl="1" indent="-457200" eaLnBrk="1" hangingPunct="1">
              <a:lnSpc>
                <a:spcPct val="90000"/>
              </a:lnSpc>
              <a:buFont typeface="Wingdings" panose="05000000000000000000" pitchFamily="2" charset="2"/>
              <a:buNone/>
              <a:defRPr/>
            </a:pPr>
            <a:r>
              <a:rPr lang="en-GB" altLang="zh-CN" sz="2600" dirty="0"/>
              <a:t>B </a:t>
            </a:r>
            <a:r>
              <a:rPr lang="en-GB" altLang="zh-CN" sz="2600" dirty="0" err="1"/>
              <a:t>b</a:t>
            </a:r>
            <a:r>
              <a:rPr lang="en-GB" altLang="zh-CN" sz="2600" dirty="0"/>
              <a:t>;</a:t>
            </a:r>
          </a:p>
          <a:p>
            <a:pPr marL="803275" lvl="1" indent="-457200" eaLnBrk="1" hangingPunct="1">
              <a:lnSpc>
                <a:spcPct val="90000"/>
              </a:lnSpc>
              <a:buFont typeface="Wingdings" panose="05000000000000000000" pitchFamily="2" charset="2"/>
              <a:buNone/>
              <a:defRPr/>
            </a:pPr>
            <a:r>
              <a:rPr lang="en-US" altLang="zh-CN" sz="2600" dirty="0" err="1"/>
              <a:t>a.</a:t>
            </a:r>
            <a:r>
              <a:rPr lang="en-US" altLang="zh-CN" sz="2600" dirty="0" err="1">
                <a:solidFill>
                  <a:srgbClr val="FFC000"/>
                </a:solidFill>
              </a:rPr>
              <a:t>g</a:t>
            </a:r>
            <a:r>
              <a:rPr lang="en-US" altLang="zh-CN" sz="2600" dirty="0"/>
              <a:t>(); //</a:t>
            </a:r>
            <a:r>
              <a:rPr lang="en-US" altLang="zh-CN" sz="2600" dirty="0">
                <a:solidFill>
                  <a:srgbClr val="FFC000"/>
                </a:solidFill>
              </a:rPr>
              <a:t>Error</a:t>
            </a:r>
            <a:r>
              <a:rPr lang="zh-CN" altLang="en-GB" sz="2600" dirty="0"/>
              <a:t>，</a:t>
            </a:r>
            <a:r>
              <a:rPr lang="en-US" altLang="zh-CN" sz="2600" dirty="0"/>
              <a:t>a</a:t>
            </a:r>
            <a:r>
              <a:rPr lang="zh-CN" altLang="en-US" sz="2600" dirty="0"/>
              <a:t>没有</a:t>
            </a:r>
            <a:r>
              <a:rPr lang="en-US" altLang="zh-CN" sz="2600" dirty="0"/>
              <a:t>g</a:t>
            </a:r>
            <a:r>
              <a:rPr lang="zh-CN" altLang="en-US" sz="2600" dirty="0"/>
              <a:t>这个成员函数。</a:t>
            </a:r>
            <a:endParaRPr lang="zh-CN" altLang="en-GB" sz="2600" dirty="0">
              <a:solidFill>
                <a:srgbClr val="FFC000"/>
              </a:solidFill>
            </a:endParaRPr>
          </a:p>
          <a:p>
            <a:pPr marL="803275" lvl="1" indent="-457200" eaLnBrk="1" hangingPunct="1">
              <a:lnSpc>
                <a:spcPct val="90000"/>
              </a:lnSpc>
              <a:buFont typeface="Wingdings" panose="05000000000000000000" pitchFamily="2" charset="2"/>
              <a:buNone/>
              <a:defRPr/>
            </a:pPr>
            <a:r>
              <a:rPr lang="en-GB" altLang="zh-CN" sz="2600" dirty="0"/>
              <a:t>b = </a:t>
            </a:r>
            <a:r>
              <a:rPr lang="en-GB" altLang="zh-CN" sz="2600" dirty="0">
                <a:solidFill>
                  <a:srgbClr val="FFC000"/>
                </a:solidFill>
              </a:rPr>
              <a:t>a</a:t>
            </a:r>
            <a:r>
              <a:rPr lang="en-GB" altLang="zh-CN" sz="2600" dirty="0"/>
              <a:t>;  //</a:t>
            </a:r>
            <a:r>
              <a:rPr lang="en-GB" altLang="zh-CN" sz="2600" dirty="0">
                <a:solidFill>
                  <a:srgbClr val="FFC000"/>
                </a:solidFill>
              </a:rPr>
              <a:t>Error</a:t>
            </a:r>
            <a:r>
              <a:rPr lang="zh-CN" altLang="en-GB" sz="2600" dirty="0"/>
              <a:t>，</a:t>
            </a:r>
            <a:r>
              <a:rPr lang="en-GB" altLang="zh-CN" sz="2600" dirty="0"/>
              <a:t>a</a:t>
            </a:r>
            <a:r>
              <a:rPr lang="zh-CN" altLang="en-GB" sz="2600" dirty="0"/>
              <a:t>中没有</a:t>
            </a:r>
            <a:r>
              <a:rPr lang="zh-CN" altLang="en-US" sz="2600" dirty="0"/>
              <a:t>某些</a:t>
            </a:r>
            <a:r>
              <a:rPr lang="zh-CN" altLang="en-GB" sz="2600" dirty="0"/>
              <a:t>数据</a:t>
            </a:r>
            <a:endParaRPr lang="en-US" altLang="zh-CN" sz="2600" dirty="0"/>
          </a:p>
          <a:p>
            <a:pPr marL="803275" lvl="1" indent="-457200" eaLnBrk="1" hangingPunct="1">
              <a:lnSpc>
                <a:spcPct val="90000"/>
              </a:lnSpc>
              <a:buFont typeface="Wingdings" panose="05000000000000000000" pitchFamily="2" charset="2"/>
              <a:buNone/>
              <a:defRPr/>
            </a:pPr>
            <a:r>
              <a:rPr lang="en-GB" altLang="zh-CN" sz="2600" dirty="0"/>
              <a:t>B *q = &amp;</a:t>
            </a:r>
            <a:r>
              <a:rPr lang="en-GB" altLang="zh-CN" sz="2600" dirty="0">
                <a:solidFill>
                  <a:srgbClr val="FFC000"/>
                </a:solidFill>
              </a:rPr>
              <a:t>a</a:t>
            </a:r>
            <a:r>
              <a:rPr lang="en-GB" altLang="zh-CN" sz="2600" dirty="0"/>
              <a:t>;  //</a:t>
            </a:r>
            <a:r>
              <a:rPr lang="en-GB" altLang="zh-CN" sz="2600" dirty="0">
                <a:solidFill>
                  <a:srgbClr val="FFC000"/>
                </a:solidFill>
              </a:rPr>
              <a:t>Error</a:t>
            </a:r>
            <a:r>
              <a:rPr lang="zh-CN" altLang="en-GB" sz="2600" dirty="0"/>
              <a:t>，</a:t>
            </a:r>
            <a:endParaRPr lang="en-US" altLang="zh-CN" sz="2600" dirty="0"/>
          </a:p>
          <a:p>
            <a:pPr marL="803275" lvl="1" indent="-457200" eaLnBrk="1" hangingPunct="1">
              <a:lnSpc>
                <a:spcPct val="90000"/>
              </a:lnSpc>
              <a:buFont typeface="Wingdings" panose="05000000000000000000" pitchFamily="2" charset="2"/>
              <a:buNone/>
              <a:defRPr/>
            </a:pPr>
            <a:r>
              <a:rPr lang="en-US" altLang="zh-CN" sz="2600" dirty="0"/>
              <a:t>			     //</a:t>
            </a:r>
            <a:r>
              <a:rPr lang="zh-CN" altLang="en-US" sz="2600" dirty="0"/>
              <a:t>操作“</a:t>
            </a:r>
            <a:r>
              <a:rPr lang="en-GB" altLang="zh-CN" sz="2600" dirty="0"/>
              <a:t>q-&gt;g();</a:t>
            </a:r>
            <a:r>
              <a:rPr lang="zh-CN" altLang="en-US" sz="2600" dirty="0"/>
              <a:t>”将修改不属于</a:t>
            </a:r>
            <a:r>
              <a:rPr lang="en-US" altLang="zh-CN" sz="2600" dirty="0"/>
              <a:t>a</a:t>
            </a:r>
            <a:r>
              <a:rPr lang="zh-CN" altLang="en-US" sz="2600" dirty="0"/>
              <a:t>的数据！</a:t>
            </a:r>
            <a:endParaRPr lang="en-GB" altLang="zh-CN" sz="2600" dirty="0"/>
          </a:p>
          <a:p>
            <a:pPr marL="803275" lvl="1" indent="-457200" eaLnBrk="1" hangingPunct="1">
              <a:lnSpc>
                <a:spcPct val="90000"/>
              </a:lnSpc>
              <a:buFont typeface="Wingdings" panose="05000000000000000000" pitchFamily="2" charset="2"/>
              <a:buNone/>
              <a:defRPr/>
            </a:pPr>
            <a:r>
              <a:rPr lang="en-GB" altLang="zh-CN" sz="2600" dirty="0"/>
              <a:t>......</a:t>
            </a:r>
          </a:p>
          <a:p>
            <a:pPr marL="803275" lvl="1" indent="-457200" eaLnBrk="1" hangingPunct="1">
              <a:lnSpc>
                <a:spcPct val="90000"/>
              </a:lnSpc>
              <a:buFont typeface="Wingdings" panose="05000000000000000000" pitchFamily="2" charset="2"/>
              <a:buNone/>
              <a:defRPr/>
            </a:pPr>
            <a:r>
              <a:rPr lang="en-US" altLang="zh-CN" sz="2600" dirty="0"/>
              <a:t>void func1(B *p); </a:t>
            </a:r>
          </a:p>
          <a:p>
            <a:pPr marL="803275" lvl="1" indent="-457200" eaLnBrk="1" hangingPunct="1">
              <a:lnSpc>
                <a:spcPct val="90000"/>
              </a:lnSpc>
              <a:buFont typeface="Wingdings" panose="05000000000000000000" pitchFamily="2" charset="2"/>
              <a:buNone/>
              <a:defRPr/>
            </a:pPr>
            <a:r>
              <a:rPr lang="en-US" altLang="zh-CN" sz="2600" dirty="0"/>
              <a:t>void func2(B &amp;x);</a:t>
            </a:r>
          </a:p>
          <a:p>
            <a:pPr marL="803275" lvl="1" indent="-457200" eaLnBrk="1" hangingPunct="1">
              <a:lnSpc>
                <a:spcPct val="90000"/>
              </a:lnSpc>
              <a:buFont typeface="Wingdings" panose="05000000000000000000" pitchFamily="2" charset="2"/>
              <a:buNone/>
              <a:defRPr/>
            </a:pPr>
            <a:r>
              <a:rPr lang="en-US" altLang="zh-CN" sz="2600" dirty="0"/>
              <a:t>void func3(B x);</a:t>
            </a:r>
          </a:p>
          <a:p>
            <a:pPr marL="803275" lvl="1" indent="-457200" eaLnBrk="1" hangingPunct="1">
              <a:lnSpc>
                <a:spcPct val="90000"/>
              </a:lnSpc>
              <a:buFont typeface="Wingdings" panose="05000000000000000000" pitchFamily="2" charset="2"/>
              <a:buNone/>
              <a:defRPr/>
            </a:pPr>
            <a:r>
              <a:rPr lang="en-US" altLang="zh-CN" sz="2600" dirty="0"/>
              <a:t>func1(&amp;</a:t>
            </a:r>
            <a:r>
              <a:rPr lang="en-US" altLang="zh-CN" sz="2600" dirty="0">
                <a:solidFill>
                  <a:srgbClr val="FFC000"/>
                </a:solidFill>
              </a:rPr>
              <a:t>a</a:t>
            </a:r>
            <a:r>
              <a:rPr lang="en-US" altLang="zh-CN" sz="2600" dirty="0"/>
              <a:t>); func2(</a:t>
            </a:r>
            <a:r>
              <a:rPr lang="en-US" altLang="zh-CN" sz="2600" dirty="0">
                <a:solidFill>
                  <a:srgbClr val="FFC000"/>
                </a:solidFill>
              </a:rPr>
              <a:t>a</a:t>
            </a:r>
            <a:r>
              <a:rPr lang="en-US" altLang="zh-CN" sz="2600" dirty="0"/>
              <a:t>); func3(</a:t>
            </a:r>
            <a:r>
              <a:rPr lang="en-US" altLang="zh-CN" sz="2600" dirty="0">
                <a:solidFill>
                  <a:srgbClr val="FFC000"/>
                </a:solidFill>
              </a:rPr>
              <a:t>a</a:t>
            </a:r>
            <a:r>
              <a:rPr lang="en-US" altLang="zh-CN" sz="2600" dirty="0"/>
              <a:t>); //</a:t>
            </a:r>
            <a:r>
              <a:rPr lang="en-US" altLang="zh-CN" sz="2600" dirty="0">
                <a:solidFill>
                  <a:srgbClr val="FFC000"/>
                </a:solidFill>
              </a:rPr>
              <a:t>Error</a:t>
            </a:r>
            <a:endParaRPr lang="zh-CN" alt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a:extLst>
              <a:ext uri="{FF2B5EF4-FFF2-40B4-BE49-F238E27FC236}">
                <a16:creationId xmlns:a16="http://schemas.microsoft.com/office/drawing/2014/main" id="{A9AF3AA8-4186-78C7-3B98-8A9FEE2FED79}"/>
              </a:ext>
            </a:extLst>
          </p:cNvPr>
          <p:cNvSpPr>
            <a:spLocks noGrp="1" noChangeArrowheads="1"/>
          </p:cNvSpPr>
          <p:nvPr>
            <p:ph type="title"/>
          </p:nvPr>
        </p:nvSpPr>
        <p:spPr>
          <a:xfrm>
            <a:off x="457200" y="255588"/>
            <a:ext cx="8229600" cy="941387"/>
          </a:xfrm>
        </p:spPr>
        <p:txBody>
          <a:bodyPr/>
          <a:lstStyle/>
          <a:p>
            <a:pPr eaLnBrk="1" hangingPunct="1">
              <a:defRPr/>
            </a:pPr>
            <a:r>
              <a:rPr lang="zh-CN" altLang="en-GB"/>
              <a:t>派生类对象的初始化</a:t>
            </a:r>
            <a:r>
              <a:rPr lang="zh-CN" altLang="en-US"/>
              <a:t>和消亡处理 </a:t>
            </a:r>
          </a:p>
        </p:txBody>
      </p:sp>
      <p:sp>
        <p:nvSpPr>
          <p:cNvPr id="552963" name="Rectangle 3">
            <a:extLst>
              <a:ext uri="{FF2B5EF4-FFF2-40B4-BE49-F238E27FC236}">
                <a16:creationId xmlns:a16="http://schemas.microsoft.com/office/drawing/2014/main" id="{902092D3-CA79-34AB-49E8-5E84DAB957F4}"/>
              </a:ext>
            </a:extLst>
          </p:cNvPr>
          <p:cNvSpPr>
            <a:spLocks noGrp="1" noChangeArrowheads="1"/>
          </p:cNvSpPr>
          <p:nvPr>
            <p:ph type="body" idx="1"/>
          </p:nvPr>
        </p:nvSpPr>
        <p:spPr>
          <a:xfrm>
            <a:off x="395288" y="1412875"/>
            <a:ext cx="8397875" cy="5111750"/>
          </a:xfrm>
        </p:spPr>
        <p:txBody>
          <a:bodyPr>
            <a:normAutofit/>
          </a:bodyPr>
          <a:lstStyle/>
          <a:p>
            <a:pPr eaLnBrk="1" hangingPunct="1">
              <a:lnSpc>
                <a:spcPct val="90000"/>
              </a:lnSpc>
              <a:defRPr/>
            </a:pPr>
            <a:r>
              <a:rPr lang="zh-CN" altLang="en-GB" sz="3000" dirty="0"/>
              <a:t>派生类对象的初始化由基类和派生类共同完成：</a:t>
            </a:r>
          </a:p>
          <a:p>
            <a:pPr lvl="1" eaLnBrk="1" hangingPunct="1">
              <a:lnSpc>
                <a:spcPct val="90000"/>
              </a:lnSpc>
              <a:defRPr/>
            </a:pPr>
            <a:r>
              <a:rPr lang="zh-CN" altLang="en-US" sz="2600" dirty="0"/>
              <a:t>从</a:t>
            </a:r>
            <a:r>
              <a:rPr lang="zh-CN" altLang="en-GB" sz="2600" dirty="0"/>
              <a:t>基类</a:t>
            </a:r>
            <a:r>
              <a:rPr lang="zh-CN" altLang="en-US" sz="2600" dirty="0"/>
              <a:t>继承</a:t>
            </a:r>
            <a:r>
              <a:rPr lang="zh-CN" altLang="en-GB" sz="2600" dirty="0"/>
              <a:t>的数据成员由基类的构造函数初始化</a:t>
            </a:r>
            <a:r>
              <a:rPr lang="zh-CN" altLang="en-US" sz="2600" dirty="0"/>
              <a:t>；</a:t>
            </a:r>
            <a:endParaRPr lang="zh-CN" altLang="en-GB" sz="2600" dirty="0"/>
          </a:p>
          <a:p>
            <a:pPr lvl="1" eaLnBrk="1" hangingPunct="1">
              <a:lnSpc>
                <a:spcPct val="90000"/>
              </a:lnSpc>
              <a:defRPr/>
            </a:pPr>
            <a:r>
              <a:rPr lang="zh-CN" altLang="en-GB" sz="2600" dirty="0"/>
              <a:t>派生类的数据成员由派生类的构造函数初始化。</a:t>
            </a:r>
          </a:p>
          <a:p>
            <a:pPr eaLnBrk="1" hangingPunct="1">
              <a:lnSpc>
                <a:spcPct val="90000"/>
              </a:lnSpc>
              <a:defRPr/>
            </a:pPr>
            <a:r>
              <a:rPr lang="zh-CN" altLang="en-GB" sz="3000" dirty="0"/>
              <a:t>当创建派生类的对象时，</a:t>
            </a:r>
            <a:endParaRPr lang="en-US" altLang="zh-CN" sz="3000" dirty="0"/>
          </a:p>
          <a:p>
            <a:pPr lvl="1" eaLnBrk="1" hangingPunct="1">
              <a:lnSpc>
                <a:spcPct val="90000"/>
              </a:lnSpc>
              <a:defRPr/>
            </a:pPr>
            <a:r>
              <a:rPr lang="zh-CN" altLang="en-GB" sz="2600" dirty="0">
                <a:solidFill>
                  <a:srgbClr val="FFC000"/>
                </a:solidFill>
              </a:rPr>
              <a:t>先执行基类的构造函数，再执行派生类构造函数。</a:t>
            </a:r>
          </a:p>
          <a:p>
            <a:pPr lvl="1" eaLnBrk="1" hangingPunct="1">
              <a:lnSpc>
                <a:spcPct val="90000"/>
              </a:lnSpc>
              <a:defRPr/>
            </a:pPr>
            <a:r>
              <a:rPr lang="zh-CN" altLang="en-GB" sz="2600" dirty="0"/>
              <a:t>默认情况下，调用基类的默认构造函数，如果要调用基类的非默认构造函数，则必须在派生类构造函数的成员初始化表中指出</a:t>
            </a:r>
            <a:r>
              <a:rPr lang="zh-CN" altLang="en-US" sz="2600" dirty="0"/>
              <a:t>。</a:t>
            </a:r>
            <a:endParaRPr lang="en-US" altLang="zh-CN" sz="2600" dirty="0"/>
          </a:p>
          <a:p>
            <a:pPr eaLnBrk="1" hangingPunct="1">
              <a:lnSpc>
                <a:spcPct val="90000"/>
              </a:lnSpc>
              <a:defRPr/>
            </a:pPr>
            <a:r>
              <a:rPr lang="zh-CN" altLang="en-US" sz="3000" dirty="0"/>
              <a:t>当派生类对象消亡时，</a:t>
            </a:r>
            <a:endParaRPr lang="en-US" altLang="zh-CN" sz="3000" dirty="0"/>
          </a:p>
          <a:p>
            <a:pPr lvl="1" eaLnBrk="1" hangingPunct="1">
              <a:lnSpc>
                <a:spcPct val="90000"/>
              </a:lnSpc>
              <a:defRPr/>
            </a:pPr>
            <a:r>
              <a:rPr lang="zh-CN" altLang="en-US" sz="2600" dirty="0">
                <a:solidFill>
                  <a:srgbClr val="FFC000"/>
                </a:solidFill>
              </a:rPr>
              <a:t>先调用本身类的析构函数，执行完后会自动去调用基类的析构函数。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7" name="Rectangle 3">
            <a:extLst>
              <a:ext uri="{FF2B5EF4-FFF2-40B4-BE49-F238E27FC236}">
                <a16:creationId xmlns:a16="http://schemas.microsoft.com/office/drawing/2014/main" id="{A14B3444-1E0C-01C9-9751-CE2F29159959}"/>
              </a:ext>
            </a:extLst>
          </p:cNvPr>
          <p:cNvSpPr>
            <a:spLocks noGrp="1" noChangeArrowheads="1"/>
          </p:cNvSpPr>
          <p:nvPr>
            <p:ph type="body" idx="1"/>
          </p:nvPr>
        </p:nvSpPr>
        <p:spPr>
          <a:xfrm>
            <a:off x="71438" y="73025"/>
            <a:ext cx="9037637" cy="6669088"/>
          </a:xfrm>
        </p:spPr>
        <p:txBody>
          <a:bodyPr/>
          <a:lstStyle/>
          <a:p>
            <a:pPr eaLnBrk="1" hangingPunct="1">
              <a:lnSpc>
                <a:spcPct val="80000"/>
              </a:lnSpc>
              <a:buFont typeface="Wingdings" panose="05000000000000000000" pitchFamily="2" charset="2"/>
              <a:buNone/>
              <a:defRPr/>
            </a:pPr>
            <a:r>
              <a:rPr lang="en-GB" altLang="zh-CN" sz="2400"/>
              <a:t>class A</a:t>
            </a:r>
          </a:p>
          <a:p>
            <a:pPr eaLnBrk="1" hangingPunct="1">
              <a:lnSpc>
                <a:spcPct val="80000"/>
              </a:lnSpc>
              <a:buFont typeface="Wingdings" panose="05000000000000000000" pitchFamily="2" charset="2"/>
              <a:buNone/>
              <a:defRPr/>
            </a:pPr>
            <a:r>
              <a:rPr lang="en-GB" altLang="zh-CN" sz="2400"/>
              <a:t>{		int x;</a:t>
            </a:r>
          </a:p>
          <a:p>
            <a:pPr eaLnBrk="1" hangingPunct="1">
              <a:lnSpc>
                <a:spcPct val="80000"/>
              </a:lnSpc>
              <a:buFont typeface="Wingdings" panose="05000000000000000000" pitchFamily="2" charset="2"/>
              <a:buNone/>
              <a:defRPr/>
            </a:pPr>
            <a:r>
              <a:rPr lang="en-GB" altLang="zh-CN" sz="2400"/>
              <a:t>	public:</a:t>
            </a:r>
          </a:p>
          <a:p>
            <a:pPr eaLnBrk="1" hangingPunct="1">
              <a:lnSpc>
                <a:spcPct val="80000"/>
              </a:lnSpc>
              <a:buFont typeface="Wingdings" panose="05000000000000000000" pitchFamily="2" charset="2"/>
              <a:buNone/>
              <a:defRPr/>
            </a:pPr>
            <a:r>
              <a:rPr lang="en-GB" altLang="zh-CN" sz="2400"/>
              <a:t>		A() { x = 0; }</a:t>
            </a:r>
          </a:p>
          <a:p>
            <a:pPr eaLnBrk="1" hangingPunct="1">
              <a:lnSpc>
                <a:spcPct val="80000"/>
              </a:lnSpc>
              <a:buFont typeface="Wingdings" panose="05000000000000000000" pitchFamily="2" charset="2"/>
              <a:buNone/>
              <a:defRPr/>
            </a:pPr>
            <a:r>
              <a:rPr lang="en-GB" altLang="zh-CN" sz="2400"/>
              <a:t>		A(int i) { x = i; }</a:t>
            </a:r>
          </a:p>
          <a:p>
            <a:pPr eaLnBrk="1" hangingPunct="1">
              <a:lnSpc>
                <a:spcPct val="80000"/>
              </a:lnSpc>
              <a:buFont typeface="Wingdings" panose="05000000000000000000" pitchFamily="2" charset="2"/>
              <a:buNone/>
              <a:defRPr/>
            </a:pPr>
            <a:r>
              <a:rPr lang="en-GB" altLang="zh-CN" sz="2400"/>
              <a:t>};</a:t>
            </a:r>
          </a:p>
          <a:p>
            <a:pPr eaLnBrk="1" hangingPunct="1">
              <a:lnSpc>
                <a:spcPct val="80000"/>
              </a:lnSpc>
              <a:buFont typeface="Wingdings" panose="05000000000000000000" pitchFamily="2" charset="2"/>
              <a:buNone/>
              <a:defRPr/>
            </a:pPr>
            <a:r>
              <a:rPr lang="en-GB" altLang="zh-CN" sz="2400"/>
              <a:t>class B: public A</a:t>
            </a:r>
          </a:p>
          <a:p>
            <a:pPr eaLnBrk="1" hangingPunct="1">
              <a:lnSpc>
                <a:spcPct val="80000"/>
              </a:lnSpc>
              <a:buFont typeface="Wingdings" panose="05000000000000000000" pitchFamily="2" charset="2"/>
              <a:buNone/>
              <a:defRPr/>
            </a:pPr>
            <a:r>
              <a:rPr lang="en-GB" altLang="zh-CN" sz="2400"/>
              <a:t>{		int y;</a:t>
            </a:r>
          </a:p>
          <a:p>
            <a:pPr eaLnBrk="1" hangingPunct="1">
              <a:lnSpc>
                <a:spcPct val="80000"/>
              </a:lnSpc>
              <a:buFont typeface="Wingdings" panose="05000000000000000000" pitchFamily="2" charset="2"/>
              <a:buNone/>
              <a:defRPr/>
            </a:pPr>
            <a:r>
              <a:rPr lang="en-GB" altLang="zh-CN" sz="2400"/>
              <a:t>	public:</a:t>
            </a:r>
          </a:p>
          <a:p>
            <a:pPr eaLnBrk="1" hangingPunct="1">
              <a:lnSpc>
                <a:spcPct val="80000"/>
              </a:lnSpc>
              <a:buFont typeface="Wingdings" panose="05000000000000000000" pitchFamily="2" charset="2"/>
              <a:buNone/>
              <a:defRPr/>
            </a:pPr>
            <a:r>
              <a:rPr lang="en-GB" altLang="zh-CN" sz="2400"/>
              <a:t>		B() { y = 0; }</a:t>
            </a:r>
          </a:p>
          <a:p>
            <a:pPr eaLnBrk="1" hangingPunct="1">
              <a:lnSpc>
                <a:spcPct val="80000"/>
              </a:lnSpc>
              <a:buFont typeface="Wingdings" panose="05000000000000000000" pitchFamily="2" charset="2"/>
              <a:buNone/>
              <a:defRPr/>
            </a:pPr>
            <a:r>
              <a:rPr lang="en-GB" altLang="zh-CN" sz="2400"/>
              <a:t>		B(int i) { y = i; }</a:t>
            </a:r>
          </a:p>
          <a:p>
            <a:pPr eaLnBrk="1" hangingPunct="1">
              <a:lnSpc>
                <a:spcPct val="80000"/>
              </a:lnSpc>
              <a:buFont typeface="Wingdings" panose="05000000000000000000" pitchFamily="2" charset="2"/>
              <a:buNone/>
              <a:defRPr/>
            </a:pPr>
            <a:r>
              <a:rPr lang="en-GB" altLang="zh-CN" sz="2400"/>
              <a:t>		B(int i, int j):</a:t>
            </a:r>
            <a:r>
              <a:rPr lang="en-GB" altLang="zh-CN" sz="2400">
                <a:solidFill>
                  <a:srgbClr val="FFC000"/>
                </a:solidFill>
              </a:rPr>
              <a:t>A(i)</a:t>
            </a:r>
            <a:r>
              <a:rPr lang="en-GB" altLang="zh-CN" sz="2400"/>
              <a:t> { y = j; }</a:t>
            </a:r>
          </a:p>
          <a:p>
            <a:pPr eaLnBrk="1" hangingPunct="1">
              <a:lnSpc>
                <a:spcPct val="80000"/>
              </a:lnSpc>
              <a:buFont typeface="Wingdings" panose="05000000000000000000" pitchFamily="2" charset="2"/>
              <a:buNone/>
              <a:defRPr/>
            </a:pPr>
            <a:r>
              <a:rPr lang="en-GB" altLang="zh-CN" sz="2400"/>
              <a:t>};</a:t>
            </a:r>
            <a:endParaRPr lang="en-US" altLang="zh-CN" sz="2400"/>
          </a:p>
          <a:p>
            <a:pPr eaLnBrk="1" hangingPunct="1">
              <a:lnSpc>
                <a:spcPct val="80000"/>
              </a:lnSpc>
              <a:buFont typeface="Wingdings" panose="05000000000000000000" pitchFamily="2" charset="2"/>
              <a:buNone/>
              <a:defRPr/>
            </a:pPr>
            <a:r>
              <a:rPr lang="en-US" altLang="zh-CN" sz="2400"/>
              <a:t>......</a:t>
            </a:r>
          </a:p>
          <a:p>
            <a:pPr eaLnBrk="1" hangingPunct="1">
              <a:lnSpc>
                <a:spcPct val="80000"/>
              </a:lnSpc>
              <a:buFont typeface="Wingdings" panose="05000000000000000000" pitchFamily="2" charset="2"/>
              <a:buNone/>
              <a:defRPr/>
            </a:pPr>
            <a:r>
              <a:rPr lang="en-US" altLang="zh-CN" sz="2400"/>
              <a:t>B b1;  //</a:t>
            </a:r>
            <a:r>
              <a:rPr lang="zh-CN" altLang="en-US" sz="2400"/>
              <a:t>执行</a:t>
            </a:r>
            <a:r>
              <a:rPr lang="en-US" altLang="zh-CN" sz="2400"/>
              <a:t>A::A()</a:t>
            </a:r>
            <a:r>
              <a:rPr lang="zh-CN" altLang="en-US" sz="2400"/>
              <a:t>和</a:t>
            </a:r>
            <a:r>
              <a:rPr lang="en-US" altLang="zh-CN" sz="2400"/>
              <a:t>B::B()</a:t>
            </a:r>
            <a:r>
              <a:rPr lang="zh-CN" altLang="en-US" sz="2400"/>
              <a:t>，</a:t>
            </a:r>
            <a:r>
              <a:rPr lang="en-US" altLang="zh-CN" sz="2400"/>
              <a:t>b1.x</a:t>
            </a:r>
            <a:r>
              <a:rPr lang="zh-CN" altLang="en-US" sz="2400"/>
              <a:t>等于</a:t>
            </a:r>
            <a:r>
              <a:rPr lang="en-US" altLang="zh-CN" sz="2400"/>
              <a:t>0</a:t>
            </a:r>
            <a:r>
              <a:rPr lang="zh-CN" altLang="en-US" sz="2400"/>
              <a:t>，</a:t>
            </a:r>
            <a:r>
              <a:rPr lang="en-US" altLang="zh-CN" sz="2400"/>
              <a:t>b1.y</a:t>
            </a:r>
            <a:r>
              <a:rPr lang="zh-CN" altLang="en-US" sz="2400"/>
              <a:t>等于</a:t>
            </a:r>
            <a:r>
              <a:rPr lang="en-US" altLang="zh-CN" sz="2400"/>
              <a:t>0</a:t>
            </a:r>
            <a:r>
              <a:rPr lang="zh-CN" altLang="en-US" sz="2400"/>
              <a:t>。</a:t>
            </a:r>
          </a:p>
          <a:p>
            <a:pPr eaLnBrk="1" hangingPunct="1">
              <a:lnSpc>
                <a:spcPct val="80000"/>
              </a:lnSpc>
              <a:buFont typeface="Wingdings" panose="05000000000000000000" pitchFamily="2" charset="2"/>
              <a:buNone/>
              <a:defRPr/>
            </a:pPr>
            <a:r>
              <a:rPr lang="en-US" altLang="zh-CN" sz="2400"/>
              <a:t>B b2(1);  //</a:t>
            </a:r>
            <a:r>
              <a:rPr lang="zh-CN" altLang="en-US" sz="2400"/>
              <a:t>执行</a:t>
            </a:r>
            <a:r>
              <a:rPr lang="en-US" altLang="zh-CN" sz="2400"/>
              <a:t>A::A()</a:t>
            </a:r>
            <a:r>
              <a:rPr lang="zh-CN" altLang="en-US" sz="2400"/>
              <a:t>和</a:t>
            </a:r>
            <a:r>
              <a:rPr lang="en-US" altLang="zh-CN" sz="2400"/>
              <a:t>B::B(int)</a:t>
            </a:r>
            <a:r>
              <a:rPr lang="zh-CN" altLang="en-US" sz="2400"/>
              <a:t>，</a:t>
            </a:r>
            <a:r>
              <a:rPr lang="en-US" altLang="zh-CN" sz="2400"/>
              <a:t>b2.x</a:t>
            </a:r>
            <a:r>
              <a:rPr lang="zh-CN" altLang="en-US" sz="2400"/>
              <a:t>等于</a:t>
            </a:r>
            <a:r>
              <a:rPr lang="en-US" altLang="zh-CN" sz="2400"/>
              <a:t>0</a:t>
            </a:r>
            <a:r>
              <a:rPr lang="zh-CN" altLang="en-US" sz="2400"/>
              <a:t>，</a:t>
            </a:r>
            <a:r>
              <a:rPr lang="en-US" altLang="zh-CN" sz="2400"/>
              <a:t>b2.y</a:t>
            </a:r>
            <a:r>
              <a:rPr lang="zh-CN" altLang="en-US" sz="2400"/>
              <a:t>等于</a:t>
            </a:r>
            <a:r>
              <a:rPr lang="en-US" altLang="zh-CN" sz="2400"/>
              <a:t>1</a:t>
            </a:r>
            <a:r>
              <a:rPr lang="zh-CN" altLang="en-US" sz="2400"/>
              <a:t>。</a:t>
            </a:r>
          </a:p>
          <a:p>
            <a:pPr eaLnBrk="1" hangingPunct="1">
              <a:lnSpc>
                <a:spcPct val="80000"/>
              </a:lnSpc>
              <a:buFont typeface="Wingdings" panose="05000000000000000000" pitchFamily="2" charset="2"/>
              <a:buNone/>
              <a:defRPr/>
            </a:pPr>
            <a:r>
              <a:rPr lang="en-US" altLang="zh-CN" sz="2400"/>
              <a:t>B b3(1,2);  //</a:t>
            </a:r>
            <a:r>
              <a:rPr lang="zh-CN" altLang="en-US" sz="2400"/>
              <a:t>执行</a:t>
            </a:r>
            <a:r>
              <a:rPr lang="en-US" altLang="zh-CN" sz="2400">
                <a:solidFill>
                  <a:srgbClr val="FFC000"/>
                </a:solidFill>
              </a:rPr>
              <a:t>A::A(int)</a:t>
            </a:r>
            <a:r>
              <a:rPr lang="zh-CN" altLang="en-US" sz="2400"/>
              <a:t>和</a:t>
            </a:r>
            <a:r>
              <a:rPr lang="en-US" altLang="zh-CN" sz="2400"/>
              <a:t>B::B(int,int)</a:t>
            </a:r>
            <a:r>
              <a:rPr lang="zh-CN" altLang="en-US" sz="2400"/>
              <a:t>，</a:t>
            </a:r>
            <a:r>
              <a:rPr lang="en-US" altLang="zh-CN" sz="2400"/>
              <a:t>b3.x</a:t>
            </a:r>
            <a:r>
              <a:rPr lang="zh-CN" altLang="en-US" sz="2400"/>
              <a:t>等于</a:t>
            </a:r>
            <a:r>
              <a:rPr lang="en-US" altLang="zh-CN" sz="2400"/>
              <a:t>1</a:t>
            </a:r>
            <a:r>
              <a:rPr lang="zh-CN" altLang="en-US" sz="2400"/>
              <a:t>，</a:t>
            </a:r>
          </a:p>
          <a:p>
            <a:pPr eaLnBrk="1" hangingPunct="1">
              <a:lnSpc>
                <a:spcPct val="80000"/>
              </a:lnSpc>
              <a:buFont typeface="Wingdings" panose="05000000000000000000" pitchFamily="2" charset="2"/>
              <a:buNone/>
              <a:defRPr/>
            </a:pPr>
            <a:r>
              <a:rPr lang="zh-CN" altLang="en-US" sz="2400"/>
              <a:t>			</a:t>
            </a:r>
            <a:r>
              <a:rPr lang="en-US" altLang="zh-CN" sz="2400"/>
              <a:t>//b3.y</a:t>
            </a:r>
            <a:r>
              <a:rPr lang="zh-CN" altLang="en-US" sz="2400"/>
              <a:t>等于</a:t>
            </a:r>
            <a:r>
              <a:rPr lang="en-US" altLang="zh-CN" sz="2400"/>
              <a:t>2</a:t>
            </a:r>
            <a:r>
              <a:rPr lang="zh-CN" altLang="en-US" sz="240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6E832-95B7-7EE2-6DC2-21F908B9356C}"/>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B62DE315-8D7B-F26D-4C19-1F2C1FDB50B2}"/>
              </a:ext>
            </a:extLst>
          </p:cNvPr>
          <p:cNvSpPr>
            <a:spLocks noGrp="1"/>
          </p:cNvSpPr>
          <p:nvPr>
            <p:ph idx="1"/>
          </p:nvPr>
        </p:nvSpPr>
        <p:spPr/>
        <p:txBody>
          <a:bodyPr/>
          <a:lstStyle/>
          <a:p>
            <a:pPr>
              <a:defRPr/>
            </a:pPr>
            <a:r>
              <a:rPr lang="zh-CN" altLang="en-US"/>
              <a:t>对未提供任何构造函数的派生类，编译程序会隐式地为之提供一个默认构造函数，其作用是负责调用基类的构造函数。</a:t>
            </a:r>
            <a:endParaRPr lang="en-US" altLang="zh-CN"/>
          </a:p>
          <a:p>
            <a:pPr>
              <a:defRPr/>
            </a:pPr>
            <a:r>
              <a:rPr lang="zh-CN" altLang="en-US"/>
              <a:t>对未提供析构函数的派生类，编译程序也会隐式地为之提供一个析构函数，该析构函数的作用是负责调用基类的析构函数。</a:t>
            </a:r>
            <a:endParaRPr lang="en-US" altLang="zh-CN"/>
          </a:p>
          <a:p>
            <a:pPr>
              <a:defRPr/>
            </a:pP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ED0423-1764-3BDC-74CB-D9ED1D37A500}"/>
              </a:ext>
            </a:extLst>
          </p:cNvPr>
          <p:cNvSpPr>
            <a:spLocks noGrp="1"/>
          </p:cNvSpPr>
          <p:nvPr>
            <p:ph type="title"/>
          </p:nvPr>
        </p:nvSpPr>
        <p:spPr/>
        <p:txBody>
          <a:bodyPr/>
          <a:lstStyle/>
          <a:p>
            <a:pPr>
              <a:defRPr/>
            </a:pPr>
            <a:r>
              <a:rPr lang="zh-CN" altLang="en-US" dirty="0"/>
              <a:t>子类完成基类初始化</a:t>
            </a:r>
          </a:p>
        </p:txBody>
      </p:sp>
      <p:sp>
        <p:nvSpPr>
          <p:cNvPr id="3" name="内容占位符 2">
            <a:extLst>
              <a:ext uri="{FF2B5EF4-FFF2-40B4-BE49-F238E27FC236}">
                <a16:creationId xmlns:a16="http://schemas.microsoft.com/office/drawing/2014/main" id="{C72B164C-25A9-87C9-E026-714117ECF117}"/>
              </a:ext>
            </a:extLst>
          </p:cNvPr>
          <p:cNvSpPr>
            <a:spLocks noGrp="1"/>
          </p:cNvSpPr>
          <p:nvPr>
            <p:ph idx="1"/>
          </p:nvPr>
        </p:nvSpPr>
        <p:spPr/>
        <p:txBody>
          <a:bodyPr/>
          <a:lstStyle/>
          <a:p>
            <a:pPr>
              <a:defRPr/>
            </a:pPr>
            <a:r>
              <a:rPr lang="zh-CN" altLang="en-US" dirty="0"/>
              <a:t>在</a:t>
            </a:r>
            <a:r>
              <a:rPr lang="en-US" altLang="zh-CN" dirty="0"/>
              <a:t>C++11</a:t>
            </a:r>
            <a:r>
              <a:rPr lang="zh-CN" altLang="en-US" dirty="0"/>
              <a:t>之前，需要在初始化列表调用基类的构造函数，从而完成构造函数的传递</a:t>
            </a:r>
            <a:endParaRPr lang="en-US" altLang="zh-CN" dirty="0"/>
          </a:p>
          <a:p>
            <a:pPr>
              <a:defRPr/>
            </a:pPr>
            <a:endParaRPr lang="zh-CN" altLang="en-US" dirty="0"/>
          </a:p>
        </p:txBody>
      </p:sp>
      <p:pic>
        <p:nvPicPr>
          <p:cNvPr id="34820" name="图片 3">
            <a:extLst>
              <a:ext uri="{FF2B5EF4-FFF2-40B4-BE49-F238E27FC236}">
                <a16:creationId xmlns:a16="http://schemas.microsoft.com/office/drawing/2014/main" id="{7DCB11AD-D5CD-6875-9702-4C099424A1F6}"/>
              </a:ext>
            </a:extLst>
          </p:cNvPr>
          <p:cNvPicPr>
            <a:picLocks noChangeAspect="1"/>
          </p:cNvPicPr>
          <p:nvPr/>
        </p:nvPicPr>
        <p:blipFill>
          <a:blip r:embed="rId2">
            <a:extLst>
              <a:ext uri="{28A0092B-C50C-407E-A947-70E740481C1C}">
                <a14:useLocalDpi xmlns:a14="http://schemas.microsoft.com/office/drawing/2010/main" val="0"/>
              </a:ext>
            </a:extLst>
          </a:blip>
          <a:srcRect l="-2" r="27596" b="57330"/>
          <a:stretch>
            <a:fillRect/>
          </a:stretch>
        </p:blipFill>
        <p:spPr bwMode="auto">
          <a:xfrm>
            <a:off x="179388" y="3068638"/>
            <a:ext cx="37449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图片 4">
            <a:extLst>
              <a:ext uri="{FF2B5EF4-FFF2-40B4-BE49-F238E27FC236}">
                <a16:creationId xmlns:a16="http://schemas.microsoft.com/office/drawing/2014/main" id="{6C60A3BC-5DDA-AE7B-87FB-7BABF347790B}"/>
              </a:ext>
            </a:extLst>
          </p:cNvPr>
          <p:cNvPicPr>
            <a:picLocks noChangeAspect="1"/>
          </p:cNvPicPr>
          <p:nvPr/>
        </p:nvPicPr>
        <p:blipFill>
          <a:blip r:embed="rId2">
            <a:extLst>
              <a:ext uri="{28A0092B-C50C-407E-A947-70E740481C1C}">
                <a14:useLocalDpi xmlns:a14="http://schemas.microsoft.com/office/drawing/2010/main" val="0"/>
              </a:ext>
            </a:extLst>
          </a:blip>
          <a:srcRect t="43427" r="7445"/>
          <a:stretch>
            <a:fillRect/>
          </a:stretch>
        </p:blipFill>
        <p:spPr bwMode="auto">
          <a:xfrm>
            <a:off x="3995738" y="3068638"/>
            <a:ext cx="5041900"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D1C7B0-26D5-B644-8440-E1EE77A539F7}"/>
              </a:ext>
            </a:extLst>
          </p:cNvPr>
          <p:cNvSpPr>
            <a:spLocks noGrp="1"/>
          </p:cNvSpPr>
          <p:nvPr>
            <p:ph type="title"/>
          </p:nvPr>
        </p:nvSpPr>
        <p:spPr/>
        <p:txBody>
          <a:bodyPr/>
          <a:lstStyle/>
          <a:p>
            <a:pPr>
              <a:defRPr/>
            </a:pPr>
            <a:r>
              <a:rPr lang="zh-CN" altLang="en-US" dirty="0"/>
              <a:t>继承构造函数</a:t>
            </a:r>
          </a:p>
        </p:txBody>
      </p:sp>
      <p:sp>
        <p:nvSpPr>
          <p:cNvPr id="3" name="内容占位符 2">
            <a:extLst>
              <a:ext uri="{FF2B5EF4-FFF2-40B4-BE49-F238E27FC236}">
                <a16:creationId xmlns:a16="http://schemas.microsoft.com/office/drawing/2014/main" id="{48EFE1C9-82F9-E091-5DBF-CD6342EFB48F}"/>
              </a:ext>
            </a:extLst>
          </p:cNvPr>
          <p:cNvSpPr>
            <a:spLocks noGrp="1"/>
          </p:cNvSpPr>
          <p:nvPr>
            <p:ph idx="1"/>
          </p:nvPr>
        </p:nvSpPr>
        <p:spPr/>
        <p:txBody>
          <a:bodyPr/>
          <a:lstStyle/>
          <a:p>
            <a:pPr>
              <a:defRPr/>
            </a:pPr>
            <a:r>
              <a:rPr lang="zh-CN" altLang="en-US" dirty="0"/>
              <a:t>从</a:t>
            </a:r>
            <a:r>
              <a:rPr lang="en-US" altLang="zh-CN" dirty="0"/>
              <a:t>C++11</a:t>
            </a:r>
            <a:r>
              <a:rPr lang="zh-CN" altLang="en-US" dirty="0"/>
              <a:t>开始，推出继承构造函数（</a:t>
            </a:r>
            <a:r>
              <a:rPr lang="en-US" altLang="zh-CN" dirty="0"/>
              <a:t>Inheriting Constructor</a:t>
            </a:r>
            <a:r>
              <a:rPr lang="zh-CN" altLang="en-US" dirty="0"/>
              <a:t>）</a:t>
            </a:r>
          </a:p>
        </p:txBody>
      </p:sp>
      <p:pic>
        <p:nvPicPr>
          <p:cNvPr id="35844" name="图片 3">
            <a:extLst>
              <a:ext uri="{FF2B5EF4-FFF2-40B4-BE49-F238E27FC236}">
                <a16:creationId xmlns:a16="http://schemas.microsoft.com/office/drawing/2014/main" id="{2D099A1D-8815-C5AD-1CCE-20D85BAFC8E8}"/>
              </a:ext>
            </a:extLst>
          </p:cNvPr>
          <p:cNvPicPr>
            <a:picLocks noChangeAspect="1"/>
          </p:cNvPicPr>
          <p:nvPr/>
        </p:nvPicPr>
        <p:blipFill>
          <a:blip r:embed="rId2">
            <a:extLst>
              <a:ext uri="{28A0092B-C50C-407E-A947-70E740481C1C}">
                <a14:useLocalDpi xmlns:a14="http://schemas.microsoft.com/office/drawing/2010/main" val="0"/>
              </a:ext>
            </a:extLst>
          </a:blip>
          <a:srcRect b="54131"/>
          <a:stretch>
            <a:fillRect/>
          </a:stretch>
        </p:blipFill>
        <p:spPr bwMode="auto">
          <a:xfrm>
            <a:off x="323850" y="3068638"/>
            <a:ext cx="414655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图片 4">
            <a:extLst>
              <a:ext uri="{FF2B5EF4-FFF2-40B4-BE49-F238E27FC236}">
                <a16:creationId xmlns:a16="http://schemas.microsoft.com/office/drawing/2014/main" id="{97F06D92-60A0-651D-4DD1-2B6CAD3B0EBE}"/>
              </a:ext>
            </a:extLst>
          </p:cNvPr>
          <p:cNvPicPr>
            <a:picLocks noChangeAspect="1"/>
          </p:cNvPicPr>
          <p:nvPr/>
        </p:nvPicPr>
        <p:blipFill>
          <a:blip r:embed="rId2">
            <a:extLst>
              <a:ext uri="{28A0092B-C50C-407E-A947-70E740481C1C}">
                <a14:useLocalDpi xmlns:a14="http://schemas.microsoft.com/office/drawing/2010/main" val="0"/>
              </a:ext>
            </a:extLst>
          </a:blip>
          <a:srcRect t="46577"/>
          <a:stretch>
            <a:fillRect/>
          </a:stretch>
        </p:blipFill>
        <p:spPr bwMode="auto">
          <a:xfrm>
            <a:off x="4643438" y="3068638"/>
            <a:ext cx="4365625"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99561-C888-09C0-9FEB-8DFA8899CAEB}"/>
              </a:ext>
            </a:extLst>
          </p:cNvPr>
          <p:cNvSpPr>
            <a:spLocks noGrp="1"/>
          </p:cNvSpPr>
          <p:nvPr>
            <p:ph type="title"/>
          </p:nvPr>
        </p:nvSpPr>
        <p:spPr/>
        <p:txBody>
          <a:bodyPr/>
          <a:lstStyle/>
          <a:p>
            <a:pPr>
              <a:defRPr/>
            </a:pPr>
            <a:r>
              <a:rPr lang="zh-CN" altLang="en-US" dirty="0"/>
              <a:t>继承构造函数</a:t>
            </a:r>
          </a:p>
        </p:txBody>
      </p:sp>
      <p:sp>
        <p:nvSpPr>
          <p:cNvPr id="3" name="内容占位符 2">
            <a:extLst>
              <a:ext uri="{FF2B5EF4-FFF2-40B4-BE49-F238E27FC236}">
                <a16:creationId xmlns:a16="http://schemas.microsoft.com/office/drawing/2014/main" id="{6CD6AC16-27B7-0CE3-68B2-6027C6C90244}"/>
              </a:ext>
            </a:extLst>
          </p:cNvPr>
          <p:cNvSpPr>
            <a:spLocks noGrp="1"/>
          </p:cNvSpPr>
          <p:nvPr>
            <p:ph idx="1"/>
          </p:nvPr>
        </p:nvSpPr>
        <p:spPr/>
        <p:txBody>
          <a:bodyPr/>
          <a:lstStyle/>
          <a:p>
            <a:pPr>
              <a:defRPr/>
            </a:pPr>
            <a:r>
              <a:rPr lang="zh-CN" altLang="en-US" dirty="0"/>
              <a:t>继承构造函数无法初始化派生类数据成员</a:t>
            </a:r>
            <a:endParaRPr lang="en-US" altLang="zh-CN" dirty="0"/>
          </a:p>
          <a:p>
            <a:pPr>
              <a:defRPr/>
            </a:pPr>
            <a:r>
              <a:rPr lang="en-US" altLang="zh-CN" dirty="0"/>
              <a:t>2</a:t>
            </a:r>
            <a:r>
              <a:rPr lang="zh-CN" altLang="en-US" dirty="0"/>
              <a:t>种方法：就地初始化，初始化列表初始化</a:t>
            </a:r>
          </a:p>
        </p:txBody>
      </p:sp>
      <p:pic>
        <p:nvPicPr>
          <p:cNvPr id="36868" name="图片 5">
            <a:extLst>
              <a:ext uri="{FF2B5EF4-FFF2-40B4-BE49-F238E27FC236}">
                <a16:creationId xmlns:a16="http://schemas.microsoft.com/office/drawing/2014/main" id="{BD545205-21FF-18B7-9415-F5B6C4B836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924175"/>
            <a:ext cx="3960813"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图片 6">
            <a:extLst>
              <a:ext uri="{FF2B5EF4-FFF2-40B4-BE49-F238E27FC236}">
                <a16:creationId xmlns:a16="http://schemas.microsoft.com/office/drawing/2014/main" id="{98CF677B-BAC3-7746-E4AF-F8490F5867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924175"/>
            <a:ext cx="4103688"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1" name="Rectangle 3">
            <a:extLst>
              <a:ext uri="{FF2B5EF4-FFF2-40B4-BE49-F238E27FC236}">
                <a16:creationId xmlns:a16="http://schemas.microsoft.com/office/drawing/2014/main" id="{B78BD862-7473-E228-12AB-8ED324268C17}"/>
              </a:ext>
            </a:extLst>
          </p:cNvPr>
          <p:cNvSpPr>
            <a:spLocks noGrp="1" noChangeArrowheads="1"/>
          </p:cNvSpPr>
          <p:nvPr>
            <p:ph type="body" idx="1"/>
          </p:nvPr>
        </p:nvSpPr>
        <p:spPr>
          <a:xfrm>
            <a:off x="250825" y="1125538"/>
            <a:ext cx="8686800" cy="4506912"/>
          </a:xfrm>
        </p:spPr>
        <p:txBody>
          <a:bodyPr/>
          <a:lstStyle/>
          <a:p>
            <a:pPr eaLnBrk="1" hangingPunct="1">
              <a:defRPr/>
            </a:pPr>
            <a:r>
              <a:rPr lang="zh-CN" altLang="en-US"/>
              <a:t>如果一个类</a:t>
            </a:r>
            <a:r>
              <a:rPr lang="en-US" altLang="zh-CN"/>
              <a:t>D</a:t>
            </a:r>
            <a:r>
              <a:rPr lang="zh-CN" altLang="en-US"/>
              <a:t>既有基类</a:t>
            </a:r>
            <a:r>
              <a:rPr lang="en-US" altLang="zh-CN"/>
              <a:t>B</a:t>
            </a:r>
            <a:r>
              <a:rPr lang="zh-CN" altLang="en-US"/>
              <a:t>、又有成员对象类</a:t>
            </a:r>
            <a:r>
              <a:rPr lang="en-US" altLang="zh-CN"/>
              <a:t>M</a:t>
            </a:r>
            <a:r>
              <a:rPr lang="zh-CN" altLang="en-US"/>
              <a:t>，则</a:t>
            </a:r>
          </a:p>
          <a:p>
            <a:pPr lvl="1" eaLnBrk="1" hangingPunct="1">
              <a:defRPr/>
            </a:pPr>
            <a:r>
              <a:rPr lang="zh-CN" altLang="en-US"/>
              <a:t>在创建</a:t>
            </a:r>
            <a:r>
              <a:rPr lang="en-US" altLang="zh-CN"/>
              <a:t>D</a:t>
            </a:r>
            <a:r>
              <a:rPr lang="zh-CN" altLang="en-US"/>
              <a:t>类对象时，构造函数的执行次序为：</a:t>
            </a:r>
          </a:p>
          <a:p>
            <a:pPr lvl="2" eaLnBrk="1" hangingPunct="1">
              <a:buFont typeface="Wingdings" panose="05000000000000000000" pitchFamily="2" charset="2"/>
              <a:buNone/>
              <a:defRPr/>
            </a:pPr>
            <a:r>
              <a:rPr lang="en-US" altLang="zh-CN"/>
              <a:t>B-&gt;M-&gt;D</a:t>
            </a:r>
          </a:p>
          <a:p>
            <a:pPr lvl="1" eaLnBrk="1" hangingPunct="1">
              <a:defRPr/>
            </a:pPr>
            <a:r>
              <a:rPr lang="zh-CN" altLang="en-US"/>
              <a:t>当</a:t>
            </a:r>
            <a:r>
              <a:rPr lang="en-US" altLang="zh-CN"/>
              <a:t>D</a:t>
            </a:r>
            <a:r>
              <a:rPr lang="zh-CN" altLang="en-US"/>
              <a:t>类的对象消亡时，析构函数的执行次序为：</a:t>
            </a:r>
          </a:p>
          <a:p>
            <a:pPr lvl="2" eaLnBrk="1" hangingPunct="1">
              <a:buFont typeface="Wingdings" panose="05000000000000000000" pitchFamily="2" charset="2"/>
              <a:buNone/>
              <a:defRPr/>
            </a:pPr>
            <a:r>
              <a:rPr lang="en-US" altLang="zh-CN"/>
              <a:t>D-&gt;M-&gt;B</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5" name="Rectangle 3">
            <a:extLst>
              <a:ext uri="{FF2B5EF4-FFF2-40B4-BE49-F238E27FC236}">
                <a16:creationId xmlns:a16="http://schemas.microsoft.com/office/drawing/2014/main" id="{A666F76B-46A2-E80E-80F0-599C6241304F}"/>
              </a:ext>
            </a:extLst>
          </p:cNvPr>
          <p:cNvSpPr>
            <a:spLocks noGrp="1" noChangeArrowheads="1"/>
          </p:cNvSpPr>
          <p:nvPr>
            <p:ph type="body" idx="1"/>
          </p:nvPr>
        </p:nvSpPr>
        <p:spPr>
          <a:xfrm>
            <a:off x="323850" y="981075"/>
            <a:ext cx="8507413" cy="5688013"/>
          </a:xfrm>
        </p:spPr>
        <p:txBody>
          <a:bodyPr>
            <a:normAutofit/>
          </a:bodyPr>
          <a:lstStyle/>
          <a:p>
            <a:pPr eaLnBrk="1" hangingPunct="1">
              <a:defRPr/>
            </a:pPr>
            <a:r>
              <a:rPr lang="zh-CN" altLang="en-GB"/>
              <a:t>派生类</a:t>
            </a:r>
            <a:r>
              <a:rPr lang="zh-CN" altLang="en-US"/>
              <a:t>拷贝构造函数：</a:t>
            </a:r>
          </a:p>
          <a:p>
            <a:pPr lvl="1" eaLnBrk="1" hangingPunct="1">
              <a:defRPr/>
            </a:pPr>
            <a:r>
              <a:rPr lang="zh-CN" altLang="en-US"/>
              <a:t>派生类的隐式拷贝构造函数（由编译程序提供）将会调用基类的拷贝构造函数。</a:t>
            </a:r>
          </a:p>
          <a:p>
            <a:pPr lvl="1" eaLnBrk="1" hangingPunct="1">
              <a:defRPr/>
            </a:pPr>
            <a:r>
              <a:rPr lang="zh-CN" altLang="en-US"/>
              <a:t>派生类自定义的拷贝构造函数在默认情况下则调用基类的</a:t>
            </a:r>
            <a:r>
              <a:rPr lang="zh-CN" altLang="en-US">
                <a:solidFill>
                  <a:schemeClr val="folHlink"/>
                </a:solidFill>
              </a:rPr>
              <a:t>默认构造函数</a:t>
            </a:r>
            <a:r>
              <a:rPr lang="zh-CN" altLang="en-US"/>
              <a:t>。需要时，可在派生类自定义拷贝构造函数的</a:t>
            </a:r>
            <a:r>
              <a:rPr lang="zh-CN" altLang="en-US">
                <a:latin typeface="Arial" panose="020B0604020202020204" pitchFamily="34" charset="0"/>
              </a:rPr>
              <a:t>“</a:t>
            </a:r>
            <a:r>
              <a:rPr lang="zh-CN" altLang="en-US"/>
              <a:t>成员初始化表</a:t>
            </a:r>
            <a:r>
              <a:rPr lang="zh-CN" altLang="en-US">
                <a:latin typeface="Arial" panose="020B0604020202020204" pitchFamily="34" charset="0"/>
              </a:rPr>
              <a:t>”</a:t>
            </a:r>
            <a:r>
              <a:rPr lang="zh-CN" altLang="en-US"/>
              <a:t>中显式地指出调用</a:t>
            </a:r>
            <a:r>
              <a:rPr lang="zh-CN" altLang="en-US">
                <a:solidFill>
                  <a:schemeClr val="folHlink"/>
                </a:solidFill>
              </a:rPr>
              <a:t>基类的拷贝构造函数</a:t>
            </a:r>
            <a:r>
              <a:rPr lang="zh-CN" altLang="en-US"/>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D7AD2B1-301A-3CB4-7653-CB440CD78275}"/>
              </a:ext>
            </a:extLst>
          </p:cNvPr>
          <p:cNvSpPr>
            <a:spLocks noGrp="1"/>
          </p:cNvSpPr>
          <p:nvPr>
            <p:ph idx="1"/>
          </p:nvPr>
        </p:nvSpPr>
        <p:spPr>
          <a:xfrm>
            <a:off x="457200" y="765175"/>
            <a:ext cx="8229600" cy="5616575"/>
          </a:xfrm>
        </p:spPr>
        <p:txBody>
          <a:bodyPr>
            <a:normAutofit/>
          </a:bodyPr>
          <a:lstStyle/>
          <a:p>
            <a:pPr defTabSz="449263" eaLnBrk="1" hangingPunct="1">
              <a:lnSpc>
                <a:spcPct val="90000"/>
              </a:lnSpc>
              <a:buFont typeface="Wingdings" panose="05000000000000000000" pitchFamily="2" charset="2"/>
              <a:buNone/>
              <a:defRPr/>
            </a:pPr>
            <a:r>
              <a:rPr lang="en-US" altLang="zh-CN" sz="2700"/>
              <a:t>class A {	...... };</a:t>
            </a:r>
          </a:p>
          <a:p>
            <a:pPr defTabSz="449263" eaLnBrk="1" hangingPunct="1">
              <a:lnSpc>
                <a:spcPct val="90000"/>
              </a:lnSpc>
              <a:buFont typeface="Wingdings" panose="05000000000000000000" pitchFamily="2" charset="2"/>
              <a:buNone/>
              <a:defRPr/>
            </a:pPr>
            <a:r>
              <a:rPr lang="en-US" altLang="zh-CN" sz="2700"/>
              <a:t>class B: public A</a:t>
            </a:r>
          </a:p>
          <a:p>
            <a:pPr defTabSz="449263" eaLnBrk="1" hangingPunct="1">
              <a:lnSpc>
                <a:spcPct val="90000"/>
              </a:lnSpc>
              <a:buFont typeface="Wingdings" panose="05000000000000000000" pitchFamily="2" charset="2"/>
              <a:buNone/>
              <a:defRPr/>
            </a:pPr>
            <a:r>
              <a:rPr lang="en-US" altLang="zh-CN" sz="2700"/>
              <a:t>{		......</a:t>
            </a:r>
          </a:p>
          <a:p>
            <a:pPr defTabSz="449263" eaLnBrk="1" hangingPunct="1">
              <a:lnSpc>
                <a:spcPct val="90000"/>
              </a:lnSpc>
              <a:buFont typeface="Wingdings" panose="05000000000000000000" pitchFamily="2" charset="2"/>
              <a:buNone/>
              <a:defRPr/>
            </a:pPr>
            <a:r>
              <a:rPr lang="en-US" altLang="zh-CN" sz="2700"/>
              <a:t>	public:</a:t>
            </a:r>
          </a:p>
          <a:p>
            <a:pPr lvl="1" defTabSz="449263" eaLnBrk="1" hangingPunct="1">
              <a:lnSpc>
                <a:spcPct val="90000"/>
              </a:lnSpc>
              <a:buFontTx/>
              <a:buNone/>
              <a:defRPr/>
            </a:pPr>
            <a:r>
              <a:rPr lang="en-US" altLang="zh-CN" sz="2400"/>
              <a:t>B() { ...... }</a:t>
            </a:r>
          </a:p>
          <a:p>
            <a:pPr defTabSz="449263" eaLnBrk="1" hangingPunct="1">
              <a:lnSpc>
                <a:spcPct val="90000"/>
              </a:lnSpc>
              <a:buFont typeface="Wingdings" panose="05000000000000000000" pitchFamily="2" charset="2"/>
              <a:buNone/>
              <a:defRPr/>
            </a:pPr>
            <a:r>
              <a:rPr lang="en-US" altLang="zh-CN" sz="2700"/>
              <a:t>		B(const B&amp; b) //</a:t>
            </a:r>
            <a:r>
              <a:rPr lang="zh-CN" altLang="en-US" sz="2700"/>
              <a:t>调用</a:t>
            </a:r>
            <a:r>
              <a:rPr lang="en-US" altLang="zh-CN" sz="2700"/>
              <a:t>A</a:t>
            </a:r>
            <a:r>
              <a:rPr lang="zh-CN" altLang="en-US" sz="2700"/>
              <a:t>类的默认构造函数</a:t>
            </a:r>
            <a:endParaRPr lang="en-US" altLang="zh-CN" sz="2700">
              <a:solidFill>
                <a:srgbClr val="FFC000"/>
              </a:solidFill>
            </a:endParaRPr>
          </a:p>
          <a:p>
            <a:pPr defTabSz="449263" eaLnBrk="1" hangingPunct="1">
              <a:lnSpc>
                <a:spcPct val="90000"/>
              </a:lnSpc>
              <a:buFont typeface="Wingdings" panose="05000000000000000000" pitchFamily="2" charset="2"/>
              <a:buNone/>
              <a:defRPr/>
            </a:pPr>
            <a:r>
              <a:rPr lang="en-US" altLang="zh-CN" sz="2700"/>
              <a:t>		{	...... //</a:t>
            </a:r>
            <a:r>
              <a:rPr lang="zh-CN" altLang="en-US" sz="2700"/>
              <a:t>用</a:t>
            </a:r>
            <a:r>
              <a:rPr lang="en-US" altLang="zh-CN" sz="2700"/>
              <a:t>b</a:t>
            </a:r>
            <a:r>
              <a:rPr lang="zh-CN" altLang="en-US" sz="2700"/>
              <a:t>对</a:t>
            </a:r>
            <a:r>
              <a:rPr lang="en-US" altLang="zh-CN" sz="2700"/>
              <a:t>this</a:t>
            </a:r>
            <a:r>
              <a:rPr lang="zh-CN" altLang="en-US" sz="2700"/>
              <a:t>的派生类成员进行初始化</a:t>
            </a:r>
            <a:endParaRPr lang="en-US" altLang="zh-CN" sz="2700"/>
          </a:p>
          <a:p>
            <a:pPr defTabSz="449263" eaLnBrk="1" hangingPunct="1">
              <a:lnSpc>
                <a:spcPct val="90000"/>
              </a:lnSpc>
              <a:buFont typeface="Wingdings" panose="05000000000000000000" pitchFamily="2" charset="2"/>
              <a:buNone/>
              <a:defRPr/>
            </a:pPr>
            <a:r>
              <a:rPr lang="en-US" altLang="zh-CN" sz="2700"/>
              <a:t>			</a:t>
            </a:r>
          </a:p>
          <a:p>
            <a:pPr defTabSz="449263" eaLnBrk="1" hangingPunct="1">
              <a:lnSpc>
                <a:spcPct val="90000"/>
              </a:lnSpc>
              <a:buFont typeface="Wingdings" panose="05000000000000000000" pitchFamily="2" charset="2"/>
              <a:buNone/>
              <a:defRPr/>
            </a:pPr>
            <a:r>
              <a:rPr lang="en-US" altLang="zh-CN" sz="2700"/>
              <a:t>		}</a:t>
            </a:r>
          </a:p>
          <a:p>
            <a:pPr defTabSz="449263" eaLnBrk="1" hangingPunct="1">
              <a:lnSpc>
                <a:spcPct val="90000"/>
              </a:lnSpc>
              <a:buFont typeface="Wingdings" panose="05000000000000000000" pitchFamily="2" charset="2"/>
              <a:buNone/>
              <a:defRPr/>
            </a:pPr>
            <a:r>
              <a:rPr lang="en-US" altLang="zh-CN" sz="2700"/>
              <a:t>}; </a:t>
            </a:r>
          </a:p>
          <a:p>
            <a:pPr defTabSz="449263" eaLnBrk="1" hangingPunct="1">
              <a:lnSpc>
                <a:spcPct val="90000"/>
              </a:lnSpc>
              <a:buFont typeface="Wingdings" panose="05000000000000000000" pitchFamily="2" charset="2"/>
              <a:buNone/>
              <a:defRPr/>
            </a:pPr>
            <a:r>
              <a:rPr lang="en-US" altLang="zh-CN" sz="2700"/>
              <a:t>B b1;</a:t>
            </a:r>
          </a:p>
          <a:p>
            <a:pPr defTabSz="449263" eaLnBrk="1" hangingPunct="1">
              <a:lnSpc>
                <a:spcPct val="90000"/>
              </a:lnSpc>
              <a:buFont typeface="Wingdings" panose="05000000000000000000" pitchFamily="2" charset="2"/>
              <a:buNone/>
              <a:defRPr/>
            </a:pPr>
            <a:r>
              <a:rPr lang="en-US" altLang="zh-CN" sz="2700"/>
              <a:t>B b2(b1); </a:t>
            </a:r>
          </a:p>
          <a:p>
            <a:pPr defTabSz="449263">
              <a:lnSpc>
                <a:spcPct val="80000"/>
              </a:lnSpc>
              <a:defRPr/>
            </a:pPr>
            <a:endParaRPr lang="zh-CN" altLang="en-US" sz="2700"/>
          </a:p>
        </p:txBody>
      </p:sp>
      <p:sp>
        <p:nvSpPr>
          <p:cNvPr id="2" name="TextBox 1">
            <a:extLst>
              <a:ext uri="{FF2B5EF4-FFF2-40B4-BE49-F238E27FC236}">
                <a16:creationId xmlns:a16="http://schemas.microsoft.com/office/drawing/2014/main" id="{03B9CA20-7A5A-B2DA-F349-72C12CA4982D}"/>
              </a:ext>
            </a:extLst>
          </p:cNvPr>
          <p:cNvSpPr txBox="1"/>
          <p:nvPr/>
        </p:nvSpPr>
        <p:spPr>
          <a:xfrm>
            <a:off x="3419475" y="2935288"/>
            <a:ext cx="5545138" cy="523875"/>
          </a:xfrm>
          <a:prstGeom prst="rect">
            <a:avLst/>
          </a:prstGeom>
          <a:solidFill>
            <a:schemeClr val="bg2">
              <a:lumMod val="75000"/>
            </a:schemeClr>
          </a:solidFill>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defRPr/>
            </a:pPr>
            <a:r>
              <a:rPr lang="en-US" altLang="zh-CN" sz="2800">
                <a:solidFill>
                  <a:srgbClr val="FFC000"/>
                </a:solidFill>
              </a:rPr>
              <a:t>:A(b) </a:t>
            </a:r>
            <a:r>
              <a:rPr lang="zh-CN" altLang="en-US" sz="2800">
                <a:solidFill>
                  <a:srgbClr val="FFC000"/>
                </a:solidFill>
              </a:rPr>
              <a:t> </a:t>
            </a:r>
            <a:r>
              <a:rPr lang="en-US" altLang="zh-CN" sz="2800">
                <a:solidFill>
                  <a:srgbClr val="FFC000"/>
                </a:solidFill>
              </a:rPr>
              <a:t>//</a:t>
            </a:r>
            <a:r>
              <a:rPr lang="zh-CN" altLang="en-US" sz="2800">
                <a:solidFill>
                  <a:srgbClr val="FFC000"/>
                </a:solidFill>
              </a:rPr>
              <a:t>调用</a:t>
            </a:r>
            <a:r>
              <a:rPr lang="en-US" altLang="zh-CN" sz="2800">
                <a:solidFill>
                  <a:srgbClr val="FFC000"/>
                </a:solidFill>
              </a:rPr>
              <a:t>A</a:t>
            </a:r>
            <a:r>
              <a:rPr lang="zh-CN" altLang="en-US" sz="2800">
                <a:solidFill>
                  <a:srgbClr val="FFC000"/>
                </a:solidFill>
              </a:rPr>
              <a:t>类的拷贝构造函数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38BB4-B937-B583-9ABB-7229DA906122}"/>
              </a:ext>
            </a:extLst>
          </p:cNvPr>
          <p:cNvSpPr>
            <a:spLocks noGrp="1"/>
          </p:cNvSpPr>
          <p:nvPr>
            <p:ph type="title"/>
          </p:nvPr>
        </p:nvSpPr>
        <p:spPr/>
        <p:txBody>
          <a:bodyPr/>
          <a:lstStyle/>
          <a:p>
            <a:pPr>
              <a:defRPr/>
            </a:pPr>
            <a:r>
              <a:rPr lang="zh-CN" altLang="en-GB"/>
              <a:t>派生类对象的赋值</a:t>
            </a:r>
            <a:r>
              <a:rPr lang="zh-CN" altLang="en-US"/>
              <a:t>操作</a:t>
            </a:r>
          </a:p>
        </p:txBody>
      </p:sp>
      <p:sp>
        <p:nvSpPr>
          <p:cNvPr id="3" name="内容占位符 2">
            <a:extLst>
              <a:ext uri="{FF2B5EF4-FFF2-40B4-BE49-F238E27FC236}">
                <a16:creationId xmlns:a16="http://schemas.microsoft.com/office/drawing/2014/main" id="{4486B8F3-7F07-D7F4-5EAC-AEE686526720}"/>
              </a:ext>
            </a:extLst>
          </p:cNvPr>
          <p:cNvSpPr>
            <a:spLocks noGrp="1"/>
          </p:cNvSpPr>
          <p:nvPr>
            <p:ph idx="1"/>
          </p:nvPr>
        </p:nvSpPr>
        <p:spPr/>
        <p:txBody>
          <a:bodyPr/>
          <a:lstStyle/>
          <a:p>
            <a:pPr eaLnBrk="1" hangingPunct="1">
              <a:defRPr/>
            </a:pPr>
            <a:r>
              <a:rPr lang="zh-CN" altLang="en-US" dirty="0"/>
              <a:t>派生类</a:t>
            </a:r>
            <a:r>
              <a:rPr lang="zh-CN" altLang="en-US" dirty="0">
                <a:solidFill>
                  <a:srgbClr val="FFC000"/>
                </a:solidFill>
              </a:rPr>
              <a:t>隐式的赋值操作</a:t>
            </a:r>
            <a:r>
              <a:rPr lang="zh-CN" altLang="en-US" dirty="0"/>
              <a:t>除了对派生类成员进行赋值外，还将调用基类的赋值操作对基类成员进行赋值。</a:t>
            </a:r>
            <a:endParaRPr lang="en-US" altLang="zh-CN" dirty="0"/>
          </a:p>
          <a:p>
            <a:pPr eaLnBrk="1" hangingPunct="1">
              <a:defRPr/>
            </a:pPr>
            <a:r>
              <a:rPr lang="zh-CN" altLang="en-US" dirty="0"/>
              <a:t>派生类</a:t>
            </a:r>
            <a:r>
              <a:rPr lang="zh-CN" altLang="en-US" dirty="0">
                <a:solidFill>
                  <a:srgbClr val="FFC000"/>
                </a:solidFill>
              </a:rPr>
              <a:t>自定义的赋值操作</a:t>
            </a:r>
            <a:r>
              <a:rPr lang="zh-CN" altLang="en-US" dirty="0">
                <a:solidFill>
                  <a:srgbClr val="92D050"/>
                </a:solidFill>
              </a:rPr>
              <a:t>不会自动调用基类的赋值操作</a:t>
            </a:r>
            <a:r>
              <a:rPr lang="zh-CN" altLang="en-US" dirty="0"/>
              <a:t>，需要在</a:t>
            </a:r>
            <a:r>
              <a:rPr lang="zh-CN" altLang="en-GB" dirty="0"/>
              <a:t>自定义的赋值操作符重载函数</a:t>
            </a:r>
            <a:r>
              <a:rPr lang="zh-CN" altLang="en-US" dirty="0"/>
              <a:t>中显式地指出。</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9" name="Rectangle 3">
            <a:extLst>
              <a:ext uri="{FF2B5EF4-FFF2-40B4-BE49-F238E27FC236}">
                <a16:creationId xmlns:a16="http://schemas.microsoft.com/office/drawing/2014/main" id="{1757BFB2-F5AD-DFBB-D73B-58D8F1633A81}"/>
              </a:ext>
            </a:extLst>
          </p:cNvPr>
          <p:cNvSpPr>
            <a:spLocks noGrp="1" noChangeArrowheads="1"/>
          </p:cNvSpPr>
          <p:nvPr>
            <p:ph type="body" idx="1"/>
          </p:nvPr>
        </p:nvSpPr>
        <p:spPr>
          <a:xfrm>
            <a:off x="323850" y="333375"/>
            <a:ext cx="8507413" cy="6408738"/>
          </a:xfrm>
        </p:spPr>
        <p:txBody>
          <a:bodyPr>
            <a:normAutofit/>
          </a:bodyPr>
          <a:lstStyle/>
          <a:p>
            <a:pPr defTabSz="449263" eaLnBrk="1" hangingPunct="1">
              <a:lnSpc>
                <a:spcPct val="80000"/>
              </a:lnSpc>
              <a:buFont typeface="Wingdings" panose="05000000000000000000" pitchFamily="2" charset="2"/>
              <a:buNone/>
              <a:defRPr/>
            </a:pPr>
            <a:r>
              <a:rPr lang="en-US" altLang="zh-CN" sz="2400"/>
              <a:t>class A { ...... };</a:t>
            </a:r>
          </a:p>
          <a:p>
            <a:pPr defTabSz="449263" eaLnBrk="1" hangingPunct="1">
              <a:lnSpc>
                <a:spcPct val="80000"/>
              </a:lnSpc>
              <a:buFont typeface="Wingdings" panose="05000000000000000000" pitchFamily="2" charset="2"/>
              <a:buNone/>
              <a:defRPr/>
            </a:pPr>
            <a:r>
              <a:rPr lang="en-US" altLang="zh-CN" sz="2400"/>
              <a:t>class B: public A</a:t>
            </a:r>
          </a:p>
          <a:p>
            <a:pPr defTabSz="449263" eaLnBrk="1" hangingPunct="1">
              <a:lnSpc>
                <a:spcPct val="80000"/>
              </a:lnSpc>
              <a:buFont typeface="Wingdings" panose="05000000000000000000" pitchFamily="2" charset="2"/>
              <a:buNone/>
              <a:defRPr/>
            </a:pPr>
            <a:r>
              <a:rPr lang="en-US" altLang="zh-CN" sz="2400"/>
              <a:t>{		......</a:t>
            </a:r>
          </a:p>
          <a:p>
            <a:pPr defTabSz="449263" eaLnBrk="1" hangingPunct="1">
              <a:lnSpc>
                <a:spcPct val="80000"/>
              </a:lnSpc>
              <a:buFont typeface="Wingdings" panose="05000000000000000000" pitchFamily="2" charset="2"/>
              <a:buNone/>
              <a:defRPr/>
            </a:pPr>
            <a:r>
              <a:rPr lang="en-US" altLang="zh-CN" sz="2400"/>
              <a:t>	public:</a:t>
            </a:r>
          </a:p>
          <a:p>
            <a:pPr defTabSz="449263" eaLnBrk="1" hangingPunct="1">
              <a:lnSpc>
                <a:spcPct val="80000"/>
              </a:lnSpc>
              <a:buFont typeface="Wingdings" panose="05000000000000000000" pitchFamily="2" charset="2"/>
              <a:buNone/>
              <a:defRPr/>
            </a:pPr>
            <a:r>
              <a:rPr lang="en-US" altLang="zh-CN" sz="2400"/>
              <a:t>		B&amp; operator =(const B&amp; b)</a:t>
            </a:r>
          </a:p>
          <a:p>
            <a:pPr defTabSz="449263" eaLnBrk="1" hangingPunct="1">
              <a:lnSpc>
                <a:spcPct val="80000"/>
              </a:lnSpc>
              <a:buFont typeface="Wingdings" panose="05000000000000000000" pitchFamily="2" charset="2"/>
              <a:buNone/>
              <a:defRPr/>
            </a:pPr>
            <a:r>
              <a:rPr lang="en-US" altLang="zh-CN" sz="2400"/>
              <a:t>		{	if (&amp;b == this) return *this;  //</a:t>
            </a:r>
            <a:r>
              <a:rPr lang="zh-CN" altLang="en-US" sz="2400"/>
              <a:t>防止自身赋值。</a:t>
            </a:r>
          </a:p>
          <a:p>
            <a:pPr defTabSz="449263" eaLnBrk="1" hangingPunct="1">
              <a:lnSpc>
                <a:spcPct val="80000"/>
              </a:lnSpc>
              <a:buFont typeface="Wingdings" panose="05000000000000000000" pitchFamily="2" charset="2"/>
              <a:buNone/>
              <a:defRPr/>
            </a:pPr>
            <a:r>
              <a:rPr lang="zh-CN" altLang="en-US" sz="2400"/>
              <a:t>			 </a:t>
            </a:r>
            <a:r>
              <a:rPr lang="zh-CN" altLang="en-US" sz="2400">
                <a:solidFill>
                  <a:srgbClr val="FFC000"/>
                </a:solidFill>
              </a:rPr>
              <a:t>*</a:t>
            </a:r>
            <a:r>
              <a:rPr lang="en-US" altLang="zh-CN" sz="2400">
                <a:solidFill>
                  <a:srgbClr val="FFC000"/>
                </a:solidFill>
              </a:rPr>
              <a:t>(A*)this = b;</a:t>
            </a:r>
            <a:r>
              <a:rPr lang="en-US" altLang="zh-CN" sz="2400"/>
              <a:t> //</a:t>
            </a:r>
            <a:r>
              <a:rPr lang="zh-CN" altLang="en-US" sz="2400"/>
              <a:t>调用基类的赋值操作符对基类成员</a:t>
            </a:r>
          </a:p>
          <a:p>
            <a:pPr defTabSz="449263" eaLnBrk="1" hangingPunct="1">
              <a:lnSpc>
                <a:spcPct val="80000"/>
              </a:lnSpc>
              <a:buFont typeface="Wingdings" panose="05000000000000000000" pitchFamily="2" charset="2"/>
              <a:buNone/>
              <a:defRPr/>
            </a:pPr>
            <a:r>
              <a:rPr lang="zh-CN" altLang="en-US" sz="2400"/>
              <a:t>						          </a:t>
            </a:r>
            <a:r>
              <a:rPr lang="en-US" altLang="zh-CN" sz="2400"/>
              <a:t>//</a:t>
            </a:r>
            <a:r>
              <a:rPr lang="zh-CN" altLang="en-US" sz="2400"/>
              <a:t>进行赋值。也可写成： </a:t>
            </a:r>
          </a:p>
          <a:p>
            <a:pPr defTabSz="449263" eaLnBrk="1" hangingPunct="1">
              <a:lnSpc>
                <a:spcPct val="80000"/>
              </a:lnSpc>
              <a:buFont typeface="Wingdings" panose="05000000000000000000" pitchFamily="2" charset="2"/>
              <a:buNone/>
              <a:defRPr/>
            </a:pPr>
            <a:r>
              <a:rPr lang="zh-CN" altLang="en-US" sz="2400"/>
              <a:t>						          </a:t>
            </a:r>
            <a:r>
              <a:rPr lang="en-US" altLang="zh-CN" sz="2400"/>
              <a:t>//this-&gt;A::operator =(b); </a:t>
            </a:r>
          </a:p>
          <a:p>
            <a:pPr defTabSz="449263" eaLnBrk="1" hangingPunct="1">
              <a:lnSpc>
                <a:spcPct val="80000"/>
              </a:lnSpc>
              <a:buFont typeface="Wingdings" panose="05000000000000000000" pitchFamily="2" charset="2"/>
              <a:buNone/>
              <a:defRPr/>
            </a:pPr>
            <a:r>
              <a:rPr lang="en-US" altLang="zh-CN" sz="2400"/>
              <a:t>			...... //</a:t>
            </a:r>
            <a:r>
              <a:rPr lang="zh-CN" altLang="en-US" sz="2400"/>
              <a:t>对派生类的成员赋值</a:t>
            </a:r>
            <a:endParaRPr lang="en-US" altLang="zh-CN" sz="2400"/>
          </a:p>
          <a:p>
            <a:pPr defTabSz="449263" eaLnBrk="1" hangingPunct="1">
              <a:lnSpc>
                <a:spcPct val="80000"/>
              </a:lnSpc>
              <a:buFont typeface="Wingdings" panose="05000000000000000000" pitchFamily="2" charset="2"/>
              <a:buNone/>
              <a:defRPr/>
            </a:pPr>
            <a:r>
              <a:rPr lang="en-US" altLang="zh-CN" sz="2400"/>
              <a:t>			return *this;</a:t>
            </a:r>
          </a:p>
          <a:p>
            <a:pPr defTabSz="449263" eaLnBrk="1" hangingPunct="1">
              <a:lnSpc>
                <a:spcPct val="80000"/>
              </a:lnSpc>
              <a:buFont typeface="Wingdings" panose="05000000000000000000" pitchFamily="2" charset="2"/>
              <a:buNone/>
              <a:defRPr/>
            </a:pPr>
            <a:r>
              <a:rPr lang="en-US" altLang="zh-CN" sz="2400"/>
              <a:t>		}</a:t>
            </a:r>
          </a:p>
          <a:p>
            <a:pPr defTabSz="449263" eaLnBrk="1" hangingPunct="1">
              <a:lnSpc>
                <a:spcPct val="80000"/>
              </a:lnSpc>
              <a:buFont typeface="Wingdings" panose="05000000000000000000" pitchFamily="2" charset="2"/>
              <a:buNone/>
              <a:defRPr/>
            </a:pPr>
            <a:r>
              <a:rPr lang="en-US" altLang="zh-CN" sz="2400"/>
              <a:t>}; </a:t>
            </a:r>
          </a:p>
          <a:p>
            <a:pPr defTabSz="449263" eaLnBrk="1" hangingPunct="1">
              <a:lnSpc>
                <a:spcPct val="80000"/>
              </a:lnSpc>
              <a:buFont typeface="Wingdings" panose="05000000000000000000" pitchFamily="2" charset="2"/>
              <a:buNone/>
              <a:defRPr/>
            </a:pPr>
            <a:r>
              <a:rPr lang="en-US" altLang="zh-CN" sz="2400"/>
              <a:t>......</a:t>
            </a:r>
          </a:p>
          <a:p>
            <a:pPr defTabSz="449263" eaLnBrk="1" hangingPunct="1">
              <a:lnSpc>
                <a:spcPct val="80000"/>
              </a:lnSpc>
              <a:buFont typeface="Wingdings" panose="05000000000000000000" pitchFamily="2" charset="2"/>
              <a:buNone/>
              <a:defRPr/>
            </a:pPr>
            <a:r>
              <a:rPr lang="en-US" altLang="zh-CN" sz="2400"/>
              <a:t>B b1,b2;</a:t>
            </a:r>
          </a:p>
          <a:p>
            <a:pPr defTabSz="449263" eaLnBrk="1" hangingPunct="1">
              <a:lnSpc>
                <a:spcPct val="80000"/>
              </a:lnSpc>
              <a:buFont typeface="Wingdings" panose="05000000000000000000" pitchFamily="2" charset="2"/>
              <a:buNone/>
              <a:defRPr/>
            </a:pPr>
            <a:r>
              <a:rPr lang="en-US" altLang="zh-CN" sz="2400"/>
              <a:t>b1 = b2;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CB1C4-33C4-CBEB-489E-651CF9EE5798}"/>
              </a:ext>
            </a:extLst>
          </p:cNvPr>
          <p:cNvSpPr>
            <a:spLocks noGrp="1"/>
          </p:cNvSpPr>
          <p:nvPr>
            <p:ph type="title"/>
          </p:nvPr>
        </p:nvSpPr>
        <p:spPr/>
        <p:txBody>
          <a:bodyPr/>
          <a:lstStyle/>
          <a:p>
            <a:pPr>
              <a:defRPr/>
            </a:pPr>
            <a:r>
              <a:rPr lang="zh-CN" altLang="en-US"/>
              <a:t>派生类成员标识符的作用域</a:t>
            </a:r>
          </a:p>
        </p:txBody>
      </p:sp>
      <p:sp>
        <p:nvSpPr>
          <p:cNvPr id="3" name="内容占位符 2">
            <a:extLst>
              <a:ext uri="{FF2B5EF4-FFF2-40B4-BE49-F238E27FC236}">
                <a16:creationId xmlns:a16="http://schemas.microsoft.com/office/drawing/2014/main" id="{4AC59E70-6B61-1A9A-C88D-4230274016D9}"/>
              </a:ext>
            </a:extLst>
          </p:cNvPr>
          <p:cNvSpPr>
            <a:spLocks noGrp="1"/>
          </p:cNvSpPr>
          <p:nvPr>
            <p:ph idx="1"/>
          </p:nvPr>
        </p:nvSpPr>
        <p:spPr>
          <a:xfrm>
            <a:off x="457200" y="1600200"/>
            <a:ext cx="8229600" cy="2549525"/>
          </a:xfrm>
        </p:spPr>
        <p:txBody>
          <a:bodyPr>
            <a:normAutofit/>
          </a:bodyPr>
          <a:lstStyle/>
          <a:p>
            <a:pPr>
              <a:defRPr/>
            </a:pPr>
            <a:r>
              <a:rPr lang="zh-CN" altLang="en-US" sz="3000" dirty="0"/>
              <a:t>派生类对基类成员的访问除了受到基类的访问控制的限制以外，还要受到标识符作用域（</a:t>
            </a:r>
            <a:r>
              <a:rPr lang="en-US" altLang="zh-CN" sz="3000" dirty="0"/>
              <a:t>scope</a:t>
            </a:r>
            <a:r>
              <a:rPr lang="zh-CN" altLang="en-US" sz="3000" dirty="0"/>
              <a:t>）的限制。</a:t>
            </a:r>
            <a:endParaRPr lang="en-US" altLang="zh-CN" sz="3000" dirty="0"/>
          </a:p>
          <a:p>
            <a:pPr>
              <a:defRPr/>
            </a:pPr>
            <a:r>
              <a:rPr lang="zh-CN" altLang="en-US" sz="3000" dirty="0"/>
              <a:t>对基类而言，派生类成员标识符的作用域是</a:t>
            </a:r>
            <a:r>
              <a:rPr lang="zh-CN" altLang="en-US" sz="3000" dirty="0">
                <a:solidFill>
                  <a:srgbClr val="FFC000"/>
                </a:solidFill>
              </a:rPr>
              <a:t>嵌套在</a:t>
            </a:r>
            <a:r>
              <a:rPr lang="zh-CN" altLang="en-US" sz="3000" dirty="0"/>
              <a:t>基类作用域中的。</a:t>
            </a:r>
          </a:p>
        </p:txBody>
      </p:sp>
      <p:sp>
        <p:nvSpPr>
          <p:cNvPr id="43012" name="Text Box 5">
            <a:extLst>
              <a:ext uri="{FF2B5EF4-FFF2-40B4-BE49-F238E27FC236}">
                <a16:creationId xmlns:a16="http://schemas.microsoft.com/office/drawing/2014/main" id="{F92CA14B-5FEE-66FF-A3D9-05D6956A3F6F}"/>
              </a:ext>
            </a:extLst>
          </p:cNvPr>
          <p:cNvSpPr txBox="1">
            <a:spLocks noChangeArrowheads="1"/>
          </p:cNvSpPr>
          <p:nvPr/>
        </p:nvSpPr>
        <p:spPr bwMode="auto">
          <a:xfrm>
            <a:off x="5435600" y="4581525"/>
            <a:ext cx="2879725"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sz="2000"/>
              <a:t>class B:public A</a:t>
            </a:r>
          </a:p>
          <a:p>
            <a:pPr eaLnBrk="1" hangingPunct="1">
              <a:lnSpc>
                <a:spcPct val="120000"/>
              </a:lnSpc>
              <a:spcBef>
                <a:spcPct val="0"/>
              </a:spcBef>
              <a:buClrTx/>
              <a:buSzTx/>
              <a:buFontTx/>
              <a:buNone/>
            </a:pPr>
            <a:r>
              <a:rPr lang="en-US" altLang="zh-CN" sz="2000"/>
              <a:t>{ ......</a:t>
            </a:r>
          </a:p>
          <a:p>
            <a:pPr eaLnBrk="1" hangingPunct="1">
              <a:lnSpc>
                <a:spcPct val="120000"/>
              </a:lnSpc>
              <a:spcBef>
                <a:spcPct val="0"/>
              </a:spcBef>
              <a:buClrTx/>
              <a:buSzTx/>
              <a:buFontTx/>
              <a:buNone/>
            </a:pPr>
            <a:r>
              <a:rPr lang="en-US" altLang="zh-CN" sz="2000"/>
              <a:t>}</a:t>
            </a:r>
          </a:p>
        </p:txBody>
      </p:sp>
      <p:sp>
        <p:nvSpPr>
          <p:cNvPr id="43013" name="Text Box 5">
            <a:extLst>
              <a:ext uri="{FF2B5EF4-FFF2-40B4-BE49-F238E27FC236}">
                <a16:creationId xmlns:a16="http://schemas.microsoft.com/office/drawing/2014/main" id="{34CE42FB-00D5-0D82-B474-66D47AA3B0DF}"/>
              </a:ext>
            </a:extLst>
          </p:cNvPr>
          <p:cNvSpPr txBox="1">
            <a:spLocks noChangeArrowheads="1"/>
          </p:cNvSpPr>
          <p:nvPr/>
        </p:nvSpPr>
        <p:spPr bwMode="auto">
          <a:xfrm>
            <a:off x="971550" y="4292600"/>
            <a:ext cx="3240088"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sz="2000"/>
              <a:t>class A</a:t>
            </a:r>
          </a:p>
          <a:p>
            <a:pPr eaLnBrk="1" hangingPunct="1">
              <a:lnSpc>
                <a:spcPct val="120000"/>
              </a:lnSpc>
              <a:spcBef>
                <a:spcPct val="0"/>
              </a:spcBef>
              <a:buClrTx/>
              <a:buSzTx/>
              <a:buFontTx/>
              <a:buNone/>
            </a:pPr>
            <a:r>
              <a:rPr lang="en-US" altLang="zh-CN" sz="2000"/>
              <a:t>{  ......</a:t>
            </a:r>
          </a:p>
          <a:p>
            <a:pPr eaLnBrk="1" hangingPunct="1">
              <a:lnSpc>
                <a:spcPct val="120000"/>
              </a:lnSpc>
              <a:spcBef>
                <a:spcPct val="0"/>
              </a:spcBef>
              <a:buClrTx/>
              <a:buSzTx/>
              <a:buFontTx/>
              <a:buNone/>
            </a:pPr>
            <a:r>
              <a:rPr lang="en-US" altLang="zh-CN" sz="2000"/>
              <a:t>public:</a:t>
            </a:r>
          </a:p>
          <a:p>
            <a:pPr eaLnBrk="1" hangingPunct="1">
              <a:lnSpc>
                <a:spcPct val="120000"/>
              </a:lnSpc>
              <a:spcBef>
                <a:spcPct val="0"/>
              </a:spcBef>
              <a:buClrTx/>
              <a:buSzTx/>
              <a:buFontTx/>
              <a:buNone/>
            </a:pPr>
            <a:r>
              <a:rPr lang="en-US" altLang="zh-CN" sz="2000"/>
              <a:t>    ......</a:t>
            </a:r>
          </a:p>
          <a:p>
            <a:pPr eaLnBrk="1" hangingPunct="1">
              <a:lnSpc>
                <a:spcPct val="120000"/>
              </a:lnSpc>
              <a:spcBef>
                <a:spcPct val="0"/>
              </a:spcBef>
              <a:buClrTx/>
              <a:buSzTx/>
              <a:buFontTx/>
              <a:buNone/>
            </a:pPr>
            <a:r>
              <a:rPr lang="en-US" altLang="zh-CN" sz="2000"/>
              <a:t>}</a:t>
            </a:r>
            <a:endParaRPr lang="zh-CN" altLang="en-US" sz="2000"/>
          </a:p>
        </p:txBody>
      </p:sp>
      <p:cxnSp>
        <p:nvCxnSpPr>
          <p:cNvPr id="43014" name="直接箭头连接符 6">
            <a:extLst>
              <a:ext uri="{FF2B5EF4-FFF2-40B4-BE49-F238E27FC236}">
                <a16:creationId xmlns:a16="http://schemas.microsoft.com/office/drawing/2014/main" id="{7780A0EC-BCB2-8185-9D5B-C3E5E5AAB2A1}"/>
              </a:ext>
            </a:extLst>
          </p:cNvPr>
          <p:cNvCxnSpPr>
            <a:cxnSpLocks noChangeShapeType="1"/>
          </p:cNvCxnSpPr>
          <p:nvPr/>
        </p:nvCxnSpPr>
        <p:spPr bwMode="auto">
          <a:xfrm flipH="1">
            <a:off x="2411413" y="4941888"/>
            <a:ext cx="2952750" cy="75882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6" name="Rectangle 4">
            <a:extLst>
              <a:ext uri="{FF2B5EF4-FFF2-40B4-BE49-F238E27FC236}">
                <a16:creationId xmlns:a16="http://schemas.microsoft.com/office/drawing/2014/main" id="{36D039DD-46AE-EB54-EE09-2E1C7D0FD14E}"/>
              </a:ext>
            </a:extLst>
          </p:cNvPr>
          <p:cNvSpPr>
            <a:spLocks noGrp="1" noChangeArrowheads="1"/>
          </p:cNvSpPr>
          <p:nvPr>
            <p:ph type="body" idx="1"/>
          </p:nvPr>
        </p:nvSpPr>
        <p:spPr>
          <a:xfrm>
            <a:off x="468313" y="476250"/>
            <a:ext cx="8351837" cy="5832475"/>
          </a:xfrm>
        </p:spPr>
        <p:txBody>
          <a:bodyPr>
            <a:normAutofit/>
          </a:bodyPr>
          <a:lstStyle/>
          <a:p>
            <a:pPr marL="361950" indent="-361950" defTabSz="611188" eaLnBrk="1" hangingPunct="1">
              <a:lnSpc>
                <a:spcPct val="110000"/>
              </a:lnSpc>
              <a:defRPr/>
            </a:pPr>
            <a:r>
              <a:rPr lang="zh-CN" altLang="en-US" sz="3000" dirty="0"/>
              <a:t>如果派生类中定义了与基类同名的成员，则基类的成员名在派生类的作用域内不直接可见（被隐藏，</a:t>
            </a:r>
            <a:r>
              <a:rPr lang="en-US" altLang="zh-CN" sz="3000" dirty="0"/>
              <a:t>Hidden</a:t>
            </a:r>
            <a:r>
              <a:rPr lang="zh-CN" altLang="en-US" sz="3000" dirty="0"/>
              <a:t>）。访问基类同名成员时要用基类名指定。例如</a:t>
            </a:r>
            <a:r>
              <a:rPr lang="en-US" altLang="zh-CN" sz="3000" dirty="0"/>
              <a:t>:</a:t>
            </a:r>
          </a:p>
          <a:p>
            <a:pPr marL="361950" indent="-361950" defTabSz="611188" eaLnBrk="1" hangingPunct="1">
              <a:lnSpc>
                <a:spcPct val="80000"/>
              </a:lnSpc>
              <a:buFontTx/>
              <a:buNone/>
              <a:defRPr/>
            </a:pPr>
            <a:endParaRPr lang="en-GB" altLang="zh-CN" sz="2400" dirty="0"/>
          </a:p>
          <a:p>
            <a:pPr marL="361950" indent="-361950" defTabSz="611188" eaLnBrk="1" hangingPunct="1">
              <a:lnSpc>
                <a:spcPct val="80000"/>
              </a:lnSpc>
              <a:buFontTx/>
              <a:buNone/>
              <a:defRPr/>
            </a:pPr>
            <a:r>
              <a:rPr lang="en-GB" altLang="zh-CN" sz="2400" dirty="0"/>
              <a:t>class B: public A</a:t>
            </a:r>
          </a:p>
          <a:p>
            <a:pPr marL="361950" indent="-361950" defTabSz="611188" eaLnBrk="1" hangingPunct="1">
              <a:lnSpc>
                <a:spcPct val="80000"/>
              </a:lnSpc>
              <a:buFontTx/>
              <a:buNone/>
              <a:defRPr/>
            </a:pPr>
            <a:r>
              <a:rPr lang="en-GB" altLang="zh-CN" sz="2400" dirty="0"/>
              <a:t>{		</a:t>
            </a:r>
            <a:r>
              <a:rPr lang="en-GB" altLang="zh-CN" sz="2400" dirty="0" err="1"/>
              <a:t>int</a:t>
            </a:r>
            <a:r>
              <a:rPr lang="en-GB" altLang="zh-CN" sz="2400" dirty="0"/>
              <a:t> z;</a:t>
            </a:r>
          </a:p>
          <a:p>
            <a:pPr marL="361950" indent="-361950" defTabSz="611188" eaLnBrk="1" hangingPunct="1">
              <a:lnSpc>
                <a:spcPct val="80000"/>
              </a:lnSpc>
              <a:buFontTx/>
              <a:buNone/>
              <a:defRPr/>
            </a:pPr>
            <a:r>
              <a:rPr lang="en-GB" altLang="zh-CN" sz="2400" dirty="0"/>
              <a:t>  public:</a:t>
            </a:r>
          </a:p>
          <a:p>
            <a:pPr marL="361950" indent="-361950" defTabSz="611188" eaLnBrk="1" hangingPunct="1">
              <a:lnSpc>
                <a:spcPct val="80000"/>
              </a:lnSpc>
              <a:buFontTx/>
              <a:buNone/>
              <a:defRPr/>
            </a:pPr>
            <a:r>
              <a:rPr lang="en-GB" altLang="zh-CN" sz="2400" dirty="0"/>
              <a:t>		void </a:t>
            </a:r>
            <a:r>
              <a:rPr lang="en-GB" altLang="zh-CN" sz="2400" dirty="0">
                <a:solidFill>
                  <a:srgbClr val="FFC000"/>
                </a:solidFill>
              </a:rPr>
              <a:t>f</a:t>
            </a:r>
            <a:r>
              <a:rPr lang="en-GB" altLang="zh-CN" sz="2400" dirty="0"/>
              <a:t>();</a:t>
            </a:r>
          </a:p>
          <a:p>
            <a:pPr marL="361950" indent="-361950" defTabSz="611188" eaLnBrk="1" hangingPunct="1">
              <a:lnSpc>
                <a:spcPct val="80000"/>
              </a:lnSpc>
              <a:buFontTx/>
              <a:buNone/>
              <a:defRPr/>
            </a:pPr>
            <a:r>
              <a:rPr lang="en-GB" altLang="zh-CN" sz="2400" dirty="0"/>
              <a:t>		void h()</a:t>
            </a:r>
          </a:p>
          <a:p>
            <a:pPr marL="361950" indent="-361950" defTabSz="611188" eaLnBrk="1" hangingPunct="1">
              <a:lnSpc>
                <a:spcPct val="80000"/>
              </a:lnSpc>
              <a:buFontTx/>
              <a:buNone/>
              <a:defRPr/>
            </a:pPr>
            <a:r>
              <a:rPr lang="en-GB" altLang="zh-CN" sz="2400" dirty="0"/>
              <a:t>		{	</a:t>
            </a:r>
            <a:r>
              <a:rPr lang="en-GB" altLang="zh-CN" sz="2400" dirty="0">
                <a:solidFill>
                  <a:srgbClr val="FFC000"/>
                </a:solidFill>
              </a:rPr>
              <a:t>f</a:t>
            </a:r>
            <a:r>
              <a:rPr lang="en-GB" altLang="zh-CN" sz="2400" dirty="0"/>
              <a:t>();  //B</a:t>
            </a:r>
            <a:r>
              <a:rPr lang="zh-CN" altLang="en-GB" sz="2400" dirty="0"/>
              <a:t>类中的</a:t>
            </a:r>
            <a:r>
              <a:rPr lang="en-GB" altLang="zh-CN" sz="2400" dirty="0"/>
              <a:t>f</a:t>
            </a:r>
          </a:p>
          <a:p>
            <a:pPr marL="361950" indent="-361950" defTabSz="611188" eaLnBrk="1" hangingPunct="1">
              <a:lnSpc>
                <a:spcPct val="80000"/>
              </a:lnSpc>
              <a:buFontTx/>
              <a:buNone/>
              <a:defRPr/>
            </a:pPr>
            <a:r>
              <a:rPr lang="en-GB" altLang="zh-CN" sz="2400" dirty="0"/>
              <a:t>			</a:t>
            </a:r>
            <a:r>
              <a:rPr lang="en-GB" altLang="zh-CN" sz="2400" dirty="0">
                <a:solidFill>
                  <a:srgbClr val="FFC000"/>
                </a:solidFill>
              </a:rPr>
              <a:t>A::f</a:t>
            </a:r>
            <a:r>
              <a:rPr lang="en-GB" altLang="zh-CN" sz="2400" dirty="0"/>
              <a:t>();  //A</a:t>
            </a:r>
            <a:r>
              <a:rPr lang="zh-CN" altLang="en-GB" sz="2400" dirty="0"/>
              <a:t>类中的</a:t>
            </a:r>
            <a:r>
              <a:rPr lang="en-GB" altLang="zh-CN" sz="2400" dirty="0"/>
              <a:t>f</a:t>
            </a:r>
          </a:p>
          <a:p>
            <a:pPr marL="361950" indent="-361950" defTabSz="611188" eaLnBrk="1" hangingPunct="1">
              <a:lnSpc>
                <a:spcPct val="80000"/>
              </a:lnSpc>
              <a:buFontTx/>
              <a:buNone/>
              <a:defRPr/>
            </a:pPr>
            <a:r>
              <a:rPr lang="en-GB" altLang="zh-CN" sz="2400" dirty="0"/>
              <a:t>		}</a:t>
            </a:r>
          </a:p>
          <a:p>
            <a:pPr marL="361950" indent="-361950" defTabSz="611188" eaLnBrk="1" hangingPunct="1">
              <a:lnSpc>
                <a:spcPct val="80000"/>
              </a:lnSpc>
              <a:buFontTx/>
              <a:buNone/>
              <a:defRPr/>
            </a:pPr>
            <a:r>
              <a:rPr lang="en-GB" altLang="zh-CN" sz="2400" dirty="0"/>
              <a:t>};</a:t>
            </a:r>
          </a:p>
        </p:txBody>
      </p:sp>
      <p:sp>
        <p:nvSpPr>
          <p:cNvPr id="612357" name="Text Box 5">
            <a:extLst>
              <a:ext uri="{FF2B5EF4-FFF2-40B4-BE49-F238E27FC236}">
                <a16:creationId xmlns:a16="http://schemas.microsoft.com/office/drawing/2014/main" id="{DB11B27A-C62B-9108-0DB6-7C7D2D0E2C2B}"/>
              </a:ext>
            </a:extLst>
          </p:cNvPr>
          <p:cNvSpPr txBox="1">
            <a:spLocks noChangeArrowheads="1"/>
          </p:cNvSpPr>
          <p:nvPr/>
        </p:nvSpPr>
        <p:spPr bwMode="auto">
          <a:xfrm>
            <a:off x="5724525" y="2921000"/>
            <a:ext cx="3025775" cy="2308225"/>
          </a:xfrm>
          <a:prstGeom prst="rect">
            <a:avLst/>
          </a:prstGeom>
          <a:solidFill>
            <a:schemeClr val="bg1"/>
          </a:solidFill>
          <a:ln w="9525">
            <a:noFill/>
            <a:miter lim="800000"/>
            <a:headEnd/>
            <a:tailEnd/>
          </a:ln>
          <a:effectLst/>
        </p:spPr>
        <p:txBody>
          <a:bodyPr lIns="92075" tIns="46038" rIns="92075" bIns="46038">
            <a:spAutoFit/>
          </a:bodyPr>
          <a:lstStyle>
            <a:lvl1pPr defTabSz="45085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defTabSz="4508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defTabSz="45085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defTabSz="45085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defTabSz="45085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defRPr/>
            </a:pPr>
            <a:r>
              <a:rPr lang="en-GB" altLang="zh-CN" sz="2400">
                <a:effectLst>
                  <a:outerShdw blurRad="38100" dist="38100" dir="2700000" algn="tl">
                    <a:srgbClr val="000000"/>
                  </a:outerShdw>
                </a:effectLst>
              </a:rPr>
              <a:t>class A //</a:t>
            </a:r>
            <a:r>
              <a:rPr lang="zh-CN" altLang="en-GB" sz="2400">
                <a:effectLst>
                  <a:outerShdw blurRad="38100" dist="38100" dir="2700000" algn="tl">
                    <a:srgbClr val="000000"/>
                  </a:outerShdw>
                </a:effectLst>
              </a:rPr>
              <a:t>基类</a:t>
            </a:r>
          </a:p>
          <a:p>
            <a:pPr eaLnBrk="1" hangingPunct="1">
              <a:spcBef>
                <a:spcPct val="0"/>
              </a:spcBef>
              <a:buClrTx/>
              <a:buSzTx/>
              <a:buFontTx/>
              <a:buNone/>
              <a:defRPr/>
            </a:pPr>
            <a:r>
              <a:rPr lang="en-GB" altLang="zh-CN" sz="2400">
                <a:effectLst>
                  <a:outerShdw blurRad="38100" dist="38100" dir="2700000" algn="tl">
                    <a:srgbClr val="000000"/>
                  </a:outerShdw>
                </a:effectLst>
              </a:rPr>
              <a:t>{		int x,y;</a:t>
            </a:r>
          </a:p>
          <a:p>
            <a:pPr eaLnBrk="1" hangingPunct="1">
              <a:spcBef>
                <a:spcPct val="0"/>
              </a:spcBef>
              <a:buClrTx/>
              <a:buSzTx/>
              <a:buFontTx/>
              <a:buNone/>
              <a:defRPr/>
            </a:pPr>
            <a:r>
              <a:rPr lang="en-GB" altLang="zh-CN" sz="2400">
                <a:effectLst>
                  <a:outerShdw blurRad="38100" dist="38100" dir="2700000" algn="tl">
                    <a:srgbClr val="000000"/>
                  </a:outerShdw>
                </a:effectLst>
              </a:rPr>
              <a:t>	public:</a:t>
            </a:r>
          </a:p>
          <a:p>
            <a:pPr eaLnBrk="1" hangingPunct="1">
              <a:spcBef>
                <a:spcPct val="0"/>
              </a:spcBef>
              <a:buClrTx/>
              <a:buSzTx/>
              <a:buFontTx/>
              <a:buNone/>
              <a:defRPr/>
            </a:pPr>
            <a:r>
              <a:rPr lang="en-GB" altLang="zh-CN" sz="2400">
                <a:effectLst>
                  <a:outerShdw blurRad="38100" dist="38100" dir="2700000" algn="tl">
                    <a:srgbClr val="000000"/>
                  </a:outerShdw>
                </a:effectLst>
              </a:rPr>
              <a:t>		void </a:t>
            </a:r>
            <a:r>
              <a:rPr lang="en-GB" altLang="zh-CN" sz="2400">
                <a:solidFill>
                  <a:srgbClr val="FFC000"/>
                </a:solidFill>
                <a:effectLst>
                  <a:outerShdw blurRad="38100" dist="38100" dir="2700000" algn="tl">
                    <a:srgbClr val="000000"/>
                  </a:outerShdw>
                </a:effectLst>
              </a:rPr>
              <a:t>f</a:t>
            </a:r>
            <a:r>
              <a:rPr lang="en-GB" altLang="zh-CN" sz="2400">
                <a:effectLst>
                  <a:outerShdw blurRad="38100" dist="38100" dir="2700000" algn="tl">
                    <a:srgbClr val="000000"/>
                  </a:outerShdw>
                </a:effectLst>
              </a:rPr>
              <a:t>();</a:t>
            </a:r>
          </a:p>
          <a:p>
            <a:pPr eaLnBrk="1" hangingPunct="1">
              <a:spcBef>
                <a:spcPct val="0"/>
              </a:spcBef>
              <a:buClrTx/>
              <a:buSzTx/>
              <a:buFontTx/>
              <a:buNone/>
              <a:defRPr/>
            </a:pPr>
            <a:r>
              <a:rPr lang="en-GB" altLang="zh-CN" sz="2400">
                <a:effectLst>
                  <a:outerShdw blurRad="38100" dist="38100" dir="2700000" algn="tl">
                    <a:srgbClr val="000000"/>
                  </a:outerShdw>
                </a:effectLst>
              </a:rPr>
              <a:t>		void g();</a:t>
            </a:r>
          </a:p>
          <a:p>
            <a:pPr eaLnBrk="1" hangingPunct="1">
              <a:spcBef>
                <a:spcPct val="0"/>
              </a:spcBef>
              <a:buClrTx/>
              <a:buSzTx/>
              <a:buFontTx/>
              <a:buNone/>
              <a:defRPr/>
            </a:pPr>
            <a:r>
              <a:rPr lang="en-GB" altLang="zh-CN" sz="2400">
                <a:effectLst>
                  <a:outerShdw blurRad="38100" dist="38100" dir="2700000" algn="tl">
                    <a:srgbClr val="000000"/>
                  </a:outerShdw>
                </a:effectLst>
              </a:rPr>
              <a:t>};</a:t>
            </a:r>
            <a:endParaRPr lang="en-US" altLang="zh-CN"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a:extLst>
              <a:ext uri="{FF2B5EF4-FFF2-40B4-BE49-F238E27FC236}">
                <a16:creationId xmlns:a16="http://schemas.microsoft.com/office/drawing/2014/main" id="{E9AD44F3-0BF7-F994-080C-C1D15FCC5672}"/>
              </a:ext>
            </a:extLst>
          </p:cNvPr>
          <p:cNvSpPr>
            <a:spLocks noGrp="1" noChangeArrowheads="1"/>
          </p:cNvSpPr>
          <p:nvPr>
            <p:ph type="body" idx="1"/>
          </p:nvPr>
        </p:nvSpPr>
        <p:spPr>
          <a:xfrm>
            <a:off x="457200" y="188913"/>
            <a:ext cx="8229600" cy="6553200"/>
          </a:xfrm>
        </p:spPr>
        <p:txBody>
          <a:bodyPr>
            <a:normAutofit/>
          </a:bodyPr>
          <a:lstStyle/>
          <a:p>
            <a:pPr defTabSz="609600" eaLnBrk="1" hangingPunct="1">
              <a:lnSpc>
                <a:spcPct val="110000"/>
              </a:lnSpc>
              <a:defRPr/>
            </a:pPr>
            <a:r>
              <a:rPr lang="zh-CN" altLang="en-GB" sz="2800" dirty="0"/>
              <a:t>即使派生类中定义了与基类同名但参数不同的成员函数，基类的同名函数在派生类的作用域中也是不直接可见的</a:t>
            </a:r>
            <a:r>
              <a:rPr lang="zh-CN" altLang="en-US" sz="2800" dirty="0"/>
              <a:t>，仍然需要用基类名指定来使用之</a:t>
            </a:r>
            <a:r>
              <a:rPr lang="zh-CN" altLang="en-GB" sz="2800" dirty="0"/>
              <a:t>：</a:t>
            </a:r>
          </a:p>
          <a:p>
            <a:pPr lvl="1" defTabSz="609600" eaLnBrk="1" hangingPunct="1">
              <a:lnSpc>
                <a:spcPct val="130000"/>
              </a:lnSpc>
              <a:buFontTx/>
              <a:buNone/>
              <a:defRPr/>
            </a:pPr>
            <a:r>
              <a:rPr lang="en-GB" altLang="zh-CN" sz="2200" dirty="0"/>
              <a:t>class B: public A</a:t>
            </a:r>
          </a:p>
          <a:p>
            <a:pPr lvl="1" defTabSz="609600" eaLnBrk="1" hangingPunct="1">
              <a:lnSpc>
                <a:spcPct val="80000"/>
              </a:lnSpc>
              <a:buFontTx/>
              <a:buNone/>
              <a:defRPr/>
            </a:pPr>
            <a:r>
              <a:rPr lang="en-GB" altLang="zh-CN" sz="2200" dirty="0"/>
              <a:t>{		</a:t>
            </a:r>
            <a:r>
              <a:rPr lang="en-GB" altLang="zh-CN" sz="2200" dirty="0" err="1"/>
              <a:t>int</a:t>
            </a:r>
            <a:r>
              <a:rPr lang="en-GB" altLang="zh-CN" sz="2200" dirty="0"/>
              <a:t> z;</a:t>
            </a:r>
          </a:p>
          <a:p>
            <a:pPr lvl="1" defTabSz="609600" eaLnBrk="1" hangingPunct="1">
              <a:lnSpc>
                <a:spcPct val="80000"/>
              </a:lnSpc>
              <a:buFontTx/>
              <a:buNone/>
              <a:defRPr/>
            </a:pPr>
            <a:r>
              <a:rPr lang="en-GB" altLang="zh-CN" sz="2200" dirty="0"/>
              <a:t>	public:</a:t>
            </a:r>
          </a:p>
          <a:p>
            <a:pPr lvl="1" defTabSz="609600" eaLnBrk="1" hangingPunct="1">
              <a:lnSpc>
                <a:spcPct val="80000"/>
              </a:lnSpc>
              <a:buFontTx/>
              <a:buNone/>
              <a:defRPr/>
            </a:pPr>
            <a:r>
              <a:rPr lang="en-GB" altLang="zh-CN" sz="2200" dirty="0"/>
              <a:t>		void </a:t>
            </a:r>
            <a:r>
              <a:rPr lang="en-GB" altLang="zh-CN" sz="2200" dirty="0">
                <a:solidFill>
                  <a:srgbClr val="FFC000"/>
                </a:solidFill>
              </a:rPr>
              <a:t>f(</a:t>
            </a:r>
            <a:r>
              <a:rPr lang="en-GB" altLang="zh-CN" sz="2200" dirty="0" err="1">
                <a:solidFill>
                  <a:srgbClr val="FFC000"/>
                </a:solidFill>
              </a:rPr>
              <a:t>int</a:t>
            </a:r>
            <a:r>
              <a:rPr lang="en-GB" altLang="zh-CN" sz="2200" dirty="0">
                <a:solidFill>
                  <a:srgbClr val="FFC000"/>
                </a:solidFill>
              </a:rPr>
              <a:t>)</a:t>
            </a:r>
            <a:r>
              <a:rPr lang="en-GB" altLang="zh-CN" sz="2200" dirty="0"/>
              <a:t>; </a:t>
            </a:r>
            <a:endParaRPr lang="en-GB" altLang="zh-CN" sz="2200" dirty="0">
              <a:solidFill>
                <a:srgbClr val="FFC000"/>
              </a:solidFill>
            </a:endParaRPr>
          </a:p>
          <a:p>
            <a:pPr lvl="1" defTabSz="609600" eaLnBrk="1" hangingPunct="1">
              <a:lnSpc>
                <a:spcPct val="80000"/>
              </a:lnSpc>
              <a:buFontTx/>
              <a:buNone/>
              <a:defRPr/>
            </a:pPr>
            <a:r>
              <a:rPr lang="en-GB" altLang="zh-CN" sz="2200" dirty="0"/>
              <a:t>		void h() </a:t>
            </a:r>
          </a:p>
          <a:p>
            <a:pPr lvl="1" defTabSz="609600" eaLnBrk="1" hangingPunct="1">
              <a:lnSpc>
                <a:spcPct val="80000"/>
              </a:lnSpc>
              <a:buFontTx/>
              <a:buNone/>
              <a:defRPr/>
            </a:pPr>
            <a:r>
              <a:rPr lang="en-GB" altLang="zh-CN" sz="2200" dirty="0"/>
              <a:t>		{	f(1);  //OK</a:t>
            </a:r>
          </a:p>
          <a:p>
            <a:pPr lvl="1" defTabSz="609600" eaLnBrk="1" hangingPunct="1">
              <a:lnSpc>
                <a:spcPct val="80000"/>
              </a:lnSpc>
              <a:buFontTx/>
              <a:buNone/>
              <a:defRPr/>
            </a:pPr>
            <a:r>
              <a:rPr lang="en-GB" altLang="zh-CN" sz="2200" dirty="0"/>
              <a:t>			f();  //</a:t>
            </a:r>
            <a:r>
              <a:rPr lang="en-GB" altLang="zh-CN" sz="2200" dirty="0">
                <a:solidFill>
                  <a:schemeClr val="folHlink"/>
                </a:solidFill>
              </a:rPr>
              <a:t>Error</a:t>
            </a:r>
          </a:p>
          <a:p>
            <a:pPr lvl="1" defTabSz="609600" eaLnBrk="1" hangingPunct="1">
              <a:lnSpc>
                <a:spcPct val="80000"/>
              </a:lnSpc>
              <a:buFontTx/>
              <a:buNone/>
              <a:defRPr/>
            </a:pPr>
            <a:r>
              <a:rPr lang="en-GB" altLang="zh-CN" sz="2200" dirty="0"/>
              <a:t>			A::f();  //OK</a:t>
            </a:r>
          </a:p>
          <a:p>
            <a:pPr lvl="1" defTabSz="609600" eaLnBrk="1" hangingPunct="1">
              <a:lnSpc>
                <a:spcPct val="80000"/>
              </a:lnSpc>
              <a:buFontTx/>
              <a:buNone/>
              <a:defRPr/>
            </a:pPr>
            <a:r>
              <a:rPr lang="en-GB" altLang="zh-CN" sz="2200" dirty="0"/>
              <a:t>		}</a:t>
            </a:r>
          </a:p>
          <a:p>
            <a:pPr lvl="1" defTabSz="609600" eaLnBrk="1" hangingPunct="1">
              <a:lnSpc>
                <a:spcPct val="80000"/>
              </a:lnSpc>
              <a:buFontTx/>
              <a:buNone/>
              <a:defRPr/>
            </a:pPr>
            <a:r>
              <a:rPr lang="en-GB" altLang="zh-CN" sz="2200" dirty="0"/>
              <a:t>};</a:t>
            </a:r>
          </a:p>
          <a:p>
            <a:pPr defTabSz="609600" eaLnBrk="1" hangingPunct="1">
              <a:defRPr/>
            </a:pPr>
            <a:r>
              <a:rPr lang="zh-CN" altLang="en-US" sz="2800" dirty="0">
                <a:solidFill>
                  <a:srgbClr val="FFC000"/>
                </a:solidFill>
              </a:rPr>
              <a:t>注意：</a:t>
            </a:r>
            <a:r>
              <a:rPr lang="en-US" altLang="zh-CN" sz="2800" dirty="0"/>
              <a:t>B</a:t>
            </a:r>
            <a:r>
              <a:rPr lang="zh-CN" altLang="en-US" sz="2800" dirty="0"/>
              <a:t>类中的</a:t>
            </a:r>
            <a:r>
              <a:rPr lang="en-US" altLang="zh-CN" sz="2800" dirty="0"/>
              <a:t>f</a:t>
            </a:r>
            <a:r>
              <a:rPr lang="zh-CN" altLang="en-US" sz="2800" dirty="0"/>
              <a:t>与</a:t>
            </a:r>
            <a:r>
              <a:rPr lang="en-US" altLang="zh-CN" sz="2800" dirty="0"/>
              <a:t>A</a:t>
            </a:r>
            <a:r>
              <a:rPr lang="zh-CN" altLang="en-US" sz="2800" dirty="0"/>
              <a:t>类中的</a:t>
            </a:r>
            <a:r>
              <a:rPr lang="en-US" altLang="zh-CN" sz="2800" dirty="0"/>
              <a:t>f</a:t>
            </a:r>
            <a:r>
              <a:rPr lang="zh-CN" altLang="en-US" sz="2800" dirty="0"/>
              <a:t>不属于函数名重载，因为它们属于不同的作用域。</a:t>
            </a:r>
            <a:endParaRPr lang="en-GB" altLang="zh-CN" sz="2800" dirty="0"/>
          </a:p>
        </p:txBody>
      </p:sp>
      <p:sp>
        <p:nvSpPr>
          <p:cNvPr id="607232" name="Text Box 0">
            <a:extLst>
              <a:ext uri="{FF2B5EF4-FFF2-40B4-BE49-F238E27FC236}">
                <a16:creationId xmlns:a16="http://schemas.microsoft.com/office/drawing/2014/main" id="{C618229D-9E1D-7A23-82D2-DCCA89CB6231}"/>
              </a:ext>
            </a:extLst>
          </p:cNvPr>
          <p:cNvSpPr txBox="1">
            <a:spLocks noChangeArrowheads="1"/>
          </p:cNvSpPr>
          <p:nvPr/>
        </p:nvSpPr>
        <p:spPr bwMode="auto">
          <a:xfrm>
            <a:off x="5794375" y="2200275"/>
            <a:ext cx="3025775" cy="2308225"/>
          </a:xfrm>
          <a:prstGeom prst="rect">
            <a:avLst/>
          </a:prstGeom>
          <a:solidFill>
            <a:schemeClr val="bg1"/>
          </a:solidFill>
          <a:ln w="9525">
            <a:noFill/>
            <a:miter lim="800000"/>
            <a:headEnd/>
            <a:tailEnd/>
          </a:ln>
          <a:effectLst/>
        </p:spPr>
        <p:txBody>
          <a:bodyPr lIns="92075" tIns="46038" rIns="92075" bIns="46038">
            <a:spAutoFit/>
          </a:bodyPr>
          <a:lstStyle>
            <a:lvl1pPr defTabSz="45085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defTabSz="4508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defTabSz="45085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defTabSz="45085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defTabSz="45085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defRPr/>
            </a:pPr>
            <a:r>
              <a:rPr lang="en-GB" altLang="zh-CN" sz="2400">
                <a:effectLst>
                  <a:outerShdw blurRad="38100" dist="38100" dir="2700000" algn="tl">
                    <a:srgbClr val="000000"/>
                  </a:outerShdw>
                </a:effectLst>
              </a:rPr>
              <a:t>class A //</a:t>
            </a:r>
            <a:r>
              <a:rPr lang="zh-CN" altLang="en-GB" sz="2400">
                <a:effectLst>
                  <a:outerShdw blurRad="38100" dist="38100" dir="2700000" algn="tl">
                    <a:srgbClr val="000000"/>
                  </a:outerShdw>
                </a:effectLst>
              </a:rPr>
              <a:t>基类</a:t>
            </a:r>
          </a:p>
          <a:p>
            <a:pPr eaLnBrk="1" hangingPunct="1">
              <a:spcBef>
                <a:spcPct val="0"/>
              </a:spcBef>
              <a:buClrTx/>
              <a:buSzTx/>
              <a:buFontTx/>
              <a:buNone/>
              <a:defRPr/>
            </a:pPr>
            <a:r>
              <a:rPr lang="en-GB" altLang="zh-CN" sz="2400">
                <a:effectLst>
                  <a:outerShdw blurRad="38100" dist="38100" dir="2700000" algn="tl">
                    <a:srgbClr val="000000"/>
                  </a:outerShdw>
                </a:effectLst>
              </a:rPr>
              <a:t>{		int x,y;</a:t>
            </a:r>
          </a:p>
          <a:p>
            <a:pPr eaLnBrk="1" hangingPunct="1">
              <a:spcBef>
                <a:spcPct val="0"/>
              </a:spcBef>
              <a:buClrTx/>
              <a:buSzTx/>
              <a:buFontTx/>
              <a:buNone/>
              <a:defRPr/>
            </a:pPr>
            <a:r>
              <a:rPr lang="en-GB" altLang="zh-CN" sz="2400">
                <a:effectLst>
                  <a:outerShdw blurRad="38100" dist="38100" dir="2700000" algn="tl">
                    <a:srgbClr val="000000"/>
                  </a:outerShdw>
                </a:effectLst>
              </a:rPr>
              <a:t>	public:</a:t>
            </a:r>
          </a:p>
          <a:p>
            <a:pPr eaLnBrk="1" hangingPunct="1">
              <a:spcBef>
                <a:spcPct val="0"/>
              </a:spcBef>
              <a:buClrTx/>
              <a:buSzTx/>
              <a:buFontTx/>
              <a:buNone/>
              <a:defRPr/>
            </a:pPr>
            <a:r>
              <a:rPr lang="en-GB" altLang="zh-CN" sz="2400">
                <a:effectLst>
                  <a:outerShdw blurRad="38100" dist="38100" dir="2700000" algn="tl">
                    <a:srgbClr val="000000"/>
                  </a:outerShdw>
                </a:effectLst>
              </a:rPr>
              <a:t>		void </a:t>
            </a:r>
            <a:r>
              <a:rPr lang="en-GB" altLang="zh-CN" sz="2400">
                <a:solidFill>
                  <a:srgbClr val="FFC000"/>
                </a:solidFill>
                <a:effectLst>
                  <a:outerShdw blurRad="38100" dist="38100" dir="2700000" algn="tl">
                    <a:srgbClr val="000000"/>
                  </a:outerShdw>
                </a:effectLst>
              </a:rPr>
              <a:t>f()</a:t>
            </a:r>
            <a:r>
              <a:rPr lang="en-GB" altLang="zh-CN" sz="2400">
                <a:effectLst>
                  <a:outerShdw blurRad="38100" dist="38100" dir="2700000" algn="tl">
                    <a:srgbClr val="000000"/>
                  </a:outerShdw>
                </a:effectLst>
              </a:rPr>
              <a:t>;</a:t>
            </a:r>
          </a:p>
          <a:p>
            <a:pPr eaLnBrk="1" hangingPunct="1">
              <a:spcBef>
                <a:spcPct val="0"/>
              </a:spcBef>
              <a:buClrTx/>
              <a:buSzTx/>
              <a:buFontTx/>
              <a:buNone/>
              <a:defRPr/>
            </a:pPr>
            <a:r>
              <a:rPr lang="en-GB" altLang="zh-CN" sz="2400">
                <a:effectLst>
                  <a:outerShdw blurRad="38100" dist="38100" dir="2700000" algn="tl">
                    <a:srgbClr val="000000"/>
                  </a:outerShdw>
                </a:effectLst>
              </a:rPr>
              <a:t>		void g();</a:t>
            </a:r>
          </a:p>
          <a:p>
            <a:pPr eaLnBrk="1" hangingPunct="1">
              <a:spcBef>
                <a:spcPct val="0"/>
              </a:spcBef>
              <a:buClrTx/>
              <a:buSzTx/>
              <a:buFontTx/>
              <a:buNone/>
              <a:defRPr/>
            </a:pPr>
            <a:r>
              <a:rPr lang="en-GB" altLang="zh-CN" sz="2400">
                <a:effectLst>
                  <a:outerShdw blurRad="38100" dist="38100" dir="2700000" algn="tl">
                    <a:srgbClr val="000000"/>
                  </a:outerShdw>
                </a:effectLst>
              </a:rPr>
              <a:t>};</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4723">
                                            <p:txEl>
                                              <p:pRg st="11" end="11"/>
                                            </p:txEl>
                                          </p:spTgt>
                                        </p:tgtEl>
                                        <p:attrNameLst>
                                          <p:attrName>style.visibility</p:attrName>
                                        </p:attrNameLst>
                                      </p:cBhvr>
                                      <p:to>
                                        <p:strVal val="visible"/>
                                      </p:to>
                                    </p:set>
                                    <p:anim calcmode="lin" valueType="num">
                                      <p:cBhvr additive="base">
                                        <p:cTn id="7" dur="500" fill="hold"/>
                                        <p:tgtEl>
                                          <p:spTgt spid="41472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472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4723" name="Rectangle 3">
            <a:extLst>
              <a:ext uri="{FF2B5EF4-FFF2-40B4-BE49-F238E27FC236}">
                <a16:creationId xmlns:a16="http://schemas.microsoft.com/office/drawing/2014/main" id="{DD26F89A-8ED6-C590-5C6D-79CCE98E539F}"/>
              </a:ext>
            </a:extLst>
          </p:cNvPr>
          <p:cNvSpPr>
            <a:spLocks noGrp="1" noChangeArrowheads="1"/>
          </p:cNvSpPr>
          <p:nvPr>
            <p:ph type="body" idx="1"/>
          </p:nvPr>
        </p:nvSpPr>
        <p:spPr>
          <a:xfrm>
            <a:off x="457200" y="333375"/>
            <a:ext cx="8229600" cy="6191250"/>
          </a:xfrm>
        </p:spPr>
        <p:txBody>
          <a:bodyPr/>
          <a:lstStyle/>
          <a:p>
            <a:pPr defTabSz="609600" eaLnBrk="1" hangingPunct="1">
              <a:lnSpc>
                <a:spcPct val="90000"/>
              </a:lnSpc>
              <a:defRPr/>
            </a:pPr>
            <a:r>
              <a:rPr lang="zh-CN" altLang="en-US" sz="2800"/>
              <a:t>也可以在派生类中使用</a:t>
            </a:r>
            <a:r>
              <a:rPr lang="en-US" altLang="zh-CN" sz="2800"/>
              <a:t>using</a:t>
            </a:r>
            <a:r>
              <a:rPr lang="zh-CN" altLang="en-US" sz="2800"/>
              <a:t>声明把基类中某个的函数名对派生类开放</a:t>
            </a:r>
            <a:r>
              <a:rPr lang="zh-CN" altLang="en-GB" sz="2800"/>
              <a:t>：</a:t>
            </a:r>
          </a:p>
          <a:p>
            <a:pPr lvl="1" defTabSz="609600" eaLnBrk="1" hangingPunct="1">
              <a:lnSpc>
                <a:spcPct val="130000"/>
              </a:lnSpc>
              <a:buFontTx/>
              <a:buNone/>
              <a:defRPr/>
            </a:pPr>
            <a:r>
              <a:rPr lang="en-GB" altLang="zh-CN" sz="2200"/>
              <a:t>class B: public A</a:t>
            </a:r>
          </a:p>
          <a:p>
            <a:pPr lvl="1" defTabSz="609600" eaLnBrk="1" hangingPunct="1">
              <a:lnSpc>
                <a:spcPct val="80000"/>
              </a:lnSpc>
              <a:buFontTx/>
              <a:buNone/>
              <a:defRPr/>
            </a:pPr>
            <a:r>
              <a:rPr lang="en-GB" altLang="zh-CN" sz="2200"/>
              <a:t>{		int z;</a:t>
            </a:r>
          </a:p>
          <a:p>
            <a:pPr lvl="1" defTabSz="609600" eaLnBrk="1" hangingPunct="1">
              <a:lnSpc>
                <a:spcPct val="80000"/>
              </a:lnSpc>
              <a:buFontTx/>
              <a:buNone/>
              <a:defRPr/>
            </a:pPr>
            <a:r>
              <a:rPr lang="en-GB" altLang="zh-CN" sz="2200"/>
              <a:t>	public:</a:t>
            </a:r>
          </a:p>
          <a:p>
            <a:pPr lvl="1" defTabSz="609600" eaLnBrk="1" hangingPunct="1">
              <a:lnSpc>
                <a:spcPct val="80000"/>
              </a:lnSpc>
              <a:buFontTx/>
              <a:buNone/>
              <a:defRPr/>
            </a:pPr>
            <a:r>
              <a:rPr lang="en-GB" altLang="zh-CN" sz="2200"/>
              <a:t>		</a:t>
            </a:r>
            <a:r>
              <a:rPr lang="en-US" altLang="zh-CN" sz="2200">
                <a:solidFill>
                  <a:srgbClr val="FFC000"/>
                </a:solidFill>
              </a:rPr>
              <a:t>using A::f;</a:t>
            </a:r>
            <a:endParaRPr lang="en-GB" altLang="zh-CN" sz="2200">
              <a:solidFill>
                <a:srgbClr val="FFC000"/>
              </a:solidFill>
            </a:endParaRPr>
          </a:p>
          <a:p>
            <a:pPr lvl="1" defTabSz="609600" eaLnBrk="1" hangingPunct="1">
              <a:lnSpc>
                <a:spcPct val="80000"/>
              </a:lnSpc>
              <a:buFontTx/>
              <a:buNone/>
              <a:defRPr/>
            </a:pPr>
            <a:r>
              <a:rPr lang="en-GB" altLang="zh-CN" sz="2200"/>
              <a:t>		void f(int); </a:t>
            </a:r>
            <a:endParaRPr lang="en-GB" altLang="zh-CN" sz="2200">
              <a:solidFill>
                <a:srgbClr val="FFC000"/>
              </a:solidFill>
            </a:endParaRPr>
          </a:p>
          <a:p>
            <a:pPr lvl="1" defTabSz="609600" eaLnBrk="1" hangingPunct="1">
              <a:lnSpc>
                <a:spcPct val="80000"/>
              </a:lnSpc>
              <a:buFontTx/>
              <a:buNone/>
              <a:defRPr/>
            </a:pPr>
            <a:r>
              <a:rPr lang="en-GB" altLang="zh-CN" sz="2200"/>
              <a:t>		void h() </a:t>
            </a:r>
          </a:p>
          <a:p>
            <a:pPr lvl="1" defTabSz="609600" eaLnBrk="1" hangingPunct="1">
              <a:lnSpc>
                <a:spcPct val="80000"/>
              </a:lnSpc>
              <a:buFontTx/>
              <a:buNone/>
              <a:defRPr/>
            </a:pPr>
            <a:r>
              <a:rPr lang="en-GB" altLang="zh-CN" sz="2200"/>
              <a:t>		{	f(1);  //OK</a:t>
            </a:r>
          </a:p>
          <a:p>
            <a:pPr lvl="1" defTabSz="609600" eaLnBrk="1" hangingPunct="1">
              <a:lnSpc>
                <a:spcPct val="80000"/>
              </a:lnSpc>
              <a:buFontTx/>
              <a:buNone/>
              <a:defRPr/>
            </a:pPr>
            <a:r>
              <a:rPr lang="en-GB" altLang="zh-CN" sz="2200"/>
              <a:t>			f();  //</a:t>
            </a:r>
            <a:r>
              <a:rPr lang="en-US" altLang="zh-CN" sz="2200">
                <a:solidFill>
                  <a:srgbClr val="FFC000"/>
                </a:solidFill>
              </a:rPr>
              <a:t>OK</a:t>
            </a:r>
            <a:r>
              <a:rPr lang="zh-CN" altLang="en-US" sz="2200">
                <a:solidFill>
                  <a:srgbClr val="FFC000"/>
                </a:solidFill>
              </a:rPr>
              <a:t>，</a:t>
            </a:r>
            <a:r>
              <a:rPr lang="zh-CN" altLang="en-US" sz="2200"/>
              <a:t>等价于</a:t>
            </a:r>
            <a:r>
              <a:rPr lang="en-GB" altLang="zh-CN" sz="2200">
                <a:solidFill>
                  <a:srgbClr val="FFC000"/>
                </a:solidFill>
              </a:rPr>
              <a:t>A::f();</a:t>
            </a:r>
          </a:p>
          <a:p>
            <a:pPr lvl="1" defTabSz="609600" eaLnBrk="1" hangingPunct="1">
              <a:lnSpc>
                <a:spcPct val="80000"/>
              </a:lnSpc>
              <a:buFontTx/>
              <a:buNone/>
              <a:defRPr/>
            </a:pPr>
            <a:r>
              <a:rPr lang="en-GB" altLang="zh-CN" sz="2200"/>
              <a:t>		}</a:t>
            </a:r>
          </a:p>
          <a:p>
            <a:pPr lvl="1" defTabSz="609600" eaLnBrk="1" hangingPunct="1">
              <a:lnSpc>
                <a:spcPct val="80000"/>
              </a:lnSpc>
              <a:buFontTx/>
              <a:buNone/>
              <a:defRPr/>
            </a:pPr>
            <a:r>
              <a:rPr lang="en-GB" altLang="zh-CN" sz="2200"/>
              <a:t>};</a:t>
            </a:r>
          </a:p>
        </p:txBody>
      </p:sp>
      <p:sp>
        <p:nvSpPr>
          <p:cNvPr id="607232" name="Text Box 0">
            <a:extLst>
              <a:ext uri="{FF2B5EF4-FFF2-40B4-BE49-F238E27FC236}">
                <a16:creationId xmlns:a16="http://schemas.microsoft.com/office/drawing/2014/main" id="{97FB43BB-E8BD-3217-7C8B-D26E1E17A728}"/>
              </a:ext>
            </a:extLst>
          </p:cNvPr>
          <p:cNvSpPr txBox="1">
            <a:spLocks noChangeArrowheads="1"/>
          </p:cNvSpPr>
          <p:nvPr/>
        </p:nvSpPr>
        <p:spPr bwMode="auto">
          <a:xfrm>
            <a:off x="6010275" y="1408113"/>
            <a:ext cx="3025775" cy="2308225"/>
          </a:xfrm>
          <a:prstGeom prst="rect">
            <a:avLst/>
          </a:prstGeom>
          <a:solidFill>
            <a:schemeClr val="bg1"/>
          </a:solidFill>
          <a:ln w="9525">
            <a:noFill/>
            <a:miter lim="800000"/>
            <a:headEnd/>
            <a:tailEnd/>
          </a:ln>
          <a:effectLst/>
        </p:spPr>
        <p:txBody>
          <a:bodyPr lIns="92075" tIns="46038" rIns="92075" bIns="46038">
            <a:spAutoFit/>
          </a:bodyPr>
          <a:lstStyle>
            <a:lvl1pPr defTabSz="45085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defTabSz="4508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defTabSz="45085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defTabSz="45085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defTabSz="45085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defTabSz="45085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defRPr/>
            </a:pPr>
            <a:r>
              <a:rPr lang="en-GB" altLang="zh-CN" sz="2400">
                <a:effectLst>
                  <a:outerShdw blurRad="38100" dist="38100" dir="2700000" algn="tl">
                    <a:srgbClr val="000000"/>
                  </a:outerShdw>
                </a:effectLst>
              </a:rPr>
              <a:t>class A //</a:t>
            </a:r>
            <a:r>
              <a:rPr lang="zh-CN" altLang="en-GB" sz="2400">
                <a:effectLst>
                  <a:outerShdw blurRad="38100" dist="38100" dir="2700000" algn="tl">
                    <a:srgbClr val="000000"/>
                  </a:outerShdw>
                </a:effectLst>
              </a:rPr>
              <a:t>基类</a:t>
            </a:r>
          </a:p>
          <a:p>
            <a:pPr eaLnBrk="1" hangingPunct="1">
              <a:spcBef>
                <a:spcPct val="0"/>
              </a:spcBef>
              <a:buClrTx/>
              <a:buSzTx/>
              <a:buFontTx/>
              <a:buNone/>
              <a:defRPr/>
            </a:pPr>
            <a:r>
              <a:rPr lang="en-GB" altLang="zh-CN" sz="2400">
                <a:effectLst>
                  <a:outerShdw blurRad="38100" dist="38100" dir="2700000" algn="tl">
                    <a:srgbClr val="000000"/>
                  </a:outerShdw>
                </a:effectLst>
              </a:rPr>
              <a:t>{		int x,y;</a:t>
            </a:r>
          </a:p>
          <a:p>
            <a:pPr eaLnBrk="1" hangingPunct="1">
              <a:spcBef>
                <a:spcPct val="0"/>
              </a:spcBef>
              <a:buClrTx/>
              <a:buSzTx/>
              <a:buFontTx/>
              <a:buNone/>
              <a:defRPr/>
            </a:pPr>
            <a:r>
              <a:rPr lang="en-GB" altLang="zh-CN" sz="2400">
                <a:effectLst>
                  <a:outerShdw blurRad="38100" dist="38100" dir="2700000" algn="tl">
                    <a:srgbClr val="000000"/>
                  </a:outerShdw>
                </a:effectLst>
              </a:rPr>
              <a:t>	public:</a:t>
            </a:r>
          </a:p>
          <a:p>
            <a:pPr eaLnBrk="1" hangingPunct="1">
              <a:spcBef>
                <a:spcPct val="0"/>
              </a:spcBef>
              <a:buClrTx/>
              <a:buSzTx/>
              <a:buFontTx/>
              <a:buNone/>
              <a:defRPr/>
            </a:pPr>
            <a:r>
              <a:rPr lang="en-GB" altLang="zh-CN" sz="2400">
                <a:effectLst>
                  <a:outerShdw blurRad="38100" dist="38100" dir="2700000" algn="tl">
                    <a:srgbClr val="000000"/>
                  </a:outerShdw>
                </a:effectLst>
              </a:rPr>
              <a:t>		void </a:t>
            </a:r>
            <a:r>
              <a:rPr lang="en-GB" altLang="zh-CN" sz="2400">
                <a:solidFill>
                  <a:srgbClr val="FFC000"/>
                </a:solidFill>
                <a:effectLst>
                  <a:outerShdw blurRad="38100" dist="38100" dir="2700000" algn="tl">
                    <a:srgbClr val="000000"/>
                  </a:outerShdw>
                </a:effectLst>
              </a:rPr>
              <a:t>f</a:t>
            </a:r>
            <a:r>
              <a:rPr lang="en-GB" altLang="zh-CN" sz="2400">
                <a:effectLst>
                  <a:outerShdw blurRad="38100" dist="38100" dir="2700000" algn="tl">
                    <a:srgbClr val="000000"/>
                  </a:outerShdw>
                </a:effectLst>
              </a:rPr>
              <a:t>();</a:t>
            </a:r>
          </a:p>
          <a:p>
            <a:pPr eaLnBrk="1" hangingPunct="1">
              <a:spcBef>
                <a:spcPct val="0"/>
              </a:spcBef>
              <a:buClrTx/>
              <a:buSzTx/>
              <a:buFontTx/>
              <a:buNone/>
              <a:defRPr/>
            </a:pPr>
            <a:r>
              <a:rPr lang="en-GB" altLang="zh-CN" sz="2400">
                <a:effectLst>
                  <a:outerShdw blurRad="38100" dist="38100" dir="2700000" algn="tl">
                    <a:srgbClr val="000000"/>
                  </a:outerShdw>
                </a:effectLst>
              </a:rPr>
              <a:t>		void g();</a:t>
            </a:r>
          </a:p>
          <a:p>
            <a:pPr eaLnBrk="1" hangingPunct="1">
              <a:spcBef>
                <a:spcPct val="0"/>
              </a:spcBef>
              <a:buClrTx/>
              <a:buSzTx/>
              <a:buFontTx/>
              <a:buNone/>
              <a:defRPr/>
            </a:pPr>
            <a:r>
              <a:rPr lang="en-GB" altLang="zh-CN" sz="2400">
                <a:effectLst>
                  <a:outerShdw blurRad="38100" dist="38100" dir="2700000" algn="tl">
                    <a:srgbClr val="000000"/>
                  </a:outerShdw>
                </a:effectLst>
              </a:rPr>
              <a:t>};</a:t>
            </a:r>
            <a:endParaRPr lang="en-US" altLang="zh-CN" sz="2400"/>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4D1E1E40-F42A-96C3-1953-C8FEF0ECA20E}"/>
              </a:ext>
            </a:extLst>
          </p:cNvPr>
          <p:cNvSpPr>
            <a:spLocks noGrp="1" noChangeArrowheads="1"/>
          </p:cNvSpPr>
          <p:nvPr>
            <p:ph type="title"/>
          </p:nvPr>
        </p:nvSpPr>
        <p:spPr/>
        <p:txBody>
          <a:bodyPr/>
          <a:lstStyle/>
          <a:p>
            <a:pPr eaLnBrk="1" hangingPunct="1">
              <a:defRPr/>
            </a:pPr>
            <a:r>
              <a:rPr lang="zh-CN" altLang="en-US" sz="4000"/>
              <a:t>继承的实例</a:t>
            </a:r>
            <a:r>
              <a:rPr lang="zh-CN" altLang="en-GB" sz="4000"/>
              <a:t>：一个公司中的职员类</a:t>
            </a:r>
            <a:br>
              <a:rPr lang="zh-CN" altLang="en-GB" sz="4000"/>
            </a:br>
            <a:r>
              <a:rPr lang="zh-CN" altLang="en-GB" sz="4000"/>
              <a:t>和部门经理类的设计。</a:t>
            </a:r>
            <a:r>
              <a:rPr lang="zh-CN" altLang="en-US" sz="4000"/>
              <a:t> </a:t>
            </a:r>
          </a:p>
        </p:txBody>
      </p:sp>
      <p:sp>
        <p:nvSpPr>
          <p:cNvPr id="558083" name="Rectangle 3">
            <a:extLst>
              <a:ext uri="{FF2B5EF4-FFF2-40B4-BE49-F238E27FC236}">
                <a16:creationId xmlns:a16="http://schemas.microsoft.com/office/drawing/2014/main" id="{33F1769B-9B4D-6D0E-58FD-A1B3585FECF2}"/>
              </a:ext>
            </a:extLst>
          </p:cNvPr>
          <p:cNvSpPr>
            <a:spLocks noGrp="1" noChangeArrowheads="1"/>
          </p:cNvSpPr>
          <p:nvPr>
            <p:ph type="body" idx="1"/>
          </p:nvPr>
        </p:nvSpPr>
        <p:spPr>
          <a:xfrm>
            <a:off x="457200" y="1600200"/>
            <a:ext cx="8229600" cy="5068888"/>
          </a:xfrm>
        </p:spPr>
        <p:txBody>
          <a:bodyPr/>
          <a:lstStyle/>
          <a:p>
            <a:pPr eaLnBrk="1" hangingPunct="1">
              <a:lnSpc>
                <a:spcPct val="90000"/>
              </a:lnSpc>
              <a:buFont typeface="Wingdings" panose="05000000000000000000" pitchFamily="2" charset="2"/>
              <a:buNone/>
              <a:tabLst>
                <a:tab pos="620713" algn="l"/>
              </a:tabLst>
              <a:defRPr/>
            </a:pPr>
            <a:r>
              <a:rPr lang="en-US" altLang="zh-CN" sz="2400"/>
              <a:t>class Employee //</a:t>
            </a:r>
            <a:r>
              <a:rPr lang="zh-CN" altLang="en-US" sz="2400"/>
              <a:t>普通职员类</a:t>
            </a:r>
          </a:p>
          <a:p>
            <a:pPr eaLnBrk="1" hangingPunct="1">
              <a:lnSpc>
                <a:spcPct val="90000"/>
              </a:lnSpc>
              <a:buFont typeface="Wingdings" panose="05000000000000000000" pitchFamily="2" charset="2"/>
              <a:buNone/>
              <a:tabLst>
                <a:tab pos="620713" algn="l"/>
              </a:tabLst>
              <a:defRPr/>
            </a:pPr>
            <a:r>
              <a:rPr lang="en-US" altLang="zh-CN" sz="2400"/>
              <a:t>{		String name; //String</a:t>
            </a:r>
            <a:r>
              <a:rPr lang="zh-CN" altLang="en-US" sz="2400"/>
              <a:t>为字符串类。</a:t>
            </a:r>
          </a:p>
          <a:p>
            <a:pPr eaLnBrk="1" hangingPunct="1">
              <a:lnSpc>
                <a:spcPct val="90000"/>
              </a:lnSpc>
              <a:buFont typeface="Wingdings" panose="05000000000000000000" pitchFamily="2" charset="2"/>
              <a:buNone/>
              <a:tabLst>
                <a:tab pos="620713" algn="l"/>
              </a:tabLst>
              <a:defRPr/>
            </a:pPr>
            <a:r>
              <a:rPr lang="zh-CN" altLang="en-US" sz="2400"/>
              <a:t>		</a:t>
            </a:r>
            <a:r>
              <a:rPr lang="en-US" altLang="zh-CN" sz="2400"/>
              <a:t>int salary;</a:t>
            </a:r>
          </a:p>
          <a:p>
            <a:pPr eaLnBrk="1" hangingPunct="1">
              <a:lnSpc>
                <a:spcPct val="90000"/>
              </a:lnSpc>
              <a:buFont typeface="Wingdings" panose="05000000000000000000" pitchFamily="2" charset="2"/>
              <a:buNone/>
              <a:tabLst>
                <a:tab pos="620713" algn="l"/>
              </a:tabLst>
              <a:defRPr/>
            </a:pPr>
            <a:r>
              <a:rPr lang="en-US" altLang="zh-CN" sz="2400"/>
              <a:t>	public:</a:t>
            </a:r>
          </a:p>
          <a:p>
            <a:pPr eaLnBrk="1" hangingPunct="1">
              <a:lnSpc>
                <a:spcPct val="90000"/>
              </a:lnSpc>
              <a:buFont typeface="Wingdings" panose="05000000000000000000" pitchFamily="2" charset="2"/>
              <a:buNone/>
              <a:tabLst>
                <a:tab pos="620713" algn="l"/>
              </a:tabLst>
              <a:defRPr/>
            </a:pPr>
            <a:r>
              <a:rPr lang="en-US" altLang="zh-CN" sz="2400"/>
              <a:t>		Employee(const char *s, int n=0):name(s) </a:t>
            </a:r>
          </a:p>
          <a:p>
            <a:pPr eaLnBrk="1" hangingPunct="1">
              <a:lnSpc>
                <a:spcPct val="90000"/>
              </a:lnSpc>
              <a:buFont typeface="Wingdings" panose="05000000000000000000" pitchFamily="2" charset="2"/>
              <a:buNone/>
              <a:tabLst>
                <a:tab pos="620713" algn="l"/>
              </a:tabLst>
              <a:defRPr/>
            </a:pPr>
            <a:r>
              <a:rPr lang="en-US" altLang="zh-CN" sz="2400"/>
              <a:t>		{	salary = n; </a:t>
            </a:r>
          </a:p>
          <a:p>
            <a:pPr eaLnBrk="1" hangingPunct="1">
              <a:lnSpc>
                <a:spcPct val="90000"/>
              </a:lnSpc>
              <a:buFont typeface="Wingdings" panose="05000000000000000000" pitchFamily="2" charset="2"/>
              <a:buNone/>
              <a:tabLst>
                <a:tab pos="620713" algn="l"/>
              </a:tabLst>
              <a:defRPr/>
            </a:pPr>
            <a:r>
              <a:rPr lang="en-US" altLang="zh-CN" sz="2400"/>
              <a:t>		}</a:t>
            </a:r>
          </a:p>
          <a:p>
            <a:pPr eaLnBrk="1" hangingPunct="1">
              <a:lnSpc>
                <a:spcPct val="90000"/>
              </a:lnSpc>
              <a:buFont typeface="Wingdings" panose="05000000000000000000" pitchFamily="2" charset="2"/>
              <a:buNone/>
              <a:tabLst>
                <a:tab pos="620713" algn="l"/>
              </a:tabLst>
              <a:defRPr/>
            </a:pPr>
            <a:r>
              <a:rPr lang="en-US" altLang="zh-CN" sz="2400"/>
              <a:t>		void set_salary(int n) { salary = n; }</a:t>
            </a:r>
          </a:p>
          <a:p>
            <a:pPr eaLnBrk="1" hangingPunct="1">
              <a:lnSpc>
                <a:spcPct val="90000"/>
              </a:lnSpc>
              <a:buFont typeface="Wingdings" panose="05000000000000000000" pitchFamily="2" charset="2"/>
              <a:buNone/>
              <a:tabLst>
                <a:tab pos="620713" algn="l"/>
              </a:tabLst>
              <a:defRPr/>
            </a:pPr>
            <a:r>
              <a:rPr lang="en-US" altLang="zh-CN" sz="2400"/>
              <a:t>		int get_salary() const { return salary; }</a:t>
            </a:r>
          </a:p>
          <a:p>
            <a:pPr eaLnBrk="1" hangingPunct="1">
              <a:lnSpc>
                <a:spcPct val="90000"/>
              </a:lnSpc>
              <a:buFont typeface="Wingdings" panose="05000000000000000000" pitchFamily="2" charset="2"/>
              <a:buNone/>
              <a:tabLst>
                <a:tab pos="620713" algn="l"/>
              </a:tabLst>
              <a:defRPr/>
            </a:pPr>
            <a:r>
              <a:rPr lang="en-US" altLang="zh-CN" sz="2400"/>
              <a:t>	......</a:t>
            </a:r>
          </a:p>
          <a:p>
            <a:pPr eaLnBrk="1" hangingPunct="1">
              <a:lnSpc>
                <a:spcPct val="90000"/>
              </a:lnSpc>
              <a:buFont typeface="Wingdings" panose="05000000000000000000" pitchFamily="2" charset="2"/>
              <a:buNone/>
              <a:tabLst>
                <a:tab pos="620713" algn="l"/>
              </a:tabLst>
              <a:defRPr/>
            </a:pPr>
            <a:r>
              <a:rPr lang="en-US" altLang="zh-CN" sz="240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7" name="Rectangle 3">
            <a:extLst>
              <a:ext uri="{FF2B5EF4-FFF2-40B4-BE49-F238E27FC236}">
                <a16:creationId xmlns:a16="http://schemas.microsoft.com/office/drawing/2014/main" id="{A721302F-B824-9EC4-39E8-496D3FEDFA8C}"/>
              </a:ext>
            </a:extLst>
          </p:cNvPr>
          <p:cNvSpPr>
            <a:spLocks noGrp="1" noChangeArrowheads="1"/>
          </p:cNvSpPr>
          <p:nvPr>
            <p:ph type="body" idx="1"/>
          </p:nvPr>
        </p:nvSpPr>
        <p:spPr>
          <a:xfrm>
            <a:off x="312738" y="1125538"/>
            <a:ext cx="8507412" cy="5327650"/>
          </a:xfrm>
        </p:spPr>
        <p:txBody>
          <a:bodyPr>
            <a:normAutofit/>
          </a:bodyPr>
          <a:lstStyle/>
          <a:p>
            <a:pPr defTabSz="620713" eaLnBrk="1" hangingPunct="1">
              <a:lnSpc>
                <a:spcPct val="80000"/>
              </a:lnSpc>
              <a:buFont typeface="Wingdings" panose="05000000000000000000" pitchFamily="2" charset="2"/>
              <a:buNone/>
              <a:defRPr/>
            </a:pPr>
            <a:r>
              <a:rPr lang="en-US" altLang="zh-CN" sz="2400"/>
              <a:t>const int MAX_NUM_OF_EMPS=20;</a:t>
            </a:r>
          </a:p>
          <a:p>
            <a:pPr defTabSz="620713" eaLnBrk="1" hangingPunct="1">
              <a:lnSpc>
                <a:spcPct val="80000"/>
              </a:lnSpc>
              <a:buFont typeface="Wingdings" panose="05000000000000000000" pitchFamily="2" charset="2"/>
              <a:buNone/>
              <a:defRPr/>
            </a:pPr>
            <a:r>
              <a:rPr lang="en-US" altLang="zh-CN" sz="2400"/>
              <a:t>class Manager: public Employee //</a:t>
            </a:r>
            <a:r>
              <a:rPr lang="zh-CN" altLang="en-US" sz="2400"/>
              <a:t>部门经理类</a:t>
            </a:r>
          </a:p>
          <a:p>
            <a:pPr defTabSz="620713" eaLnBrk="1" hangingPunct="1">
              <a:lnSpc>
                <a:spcPct val="80000"/>
              </a:lnSpc>
              <a:buFont typeface="Wingdings" panose="05000000000000000000" pitchFamily="2" charset="2"/>
              <a:buNone/>
              <a:defRPr/>
            </a:pPr>
            <a:r>
              <a:rPr lang="en-US" altLang="zh-CN" sz="2400"/>
              <a:t>{		Employee *group[MAX_NUM_OF_EMPS];</a:t>
            </a:r>
          </a:p>
          <a:p>
            <a:pPr defTabSz="620713" eaLnBrk="1" hangingPunct="1">
              <a:lnSpc>
                <a:spcPct val="80000"/>
              </a:lnSpc>
              <a:buFont typeface="Wingdings" panose="05000000000000000000" pitchFamily="2" charset="2"/>
              <a:buNone/>
              <a:defRPr/>
            </a:pPr>
            <a:r>
              <a:rPr lang="en-US" altLang="zh-CN" sz="2400"/>
              <a:t>		int num_of_emps;</a:t>
            </a:r>
          </a:p>
          <a:p>
            <a:pPr defTabSz="620713" eaLnBrk="1" hangingPunct="1">
              <a:lnSpc>
                <a:spcPct val="80000"/>
              </a:lnSpc>
              <a:buFont typeface="Wingdings" panose="05000000000000000000" pitchFamily="2" charset="2"/>
              <a:buNone/>
              <a:defRPr/>
            </a:pPr>
            <a:r>
              <a:rPr lang="en-US" altLang="zh-CN" sz="2400"/>
              <a:t>	public:</a:t>
            </a:r>
          </a:p>
          <a:p>
            <a:pPr defTabSz="620713" eaLnBrk="1" hangingPunct="1">
              <a:lnSpc>
                <a:spcPct val="80000"/>
              </a:lnSpc>
              <a:buFont typeface="Wingdings" panose="05000000000000000000" pitchFamily="2" charset="2"/>
              <a:buNone/>
              <a:defRPr/>
            </a:pPr>
            <a:r>
              <a:rPr lang="en-US" altLang="zh-CN" sz="2400"/>
              <a:t>		Manager(const char *s, int n=0): Employee(s,n) </a:t>
            </a:r>
          </a:p>
          <a:p>
            <a:pPr defTabSz="620713" eaLnBrk="1" hangingPunct="1">
              <a:lnSpc>
                <a:spcPct val="80000"/>
              </a:lnSpc>
              <a:buFont typeface="Wingdings" panose="05000000000000000000" pitchFamily="2" charset="2"/>
              <a:buNone/>
              <a:defRPr/>
            </a:pPr>
            <a:r>
              <a:rPr lang="en-US" altLang="zh-CN" sz="2400"/>
              <a:t>		{ num_of_emps = 0; </a:t>
            </a:r>
          </a:p>
          <a:p>
            <a:pPr defTabSz="620713" eaLnBrk="1" hangingPunct="1">
              <a:lnSpc>
                <a:spcPct val="80000"/>
              </a:lnSpc>
              <a:buFont typeface="Wingdings" panose="05000000000000000000" pitchFamily="2" charset="2"/>
              <a:buNone/>
              <a:defRPr/>
            </a:pPr>
            <a:r>
              <a:rPr lang="en-US" altLang="zh-CN" sz="2400"/>
              <a:t>		}</a:t>
            </a:r>
          </a:p>
          <a:p>
            <a:pPr defTabSz="620713" eaLnBrk="1" hangingPunct="1">
              <a:lnSpc>
                <a:spcPct val="80000"/>
              </a:lnSpc>
              <a:buFont typeface="Wingdings" panose="05000000000000000000" pitchFamily="2" charset="2"/>
              <a:buNone/>
              <a:defRPr/>
            </a:pPr>
            <a:r>
              <a:rPr lang="en-US" altLang="zh-CN" sz="2400"/>
              <a:t>		bool add_employee(Employee *e);</a:t>
            </a:r>
          </a:p>
          <a:p>
            <a:pPr defTabSz="620713" eaLnBrk="1" hangingPunct="1">
              <a:lnSpc>
                <a:spcPct val="80000"/>
              </a:lnSpc>
              <a:buFont typeface="Wingdings" panose="05000000000000000000" pitchFamily="2" charset="2"/>
              <a:buNone/>
              <a:defRPr/>
            </a:pPr>
            <a:r>
              <a:rPr lang="en-US" altLang="zh-CN" sz="2400"/>
              <a:t>		bool remove_employee(Employee *e); </a:t>
            </a:r>
          </a:p>
          <a:p>
            <a:pPr defTabSz="620713" eaLnBrk="1" hangingPunct="1">
              <a:lnSpc>
                <a:spcPct val="80000"/>
              </a:lnSpc>
              <a:buFont typeface="Wingdings" panose="05000000000000000000" pitchFamily="2" charset="2"/>
              <a:buNone/>
              <a:defRPr/>
            </a:pPr>
            <a:r>
              <a:rPr lang="en-US" altLang="zh-CN" sz="2400"/>
              <a:t>		int get_num_of_emps() { return num_of_emps; }</a:t>
            </a:r>
          </a:p>
          <a:p>
            <a:pPr defTabSz="620713" eaLnBrk="1" hangingPunct="1">
              <a:lnSpc>
                <a:spcPct val="80000"/>
              </a:lnSpc>
              <a:buFont typeface="Wingdings" panose="05000000000000000000" pitchFamily="2" charset="2"/>
              <a:buNone/>
              <a:defRPr/>
            </a:pPr>
            <a:r>
              <a:rPr lang="en-US" altLang="zh-CN" sz="2400"/>
              <a:t>	......</a:t>
            </a:r>
          </a:p>
          <a:p>
            <a:pPr defTabSz="620713" eaLnBrk="1" hangingPunct="1">
              <a:lnSpc>
                <a:spcPct val="80000"/>
              </a:lnSpc>
              <a:buFont typeface="Wingdings" panose="05000000000000000000" pitchFamily="2" charset="2"/>
              <a:buNone/>
              <a:defRPr/>
            </a:pPr>
            <a:r>
              <a:rPr lang="en-US" altLang="zh-CN" sz="240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12E8A1-CEEC-5EB2-DF6B-84709E84B472}"/>
              </a:ext>
            </a:extLst>
          </p:cNvPr>
          <p:cNvSpPr>
            <a:spLocks noGrp="1"/>
          </p:cNvSpPr>
          <p:nvPr>
            <p:ph idx="1"/>
          </p:nvPr>
        </p:nvSpPr>
        <p:spPr>
          <a:xfrm>
            <a:off x="323850" y="188913"/>
            <a:ext cx="8640763" cy="6597650"/>
          </a:xfrm>
        </p:spPr>
        <p:txBody>
          <a:bodyPr>
            <a:normAutofit/>
          </a:bodyPr>
          <a:lstStyle/>
          <a:p>
            <a:pPr marL="0" indent="0">
              <a:lnSpc>
                <a:spcPct val="90000"/>
              </a:lnSpc>
              <a:buFont typeface="Wingdings" panose="05000000000000000000" pitchFamily="2" charset="2"/>
              <a:buNone/>
              <a:defRPr/>
            </a:pPr>
            <a:r>
              <a:rPr lang="en-US" altLang="zh-CN" sz="2400"/>
              <a:t>//</a:t>
            </a:r>
            <a:r>
              <a:rPr lang="zh-CN" altLang="en-US" sz="2400"/>
              <a:t>创建职员对象</a:t>
            </a:r>
            <a:r>
              <a:rPr lang="en-US" altLang="zh-CN" sz="2400"/>
              <a:t>Jack</a:t>
            </a:r>
            <a:r>
              <a:rPr lang="zh-CN" altLang="en-US" sz="2400"/>
              <a:t>和</a:t>
            </a:r>
            <a:r>
              <a:rPr lang="en-US" altLang="zh-CN" sz="2400"/>
              <a:t>Jane</a:t>
            </a:r>
          </a:p>
          <a:p>
            <a:pPr marL="0" indent="0">
              <a:lnSpc>
                <a:spcPct val="90000"/>
              </a:lnSpc>
              <a:buFont typeface="Wingdings" panose="05000000000000000000" pitchFamily="2" charset="2"/>
              <a:buNone/>
              <a:defRPr/>
            </a:pPr>
            <a:r>
              <a:rPr lang="en-US" altLang="zh-CN" sz="2400"/>
              <a:t>Employee e1("Jack",1000),e2("Jane",2000); </a:t>
            </a:r>
          </a:p>
          <a:p>
            <a:pPr marL="0" indent="0">
              <a:lnSpc>
                <a:spcPct val="90000"/>
              </a:lnSpc>
              <a:buFont typeface="Wingdings" panose="05000000000000000000" pitchFamily="2" charset="2"/>
              <a:buNone/>
              <a:defRPr/>
            </a:pPr>
            <a:r>
              <a:rPr lang="en-US" altLang="zh-CN" sz="2400"/>
              <a:t>//</a:t>
            </a:r>
            <a:r>
              <a:rPr lang="zh-CN" altLang="en-US" sz="2400"/>
              <a:t>创建经理对象</a:t>
            </a:r>
            <a:r>
              <a:rPr lang="en-US" altLang="zh-CN" sz="2400"/>
              <a:t>Mark</a:t>
            </a:r>
          </a:p>
          <a:p>
            <a:pPr marL="0" indent="0">
              <a:lnSpc>
                <a:spcPct val="90000"/>
              </a:lnSpc>
              <a:buFont typeface="Wingdings" panose="05000000000000000000" pitchFamily="2" charset="2"/>
              <a:buNone/>
              <a:defRPr/>
            </a:pPr>
            <a:r>
              <a:rPr lang="en-US" altLang="zh-CN" sz="2400"/>
              <a:t>Manager m("Mark",4000); </a:t>
            </a:r>
          </a:p>
          <a:p>
            <a:pPr marL="0" indent="0">
              <a:lnSpc>
                <a:spcPct val="90000"/>
              </a:lnSpc>
              <a:buFont typeface="Wingdings" panose="05000000000000000000" pitchFamily="2" charset="2"/>
              <a:buNone/>
              <a:defRPr/>
            </a:pPr>
            <a:r>
              <a:rPr lang="en-US" altLang="zh-CN" sz="2400"/>
              <a:t>//</a:t>
            </a:r>
            <a:r>
              <a:rPr lang="zh-CN" altLang="en-US" sz="2400"/>
              <a:t>把职员</a:t>
            </a:r>
            <a:r>
              <a:rPr lang="en-US" altLang="zh-CN" sz="2400"/>
              <a:t>Jack</a:t>
            </a:r>
            <a:r>
              <a:rPr lang="zh-CN" altLang="en-US" sz="2400"/>
              <a:t>和</a:t>
            </a:r>
            <a:r>
              <a:rPr lang="en-US" altLang="zh-CN" sz="2400"/>
              <a:t>Jane</a:t>
            </a:r>
            <a:r>
              <a:rPr lang="zh-CN" altLang="en-US" sz="2400"/>
              <a:t>纳入经理</a:t>
            </a:r>
            <a:r>
              <a:rPr lang="en-US" altLang="zh-CN" sz="2400"/>
              <a:t>Mark</a:t>
            </a:r>
            <a:r>
              <a:rPr lang="zh-CN" altLang="en-US" sz="2400"/>
              <a:t>的管理</a:t>
            </a:r>
            <a:r>
              <a:rPr lang="en-US" altLang="zh-CN" sz="2400"/>
              <a:t>m.add_employee(&amp;e1);</a:t>
            </a:r>
            <a:endParaRPr lang="zh-CN" altLang="en-US" sz="2400"/>
          </a:p>
          <a:p>
            <a:pPr marL="0" indent="0">
              <a:lnSpc>
                <a:spcPct val="90000"/>
              </a:lnSpc>
              <a:buFont typeface="Wingdings" panose="05000000000000000000" pitchFamily="2" charset="2"/>
              <a:buNone/>
              <a:defRPr/>
            </a:pPr>
            <a:r>
              <a:rPr lang="en-US" altLang="zh-CN" sz="2400"/>
              <a:t>m.add_employee(&amp;e2);</a:t>
            </a:r>
            <a:endParaRPr lang="zh-CN" altLang="en-US" sz="2400"/>
          </a:p>
          <a:p>
            <a:pPr marL="0" indent="0">
              <a:lnSpc>
                <a:spcPct val="90000"/>
              </a:lnSpc>
              <a:buFont typeface="Wingdings" panose="05000000000000000000" pitchFamily="2" charset="2"/>
              <a:buNone/>
              <a:defRPr/>
            </a:pPr>
            <a:r>
              <a:rPr lang="en-US" altLang="zh-CN" sz="2400"/>
              <a:t>//</a:t>
            </a:r>
            <a:r>
              <a:rPr lang="zh-CN" altLang="en-US" sz="2400"/>
              <a:t>显示经理</a:t>
            </a:r>
            <a:r>
              <a:rPr lang="en-US" altLang="zh-CN" sz="2400"/>
              <a:t>Mark</a:t>
            </a:r>
            <a:r>
              <a:rPr lang="zh-CN" altLang="en-US" sz="2400"/>
              <a:t>的工资</a:t>
            </a:r>
          </a:p>
          <a:p>
            <a:pPr marL="0" indent="0">
              <a:lnSpc>
                <a:spcPct val="90000"/>
              </a:lnSpc>
              <a:buFont typeface="Wingdings" panose="05000000000000000000" pitchFamily="2" charset="2"/>
              <a:buNone/>
              <a:defRPr/>
            </a:pPr>
            <a:r>
              <a:rPr lang="en-US" altLang="zh-CN" sz="2400"/>
              <a:t>cout &lt;&lt; "Mark's salary is " &lt;&lt; m.get_salary() &lt;&lt; '.' </a:t>
            </a:r>
          </a:p>
          <a:p>
            <a:pPr marL="0" indent="0">
              <a:lnSpc>
                <a:spcPct val="90000"/>
              </a:lnSpc>
              <a:buFont typeface="Wingdings" panose="05000000000000000000" pitchFamily="2" charset="2"/>
              <a:buNone/>
              <a:defRPr/>
            </a:pPr>
            <a:r>
              <a:rPr lang="en-US" altLang="zh-CN" sz="2400"/>
              <a:t>	&lt;&lt; endl; </a:t>
            </a:r>
          </a:p>
          <a:p>
            <a:pPr marL="0" indent="0">
              <a:lnSpc>
                <a:spcPct val="90000"/>
              </a:lnSpc>
              <a:buFont typeface="Wingdings" panose="05000000000000000000" pitchFamily="2" charset="2"/>
              <a:buNone/>
              <a:defRPr/>
            </a:pPr>
            <a:r>
              <a:rPr lang="en-US" altLang="zh-CN" sz="2400"/>
              <a:t>//</a:t>
            </a:r>
            <a:r>
              <a:rPr lang="zh-CN" altLang="en-US" sz="2400"/>
              <a:t>显示经理</a:t>
            </a:r>
            <a:r>
              <a:rPr lang="en-US" altLang="zh-CN" sz="2400"/>
              <a:t>Mark</a:t>
            </a:r>
            <a:r>
              <a:rPr lang="zh-CN" altLang="en-US" sz="2400"/>
              <a:t>的管理人数</a:t>
            </a:r>
          </a:p>
          <a:p>
            <a:pPr marL="0" indent="0">
              <a:lnSpc>
                <a:spcPct val="90000"/>
              </a:lnSpc>
              <a:buFont typeface="Wingdings" panose="05000000000000000000" pitchFamily="2" charset="2"/>
              <a:buNone/>
              <a:defRPr/>
            </a:pPr>
            <a:r>
              <a:rPr lang="en-US" altLang="zh-CN" sz="2400"/>
              <a:t>cout&lt;&lt; "Number of employees managed by Mark is " </a:t>
            </a:r>
          </a:p>
          <a:p>
            <a:pPr marL="0" indent="0">
              <a:lnSpc>
                <a:spcPct val="90000"/>
              </a:lnSpc>
              <a:buFont typeface="Wingdings" panose="05000000000000000000" pitchFamily="2" charset="2"/>
              <a:buNone/>
              <a:defRPr/>
            </a:pPr>
            <a:r>
              <a:rPr lang="en-US" altLang="zh-CN" sz="2400"/>
              <a:t>	&lt;&lt; m.get_num_of_emps() &lt;&lt; '.' &lt;&lt; endl; </a:t>
            </a:r>
          </a:p>
          <a:p>
            <a:pPr marL="0" indent="0">
              <a:lnSpc>
                <a:spcPct val="90000"/>
              </a:lnSpc>
              <a:buFont typeface="Wingdings" panose="05000000000000000000" pitchFamily="2" charset="2"/>
              <a:buNone/>
              <a:defRPr/>
            </a:pPr>
            <a:r>
              <a:rPr lang="en-US" altLang="zh-CN" sz="2400"/>
              <a:t>//</a:t>
            </a:r>
            <a:r>
              <a:rPr lang="zh-CN" altLang="en-US" sz="2400"/>
              <a:t>职员</a:t>
            </a:r>
            <a:r>
              <a:rPr lang="en-US" altLang="zh-CN" sz="2400"/>
              <a:t>Jack</a:t>
            </a:r>
            <a:r>
              <a:rPr lang="zh-CN" altLang="en-US" sz="2400"/>
              <a:t>脱离经理</a:t>
            </a:r>
            <a:r>
              <a:rPr lang="en-US" altLang="zh-CN" sz="2400"/>
              <a:t>Mark</a:t>
            </a:r>
            <a:r>
              <a:rPr lang="zh-CN" altLang="en-US" sz="2400"/>
              <a:t>的管理</a:t>
            </a:r>
            <a:endParaRPr lang="en-US" altLang="zh-CN" sz="2400"/>
          </a:p>
          <a:p>
            <a:pPr marL="0" indent="0">
              <a:lnSpc>
                <a:spcPct val="90000"/>
              </a:lnSpc>
              <a:buFont typeface="Wingdings" panose="05000000000000000000" pitchFamily="2" charset="2"/>
              <a:buNone/>
              <a:defRPr/>
            </a:pPr>
            <a:r>
              <a:rPr lang="en-US" altLang="zh-CN" sz="2400"/>
              <a:t>m.remove_employee(&amp;e1); </a:t>
            </a:r>
            <a:endParaRPr lang="zh-CN" altLang="en-US" sz="2400"/>
          </a:p>
          <a:p>
            <a:pPr marL="0" indent="0">
              <a:lnSpc>
                <a:spcPct val="90000"/>
              </a:lnSpc>
              <a:buFont typeface="Wingdings" panose="05000000000000000000" pitchFamily="2" charset="2"/>
              <a:buNone/>
              <a:defRPr/>
            </a:pPr>
            <a:r>
              <a:rPr lang="en-US" altLang="zh-CN" sz="2400"/>
              <a:t>......</a:t>
            </a:r>
          </a:p>
          <a:p>
            <a:pPr marL="0" indent="0">
              <a:lnSpc>
                <a:spcPct val="90000"/>
              </a:lnSpc>
              <a:buFont typeface="Wingdings" panose="05000000000000000000" pitchFamily="2" charset="2"/>
              <a:buNone/>
              <a:defRPr/>
            </a:pPr>
            <a:endParaRPr lang="zh-CN" altLang="en-US" sz="2400"/>
          </a:p>
        </p:txBody>
      </p:sp>
    </p:spTree>
  </p:cSld>
  <p:clrMapOvr>
    <a:masterClrMapping/>
  </p:clrMapOvr>
</p:sld>
</file>

<file path=ppt/theme/theme1.xml><?xml version="1.0" encoding="utf-8"?>
<a:theme xmlns:a="http://schemas.openxmlformats.org/drawingml/2006/main" name="Globe">
  <a:themeElements>
    <a:clrScheme name="Globe 9">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2075" tIns="46038" rIns="92075" bIns="46038"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2075" tIns="46038" rIns="92075" bIns="46038"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txDef>
      <a:spPr>
        <a:noFill/>
      </a:spPr>
      <a:bodyPr wrap="square" rtlCol="0">
        <a:spAutoFit/>
      </a:bodyPr>
      <a:lstStyle>
        <a:defPPr>
          <a:defRPr dirty="0"/>
        </a:defPPr>
      </a:lstStyle>
    </a:tx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22171</TotalTime>
  <Words>4014</Words>
  <Application>Microsoft Office PowerPoint</Application>
  <PresentationFormat>全屏显示(4:3)</PresentationFormat>
  <Paragraphs>498</Paragraphs>
  <Slides>44</Slides>
  <Notes>1</Notes>
  <HiddenSlides>5</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Verdana</vt:lpstr>
      <vt:lpstr>宋体</vt:lpstr>
      <vt:lpstr>Arial</vt:lpstr>
      <vt:lpstr>Wingdings</vt:lpstr>
      <vt:lpstr>Times New Roman</vt:lpstr>
      <vt:lpstr>Globe</vt:lpstr>
      <vt:lpstr>继承－－派生类</vt:lpstr>
      <vt:lpstr>主要内容</vt:lpstr>
      <vt:lpstr>软件复用</vt:lpstr>
      <vt:lpstr>继承（Inheritance）</vt:lpstr>
      <vt:lpstr>基类与派生类</vt:lpstr>
      <vt:lpstr>继承对程序设计的支持</vt:lpstr>
      <vt:lpstr>PowerPoint 演示文稿</vt:lpstr>
      <vt:lpstr>PowerPoint 演示文稿</vt:lpstr>
      <vt:lpstr>单继承</vt:lpstr>
      <vt:lpstr>PowerPoint 演示文稿</vt:lpstr>
      <vt:lpstr>PowerPoint 演示文稿</vt:lpstr>
      <vt:lpstr>PowerPoint 演示文稿</vt:lpstr>
      <vt:lpstr>在派生类中访问基类成员</vt:lpstr>
      <vt:lpstr>继承与封装的矛盾 </vt:lpstr>
      <vt:lpstr>PowerPoint 演示文稿</vt:lpstr>
      <vt:lpstr>在派生类中访问基类成员（protected访问控制）</vt:lpstr>
      <vt:lpstr>PowerPoint 演示文稿</vt:lpstr>
      <vt:lpstr>基类成员在派生类中对外的访问控制 </vt:lpstr>
      <vt:lpstr>继承方式</vt:lpstr>
      <vt:lpstr>继承方式的含义</vt:lpstr>
      <vt:lpstr>PowerPoint 演示文稿</vt:lpstr>
      <vt:lpstr>PowerPoint 演示文稿</vt:lpstr>
      <vt:lpstr>子类型</vt:lpstr>
      <vt:lpstr>PowerPoint 演示文稿</vt:lpstr>
      <vt:lpstr>PowerPoint 演示文稿</vt:lpstr>
      <vt:lpstr>PowerPoint 演示文稿</vt:lpstr>
      <vt:lpstr>派生类对象的初始化和消亡处理 </vt:lpstr>
      <vt:lpstr>PowerPoint 演示文稿</vt:lpstr>
      <vt:lpstr>PowerPoint 演示文稿</vt:lpstr>
      <vt:lpstr>子类完成基类初始化</vt:lpstr>
      <vt:lpstr>继承构造函数</vt:lpstr>
      <vt:lpstr>继承构造函数</vt:lpstr>
      <vt:lpstr>PowerPoint 演示文稿</vt:lpstr>
      <vt:lpstr>PowerPoint 演示文稿</vt:lpstr>
      <vt:lpstr>PowerPoint 演示文稿</vt:lpstr>
      <vt:lpstr>派生类对象的赋值操作</vt:lpstr>
      <vt:lpstr>PowerPoint 演示文稿</vt:lpstr>
      <vt:lpstr>派生类成员标识符的作用域</vt:lpstr>
      <vt:lpstr>PowerPoint 演示文稿</vt:lpstr>
      <vt:lpstr>PowerPoint 演示文稿</vt:lpstr>
      <vt:lpstr>PowerPoint 演示文稿</vt:lpstr>
      <vt:lpstr>继承的实例：一个公司中的职员类 和部门经理类的设计。 </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Chapter12   Derived Classes</dc:title>
  <dc:creator>chenjj</dc:creator>
  <cp:lastModifiedBy>润泽 颜</cp:lastModifiedBy>
  <cp:revision>860</cp:revision>
  <dcterms:created xsi:type="dcterms:W3CDTF">1999-06-07T07:18:19Z</dcterms:created>
  <dcterms:modified xsi:type="dcterms:W3CDTF">2026-06-18T00:20:41Z</dcterms:modified>
</cp:coreProperties>
</file>