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24"/>
  </p:notesMasterIdLst>
  <p:sldIdLst>
    <p:sldId id="484" r:id="rId2"/>
    <p:sldId id="462" r:id="rId3"/>
    <p:sldId id="279" r:id="rId4"/>
    <p:sldId id="463" r:id="rId5"/>
    <p:sldId id="466" r:id="rId6"/>
    <p:sldId id="464" r:id="rId7"/>
    <p:sldId id="506" r:id="rId8"/>
    <p:sldId id="521" r:id="rId9"/>
    <p:sldId id="522" r:id="rId10"/>
    <p:sldId id="524" r:id="rId11"/>
    <p:sldId id="260" r:id="rId12"/>
    <p:sldId id="467" r:id="rId13"/>
    <p:sldId id="468" r:id="rId14"/>
    <p:sldId id="474" r:id="rId15"/>
    <p:sldId id="504" r:id="rId16"/>
    <p:sldId id="505" r:id="rId17"/>
    <p:sldId id="469" r:id="rId18"/>
    <p:sldId id="470" r:id="rId19"/>
    <p:sldId id="475" r:id="rId20"/>
    <p:sldId id="525" r:id="rId21"/>
    <p:sldId id="471" r:id="rId22"/>
    <p:sldId id="512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8585"/>
    <a:srgbClr val="000000"/>
    <a:srgbClr val="99FF99"/>
    <a:srgbClr val="008080"/>
    <a:srgbClr val="6699FF"/>
    <a:srgbClr val="99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34" autoAdjust="0"/>
    <p:restoredTop sz="94719" autoAdjust="0"/>
  </p:normalViewPr>
  <p:slideViewPr>
    <p:cSldViewPr>
      <p:cViewPr varScale="1">
        <p:scale>
          <a:sx n="162" d="100"/>
          <a:sy n="162" d="100"/>
        </p:scale>
        <p:origin x="432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94"/>
    </p:cViewPr>
  </p:sorterViewPr>
  <p:notesViewPr>
    <p:cSldViewPr>
      <p:cViewPr>
        <p:scale>
          <a:sx n="75" d="100"/>
          <a:sy n="75" d="100"/>
        </p:scale>
        <p:origin x="-173" y="12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AF63A4-D041-B10D-3F82-018A798BFE7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1AEF26-D0FD-EA90-3AE8-E7B0940685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DEFA311-F753-4990-491C-43B3E0EC0F30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E3FB24F-A53C-983A-3084-FE9778B30D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7C28EBD-6937-A6B0-66C7-47CC82927A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AFF230A-24EB-9309-E646-6CB0DF981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6BE5D0A-4A17-467F-957F-0456C89C543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8DBFF02-E97E-BA58-8055-BC2A14E672A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E40131-F3FA-4AA2-7B44-3690697D99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B8900C-212C-283D-7E68-7908D1DB7C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2C59CC-19DD-8666-90FD-4B2027BF2F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D7590FB-AAA2-BBFE-E8B2-615872EF4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02FDB12E-36A6-696F-EAFF-F6F7A891176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2513A4C0-3787-81DC-1607-CB6EDD1D2C1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E0D923B2-CE14-D84C-BAFC-6961147CCC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2844FFC-6FF2-E5EF-1227-3B210833AA7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FA18B1BC-4159-2ECE-7B93-A4A20242AC9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D69B5D9D-AF62-7B0C-A2EB-53AC9549252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2DFE6AB8-8D86-9099-145F-8D31B34345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987985AC-A9E8-E97C-3AE0-83A32E35689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9881A37A-9F4D-B9C4-BD3F-0A4CC6D4F78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8AC115A5-1FCA-7815-4521-12F1D1612F7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C3C91779-234C-BACF-84FC-B5DC6CE71E5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CDD85F20-6D52-9798-2A99-9BFE50563B0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FCF29819-5847-6CE4-186B-31589849964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226950A9-9133-1970-1C94-499F148F87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941881A8-F8AC-49FD-6E2F-F3194F4CBA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50270D41-67C3-9C2C-9D83-5A5D5558A3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6ADCE3F-5854-C3CF-93BC-B4147D8B68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65 w 717"/>
                <a:gd name="T1" fmla="*/ 845 h 845"/>
                <a:gd name="T2" fmla="*/ 865 w 717"/>
                <a:gd name="T3" fmla="*/ 821 h 845"/>
                <a:gd name="T4" fmla="*/ 722 w 717"/>
                <a:gd name="T5" fmla="*/ 605 h 845"/>
                <a:gd name="T6" fmla="*/ 480 w 717"/>
                <a:gd name="T7" fmla="*/ 396 h 845"/>
                <a:gd name="T8" fmla="*/ 29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83 w 717"/>
                <a:gd name="T15" fmla="*/ 198 h 845"/>
                <a:gd name="T16" fmla="*/ 474 w 717"/>
                <a:gd name="T17" fmla="*/ 408 h 845"/>
                <a:gd name="T18" fmla="*/ 716 w 717"/>
                <a:gd name="T19" fmla="*/ 623 h 845"/>
                <a:gd name="T20" fmla="*/ 865 w 717"/>
                <a:gd name="T21" fmla="*/ 845 h 845"/>
                <a:gd name="T22" fmla="*/ 86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D95BF4B7-56B2-0753-3AC1-96568A7C856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81 w 407"/>
                <a:gd name="T1" fmla="*/ 414 h 414"/>
                <a:gd name="T2" fmla="*/ 481 w 407"/>
                <a:gd name="T3" fmla="*/ 396 h 414"/>
                <a:gd name="T4" fmla="*/ 29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90 w 407"/>
                <a:gd name="T13" fmla="*/ 204 h 414"/>
                <a:gd name="T14" fmla="*/ 481 w 407"/>
                <a:gd name="T15" fmla="*/ 414 h 414"/>
                <a:gd name="T16" fmla="*/ 48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7E12AFC3-5DA9-CB74-56ED-B480C88D46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56A228BA-6D18-962B-EC4B-6DD7EC4611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34 w 586"/>
                <a:gd name="T1" fmla="*/ 0 h 599"/>
                <a:gd name="T2" fmla="*/ 716 w 586"/>
                <a:gd name="T3" fmla="*/ 0 h 599"/>
                <a:gd name="T4" fmla="*/ 522 w 586"/>
                <a:gd name="T5" fmla="*/ 132 h 599"/>
                <a:gd name="T6" fmla="*/ 33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31 w 586"/>
                <a:gd name="T17" fmla="*/ 282 h 599"/>
                <a:gd name="T18" fmla="*/ 534 w 586"/>
                <a:gd name="T19" fmla="*/ 138 h 599"/>
                <a:gd name="T20" fmla="*/ 734 w 586"/>
                <a:gd name="T21" fmla="*/ 0 h 599"/>
                <a:gd name="T22" fmla="*/ 73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C1D6B64B-4BA6-C475-9F30-D2C7343C852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43 w 269"/>
                <a:gd name="T1" fmla="*/ 0 h 252"/>
                <a:gd name="T2" fmla="*/ 32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43 w 269"/>
                <a:gd name="T15" fmla="*/ 0 h 252"/>
                <a:gd name="T16" fmla="*/ 34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E3083C29-ACCF-2238-8056-59CC4A89EA0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09A82025-92B3-426B-B051-2B044F508DB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830B951D-1A4A-92E0-B567-5DC254BBBBC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9386DAB2-C4CD-BE7A-51CE-0DFFFFC12F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60F4FC8D-6548-C6ED-DEED-B605E7801F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8CE8A6E1-8F7E-F6A5-79D6-95027E8A40D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A71CEDB3-8185-B769-E876-60FF9F79F6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78CDFEEC-8285-15E4-2C30-EF4E0A31DD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6B3CC483-2EC7-159F-5C73-E8425420A2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DD42B55D-67D0-7DE4-838B-F7A56A3D4C8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CC72CBCC-C9A3-AC57-001F-75C0081E9CC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3207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63208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3879A2A0-D963-E54E-6071-5CC322F3658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33602E4C-6E84-A266-37BA-CD0030A5C9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48A2A941-C37F-F25C-F465-427DA8A15B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B1503-D36F-45A4-BED0-6244D5CBB8D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87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FAA08C41-9FA4-D3F4-1439-C7D6FA495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86F0CA9-0955-4922-D3A8-6B0B913C63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5D0803D2-3069-378B-8782-22F82C002B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A2235C-20EE-460F-984D-1CAEB4BD99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0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3C115FA5-9AA0-B989-AA2E-584EB78A5F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BF26E1B-F32C-8315-3531-ECEEB712D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A1864AC0-1429-442F-B6C9-6F605F4A2B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328719-33C6-4A77-9E36-DE65ED7177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32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C0B7F83-45D6-7201-2308-E065234396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C4767D1E-0E42-76CF-EDC0-B9CE3B2FC3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945F1733-D432-4D92-9C00-7CBD73626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04D0C8-8E2E-4C4D-B4AD-57DA111269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3768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A9FE9A4F-C4A1-8D1D-24CA-BB75E9A5B4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AA1F2609-6FD4-CB3C-55EB-DE24BFAD5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221305A7-6B47-0D07-39C3-AAE0722C3E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2EFAE2-B5C7-4A01-A3AB-64CD9618CF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370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24F980DE-D1E7-DA8C-FDAE-A4DE507943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19BC0655-34C8-0E46-7A13-E74AF7EB16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E4A7CDAC-F15C-7713-997F-286F1D31B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C1617-845A-41B5-9C6B-37E338A985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11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F6C88B85-4855-6B26-D2B3-D751453B5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2A96ABBB-A8A3-848A-75CF-31146A9663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0DE1DF47-D496-CD02-954C-640346E1D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4C9929-C741-40B6-ACBB-A5290B500B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51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9D7D05E-62D1-63E7-3E4E-EDEEE1DDE7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0F742720-2F93-8277-110D-A719B64567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8C6AF08C-B0A6-3E49-C196-863D162CB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7C9CB-8385-42CB-B610-E36DEBDFC9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224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4EBCB49-B886-7BFD-D8B1-5CCAEE3AD9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34428D0-FBF0-A607-ECE9-59DAF55BF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032CDA59-CBD3-61AD-0227-005F2CE22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ED0DF7-1C1C-42D1-8F03-78D79BC07E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1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0A8F494-EDC1-9690-D2D2-525039952F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A0A9983-8AC2-EB7C-0DC0-65304BFADE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04BA3E2-8222-BB49-967E-B77495923E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060146-2BD1-4FE0-B188-17604646E3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53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6B66426D-C9F3-53A8-2DF0-704D353E9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F2FB84B-B6D8-1B72-151D-B82F9CFA8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A036187B-06A4-CF50-B778-412A798D0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5E6D19-FA67-4BFD-A1BB-80166E519F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085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5EC2245-F710-B36E-5BDD-B25E26BBABA2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262147" name="Freeform 3">
              <a:extLst>
                <a:ext uri="{FF2B5EF4-FFF2-40B4-BE49-F238E27FC236}">
                  <a16:creationId xmlns:a16="http://schemas.microsoft.com/office/drawing/2014/main" id="{680326B3-44C4-09A7-5DD1-FDC42C3F36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2148" name="Freeform 4">
              <a:extLst>
                <a:ext uri="{FF2B5EF4-FFF2-40B4-BE49-F238E27FC236}">
                  <a16:creationId xmlns:a16="http://schemas.microsoft.com/office/drawing/2014/main" id="{4228B3A4-8E63-E730-E98F-A8324AE083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2149" name="Freeform 5">
              <a:extLst>
                <a:ext uri="{FF2B5EF4-FFF2-40B4-BE49-F238E27FC236}">
                  <a16:creationId xmlns:a16="http://schemas.microsoft.com/office/drawing/2014/main" id="{48D21B61-518D-01D9-BEE7-525BD54E4C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CA863E0E-909B-67F1-BBC2-6509EC9A1E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2151" name="Freeform 7">
                <a:extLst>
                  <a:ext uri="{FF2B5EF4-FFF2-40B4-BE49-F238E27FC236}">
                    <a16:creationId xmlns:a16="http://schemas.microsoft.com/office/drawing/2014/main" id="{3532D204-995A-8813-5235-580426FCDF3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2" name="Freeform 8">
                <a:extLst>
                  <a:ext uri="{FF2B5EF4-FFF2-40B4-BE49-F238E27FC236}">
                    <a16:creationId xmlns:a16="http://schemas.microsoft.com/office/drawing/2014/main" id="{4394FC2C-C295-4A61-DB6C-9B99D74C4F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3" name="Freeform 9">
                <a:extLst>
                  <a:ext uri="{FF2B5EF4-FFF2-40B4-BE49-F238E27FC236}">
                    <a16:creationId xmlns:a16="http://schemas.microsoft.com/office/drawing/2014/main" id="{0AA47A76-8C43-A163-0617-C09C4CD1A29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4" name="Freeform 10">
                <a:extLst>
                  <a:ext uri="{FF2B5EF4-FFF2-40B4-BE49-F238E27FC236}">
                    <a16:creationId xmlns:a16="http://schemas.microsoft.com/office/drawing/2014/main" id="{02133B21-07FE-4724-ECDE-B1FA1AD8EBE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5" name="Freeform 11">
                <a:extLst>
                  <a:ext uri="{FF2B5EF4-FFF2-40B4-BE49-F238E27FC236}">
                    <a16:creationId xmlns:a16="http://schemas.microsoft.com/office/drawing/2014/main" id="{5E0A1B39-B9E0-26D8-E425-203F4A0189D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6" name="Freeform 12">
                <a:extLst>
                  <a:ext uri="{FF2B5EF4-FFF2-40B4-BE49-F238E27FC236}">
                    <a16:creationId xmlns:a16="http://schemas.microsoft.com/office/drawing/2014/main" id="{F3E9AD87-3EDD-C749-DFB4-9176CC5A15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7" name="Freeform 13">
                <a:extLst>
                  <a:ext uri="{FF2B5EF4-FFF2-40B4-BE49-F238E27FC236}">
                    <a16:creationId xmlns:a16="http://schemas.microsoft.com/office/drawing/2014/main" id="{7F7247F8-F249-728B-646B-4EE1A528D38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8" name="Freeform 14">
                <a:extLst>
                  <a:ext uri="{FF2B5EF4-FFF2-40B4-BE49-F238E27FC236}">
                    <a16:creationId xmlns:a16="http://schemas.microsoft.com/office/drawing/2014/main" id="{6BCED927-EBDA-7E08-9FE3-AC806A8DEBE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59" name="Freeform 15">
                <a:extLst>
                  <a:ext uri="{FF2B5EF4-FFF2-40B4-BE49-F238E27FC236}">
                    <a16:creationId xmlns:a16="http://schemas.microsoft.com/office/drawing/2014/main" id="{0416E2BB-3FBA-A05C-BC9F-6CFF5A1122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60" name="Freeform 16">
                <a:extLst>
                  <a:ext uri="{FF2B5EF4-FFF2-40B4-BE49-F238E27FC236}">
                    <a16:creationId xmlns:a16="http://schemas.microsoft.com/office/drawing/2014/main" id="{E9EE0D47-8669-B87D-45C0-82E3FCCEED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61" name="Freeform 17">
                <a:extLst>
                  <a:ext uri="{FF2B5EF4-FFF2-40B4-BE49-F238E27FC236}">
                    <a16:creationId xmlns:a16="http://schemas.microsoft.com/office/drawing/2014/main" id="{752FABA4-DB3B-FA91-B219-EBF27155988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62" name="Freeform 18">
                <a:extLst>
                  <a:ext uri="{FF2B5EF4-FFF2-40B4-BE49-F238E27FC236}">
                    <a16:creationId xmlns:a16="http://schemas.microsoft.com/office/drawing/2014/main" id="{DE8A3198-F75B-5AB3-C2C9-4C34E571673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62163" name="Freeform 19">
                <a:extLst>
                  <a:ext uri="{FF2B5EF4-FFF2-40B4-BE49-F238E27FC236}">
                    <a16:creationId xmlns:a16="http://schemas.microsoft.com/office/drawing/2014/main" id="{0538C98C-42E9-88C6-8178-1A0F5CB77B0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262164" name="Freeform 20">
              <a:extLst>
                <a:ext uri="{FF2B5EF4-FFF2-40B4-BE49-F238E27FC236}">
                  <a16:creationId xmlns:a16="http://schemas.microsoft.com/office/drawing/2014/main" id="{40F50798-EFEA-290B-E5E9-BB079E916C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2165" name="Freeform 21">
              <a:extLst>
                <a:ext uri="{FF2B5EF4-FFF2-40B4-BE49-F238E27FC236}">
                  <a16:creationId xmlns:a16="http://schemas.microsoft.com/office/drawing/2014/main" id="{058F763E-766D-F0BE-8FD7-D486D30293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2166" name="Freeform 22">
              <a:extLst>
                <a:ext uri="{FF2B5EF4-FFF2-40B4-BE49-F238E27FC236}">
                  <a16:creationId xmlns:a16="http://schemas.microsoft.com/office/drawing/2014/main" id="{0EB0CF3E-B78C-2DA8-BFD3-E7B03ACFD3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7F46B2E5-0FCA-7FF0-64CE-7F10616B02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65 w 717"/>
                <a:gd name="T1" fmla="*/ 845 h 845"/>
                <a:gd name="T2" fmla="*/ 865 w 717"/>
                <a:gd name="T3" fmla="*/ 821 h 845"/>
                <a:gd name="T4" fmla="*/ 722 w 717"/>
                <a:gd name="T5" fmla="*/ 605 h 845"/>
                <a:gd name="T6" fmla="*/ 480 w 717"/>
                <a:gd name="T7" fmla="*/ 396 h 845"/>
                <a:gd name="T8" fmla="*/ 29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83 w 717"/>
                <a:gd name="T15" fmla="*/ 198 h 845"/>
                <a:gd name="T16" fmla="*/ 474 w 717"/>
                <a:gd name="T17" fmla="*/ 408 h 845"/>
                <a:gd name="T18" fmla="*/ 716 w 717"/>
                <a:gd name="T19" fmla="*/ 623 h 845"/>
                <a:gd name="T20" fmla="*/ 865 w 717"/>
                <a:gd name="T21" fmla="*/ 845 h 845"/>
                <a:gd name="T22" fmla="*/ 86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99A416CD-FF08-1EC2-E713-C11496C94B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81 w 407"/>
                <a:gd name="T1" fmla="*/ 414 h 414"/>
                <a:gd name="T2" fmla="*/ 481 w 407"/>
                <a:gd name="T3" fmla="*/ 396 h 414"/>
                <a:gd name="T4" fmla="*/ 29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90 w 407"/>
                <a:gd name="T13" fmla="*/ 204 h 414"/>
                <a:gd name="T14" fmla="*/ 481 w 407"/>
                <a:gd name="T15" fmla="*/ 414 h 414"/>
                <a:gd name="T16" fmla="*/ 48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169" name="Freeform 25">
              <a:extLst>
                <a:ext uri="{FF2B5EF4-FFF2-40B4-BE49-F238E27FC236}">
                  <a16:creationId xmlns:a16="http://schemas.microsoft.com/office/drawing/2014/main" id="{F267AE25-EDD0-7A3C-8F22-3C6F84E82C0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3BEE0A11-3F87-526D-4782-4277127DFF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34 w 586"/>
                <a:gd name="T1" fmla="*/ 0 h 599"/>
                <a:gd name="T2" fmla="*/ 716 w 586"/>
                <a:gd name="T3" fmla="*/ 0 h 599"/>
                <a:gd name="T4" fmla="*/ 522 w 586"/>
                <a:gd name="T5" fmla="*/ 132 h 599"/>
                <a:gd name="T6" fmla="*/ 33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31 w 586"/>
                <a:gd name="T17" fmla="*/ 282 h 599"/>
                <a:gd name="T18" fmla="*/ 534 w 586"/>
                <a:gd name="T19" fmla="*/ 138 h 599"/>
                <a:gd name="T20" fmla="*/ 734 w 586"/>
                <a:gd name="T21" fmla="*/ 0 h 599"/>
                <a:gd name="T22" fmla="*/ 73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48EE1D33-9E7C-D38F-5BD2-6FCA985FFE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43 w 269"/>
                <a:gd name="T1" fmla="*/ 0 h 252"/>
                <a:gd name="T2" fmla="*/ 32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43 w 269"/>
                <a:gd name="T15" fmla="*/ 0 h 252"/>
                <a:gd name="T16" fmla="*/ 34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ED6B74F9-4B64-2B87-81F7-9F7C8B4AD3B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709743FF-AC71-FCF1-21C6-79C57F22E4F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012ADA22-D6EC-3577-633E-50052178DA6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E84B5B18-DCB3-0D9D-517D-836369AFF2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FE996871-D7D7-0D50-A049-07F178A668D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24142535-73EC-4C64-6F41-A5768C14F16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6D39CE86-C72C-C1C7-F192-932A72ECB1E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FDED58ED-1482-3C62-3908-79B0D29705C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D16F7F1E-622E-BDCF-4131-0E4F247DB59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F23557D9-A4C5-3BB5-1854-4F849892BE2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B41D76A5-0627-97CA-B940-3BE5629DCF3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2183" name="Rectangle 39">
            <a:extLst>
              <a:ext uri="{FF2B5EF4-FFF2-40B4-BE49-F238E27FC236}">
                <a16:creationId xmlns:a16="http://schemas.microsoft.com/office/drawing/2014/main" id="{8E2318B6-107E-03A3-BC00-0087A5D75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62184" name="Rectangle 40">
            <a:extLst>
              <a:ext uri="{FF2B5EF4-FFF2-40B4-BE49-F238E27FC236}">
                <a16:creationId xmlns:a16="http://schemas.microsoft.com/office/drawing/2014/main" id="{9200BE71-B330-8D80-09AE-B0C9E48F66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85" name="Rectangle 41">
            <a:extLst>
              <a:ext uri="{FF2B5EF4-FFF2-40B4-BE49-F238E27FC236}">
                <a16:creationId xmlns:a16="http://schemas.microsoft.com/office/drawing/2014/main" id="{A71C6C52-0919-30CB-4354-C8D8F8EF5C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86" name="Rectangle 42">
            <a:extLst>
              <a:ext uri="{FF2B5EF4-FFF2-40B4-BE49-F238E27FC236}">
                <a16:creationId xmlns:a16="http://schemas.microsoft.com/office/drawing/2014/main" id="{C77EBA0C-2D75-7077-5496-090EDFDCF7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6417A627-5642-4EBF-9584-0574F928A87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62187" name="Rectangle 43">
            <a:extLst>
              <a:ext uri="{FF2B5EF4-FFF2-40B4-BE49-F238E27FC236}">
                <a16:creationId xmlns:a16="http://schemas.microsoft.com/office/drawing/2014/main" id="{1B81A1D5-5431-8864-E620-A0E32C7E5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6" r:id="rId1"/>
    <p:sldLayoutId id="2147484616" r:id="rId2"/>
    <p:sldLayoutId id="2147484617" r:id="rId3"/>
    <p:sldLayoutId id="2147484618" r:id="rId4"/>
    <p:sldLayoutId id="2147484619" r:id="rId5"/>
    <p:sldLayoutId id="2147484620" r:id="rId6"/>
    <p:sldLayoutId id="2147484621" r:id="rId7"/>
    <p:sldLayoutId id="2147484622" r:id="rId8"/>
    <p:sldLayoutId id="2147484623" r:id="rId9"/>
    <p:sldLayoutId id="2147484624" r:id="rId10"/>
    <p:sldLayoutId id="21474846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6A5C39F1-BFCD-4133-BB41-F76F9F0D2C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操作符重载</a:t>
            </a:r>
          </a:p>
        </p:txBody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FE850ACA-8558-3110-55B5-274227FB64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基本做法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F31E7C96-FB20-0D9D-B3A7-EDC2A4CE8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主要内容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8DD5921F-5788-9B08-9614-104A5B2E3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操作符重载概述</a:t>
            </a:r>
          </a:p>
          <a:p>
            <a:pPr eaLnBrk="1" hangingPunct="1">
              <a:defRPr/>
            </a:pPr>
            <a:r>
              <a:rPr lang="zh-CN" altLang="en-US" dirty="0"/>
              <a:t>双目操作符重载</a:t>
            </a:r>
          </a:p>
          <a:p>
            <a:pPr eaLnBrk="1" hangingPunct="1">
              <a:defRPr/>
            </a:pPr>
            <a:r>
              <a:rPr lang="zh-CN" altLang="en-US" dirty="0"/>
              <a:t>单目操作符重载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操作符</a:t>
            </a:r>
            <a:r>
              <a:rPr lang="en-US" altLang="zh-CN" dirty="0"/>
              <a:t>++</a:t>
            </a:r>
            <a:r>
              <a:rPr lang="zh-CN" altLang="en-US" dirty="0"/>
              <a:t>和</a:t>
            </a:r>
            <a:r>
              <a:rPr lang="en-US" altLang="zh-CN" dirty="0"/>
              <a:t>--</a:t>
            </a:r>
            <a:r>
              <a:rPr lang="zh-CN" altLang="en-US" dirty="0"/>
              <a:t>的重载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982F593-99CE-295F-A226-BC1398F6B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9715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4000" dirty="0">
                <a:latin typeface="Times New Roman" pitchFamily="18" charset="0"/>
              </a:rPr>
              <a:t>操作符重载的需要性</a:t>
            </a:r>
            <a:r>
              <a:rPr lang="zh-CN" altLang="en-US" sz="4000" dirty="0"/>
              <a:t> 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5C25642-7C6A-ECAA-BFA5-D4F44D4B1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84313"/>
            <a:ext cx="8675687" cy="518477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/>
              <a:t>C++</a:t>
            </a:r>
            <a:r>
              <a:rPr lang="zh-CN" altLang="en-US" sz="2400" dirty="0"/>
              <a:t>语言本身没有提供复数类型，可通过定义一个类来实现：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class Complex	//</a:t>
            </a:r>
            <a:r>
              <a:rPr lang="zh-CN" altLang="en-US" sz="2000" dirty="0"/>
              <a:t>复数类定义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{public: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	 Complex(double r=0.0,double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=0.0)     </a:t>
            </a:r>
            <a:br>
              <a:rPr lang="en-US" altLang="zh-CN" sz="2000" dirty="0"/>
            </a:br>
            <a:r>
              <a:rPr lang="en-US" altLang="zh-CN" sz="2000" dirty="0"/>
              <a:t> { real=r; </a:t>
            </a:r>
            <a:r>
              <a:rPr lang="en-US" altLang="zh-CN" sz="2000" dirty="0" err="1"/>
              <a:t>imag</a:t>
            </a:r>
            <a:r>
              <a:rPr lang="en-US" altLang="zh-CN" sz="2000" dirty="0"/>
              <a:t>=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  }</a:t>
            </a:r>
            <a:br>
              <a:rPr lang="en-US" altLang="zh-CN" sz="2000" dirty="0"/>
            </a:br>
            <a:r>
              <a:rPr lang="en-US" altLang="zh-CN" sz="2000" dirty="0"/>
              <a:t> void display() </a:t>
            </a:r>
            <a:r>
              <a:rPr lang="en-US" altLang="zh-CN" sz="2000" dirty="0" err="1"/>
              <a:t>const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  {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real &lt;&lt; '+' &lt;&lt; </a:t>
            </a:r>
            <a:r>
              <a:rPr lang="en-US" altLang="zh-CN" sz="2000" dirty="0" err="1"/>
              <a:t>imag</a:t>
            </a:r>
            <a:r>
              <a:rPr lang="en-US" altLang="zh-CN" sz="2000" dirty="0"/>
              <a:t> &lt;&lt; '</a:t>
            </a:r>
            <a:r>
              <a:rPr lang="en-US" altLang="zh-CN" sz="2000" dirty="0" err="1"/>
              <a:t>i</a:t>
            </a:r>
            <a:r>
              <a:rPr lang="en-US" altLang="zh-CN" sz="2000" dirty="0"/>
              <a:t>';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  }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  ......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private:	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	 double real;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	 double </a:t>
            </a:r>
            <a:r>
              <a:rPr lang="en-US" altLang="zh-CN" sz="2000" dirty="0" err="1"/>
              <a:t>imag</a:t>
            </a:r>
            <a:r>
              <a:rPr lang="en-US" altLang="zh-CN" sz="2000" dirty="0"/>
              <a:t>;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};	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Complex a(1.0,2.0),b(3.0,4.0)</a:t>
            </a:r>
            <a:r>
              <a:rPr lang="en-US" altLang="zh-CN" sz="2000" dirty="0"/>
              <a:t>;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zh-CN" altLang="en-US" sz="2400" dirty="0"/>
              <a:t>如何实现两个复数（类型为</a:t>
            </a:r>
            <a:r>
              <a:rPr lang="en-US" altLang="zh-CN" sz="2400" dirty="0"/>
              <a:t>Complex</a:t>
            </a:r>
            <a:r>
              <a:rPr lang="zh-CN" altLang="en-US" sz="2400" dirty="0"/>
              <a:t>）相加？	</a:t>
            </a:r>
            <a:r>
              <a:rPr lang="zh-CN" altLang="en-US" sz="2100" dirty="0"/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>
            <a:extLst>
              <a:ext uri="{FF2B5EF4-FFF2-40B4-BE49-F238E27FC236}">
                <a16:creationId xmlns:a16="http://schemas.microsoft.com/office/drawing/2014/main" id="{48AFDB96-AAD7-4133-87C9-A080E5D4B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11175"/>
            <a:ext cx="8229600" cy="5870575"/>
          </a:xfrm>
        </p:spPr>
        <p:txBody>
          <a:bodyPr/>
          <a:lstStyle/>
          <a:p>
            <a:pPr defTabSz="620713" eaLnBrk="1" hangingPunct="1">
              <a:lnSpc>
                <a:spcPct val="80000"/>
              </a:lnSpc>
              <a:defRPr/>
            </a:pPr>
            <a:r>
              <a:rPr lang="zh-CN" altLang="en-GB" sz="2800" dirty="0"/>
              <a:t>一种方案：为</a:t>
            </a:r>
            <a:r>
              <a:rPr lang="en-GB" altLang="zh-CN" sz="2800" dirty="0"/>
              <a:t>Complex</a:t>
            </a:r>
            <a:r>
              <a:rPr lang="zh-CN" altLang="en-GB" sz="2800" dirty="0"/>
              <a:t>类定义一个成员函数</a:t>
            </a:r>
            <a:r>
              <a:rPr lang="en-GB" altLang="zh-CN" sz="2800" dirty="0"/>
              <a:t>add</a:t>
            </a:r>
            <a:r>
              <a:rPr lang="zh-CN" altLang="en-GB" sz="2800" dirty="0"/>
              <a:t>，例如：</a:t>
            </a:r>
          </a:p>
          <a:p>
            <a:pPr lvl="1" defTabSz="620713" eaLnBrk="1" hangingPunct="1">
              <a:buFontTx/>
              <a:buNone/>
              <a:defRPr/>
            </a:pPr>
            <a:r>
              <a:rPr lang="en-GB" altLang="zh-CN" sz="2400" dirty="0"/>
              <a:t>class Complex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{	public: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 		</a:t>
            </a:r>
            <a:r>
              <a:rPr lang="en-GB" altLang="zh-CN" sz="2400" dirty="0">
                <a:latin typeface="Arial"/>
              </a:rPr>
              <a:t>……</a:t>
            </a:r>
            <a:r>
              <a:rPr lang="en-GB" altLang="zh-CN" sz="2400" dirty="0"/>
              <a:t>	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Complex </a:t>
            </a:r>
            <a:r>
              <a:rPr lang="en-GB" altLang="zh-CN" sz="2400" dirty="0">
                <a:solidFill>
                  <a:srgbClr val="FFC000"/>
                </a:solidFill>
              </a:rPr>
              <a:t>add</a:t>
            </a:r>
            <a:r>
              <a:rPr lang="en-GB" altLang="zh-CN" sz="2400" dirty="0"/>
              <a:t>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x) </a:t>
            </a:r>
            <a:r>
              <a:rPr lang="en-GB" altLang="zh-CN" sz="2400" dirty="0" err="1"/>
              <a:t>const</a:t>
            </a:r>
            <a:endParaRPr lang="en-GB" altLang="zh-CN" sz="2400" dirty="0"/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{	Complex temp;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	</a:t>
            </a:r>
            <a:r>
              <a:rPr lang="en-GB" altLang="zh-CN" sz="2400" dirty="0" err="1"/>
              <a:t>temp.real</a:t>
            </a:r>
            <a:r>
              <a:rPr lang="en-GB" altLang="zh-CN" sz="2400" dirty="0"/>
              <a:t> = </a:t>
            </a:r>
            <a:r>
              <a:rPr lang="en-GB" altLang="zh-CN" sz="2400" dirty="0" err="1"/>
              <a:t>real+x.real</a:t>
            </a:r>
            <a:r>
              <a:rPr lang="en-GB" altLang="zh-CN" sz="2400" dirty="0"/>
              <a:t>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	</a:t>
            </a:r>
            <a:r>
              <a:rPr lang="en-GB" altLang="zh-CN" sz="2400" dirty="0" err="1"/>
              <a:t>temp.imag</a:t>
            </a:r>
            <a:r>
              <a:rPr lang="en-GB" altLang="zh-CN" sz="2400" dirty="0"/>
              <a:t> = </a:t>
            </a:r>
            <a:r>
              <a:rPr lang="en-GB" altLang="zh-CN" sz="2400" dirty="0" err="1"/>
              <a:t>imag+x.imag</a:t>
            </a:r>
            <a:r>
              <a:rPr lang="en-GB" altLang="zh-CN" sz="2400" dirty="0"/>
              <a:t>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	return temp;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		}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>
                <a:latin typeface="Arial"/>
              </a:rPr>
              <a:t>……</a:t>
            </a:r>
            <a:endParaRPr lang="en-GB" altLang="zh-CN" sz="2400" dirty="0"/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Complex a(1.0,2.0),b(3.0,4.0),c;</a:t>
            </a:r>
          </a:p>
          <a:p>
            <a:pPr lvl="1" defTabSz="620713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400" dirty="0"/>
              <a:t>c = </a:t>
            </a:r>
            <a:r>
              <a:rPr lang="en-GB" altLang="zh-CN" sz="2400" dirty="0" err="1">
                <a:solidFill>
                  <a:srgbClr val="FFC000"/>
                </a:solidFill>
              </a:rPr>
              <a:t>a.add</a:t>
            </a:r>
            <a:r>
              <a:rPr lang="en-GB" altLang="zh-CN" sz="2400" dirty="0">
                <a:solidFill>
                  <a:srgbClr val="FFC000"/>
                </a:solidFill>
              </a:rPr>
              <a:t>(b)</a:t>
            </a:r>
            <a:r>
              <a:rPr lang="en-GB" altLang="zh-CN" sz="2400"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1" name="Rectangle 3">
            <a:extLst>
              <a:ext uri="{FF2B5EF4-FFF2-40B4-BE49-F238E27FC236}">
                <a16:creationId xmlns:a16="http://schemas.microsoft.com/office/drawing/2014/main" id="{38F454F0-4951-CF81-01D5-449BBD199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8964613" cy="56880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另一种方案：定义一个全局函数（声明成</a:t>
            </a:r>
            <a:r>
              <a:rPr lang="en-US" altLang="zh-CN" sz="2400" dirty="0"/>
              <a:t>Complex</a:t>
            </a:r>
            <a:r>
              <a:rPr lang="zh-CN" altLang="en-US" sz="2400" dirty="0"/>
              <a:t>类的友元），例如：</a:t>
            </a:r>
          </a:p>
          <a:p>
            <a:pPr lvl="1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/>
              <a:t>class Complex	//</a:t>
            </a:r>
            <a:r>
              <a:rPr lang="zh-CN" altLang="en-US" sz="2000" dirty="0"/>
              <a:t>复数类定义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{  ......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   friend</a:t>
            </a:r>
            <a:r>
              <a:rPr lang="en-US" altLang="zh-CN" sz="2000" b="1" dirty="0"/>
              <a:t> </a:t>
            </a:r>
            <a:r>
              <a:rPr lang="en-GB" altLang="zh-CN" sz="2000" dirty="0"/>
              <a:t>Complex add(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Complex&amp; x1, 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Complex&amp; x2);</a:t>
            </a:r>
            <a:endParaRPr lang="en-US" altLang="zh-CN" sz="2000" b="1" dirty="0"/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};</a:t>
            </a:r>
            <a:r>
              <a:rPr lang="en-GB" altLang="zh-CN" sz="2000" dirty="0"/>
              <a:t> 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Complex </a:t>
            </a:r>
            <a:r>
              <a:rPr lang="en-GB" altLang="zh-CN" sz="2000" dirty="0">
                <a:solidFill>
                  <a:srgbClr val="FFC000"/>
                </a:solidFill>
              </a:rPr>
              <a:t>add</a:t>
            </a:r>
            <a:r>
              <a:rPr lang="en-GB" altLang="zh-CN" sz="2000" dirty="0"/>
              <a:t>(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Complex&amp; x1, 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Complex&amp; x2)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{	Complex temp;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</a:t>
            </a:r>
            <a:r>
              <a:rPr lang="en-GB" altLang="zh-CN" sz="2000" dirty="0" err="1"/>
              <a:t>temp.real</a:t>
            </a:r>
            <a:r>
              <a:rPr lang="en-GB" altLang="zh-CN" sz="2000" dirty="0"/>
              <a:t> = x1.real+x2.real;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</a:t>
            </a:r>
            <a:r>
              <a:rPr lang="en-GB" altLang="zh-CN" sz="2000" dirty="0" err="1"/>
              <a:t>temp.imag</a:t>
            </a:r>
            <a:r>
              <a:rPr lang="en-GB" altLang="zh-CN" sz="2000" dirty="0"/>
              <a:t> = x1.imag+x2.imag;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return temp;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>
                <a:latin typeface="Arial"/>
              </a:rPr>
              <a:t>……</a:t>
            </a:r>
            <a:endParaRPr lang="en-GB" altLang="zh-CN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Complex a(1.0,2.0),b(3.0,4.0),c;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c = </a:t>
            </a:r>
            <a:r>
              <a:rPr lang="en-GB" altLang="zh-CN" sz="2000" dirty="0">
                <a:solidFill>
                  <a:srgbClr val="FFC000"/>
                </a:solidFill>
              </a:rPr>
              <a:t>add(</a:t>
            </a:r>
            <a:r>
              <a:rPr lang="en-GB" altLang="zh-CN" sz="2000" dirty="0" err="1">
                <a:solidFill>
                  <a:srgbClr val="FFC000"/>
                </a:solidFill>
              </a:rPr>
              <a:t>a,b</a:t>
            </a:r>
            <a:r>
              <a:rPr lang="en-GB" altLang="zh-CN" sz="2000" dirty="0">
                <a:solidFill>
                  <a:srgbClr val="FFC000"/>
                </a:solidFill>
              </a:rPr>
              <a:t>)</a:t>
            </a:r>
            <a:r>
              <a:rPr lang="en-GB" altLang="zh-CN" sz="2000" dirty="0"/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>
            <a:extLst>
              <a:ext uri="{FF2B5EF4-FFF2-40B4-BE49-F238E27FC236}">
                <a16:creationId xmlns:a16="http://schemas.microsoft.com/office/drawing/2014/main" id="{F94CD8B4-7DF3-7721-93B7-027AD5462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07413" cy="54006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在前面的两种实现中，加法操作形式不符合数学上的习惯：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    c=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FFC000"/>
                </a:solidFill>
              </a:rPr>
              <a:t>+</a:t>
            </a:r>
            <a:r>
              <a:rPr lang="en-US" altLang="zh-CN" dirty="0" err="1"/>
              <a:t>b</a:t>
            </a:r>
            <a:endParaRPr lang="en-GB" altLang="zh-CN" dirty="0"/>
          </a:p>
          <a:p>
            <a:pPr eaLnBrk="1" hangingPunct="1">
              <a:defRPr/>
            </a:pPr>
            <a:r>
              <a:rPr lang="en-US" altLang="zh-CN" sz="2800" dirty="0"/>
              <a:t>C++</a:t>
            </a:r>
            <a:r>
              <a:rPr lang="zh-CN" altLang="en-US" sz="2800" dirty="0"/>
              <a:t>允许对</a:t>
            </a:r>
            <a:r>
              <a:rPr lang="zh-CN" altLang="en-US" sz="2800" dirty="0">
                <a:solidFill>
                  <a:schemeClr val="folHlink"/>
                </a:solidFill>
              </a:rPr>
              <a:t>已有的操作符</a:t>
            </a:r>
            <a:r>
              <a:rPr lang="zh-CN" altLang="en-US" sz="2800" dirty="0"/>
              <a:t>进行</a:t>
            </a:r>
            <a:r>
              <a:rPr lang="zh-CN" altLang="en-US" sz="2800" dirty="0">
                <a:solidFill>
                  <a:srgbClr val="FFC000"/>
                </a:solidFill>
              </a:rPr>
              <a:t>重载</a:t>
            </a:r>
            <a:r>
              <a:rPr lang="zh-CN" altLang="en-US" sz="2800" dirty="0"/>
              <a:t>，使得它们能对自定义类型（类）的对象进行操作。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与函数名重载一样，操作符重载也是实现</a:t>
            </a:r>
            <a:r>
              <a:rPr lang="zh-CN" altLang="en-US" sz="2800" dirty="0">
                <a:solidFill>
                  <a:srgbClr val="FFC000"/>
                </a:solidFill>
              </a:rPr>
              <a:t>多态性</a:t>
            </a:r>
            <a:r>
              <a:rPr lang="zh-CN" altLang="en-US" sz="2800" dirty="0"/>
              <a:t>的一种语言机制。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6AA9E-052D-016D-AAF9-E9D8C9E6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zh-CN"/>
              <a:t>操作符重载的实现途径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7D7690-EDA1-C692-ACEC-03E387CAC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操作符重载可通过下面两个途径来实现：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zh-CN" dirty="0"/>
              <a:t>作为一个类的非静态的</a:t>
            </a:r>
            <a:r>
              <a:rPr lang="zh-CN" altLang="zh-CN" dirty="0">
                <a:solidFill>
                  <a:srgbClr val="FFC000"/>
                </a:solidFill>
              </a:rPr>
              <a:t>成员函数</a:t>
            </a:r>
            <a:r>
              <a:rPr lang="zh-CN" altLang="en-US" dirty="0"/>
              <a:t>（操作符</a:t>
            </a:r>
            <a:r>
              <a:rPr lang="en-US" altLang="zh-CN" dirty="0"/>
              <a:t>new</a:t>
            </a:r>
            <a:r>
              <a:rPr lang="zh-CN" altLang="en-US" dirty="0"/>
              <a:t>和</a:t>
            </a:r>
            <a:r>
              <a:rPr lang="en-US" altLang="zh-CN" dirty="0"/>
              <a:t>delete</a:t>
            </a:r>
            <a:r>
              <a:rPr lang="zh-CN" altLang="en-US" dirty="0"/>
              <a:t>除外）。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作为一个</a:t>
            </a:r>
            <a:r>
              <a:rPr lang="zh-CN" altLang="zh-CN" dirty="0">
                <a:solidFill>
                  <a:srgbClr val="FFC000"/>
                </a:solidFill>
              </a:rPr>
              <a:t>全局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C000"/>
                </a:solidFill>
              </a:rPr>
              <a:t>友元</a:t>
            </a:r>
            <a:r>
              <a:rPr lang="zh-CN" altLang="en-US" dirty="0"/>
              <a:t>）</a:t>
            </a:r>
            <a:r>
              <a:rPr lang="zh-CN" altLang="zh-CN" dirty="0"/>
              <a:t>函数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至少应该有一个参数是</a:t>
            </a:r>
            <a:r>
              <a:rPr lang="zh-CN" altLang="en-GB" dirty="0">
                <a:solidFill>
                  <a:schemeClr val="folHlink"/>
                </a:solidFill>
              </a:rPr>
              <a:t>类、结构、枚举</a:t>
            </a:r>
            <a:r>
              <a:rPr lang="zh-CN" altLang="en-US" dirty="0"/>
              <a:t>或</a:t>
            </a:r>
            <a:r>
              <a:rPr lang="zh-CN" altLang="en-GB" dirty="0">
                <a:solidFill>
                  <a:schemeClr val="folHlink"/>
                </a:solidFill>
              </a:rPr>
              <a:t>它们的引用类型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不管是采用成员函数还是全局函数，重载的函数名字都为：</a:t>
            </a:r>
            <a:endParaRPr lang="en-US" altLang="zh-CN" dirty="0"/>
          </a:p>
          <a:p>
            <a:pPr lvl="2" eaLnBrk="1" hangingPunct="1">
              <a:defRPr/>
            </a:pPr>
            <a:r>
              <a:rPr lang="en-US" altLang="zh-CN" dirty="0">
                <a:solidFill>
                  <a:srgbClr val="FFC000"/>
                </a:solidFill>
              </a:rPr>
              <a:t>operator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#</a:t>
            </a:r>
          </a:p>
          <a:p>
            <a:pPr lvl="2" eaLnBrk="1" hangingPunct="1">
              <a:defRPr/>
            </a:pPr>
            <a:r>
              <a:rPr lang="zh-CN" altLang="en-US" dirty="0"/>
              <a:t>“</a:t>
            </a:r>
            <a:r>
              <a:rPr lang="en-US" altLang="zh-CN" dirty="0"/>
              <a:t>#</a:t>
            </a:r>
            <a:r>
              <a:rPr lang="zh-CN" altLang="en-US" dirty="0"/>
              <a:t>”代表任意可重载的操作符。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10F514-D9C7-6568-31F1-5D286ADD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713"/>
            <a:ext cx="8229600" cy="55102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GB" dirty="0"/>
              <a:t>例如</a:t>
            </a:r>
            <a:r>
              <a:rPr lang="zh-CN" altLang="en-US" dirty="0"/>
              <a:t>，</a:t>
            </a:r>
            <a:r>
              <a:rPr lang="zh-CN" altLang="en-GB" dirty="0"/>
              <a:t>以成员函数重载</a:t>
            </a:r>
            <a:r>
              <a:rPr lang="zh-CN" altLang="en-US" dirty="0"/>
              <a:t>复数的“</a:t>
            </a:r>
            <a:r>
              <a:rPr lang="en-US" altLang="zh-CN" dirty="0"/>
              <a:t>+</a:t>
            </a:r>
            <a:r>
              <a:rPr lang="zh-CN" altLang="en-US" dirty="0"/>
              <a:t>”</a:t>
            </a:r>
            <a:r>
              <a:rPr lang="zh-CN" altLang="en-GB" dirty="0"/>
              <a:t>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200" dirty="0"/>
              <a:t>class Complex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{	public: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Complex </a:t>
            </a:r>
            <a:r>
              <a:rPr lang="en-GB" altLang="zh-CN" sz="2200" dirty="0">
                <a:solidFill>
                  <a:schemeClr val="folHlink"/>
                </a:solidFill>
              </a:rPr>
              <a:t>operator +</a:t>
            </a:r>
            <a:r>
              <a:rPr lang="en-GB" altLang="zh-CN" sz="2200" dirty="0"/>
              <a:t> (</a:t>
            </a:r>
            <a:r>
              <a:rPr lang="en-GB" altLang="zh-CN" sz="2200" dirty="0" err="1"/>
              <a:t>const</a:t>
            </a:r>
            <a:r>
              <a:rPr lang="en-GB" altLang="zh-CN" sz="2200" dirty="0"/>
              <a:t> Complex&amp; x) </a:t>
            </a:r>
            <a:r>
              <a:rPr lang="en-GB" altLang="zh-CN" sz="2200" dirty="0" err="1"/>
              <a:t>const</a:t>
            </a:r>
            <a:endParaRPr lang="en-GB" altLang="zh-CN" sz="22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{	Complex temp;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	</a:t>
            </a:r>
            <a:r>
              <a:rPr lang="en-GB" altLang="zh-CN" sz="2200" dirty="0" err="1"/>
              <a:t>temp.real</a:t>
            </a:r>
            <a:r>
              <a:rPr lang="en-GB" altLang="zh-CN" sz="2200" dirty="0"/>
              <a:t> = </a:t>
            </a:r>
            <a:r>
              <a:rPr lang="en-GB" altLang="zh-CN" sz="2200" dirty="0" err="1"/>
              <a:t>real+x.real</a:t>
            </a:r>
            <a:r>
              <a:rPr lang="en-GB" altLang="zh-CN" sz="22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	</a:t>
            </a:r>
            <a:r>
              <a:rPr lang="en-GB" altLang="zh-CN" sz="2200" dirty="0" err="1"/>
              <a:t>temp.imag</a:t>
            </a:r>
            <a:r>
              <a:rPr lang="en-GB" altLang="zh-CN" sz="2200" dirty="0"/>
              <a:t> = </a:t>
            </a:r>
            <a:r>
              <a:rPr lang="en-GB" altLang="zh-CN" sz="2200" dirty="0" err="1"/>
              <a:t>imag+x.imag</a:t>
            </a:r>
            <a:r>
              <a:rPr lang="en-GB" altLang="zh-CN" sz="22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	return temp;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		}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    ......</a:t>
            </a:r>
            <a:endParaRPr lang="zh-CN" altLang="en-GB" sz="22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……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Complex a(1.0,2.0),b(3.0,4.0),c;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200" dirty="0"/>
              <a:t>c = a </a:t>
            </a:r>
            <a:r>
              <a:rPr lang="en-GB" altLang="zh-CN" sz="2200" dirty="0">
                <a:solidFill>
                  <a:srgbClr val="FFC000"/>
                </a:solidFill>
              </a:rPr>
              <a:t>+</a:t>
            </a:r>
            <a:r>
              <a:rPr lang="en-GB" altLang="zh-CN" sz="2200" dirty="0"/>
              <a:t> b;</a:t>
            </a:r>
            <a:endParaRPr lang="en-US" altLang="zh-CN" sz="22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8B525-E1A0-38C9-5004-375C8E3FF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250"/>
            <a:ext cx="8362950" cy="59055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500" dirty="0"/>
              <a:t>再例如，以全局函数重载</a:t>
            </a:r>
            <a:r>
              <a:rPr lang="zh-CN" altLang="en-GB" sz="3500" dirty="0"/>
              <a:t>重载</a:t>
            </a:r>
            <a:r>
              <a:rPr lang="zh-CN" altLang="en-US" sz="3500" dirty="0"/>
              <a:t>复数的“</a:t>
            </a:r>
            <a:r>
              <a:rPr lang="en-US" altLang="zh-CN" sz="3500" dirty="0"/>
              <a:t>+</a:t>
            </a:r>
            <a:r>
              <a:rPr lang="zh-CN" altLang="en-US" sz="3500" dirty="0"/>
              <a:t>”：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class Complex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{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>
                <a:solidFill>
                  <a:srgbClr val="FFC000"/>
                </a:solidFill>
              </a:rPr>
              <a:t>friend</a:t>
            </a:r>
            <a:r>
              <a:rPr lang="en-GB" altLang="zh-CN" sz="2400" dirty="0"/>
              <a:t> Complex operator + 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c1,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				          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c2);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Complex </a:t>
            </a:r>
            <a:r>
              <a:rPr lang="en-GB" altLang="zh-CN" sz="2400" dirty="0">
                <a:solidFill>
                  <a:schemeClr val="folHlink"/>
                </a:solidFill>
              </a:rPr>
              <a:t>operator +</a:t>
            </a:r>
            <a:r>
              <a:rPr lang="en-GB" altLang="zh-CN" sz="2400" dirty="0"/>
              <a:t> 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c1,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			       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c2)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{	Complex temp;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err="1"/>
              <a:t>temp.real</a:t>
            </a:r>
            <a:r>
              <a:rPr lang="en-GB" altLang="zh-CN" sz="2400" dirty="0"/>
              <a:t> = c1.real + c2.real;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err="1"/>
              <a:t>temp.imag</a:t>
            </a:r>
            <a:r>
              <a:rPr lang="en-GB" altLang="zh-CN" sz="2400" dirty="0"/>
              <a:t> = c1.imag + c2.imag;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	return temp;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……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Complex a(1.0,2.0),b(3.0,4.0),c;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c = a </a:t>
            </a:r>
            <a:r>
              <a:rPr lang="en-GB" altLang="zh-CN" sz="2400" dirty="0">
                <a:solidFill>
                  <a:srgbClr val="FFC000"/>
                </a:solidFill>
              </a:rPr>
              <a:t>+</a:t>
            </a:r>
            <a:r>
              <a:rPr lang="en-GB" altLang="zh-CN" sz="2400" dirty="0"/>
              <a:t> b;</a:t>
            </a:r>
            <a:endParaRPr lang="en-US" altLang="zh-CN" sz="2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5A7DB-58B9-BA78-460B-726ADC5A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54B032-440B-2FDE-4218-D5B64B03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一般情况下，操作符既可以</a:t>
            </a:r>
            <a:r>
              <a:rPr lang="zh-CN" altLang="zh-CN" dirty="0"/>
              <a:t>作为全局函数</a:t>
            </a:r>
            <a:r>
              <a:rPr lang="zh-CN" altLang="en-US" dirty="0"/>
              <a:t>，也可以</a:t>
            </a:r>
            <a:r>
              <a:rPr lang="zh-CN" altLang="zh-CN" dirty="0"/>
              <a:t>作为成员函数来重载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zh-CN" dirty="0"/>
              <a:t>在有些情况下，操作符只能作为全局函数或只能作为成员函数来重载</a:t>
            </a:r>
            <a:r>
              <a:rPr lang="zh-CN" altLang="en-US" dirty="0"/>
              <a:t>！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F525271B-BAF0-FFD8-FDE3-4762ED31A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>
                <a:latin typeface="Times New Roman" pitchFamily="18" charset="0"/>
              </a:rPr>
              <a:t>操作符重载的基本原则</a:t>
            </a:r>
            <a:r>
              <a:rPr lang="zh-CN" altLang="en-US"/>
              <a:t> 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BEE2D9CF-0951-9AC2-759F-35536C4D2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752600"/>
            <a:ext cx="8064500" cy="49164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只能重载</a:t>
            </a:r>
            <a:r>
              <a:rPr lang="en-US" altLang="zh-CN" sz="2800" dirty="0"/>
              <a:t>C++</a:t>
            </a:r>
            <a:r>
              <a:rPr lang="zh-CN" altLang="en-US" sz="2800" dirty="0"/>
              <a:t>语言中</a:t>
            </a:r>
            <a:r>
              <a:rPr lang="zh-CN" altLang="en-US" sz="2800" dirty="0">
                <a:solidFill>
                  <a:schemeClr val="folHlink"/>
                </a:solidFill>
              </a:rPr>
              <a:t>已有的</a:t>
            </a:r>
            <a:r>
              <a:rPr lang="zh-CN" altLang="en-US" sz="2800" dirty="0"/>
              <a:t>操作符，</a:t>
            </a:r>
            <a:r>
              <a:rPr lang="zh-CN" altLang="en-US" sz="2800" dirty="0">
                <a:solidFill>
                  <a:srgbClr val="FFC000"/>
                </a:solidFill>
              </a:rPr>
              <a:t>不可臆造新的</a:t>
            </a:r>
            <a:r>
              <a:rPr lang="zh-CN" altLang="en-US" sz="2800" dirty="0"/>
              <a:t>操作符。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可以重载</a:t>
            </a:r>
            <a:r>
              <a:rPr lang="en-US" altLang="zh-CN" sz="2800" dirty="0"/>
              <a:t>C++</a:t>
            </a:r>
            <a:r>
              <a:rPr lang="zh-CN" altLang="en-US" sz="2800" dirty="0"/>
              <a:t>中除下列操作符外的所有操作符：</a:t>
            </a:r>
            <a:endParaRPr lang="en-US" altLang="zh-CN" sz="2800" dirty="0"/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>
                <a:solidFill>
                  <a:schemeClr val="folHlink"/>
                </a:solidFill>
              </a:rPr>
              <a:t>.</a:t>
            </a:r>
            <a:r>
              <a:rPr lang="zh-CN" altLang="en-US" sz="2400" dirty="0"/>
              <a:t> ”， </a:t>
            </a: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>
                <a:solidFill>
                  <a:schemeClr val="folHlink"/>
                </a:solidFill>
              </a:rPr>
              <a:t>.*</a:t>
            </a:r>
            <a:r>
              <a:rPr lang="zh-CN" altLang="en-US" sz="2400" dirty="0"/>
              <a:t> ”，</a:t>
            </a: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>
                <a:solidFill>
                  <a:schemeClr val="folHlink"/>
                </a:solidFill>
              </a:rPr>
              <a:t>?:</a:t>
            </a:r>
            <a:r>
              <a:rPr lang="zh-CN" altLang="en-US" sz="2400" dirty="0"/>
              <a:t> ”，</a:t>
            </a: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>
                <a:solidFill>
                  <a:schemeClr val="folHlink"/>
                </a:solidFill>
              </a:rPr>
              <a:t>::</a:t>
            </a:r>
            <a:r>
              <a:rPr lang="zh-CN" altLang="en-US" sz="2400" dirty="0"/>
              <a:t> ”，</a:t>
            </a: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 err="1">
                <a:solidFill>
                  <a:schemeClr val="folHlink"/>
                </a:solidFill>
              </a:rPr>
              <a:t>sizeof</a:t>
            </a:r>
            <a:r>
              <a:rPr lang="zh-CN" altLang="en-US" sz="2400" dirty="0"/>
              <a:t> ”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zh-CN" sz="2800" dirty="0"/>
              <a:t>遵循已有操作符的语法</a:t>
            </a:r>
            <a:r>
              <a:rPr lang="en-US" altLang="zh-CN" sz="2800" dirty="0"/>
              <a:t>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不能改变操作数个数。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不改变原操作符的优先级和结合性。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GB" sz="2800" dirty="0">
                <a:solidFill>
                  <a:srgbClr val="FFC000"/>
                </a:solidFill>
              </a:rPr>
              <a:t>尽量</a:t>
            </a:r>
            <a:r>
              <a:rPr lang="zh-CN" altLang="en-GB" sz="2800" dirty="0"/>
              <a:t>遵循已有操作符</a:t>
            </a:r>
            <a:r>
              <a:rPr lang="zh-CN" altLang="en-US" sz="2800" dirty="0"/>
              <a:t>原来</a:t>
            </a:r>
            <a:r>
              <a:rPr lang="zh-CN" altLang="en-GB" sz="2800" dirty="0"/>
              <a:t>的语义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语言本身没有对此做任何规定，使用者自己把握 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B7394E67-3554-1028-91A0-F8CFAFF46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9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/>
              <a:t>双目操作符重载</a:t>
            </a:r>
            <a:endParaRPr lang="zh-CN" altLang="en-US"/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08C05199-02C1-C093-6F75-19B8A9CCC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96975"/>
            <a:ext cx="8964613" cy="56610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800" dirty="0"/>
              <a:t>作为成员函数重载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US" sz="2400" dirty="0"/>
              <a:t>定义格式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class &lt;</a:t>
            </a:r>
            <a:r>
              <a:rPr lang="zh-CN" altLang="en-GB" sz="2000" dirty="0"/>
              <a:t>类名</a:t>
            </a:r>
            <a:r>
              <a:rPr lang="en-GB" altLang="zh-CN" sz="2000" dirty="0"/>
              <a:t>&gt;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	......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&lt;</a:t>
            </a:r>
            <a:r>
              <a:rPr lang="zh-CN" altLang="en-GB" sz="2000" dirty="0"/>
              <a:t>返回值类型</a:t>
            </a:r>
            <a:r>
              <a:rPr lang="en-GB" altLang="zh-CN" sz="2000" dirty="0"/>
              <a:t>&gt; </a:t>
            </a:r>
            <a:r>
              <a:rPr lang="en-GB" altLang="zh-CN" sz="2000" dirty="0">
                <a:solidFill>
                  <a:schemeClr val="folHlink"/>
                </a:solidFill>
              </a:rPr>
              <a:t>operator #</a:t>
            </a:r>
            <a:r>
              <a:rPr lang="en-GB" altLang="zh-CN" sz="2000" dirty="0"/>
              <a:t> (&lt;</a:t>
            </a:r>
            <a:r>
              <a:rPr lang="zh-CN" altLang="en-GB" sz="2000" dirty="0"/>
              <a:t>类型</a:t>
            </a:r>
            <a:r>
              <a:rPr lang="en-GB" altLang="zh-CN" sz="2000" dirty="0"/>
              <a:t>&gt;); //</a:t>
            </a:r>
            <a:r>
              <a:rPr lang="en-GB" altLang="zh-CN" sz="2000" dirty="0">
                <a:solidFill>
                  <a:schemeClr val="folHlink"/>
                </a:solidFill>
              </a:rPr>
              <a:t>#</a:t>
            </a:r>
            <a:r>
              <a:rPr lang="zh-CN" altLang="en-GB" sz="2000" dirty="0">
                <a:solidFill>
                  <a:schemeClr val="folHlink"/>
                </a:solidFill>
              </a:rPr>
              <a:t>代表可重载的操作符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&lt;</a:t>
            </a:r>
            <a:r>
              <a:rPr lang="zh-CN" altLang="en-GB" sz="2000" dirty="0"/>
              <a:t>返回值类型</a:t>
            </a:r>
            <a:r>
              <a:rPr lang="en-GB" altLang="zh-CN" sz="2000" dirty="0"/>
              <a:t>&gt; &lt;</a:t>
            </a:r>
            <a:r>
              <a:rPr lang="zh-CN" altLang="en-GB" sz="2000" dirty="0"/>
              <a:t>类名</a:t>
            </a:r>
            <a:r>
              <a:rPr lang="en-GB" altLang="zh-CN" sz="2000" dirty="0"/>
              <a:t>&gt;::</a:t>
            </a:r>
            <a:r>
              <a:rPr lang="en-GB" altLang="zh-CN" sz="2000" dirty="0">
                <a:solidFill>
                  <a:schemeClr val="folHlink"/>
                </a:solidFill>
              </a:rPr>
              <a:t>operator #</a:t>
            </a:r>
            <a:r>
              <a:rPr lang="en-GB" altLang="zh-CN" sz="2000" dirty="0"/>
              <a:t> (&lt;</a:t>
            </a:r>
            <a:r>
              <a:rPr lang="zh-CN" altLang="en-GB" sz="2000" dirty="0"/>
              <a:t>类型</a:t>
            </a:r>
            <a:r>
              <a:rPr lang="en-GB" altLang="zh-CN" sz="2000" dirty="0"/>
              <a:t>&gt; &lt;</a:t>
            </a:r>
            <a:r>
              <a:rPr lang="zh-CN" altLang="en-GB" sz="2000" dirty="0"/>
              <a:t>参数</a:t>
            </a:r>
            <a:r>
              <a:rPr lang="en-GB" altLang="zh-CN" sz="2000" dirty="0"/>
              <a:t>&gt;) { ...... }</a:t>
            </a:r>
          </a:p>
          <a:p>
            <a:pPr lvl="1" eaLnBrk="1" hangingPunct="1">
              <a:defRPr/>
            </a:pPr>
            <a:r>
              <a:rPr lang="zh-CN" altLang="en-US" sz="2400" dirty="0"/>
              <a:t>使用格式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&lt;</a:t>
            </a:r>
            <a:r>
              <a:rPr lang="zh-CN" altLang="en-GB" sz="2000" dirty="0"/>
              <a:t>类名</a:t>
            </a:r>
            <a:r>
              <a:rPr lang="en-GB" altLang="zh-CN" sz="2000" dirty="0"/>
              <a:t>&gt; a;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&lt;</a:t>
            </a:r>
            <a:r>
              <a:rPr lang="zh-CN" altLang="en-GB" sz="2000" dirty="0"/>
              <a:t>类型</a:t>
            </a:r>
            <a:r>
              <a:rPr lang="en-GB" altLang="zh-CN" sz="2000" dirty="0"/>
              <a:t>&gt; b;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>
                <a:solidFill>
                  <a:schemeClr val="folHlink"/>
                </a:solidFill>
              </a:rPr>
              <a:t>a # b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或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 err="1">
                <a:solidFill>
                  <a:schemeClr val="folHlink"/>
                </a:solidFill>
              </a:rPr>
              <a:t>a.operator</a:t>
            </a:r>
            <a:r>
              <a:rPr lang="en-GB" altLang="zh-CN" sz="2000" dirty="0">
                <a:solidFill>
                  <a:schemeClr val="folHlink"/>
                </a:solidFill>
              </a:rPr>
              <a:t>#(b)</a:t>
            </a:r>
            <a:endParaRPr lang="en-US" altLang="zh-CN" sz="20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B095B398-105E-2FBA-5D9C-CEE9F5C45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9144000" cy="7953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例、实现复数的“等于”和“不等于”操作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115DF4FC-BD73-2CB1-018C-F858AC6AD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1052513"/>
            <a:ext cx="8686800" cy="5545137"/>
          </a:xfrm>
        </p:spPr>
        <p:txBody>
          <a:bodyPr>
            <a:normAutofit lnSpcReduction="10000"/>
          </a:bodyPr>
          <a:lstStyle/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Complex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	double real, </a:t>
            </a:r>
            <a:r>
              <a:rPr lang="en-GB" altLang="zh-CN" sz="2400" dirty="0" err="1"/>
              <a:t>imag</a:t>
            </a:r>
            <a:r>
              <a:rPr lang="en-GB" altLang="zh-CN" sz="2400" dirty="0"/>
              <a:t>;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public: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......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bool operator ==(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x) </a:t>
            </a:r>
            <a:r>
              <a:rPr lang="en-GB" altLang="zh-CN" sz="2400" dirty="0" err="1"/>
              <a:t>const</a:t>
            </a:r>
            <a:endParaRPr lang="en-GB" altLang="zh-CN" sz="2400" dirty="0"/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{	return (real == </a:t>
            </a:r>
            <a:r>
              <a:rPr lang="en-GB" altLang="zh-CN" sz="2400" dirty="0" err="1"/>
              <a:t>x.real</a:t>
            </a:r>
            <a:r>
              <a:rPr lang="en-GB" altLang="zh-CN" sz="2400" dirty="0"/>
              <a:t>) &amp;&amp; (</a:t>
            </a:r>
            <a:r>
              <a:rPr lang="en-GB" altLang="zh-CN" sz="2400" dirty="0" err="1"/>
              <a:t>imag</a:t>
            </a:r>
            <a:r>
              <a:rPr lang="en-GB" altLang="zh-CN" sz="2400" dirty="0"/>
              <a:t> == </a:t>
            </a:r>
            <a:r>
              <a:rPr lang="en-GB" altLang="zh-CN" sz="2400" dirty="0" err="1"/>
              <a:t>x.imag</a:t>
            </a:r>
            <a:r>
              <a:rPr lang="en-GB" altLang="zh-CN" sz="2400" dirty="0"/>
              <a:t>);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}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bool operator !=(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x) </a:t>
            </a:r>
            <a:r>
              <a:rPr lang="en-GB" altLang="zh-CN" sz="2400" dirty="0" err="1"/>
              <a:t>const</a:t>
            </a:r>
            <a:endParaRPr lang="en-GB" altLang="zh-CN" sz="2400" dirty="0"/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{	return (real </a:t>
            </a:r>
            <a:r>
              <a:rPr lang="en-US" altLang="zh-CN" sz="2400" dirty="0"/>
              <a:t>!</a:t>
            </a:r>
            <a:r>
              <a:rPr lang="en-GB" altLang="zh-CN" sz="2400" dirty="0"/>
              <a:t>= </a:t>
            </a:r>
            <a:r>
              <a:rPr lang="en-GB" altLang="zh-CN" sz="2400" dirty="0" err="1"/>
              <a:t>x.real</a:t>
            </a:r>
            <a:r>
              <a:rPr lang="en-GB" altLang="zh-CN" sz="2400" dirty="0"/>
              <a:t>) || (</a:t>
            </a:r>
            <a:r>
              <a:rPr lang="en-GB" altLang="zh-CN" sz="2400" dirty="0" err="1"/>
              <a:t>imag</a:t>
            </a:r>
            <a:r>
              <a:rPr lang="en-GB" altLang="zh-CN" sz="2400" dirty="0"/>
              <a:t> != </a:t>
            </a:r>
            <a:r>
              <a:rPr lang="en-GB" altLang="zh-CN" sz="2400" dirty="0" err="1"/>
              <a:t>x.imag</a:t>
            </a:r>
            <a:r>
              <a:rPr lang="en-GB" altLang="zh-CN" sz="2400" dirty="0"/>
              <a:t>);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}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c1,c2;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 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if (c1 == c2) //</a:t>
            </a:r>
            <a:r>
              <a:rPr lang="zh-CN" altLang="en-GB" sz="2400" dirty="0"/>
              <a:t>或 </a:t>
            </a:r>
            <a:r>
              <a:rPr lang="en-GB" altLang="zh-CN" sz="2400" dirty="0"/>
              <a:t>if (c1 != c2)</a:t>
            </a:r>
          </a:p>
          <a:p>
            <a:pPr defTabSz="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  <a:endParaRPr lang="en-US" altLang="zh-C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1C149-F021-A8F3-5232-F26A583AC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357563"/>
            <a:ext cx="7956550" cy="979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49263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449263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449263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449263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449263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400"/>
              <a:t>bool operator !=(const Complex&amp; x) const </a:t>
            </a:r>
            <a:r>
              <a:rPr lang="en-GB" altLang="zh-CN" sz="2400">
                <a:solidFill>
                  <a:srgbClr val="FFC000"/>
                </a:solidFill>
              </a:rPr>
              <a:t>//</a:t>
            </a:r>
            <a:r>
              <a:rPr lang="zh-CN" altLang="en-US" sz="2400">
                <a:solidFill>
                  <a:srgbClr val="FFC000"/>
                </a:solidFill>
              </a:rPr>
              <a:t>更好！</a:t>
            </a:r>
            <a:endParaRPr lang="en-GB" altLang="zh-CN" sz="240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400"/>
              <a:t>{	return !(*this == x);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400"/>
              <a:t>}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E40DF15C-6825-099C-A9FB-6C9EB8650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双目操作符重载</a:t>
            </a:r>
            <a:r>
              <a:rPr lang="zh-CN" altLang="en-GB" sz="3600" dirty="0"/>
              <a:t>（续</a:t>
            </a:r>
            <a:r>
              <a:rPr lang="en-GB" altLang="zh-CN" sz="3600" dirty="0"/>
              <a:t>1</a:t>
            </a:r>
            <a:r>
              <a:rPr lang="zh-CN" altLang="en-GB" sz="3600" dirty="0"/>
              <a:t>）</a:t>
            </a:r>
            <a:endParaRPr lang="zh-CN" altLang="en-US" sz="3600" dirty="0"/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F520C890-B3B4-D68D-C542-D02222676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55451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dirty="0"/>
              <a:t>作为全局（友元）函数重载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GB" dirty="0"/>
              <a:t>定义格式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返回值类型</a:t>
            </a:r>
            <a:r>
              <a:rPr lang="en-GB" altLang="zh-CN" dirty="0"/>
              <a:t>&gt; </a:t>
            </a:r>
            <a:r>
              <a:rPr lang="en-GB" altLang="zh-CN" dirty="0">
                <a:solidFill>
                  <a:schemeClr val="folHlink"/>
                </a:solidFill>
              </a:rPr>
              <a:t>operator #</a:t>
            </a:r>
            <a:r>
              <a:rPr lang="en-GB" altLang="zh-CN" dirty="0"/>
              <a:t>(&lt;</a:t>
            </a:r>
            <a:r>
              <a:rPr lang="zh-CN" altLang="en-GB" dirty="0"/>
              <a:t>类型</a:t>
            </a:r>
            <a:r>
              <a:rPr lang="en-GB" altLang="zh-CN" dirty="0"/>
              <a:t>1&gt; &lt;</a:t>
            </a:r>
            <a:r>
              <a:rPr lang="zh-CN" altLang="en-GB" dirty="0"/>
              <a:t>参数</a:t>
            </a:r>
            <a:r>
              <a:rPr lang="en-GB" altLang="zh-CN" dirty="0"/>
              <a:t>1&gt;,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			         &lt;</a:t>
            </a:r>
            <a:r>
              <a:rPr lang="zh-CN" altLang="en-GB" dirty="0"/>
              <a:t>类型</a:t>
            </a:r>
            <a:r>
              <a:rPr lang="en-GB" altLang="zh-CN" dirty="0"/>
              <a:t>2&gt; &lt;</a:t>
            </a:r>
            <a:r>
              <a:rPr lang="zh-CN" altLang="en-GB" dirty="0"/>
              <a:t>参数</a:t>
            </a:r>
            <a:r>
              <a:rPr lang="en-GB" altLang="zh-CN" dirty="0"/>
              <a:t>2&gt;) 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{ </a:t>
            </a:r>
            <a:r>
              <a:rPr lang="en-GB" altLang="zh-CN" dirty="0">
                <a:latin typeface="Arial"/>
              </a:rPr>
              <a:t>…</a:t>
            </a:r>
            <a:r>
              <a:rPr lang="en-GB" altLang="zh-CN" dirty="0"/>
              <a:t>... }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1&gt;</a:t>
            </a:r>
            <a:r>
              <a:rPr lang="zh-CN" altLang="en-US" dirty="0"/>
              <a:t>和</a:t>
            </a: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2&gt;</a:t>
            </a:r>
            <a:r>
              <a:rPr lang="zh-CN" altLang="en-US" dirty="0"/>
              <a:t>中至少应该有一个是</a:t>
            </a:r>
            <a:r>
              <a:rPr lang="zh-CN" altLang="en-GB" dirty="0">
                <a:solidFill>
                  <a:schemeClr val="folHlink"/>
                </a:solidFill>
              </a:rPr>
              <a:t>类、结构、枚举</a:t>
            </a:r>
            <a:r>
              <a:rPr lang="zh-CN" altLang="en-US" dirty="0"/>
              <a:t>或</a:t>
            </a:r>
            <a:r>
              <a:rPr lang="zh-CN" altLang="en-GB" dirty="0">
                <a:solidFill>
                  <a:schemeClr val="folHlink"/>
                </a:solidFill>
              </a:rPr>
              <a:t>它们的引用类型</a:t>
            </a:r>
            <a:r>
              <a:rPr lang="zh-CN" altLang="en-US" dirty="0"/>
              <a:t>。</a:t>
            </a:r>
            <a:endParaRPr lang="en-GB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GB" dirty="0"/>
              <a:t>使用格式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1&gt; a;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2&gt; b;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chemeClr val="folHlink"/>
                </a:solidFill>
              </a:rPr>
              <a:t>a # b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GB" dirty="0"/>
              <a:t>或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chemeClr val="folHlink"/>
                </a:solidFill>
              </a:rPr>
              <a:t>operator#(</a:t>
            </a:r>
            <a:r>
              <a:rPr lang="en-GB" altLang="zh-CN" dirty="0" err="1">
                <a:solidFill>
                  <a:schemeClr val="folHlink"/>
                </a:solidFill>
              </a:rPr>
              <a:t>a,b</a:t>
            </a:r>
            <a:r>
              <a:rPr lang="en-GB" altLang="zh-CN" dirty="0">
                <a:solidFill>
                  <a:schemeClr val="folHlink"/>
                </a:solidFill>
              </a:rPr>
              <a:t>)</a:t>
            </a:r>
            <a:endParaRPr lang="en-US" altLang="zh-CN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0FEC971B-0949-4E17-DB5B-A697F48E0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marL="806450" indent="-806450" algn="l" eaLnBrk="1" hangingPunct="1">
              <a:defRPr/>
            </a:pPr>
            <a:r>
              <a:rPr lang="zh-CN" altLang="en-GB" sz="3200"/>
              <a:t>例：重载操作符</a:t>
            </a:r>
            <a:r>
              <a:rPr lang="en-GB" altLang="zh-CN" sz="3200"/>
              <a:t>+</a:t>
            </a:r>
            <a:r>
              <a:rPr lang="zh-CN" altLang="en-GB" sz="3200"/>
              <a:t>，使其能够实现实数与复数的混合运算。</a:t>
            </a:r>
            <a:r>
              <a:rPr lang="zh-CN" altLang="en-US" sz="4000"/>
              <a:t> 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50DE6AAD-0761-DBBC-1C79-357F15B5F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600200"/>
            <a:ext cx="8893175" cy="4997450"/>
          </a:xfrm>
        </p:spPr>
        <p:txBody>
          <a:bodyPr/>
          <a:lstStyle/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class Complex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{		double real, imag;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public: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	Complex() { real = 0; imag = 0; }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	Complex(double r, double i) { real = r; imag = i; }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	......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friend Complex operator + (const Complex&amp; c1, 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						    const Complex&amp; c2);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friend Complex operator + (const Complex&amp; c, 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 							    double d);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friend Complex operator + (double d, 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						    const Complex&amp; c);</a:t>
            </a:r>
          </a:p>
          <a:p>
            <a:pPr defTabSz="71278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};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Rectangle 3">
            <a:extLst>
              <a:ext uri="{FF2B5EF4-FFF2-40B4-BE49-F238E27FC236}">
                <a16:creationId xmlns:a16="http://schemas.microsoft.com/office/drawing/2014/main" id="{67A90E54-8FC4-FA16-5B45-610481D87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38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operator + 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c1,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		     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c2)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return Complex(c1.real+c2.real,c1.imag+c2.imag);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operator + 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c, double 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return Complex(</a:t>
            </a:r>
            <a:r>
              <a:rPr lang="en-GB" altLang="zh-CN" sz="2400" dirty="0" err="1"/>
              <a:t>c.real+d,c.imag</a:t>
            </a:r>
            <a:r>
              <a:rPr lang="en-GB" altLang="zh-CN" sz="240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operator + (double d,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Complex&amp; c)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solidFill>
                  <a:schemeClr val="folHlink"/>
                </a:solidFill>
              </a:rPr>
              <a:t>//</a:t>
            </a:r>
            <a:r>
              <a:rPr lang="zh-CN" altLang="en-US" sz="2400" dirty="0">
                <a:solidFill>
                  <a:schemeClr val="folHlink"/>
                </a:solidFill>
              </a:rPr>
              <a:t>“实数</a:t>
            </a:r>
            <a:r>
              <a:rPr lang="en-US" altLang="zh-CN" sz="2400" dirty="0">
                <a:solidFill>
                  <a:schemeClr val="folHlink"/>
                </a:solidFill>
              </a:rPr>
              <a:t>+</a:t>
            </a:r>
            <a:r>
              <a:rPr lang="zh-CN" altLang="en-US" sz="2400" dirty="0">
                <a:solidFill>
                  <a:schemeClr val="folHlink"/>
                </a:solidFill>
              </a:rPr>
              <a:t>复数”</a:t>
            </a:r>
            <a:r>
              <a:rPr lang="zh-CN" altLang="en-GB" sz="2400" dirty="0">
                <a:solidFill>
                  <a:schemeClr val="folHlink"/>
                </a:solidFill>
              </a:rPr>
              <a:t>只能作为全局函数重载。为什么？</a:t>
            </a:r>
            <a:endParaRPr lang="en-GB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return Complex(</a:t>
            </a:r>
            <a:r>
              <a:rPr lang="en-GB" altLang="zh-CN" sz="2400" dirty="0" err="1"/>
              <a:t>d+c.real,c.imag</a:t>
            </a:r>
            <a:r>
              <a:rPr lang="en-GB" altLang="zh-CN" sz="240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a(1,2),b(3,4),c1,c2,c3;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c1 = a +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c2 = b + 21.5;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c3 = 10.2 + a;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3" name="Rectangle 3">
            <a:extLst>
              <a:ext uri="{FF2B5EF4-FFF2-40B4-BE49-F238E27FC236}">
                <a16:creationId xmlns:a16="http://schemas.microsoft.com/office/drawing/2014/main" id="{55DBAC15-E5C9-87A3-AD81-B07D75F3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081088"/>
            <a:ext cx="8532812" cy="56610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作为成员函数重载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定义格式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class &lt;</a:t>
            </a:r>
            <a:r>
              <a:rPr lang="zh-CN" altLang="en-GB" dirty="0"/>
              <a:t>类名</a:t>
            </a:r>
            <a:r>
              <a:rPr lang="en-GB" altLang="zh-CN" dirty="0"/>
              <a:t>&gt;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{	......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&lt;</a:t>
            </a:r>
            <a:r>
              <a:rPr lang="zh-CN" altLang="en-GB" dirty="0"/>
              <a:t>返回值类型</a:t>
            </a:r>
            <a:r>
              <a:rPr lang="en-GB" altLang="zh-CN" dirty="0"/>
              <a:t>&gt; </a:t>
            </a:r>
            <a:r>
              <a:rPr lang="en-GB" altLang="zh-CN" dirty="0">
                <a:solidFill>
                  <a:schemeClr val="folHlink"/>
                </a:solidFill>
              </a:rPr>
              <a:t>operator #</a:t>
            </a:r>
            <a:r>
              <a:rPr lang="en-GB" altLang="zh-CN" dirty="0"/>
              <a:t> (); 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};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返回值类型</a:t>
            </a:r>
            <a:r>
              <a:rPr lang="en-GB" altLang="zh-CN" dirty="0"/>
              <a:t>&gt; &lt;</a:t>
            </a:r>
            <a:r>
              <a:rPr lang="zh-CN" altLang="en-GB" dirty="0"/>
              <a:t>类名</a:t>
            </a:r>
            <a:r>
              <a:rPr lang="en-GB" altLang="zh-CN" dirty="0"/>
              <a:t>&gt;::</a:t>
            </a:r>
            <a:r>
              <a:rPr lang="en-GB" altLang="zh-CN" dirty="0">
                <a:solidFill>
                  <a:schemeClr val="folHlink"/>
                </a:solidFill>
              </a:rPr>
              <a:t>operator #</a:t>
            </a:r>
            <a:r>
              <a:rPr lang="en-GB" altLang="zh-CN" dirty="0"/>
              <a:t> () { ...... }</a:t>
            </a:r>
          </a:p>
          <a:p>
            <a:pPr lvl="1" eaLnBrk="1" hangingPunct="1">
              <a:defRPr/>
            </a:pPr>
            <a:r>
              <a:rPr lang="zh-CN" altLang="en-US" dirty="0"/>
              <a:t>使用格式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类名</a:t>
            </a:r>
            <a:r>
              <a:rPr lang="en-GB" altLang="zh-CN" dirty="0"/>
              <a:t>&gt; a;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rgbClr val="FFC000"/>
                </a:solidFill>
              </a:rPr>
              <a:t>#a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zh-CN" altLang="en-GB" dirty="0"/>
              <a:t>或，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 err="1">
                <a:solidFill>
                  <a:srgbClr val="FFC000"/>
                </a:solidFill>
              </a:rPr>
              <a:t>a.operator</a:t>
            </a:r>
            <a:r>
              <a:rPr lang="en-GB" altLang="zh-CN" dirty="0">
                <a:solidFill>
                  <a:srgbClr val="FFC000"/>
                </a:solidFill>
              </a:rPr>
              <a:t>#()</a:t>
            </a:r>
            <a:endParaRPr lang="en-US" altLang="zh-CN" dirty="0">
              <a:solidFill>
                <a:srgbClr val="FFC000"/>
              </a:solidFill>
            </a:endParaRPr>
          </a:p>
        </p:txBody>
      </p:sp>
      <p:sp>
        <p:nvSpPr>
          <p:cNvPr id="386048" name="Rectangle 0">
            <a:extLst>
              <a:ext uri="{FF2B5EF4-FFF2-40B4-BE49-F238E27FC236}">
                <a16:creationId xmlns:a16="http://schemas.microsoft.com/office/drawing/2014/main" id="{C9650A5C-E67B-3340-9CC6-954AEA4DD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9162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GB" sz="4000"/>
              <a:t>单目操作符重载</a:t>
            </a:r>
            <a:endParaRPr lang="zh-CN" altLang="en-US" sz="4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F16EEDA1-835B-7DE0-A93D-A0D875EF3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例：实现复数的取负操作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B78D817-F9D7-0D76-AC94-6D0FF583C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327650"/>
          </a:xfrm>
        </p:spPr>
        <p:txBody>
          <a:bodyPr>
            <a:normAutofit lnSpcReduction="10000"/>
          </a:bodyPr>
          <a:lstStyle/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Complex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public: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Complex operator -() </a:t>
            </a:r>
            <a:r>
              <a:rPr lang="en-GB" altLang="zh-CN" sz="2400" dirty="0" err="1"/>
              <a:t>const</a:t>
            </a:r>
            <a:endParaRPr lang="en-GB" altLang="zh-CN" sz="2400" dirty="0"/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{	Complex temp;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	temp .real = -real;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	</a:t>
            </a:r>
            <a:r>
              <a:rPr lang="en-GB" altLang="zh-CN" sz="2400" dirty="0" err="1"/>
              <a:t>temp.imag</a:t>
            </a:r>
            <a:r>
              <a:rPr lang="en-GB" altLang="zh-CN" sz="2400" dirty="0"/>
              <a:t> = -</a:t>
            </a:r>
            <a:r>
              <a:rPr lang="en-GB" altLang="zh-CN" sz="2400" dirty="0" err="1"/>
              <a:t>imag</a:t>
            </a:r>
            <a:r>
              <a:rPr lang="en-GB" altLang="zh-CN" sz="2400" dirty="0"/>
              <a:t>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	return temp;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}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Complex a(1,2),b;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b = -a;  //</a:t>
            </a:r>
            <a:r>
              <a:rPr lang="zh-CN" altLang="en-GB" sz="2400" dirty="0"/>
              <a:t>把</a:t>
            </a:r>
            <a:r>
              <a:rPr lang="en-GB" altLang="zh-CN" sz="2400" dirty="0"/>
              <a:t>b</a:t>
            </a:r>
            <a:r>
              <a:rPr lang="zh-CN" altLang="en-GB" sz="2400" dirty="0"/>
              <a:t>修改成</a:t>
            </a:r>
            <a:r>
              <a:rPr lang="en-GB" altLang="zh-CN" sz="2400" dirty="0"/>
              <a:t>a</a:t>
            </a:r>
            <a:r>
              <a:rPr lang="zh-CN" altLang="en-GB" sz="2400" dirty="0"/>
              <a:t>的负数。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56EE2155-EFA9-83B5-7172-197F94EE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" y="188913"/>
            <a:ext cx="86868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单目操作符重载</a:t>
            </a:r>
            <a:r>
              <a:rPr lang="zh-CN" altLang="en-GB" sz="3600"/>
              <a:t>（续</a:t>
            </a:r>
            <a:r>
              <a:rPr lang="en-GB" altLang="zh-CN" sz="3600"/>
              <a:t>1</a:t>
            </a:r>
            <a:r>
              <a:rPr lang="zh-CN" altLang="en-GB" sz="3600"/>
              <a:t>）</a:t>
            </a:r>
            <a:endParaRPr lang="zh-CN" altLang="en-US" sz="3600"/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A2443807-FE8C-4460-6980-4FF69C1B43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5895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作为全局（友元）函数重载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GB" dirty="0"/>
              <a:t>定义格式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返回值类型</a:t>
            </a:r>
            <a:r>
              <a:rPr lang="en-GB" altLang="zh-CN" dirty="0"/>
              <a:t>&gt; </a:t>
            </a:r>
            <a:r>
              <a:rPr lang="en-GB" altLang="zh-CN" dirty="0">
                <a:solidFill>
                  <a:schemeClr val="folHlink"/>
                </a:solidFill>
              </a:rPr>
              <a:t>operator #</a:t>
            </a:r>
            <a:r>
              <a:rPr lang="en-GB" altLang="zh-CN" dirty="0"/>
              <a:t>(&lt;</a:t>
            </a:r>
            <a:r>
              <a:rPr lang="zh-CN" altLang="en-GB" dirty="0"/>
              <a:t>类型</a:t>
            </a:r>
            <a:r>
              <a:rPr lang="en-GB" altLang="zh-CN" dirty="0"/>
              <a:t>&gt; &lt;</a:t>
            </a:r>
            <a:r>
              <a:rPr lang="zh-CN" altLang="en-GB" dirty="0"/>
              <a:t>参数</a:t>
            </a:r>
            <a:r>
              <a:rPr lang="en-GB" altLang="zh-CN" dirty="0"/>
              <a:t>&gt;) { </a:t>
            </a:r>
            <a:r>
              <a:rPr lang="en-GB" altLang="zh-CN" dirty="0">
                <a:latin typeface="Arial"/>
              </a:rPr>
              <a:t>…</a:t>
            </a:r>
            <a:r>
              <a:rPr lang="en-GB" altLang="zh-CN" dirty="0"/>
              <a:t>... }</a:t>
            </a:r>
          </a:p>
          <a:p>
            <a:pPr lvl="2" eaLnBrk="1" hangingPunct="1"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&gt;</a:t>
            </a:r>
            <a:r>
              <a:rPr lang="zh-CN" altLang="en-US" dirty="0"/>
              <a:t>必须是</a:t>
            </a:r>
            <a:r>
              <a:rPr lang="zh-CN" altLang="en-GB" dirty="0">
                <a:solidFill>
                  <a:schemeClr val="folHlink"/>
                </a:solidFill>
              </a:rPr>
              <a:t>类、结构、枚举</a:t>
            </a:r>
            <a:r>
              <a:rPr lang="zh-CN" altLang="en-US" dirty="0"/>
              <a:t>或</a:t>
            </a:r>
            <a:r>
              <a:rPr lang="zh-CN" altLang="en-GB" dirty="0">
                <a:solidFill>
                  <a:schemeClr val="folHlink"/>
                </a:solidFill>
              </a:rPr>
              <a:t>它们的引用类型</a:t>
            </a:r>
            <a:r>
              <a:rPr lang="zh-CN" altLang="en-US" dirty="0"/>
              <a:t>。</a:t>
            </a:r>
            <a:endParaRPr lang="en-GB" altLang="zh-CN" dirty="0"/>
          </a:p>
          <a:p>
            <a:pPr lvl="1" eaLnBrk="1" hangingPunct="1">
              <a:defRPr/>
            </a:pPr>
            <a:r>
              <a:rPr lang="zh-CN" altLang="en-GB" dirty="0"/>
              <a:t>使用格式为：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&gt; a;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chemeClr val="folHlink"/>
                </a:solidFill>
              </a:rPr>
              <a:t>#a</a:t>
            </a:r>
            <a:endParaRPr lang="zh-CN" altLang="en-GB" dirty="0">
              <a:solidFill>
                <a:schemeClr val="folHlink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zh-CN" altLang="en-GB" dirty="0"/>
              <a:t>或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chemeClr val="folHlink"/>
                </a:solidFill>
              </a:rPr>
              <a:t>operator#(a)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4EA34-37A9-F74B-175B-852E7728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例：实现判断复数为“零”的操作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518F8E-F574-D1E9-DA4A-62060C84A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852987"/>
          </a:xfrm>
        </p:spPr>
        <p:txBody>
          <a:bodyPr>
            <a:normAutofit fontScale="70000" lnSpcReduction="20000"/>
          </a:bodyPr>
          <a:lstStyle/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class Complex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{	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public: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	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	</a:t>
            </a:r>
            <a:r>
              <a:rPr lang="en-US" altLang="zh-CN" dirty="0"/>
              <a:t>friend bool operator !(</a:t>
            </a:r>
            <a:r>
              <a:rPr lang="en-US" altLang="zh-CN" dirty="0" err="1"/>
              <a:t>const</a:t>
            </a:r>
            <a:r>
              <a:rPr lang="en-US" altLang="zh-CN" dirty="0"/>
              <a:t> Complex &amp;c);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};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bool operator !(</a:t>
            </a:r>
            <a:r>
              <a:rPr lang="en-US" altLang="zh-CN" dirty="0" err="1"/>
              <a:t>const</a:t>
            </a:r>
            <a:r>
              <a:rPr lang="en-US" altLang="zh-CN" dirty="0"/>
              <a:t> Complex &amp;c)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	return (</a:t>
            </a:r>
            <a:r>
              <a:rPr lang="en-US" altLang="zh-CN" dirty="0" err="1"/>
              <a:t>c.real</a:t>
            </a:r>
            <a:r>
              <a:rPr lang="en-US" altLang="zh-CN" dirty="0"/>
              <a:t> == 0.0) &amp;&amp; (</a:t>
            </a:r>
            <a:r>
              <a:rPr lang="en-US" altLang="zh-CN" dirty="0" err="1"/>
              <a:t>c.imag</a:t>
            </a:r>
            <a:r>
              <a:rPr lang="en-US" altLang="zh-CN" dirty="0"/>
              <a:t> == 0.0);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GB" altLang="zh-CN" dirty="0"/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Complex a(1,2);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if (!a) </a:t>
            </a:r>
            <a:r>
              <a:rPr lang="en-US" altLang="zh-CN" dirty="0"/>
              <a:t>//a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endParaRPr lang="en-GB" altLang="zh-CN" dirty="0"/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  ......</a:t>
            </a:r>
          </a:p>
          <a:p>
            <a:pPr defTabSz="4492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......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9115FD48-5A44-DD07-AF15-DE94555AB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操作符</a:t>
            </a:r>
            <a:r>
              <a:rPr lang="en-GB" altLang="zh-CN" dirty="0"/>
              <a:t>++</a:t>
            </a:r>
            <a:r>
              <a:rPr lang="zh-CN" altLang="en-GB" dirty="0"/>
              <a:t>和</a:t>
            </a:r>
            <a:r>
              <a:rPr lang="en-GB" altLang="zh-CN" dirty="0"/>
              <a:t>--</a:t>
            </a:r>
            <a:r>
              <a:rPr lang="zh-CN" altLang="en-US" dirty="0"/>
              <a:t>的重载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95EB3208-6D17-1B0F-189A-3A844C545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37600" cy="5068888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单目</a:t>
            </a:r>
            <a:r>
              <a:rPr lang="zh-CN" altLang="en-GB" dirty="0"/>
              <a:t>操作符</a:t>
            </a:r>
            <a:r>
              <a:rPr lang="en-GB" altLang="zh-CN" dirty="0"/>
              <a:t>++</a:t>
            </a:r>
            <a:r>
              <a:rPr lang="zh-CN" altLang="en-GB" dirty="0"/>
              <a:t>（</a:t>
            </a:r>
            <a:r>
              <a:rPr lang="en-GB" altLang="zh-CN" dirty="0"/>
              <a:t>--</a:t>
            </a:r>
            <a:r>
              <a:rPr lang="zh-CN" altLang="en-GB" dirty="0"/>
              <a:t>）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++x;</a:t>
            </a:r>
            <a:r>
              <a:rPr lang="zh-CN" altLang="en-US" dirty="0"/>
              <a:t>或</a:t>
            </a:r>
            <a:r>
              <a:rPr lang="en-US" altLang="zh-CN" dirty="0"/>
              <a:t> x++; //x</a:t>
            </a:r>
            <a:r>
              <a:rPr lang="zh-CN" altLang="en-US" dirty="0"/>
              <a:t>的值加</a:t>
            </a:r>
            <a:r>
              <a:rPr lang="en-US" altLang="zh-CN" dirty="0"/>
              <a:t>1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x = 0; y = ++x; //x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x = 0; y = x++; //x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的值为</a:t>
            </a:r>
            <a:r>
              <a:rPr lang="en-US" altLang="zh-CN" dirty="0"/>
              <a:t>0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++(</a:t>
            </a:r>
            <a:r>
              <a:rPr lang="en-US" altLang="zh-CN" dirty="0">
                <a:solidFill>
                  <a:srgbClr val="FFC000"/>
                </a:solidFill>
              </a:rPr>
              <a:t>++x</a:t>
            </a:r>
            <a:r>
              <a:rPr lang="en-US" altLang="zh-CN" dirty="0"/>
              <a:t>);</a:t>
            </a:r>
            <a:r>
              <a:rPr lang="zh-CN" altLang="en-US" dirty="0"/>
              <a:t>或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FFC000"/>
                </a:solidFill>
              </a:rPr>
              <a:t>++x</a:t>
            </a:r>
            <a:r>
              <a:rPr lang="en-US" altLang="zh-CN" dirty="0"/>
              <a:t>)++; //</a:t>
            </a:r>
            <a:r>
              <a:rPr lang="en-US" altLang="zh-CN" dirty="0">
                <a:solidFill>
                  <a:srgbClr val="FFC000"/>
                </a:solidFill>
              </a:rPr>
              <a:t>?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++(</a:t>
            </a:r>
            <a:r>
              <a:rPr lang="en-US" altLang="zh-CN" dirty="0">
                <a:solidFill>
                  <a:srgbClr val="FFC000"/>
                </a:solidFill>
              </a:rPr>
              <a:t>x++</a:t>
            </a:r>
            <a:r>
              <a:rPr lang="en-US" altLang="zh-CN" dirty="0"/>
              <a:t>);</a:t>
            </a:r>
            <a:r>
              <a:rPr lang="zh-CN" altLang="en-US" dirty="0"/>
              <a:t>或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FFC000"/>
                </a:solidFill>
              </a:rPr>
              <a:t>x++</a:t>
            </a:r>
            <a:r>
              <a:rPr lang="en-US" altLang="zh-CN" dirty="0"/>
              <a:t>)++; //</a:t>
            </a:r>
            <a:r>
              <a:rPr lang="en-US" altLang="zh-CN" dirty="0">
                <a:solidFill>
                  <a:srgbClr val="FFC000"/>
                </a:solidFill>
              </a:rPr>
              <a:t>?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重载</a:t>
            </a:r>
            <a:r>
              <a:rPr lang="en-GB" altLang="zh-CN" dirty="0"/>
              <a:t>++</a:t>
            </a:r>
            <a:r>
              <a:rPr lang="zh-CN" altLang="en-GB" dirty="0"/>
              <a:t>（</a:t>
            </a:r>
            <a:r>
              <a:rPr lang="en-GB" altLang="zh-CN" dirty="0"/>
              <a:t>--</a:t>
            </a:r>
            <a:r>
              <a:rPr lang="zh-CN" altLang="en-GB" dirty="0"/>
              <a:t>）</a:t>
            </a:r>
            <a:r>
              <a:rPr lang="zh-CN" altLang="en-US" dirty="0"/>
              <a:t>时，如果没有特殊处理，它们的后置用法和前置用法共用同一个重载函数。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为了能够区分</a:t>
            </a:r>
            <a:r>
              <a:rPr lang="en-US" altLang="zh-CN" dirty="0"/>
              <a:t>++</a:t>
            </a:r>
            <a:r>
              <a:rPr lang="zh-CN" altLang="en-US" dirty="0"/>
              <a:t>（</a:t>
            </a:r>
            <a:r>
              <a:rPr lang="en-US" altLang="zh-CN" dirty="0"/>
              <a:t>--</a:t>
            </a:r>
            <a:r>
              <a:rPr lang="zh-CN" altLang="en-US" dirty="0"/>
              <a:t>）的前置与后置用法，可为它们再写一个重载函数用于实现它们的后置用法，该重载函数应有一个</a:t>
            </a:r>
            <a:r>
              <a:rPr lang="en-US" altLang="zh-CN" dirty="0" err="1"/>
              <a:t>int</a:t>
            </a:r>
            <a:r>
              <a:rPr lang="zh-CN" altLang="en-US" dirty="0"/>
              <a:t>型参数（函数体中可以不使用该参数的值）。</a:t>
            </a:r>
            <a:endParaRPr lang="en-US" altLang="zh-CN" sz="3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CF138-09CD-8C11-1377-78013FBFD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892550"/>
            <a:ext cx="3197225" cy="4000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Error</a:t>
            </a:r>
            <a:r>
              <a:rPr lang="zh-CN" altLang="en-US" sz="2000"/>
              <a:t>。</a:t>
            </a:r>
            <a:r>
              <a:rPr lang="en-US" altLang="zh-CN" sz="2000"/>
              <a:t>x++</a:t>
            </a:r>
            <a:r>
              <a:rPr lang="zh-CN" altLang="en-US" sz="2000"/>
              <a:t>为</a:t>
            </a:r>
            <a:r>
              <a:rPr lang="zh-CN" altLang="en-US" sz="2000">
                <a:solidFill>
                  <a:srgbClr val="FFC000"/>
                </a:solidFill>
              </a:rPr>
              <a:t>右值表达式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76E2B-5DB2-ABB9-6B8E-772231A51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500438"/>
            <a:ext cx="4273550" cy="4000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OK</a:t>
            </a:r>
            <a:r>
              <a:rPr lang="zh-CN" altLang="en-US" sz="2000"/>
              <a:t>，</a:t>
            </a:r>
            <a:r>
              <a:rPr lang="en-US" altLang="zh-CN" sz="2000"/>
              <a:t>x</a:t>
            </a:r>
            <a:r>
              <a:rPr lang="zh-CN" altLang="en-US" sz="2000"/>
              <a:t>的值加</a:t>
            </a:r>
            <a:r>
              <a:rPr lang="en-US" altLang="zh-CN" sz="2000"/>
              <a:t>2</a:t>
            </a:r>
            <a:r>
              <a:rPr lang="zh-CN" altLang="en-US" sz="2000"/>
              <a:t>。</a:t>
            </a:r>
            <a:r>
              <a:rPr lang="en-US" altLang="zh-CN" sz="2000"/>
              <a:t>++x</a:t>
            </a:r>
            <a:r>
              <a:rPr lang="zh-CN" altLang="en-US" sz="2000"/>
              <a:t>为</a:t>
            </a:r>
            <a:r>
              <a:rPr lang="zh-CN" altLang="en-US" sz="2000">
                <a:solidFill>
                  <a:srgbClr val="FFC000"/>
                </a:solidFill>
              </a:rPr>
              <a:t>左值表达式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5" name="Rectangle 3">
            <a:extLst>
              <a:ext uri="{FF2B5EF4-FFF2-40B4-BE49-F238E27FC236}">
                <a16:creationId xmlns:a16="http://schemas.microsoft.com/office/drawing/2014/main" id="{7B906CCF-75C0-C03D-9847-17AAD2905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71438"/>
            <a:ext cx="8937625" cy="6742112"/>
          </a:xfrm>
        </p:spPr>
        <p:txBody>
          <a:bodyPr>
            <a:normAutofit lnSpcReduction="10000"/>
          </a:bodyPr>
          <a:lstStyle/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class Counter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{		</a:t>
            </a:r>
            <a:r>
              <a:rPr lang="en-GB" altLang="zh-CN" sz="2200" dirty="0" err="1"/>
              <a:t>int</a:t>
            </a:r>
            <a:r>
              <a:rPr lang="en-GB" altLang="zh-CN" sz="2200" dirty="0"/>
              <a:t> value;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public: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Counter() { value = 0; }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</a:t>
            </a:r>
            <a:r>
              <a:rPr lang="en-GB" altLang="zh-CN" sz="2200" dirty="0">
                <a:solidFill>
                  <a:schemeClr val="folHlink"/>
                </a:solidFill>
              </a:rPr>
              <a:t>Counter&amp;</a:t>
            </a:r>
            <a:r>
              <a:rPr lang="en-GB" altLang="zh-CN" sz="2200" dirty="0"/>
              <a:t> operator ++()  //</a:t>
            </a:r>
            <a:r>
              <a:rPr lang="zh-CN" altLang="en-GB" sz="2200" dirty="0"/>
              <a:t>前置的</a:t>
            </a:r>
            <a:r>
              <a:rPr lang="en-GB" altLang="zh-CN" sz="2200" dirty="0"/>
              <a:t>++</a:t>
            </a:r>
            <a:r>
              <a:rPr lang="zh-CN" altLang="en-GB" sz="2200" dirty="0"/>
              <a:t>重载函数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200" dirty="0"/>
              <a:t>		</a:t>
            </a:r>
            <a:r>
              <a:rPr lang="en-GB" altLang="zh-CN" sz="2200" dirty="0"/>
              <a:t>{	value++;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	return *this;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}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</a:t>
            </a:r>
            <a:r>
              <a:rPr lang="en-GB" altLang="zh-CN" sz="2200" dirty="0" err="1">
                <a:solidFill>
                  <a:srgbClr val="FF0000"/>
                </a:solidFill>
              </a:rPr>
              <a:t>const</a:t>
            </a:r>
            <a:r>
              <a:rPr lang="en-GB" altLang="zh-CN" sz="2200" dirty="0">
                <a:solidFill>
                  <a:schemeClr val="folHlink"/>
                </a:solidFill>
              </a:rPr>
              <a:t> Counter</a:t>
            </a:r>
            <a:r>
              <a:rPr lang="en-GB" altLang="zh-CN" sz="2200" dirty="0"/>
              <a:t> operator ++(</a:t>
            </a:r>
            <a:r>
              <a:rPr lang="en-GB" altLang="zh-CN" sz="2200" dirty="0" err="1">
                <a:solidFill>
                  <a:srgbClr val="FFC000"/>
                </a:solidFill>
              </a:rPr>
              <a:t>int</a:t>
            </a:r>
            <a:r>
              <a:rPr lang="en-GB" altLang="zh-CN" sz="2200" dirty="0"/>
              <a:t>)  //</a:t>
            </a:r>
            <a:r>
              <a:rPr lang="zh-CN" altLang="en-GB" sz="2200" dirty="0"/>
              <a:t>后置的</a:t>
            </a:r>
            <a:r>
              <a:rPr lang="en-GB" altLang="zh-CN" sz="2200" dirty="0"/>
              <a:t>++</a:t>
            </a:r>
            <a:r>
              <a:rPr lang="zh-CN" altLang="en-GB" sz="2200" dirty="0"/>
              <a:t>重载函数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200" dirty="0"/>
              <a:t>		</a:t>
            </a:r>
            <a:r>
              <a:rPr lang="en-GB" altLang="zh-CN" sz="2200" dirty="0"/>
              <a:t>{	Counter temp=*this; //</a:t>
            </a:r>
            <a:r>
              <a:rPr lang="zh-CN" altLang="en-GB" sz="2200" dirty="0"/>
              <a:t>保存原来的对象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	value++; //</a:t>
            </a:r>
            <a:r>
              <a:rPr lang="zh-CN" altLang="en-US" sz="2200" dirty="0"/>
              <a:t>写成：</a:t>
            </a:r>
            <a:r>
              <a:rPr lang="en-GB" altLang="zh-CN" sz="2200" dirty="0"/>
              <a:t>++(*this);</a:t>
            </a:r>
            <a:r>
              <a:rPr lang="zh-CN" altLang="en-US" sz="2200" dirty="0"/>
              <a:t>更好！</a:t>
            </a:r>
            <a:r>
              <a:rPr lang="zh-CN" altLang="en-GB" sz="2200" dirty="0"/>
              <a:t>调用前置的</a:t>
            </a:r>
            <a:r>
              <a:rPr lang="en-GB" altLang="zh-CN" sz="2200" dirty="0"/>
              <a:t>++</a:t>
            </a:r>
            <a:r>
              <a:rPr lang="zh-CN" altLang="en-GB" sz="2200" dirty="0"/>
              <a:t>重载函数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200" dirty="0"/>
              <a:t>			</a:t>
            </a:r>
            <a:r>
              <a:rPr lang="en-GB" altLang="zh-CN" sz="2200" dirty="0"/>
              <a:t>return temp; //</a:t>
            </a:r>
            <a:r>
              <a:rPr lang="zh-CN" altLang="en-GB" sz="2200" dirty="0"/>
              <a:t>返回原来的对象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		}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};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.....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Counter </a:t>
            </a:r>
            <a:r>
              <a:rPr lang="en-GB" altLang="zh-CN" sz="2200" dirty="0" err="1"/>
              <a:t>a,b,c</a:t>
            </a:r>
            <a:r>
              <a:rPr lang="en-GB" altLang="zh-CN" sz="2200" dirty="0"/>
              <a:t>;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++a;  //</a:t>
            </a:r>
            <a:r>
              <a:rPr lang="zh-CN" altLang="en-GB" sz="2200" dirty="0"/>
              <a:t>使用的是不带参数的操作符</a:t>
            </a:r>
            <a:r>
              <a:rPr lang="en-GB" altLang="zh-CN" sz="2200" dirty="0"/>
              <a:t>++</a:t>
            </a:r>
            <a:r>
              <a:rPr lang="zh-CN" altLang="en-GB" sz="2200" dirty="0"/>
              <a:t>重载函数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a++;  //</a:t>
            </a:r>
            <a:r>
              <a:rPr lang="zh-CN" altLang="en-GB" sz="2200" dirty="0"/>
              <a:t>使用的是带</a:t>
            </a:r>
            <a:r>
              <a:rPr lang="en-GB" altLang="zh-CN" sz="2200" dirty="0" err="1"/>
              <a:t>int</a:t>
            </a:r>
            <a:r>
              <a:rPr lang="zh-CN" altLang="en-GB" sz="2200" dirty="0"/>
              <a:t>型参数的操作符</a:t>
            </a:r>
            <a:r>
              <a:rPr lang="en-GB" altLang="zh-CN" sz="2200" dirty="0"/>
              <a:t>++</a:t>
            </a:r>
            <a:r>
              <a:rPr lang="zh-CN" altLang="en-GB" sz="2200" dirty="0"/>
              <a:t>重载函数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b = ++a;  //</a:t>
            </a:r>
            <a:r>
              <a:rPr lang="zh-CN" altLang="en-US" sz="2200" dirty="0"/>
              <a:t>加一之后的</a:t>
            </a:r>
            <a:r>
              <a:rPr lang="en-US" altLang="zh-CN" sz="2200" dirty="0"/>
              <a:t>a</a:t>
            </a:r>
            <a:r>
              <a:rPr lang="zh-CN" altLang="en-US" sz="2200" dirty="0"/>
              <a:t>赋值给</a:t>
            </a:r>
            <a:r>
              <a:rPr lang="en-US" altLang="zh-CN" sz="2200" dirty="0"/>
              <a:t>b</a:t>
            </a:r>
            <a:endParaRPr lang="zh-CN" altLang="en-GB" sz="2200" dirty="0"/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c = a++;  //</a:t>
            </a:r>
            <a:r>
              <a:rPr lang="zh-CN" altLang="en-US" sz="2200" dirty="0"/>
              <a:t>加一之前的</a:t>
            </a:r>
            <a:r>
              <a:rPr lang="en-US" altLang="zh-CN" sz="2200" dirty="0"/>
              <a:t>a</a:t>
            </a:r>
            <a:r>
              <a:rPr lang="zh-CN" altLang="en-US" sz="2200" dirty="0"/>
              <a:t>赋值给</a:t>
            </a:r>
            <a:r>
              <a:rPr lang="en-US" altLang="zh-CN" sz="2200" dirty="0"/>
              <a:t>c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++(++a);</a:t>
            </a:r>
            <a:r>
              <a:rPr lang="zh-CN" altLang="en-US" sz="2200" dirty="0"/>
              <a:t>或</a:t>
            </a:r>
            <a:r>
              <a:rPr lang="en-US" altLang="zh-CN" sz="2200" dirty="0"/>
              <a:t> (++a)++; //</a:t>
            </a:r>
            <a:r>
              <a:rPr lang="en-US" altLang="zh-CN" sz="2200" dirty="0">
                <a:solidFill>
                  <a:schemeClr val="folHlink"/>
                </a:solidFill>
              </a:rPr>
              <a:t>OK</a:t>
            </a:r>
            <a:r>
              <a:rPr lang="zh-CN" altLang="en-US" sz="2200" dirty="0">
                <a:solidFill>
                  <a:schemeClr val="folHlink"/>
                </a:solidFill>
              </a:rPr>
              <a:t>，</a:t>
            </a:r>
            <a:r>
              <a:rPr lang="en-US" altLang="zh-CN" sz="2200" dirty="0">
                <a:solidFill>
                  <a:schemeClr val="folHlink"/>
                </a:solidFill>
              </a:rPr>
              <a:t>a</a:t>
            </a:r>
            <a:r>
              <a:rPr lang="zh-CN" altLang="en-US" sz="2200" dirty="0">
                <a:solidFill>
                  <a:schemeClr val="folHlink"/>
                </a:solidFill>
              </a:rPr>
              <a:t>加</a:t>
            </a:r>
            <a:r>
              <a:rPr lang="en-US" altLang="zh-CN" sz="2200" dirty="0">
                <a:solidFill>
                  <a:schemeClr val="folHlink"/>
                </a:solidFill>
              </a:rPr>
              <a:t>2</a:t>
            </a:r>
          </a:p>
          <a:p>
            <a:pPr defTabSz="279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++(a++);</a:t>
            </a:r>
            <a:r>
              <a:rPr lang="zh-CN" altLang="en-US" sz="2200" dirty="0"/>
              <a:t>或 </a:t>
            </a:r>
            <a:r>
              <a:rPr lang="en-US" altLang="zh-CN" sz="2200" dirty="0"/>
              <a:t>(a++)++; //</a:t>
            </a:r>
            <a:r>
              <a:rPr lang="en-US" altLang="zh-CN" sz="2200" dirty="0">
                <a:solidFill>
                  <a:schemeClr val="folHlink"/>
                </a:solidFill>
              </a:rPr>
              <a:t>Error</a:t>
            </a:r>
            <a:r>
              <a:rPr lang="zh-CN" altLang="en-US" sz="2200" dirty="0">
                <a:solidFill>
                  <a:schemeClr val="folHlink"/>
                </a:solidFill>
              </a:rPr>
              <a:t>，编译不通过</a:t>
            </a:r>
            <a:endParaRPr lang="en-US" altLang="zh-CN" sz="22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14939</TotalTime>
  <Words>2138</Words>
  <Application>Microsoft Office PowerPoint</Application>
  <PresentationFormat>全屏显示(4:3)</PresentationFormat>
  <Paragraphs>268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Verdana</vt:lpstr>
      <vt:lpstr>宋体</vt:lpstr>
      <vt:lpstr>Arial</vt:lpstr>
      <vt:lpstr>Wingdings</vt:lpstr>
      <vt:lpstr>Times New Roman</vt:lpstr>
      <vt:lpstr>Globe</vt:lpstr>
      <vt:lpstr>操作符重载</vt:lpstr>
      <vt:lpstr>主要内容</vt:lpstr>
      <vt:lpstr>操作符重载的需要性 </vt:lpstr>
      <vt:lpstr>PowerPoint 演示文稿</vt:lpstr>
      <vt:lpstr>PowerPoint 演示文稿</vt:lpstr>
      <vt:lpstr>PowerPoint 演示文稿</vt:lpstr>
      <vt:lpstr>操作符重载的实现途径</vt:lpstr>
      <vt:lpstr>PowerPoint 演示文稿</vt:lpstr>
      <vt:lpstr>PowerPoint 演示文稿</vt:lpstr>
      <vt:lpstr>PowerPoint 演示文稿</vt:lpstr>
      <vt:lpstr>操作符重载的基本原则 </vt:lpstr>
      <vt:lpstr>双目操作符重载</vt:lpstr>
      <vt:lpstr>例、实现复数的“等于”和“不等于”操作</vt:lpstr>
      <vt:lpstr>双目操作符重载（续1）</vt:lpstr>
      <vt:lpstr>例：重载操作符+，使其能够实现实数与复数的混合运算。 </vt:lpstr>
      <vt:lpstr>PowerPoint 演示文稿</vt:lpstr>
      <vt:lpstr>单目操作符重载</vt:lpstr>
      <vt:lpstr>例：实现复数的取负操作</vt:lpstr>
      <vt:lpstr>单目操作符重载（续1）</vt:lpstr>
      <vt:lpstr>例：实现判断复数为“零”的操作</vt:lpstr>
      <vt:lpstr>操作符++和--的重载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707</cp:revision>
  <dcterms:created xsi:type="dcterms:W3CDTF">1999-06-07T10:00:06Z</dcterms:created>
  <dcterms:modified xsi:type="dcterms:W3CDTF">2026-06-18T00:20:43Z</dcterms:modified>
</cp:coreProperties>
</file>