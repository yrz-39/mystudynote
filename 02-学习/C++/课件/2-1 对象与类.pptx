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21"/>
  </p:notesMasterIdLst>
  <p:handoutMasterIdLst>
    <p:handoutMasterId r:id="rId22"/>
  </p:handoutMasterIdLst>
  <p:sldIdLst>
    <p:sldId id="931" r:id="rId2"/>
    <p:sldId id="267" r:id="rId3"/>
    <p:sldId id="964" r:id="rId4"/>
    <p:sldId id="275" r:id="rId5"/>
    <p:sldId id="1021" r:id="rId6"/>
    <p:sldId id="941" r:id="rId7"/>
    <p:sldId id="942" r:id="rId8"/>
    <p:sldId id="943" r:id="rId9"/>
    <p:sldId id="944" r:id="rId10"/>
    <p:sldId id="946" r:id="rId11"/>
    <p:sldId id="773" r:id="rId12"/>
    <p:sldId id="780" r:id="rId13"/>
    <p:sldId id="1012" r:id="rId14"/>
    <p:sldId id="1020" r:id="rId15"/>
    <p:sldId id="776" r:id="rId16"/>
    <p:sldId id="947" r:id="rId17"/>
    <p:sldId id="948" r:id="rId18"/>
    <p:sldId id="1019" r:id="rId19"/>
    <p:sldId id="1018" r:id="rId2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00"/>
    <a:srgbClr val="000000"/>
    <a:srgbClr val="00FFFF"/>
    <a:srgbClr val="85EDA0"/>
    <a:srgbClr val="00CCFF"/>
    <a:srgbClr val="FFFF99"/>
    <a:srgbClr val="FDAFB5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3" autoAdjust="0"/>
    <p:restoredTop sz="88874" autoAdjust="0"/>
  </p:normalViewPr>
  <p:slideViewPr>
    <p:cSldViewPr>
      <p:cViewPr varScale="1">
        <p:scale>
          <a:sx n="94" d="100"/>
          <a:sy n="94" d="100"/>
        </p:scale>
        <p:origin x="78" y="30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21348"/>
    </p:cViewPr>
  </p:sorterViewPr>
  <p:notesViewPr>
    <p:cSldViewPr>
      <p:cViewPr>
        <p:scale>
          <a:sx n="75" d="100"/>
          <a:sy n="75" d="100"/>
        </p:scale>
        <p:origin x="-726" y="63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E827766E-8B5A-5913-ADAF-85F12507803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17986225-E589-461D-FF08-849B7C9CF0A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8788" name="Rectangle 4">
            <a:extLst>
              <a:ext uri="{FF2B5EF4-FFF2-40B4-BE49-F238E27FC236}">
                <a16:creationId xmlns:a16="http://schemas.microsoft.com/office/drawing/2014/main" id="{3ED870A4-53B8-1683-6569-A29DF5F6937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8789" name="Rectangle 5">
            <a:extLst>
              <a:ext uri="{FF2B5EF4-FFF2-40B4-BE49-F238E27FC236}">
                <a16:creationId xmlns:a16="http://schemas.microsoft.com/office/drawing/2014/main" id="{965505B8-F809-6884-0D14-879CEB694B1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fld id="{CFB4FB54-D680-4F55-A373-543143B7F0D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3BC9243F-57F2-F3B4-03C6-2FA8376242E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BBCA2C59-6FA1-D706-D484-54F050D5D0C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C848C7FB-2B12-E6D8-FB85-2A150F4DF2A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F78CBC02-EE44-09DF-C8BD-250669DE3C8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0422" name="Rectangle 6">
            <a:extLst>
              <a:ext uri="{FF2B5EF4-FFF2-40B4-BE49-F238E27FC236}">
                <a16:creationId xmlns:a16="http://schemas.microsoft.com/office/drawing/2014/main" id="{31F31655-7FA9-7786-ED2B-14C499D405B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23" name="Rectangle 7">
            <a:extLst>
              <a:ext uri="{FF2B5EF4-FFF2-40B4-BE49-F238E27FC236}">
                <a16:creationId xmlns:a16="http://schemas.microsoft.com/office/drawing/2014/main" id="{A2A1738B-348F-675B-2B77-B7D77AD675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fld id="{BDD88354-871E-4E4F-9C2E-BF9C98577E4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2910EC38-B822-7096-F405-5BE574EB16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74CC560-AD69-46C1-8A52-C2D718610AFA}" type="slidenum">
              <a:rPr lang="en-US" altLang="zh-CN"/>
              <a:pPr>
                <a:spcBef>
                  <a:spcPct val="0"/>
                </a:spcBef>
              </a:pPr>
              <a:t>2</a:t>
            </a:fld>
            <a:endParaRPr lang="en-US" altLang="zh-CN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77F0D42D-4946-DA62-CED9-45F0AF44B8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D5C9D35B-AD6A-6062-F228-59A7BF7EE6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72C0F696-9AFC-14A7-9DA2-E74772945A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56793DD-2797-4B22-9442-17207FE1E7EA}" type="slidenum">
              <a:rPr lang="en-US" altLang="zh-CN"/>
              <a:pPr>
                <a:spcBef>
                  <a:spcPct val="0"/>
                </a:spcBef>
              </a:pPr>
              <a:t>4</a:t>
            </a:fld>
            <a:endParaRPr lang="en-US" altLang="zh-CN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0395597B-EAF7-E087-7120-0B162DF39B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1FF7D17B-9AEB-84C2-0473-F5845806EF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>
            <a:extLst>
              <a:ext uri="{FF2B5EF4-FFF2-40B4-BE49-F238E27FC236}">
                <a16:creationId xmlns:a16="http://schemas.microsoft.com/office/drawing/2014/main" id="{9D1E95AA-D440-9954-3627-986B8F4910E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备注占位符 2">
            <a:extLst>
              <a:ext uri="{FF2B5EF4-FFF2-40B4-BE49-F238E27FC236}">
                <a16:creationId xmlns:a16="http://schemas.microsoft.com/office/drawing/2014/main" id="{6EAFA518-3C86-ED44-3422-83DBDB89C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4" name="灯片编号占位符 3">
            <a:extLst>
              <a:ext uri="{FF2B5EF4-FFF2-40B4-BE49-F238E27FC236}">
                <a16:creationId xmlns:a16="http://schemas.microsoft.com/office/drawing/2014/main" id="{EF1FE178-FF00-CA4D-33EF-4CC7DB1690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6E7A19A-88DB-41B1-BA64-0C85172139B5}" type="slidenum">
              <a:rPr lang="en-US" altLang="zh-CN"/>
              <a:pPr>
                <a:spcBef>
                  <a:spcPct val="0"/>
                </a:spcBef>
              </a:pPr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>
            <a:extLst>
              <a:ext uri="{FF2B5EF4-FFF2-40B4-BE49-F238E27FC236}">
                <a16:creationId xmlns:a16="http://schemas.microsoft.com/office/drawing/2014/main" id="{1DAFF363-0EBE-E4FA-52F6-5E1F9CE9B4B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备注占位符 2">
            <a:extLst>
              <a:ext uri="{FF2B5EF4-FFF2-40B4-BE49-F238E27FC236}">
                <a16:creationId xmlns:a16="http://schemas.microsoft.com/office/drawing/2014/main" id="{974F7DC2-B69F-A4B9-F737-92D7450F9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1</a:t>
            </a:r>
            <a:r>
              <a:rPr lang="zh-CN" altLang="en-US"/>
              <a:t>、成员函数在类外定义，也是本类的代码！</a:t>
            </a:r>
          </a:p>
          <a:p>
            <a:endParaRPr lang="zh-CN" altLang="en-US"/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3B8F6344-2152-7CE2-50FB-F7383303BD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E9E4A67-8201-40A4-BA0F-D83227EBC91E}" type="slidenum">
              <a:rPr lang="en-US" altLang="zh-CN"/>
              <a:pPr>
                <a:spcBef>
                  <a:spcPct val="0"/>
                </a:spcBef>
              </a:pPr>
              <a:t>16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11B2C0D-3704-87E4-4023-2D8A1B812A8D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649CE70-A2DB-9484-3F52-799CE4151D0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028CE4B-F890-7AAE-BCFF-048ACB94CDF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035B806-C5E3-B1B3-3228-8BC2486FDB1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F90905BB-F7CF-B60F-226D-46DD5DD0C5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EC9F4DCF-7037-F80F-A97A-237BC477725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1156D23E-AB2E-F8C4-978B-B41908EE51E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50D32FCC-39FF-F250-77C4-38B710C2DC9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58BAE849-3CA0-E7B6-EB14-5FFC6AEEA31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5228D48B-9A2F-156F-F2BB-1A938DBFB4E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DD8C352E-6AED-7565-B009-B3AC50E05C5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C29ABB59-8C79-56BB-5FBE-23395A6B439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7D839E57-B6CF-FDEC-E785-F0D472D2574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7A0C22ED-1900-9C3F-9F71-7A033C194B0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5" name="Freeform 16">
                <a:extLst>
                  <a:ext uri="{FF2B5EF4-FFF2-40B4-BE49-F238E27FC236}">
                    <a16:creationId xmlns:a16="http://schemas.microsoft.com/office/drawing/2014/main" id="{C963FD76-0DD7-010A-2A75-5CC2E35CD61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A28F8AA9-A8C6-FA18-3616-D18B2C7CA3B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8EBB1BF5-F3BE-DE52-4B6E-D4986BA7085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6DA3D09B-D461-744D-CAD1-B2D7D6EBA1B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</p:grpSp>
        <p:sp>
          <p:nvSpPr>
            <p:cNvPr id="7" name="Freeform 20">
              <a:extLst>
                <a:ext uri="{FF2B5EF4-FFF2-40B4-BE49-F238E27FC236}">
                  <a16:creationId xmlns:a16="http://schemas.microsoft.com/office/drawing/2014/main" id="{5834742D-ADD9-2A97-909A-C1B9F474A97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8" name="Freeform 21">
              <a:extLst>
                <a:ext uri="{FF2B5EF4-FFF2-40B4-BE49-F238E27FC236}">
                  <a16:creationId xmlns:a16="http://schemas.microsoft.com/office/drawing/2014/main" id="{927F343C-606B-11D4-FDD8-98BE6413E1F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9" name="Freeform 22">
              <a:extLst>
                <a:ext uri="{FF2B5EF4-FFF2-40B4-BE49-F238E27FC236}">
                  <a16:creationId xmlns:a16="http://schemas.microsoft.com/office/drawing/2014/main" id="{FE74EEB0-1846-5CCA-4000-BACEAD6367F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F0C2055F-BFEA-AE77-D34F-CEE8E9ACD2B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1035 w 717"/>
                <a:gd name="T1" fmla="*/ 845 h 845"/>
                <a:gd name="T2" fmla="*/ 1035 w 717"/>
                <a:gd name="T3" fmla="*/ 821 h 845"/>
                <a:gd name="T4" fmla="*/ 846 w 717"/>
                <a:gd name="T5" fmla="*/ 605 h 845"/>
                <a:gd name="T6" fmla="*/ 546 w 717"/>
                <a:gd name="T7" fmla="*/ 396 h 845"/>
                <a:gd name="T8" fmla="*/ 357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345 w 717"/>
                <a:gd name="T15" fmla="*/ 198 h 845"/>
                <a:gd name="T16" fmla="*/ 536 w 717"/>
                <a:gd name="T17" fmla="*/ 408 h 845"/>
                <a:gd name="T18" fmla="*/ 840 w 717"/>
                <a:gd name="T19" fmla="*/ 623 h 845"/>
                <a:gd name="T20" fmla="*/ 1035 w 717"/>
                <a:gd name="T21" fmla="*/ 845 h 845"/>
                <a:gd name="T22" fmla="*/ 1035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24">
              <a:extLst>
                <a:ext uri="{FF2B5EF4-FFF2-40B4-BE49-F238E27FC236}">
                  <a16:creationId xmlns:a16="http://schemas.microsoft.com/office/drawing/2014/main" id="{62C008A7-520E-AB93-8409-0829FA35C2C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543 w 407"/>
                <a:gd name="T1" fmla="*/ 414 h 414"/>
                <a:gd name="T2" fmla="*/ 543 w 407"/>
                <a:gd name="T3" fmla="*/ 396 h 414"/>
                <a:gd name="T4" fmla="*/ 358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352 w 407"/>
                <a:gd name="T13" fmla="*/ 204 h 414"/>
                <a:gd name="T14" fmla="*/ 543 w 407"/>
                <a:gd name="T15" fmla="*/ 414 h 414"/>
                <a:gd name="T16" fmla="*/ 543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25">
              <a:extLst>
                <a:ext uri="{FF2B5EF4-FFF2-40B4-BE49-F238E27FC236}">
                  <a16:creationId xmlns:a16="http://schemas.microsoft.com/office/drawing/2014/main" id="{E9C09EF7-EDE6-DA61-AC0E-8BAA826BC09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3" name="Freeform 26">
              <a:extLst>
                <a:ext uri="{FF2B5EF4-FFF2-40B4-BE49-F238E27FC236}">
                  <a16:creationId xmlns:a16="http://schemas.microsoft.com/office/drawing/2014/main" id="{DDEF5A01-FAD2-CEA8-BFFB-040E407DAA2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920 w 586"/>
                <a:gd name="T1" fmla="*/ 0 h 599"/>
                <a:gd name="T2" fmla="*/ 893 w 586"/>
                <a:gd name="T3" fmla="*/ 0 h 599"/>
                <a:gd name="T4" fmla="*/ 646 w 586"/>
                <a:gd name="T5" fmla="*/ 132 h 599"/>
                <a:gd name="T6" fmla="*/ 393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393 w 586"/>
                <a:gd name="T17" fmla="*/ 282 h 599"/>
                <a:gd name="T18" fmla="*/ 658 w 586"/>
                <a:gd name="T19" fmla="*/ 138 h 599"/>
                <a:gd name="T20" fmla="*/ 920 w 586"/>
                <a:gd name="T21" fmla="*/ 0 h 599"/>
                <a:gd name="T22" fmla="*/ 920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7">
              <a:extLst>
                <a:ext uri="{FF2B5EF4-FFF2-40B4-BE49-F238E27FC236}">
                  <a16:creationId xmlns:a16="http://schemas.microsoft.com/office/drawing/2014/main" id="{770F8485-2B5C-066F-9D15-C814358FD0E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406 w 269"/>
                <a:gd name="T1" fmla="*/ 0 h 252"/>
                <a:gd name="T2" fmla="*/ 387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406 w 269"/>
                <a:gd name="T15" fmla="*/ 0 h 252"/>
                <a:gd name="T16" fmla="*/ 406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28">
              <a:extLst>
                <a:ext uri="{FF2B5EF4-FFF2-40B4-BE49-F238E27FC236}">
                  <a16:creationId xmlns:a16="http://schemas.microsoft.com/office/drawing/2014/main" id="{CB778BA5-833B-5792-0BF6-3CF72372F031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29">
              <a:extLst>
                <a:ext uri="{FF2B5EF4-FFF2-40B4-BE49-F238E27FC236}">
                  <a16:creationId xmlns:a16="http://schemas.microsoft.com/office/drawing/2014/main" id="{ED6C85AA-200F-2A45-73AB-D27DF9678685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30">
              <a:extLst>
                <a:ext uri="{FF2B5EF4-FFF2-40B4-BE49-F238E27FC236}">
                  <a16:creationId xmlns:a16="http://schemas.microsoft.com/office/drawing/2014/main" id="{131E742B-CE11-95CF-287B-2C6CADA8299A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" name="Group 31">
              <a:extLst>
                <a:ext uri="{FF2B5EF4-FFF2-40B4-BE49-F238E27FC236}">
                  <a16:creationId xmlns:a16="http://schemas.microsoft.com/office/drawing/2014/main" id="{F76C5DAC-811C-F466-2059-7E4A17657C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1" name="Line 32">
                <a:extLst>
                  <a:ext uri="{FF2B5EF4-FFF2-40B4-BE49-F238E27FC236}">
                    <a16:creationId xmlns:a16="http://schemas.microsoft.com/office/drawing/2014/main" id="{E6E60110-BC64-4962-0275-E4F79C773C4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33">
                <a:extLst>
                  <a:ext uri="{FF2B5EF4-FFF2-40B4-BE49-F238E27FC236}">
                    <a16:creationId xmlns:a16="http://schemas.microsoft.com/office/drawing/2014/main" id="{C3F3B490-B34C-5E51-0B0F-4E75246C28E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34">
                <a:extLst>
                  <a:ext uri="{FF2B5EF4-FFF2-40B4-BE49-F238E27FC236}">
                    <a16:creationId xmlns:a16="http://schemas.microsoft.com/office/drawing/2014/main" id="{BAE6E98A-DE8E-A6AB-A8F0-4AF4B4C5B03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5">
                <a:extLst>
                  <a:ext uri="{FF2B5EF4-FFF2-40B4-BE49-F238E27FC236}">
                    <a16:creationId xmlns:a16="http://schemas.microsoft.com/office/drawing/2014/main" id="{E08D9D40-31BA-9D81-7CAD-42CD4685A76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6">
                <a:extLst>
                  <a:ext uri="{FF2B5EF4-FFF2-40B4-BE49-F238E27FC236}">
                    <a16:creationId xmlns:a16="http://schemas.microsoft.com/office/drawing/2014/main" id="{FB362865-3A0F-F7DF-7ED4-00078AF2405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" name="Line 37">
              <a:extLst>
                <a:ext uri="{FF2B5EF4-FFF2-40B4-BE49-F238E27FC236}">
                  <a16:creationId xmlns:a16="http://schemas.microsoft.com/office/drawing/2014/main" id="{D271FB36-2680-497C-47C4-6817AD2AA23B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38">
              <a:extLst>
                <a:ext uri="{FF2B5EF4-FFF2-40B4-BE49-F238E27FC236}">
                  <a16:creationId xmlns:a16="http://schemas.microsoft.com/office/drawing/2014/main" id="{07040716-DC59-89D2-E482-D33B67666607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65703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265704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9" name="Rectangle 41">
            <a:extLst>
              <a:ext uri="{FF2B5EF4-FFF2-40B4-BE49-F238E27FC236}">
                <a16:creationId xmlns:a16="http://schemas.microsoft.com/office/drawing/2014/main" id="{55844D47-4D6A-D1B9-5636-A9294DB84BAB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" name="Rectangle 42">
            <a:extLst>
              <a:ext uri="{FF2B5EF4-FFF2-40B4-BE49-F238E27FC236}">
                <a16:creationId xmlns:a16="http://schemas.microsoft.com/office/drawing/2014/main" id="{24ECF3EA-EDA7-ABC6-270C-7A6D711D1A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6BC75DD8-30C9-51C3-FCB9-A040F6E33D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668622-21BB-4C10-B3CD-C7C7ABAB4B3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2751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E6FE21C1-FBEC-836A-5B56-CB53EC3CE9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B827F307-4243-6922-E6CF-68327A2C25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5D4B31FA-5BAC-69ED-5316-1FAB2D25BD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97CE75-745B-4C97-BED3-4304369C65D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6634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0E14182B-9258-21CE-0C4E-80B3703538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57F5FF3D-AAFF-C446-451D-3E9C271557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43E503EE-0D4B-1E6E-239A-8616F991A8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051A82-E8ED-48CF-8F5C-F30D65E4CB2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9464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1F7D0144-EFC2-1C9F-BE19-C2E4C4B59B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DAB4A90F-D6D4-78E5-7615-1AD7BC8D5B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A21050A8-8818-61F6-03A2-85108E510F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6C10C2-A10C-497C-A696-FC6272C082E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166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0">
            <a:extLst>
              <a:ext uri="{FF2B5EF4-FFF2-40B4-BE49-F238E27FC236}">
                <a16:creationId xmlns:a16="http://schemas.microsoft.com/office/drawing/2014/main" id="{81740B6F-C1AD-C6BC-42A4-2B337AD60A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90F9378F-CC25-34A2-2D07-F58241C10F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>
            <a:extLst>
              <a:ext uri="{FF2B5EF4-FFF2-40B4-BE49-F238E27FC236}">
                <a16:creationId xmlns:a16="http://schemas.microsoft.com/office/drawing/2014/main" id="{315CFD0E-DCCB-53FF-00CB-860ACDA6C3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7B5DC9-95FE-4907-BD3E-EFC04AB1F56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3561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0">
            <a:extLst>
              <a:ext uri="{FF2B5EF4-FFF2-40B4-BE49-F238E27FC236}">
                <a16:creationId xmlns:a16="http://schemas.microsoft.com/office/drawing/2014/main" id="{E37FD0B3-024D-0025-A993-F977D21068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>
            <a:extLst>
              <a:ext uri="{FF2B5EF4-FFF2-40B4-BE49-F238E27FC236}">
                <a16:creationId xmlns:a16="http://schemas.microsoft.com/office/drawing/2014/main" id="{91682044-340D-4B48-BDF6-4FD5CAD2B0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>
            <a:extLst>
              <a:ext uri="{FF2B5EF4-FFF2-40B4-BE49-F238E27FC236}">
                <a16:creationId xmlns:a16="http://schemas.microsoft.com/office/drawing/2014/main" id="{3FB8F076-6A3C-529D-B854-08F99CE16D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0BA970-5641-4AA2-9CA6-2943D73104C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2944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>
            <a:extLst>
              <a:ext uri="{FF2B5EF4-FFF2-40B4-BE49-F238E27FC236}">
                <a16:creationId xmlns:a16="http://schemas.microsoft.com/office/drawing/2014/main" id="{0EBBF9F0-97E8-DA2C-B474-D6F2A24A7D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>
            <a:extLst>
              <a:ext uri="{FF2B5EF4-FFF2-40B4-BE49-F238E27FC236}">
                <a16:creationId xmlns:a16="http://schemas.microsoft.com/office/drawing/2014/main" id="{42D9F21F-01DA-B2A8-9B57-8C014C2E64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>
            <a:extLst>
              <a:ext uri="{FF2B5EF4-FFF2-40B4-BE49-F238E27FC236}">
                <a16:creationId xmlns:a16="http://schemas.microsoft.com/office/drawing/2014/main" id="{AE9F19A4-667D-138F-BEE0-A4385E73EB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E0E6F2-B6F0-49D4-8F12-59DCD3B48A9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5794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11D52D90-DBF9-6103-3331-1956E6010B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067D6CE2-98C6-04AB-1EC7-8357BF5C5D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B24101D2-6BF3-4AD5-D74C-88A8E20BDE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35A951-03F5-4BAA-9DE8-0ACCD0833A0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4029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3555362B-2807-B722-30BD-BC56BC8DD4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4925D2B1-26AC-EC72-4F79-43A8B10934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09A2DD57-674B-38F4-A5DC-17BC15345F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1DB116-4E06-496A-B2C8-2A3FDF8BABB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7776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B96358C2-5F52-A7FA-B05A-28AD7E2912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A16CE684-1863-B718-DA04-13AFC90E79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C30BE73E-C285-A569-5C88-06DB86B2C9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8C6F02-15B8-4631-BD8E-A7F8C035276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3566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9AB88733-3EB5-7193-D111-A06AA5C76E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2CB587C6-0EE3-5F17-EEF1-7C523A859B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4AD49561-2017-2002-AA7C-02D75F2F71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7E8C6D-11A6-41E7-9EE6-3DDD19FBB95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6994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4D99"/>
            </a:gs>
            <a:gs pos="100000">
              <a:srgbClr val="00285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D91730D2-BAAA-7761-678A-80235C1FCFAA}"/>
              </a:ext>
            </a:extLst>
          </p:cNvPr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1264643" name="Freeform 3">
              <a:extLst>
                <a:ext uri="{FF2B5EF4-FFF2-40B4-BE49-F238E27FC236}">
                  <a16:creationId xmlns:a16="http://schemas.microsoft.com/office/drawing/2014/main" id="{5D9684D4-CEE1-CB40-D0A8-D6D8CA6C959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264644" name="Freeform 4">
              <a:extLst>
                <a:ext uri="{FF2B5EF4-FFF2-40B4-BE49-F238E27FC236}">
                  <a16:creationId xmlns:a16="http://schemas.microsoft.com/office/drawing/2014/main" id="{6AFF7817-BC92-31BC-59E0-14581102996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264645" name="Freeform 5">
              <a:extLst>
                <a:ext uri="{FF2B5EF4-FFF2-40B4-BE49-F238E27FC236}">
                  <a16:creationId xmlns:a16="http://schemas.microsoft.com/office/drawing/2014/main" id="{810CACC5-7782-29C3-2A33-6F64F07A146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grpSp>
          <p:nvGrpSpPr>
            <p:cNvPr id="1035" name="Group 6">
              <a:extLst>
                <a:ext uri="{FF2B5EF4-FFF2-40B4-BE49-F238E27FC236}">
                  <a16:creationId xmlns:a16="http://schemas.microsoft.com/office/drawing/2014/main" id="{3AF6AE83-192D-85AC-C85D-7F0C433F7A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1264647" name="Freeform 7">
                <a:extLst>
                  <a:ext uri="{FF2B5EF4-FFF2-40B4-BE49-F238E27FC236}">
                    <a16:creationId xmlns:a16="http://schemas.microsoft.com/office/drawing/2014/main" id="{8C365776-4CB2-A93B-6949-8EABF48DCF9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48" name="Freeform 8">
                <a:extLst>
                  <a:ext uri="{FF2B5EF4-FFF2-40B4-BE49-F238E27FC236}">
                    <a16:creationId xmlns:a16="http://schemas.microsoft.com/office/drawing/2014/main" id="{563E8397-D880-3B83-C075-D024CC0F5CD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49" name="Freeform 9">
                <a:extLst>
                  <a:ext uri="{FF2B5EF4-FFF2-40B4-BE49-F238E27FC236}">
                    <a16:creationId xmlns:a16="http://schemas.microsoft.com/office/drawing/2014/main" id="{1A935D6E-66E5-5F83-B995-C2A6C3C45ED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0" name="Freeform 10">
                <a:extLst>
                  <a:ext uri="{FF2B5EF4-FFF2-40B4-BE49-F238E27FC236}">
                    <a16:creationId xmlns:a16="http://schemas.microsoft.com/office/drawing/2014/main" id="{A4CADA06-4A05-2D4C-7FA3-5FF1C05A9AF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1" name="Freeform 11">
                <a:extLst>
                  <a:ext uri="{FF2B5EF4-FFF2-40B4-BE49-F238E27FC236}">
                    <a16:creationId xmlns:a16="http://schemas.microsoft.com/office/drawing/2014/main" id="{0D76E0CE-1CCE-47A4-42F7-8772E541DD0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2" name="Freeform 12">
                <a:extLst>
                  <a:ext uri="{FF2B5EF4-FFF2-40B4-BE49-F238E27FC236}">
                    <a16:creationId xmlns:a16="http://schemas.microsoft.com/office/drawing/2014/main" id="{8F400457-258B-0546-29E9-884FE378596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3" name="Freeform 13">
                <a:extLst>
                  <a:ext uri="{FF2B5EF4-FFF2-40B4-BE49-F238E27FC236}">
                    <a16:creationId xmlns:a16="http://schemas.microsoft.com/office/drawing/2014/main" id="{11B0C517-22BC-B33A-F65C-A690228E138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4" name="Freeform 14">
                <a:extLst>
                  <a:ext uri="{FF2B5EF4-FFF2-40B4-BE49-F238E27FC236}">
                    <a16:creationId xmlns:a16="http://schemas.microsoft.com/office/drawing/2014/main" id="{FEB3E2A3-9A60-DEF6-A34B-1890C5A59B1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5" name="Freeform 15">
                <a:extLst>
                  <a:ext uri="{FF2B5EF4-FFF2-40B4-BE49-F238E27FC236}">
                    <a16:creationId xmlns:a16="http://schemas.microsoft.com/office/drawing/2014/main" id="{550ABD19-21F3-926D-8EEE-E343068C843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6" name="Freeform 16">
                <a:extLst>
                  <a:ext uri="{FF2B5EF4-FFF2-40B4-BE49-F238E27FC236}">
                    <a16:creationId xmlns:a16="http://schemas.microsoft.com/office/drawing/2014/main" id="{DA8F9E14-6209-D0CE-DB63-CEF80E49A5A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7" name="Freeform 17">
                <a:extLst>
                  <a:ext uri="{FF2B5EF4-FFF2-40B4-BE49-F238E27FC236}">
                    <a16:creationId xmlns:a16="http://schemas.microsoft.com/office/drawing/2014/main" id="{F0CD0EB8-6AC9-EB8C-1FBF-2ED9A64B1F6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8" name="Freeform 18">
                <a:extLst>
                  <a:ext uri="{FF2B5EF4-FFF2-40B4-BE49-F238E27FC236}">
                    <a16:creationId xmlns:a16="http://schemas.microsoft.com/office/drawing/2014/main" id="{5BFDA99D-F2B8-0E2A-B6A6-825BBDEF327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9" name="Freeform 19">
                <a:extLst>
                  <a:ext uri="{FF2B5EF4-FFF2-40B4-BE49-F238E27FC236}">
                    <a16:creationId xmlns:a16="http://schemas.microsoft.com/office/drawing/2014/main" id="{AA212917-0725-9F36-63A4-1D22D381FCB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</p:grpSp>
        <p:sp>
          <p:nvSpPr>
            <p:cNvPr id="1264660" name="Freeform 20">
              <a:extLst>
                <a:ext uri="{FF2B5EF4-FFF2-40B4-BE49-F238E27FC236}">
                  <a16:creationId xmlns:a16="http://schemas.microsoft.com/office/drawing/2014/main" id="{A427665F-2049-EDDB-439D-6DFCCB7EE30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264661" name="Freeform 21">
              <a:extLst>
                <a:ext uri="{FF2B5EF4-FFF2-40B4-BE49-F238E27FC236}">
                  <a16:creationId xmlns:a16="http://schemas.microsoft.com/office/drawing/2014/main" id="{22A452A8-933F-CCE5-6BFF-27539FD085D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264662" name="Freeform 22">
              <a:extLst>
                <a:ext uri="{FF2B5EF4-FFF2-40B4-BE49-F238E27FC236}">
                  <a16:creationId xmlns:a16="http://schemas.microsoft.com/office/drawing/2014/main" id="{24DC33C2-103E-EE24-155E-193D898E64A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039" name="Freeform 23">
              <a:extLst>
                <a:ext uri="{FF2B5EF4-FFF2-40B4-BE49-F238E27FC236}">
                  <a16:creationId xmlns:a16="http://schemas.microsoft.com/office/drawing/2014/main" id="{ACBFB8CD-8A3F-7702-59F5-489C9216CAA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1035 w 717"/>
                <a:gd name="T1" fmla="*/ 845 h 845"/>
                <a:gd name="T2" fmla="*/ 1035 w 717"/>
                <a:gd name="T3" fmla="*/ 821 h 845"/>
                <a:gd name="T4" fmla="*/ 846 w 717"/>
                <a:gd name="T5" fmla="*/ 605 h 845"/>
                <a:gd name="T6" fmla="*/ 546 w 717"/>
                <a:gd name="T7" fmla="*/ 396 h 845"/>
                <a:gd name="T8" fmla="*/ 357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345 w 717"/>
                <a:gd name="T15" fmla="*/ 198 h 845"/>
                <a:gd name="T16" fmla="*/ 536 w 717"/>
                <a:gd name="T17" fmla="*/ 408 h 845"/>
                <a:gd name="T18" fmla="*/ 840 w 717"/>
                <a:gd name="T19" fmla="*/ 623 h 845"/>
                <a:gd name="T20" fmla="*/ 1035 w 717"/>
                <a:gd name="T21" fmla="*/ 845 h 845"/>
                <a:gd name="T22" fmla="*/ 1035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24">
              <a:extLst>
                <a:ext uri="{FF2B5EF4-FFF2-40B4-BE49-F238E27FC236}">
                  <a16:creationId xmlns:a16="http://schemas.microsoft.com/office/drawing/2014/main" id="{1277A8D9-038B-0C03-B41F-E7AF4B99226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543 w 407"/>
                <a:gd name="T1" fmla="*/ 414 h 414"/>
                <a:gd name="T2" fmla="*/ 543 w 407"/>
                <a:gd name="T3" fmla="*/ 396 h 414"/>
                <a:gd name="T4" fmla="*/ 358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352 w 407"/>
                <a:gd name="T13" fmla="*/ 204 h 414"/>
                <a:gd name="T14" fmla="*/ 543 w 407"/>
                <a:gd name="T15" fmla="*/ 414 h 414"/>
                <a:gd name="T16" fmla="*/ 543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4665" name="Freeform 25">
              <a:extLst>
                <a:ext uri="{FF2B5EF4-FFF2-40B4-BE49-F238E27FC236}">
                  <a16:creationId xmlns:a16="http://schemas.microsoft.com/office/drawing/2014/main" id="{93A42FAD-1914-FD03-4556-7C55A8382A6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042" name="Freeform 26">
              <a:extLst>
                <a:ext uri="{FF2B5EF4-FFF2-40B4-BE49-F238E27FC236}">
                  <a16:creationId xmlns:a16="http://schemas.microsoft.com/office/drawing/2014/main" id="{DF18B5A4-C748-7E80-65F4-7615C891AEB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920 w 586"/>
                <a:gd name="T1" fmla="*/ 0 h 599"/>
                <a:gd name="T2" fmla="*/ 893 w 586"/>
                <a:gd name="T3" fmla="*/ 0 h 599"/>
                <a:gd name="T4" fmla="*/ 646 w 586"/>
                <a:gd name="T5" fmla="*/ 132 h 599"/>
                <a:gd name="T6" fmla="*/ 393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393 w 586"/>
                <a:gd name="T17" fmla="*/ 282 h 599"/>
                <a:gd name="T18" fmla="*/ 658 w 586"/>
                <a:gd name="T19" fmla="*/ 138 h 599"/>
                <a:gd name="T20" fmla="*/ 920 w 586"/>
                <a:gd name="T21" fmla="*/ 0 h 599"/>
                <a:gd name="T22" fmla="*/ 920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27">
              <a:extLst>
                <a:ext uri="{FF2B5EF4-FFF2-40B4-BE49-F238E27FC236}">
                  <a16:creationId xmlns:a16="http://schemas.microsoft.com/office/drawing/2014/main" id="{2C9039D7-F0EE-7FE1-8CAE-6E0AAB6353C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406 w 269"/>
                <a:gd name="T1" fmla="*/ 0 h 252"/>
                <a:gd name="T2" fmla="*/ 387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406 w 269"/>
                <a:gd name="T15" fmla="*/ 0 h 252"/>
                <a:gd name="T16" fmla="*/ 406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28">
              <a:extLst>
                <a:ext uri="{FF2B5EF4-FFF2-40B4-BE49-F238E27FC236}">
                  <a16:creationId xmlns:a16="http://schemas.microsoft.com/office/drawing/2014/main" id="{B0BC1C70-6937-7978-2EE0-CD988133B37D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29">
              <a:extLst>
                <a:ext uri="{FF2B5EF4-FFF2-40B4-BE49-F238E27FC236}">
                  <a16:creationId xmlns:a16="http://schemas.microsoft.com/office/drawing/2014/main" id="{4AD9E1B0-C6AD-A280-623A-BBF54D0B13C2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30">
              <a:extLst>
                <a:ext uri="{FF2B5EF4-FFF2-40B4-BE49-F238E27FC236}">
                  <a16:creationId xmlns:a16="http://schemas.microsoft.com/office/drawing/2014/main" id="{43C19D0C-8B25-5005-FACD-E87EEC474EF6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7" name="Group 31">
              <a:extLst>
                <a:ext uri="{FF2B5EF4-FFF2-40B4-BE49-F238E27FC236}">
                  <a16:creationId xmlns:a16="http://schemas.microsoft.com/office/drawing/2014/main" id="{AE79660B-FE19-FE5A-AFF9-CC407152BB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>
                <a:extLst>
                  <a:ext uri="{FF2B5EF4-FFF2-40B4-BE49-F238E27FC236}">
                    <a16:creationId xmlns:a16="http://schemas.microsoft.com/office/drawing/2014/main" id="{A0B73713-8FA9-BCBF-5375-4ADF06371EE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Line 33">
                <a:extLst>
                  <a:ext uri="{FF2B5EF4-FFF2-40B4-BE49-F238E27FC236}">
                    <a16:creationId xmlns:a16="http://schemas.microsoft.com/office/drawing/2014/main" id="{FF4E218E-0D52-4694-1108-E0B0075C5CC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Line 34">
                <a:extLst>
                  <a:ext uri="{FF2B5EF4-FFF2-40B4-BE49-F238E27FC236}">
                    <a16:creationId xmlns:a16="http://schemas.microsoft.com/office/drawing/2014/main" id="{BC675E7B-536C-4330-8585-32203D7081E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5">
                <a:extLst>
                  <a:ext uri="{FF2B5EF4-FFF2-40B4-BE49-F238E27FC236}">
                    <a16:creationId xmlns:a16="http://schemas.microsoft.com/office/drawing/2014/main" id="{31CE16F1-F52C-E7FC-740C-8A4B9F58D41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36">
                <a:extLst>
                  <a:ext uri="{FF2B5EF4-FFF2-40B4-BE49-F238E27FC236}">
                    <a16:creationId xmlns:a16="http://schemas.microsoft.com/office/drawing/2014/main" id="{62CF2763-35D9-8503-6F2D-76F1E1D2F20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8" name="Line 37">
              <a:extLst>
                <a:ext uri="{FF2B5EF4-FFF2-40B4-BE49-F238E27FC236}">
                  <a16:creationId xmlns:a16="http://schemas.microsoft.com/office/drawing/2014/main" id="{A3A524AC-1E9A-B9B9-FD99-095B7452F49C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Line 38">
              <a:extLst>
                <a:ext uri="{FF2B5EF4-FFF2-40B4-BE49-F238E27FC236}">
                  <a16:creationId xmlns:a16="http://schemas.microsoft.com/office/drawing/2014/main" id="{35DB70C0-5363-C114-62A2-9AF75F6DFC16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64679" name="Rectangle 39">
            <a:extLst>
              <a:ext uri="{FF2B5EF4-FFF2-40B4-BE49-F238E27FC236}">
                <a16:creationId xmlns:a16="http://schemas.microsoft.com/office/drawing/2014/main" id="{06A72A94-93FE-F4E4-7BFF-5D07379E74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264680" name="Rectangle 40">
            <a:extLst>
              <a:ext uri="{FF2B5EF4-FFF2-40B4-BE49-F238E27FC236}">
                <a16:creationId xmlns:a16="http://schemas.microsoft.com/office/drawing/2014/main" id="{8905A589-167C-87F9-837B-785F6AA2837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64681" name="Rectangle 41">
            <a:extLst>
              <a:ext uri="{FF2B5EF4-FFF2-40B4-BE49-F238E27FC236}">
                <a16:creationId xmlns:a16="http://schemas.microsoft.com/office/drawing/2014/main" id="{52F36C9E-8838-5BD3-2683-32049111F28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64682" name="Rectangle 42">
            <a:extLst>
              <a:ext uri="{FF2B5EF4-FFF2-40B4-BE49-F238E27FC236}">
                <a16:creationId xmlns:a16="http://schemas.microsoft.com/office/drawing/2014/main" id="{FBEAD95D-27C5-BE5F-0892-3CCFC6314AC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FAC53CEA-E247-4075-A9D5-E136EA8F693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264683" name="Rectangle 43">
            <a:extLst>
              <a:ext uri="{FF2B5EF4-FFF2-40B4-BE49-F238E27FC236}">
                <a16:creationId xmlns:a16="http://schemas.microsoft.com/office/drawing/2014/main" id="{BAAA79ED-8319-7324-AEC6-FE9F72346D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5440" r:id="rId1"/>
    <p:sldLayoutId id="2147485430" r:id="rId2"/>
    <p:sldLayoutId id="2147485431" r:id="rId3"/>
    <p:sldLayoutId id="2147485432" r:id="rId4"/>
    <p:sldLayoutId id="2147485433" r:id="rId5"/>
    <p:sldLayoutId id="2147485434" r:id="rId6"/>
    <p:sldLayoutId id="2147485435" r:id="rId7"/>
    <p:sldLayoutId id="2147485436" r:id="rId8"/>
    <p:sldLayoutId id="2147485437" r:id="rId9"/>
    <p:sldLayoutId id="2147485438" r:id="rId10"/>
    <p:sldLayoutId id="214748543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714" name="Rectangle 2">
            <a:extLst>
              <a:ext uri="{FF2B5EF4-FFF2-40B4-BE49-F238E27FC236}">
                <a16:creationId xmlns:a16="http://schemas.microsoft.com/office/drawing/2014/main" id="{5234796D-39CF-1FC1-AB79-61FEB766676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对象与类</a:t>
            </a:r>
          </a:p>
        </p:txBody>
      </p:sp>
      <p:sp>
        <p:nvSpPr>
          <p:cNvPr id="1267715" name="Rectangle 3">
            <a:extLst>
              <a:ext uri="{FF2B5EF4-FFF2-40B4-BE49-F238E27FC236}">
                <a16:creationId xmlns:a16="http://schemas.microsoft.com/office/drawing/2014/main" id="{A5F49D5E-EA63-0EA6-5ACE-27D986E7E1A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54208BDA-82F8-CFE7-F0A9-7583C640FB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1550" y="260350"/>
            <a:ext cx="7046913" cy="7921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/>
              <a:t>类</a:t>
            </a:r>
            <a:endParaRPr lang="zh-CN" altLang="en-US" sz="3600">
              <a:solidFill>
                <a:schemeClr val="tx1"/>
              </a:solidFill>
            </a:endParaRP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51672D3B-FD48-C673-87EF-64A06B1387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7988300" cy="4824412"/>
          </a:xfrm>
        </p:spPr>
        <p:txBody>
          <a:bodyPr>
            <a:normAutofit fontScale="92500" lnSpcReduction="10000"/>
          </a:bodyPr>
          <a:lstStyle/>
          <a:p>
            <a:pPr marL="360363" indent="-360363" eaLnBrk="1" hangingPunct="1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GB" dirty="0">
                <a:solidFill>
                  <a:schemeClr val="folHlink"/>
                </a:solidFill>
              </a:rPr>
              <a:t>对象</a:t>
            </a:r>
            <a:r>
              <a:rPr lang="zh-CN" altLang="en-GB" dirty="0"/>
              <a:t>构成了面向对象程序的基本计算单位，而对象的特征则由相应的</a:t>
            </a:r>
            <a:r>
              <a:rPr lang="zh-CN" altLang="en-GB" dirty="0">
                <a:solidFill>
                  <a:schemeClr val="folHlink"/>
                </a:solidFill>
              </a:rPr>
              <a:t>类</a:t>
            </a:r>
            <a:r>
              <a:rPr lang="zh-CN" altLang="en-GB" dirty="0"/>
              <a:t>来描述。</a:t>
            </a:r>
            <a:endParaRPr lang="en-US" altLang="zh-CN" dirty="0"/>
          </a:p>
          <a:p>
            <a:pPr marL="360363" indent="-360363" eaLnBrk="1" hangingPunct="1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dirty="0"/>
              <a:t>对象是用类来创建的，因此，程序中首先要定义类。</a:t>
            </a:r>
            <a:endParaRPr lang="en-US" altLang="zh-CN" dirty="0"/>
          </a:p>
          <a:p>
            <a:pPr marL="360363" indent="-360363" eaLnBrk="1" hangingPunct="1">
              <a:lnSpc>
                <a:spcPct val="120000"/>
              </a:lnSpc>
              <a:spcBef>
                <a:spcPct val="0"/>
              </a:spcBef>
              <a:defRPr/>
            </a:pPr>
            <a:r>
              <a:rPr lang="en-US" altLang="zh-CN" dirty="0"/>
              <a:t>C++</a:t>
            </a:r>
            <a:r>
              <a:rPr lang="zh-CN" altLang="en-US" dirty="0"/>
              <a:t>的类是一种用户自定义类型，定义形式如下：</a:t>
            </a:r>
          </a:p>
          <a:p>
            <a:pPr marL="825500"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3200" dirty="0"/>
              <a:t>  </a:t>
            </a:r>
            <a:r>
              <a:rPr lang="en-US" altLang="zh-CN" sz="3200" dirty="0">
                <a:solidFill>
                  <a:srgbClr val="FFC000"/>
                </a:solidFill>
              </a:rPr>
              <a:t>class</a:t>
            </a:r>
            <a:r>
              <a:rPr lang="en-US" altLang="zh-CN" dirty="0"/>
              <a:t> &lt;</a:t>
            </a:r>
            <a:r>
              <a:rPr lang="zh-CN" altLang="en-US" dirty="0"/>
              <a:t>类名</a:t>
            </a:r>
            <a:r>
              <a:rPr lang="en-US" altLang="zh-CN" dirty="0"/>
              <a:t>&gt; </a:t>
            </a:r>
            <a:r>
              <a:rPr lang="en-US" altLang="zh-CN" dirty="0">
                <a:solidFill>
                  <a:srgbClr val="FFC000"/>
                </a:solidFill>
              </a:rPr>
              <a:t>{</a:t>
            </a:r>
            <a:r>
              <a:rPr lang="en-US" altLang="zh-CN" dirty="0"/>
              <a:t> </a:t>
            </a:r>
            <a:r>
              <a:rPr lang="en-GB" altLang="zh-CN" dirty="0"/>
              <a:t>&lt;</a:t>
            </a:r>
            <a:r>
              <a:rPr lang="zh-CN" altLang="en-GB" dirty="0"/>
              <a:t>成员描述</a:t>
            </a:r>
            <a:r>
              <a:rPr lang="en-GB" altLang="zh-CN" dirty="0"/>
              <a:t>&gt;</a:t>
            </a:r>
            <a:r>
              <a:rPr lang="en-GB" altLang="zh-CN" sz="3200" dirty="0"/>
              <a:t> </a:t>
            </a:r>
            <a:r>
              <a:rPr lang="en-US" altLang="en-US" dirty="0">
                <a:solidFill>
                  <a:srgbClr val="FFC000"/>
                </a:solidFill>
              </a:rPr>
              <a:t>} ;</a:t>
            </a:r>
            <a:endParaRPr lang="en-US" altLang="zh-CN" dirty="0">
              <a:solidFill>
                <a:srgbClr val="FFC000"/>
              </a:solidFill>
            </a:endParaRPr>
          </a:p>
          <a:p>
            <a:pPr marL="758825" lvl="1" eaLnBrk="1" hangingPunct="1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dirty="0"/>
              <a:t>成员包括：</a:t>
            </a:r>
            <a:r>
              <a:rPr lang="zh-CN" altLang="en-US" dirty="0">
                <a:solidFill>
                  <a:srgbClr val="FFC000"/>
                </a:solidFill>
              </a:rPr>
              <a:t>数据成员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C000"/>
                </a:solidFill>
              </a:rPr>
              <a:t>成员函数</a:t>
            </a:r>
            <a:r>
              <a:rPr lang="zh-CN" altLang="en-US" dirty="0"/>
              <a:t>。</a:t>
            </a:r>
            <a:endParaRPr lang="en-US" altLang="zh-CN" dirty="0"/>
          </a:p>
          <a:p>
            <a:pPr marL="758825" lvl="1" eaLnBrk="1" hangingPunct="1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dirty="0"/>
              <a:t>类成员标识符的作用域为整个类定义范围。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82" name="Rectangle 2">
            <a:extLst>
              <a:ext uri="{FF2B5EF4-FFF2-40B4-BE49-F238E27FC236}">
                <a16:creationId xmlns:a16="http://schemas.microsoft.com/office/drawing/2014/main" id="{BEE8DF4B-5ED3-6AC0-2D56-C0DAE22E0A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39825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/>
              <a:t>例：一个日期类的定义</a:t>
            </a:r>
          </a:p>
        </p:txBody>
      </p:sp>
      <p:sp>
        <p:nvSpPr>
          <p:cNvPr id="1351683" name="Rectangle 3">
            <a:extLst>
              <a:ext uri="{FF2B5EF4-FFF2-40B4-BE49-F238E27FC236}">
                <a16:creationId xmlns:a16="http://schemas.microsoft.com/office/drawing/2014/main" id="{23914126-E3F0-762D-64EF-537B44BB10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484313"/>
            <a:ext cx="8785225" cy="5257800"/>
          </a:xfrm>
        </p:spPr>
        <p:txBody>
          <a:bodyPr/>
          <a:lstStyle/>
          <a:p>
            <a:pPr defTabSz="63023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class Date</a:t>
            </a:r>
          </a:p>
          <a:p>
            <a:pPr defTabSz="63023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{	public:</a:t>
            </a:r>
          </a:p>
          <a:p>
            <a:pPr defTabSz="63023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		void set(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y,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m,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d) //</a:t>
            </a:r>
            <a:r>
              <a:rPr lang="zh-CN" altLang="en-US" sz="2000" dirty="0">
                <a:solidFill>
                  <a:schemeClr val="folHlink"/>
                </a:solidFill>
              </a:rPr>
              <a:t>成员函数</a:t>
            </a:r>
            <a:endParaRPr lang="zh-CN" altLang="en-GB" sz="2000" dirty="0">
              <a:solidFill>
                <a:schemeClr val="folHlink"/>
              </a:solidFill>
            </a:endParaRPr>
          </a:p>
          <a:p>
            <a:pPr defTabSz="63023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GB" sz="2000" dirty="0"/>
              <a:t>		</a:t>
            </a:r>
            <a:r>
              <a:rPr lang="en-GB" altLang="zh-CN" sz="2000" dirty="0"/>
              <a:t>{ </a:t>
            </a:r>
            <a:r>
              <a:rPr lang="en-US" altLang="zh-CN" sz="2000" dirty="0"/>
              <a:t>year = y; month = m; day = d;</a:t>
            </a:r>
          </a:p>
          <a:p>
            <a:pPr defTabSz="63023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		}</a:t>
            </a:r>
          </a:p>
          <a:p>
            <a:pPr defTabSz="63023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		bool </a:t>
            </a:r>
            <a:r>
              <a:rPr lang="en-US" altLang="zh-CN" sz="2000" dirty="0" err="1"/>
              <a:t>is_leap_year</a:t>
            </a:r>
            <a:r>
              <a:rPr lang="en-US" altLang="zh-CN" sz="2000" dirty="0"/>
              <a:t>() //</a:t>
            </a:r>
            <a:r>
              <a:rPr lang="zh-CN" altLang="en-US" sz="2000" dirty="0">
                <a:solidFill>
                  <a:schemeClr val="folHlink"/>
                </a:solidFill>
              </a:rPr>
              <a:t>成员函数</a:t>
            </a:r>
            <a:endParaRPr lang="zh-CN" altLang="en-GB" sz="2000" dirty="0">
              <a:solidFill>
                <a:schemeClr val="folHlink"/>
              </a:solidFill>
            </a:endParaRPr>
          </a:p>
          <a:p>
            <a:pPr defTabSz="63023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GB" sz="2000" dirty="0"/>
              <a:t>		</a:t>
            </a:r>
            <a:r>
              <a:rPr lang="en-GB" altLang="zh-CN" sz="2000" dirty="0"/>
              <a:t>{ return (year%4==0 &amp;&amp; year%100!=0) || (year%400==0);</a:t>
            </a:r>
          </a:p>
          <a:p>
            <a:pPr defTabSz="63023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	}</a:t>
            </a:r>
          </a:p>
          <a:p>
            <a:pPr defTabSz="63023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	</a:t>
            </a:r>
            <a:r>
              <a:rPr lang="en-US" altLang="zh-CN" sz="2000" dirty="0"/>
              <a:t>void print() //</a:t>
            </a:r>
            <a:r>
              <a:rPr lang="zh-CN" altLang="en-US" sz="2000" dirty="0">
                <a:solidFill>
                  <a:schemeClr val="folHlink"/>
                </a:solidFill>
              </a:rPr>
              <a:t>成员函数</a:t>
            </a:r>
            <a:endParaRPr lang="zh-CN" altLang="en-GB" sz="2000" dirty="0">
              <a:solidFill>
                <a:schemeClr val="folHlink"/>
              </a:solidFill>
            </a:endParaRPr>
          </a:p>
          <a:p>
            <a:pPr defTabSz="63023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GB" sz="2000" dirty="0"/>
              <a:t>		</a:t>
            </a:r>
            <a:r>
              <a:rPr lang="en-GB" altLang="zh-CN" sz="2000" dirty="0"/>
              <a:t>{ </a:t>
            </a:r>
            <a:r>
              <a:rPr lang="en-GB" altLang="zh-CN" sz="2000" dirty="0" err="1"/>
              <a:t>cout</a:t>
            </a:r>
            <a:r>
              <a:rPr lang="en-GB" altLang="zh-CN" sz="2000" dirty="0"/>
              <a:t> &lt;&lt; year &lt;&lt; "." &lt;&lt; month &lt;&lt; "." &lt;&lt;day;</a:t>
            </a:r>
          </a:p>
          <a:p>
            <a:pPr defTabSz="63023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	}</a:t>
            </a:r>
          </a:p>
          <a:p>
            <a:pPr defTabSz="63023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       </a:t>
            </a:r>
            <a:r>
              <a:rPr lang="en-US" altLang="zh-CN" sz="2000" dirty="0"/>
              <a:t>......</a:t>
            </a:r>
          </a:p>
          <a:p>
            <a:pPr defTabSz="63023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	private:</a:t>
            </a:r>
          </a:p>
          <a:p>
            <a:pPr defTabSz="63023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		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year,month,day</a:t>
            </a:r>
            <a:r>
              <a:rPr lang="en-US" altLang="zh-CN" sz="2000" dirty="0"/>
              <a:t>; //</a:t>
            </a:r>
            <a:r>
              <a:rPr lang="zh-CN" altLang="en-US" sz="2000" dirty="0">
                <a:solidFill>
                  <a:schemeClr val="folHlink"/>
                </a:solidFill>
              </a:rPr>
              <a:t>数据成员</a:t>
            </a:r>
          </a:p>
          <a:p>
            <a:pPr defTabSz="630238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};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C75D664-7206-6644-7E1B-2F5C855F87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112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数据成员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B7B97893-C306-C191-7FC4-E32225F22A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125538"/>
            <a:ext cx="8362950" cy="4535487"/>
          </a:xfrm>
        </p:spPr>
        <p:txBody>
          <a:bodyPr/>
          <a:lstStyle/>
          <a:p>
            <a:pPr eaLnBrk="1" hangingPunct="1">
              <a:lnSpc>
                <a:spcPct val="105000"/>
              </a:lnSpc>
              <a:defRPr/>
            </a:pPr>
            <a:r>
              <a:rPr lang="zh-CN" altLang="en-GB" sz="2800" dirty="0">
                <a:solidFill>
                  <a:srgbClr val="FFC000"/>
                </a:solidFill>
              </a:rPr>
              <a:t>数据成员</a:t>
            </a:r>
            <a:r>
              <a:rPr lang="zh-CN" altLang="en-US" sz="2800" dirty="0"/>
              <a:t>是对</a:t>
            </a:r>
            <a:r>
              <a:rPr lang="zh-CN" altLang="en-GB" sz="2800" dirty="0"/>
              <a:t>类的对象所包含的数据</a:t>
            </a:r>
            <a:r>
              <a:rPr lang="zh-CN" altLang="en-US" sz="2800" dirty="0"/>
              <a:t>描述</a:t>
            </a:r>
            <a:r>
              <a:rPr lang="zh-CN" altLang="en-GB" sz="2800" dirty="0"/>
              <a:t>，它们可以是常量和变量</a:t>
            </a:r>
            <a:r>
              <a:rPr lang="zh-CN" altLang="en-US" sz="2800" dirty="0"/>
              <a:t>，类型可以是任意的</a:t>
            </a:r>
            <a:r>
              <a:rPr lang="en-US" altLang="zh-CN" sz="2800" dirty="0"/>
              <a:t>C++</a:t>
            </a:r>
            <a:r>
              <a:rPr lang="zh-CN" altLang="en-US" sz="2800" dirty="0"/>
              <a:t>类型（</a:t>
            </a:r>
            <a:r>
              <a:rPr lang="en-US" altLang="zh-CN" sz="2800" dirty="0"/>
              <a:t>void</a:t>
            </a:r>
            <a:r>
              <a:rPr lang="zh-CN" altLang="en-US" sz="2800" dirty="0"/>
              <a:t>除外） </a:t>
            </a:r>
            <a:r>
              <a:rPr lang="zh-CN" altLang="en-GB" sz="2800" dirty="0"/>
              <a:t>。</a:t>
            </a:r>
            <a:endParaRPr lang="en-US" altLang="zh-CN" sz="2800" dirty="0"/>
          </a:p>
          <a:p>
            <a:pPr eaLnBrk="1" hangingPunct="1">
              <a:lnSpc>
                <a:spcPct val="105000"/>
              </a:lnSpc>
              <a:defRPr/>
            </a:pPr>
            <a:r>
              <a:rPr lang="zh-CN" altLang="en-GB" sz="2800" dirty="0"/>
              <a:t>数据成员的</a:t>
            </a:r>
            <a:r>
              <a:rPr lang="zh-CN" altLang="en-US" sz="2800" dirty="0"/>
              <a:t>描述</a:t>
            </a:r>
            <a:r>
              <a:rPr lang="zh-CN" altLang="en-GB" sz="2800" dirty="0"/>
              <a:t>格式与</a:t>
            </a:r>
            <a:r>
              <a:rPr lang="en-US" altLang="zh-CN" sz="2800" dirty="0"/>
              <a:t>C</a:t>
            </a:r>
            <a:r>
              <a:rPr lang="zh-CN" altLang="en-US" sz="2800" dirty="0"/>
              <a:t>的结构</a:t>
            </a:r>
            <a:r>
              <a:rPr lang="zh-CN" altLang="en-GB" sz="2800" dirty="0"/>
              <a:t>成员</a:t>
            </a:r>
            <a:r>
              <a:rPr lang="zh-CN" altLang="en-US" sz="2800" dirty="0"/>
              <a:t>的描述</a:t>
            </a:r>
            <a:r>
              <a:rPr lang="zh-CN" altLang="en-GB" sz="2800" dirty="0"/>
              <a:t>格式相同，例如：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/>
              <a:t>class Date //</a:t>
            </a:r>
            <a:r>
              <a:rPr lang="zh-CN" altLang="en-US" sz="2400" dirty="0"/>
              <a:t>类定义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/>
              <a:t>{		......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/>
              <a:t>	private: //</a:t>
            </a:r>
            <a:r>
              <a:rPr lang="zh-CN" altLang="en-US" sz="2400" dirty="0"/>
              <a:t>访问控制说明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zh-CN" altLang="en-US" sz="2400" dirty="0"/>
              <a:t>		</a:t>
            </a:r>
            <a:r>
              <a:rPr lang="en-US" altLang="zh-CN" sz="2400" dirty="0" err="1">
                <a:solidFill>
                  <a:srgbClr val="FFC000"/>
                </a:solidFill>
              </a:rPr>
              <a:t>int</a:t>
            </a:r>
            <a:r>
              <a:rPr lang="en-US" altLang="zh-CN" sz="2400" dirty="0">
                <a:solidFill>
                  <a:srgbClr val="FFC000"/>
                </a:solidFill>
              </a:rPr>
              <a:t> </a:t>
            </a:r>
            <a:r>
              <a:rPr lang="en-US" altLang="zh-CN" sz="2400" dirty="0" err="1">
                <a:solidFill>
                  <a:srgbClr val="FFC000"/>
                </a:solidFill>
              </a:rPr>
              <a:t>year,month,day</a:t>
            </a:r>
            <a:r>
              <a:rPr lang="en-US" altLang="zh-CN" sz="2400" dirty="0">
                <a:solidFill>
                  <a:srgbClr val="FFC000"/>
                </a:solidFill>
              </a:rPr>
              <a:t>;</a:t>
            </a:r>
            <a:r>
              <a:rPr lang="en-US" altLang="zh-CN" sz="2400" dirty="0"/>
              <a:t>  //</a:t>
            </a:r>
            <a:r>
              <a:rPr lang="zh-CN" altLang="en-US" sz="2400" dirty="0"/>
              <a:t>数据成员描述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/>
              <a:t>};</a:t>
            </a:r>
            <a:endParaRPr lang="zh-CN" altLang="en-GB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9" name="Rectangle 3">
            <a:extLst>
              <a:ext uri="{FF2B5EF4-FFF2-40B4-BE49-F238E27FC236}">
                <a16:creationId xmlns:a16="http://schemas.microsoft.com/office/drawing/2014/main" id="{7D22D54E-72E4-FC5D-0B65-A3206B1B3C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404813"/>
            <a:ext cx="8640763" cy="5976937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/>
              <a:t>在类中声明一个数据成员的类型时，如果未见到相应类型的定义或相应的类型未定义完，则该数据成员的类型只能是这些类型的</a:t>
            </a:r>
            <a:r>
              <a:rPr lang="zh-CN" altLang="en-US" sz="2800" dirty="0">
                <a:solidFill>
                  <a:srgbClr val="FFC000"/>
                </a:solidFill>
              </a:rPr>
              <a:t>指针</a:t>
            </a:r>
            <a:r>
              <a:rPr lang="zh-CN" altLang="en-US" sz="2800" dirty="0"/>
              <a:t>或</a:t>
            </a:r>
            <a:r>
              <a:rPr lang="zh-CN" altLang="en-US" sz="2800" dirty="0">
                <a:solidFill>
                  <a:srgbClr val="FFC000"/>
                </a:solidFill>
              </a:rPr>
              <a:t>引用</a:t>
            </a:r>
            <a:r>
              <a:rPr lang="zh-CN" altLang="en-US" sz="2800" dirty="0"/>
              <a:t>类型。例如：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/>
              <a:t>class A;	//A</a:t>
            </a:r>
            <a:r>
              <a:rPr lang="zh-CN" altLang="en-GB" sz="2400" dirty="0"/>
              <a:t>是在程序其它地方定义的类，这里是声明。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/>
              <a:t>class B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/>
              <a:t>{	A </a:t>
            </a:r>
            <a:r>
              <a:rPr lang="en-GB" altLang="zh-CN" sz="2400" dirty="0" err="1"/>
              <a:t>a</a:t>
            </a:r>
            <a:r>
              <a:rPr lang="en-GB" altLang="zh-CN" sz="2400" dirty="0"/>
              <a:t>; //</a:t>
            </a:r>
            <a:r>
              <a:rPr lang="en-GB" altLang="zh-CN" sz="2400" dirty="0">
                <a:solidFill>
                  <a:srgbClr val="FFC000"/>
                </a:solidFill>
              </a:rPr>
              <a:t>Error</a:t>
            </a:r>
            <a:r>
              <a:rPr lang="zh-CN" altLang="en-GB" sz="2400" dirty="0">
                <a:solidFill>
                  <a:srgbClr val="FFC000"/>
                </a:solidFill>
              </a:rPr>
              <a:t>，未见</a:t>
            </a:r>
            <a:r>
              <a:rPr lang="en-GB" altLang="zh-CN" sz="2400" dirty="0">
                <a:solidFill>
                  <a:srgbClr val="FFC000"/>
                </a:solidFill>
              </a:rPr>
              <a:t>A</a:t>
            </a:r>
            <a:r>
              <a:rPr lang="zh-CN" altLang="en-GB" sz="2400" dirty="0">
                <a:solidFill>
                  <a:srgbClr val="FFC000"/>
                </a:solidFill>
              </a:rPr>
              <a:t>的定义。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zh-CN" altLang="en-GB" sz="2400" dirty="0"/>
              <a:t>	</a:t>
            </a:r>
            <a:r>
              <a:rPr lang="en-GB" altLang="zh-CN" sz="2400" dirty="0"/>
              <a:t>B </a:t>
            </a:r>
            <a:r>
              <a:rPr lang="en-GB" altLang="zh-CN" sz="2400" dirty="0" err="1"/>
              <a:t>b</a:t>
            </a:r>
            <a:r>
              <a:rPr lang="en-GB" altLang="zh-CN" sz="2400" dirty="0"/>
              <a:t>; //</a:t>
            </a:r>
            <a:r>
              <a:rPr lang="en-GB" altLang="zh-CN" sz="2400" dirty="0">
                <a:solidFill>
                  <a:srgbClr val="FFC000"/>
                </a:solidFill>
              </a:rPr>
              <a:t>Error</a:t>
            </a:r>
            <a:r>
              <a:rPr lang="zh-CN" altLang="en-GB" sz="2400" dirty="0">
                <a:solidFill>
                  <a:srgbClr val="FFC000"/>
                </a:solidFill>
              </a:rPr>
              <a:t>，</a:t>
            </a:r>
            <a:r>
              <a:rPr lang="en-GB" altLang="zh-CN" sz="2400" dirty="0">
                <a:solidFill>
                  <a:srgbClr val="FFC000"/>
                </a:solidFill>
              </a:rPr>
              <a:t>B</a:t>
            </a:r>
            <a:r>
              <a:rPr lang="zh-CN" altLang="en-GB" sz="2400" dirty="0">
                <a:solidFill>
                  <a:srgbClr val="FFC000"/>
                </a:solidFill>
              </a:rPr>
              <a:t>还未定义完</a:t>
            </a:r>
            <a:r>
              <a:rPr lang="zh-CN" altLang="en-US" sz="2400" dirty="0">
                <a:solidFill>
                  <a:srgbClr val="FFC000"/>
                </a:solidFill>
              </a:rPr>
              <a:t>，递归了！</a:t>
            </a:r>
            <a:endParaRPr lang="zh-CN" altLang="en-GB" sz="2400" dirty="0">
              <a:solidFill>
                <a:srgbClr val="FFC000"/>
              </a:solidFill>
            </a:endParaRP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zh-CN" altLang="en-GB" sz="2400" dirty="0"/>
              <a:t>	</a:t>
            </a:r>
            <a:r>
              <a:rPr lang="en-GB" altLang="zh-CN" sz="2400" dirty="0"/>
              <a:t>A *p;  //OK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/>
              <a:t>	B *q;  //OK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/>
              <a:t>	A &amp;aa; //OK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/>
              <a:t>	B &amp;bb; //OK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/>
              <a:t>};</a:t>
            </a:r>
            <a:r>
              <a:rPr lang="en-US" altLang="zh-CN" sz="2400" dirty="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978" name="Rectangle 2">
            <a:extLst>
              <a:ext uri="{FF2B5EF4-FFF2-40B4-BE49-F238E27FC236}">
                <a16:creationId xmlns:a16="http://schemas.microsoft.com/office/drawing/2014/main" id="{3E8EACB5-0A75-A3A2-D55D-EC8E5D9579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413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成员函数</a:t>
            </a:r>
          </a:p>
        </p:txBody>
      </p:sp>
      <p:sp>
        <p:nvSpPr>
          <p:cNvPr id="1278979" name="Rectangle 3">
            <a:extLst>
              <a:ext uri="{FF2B5EF4-FFF2-40B4-BE49-F238E27FC236}">
                <a16:creationId xmlns:a16="http://schemas.microsoft.com/office/drawing/2014/main" id="{D870672E-246F-31E3-CA36-4F9EB40BFB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569325" cy="554513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GB" sz="2400" dirty="0">
                <a:solidFill>
                  <a:srgbClr val="FFC000"/>
                </a:solidFill>
              </a:rPr>
              <a:t>成员函数</a:t>
            </a:r>
            <a:r>
              <a:rPr lang="zh-CN" altLang="en-US" sz="2400" dirty="0"/>
              <a:t>是</a:t>
            </a:r>
            <a:r>
              <a:rPr lang="zh-CN" altLang="en-GB" sz="2400" dirty="0"/>
              <a:t>对类定义中的数据成员所能实施的操作</a:t>
            </a:r>
            <a:r>
              <a:rPr lang="zh-CN" altLang="en-US" sz="2400" dirty="0"/>
              <a:t>描述</a:t>
            </a:r>
            <a:r>
              <a:rPr lang="zh-CN" altLang="en-GB" sz="2400" dirty="0"/>
              <a:t>。</a:t>
            </a:r>
          </a:p>
          <a:p>
            <a:pPr eaLnBrk="1" hangingPunct="1">
              <a:defRPr/>
            </a:pPr>
            <a:r>
              <a:rPr lang="zh-CN" altLang="en-GB" sz="2400" dirty="0"/>
              <a:t>成员函数的</a:t>
            </a:r>
            <a:r>
              <a:rPr lang="zh-CN" altLang="en-US" sz="2400" dirty="0"/>
              <a:t>实现（函数体）</a:t>
            </a:r>
            <a:r>
              <a:rPr lang="zh-CN" altLang="en-GB" sz="2400" dirty="0"/>
              <a:t>可以放在类定义中，例如：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sz="2000" dirty="0"/>
              <a:t>class A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sz="2000" dirty="0"/>
              <a:t>{		...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sz="2000" dirty="0"/>
              <a:t>    void f() {...} //</a:t>
            </a:r>
            <a:r>
              <a:rPr lang="zh-CN" altLang="en-GB" sz="2000" dirty="0">
                <a:solidFill>
                  <a:schemeClr val="folHlink"/>
                </a:solidFill>
              </a:rPr>
              <a:t>建议编译器按内联函数处理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sz="2000" dirty="0"/>
              <a:t>};</a:t>
            </a:r>
          </a:p>
          <a:p>
            <a:pPr eaLnBrk="1" hangingPunct="1">
              <a:defRPr/>
            </a:pPr>
            <a:r>
              <a:rPr lang="zh-CN" altLang="en-GB" sz="2400" dirty="0"/>
              <a:t>成员函数的</a:t>
            </a:r>
            <a:r>
              <a:rPr lang="zh-CN" altLang="en-US" sz="2400" dirty="0"/>
              <a:t>实现</a:t>
            </a:r>
            <a:r>
              <a:rPr lang="zh-CN" altLang="en-GB" sz="2400" dirty="0"/>
              <a:t>也可以放在类定义外，例如：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sz="2000" dirty="0"/>
              <a:t>class A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sz="2000" dirty="0"/>
              <a:t>{		...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sz="2000" dirty="0"/>
              <a:t>    void f(); //</a:t>
            </a:r>
            <a:r>
              <a:rPr lang="zh-CN" altLang="en-GB" sz="2000" dirty="0">
                <a:solidFill>
                  <a:schemeClr val="folHlink"/>
                </a:solidFill>
              </a:rPr>
              <a:t>声明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sz="2000" dirty="0"/>
              <a:t>};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000" dirty="0"/>
              <a:t>void </a:t>
            </a:r>
            <a:r>
              <a:rPr lang="en-US" altLang="zh-CN" sz="2000" dirty="0">
                <a:solidFill>
                  <a:schemeClr val="folHlink"/>
                </a:solidFill>
              </a:rPr>
              <a:t>A::</a:t>
            </a:r>
            <a:r>
              <a:rPr lang="en-US" altLang="zh-CN" sz="2000" dirty="0"/>
              <a:t>f() { ... } //</a:t>
            </a:r>
            <a:r>
              <a:rPr lang="zh-CN" altLang="en-US" sz="2000" dirty="0"/>
              <a:t>要用</a:t>
            </a:r>
            <a:r>
              <a:rPr lang="zh-CN" altLang="en-US" sz="2000" dirty="0">
                <a:solidFill>
                  <a:schemeClr val="folHlink"/>
                </a:solidFill>
              </a:rPr>
              <a:t>类名受限，</a:t>
            </a:r>
            <a:r>
              <a:rPr lang="zh-CN" altLang="en-US" sz="2000" dirty="0"/>
              <a:t>区别于非成员函数（</a:t>
            </a:r>
            <a:r>
              <a:rPr lang="zh-CN" altLang="en-US" sz="2000" dirty="0">
                <a:solidFill>
                  <a:schemeClr val="folHlink"/>
                </a:solidFill>
              </a:rPr>
              <a:t>全局函数</a:t>
            </a:r>
            <a:r>
              <a:rPr lang="zh-CN" altLang="en-US" sz="2000" dirty="0"/>
              <a:t>）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03" name="Rectangle 3">
            <a:extLst>
              <a:ext uri="{FF2B5EF4-FFF2-40B4-BE49-F238E27FC236}">
                <a16:creationId xmlns:a16="http://schemas.microsoft.com/office/drawing/2014/main" id="{9F6A5DFE-EF77-E10E-AECB-DB41BDB583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909638"/>
            <a:ext cx="8686800" cy="467995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GB" dirty="0"/>
              <a:t>类成员函数名是可以重载的（析构函数除外），它遵循一般函数名的重载规则。例如：</a:t>
            </a:r>
            <a:endParaRPr lang="zh-CN" altLang="en-US" dirty="0"/>
          </a:p>
          <a:p>
            <a:pPr lvl="1" eaLnBrk="1" hangingPunct="1">
              <a:buFontTx/>
              <a:buNone/>
              <a:defRPr/>
            </a:pPr>
            <a:r>
              <a:rPr lang="en-US" altLang="zh-CN" dirty="0"/>
              <a:t>class A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dirty="0"/>
              <a:t>{		......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dirty="0"/>
              <a:t>	public: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dirty="0"/>
              <a:t>		void </a:t>
            </a:r>
            <a:r>
              <a:rPr lang="en-US" altLang="zh-CN" dirty="0">
                <a:solidFill>
                  <a:schemeClr val="folHlink"/>
                </a:solidFill>
              </a:rPr>
              <a:t>f</a:t>
            </a:r>
            <a:r>
              <a:rPr lang="en-US" altLang="zh-CN" dirty="0"/>
              <a:t>();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dirty="0"/>
              <a:t>		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folHlink"/>
                </a:solidFill>
              </a:rPr>
              <a:t>f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);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dirty="0"/>
              <a:t>		double </a:t>
            </a:r>
            <a:r>
              <a:rPr lang="en-US" altLang="zh-CN" dirty="0">
                <a:solidFill>
                  <a:schemeClr val="folHlink"/>
                </a:solidFill>
              </a:rPr>
              <a:t>f</a:t>
            </a:r>
            <a:r>
              <a:rPr lang="en-US" altLang="zh-CN" dirty="0"/>
              <a:t>(double d);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dirty="0"/>
              <a:t>	 ......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dirty="0"/>
              <a:t>};</a:t>
            </a: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026" name="Rectangle 2">
            <a:extLst>
              <a:ext uri="{FF2B5EF4-FFF2-40B4-BE49-F238E27FC236}">
                <a16:creationId xmlns:a16="http://schemas.microsoft.com/office/drawing/2014/main" id="{CAA7862A-81DC-A5C5-EDEA-E51D424461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01613"/>
            <a:ext cx="8229600" cy="77946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GB"/>
              <a:t>类成员的访问控制</a:t>
            </a:r>
            <a:r>
              <a:rPr lang="zh-CN" altLang="en-US"/>
              <a:t> </a:t>
            </a:r>
          </a:p>
        </p:txBody>
      </p:sp>
      <p:sp>
        <p:nvSpPr>
          <p:cNvPr id="1281027" name="Rectangle 3">
            <a:extLst>
              <a:ext uri="{FF2B5EF4-FFF2-40B4-BE49-F238E27FC236}">
                <a16:creationId xmlns:a16="http://schemas.microsoft.com/office/drawing/2014/main" id="{17CAB6E7-19FF-97B7-7B6C-AC990ECDAB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268413"/>
            <a:ext cx="8578850" cy="5257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GB" sz="2800" dirty="0"/>
              <a:t>在</a:t>
            </a:r>
            <a:r>
              <a:rPr lang="en-US" altLang="zh-CN" sz="2800" dirty="0"/>
              <a:t>C++</a:t>
            </a:r>
            <a:r>
              <a:rPr lang="zh-CN" altLang="en-US" sz="2800" dirty="0"/>
              <a:t>的类定义中</a:t>
            </a:r>
            <a:r>
              <a:rPr lang="zh-CN" altLang="en-GB" sz="2800" dirty="0"/>
              <a:t>，</a:t>
            </a:r>
            <a:r>
              <a:rPr lang="zh-CN" altLang="en-US" sz="2800" dirty="0"/>
              <a:t>可以用访问控制修饰符</a:t>
            </a:r>
            <a:r>
              <a:rPr lang="en-GB" altLang="zh-CN" sz="2800" dirty="0"/>
              <a:t>public</a:t>
            </a:r>
            <a:r>
              <a:rPr lang="zh-CN" altLang="en-US" sz="2800" dirty="0"/>
              <a:t>、</a:t>
            </a:r>
            <a:r>
              <a:rPr lang="en-GB" altLang="zh-CN" sz="2800" dirty="0"/>
              <a:t>private</a:t>
            </a:r>
            <a:r>
              <a:rPr lang="zh-CN" altLang="en-GB" sz="2800" dirty="0"/>
              <a:t>或</a:t>
            </a:r>
            <a:r>
              <a:rPr lang="en-GB" altLang="zh-CN" sz="2800" dirty="0"/>
              <a:t>protected</a:t>
            </a:r>
            <a:r>
              <a:rPr lang="zh-CN" altLang="en-GB" sz="2800" dirty="0"/>
              <a:t>来</a:t>
            </a:r>
            <a:r>
              <a:rPr lang="zh-CN" altLang="en-US" sz="2800" dirty="0"/>
              <a:t>控制在</a:t>
            </a:r>
            <a:r>
              <a:rPr lang="zh-CN" altLang="en-US" sz="2800" dirty="0">
                <a:solidFill>
                  <a:srgbClr val="FFC000"/>
                </a:solidFill>
              </a:rPr>
              <a:t>类的外部</a:t>
            </a:r>
            <a:r>
              <a:rPr lang="zh-CN" altLang="en-US" sz="2800" dirty="0"/>
              <a:t>对类成员的访问限制。例如：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GB" altLang="zh-CN" sz="2000" dirty="0"/>
              <a:t>class A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{	</a:t>
            </a:r>
            <a:r>
              <a:rPr lang="en-US" altLang="zh-CN" sz="2000" dirty="0">
                <a:solidFill>
                  <a:schemeClr val="folHlink"/>
                </a:solidFill>
              </a:rPr>
              <a:t>public</a:t>
            </a:r>
            <a:r>
              <a:rPr lang="en-US" altLang="zh-CN" sz="2000" dirty="0"/>
              <a:t>: //</a:t>
            </a:r>
            <a:r>
              <a:rPr lang="zh-CN" altLang="en-GB" sz="2000" dirty="0"/>
              <a:t>访问不受限制。</a:t>
            </a:r>
            <a:r>
              <a:rPr lang="zh-CN" altLang="en-US" sz="2000" dirty="0"/>
              <a:t> </a:t>
            </a:r>
            <a:endParaRPr lang="en-GB" altLang="zh-CN" sz="2000" dirty="0"/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		</a:t>
            </a:r>
            <a:r>
              <a:rPr lang="en-GB" altLang="zh-CN" sz="2000" dirty="0" err="1"/>
              <a:t>int</a:t>
            </a:r>
            <a:r>
              <a:rPr lang="en-GB" altLang="zh-CN" sz="2000" dirty="0"/>
              <a:t> x;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		void f();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	</a:t>
            </a:r>
            <a:r>
              <a:rPr lang="en-GB" altLang="zh-CN" sz="2000" dirty="0">
                <a:solidFill>
                  <a:schemeClr val="folHlink"/>
                </a:solidFill>
              </a:rPr>
              <a:t>private</a:t>
            </a:r>
            <a:r>
              <a:rPr lang="en-GB" altLang="zh-CN" sz="2000" dirty="0"/>
              <a:t>: //</a:t>
            </a:r>
            <a:r>
              <a:rPr lang="zh-CN" altLang="en-GB" sz="2000" dirty="0"/>
              <a:t>只能在本类和友元的代码中访问。</a:t>
            </a:r>
            <a:r>
              <a:rPr lang="zh-CN" altLang="en-US" sz="2000" dirty="0"/>
              <a:t> </a:t>
            </a:r>
            <a:endParaRPr lang="zh-CN" altLang="en-GB" sz="2000" dirty="0"/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		</a:t>
            </a:r>
            <a:r>
              <a:rPr lang="en-GB" altLang="zh-CN" sz="2000" dirty="0" err="1"/>
              <a:t>int</a:t>
            </a:r>
            <a:r>
              <a:rPr lang="en-GB" altLang="zh-CN" sz="2000" dirty="0"/>
              <a:t> y;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		void g();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	</a:t>
            </a:r>
            <a:r>
              <a:rPr lang="en-GB" altLang="zh-CN" sz="2000" dirty="0">
                <a:solidFill>
                  <a:schemeClr val="folHlink"/>
                </a:solidFill>
              </a:rPr>
              <a:t>protected</a:t>
            </a:r>
            <a:r>
              <a:rPr lang="en-GB" altLang="zh-CN" sz="2000" dirty="0"/>
              <a:t>: //</a:t>
            </a:r>
            <a:r>
              <a:rPr lang="zh-CN" altLang="en-GB" sz="2000" dirty="0"/>
              <a:t>只能在本类、派生类和友元的代码中访问。</a:t>
            </a:r>
            <a:r>
              <a:rPr lang="zh-CN" altLang="en-US" sz="2000" dirty="0"/>
              <a:t> </a:t>
            </a:r>
            <a:endParaRPr lang="en-GB" altLang="zh-CN" sz="2000" dirty="0"/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		</a:t>
            </a:r>
            <a:r>
              <a:rPr lang="en-GB" altLang="zh-CN" sz="2000" dirty="0" err="1"/>
              <a:t>int</a:t>
            </a:r>
            <a:r>
              <a:rPr lang="en-GB" altLang="zh-CN" sz="2000" dirty="0"/>
              <a:t> z;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		void h();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};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051" name="Rectangle 3">
            <a:extLst>
              <a:ext uri="{FF2B5EF4-FFF2-40B4-BE49-F238E27FC236}">
                <a16:creationId xmlns:a16="http://schemas.microsoft.com/office/drawing/2014/main" id="{BB99D9F6-5347-4876-D422-D73E0556D5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88913"/>
            <a:ext cx="8362950" cy="6480175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GB" sz="2800" dirty="0"/>
              <a:t>在</a:t>
            </a:r>
            <a:r>
              <a:rPr lang="en-US" altLang="zh-CN" sz="2800" dirty="0"/>
              <a:t>C++</a:t>
            </a:r>
            <a:r>
              <a:rPr lang="zh-CN" altLang="en-US" sz="2800" dirty="0"/>
              <a:t>的</a:t>
            </a:r>
            <a:r>
              <a:rPr lang="zh-CN" altLang="en-GB" sz="2800" dirty="0"/>
              <a:t>类定义中</a:t>
            </a:r>
            <a:r>
              <a:rPr lang="zh-CN" altLang="en-US" sz="2800" dirty="0"/>
              <a:t>，</a:t>
            </a:r>
            <a:r>
              <a:rPr lang="zh-CN" altLang="en-GB" sz="2800" dirty="0"/>
              <a:t>可以有多个</a:t>
            </a:r>
            <a:r>
              <a:rPr lang="en-US" altLang="zh-CN" sz="2800" dirty="0"/>
              <a:t>public</a:t>
            </a:r>
            <a:r>
              <a:rPr lang="zh-CN" altLang="en-US" sz="2800" dirty="0"/>
              <a:t>、</a:t>
            </a:r>
            <a:r>
              <a:rPr lang="en-US" altLang="zh-CN" sz="2800" dirty="0"/>
              <a:t>private</a:t>
            </a:r>
            <a:r>
              <a:rPr lang="zh-CN" altLang="en-US" sz="2800" dirty="0"/>
              <a:t>和</a:t>
            </a:r>
            <a:r>
              <a:rPr lang="en-US" altLang="zh-CN" sz="2800" dirty="0"/>
              <a:t>protected</a:t>
            </a:r>
            <a:r>
              <a:rPr lang="zh-CN" altLang="en-US" sz="2800" dirty="0"/>
              <a:t>访问控制说明；默认访问控制是</a:t>
            </a:r>
            <a:r>
              <a:rPr lang="en-US" altLang="zh-CN" sz="2800" dirty="0"/>
              <a:t>private</a:t>
            </a:r>
            <a:r>
              <a:rPr lang="zh-CN" altLang="en-US" sz="2800" dirty="0"/>
              <a:t>。例如：</a:t>
            </a:r>
            <a:endParaRPr lang="zh-CN" altLang="en-GB" sz="2800" dirty="0"/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000" dirty="0"/>
              <a:t>class A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{		</a:t>
            </a:r>
            <a:r>
              <a:rPr lang="en-GB" altLang="zh-CN" sz="2000" dirty="0" err="1"/>
              <a:t>int</a:t>
            </a:r>
            <a:r>
              <a:rPr lang="en-GB" altLang="zh-CN" sz="2000" dirty="0"/>
              <a:t> </a:t>
            </a:r>
            <a:r>
              <a:rPr lang="en-GB" altLang="zh-CN" sz="2000" dirty="0" err="1"/>
              <a:t>m,n</a:t>
            </a:r>
            <a:r>
              <a:rPr lang="en-GB" altLang="zh-CN" sz="2000" dirty="0"/>
              <a:t>; //</a:t>
            </a:r>
            <a:r>
              <a:rPr lang="en-GB" altLang="zh-CN" sz="2000" dirty="0" err="1">
                <a:solidFill>
                  <a:schemeClr val="folHlink"/>
                </a:solidFill>
              </a:rPr>
              <a:t>m,n</a:t>
            </a:r>
            <a:r>
              <a:rPr lang="zh-CN" altLang="en-GB" sz="2000" dirty="0">
                <a:solidFill>
                  <a:schemeClr val="folHlink"/>
                </a:solidFill>
              </a:rPr>
              <a:t>的访问控制为</a:t>
            </a:r>
            <a:r>
              <a:rPr lang="en-US" altLang="zh-CN" sz="2000" dirty="0">
                <a:solidFill>
                  <a:schemeClr val="folHlink"/>
                </a:solidFill>
              </a:rPr>
              <a:t>private</a:t>
            </a:r>
            <a:r>
              <a:rPr lang="zh-CN" altLang="en-US" sz="2000" dirty="0">
                <a:solidFill>
                  <a:schemeClr val="folHlink"/>
                </a:solidFill>
              </a:rPr>
              <a:t>。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zh-CN" altLang="en-US" sz="2000" dirty="0"/>
              <a:t>	</a:t>
            </a:r>
            <a:r>
              <a:rPr lang="en-US" altLang="zh-CN" sz="2000" dirty="0"/>
              <a:t>public:</a:t>
            </a:r>
            <a:endParaRPr lang="en-GB" altLang="zh-CN" sz="2000" dirty="0"/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		</a:t>
            </a:r>
            <a:r>
              <a:rPr lang="en-GB" altLang="zh-CN" sz="2000" dirty="0" err="1"/>
              <a:t>int</a:t>
            </a:r>
            <a:r>
              <a:rPr lang="en-GB" altLang="zh-CN" sz="2000" dirty="0"/>
              <a:t> x;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		void f()</a:t>
            </a:r>
            <a:r>
              <a:rPr lang="zh-CN" altLang="en-US" sz="2000" dirty="0"/>
              <a:t>；</a:t>
            </a:r>
            <a:endParaRPr lang="zh-CN" altLang="en-GB" sz="2000" dirty="0"/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zh-CN" altLang="en-GB" sz="2000" dirty="0"/>
              <a:t>	</a:t>
            </a:r>
            <a:r>
              <a:rPr lang="en-GB" altLang="zh-CN" sz="2000" dirty="0"/>
              <a:t>private: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		</a:t>
            </a:r>
            <a:r>
              <a:rPr lang="en-GB" altLang="zh-CN" sz="2000" dirty="0" err="1"/>
              <a:t>int</a:t>
            </a:r>
            <a:r>
              <a:rPr lang="en-GB" altLang="zh-CN" sz="2000" dirty="0"/>
              <a:t> y;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		void g();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	protected: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		</a:t>
            </a:r>
            <a:r>
              <a:rPr lang="en-GB" altLang="zh-CN" sz="2000" dirty="0" err="1"/>
              <a:t>int</a:t>
            </a:r>
            <a:r>
              <a:rPr lang="en-GB" altLang="zh-CN" sz="2000" dirty="0"/>
              <a:t> z;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		void h();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	public: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		void f1();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/>
              <a:t>};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098" name="Rectangle 2">
            <a:extLst>
              <a:ext uri="{FF2B5EF4-FFF2-40B4-BE49-F238E27FC236}">
                <a16:creationId xmlns:a16="http://schemas.microsoft.com/office/drawing/2014/main" id="{9E52A850-C5FE-E6B2-5A4E-B637981F98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81075"/>
            <a:ext cx="8435975" cy="554355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GB" dirty="0"/>
              <a:t>一般来说，类的</a:t>
            </a:r>
            <a:r>
              <a:rPr lang="zh-CN" altLang="en-GB" dirty="0">
                <a:solidFill>
                  <a:schemeClr val="folHlink"/>
                </a:solidFill>
              </a:rPr>
              <a:t>数据成员</a:t>
            </a:r>
            <a:r>
              <a:rPr lang="zh-CN" altLang="en-GB" dirty="0"/>
              <a:t>和</a:t>
            </a:r>
            <a:r>
              <a:rPr lang="zh-CN" altLang="en-US" dirty="0"/>
              <a:t>在类的</a:t>
            </a:r>
            <a:r>
              <a:rPr lang="zh-CN" altLang="en-US" dirty="0">
                <a:solidFill>
                  <a:schemeClr val="folHlink"/>
                </a:solidFill>
              </a:rPr>
              <a:t>内部使用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chemeClr val="folHlink"/>
                </a:solidFill>
              </a:rPr>
              <a:t>成员函数</a:t>
            </a:r>
            <a:r>
              <a:rPr lang="zh-CN" altLang="en-GB" dirty="0"/>
              <a:t>应该指定为</a:t>
            </a:r>
            <a:r>
              <a:rPr lang="en-US" altLang="zh-CN" dirty="0">
                <a:solidFill>
                  <a:schemeClr val="folHlink"/>
                </a:solidFill>
              </a:rPr>
              <a:t>private</a:t>
            </a:r>
            <a:r>
              <a:rPr lang="zh-CN" altLang="en-GB" dirty="0"/>
              <a:t>，只有提供给</a:t>
            </a:r>
            <a:r>
              <a:rPr lang="zh-CN" altLang="en-GB" dirty="0">
                <a:solidFill>
                  <a:srgbClr val="FFC000"/>
                </a:solidFill>
              </a:rPr>
              <a:t>外界使用</a:t>
            </a:r>
            <a:r>
              <a:rPr lang="zh-CN" altLang="en-GB" dirty="0"/>
              <a:t>的成员函数才指定为</a:t>
            </a:r>
            <a:r>
              <a:rPr lang="en-US" altLang="zh-CN" dirty="0">
                <a:solidFill>
                  <a:srgbClr val="FFC000"/>
                </a:solidFill>
              </a:rPr>
              <a:t>public</a:t>
            </a:r>
            <a:r>
              <a:rPr lang="zh-CN" altLang="en-US" dirty="0"/>
              <a:t>。 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具有</a:t>
            </a:r>
            <a:r>
              <a:rPr lang="en-US" altLang="zh-CN" dirty="0"/>
              <a:t>public</a:t>
            </a:r>
            <a:r>
              <a:rPr lang="zh-CN" altLang="en-US" dirty="0"/>
              <a:t>访问控制的成员构成了</a:t>
            </a:r>
            <a:r>
              <a:rPr lang="zh-CN" altLang="en-GB" dirty="0"/>
              <a:t>类与外界的一种</a:t>
            </a:r>
            <a:r>
              <a:rPr lang="zh-CN" altLang="en-GB" dirty="0">
                <a:solidFill>
                  <a:schemeClr val="folHlink"/>
                </a:solidFill>
              </a:rPr>
              <a:t>接口</a:t>
            </a:r>
            <a:r>
              <a:rPr lang="zh-CN" altLang="en-GB" dirty="0"/>
              <a:t>（</a:t>
            </a:r>
            <a:r>
              <a:rPr lang="en-US" altLang="zh-CN" dirty="0"/>
              <a:t>interface</a:t>
            </a:r>
            <a:r>
              <a:rPr lang="zh-CN" altLang="en-US" dirty="0"/>
              <a:t>）。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在一个类的外部只能访问该类接口中的成员。 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zh-CN" dirty="0"/>
              <a:t>protected</a:t>
            </a:r>
            <a:r>
              <a:rPr lang="zh-CN" altLang="en-US" dirty="0"/>
              <a:t>类成员访问控制具有特殊的作用（在派生类中使用）。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178" name="Rectangle 2">
            <a:extLst>
              <a:ext uri="{FF2B5EF4-FFF2-40B4-BE49-F238E27FC236}">
                <a16:creationId xmlns:a16="http://schemas.microsoft.com/office/drawing/2014/main" id="{AD68DDFD-C842-F277-BE50-854458F9ED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188913"/>
            <a:ext cx="6902450" cy="9413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/>
              <a:t>对  象</a:t>
            </a:r>
          </a:p>
        </p:txBody>
      </p:sp>
      <p:sp>
        <p:nvSpPr>
          <p:cNvPr id="1074179" name="Rectangle 3">
            <a:extLst>
              <a:ext uri="{FF2B5EF4-FFF2-40B4-BE49-F238E27FC236}">
                <a16:creationId xmlns:a16="http://schemas.microsoft.com/office/drawing/2014/main" id="{4B8D47BA-1910-F473-D640-29BB7669F9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557338"/>
            <a:ext cx="8424862" cy="487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GB" dirty="0">
                <a:solidFill>
                  <a:srgbClr val="FFC000"/>
                </a:solidFill>
              </a:rPr>
              <a:t>类</a:t>
            </a:r>
            <a:r>
              <a:rPr lang="zh-CN" altLang="en-GB" dirty="0"/>
              <a:t>属于类型范畴的程序实体，存在于静态（</a:t>
            </a:r>
            <a:r>
              <a:rPr lang="zh-CN" altLang="en-US" dirty="0"/>
              <a:t>编译时刻</a:t>
            </a:r>
            <a:r>
              <a:rPr lang="zh-CN" altLang="en-GB" dirty="0"/>
              <a:t>）的程序中。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zh-CN" dirty="0"/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GB" dirty="0">
                <a:solidFill>
                  <a:srgbClr val="FFC000"/>
                </a:solidFill>
              </a:rPr>
              <a:t>对象</a:t>
            </a:r>
            <a:r>
              <a:rPr lang="zh-CN" altLang="en-GB" dirty="0"/>
              <a:t>在程序运行时创建</a:t>
            </a:r>
            <a:r>
              <a:rPr lang="zh-CN" altLang="en-US" dirty="0"/>
              <a:t>，</a:t>
            </a:r>
            <a:r>
              <a:rPr lang="zh-CN" altLang="en-GB" dirty="0"/>
              <a:t>动态（运行中）的程序则是由对象构成。</a:t>
            </a:r>
          </a:p>
          <a:p>
            <a:pPr eaLnBrk="1" hangingPunct="1">
              <a:lnSpc>
                <a:spcPct val="110000"/>
              </a:lnSpc>
              <a:defRPr/>
            </a:pPr>
            <a:endParaRPr lang="en-US" altLang="zh-C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346" name="Rectangle 2">
            <a:extLst>
              <a:ext uri="{FF2B5EF4-FFF2-40B4-BE49-F238E27FC236}">
                <a16:creationId xmlns:a16="http://schemas.microsoft.com/office/drawing/2014/main" id="{62E5E0B8-6B99-0609-E9E7-92ACA27126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GB"/>
              <a:t>对象的创建和标识</a:t>
            </a:r>
            <a:r>
              <a:rPr lang="zh-CN" altLang="en-US"/>
              <a:t> </a:t>
            </a:r>
          </a:p>
        </p:txBody>
      </p:sp>
      <p:sp>
        <p:nvSpPr>
          <p:cNvPr id="1081347" name="Rectangle 3">
            <a:extLst>
              <a:ext uri="{FF2B5EF4-FFF2-40B4-BE49-F238E27FC236}">
                <a16:creationId xmlns:a16="http://schemas.microsoft.com/office/drawing/2014/main" id="{B35D493F-731F-1DDB-09BD-1A5CD89641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196975"/>
            <a:ext cx="8893175" cy="5661025"/>
          </a:xfrm>
        </p:spPr>
        <p:txBody>
          <a:bodyPr/>
          <a:lstStyle/>
          <a:p>
            <a:pPr defTabSz="741363" eaLnBrk="1" hangingPunct="1">
              <a:lnSpc>
                <a:spcPct val="90000"/>
              </a:lnSpc>
              <a:defRPr/>
            </a:pPr>
            <a:r>
              <a:rPr lang="zh-CN" altLang="en-GB" dirty="0"/>
              <a:t>直接方式</a:t>
            </a:r>
            <a:r>
              <a:rPr lang="zh-CN" altLang="en-US" dirty="0"/>
              <a:t>（或本地方式）</a:t>
            </a:r>
            <a:endParaRPr lang="zh-CN" altLang="en-GB" dirty="0"/>
          </a:p>
          <a:p>
            <a:pPr marL="800100" lvl="1" indent="-257175" defTabSz="741363" eaLnBrk="1" hangingPunct="1">
              <a:lnSpc>
                <a:spcPct val="90000"/>
              </a:lnSpc>
              <a:defRPr/>
            </a:pPr>
            <a:r>
              <a:rPr lang="zh-CN" altLang="en-GB" sz="2400" dirty="0"/>
              <a:t>通过在程序中定义一个类型为类的变量来实现的。例如：</a:t>
            </a:r>
          </a:p>
          <a:p>
            <a:pPr marL="1336675" lvl="2" defTabSz="741363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class A</a:t>
            </a:r>
          </a:p>
          <a:p>
            <a:pPr marL="1336675" lvl="2" defTabSz="7413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{	public:</a:t>
            </a:r>
          </a:p>
          <a:p>
            <a:pPr marL="1336675" lvl="2" defTabSz="7413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	void f();</a:t>
            </a:r>
          </a:p>
          <a:p>
            <a:pPr marL="1336675" lvl="2" defTabSz="7413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	void g();</a:t>
            </a:r>
          </a:p>
          <a:p>
            <a:pPr marL="1336675" lvl="2" defTabSz="7413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private:</a:t>
            </a:r>
          </a:p>
          <a:p>
            <a:pPr marL="1336675" lvl="2" defTabSz="7413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	</a:t>
            </a:r>
            <a:r>
              <a:rPr lang="en-GB" altLang="zh-CN" sz="2000" dirty="0" err="1"/>
              <a:t>int</a:t>
            </a:r>
            <a:r>
              <a:rPr lang="en-GB" altLang="zh-CN" sz="2000" dirty="0"/>
              <a:t> </a:t>
            </a:r>
            <a:r>
              <a:rPr lang="en-GB" altLang="zh-CN" sz="2000" dirty="0" err="1"/>
              <a:t>x,y</a:t>
            </a:r>
            <a:r>
              <a:rPr lang="en-GB" altLang="zh-CN" sz="2000" dirty="0"/>
              <a:t>;</a:t>
            </a:r>
          </a:p>
          <a:p>
            <a:pPr marL="1336675" lvl="2" defTabSz="7413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}</a:t>
            </a:r>
          </a:p>
          <a:p>
            <a:pPr marL="1336675" lvl="2" defTabSz="7413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......</a:t>
            </a:r>
          </a:p>
          <a:p>
            <a:pPr marL="1336675" lvl="2" defTabSz="7413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A a1;  //</a:t>
            </a:r>
            <a:r>
              <a:rPr lang="zh-CN" altLang="en-GB" sz="2000" dirty="0"/>
              <a:t>创建一个</a:t>
            </a:r>
            <a:r>
              <a:rPr lang="en-GB" altLang="zh-CN" sz="2000" dirty="0"/>
              <a:t>A</a:t>
            </a:r>
            <a:r>
              <a:rPr lang="zh-CN" altLang="en-GB" sz="2000" dirty="0"/>
              <a:t>类的对象。</a:t>
            </a:r>
          </a:p>
          <a:p>
            <a:pPr marL="1336675" lvl="2" defTabSz="74136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A a2[100]; //</a:t>
            </a:r>
            <a:r>
              <a:rPr lang="zh-CN" altLang="en-GB" sz="2000" dirty="0"/>
              <a:t>创建</a:t>
            </a:r>
            <a:r>
              <a:rPr lang="en-GB" altLang="zh-CN" sz="2000" dirty="0"/>
              <a:t>100</a:t>
            </a:r>
            <a:r>
              <a:rPr lang="zh-CN" altLang="en-GB" sz="2000" dirty="0"/>
              <a:t>个</a:t>
            </a:r>
            <a:r>
              <a:rPr lang="en-GB" altLang="zh-CN" sz="2000" dirty="0"/>
              <a:t>A</a:t>
            </a:r>
            <a:r>
              <a:rPr lang="zh-CN" altLang="en-GB" sz="2000" dirty="0"/>
              <a:t>类对象。</a:t>
            </a:r>
          </a:p>
          <a:p>
            <a:pPr marL="800100" lvl="1" indent="-257175" defTabSz="741363" eaLnBrk="1" hangingPunct="1">
              <a:lnSpc>
                <a:spcPct val="90000"/>
              </a:lnSpc>
              <a:defRPr/>
            </a:pPr>
            <a:r>
              <a:rPr lang="zh-CN" altLang="en-US" sz="2400" dirty="0"/>
              <a:t>对象在进入相应变量的生存期时创建，通过</a:t>
            </a:r>
            <a:r>
              <a:rPr lang="zh-CN" altLang="en-US" sz="2400" dirty="0">
                <a:solidFill>
                  <a:srgbClr val="FFC000"/>
                </a:solidFill>
              </a:rPr>
              <a:t>变量名</a:t>
            </a:r>
            <a:r>
              <a:rPr lang="zh-CN" altLang="en-US" sz="2400" dirty="0"/>
              <a:t>来标识和访问。相应变量的生存期结束时，对象消亡。</a:t>
            </a:r>
          </a:p>
          <a:p>
            <a:pPr marL="800100" lvl="1" indent="-257175" defTabSz="741363" eaLnBrk="1" hangingPunct="1">
              <a:lnSpc>
                <a:spcPct val="90000"/>
              </a:lnSpc>
              <a:defRPr/>
            </a:pPr>
            <a:r>
              <a:rPr lang="zh-CN" altLang="en-US" sz="2400" dirty="0"/>
              <a:t>分为：全局对象、局部对象和成员对象。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371" name="Rectangle 3">
            <a:extLst>
              <a:ext uri="{FF2B5EF4-FFF2-40B4-BE49-F238E27FC236}">
                <a16:creationId xmlns:a16="http://schemas.microsoft.com/office/drawing/2014/main" id="{044E48FB-3E50-3FFE-1645-C286895AB9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333375"/>
            <a:ext cx="8713788" cy="6335713"/>
          </a:xfrm>
        </p:spPr>
        <p:txBody>
          <a:bodyPr>
            <a:normAutofit fontScale="92500"/>
          </a:bodyPr>
          <a:lstStyle/>
          <a:p>
            <a:pPr marL="609600" indent="-609600" eaLnBrk="1" hangingPunct="1">
              <a:lnSpc>
                <a:spcPct val="115000"/>
              </a:lnSpc>
              <a:defRPr/>
            </a:pPr>
            <a:r>
              <a:rPr lang="zh-CN" altLang="en-US" dirty="0"/>
              <a:t>间接方式（动态对象）</a:t>
            </a:r>
          </a:p>
          <a:p>
            <a:pPr marL="990600" lvl="1" indent="-533400" eaLnBrk="1" hangingPunct="1">
              <a:lnSpc>
                <a:spcPct val="110000"/>
              </a:lnSpc>
              <a:defRPr/>
            </a:pPr>
            <a:r>
              <a:rPr lang="zh-CN" altLang="en-GB" dirty="0"/>
              <a:t>通过</a:t>
            </a:r>
            <a:r>
              <a:rPr lang="zh-CN" altLang="en-US" dirty="0"/>
              <a:t>用</a:t>
            </a:r>
            <a:r>
              <a:rPr lang="en-GB" altLang="zh-CN" dirty="0">
                <a:solidFill>
                  <a:srgbClr val="FFC000"/>
                </a:solidFill>
              </a:rPr>
              <a:t>new</a:t>
            </a:r>
            <a:r>
              <a:rPr lang="zh-CN" altLang="en-GB" dirty="0"/>
              <a:t>操作来创建对象</a:t>
            </a:r>
            <a:r>
              <a:rPr lang="zh-CN" altLang="en-US" dirty="0"/>
              <a:t>，</a:t>
            </a:r>
            <a:r>
              <a:rPr lang="zh-CN" altLang="en-GB" dirty="0"/>
              <a:t>用</a:t>
            </a:r>
            <a:r>
              <a:rPr lang="en-GB" altLang="zh-CN" dirty="0">
                <a:solidFill>
                  <a:srgbClr val="FFC000"/>
                </a:solidFill>
              </a:rPr>
              <a:t>delete</a:t>
            </a:r>
            <a:r>
              <a:rPr lang="zh-CN" altLang="en-GB" dirty="0"/>
              <a:t>操作来撤消（使之消亡）。</a:t>
            </a:r>
            <a:r>
              <a:rPr lang="zh-CN" altLang="en-US" dirty="0"/>
              <a:t>对象</a:t>
            </a:r>
            <a:r>
              <a:rPr lang="zh-CN" altLang="en-GB" dirty="0"/>
              <a:t>通过</a:t>
            </a:r>
            <a:r>
              <a:rPr lang="zh-CN" altLang="en-GB" dirty="0">
                <a:solidFill>
                  <a:srgbClr val="FFC000"/>
                </a:solidFill>
              </a:rPr>
              <a:t>指针</a:t>
            </a:r>
            <a:r>
              <a:rPr lang="zh-CN" altLang="en-GB" dirty="0"/>
              <a:t>来标识和访问。</a:t>
            </a:r>
            <a:endParaRPr lang="en-US" altLang="zh-CN" dirty="0"/>
          </a:p>
          <a:p>
            <a:pPr marL="990600" lvl="1" indent="-533400" eaLnBrk="1" hangingPunct="1">
              <a:lnSpc>
                <a:spcPct val="110000"/>
              </a:lnSpc>
              <a:defRPr/>
            </a:pPr>
            <a:r>
              <a:rPr lang="zh-CN" altLang="en-US" dirty="0"/>
              <a:t>单个动态对象的创建与撤消</a:t>
            </a:r>
          </a:p>
          <a:p>
            <a:pPr marL="984250" lvl="2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A *p;</a:t>
            </a:r>
          </a:p>
          <a:p>
            <a:pPr marL="984250" lvl="2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p = new A;  // </a:t>
            </a:r>
            <a:r>
              <a:rPr lang="zh-CN" altLang="en-US" dirty="0"/>
              <a:t>创建一个</a:t>
            </a:r>
            <a:r>
              <a:rPr lang="en-US" altLang="zh-CN" dirty="0"/>
              <a:t>A</a:t>
            </a:r>
            <a:r>
              <a:rPr lang="zh-CN" altLang="en-US" dirty="0"/>
              <a:t>类的动态对象。</a:t>
            </a:r>
          </a:p>
          <a:p>
            <a:pPr marL="984250" lvl="2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… *p … //</a:t>
            </a:r>
            <a:r>
              <a:rPr lang="zh-CN" altLang="en-US" dirty="0"/>
              <a:t>或，</a:t>
            </a:r>
            <a:r>
              <a:rPr lang="en-US" altLang="zh-CN" dirty="0"/>
              <a:t>p-&gt;...</a:t>
            </a:r>
            <a:r>
              <a:rPr lang="zh-CN" altLang="en-US" dirty="0"/>
              <a:t>，通过</a:t>
            </a:r>
            <a:r>
              <a:rPr lang="en-US" altLang="zh-CN" dirty="0"/>
              <a:t>p</a:t>
            </a:r>
            <a:r>
              <a:rPr lang="zh-CN" altLang="en-US" dirty="0"/>
              <a:t>访问动态对象</a:t>
            </a:r>
          </a:p>
          <a:p>
            <a:pPr marL="984250" lvl="2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delete p;   // </a:t>
            </a:r>
            <a:r>
              <a:rPr lang="zh-CN" altLang="en-US" dirty="0"/>
              <a:t>撤消</a:t>
            </a:r>
            <a:r>
              <a:rPr lang="en-US" altLang="zh-CN" dirty="0"/>
              <a:t>p</a:t>
            </a:r>
            <a:r>
              <a:rPr lang="zh-CN" altLang="en-US" dirty="0"/>
              <a:t>所指向的动态对象。</a:t>
            </a:r>
          </a:p>
          <a:p>
            <a:pPr marL="990600" lvl="1" indent="-533400" eaLnBrk="1" hangingPunct="1">
              <a:lnSpc>
                <a:spcPct val="110000"/>
              </a:lnSpc>
              <a:defRPr/>
            </a:pPr>
            <a:r>
              <a:rPr lang="zh-CN" altLang="en-US" dirty="0"/>
              <a:t>动态对象数组的创建与撤消</a:t>
            </a:r>
          </a:p>
          <a:p>
            <a:pPr marL="989013" lvl="2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A *q;</a:t>
            </a:r>
          </a:p>
          <a:p>
            <a:pPr marL="989013" lvl="2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q = new A[100];   //</a:t>
            </a:r>
            <a:r>
              <a:rPr lang="zh-CN" altLang="en-US" dirty="0"/>
              <a:t>创建一个动态对象数组。</a:t>
            </a:r>
          </a:p>
          <a:p>
            <a:pPr marL="989013" lvl="2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...q[</a:t>
            </a:r>
            <a:r>
              <a:rPr lang="en-US" altLang="zh-CN" dirty="0" err="1"/>
              <a:t>i</a:t>
            </a:r>
            <a:r>
              <a:rPr lang="en-US" altLang="zh-CN" dirty="0"/>
              <a:t>]... //</a:t>
            </a:r>
            <a:r>
              <a:rPr lang="zh-CN" altLang="en-US" dirty="0"/>
              <a:t>或，</a:t>
            </a:r>
            <a:r>
              <a:rPr lang="en-US" altLang="zh-CN" dirty="0"/>
              <a:t>*(</a:t>
            </a:r>
            <a:r>
              <a:rPr lang="en-US" altLang="zh-CN" dirty="0" err="1"/>
              <a:t>q+i</a:t>
            </a:r>
            <a:r>
              <a:rPr lang="en-US" altLang="zh-CN" dirty="0"/>
              <a:t>)</a:t>
            </a:r>
            <a:r>
              <a:rPr lang="zh-CN" altLang="en-US" dirty="0"/>
              <a:t>，访问动态对象数组中的第</a:t>
            </a:r>
            <a:r>
              <a:rPr lang="en-US" altLang="zh-CN" dirty="0" err="1"/>
              <a:t>i</a:t>
            </a:r>
            <a:r>
              <a:rPr lang="zh-CN" altLang="en-US" dirty="0"/>
              <a:t>个对象</a:t>
            </a:r>
          </a:p>
          <a:p>
            <a:pPr marL="989013" lvl="2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delete </a:t>
            </a:r>
            <a:r>
              <a:rPr lang="en-US" altLang="zh-CN" dirty="0">
                <a:solidFill>
                  <a:srgbClr val="FFC000"/>
                </a:solidFill>
              </a:rPr>
              <a:t>[]</a:t>
            </a:r>
            <a:r>
              <a:rPr lang="en-US" altLang="zh-CN" dirty="0"/>
              <a:t>q;   //</a:t>
            </a:r>
            <a:r>
              <a:rPr lang="zh-CN" altLang="en-US" dirty="0"/>
              <a:t>撤消</a:t>
            </a:r>
            <a:r>
              <a:rPr lang="en-US" altLang="zh-CN" dirty="0"/>
              <a:t>q</a:t>
            </a:r>
            <a:r>
              <a:rPr lang="zh-CN" altLang="en-US" dirty="0"/>
              <a:t>所指向的动态对象数组。</a:t>
            </a:r>
            <a:r>
              <a:rPr lang="zh-CN" altLang="en-GB" dirty="0"/>
              <a:t> 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114" name="Rectangle 2">
            <a:extLst>
              <a:ext uri="{FF2B5EF4-FFF2-40B4-BE49-F238E27FC236}">
                <a16:creationId xmlns:a16="http://schemas.microsoft.com/office/drawing/2014/main" id="{BC5FB4BF-B170-8679-AD8A-6EF227BBCA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8163" y="1196975"/>
            <a:ext cx="8137525" cy="544512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defRPr/>
            </a:pPr>
            <a:r>
              <a:rPr lang="zh-CN" altLang="en-US" sz="2800" dirty="0"/>
              <a:t>对于类的数据成员，其类型可以是另一个类。即，一个对象可以包含另一个对象（称为</a:t>
            </a:r>
            <a:r>
              <a:rPr lang="zh-CN" altLang="en-US" sz="2800" dirty="0">
                <a:solidFill>
                  <a:srgbClr val="FFC000"/>
                </a:solidFill>
              </a:rPr>
              <a:t>成员对象</a:t>
            </a:r>
            <a:r>
              <a:rPr lang="zh-CN" altLang="en-US" sz="2800" dirty="0"/>
              <a:t>）。例如： </a:t>
            </a:r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2200" dirty="0"/>
              <a:t>class A</a:t>
            </a:r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2200" dirty="0"/>
              <a:t>{	...</a:t>
            </a:r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2200" dirty="0"/>
              <a:t>};</a:t>
            </a:r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2200" dirty="0"/>
              <a:t>class B</a:t>
            </a:r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2200" dirty="0"/>
              <a:t>{ ...</a:t>
            </a:r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2200" dirty="0"/>
              <a:t>   A </a:t>
            </a:r>
            <a:r>
              <a:rPr lang="en-US" altLang="zh-CN" sz="2200" dirty="0" err="1">
                <a:solidFill>
                  <a:srgbClr val="FFC000"/>
                </a:solidFill>
              </a:rPr>
              <a:t>a</a:t>
            </a:r>
            <a:r>
              <a:rPr lang="en-US" altLang="zh-CN" sz="2200" dirty="0"/>
              <a:t>; //</a:t>
            </a:r>
            <a:r>
              <a:rPr lang="zh-CN" altLang="en-US" sz="2200" dirty="0">
                <a:solidFill>
                  <a:srgbClr val="FFC000"/>
                </a:solidFill>
              </a:rPr>
              <a:t>成员对象</a:t>
            </a:r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sz="2200" dirty="0"/>
              <a:t>   </a:t>
            </a:r>
            <a:r>
              <a:rPr lang="en-US" altLang="zh-CN" sz="2200" dirty="0"/>
              <a:t>...</a:t>
            </a:r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2200" dirty="0"/>
              <a:t>};</a:t>
            </a:r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2200" dirty="0"/>
              <a:t>B </a:t>
            </a:r>
            <a:r>
              <a:rPr lang="en-US" altLang="zh-CN" sz="2200" dirty="0" err="1"/>
              <a:t>b</a:t>
            </a:r>
            <a:r>
              <a:rPr lang="en-US" altLang="zh-CN" sz="2200" dirty="0"/>
              <a:t>; //</a:t>
            </a:r>
            <a:r>
              <a:rPr lang="zh-CN" altLang="en-US" sz="2200" dirty="0"/>
              <a:t>对象</a:t>
            </a:r>
            <a:r>
              <a:rPr lang="en-US" altLang="zh-CN" sz="2200" dirty="0"/>
              <a:t>b</a:t>
            </a:r>
            <a:r>
              <a:rPr lang="zh-CN" altLang="en-US" sz="2200" dirty="0"/>
              <a:t>包含一个成员对象：</a:t>
            </a:r>
            <a:r>
              <a:rPr lang="en-US" altLang="zh-CN" sz="2200" dirty="0" err="1"/>
              <a:t>b.a</a:t>
            </a:r>
            <a:endParaRPr lang="en-US" altLang="zh-CN" sz="2200" dirty="0"/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zh-CN" altLang="en-US" sz="2600" dirty="0"/>
              <a:t>成员对象跟随包含它的对象一起创建和消亡。</a:t>
            </a:r>
            <a:endParaRPr lang="en-US" altLang="zh-CN" sz="2600" dirty="0"/>
          </a:p>
        </p:txBody>
      </p:sp>
      <p:sp>
        <p:nvSpPr>
          <p:cNvPr id="1114115" name="Rectangle 3">
            <a:extLst>
              <a:ext uri="{FF2B5EF4-FFF2-40B4-BE49-F238E27FC236}">
                <a16:creationId xmlns:a16="http://schemas.microsoft.com/office/drawing/2014/main" id="{7EAEE6A0-CFFA-5D48-DAAB-150BDFE12E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6088" y="188913"/>
            <a:ext cx="8229600" cy="792162"/>
          </a:xfrm>
        </p:spPr>
        <p:txBody>
          <a:bodyPr lIns="92075" tIns="46038" rIns="92075" bIns="46038" anchor="b" anchorCtr="0"/>
          <a:lstStyle/>
          <a:p>
            <a:pPr marL="838200" indent="-838200" eaLnBrk="1" hangingPunct="1">
              <a:defRPr/>
            </a:pPr>
            <a:r>
              <a:rPr lang="zh-CN" altLang="en-US" sz="4000"/>
              <a:t>成员对象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250" name="Rectangle 2">
            <a:extLst>
              <a:ext uri="{FF2B5EF4-FFF2-40B4-BE49-F238E27FC236}">
                <a16:creationId xmlns:a16="http://schemas.microsoft.com/office/drawing/2014/main" id="{1CC8FD06-513C-7EB2-F545-4FCCF5E9FC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86836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GB" dirty="0"/>
              <a:t>对象的操作</a:t>
            </a:r>
            <a:r>
              <a:rPr lang="zh-CN" altLang="en-US" dirty="0"/>
              <a:t> </a:t>
            </a:r>
          </a:p>
        </p:txBody>
      </p:sp>
      <p:sp>
        <p:nvSpPr>
          <p:cNvPr id="1077251" name="Rectangle 3">
            <a:extLst>
              <a:ext uri="{FF2B5EF4-FFF2-40B4-BE49-F238E27FC236}">
                <a16:creationId xmlns:a16="http://schemas.microsoft.com/office/drawing/2014/main" id="{9D96FF18-7987-37DD-542D-706F07E1F3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25538"/>
            <a:ext cx="8353425" cy="55435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GB" sz="2400" dirty="0"/>
              <a:t>对于创建的一个对象，需要通过向它</a:t>
            </a:r>
            <a:r>
              <a:rPr lang="zh-CN" altLang="en-GB" sz="2400" dirty="0">
                <a:solidFill>
                  <a:srgbClr val="FFC000"/>
                </a:solidFill>
              </a:rPr>
              <a:t>发送消息</a:t>
            </a:r>
            <a:r>
              <a:rPr lang="zh-CN" altLang="en-US" sz="2400" dirty="0"/>
              <a:t>（</a:t>
            </a:r>
            <a:r>
              <a:rPr lang="zh-CN" altLang="en-GB" sz="2400" dirty="0"/>
              <a:t>调用对象类中定义的某个</a:t>
            </a:r>
            <a:r>
              <a:rPr lang="en-GB" altLang="zh-CN" sz="2400" dirty="0"/>
              <a:t>public</a:t>
            </a:r>
            <a:r>
              <a:rPr lang="zh-CN" altLang="en-GB" sz="2400" dirty="0"/>
              <a:t>成员函数</a:t>
            </a:r>
            <a:r>
              <a:rPr lang="zh-CN" altLang="en-US" sz="2400" dirty="0"/>
              <a:t>）</a:t>
            </a:r>
            <a:r>
              <a:rPr lang="zh-CN" altLang="en-GB" sz="2400" dirty="0"/>
              <a:t>来对它进行操作</a:t>
            </a:r>
            <a:r>
              <a:rPr lang="zh-CN" altLang="en-US" sz="2400" dirty="0"/>
              <a:t>。</a:t>
            </a:r>
            <a:r>
              <a:rPr lang="zh-CN" altLang="en-GB" sz="2400" dirty="0"/>
              <a:t>例如：</a:t>
            </a:r>
          </a:p>
          <a:p>
            <a:pPr lvl="1" eaLnBrk="1" hangingPunct="1">
              <a:lnSpc>
                <a:spcPct val="140000"/>
              </a:lnSpc>
              <a:buFontTx/>
              <a:buNone/>
              <a:defRPr/>
            </a:pPr>
            <a:r>
              <a:rPr lang="en-GB" altLang="zh-CN" sz="2000" dirty="0"/>
              <a:t>class A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000" dirty="0"/>
              <a:t>{		</a:t>
            </a:r>
            <a:r>
              <a:rPr lang="en-GB" altLang="zh-CN" sz="2000" dirty="0" err="1"/>
              <a:t>int</a:t>
            </a:r>
            <a:r>
              <a:rPr lang="en-GB" altLang="zh-CN" sz="2000" dirty="0"/>
              <a:t> x;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000" dirty="0"/>
              <a:t>	public: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000" dirty="0"/>
              <a:t>		void f();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000" dirty="0"/>
              <a:t>};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000" dirty="0" err="1"/>
              <a:t>int</a:t>
            </a:r>
            <a:r>
              <a:rPr lang="en-GB" altLang="zh-CN" sz="2000" dirty="0"/>
              <a:t> main()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000" dirty="0"/>
              <a:t>{	A </a:t>
            </a:r>
            <a:r>
              <a:rPr lang="en-GB" altLang="zh-CN" sz="2000" dirty="0" err="1"/>
              <a:t>a</a:t>
            </a:r>
            <a:r>
              <a:rPr lang="en-GB" altLang="zh-CN" sz="2000" dirty="0"/>
              <a:t>; 	//</a:t>
            </a:r>
            <a:r>
              <a:rPr lang="zh-CN" altLang="en-GB" sz="2000" dirty="0"/>
              <a:t>创建</a:t>
            </a:r>
            <a:r>
              <a:rPr lang="en-GB" altLang="zh-CN" sz="2000" dirty="0"/>
              <a:t>A</a:t>
            </a:r>
            <a:r>
              <a:rPr lang="zh-CN" altLang="en-GB" sz="2000" dirty="0"/>
              <a:t>类的一个局部对象</a:t>
            </a:r>
            <a:r>
              <a:rPr lang="en-GB" altLang="zh-CN" sz="2000" dirty="0"/>
              <a:t>a</a:t>
            </a:r>
            <a:r>
              <a:rPr lang="zh-CN" altLang="en-GB" sz="2000" dirty="0"/>
              <a:t>。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GB" sz="2000" dirty="0"/>
              <a:t>	</a:t>
            </a:r>
            <a:r>
              <a:rPr lang="en-GB" altLang="zh-CN" sz="2000" dirty="0" err="1">
                <a:solidFill>
                  <a:srgbClr val="FFC000"/>
                </a:solidFill>
              </a:rPr>
              <a:t>a.f</a:t>
            </a:r>
            <a:r>
              <a:rPr lang="en-GB" altLang="zh-CN" sz="2000" dirty="0">
                <a:solidFill>
                  <a:srgbClr val="FFC000"/>
                </a:solidFill>
              </a:rPr>
              <a:t>(); </a:t>
            </a:r>
            <a:r>
              <a:rPr lang="en-GB" altLang="zh-CN" sz="2000" dirty="0"/>
              <a:t>	//</a:t>
            </a:r>
            <a:r>
              <a:rPr lang="zh-CN" altLang="en-GB" sz="2000" dirty="0"/>
              <a:t>调用</a:t>
            </a:r>
            <a:r>
              <a:rPr lang="en-GB" altLang="zh-CN" sz="2000" dirty="0"/>
              <a:t>A</a:t>
            </a:r>
            <a:r>
              <a:rPr lang="zh-CN" altLang="en-GB" sz="2000" dirty="0"/>
              <a:t>类的成员函数</a:t>
            </a:r>
            <a:r>
              <a:rPr lang="en-GB" altLang="zh-CN" sz="2000" dirty="0"/>
              <a:t>f</a:t>
            </a:r>
            <a:r>
              <a:rPr lang="zh-CN" altLang="en-GB" sz="2000" dirty="0"/>
              <a:t>对对象</a:t>
            </a:r>
            <a:r>
              <a:rPr lang="en-GB" altLang="zh-CN" sz="2000" dirty="0"/>
              <a:t>a</a:t>
            </a:r>
            <a:r>
              <a:rPr lang="zh-CN" altLang="en-GB" sz="2000" dirty="0"/>
              <a:t>进行操作。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GB" sz="2000" dirty="0"/>
              <a:t>	</a:t>
            </a:r>
            <a:r>
              <a:rPr lang="en-GB" altLang="zh-CN" sz="2000" dirty="0"/>
              <a:t>A *p=</a:t>
            </a:r>
            <a:r>
              <a:rPr lang="en-US" altLang="zh-CN" sz="2000" dirty="0"/>
              <a:t>new A;	 </a:t>
            </a:r>
            <a:r>
              <a:rPr lang="en-GB" altLang="zh-CN" sz="2000" dirty="0"/>
              <a:t>//</a:t>
            </a:r>
            <a:r>
              <a:rPr lang="zh-CN" altLang="en-GB" sz="2000" dirty="0"/>
              <a:t>创建</a:t>
            </a:r>
            <a:r>
              <a:rPr lang="en-GB" altLang="zh-CN" sz="2000" dirty="0"/>
              <a:t>A</a:t>
            </a:r>
            <a:r>
              <a:rPr lang="zh-CN" altLang="en-GB" sz="2000" dirty="0"/>
              <a:t>类的一个动态对象，</a:t>
            </a:r>
            <a:r>
              <a:rPr lang="en-GB" altLang="zh-CN" sz="2000" dirty="0"/>
              <a:t>p</a:t>
            </a:r>
            <a:r>
              <a:rPr lang="zh-CN" altLang="en-GB" sz="2000" dirty="0"/>
              <a:t>指向之。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GB" sz="2000" dirty="0"/>
              <a:t>	</a:t>
            </a:r>
            <a:r>
              <a:rPr lang="en-GB" altLang="zh-CN" sz="2000" dirty="0">
                <a:solidFill>
                  <a:srgbClr val="FFC000"/>
                </a:solidFill>
              </a:rPr>
              <a:t>p-&gt;f(); </a:t>
            </a:r>
            <a:r>
              <a:rPr lang="en-GB" altLang="zh-CN" sz="2000" dirty="0"/>
              <a:t>	//</a:t>
            </a:r>
            <a:r>
              <a:rPr lang="zh-CN" altLang="en-GB" sz="2000" dirty="0"/>
              <a:t>调用</a:t>
            </a:r>
            <a:r>
              <a:rPr lang="en-GB" altLang="zh-CN" sz="2000" dirty="0"/>
              <a:t>A</a:t>
            </a:r>
            <a:r>
              <a:rPr lang="zh-CN" altLang="en-GB" sz="2000" dirty="0"/>
              <a:t>类的成员函数</a:t>
            </a:r>
            <a:r>
              <a:rPr lang="en-GB" altLang="zh-CN" sz="2000" dirty="0"/>
              <a:t>f</a:t>
            </a:r>
            <a:r>
              <a:rPr lang="zh-CN" altLang="en-GB" sz="2000" dirty="0"/>
              <a:t>对</a:t>
            </a:r>
            <a:r>
              <a:rPr lang="en-GB" altLang="zh-CN" sz="2000" dirty="0"/>
              <a:t>p</a:t>
            </a:r>
            <a:r>
              <a:rPr lang="zh-CN" altLang="en-GB" sz="2000" dirty="0"/>
              <a:t>所指向的对象进行操作。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GB" sz="2000" dirty="0"/>
              <a:t>	</a:t>
            </a:r>
            <a:r>
              <a:rPr lang="en-GB" altLang="zh-CN" sz="2000" dirty="0"/>
              <a:t>delete p;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000" dirty="0"/>
              <a:t>	return 0;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000" dirty="0"/>
              <a:t>}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123" name="Rectangle 3">
            <a:extLst>
              <a:ext uri="{FF2B5EF4-FFF2-40B4-BE49-F238E27FC236}">
                <a16:creationId xmlns:a16="http://schemas.microsoft.com/office/drawing/2014/main" id="{BAD1F8AD-3BA4-7862-1A6E-1EC1BDA6A3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88913"/>
            <a:ext cx="8229600" cy="863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/>
              <a:t>在类的外部，</a:t>
            </a:r>
            <a:r>
              <a:rPr lang="zh-CN" altLang="en-GB" sz="2800" dirty="0"/>
              <a:t>通过对象来访问类的成员时要受到类成员访问控制的限制，例如：</a:t>
            </a:r>
          </a:p>
          <a:p>
            <a:pPr lvl="1" eaLnBrk="1" hangingPunct="1">
              <a:lnSpc>
                <a:spcPct val="70000"/>
              </a:lnSpc>
              <a:buFontTx/>
              <a:buNone/>
              <a:defRPr/>
            </a:pPr>
            <a:endParaRPr lang="en-US" altLang="zh-CN" sz="2000" dirty="0"/>
          </a:p>
        </p:txBody>
      </p:sp>
      <p:sp>
        <p:nvSpPr>
          <p:cNvPr id="1361920" name="Text Box 0">
            <a:extLst>
              <a:ext uri="{FF2B5EF4-FFF2-40B4-BE49-F238E27FC236}">
                <a16:creationId xmlns:a16="http://schemas.microsoft.com/office/drawing/2014/main" id="{8AB0A24F-8D56-A5A5-F727-AD4784191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250950"/>
            <a:ext cx="5113338" cy="5354638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defTabSz="342900" eaLnBrk="1" hangingPunct="1">
              <a:defRPr/>
            </a:pPr>
            <a:r>
              <a:rPr lang="en-GB" altLang="zh-CN" sz="19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class A</a:t>
            </a:r>
          </a:p>
          <a:p>
            <a:pPr defTabSz="342900" eaLnBrk="1" hangingPunct="1">
              <a:defRPr/>
            </a:pPr>
            <a:r>
              <a:rPr lang="en-GB" altLang="zh-CN" sz="19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{ </a:t>
            </a:r>
            <a:r>
              <a:rPr lang="en-US" altLang="zh-CN" sz="19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public:</a:t>
            </a:r>
            <a:endParaRPr lang="en-GB" altLang="zh-CN" sz="19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defTabSz="342900" eaLnBrk="1" hangingPunct="1">
              <a:defRPr/>
            </a:pPr>
            <a:r>
              <a:rPr lang="en-GB" altLang="zh-CN" sz="19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	void f() </a:t>
            </a:r>
          </a:p>
          <a:p>
            <a:pPr defTabSz="342900" eaLnBrk="1" hangingPunct="1">
              <a:defRPr/>
            </a:pPr>
            <a:r>
              <a:rPr lang="en-GB" altLang="zh-CN" sz="19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	{ ...... //</a:t>
            </a:r>
            <a:r>
              <a:rPr lang="zh-CN" altLang="en-GB" sz="19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允许访问：</a:t>
            </a:r>
            <a:r>
              <a:rPr lang="en-GB" altLang="zh-CN" sz="19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x,y</a:t>
            </a:r>
            <a:r>
              <a:rPr lang="en-GB" altLang="zh-CN" sz="19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,</a:t>
            </a:r>
            <a:r>
              <a:rPr lang="en-US" altLang="zh-CN" sz="19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f,g,h</a:t>
            </a:r>
            <a:r>
              <a:rPr lang="en-US" altLang="zh-CN" sz="19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defTabSz="342900" eaLnBrk="1" hangingPunct="1">
              <a:defRPr/>
            </a:pPr>
            <a:r>
              <a:rPr lang="en-US" altLang="zh-CN" sz="19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	   </a:t>
            </a:r>
            <a:r>
              <a:rPr lang="en-US" altLang="zh-CN" sz="19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 </a:t>
            </a:r>
            <a:r>
              <a:rPr lang="en-US" altLang="zh-CN" sz="190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US" altLang="zh-CN" sz="19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</a:t>
            </a:r>
          </a:p>
          <a:p>
            <a:pPr defTabSz="342900" eaLnBrk="1" hangingPunct="1">
              <a:defRPr/>
            </a:pPr>
            <a:r>
              <a:rPr lang="en-US" altLang="zh-CN" sz="19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	   ...//</a:t>
            </a:r>
            <a:r>
              <a:rPr lang="zh-CN" altLang="en-US" sz="19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能访问</a:t>
            </a:r>
            <a:r>
              <a:rPr lang="en-US" altLang="zh-CN" sz="190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a.x</a:t>
            </a:r>
            <a:r>
              <a:rPr lang="zh-CN" altLang="en-US" sz="19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、</a:t>
            </a:r>
            <a:r>
              <a:rPr lang="en-US" altLang="zh-CN" sz="190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a.y</a:t>
            </a:r>
            <a:r>
              <a:rPr lang="zh-CN" altLang="en-US" sz="19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、</a:t>
            </a:r>
            <a:r>
              <a:rPr lang="en-US" altLang="zh-CN" sz="190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a.f</a:t>
            </a:r>
            <a:r>
              <a:rPr lang="zh-CN" altLang="en-US" sz="19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、</a:t>
            </a:r>
            <a:r>
              <a:rPr lang="en-US" altLang="zh-CN" sz="190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a.g</a:t>
            </a:r>
            <a:r>
              <a:rPr lang="zh-CN" altLang="en-US" sz="19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和</a:t>
            </a:r>
            <a:r>
              <a:rPr lang="en-US" altLang="zh-CN" sz="190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a.h</a:t>
            </a:r>
            <a:r>
              <a:rPr lang="zh-CN" altLang="en-US" sz="19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吗？</a:t>
            </a:r>
            <a:endParaRPr lang="en-US" altLang="zh-CN" sz="19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defTabSz="342900" eaLnBrk="1" hangingPunct="1">
              <a:defRPr/>
            </a:pPr>
            <a:r>
              <a:rPr lang="en-US" altLang="zh-CN" sz="19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	}</a:t>
            </a:r>
            <a:endParaRPr lang="en-GB" altLang="zh-CN" sz="19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defTabSz="342900" eaLnBrk="1" hangingPunct="1">
              <a:defRPr/>
            </a:pPr>
            <a:r>
              <a:rPr lang="en-GB" altLang="zh-CN" sz="19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private:</a:t>
            </a:r>
          </a:p>
          <a:p>
            <a:pPr defTabSz="342900" eaLnBrk="1" hangingPunct="1">
              <a:defRPr/>
            </a:pPr>
            <a:r>
              <a:rPr lang="en-GB" altLang="zh-CN" sz="19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GB" altLang="zh-CN" sz="19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GB" altLang="zh-CN" sz="19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x;</a:t>
            </a:r>
          </a:p>
          <a:p>
            <a:pPr defTabSz="342900" eaLnBrk="1" hangingPunct="1">
              <a:defRPr/>
            </a:pPr>
            <a:r>
              <a:rPr lang="en-GB" altLang="zh-CN" sz="19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	void g() </a:t>
            </a:r>
          </a:p>
          <a:p>
            <a:pPr defTabSz="342900" eaLnBrk="1" hangingPunct="1">
              <a:defRPr/>
            </a:pPr>
            <a:r>
              <a:rPr lang="en-GB" altLang="zh-CN" sz="19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	{ ...... //</a:t>
            </a:r>
            <a:r>
              <a:rPr lang="zh-CN" altLang="en-GB" sz="19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允许访问：</a:t>
            </a:r>
            <a:r>
              <a:rPr lang="en-GB" altLang="zh-CN" sz="19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x,y</a:t>
            </a:r>
            <a:r>
              <a:rPr lang="en-GB" altLang="zh-CN" sz="19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,</a:t>
            </a:r>
            <a:r>
              <a:rPr lang="en-US" altLang="zh-CN" sz="19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f,g,h</a:t>
            </a:r>
            <a:r>
              <a:rPr lang="en-US" altLang="zh-CN" sz="19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defTabSz="342900" eaLnBrk="1" hangingPunct="1">
              <a:defRPr/>
            </a:pPr>
            <a:r>
              <a:rPr lang="en-US" altLang="zh-CN" sz="19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	}</a:t>
            </a:r>
            <a:endParaRPr lang="en-GB" altLang="zh-CN" sz="19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defTabSz="342900" eaLnBrk="1" hangingPunct="1">
              <a:defRPr/>
            </a:pPr>
            <a:r>
              <a:rPr lang="en-GB" altLang="zh-CN" sz="19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protected:</a:t>
            </a:r>
          </a:p>
          <a:p>
            <a:pPr defTabSz="342900" eaLnBrk="1" hangingPunct="1">
              <a:defRPr/>
            </a:pPr>
            <a:r>
              <a:rPr lang="en-GB" altLang="zh-CN" sz="19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GB" altLang="zh-CN" sz="19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GB" altLang="zh-CN" sz="19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y;</a:t>
            </a:r>
          </a:p>
          <a:p>
            <a:pPr defTabSz="342900" eaLnBrk="1" hangingPunct="1">
              <a:defRPr/>
            </a:pPr>
            <a:r>
              <a:rPr lang="en-GB" altLang="zh-CN" sz="19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	void h()</a:t>
            </a:r>
          </a:p>
          <a:p>
            <a:pPr defTabSz="342900" eaLnBrk="1" hangingPunct="1">
              <a:defRPr/>
            </a:pPr>
            <a:r>
              <a:rPr lang="en-GB" altLang="zh-CN" sz="19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	{ ...... //</a:t>
            </a:r>
            <a:r>
              <a:rPr lang="zh-CN" altLang="en-GB" sz="19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允许访问：</a:t>
            </a:r>
            <a:r>
              <a:rPr lang="en-GB" altLang="zh-CN" sz="19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x,y</a:t>
            </a:r>
            <a:r>
              <a:rPr lang="en-GB" altLang="zh-CN" sz="19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,</a:t>
            </a:r>
            <a:r>
              <a:rPr lang="en-US" altLang="zh-CN" sz="19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f,g,h</a:t>
            </a:r>
            <a:endParaRPr lang="en-GB" altLang="zh-CN" sz="19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defTabSz="342900" eaLnBrk="1" hangingPunct="1">
              <a:defRPr/>
            </a:pPr>
            <a:r>
              <a:rPr lang="en-GB" altLang="zh-CN" sz="19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	}</a:t>
            </a:r>
          </a:p>
          <a:p>
            <a:pPr defTabSz="342900" eaLnBrk="1" hangingPunct="1">
              <a:defRPr/>
            </a:pPr>
            <a:r>
              <a:rPr lang="en-GB" altLang="zh-CN" sz="19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};</a:t>
            </a:r>
          </a:p>
        </p:txBody>
      </p:sp>
      <p:sp>
        <p:nvSpPr>
          <p:cNvPr id="1361921" name="Text Box 1">
            <a:extLst>
              <a:ext uri="{FF2B5EF4-FFF2-40B4-BE49-F238E27FC236}">
                <a16:creationId xmlns:a16="http://schemas.microsoft.com/office/drawing/2014/main" id="{254E20D7-111C-2D5A-9A9A-EB5B58DCE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1268413"/>
            <a:ext cx="3348038" cy="3416300"/>
          </a:xfrm>
          <a:prstGeom prst="rect">
            <a:avLst/>
          </a:prstGeom>
          <a:solidFill>
            <a:schemeClr val="bg2"/>
          </a:solidFill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func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()</a:t>
            </a:r>
          </a:p>
          <a:p>
            <a:pPr eaLnBrk="1" hangingPunct="1"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{  </a:t>
            </a:r>
            <a:r>
              <a:rPr lang="en-GB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 </a:t>
            </a:r>
            <a:r>
              <a:rPr lang="en-GB" altLang="zh-CN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GB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;</a:t>
            </a:r>
          </a:p>
          <a:p>
            <a:pPr lvl="1" eaLnBrk="1" hangingPunct="1">
              <a:defRPr/>
            </a:pPr>
            <a:r>
              <a:rPr lang="en-US" altLang="zh-CN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a.f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();  //OK</a:t>
            </a:r>
          </a:p>
          <a:p>
            <a:pPr lvl="1" eaLnBrk="1" hangingPunct="1">
              <a:defRPr/>
            </a:pPr>
            <a:r>
              <a:rPr lang="en-US" altLang="zh-CN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a.x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= 1;  //</a:t>
            </a:r>
            <a:r>
              <a:rPr lang="en-US" altLang="zh-CN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Error</a:t>
            </a:r>
          </a:p>
          <a:p>
            <a:pPr lvl="1" eaLnBrk="1" hangingPunct="1">
              <a:defRPr/>
            </a:pPr>
            <a:r>
              <a:rPr lang="en-US" altLang="zh-CN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a.g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();  //</a:t>
            </a:r>
            <a:r>
              <a:rPr lang="en-US" altLang="zh-CN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Error</a:t>
            </a:r>
          </a:p>
          <a:p>
            <a:pPr lvl="1" eaLnBrk="1" hangingPunct="1">
              <a:defRPr/>
            </a:pPr>
            <a:r>
              <a:rPr lang="en-US" altLang="zh-CN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a.y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= 1;  //</a:t>
            </a:r>
            <a:r>
              <a:rPr lang="en-US" altLang="zh-CN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Error</a:t>
            </a:r>
          </a:p>
          <a:p>
            <a:pPr lvl="1" eaLnBrk="1" hangingPunct="1">
              <a:defRPr/>
            </a:pPr>
            <a:r>
              <a:rPr lang="en-US" altLang="zh-CN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a.h</a:t>
            </a: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();  //</a:t>
            </a:r>
            <a:r>
              <a:rPr lang="en-US" altLang="zh-CN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Error</a:t>
            </a:r>
          </a:p>
          <a:p>
            <a:pPr lvl="1" eaLnBrk="1" hangingPunct="1"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......</a:t>
            </a:r>
          </a:p>
          <a:p>
            <a:pPr eaLnBrk="1" hangingPunct="1"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A1BD08-E5BE-A52E-CA54-5721FBEC2F2F}"/>
              </a:ext>
            </a:extLst>
          </p:cNvPr>
          <p:cNvSpPr txBox="1"/>
          <p:nvPr/>
        </p:nvSpPr>
        <p:spPr>
          <a:xfrm>
            <a:off x="1692275" y="2997200"/>
            <a:ext cx="3221038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可以，这是在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A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类的内部！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619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619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619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619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147" name="Rectangle 3">
            <a:extLst>
              <a:ext uri="{FF2B5EF4-FFF2-40B4-BE49-F238E27FC236}">
                <a16:creationId xmlns:a16="http://schemas.microsoft.com/office/drawing/2014/main" id="{7BEF878A-0C57-43CC-C134-F9BD550364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692150"/>
            <a:ext cx="8469313" cy="5878513"/>
          </a:xfrm>
        </p:spPr>
        <p:txBody>
          <a:bodyPr>
            <a:normAutofit/>
          </a:bodyPr>
          <a:lstStyle/>
          <a:p>
            <a:pPr marL="457200" indent="-457200" eaLnBrk="1" hangingPunct="1">
              <a:defRPr/>
            </a:pPr>
            <a:r>
              <a:rPr lang="zh-CN" altLang="en-GB" dirty="0"/>
              <a:t>可以对</a:t>
            </a:r>
            <a:r>
              <a:rPr lang="zh-CN" altLang="en-US" dirty="0"/>
              <a:t>同类</a:t>
            </a:r>
            <a:r>
              <a:rPr lang="zh-CN" altLang="en-GB" dirty="0"/>
              <a:t>对象进行</a:t>
            </a:r>
            <a:r>
              <a:rPr lang="zh-CN" altLang="en-GB" dirty="0">
                <a:solidFill>
                  <a:srgbClr val="FFC000"/>
                </a:solidFill>
              </a:rPr>
              <a:t>赋值</a:t>
            </a:r>
          </a:p>
          <a:p>
            <a:pPr marL="838200" lvl="1" indent="-381000" eaLnBrk="1" hangingPunct="1">
              <a:buFontTx/>
              <a:buNone/>
              <a:defRPr/>
            </a:pPr>
            <a:r>
              <a:rPr lang="en-GB" altLang="zh-CN" sz="2400" dirty="0"/>
              <a:t>Date </a:t>
            </a:r>
            <a:r>
              <a:rPr lang="en-GB" altLang="zh-CN" sz="2200" dirty="0" err="1"/>
              <a:t>yesterday,today,some_day</a:t>
            </a:r>
            <a:r>
              <a:rPr lang="en-GB" altLang="zh-CN" sz="2200" dirty="0"/>
              <a:t>;</a:t>
            </a:r>
          </a:p>
          <a:p>
            <a:pPr marL="838200" lvl="1" indent="-381000" eaLnBrk="1" hangingPunct="1">
              <a:buFontTx/>
              <a:buNone/>
              <a:defRPr/>
            </a:pPr>
            <a:r>
              <a:rPr lang="en-GB" altLang="zh-CN" sz="2400" dirty="0" err="1"/>
              <a:t>some_day</a:t>
            </a:r>
            <a:r>
              <a:rPr lang="en-GB" altLang="zh-CN" sz="2400" dirty="0"/>
              <a:t> </a:t>
            </a:r>
            <a:r>
              <a:rPr lang="en-GB" altLang="zh-CN" sz="2400" dirty="0">
                <a:solidFill>
                  <a:srgbClr val="FFC000"/>
                </a:solidFill>
              </a:rPr>
              <a:t>=</a:t>
            </a:r>
            <a:r>
              <a:rPr lang="en-GB" altLang="zh-CN" sz="2400" dirty="0"/>
              <a:t> yesterday; //</a:t>
            </a:r>
            <a:r>
              <a:rPr lang="zh-CN" altLang="en-US" sz="2400" dirty="0">
                <a:solidFill>
                  <a:srgbClr val="FFC000"/>
                </a:solidFill>
              </a:rPr>
              <a:t>默认</a:t>
            </a:r>
            <a:r>
              <a:rPr lang="zh-CN" altLang="en-US" sz="2400" dirty="0"/>
              <a:t>是</a:t>
            </a:r>
            <a:r>
              <a:rPr lang="zh-CN" altLang="en-GB" sz="2400" dirty="0"/>
              <a:t>把对象</a:t>
            </a:r>
            <a:r>
              <a:rPr lang="en-GB" altLang="zh-CN" sz="2400" dirty="0"/>
              <a:t>yesterday</a:t>
            </a:r>
            <a:r>
              <a:rPr lang="zh-CN" altLang="en-GB" sz="2400" dirty="0"/>
              <a:t>的</a:t>
            </a:r>
            <a:endParaRPr lang="en-US" altLang="zh-CN" sz="2400" dirty="0"/>
          </a:p>
          <a:p>
            <a:pPr marL="838200" lvl="1" indent="-381000" eaLnBrk="1" hangingPunct="1">
              <a:buFontTx/>
              <a:buNone/>
              <a:defRPr/>
            </a:pPr>
            <a:r>
              <a:rPr lang="en-US" altLang="zh-CN" sz="2400" dirty="0"/>
              <a:t>		//</a:t>
            </a:r>
            <a:r>
              <a:rPr lang="zh-CN" altLang="en-GB" sz="2400" dirty="0"/>
              <a:t>数据成员分别赋值给对象</a:t>
            </a:r>
            <a:r>
              <a:rPr lang="en-GB" altLang="zh-CN" sz="2400" dirty="0" err="1"/>
              <a:t>some_day</a:t>
            </a:r>
            <a:r>
              <a:rPr lang="zh-CN" altLang="en-GB" sz="2400" dirty="0"/>
              <a:t>的相应数据成员</a:t>
            </a:r>
          </a:p>
          <a:p>
            <a:pPr marL="457200" indent="-457200" eaLnBrk="1" hangingPunct="1">
              <a:defRPr/>
            </a:pPr>
            <a:endParaRPr lang="en-US" altLang="zh-CN" dirty="0"/>
          </a:p>
          <a:p>
            <a:pPr marL="457200" indent="-457200" eaLnBrk="1" hangingPunct="1">
              <a:defRPr/>
            </a:pPr>
            <a:r>
              <a:rPr lang="zh-CN" altLang="en-GB" dirty="0"/>
              <a:t>取对象</a:t>
            </a:r>
            <a:r>
              <a:rPr lang="zh-CN" altLang="en-GB" dirty="0">
                <a:solidFill>
                  <a:srgbClr val="FFC000"/>
                </a:solidFill>
              </a:rPr>
              <a:t>地址</a:t>
            </a:r>
          </a:p>
          <a:p>
            <a:pPr marL="838200" lvl="1" indent="-381000" eaLnBrk="1" hangingPunct="1">
              <a:buFontTx/>
              <a:buNone/>
              <a:defRPr/>
            </a:pPr>
            <a:r>
              <a:rPr lang="en-GB" altLang="zh-CN" sz="2400" dirty="0"/>
              <a:t>Date today;</a:t>
            </a:r>
          </a:p>
          <a:p>
            <a:pPr marL="838200" lvl="1" indent="-381000" eaLnBrk="1" hangingPunct="1">
              <a:buFontTx/>
              <a:buNone/>
              <a:defRPr/>
            </a:pPr>
            <a:r>
              <a:rPr lang="en-GB" altLang="zh-CN" sz="2400" dirty="0"/>
              <a:t>Date </a:t>
            </a:r>
            <a:r>
              <a:rPr lang="en-GB" altLang="zh-CN" sz="2200" dirty="0"/>
              <a:t>*</a:t>
            </a:r>
            <a:r>
              <a:rPr lang="en-GB" altLang="zh-CN" sz="2200" dirty="0" err="1"/>
              <a:t>p_date</a:t>
            </a:r>
            <a:r>
              <a:rPr lang="en-GB" altLang="zh-CN" sz="2200" dirty="0"/>
              <a:t>;</a:t>
            </a:r>
          </a:p>
          <a:p>
            <a:pPr marL="838200" lvl="1" indent="-381000" eaLnBrk="1" hangingPunct="1">
              <a:buFontTx/>
              <a:buNone/>
              <a:defRPr/>
            </a:pPr>
            <a:r>
              <a:rPr lang="en-GB" altLang="zh-CN" sz="2400" dirty="0" err="1"/>
              <a:t>p_date</a:t>
            </a:r>
            <a:r>
              <a:rPr lang="en-GB" altLang="zh-CN" sz="2400" dirty="0"/>
              <a:t> = </a:t>
            </a:r>
            <a:r>
              <a:rPr lang="en-GB" altLang="zh-CN" sz="2400" dirty="0">
                <a:solidFill>
                  <a:srgbClr val="FFC000"/>
                </a:solidFill>
              </a:rPr>
              <a:t>&amp;</a:t>
            </a:r>
            <a:r>
              <a:rPr lang="en-GB" altLang="zh-CN" sz="2400" dirty="0"/>
              <a:t>today; //</a:t>
            </a:r>
            <a:r>
              <a:rPr lang="zh-CN" altLang="en-GB" sz="2400" dirty="0"/>
              <a:t>把对象</a:t>
            </a:r>
            <a:r>
              <a:rPr lang="en-GB" altLang="zh-CN" sz="2400" dirty="0"/>
              <a:t>today</a:t>
            </a:r>
            <a:r>
              <a:rPr lang="zh-CN" altLang="en-GB" sz="2400" dirty="0"/>
              <a:t>的地址赋值给</a:t>
            </a:r>
            <a:endParaRPr lang="en-US" altLang="zh-CN" sz="2400" dirty="0"/>
          </a:p>
          <a:p>
            <a:pPr marL="838200" lvl="1" indent="-381000" eaLnBrk="1" hangingPunct="1">
              <a:buFontTx/>
              <a:buNone/>
              <a:defRPr/>
            </a:pPr>
            <a:r>
              <a:rPr lang="en-US" altLang="zh-CN" sz="2400" dirty="0"/>
              <a:t>				     //</a:t>
            </a:r>
            <a:r>
              <a:rPr lang="zh-CN" altLang="en-GB" sz="2400" dirty="0"/>
              <a:t>指针</a:t>
            </a:r>
            <a:r>
              <a:rPr lang="en-GB" altLang="zh-CN" sz="2400" dirty="0" err="1"/>
              <a:t>p_date</a:t>
            </a:r>
            <a:endParaRPr lang="zh-CN" altLang="en-GB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A7659F-A901-36B7-73D6-C87FC3B35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250"/>
            <a:ext cx="8435975" cy="6048375"/>
          </a:xfrm>
        </p:spPr>
        <p:txBody>
          <a:bodyPr>
            <a:normAutofit/>
          </a:bodyPr>
          <a:lstStyle/>
          <a:p>
            <a:pPr marL="457200" indent="-457200" eaLnBrk="1" hangingPunct="1">
              <a:defRPr/>
            </a:pPr>
            <a:r>
              <a:rPr lang="zh-CN" altLang="en-GB" dirty="0"/>
              <a:t>把对象作为</a:t>
            </a:r>
            <a:r>
              <a:rPr lang="zh-CN" altLang="en-US" dirty="0"/>
              <a:t>参数</a:t>
            </a:r>
            <a:r>
              <a:rPr lang="zh-CN" altLang="en-GB" dirty="0"/>
              <a:t>传给函数。例如：</a:t>
            </a:r>
            <a:r>
              <a:rPr lang="zh-CN" altLang="en-US" dirty="0"/>
              <a:t> </a:t>
            </a:r>
          </a:p>
          <a:p>
            <a:pPr marL="838200" lvl="1" indent="-381000" eaLnBrk="1" hangingPunct="1">
              <a:buFontTx/>
              <a:buNone/>
              <a:defRPr/>
            </a:pPr>
            <a:r>
              <a:rPr lang="en-US" altLang="zh-CN" sz="2400" dirty="0"/>
              <a:t>void</a:t>
            </a:r>
            <a:r>
              <a:rPr lang="en-GB" altLang="zh-CN" sz="2400" dirty="0"/>
              <a:t> f(</a:t>
            </a:r>
            <a:r>
              <a:rPr lang="en-GB" altLang="zh-CN" sz="2400" dirty="0">
                <a:solidFill>
                  <a:srgbClr val="FFC000"/>
                </a:solidFill>
              </a:rPr>
              <a:t>Date</a:t>
            </a:r>
            <a:r>
              <a:rPr lang="en-GB" altLang="zh-CN" sz="2400" dirty="0"/>
              <a:t> d) </a:t>
            </a:r>
            <a:r>
              <a:rPr lang="en-US" altLang="zh-CN" sz="2400" dirty="0"/>
              <a:t>//</a:t>
            </a:r>
            <a:r>
              <a:rPr lang="zh-CN" altLang="en-US" sz="2400" dirty="0"/>
              <a:t>创建一个新对象</a:t>
            </a:r>
            <a:r>
              <a:rPr lang="en-US" altLang="zh-CN" sz="2400" dirty="0"/>
              <a:t>d</a:t>
            </a:r>
            <a:r>
              <a:rPr lang="zh-CN" altLang="en-US" sz="2400" dirty="0"/>
              <a:t>，其数据成员</a:t>
            </a:r>
            <a:endParaRPr lang="en-US" altLang="zh-CN" sz="2400" dirty="0"/>
          </a:p>
          <a:p>
            <a:pPr marL="838200" lvl="1" indent="-381000" eaLnBrk="1" hangingPunct="1">
              <a:buFontTx/>
              <a:buNone/>
              <a:defRPr/>
            </a:pPr>
            <a:r>
              <a:rPr lang="en-US" altLang="zh-CN" sz="2400" dirty="0"/>
              <a:t>			        //</a:t>
            </a:r>
            <a:r>
              <a:rPr lang="zh-CN" altLang="en-US" sz="2400" dirty="0"/>
              <a:t>用实参对象的数据成员对其初始化</a:t>
            </a:r>
            <a:endParaRPr lang="en-GB" altLang="zh-CN" sz="2400" dirty="0"/>
          </a:p>
          <a:p>
            <a:pPr marL="838200" lvl="1" indent="-381000" eaLnBrk="1" hangingPunct="1">
              <a:buFontTx/>
              <a:buNone/>
              <a:defRPr/>
            </a:pPr>
            <a:r>
              <a:rPr lang="en-US" altLang="zh-CN" sz="2400" dirty="0"/>
              <a:t>{ ...... }</a:t>
            </a:r>
          </a:p>
          <a:p>
            <a:pPr marL="838200" lvl="1" indent="-381000" eaLnBrk="1" hangingPunct="1">
              <a:buFontTx/>
              <a:buNone/>
              <a:defRPr/>
            </a:pPr>
            <a:endParaRPr lang="en-US" altLang="zh-CN" sz="2400" dirty="0"/>
          </a:p>
          <a:p>
            <a:pPr marL="838200" lvl="1" indent="-381000" eaLnBrk="1" hangingPunct="1">
              <a:buFontTx/>
              <a:buNone/>
              <a:defRPr/>
            </a:pPr>
            <a:r>
              <a:rPr lang="en-US" altLang="zh-CN" sz="2400" dirty="0"/>
              <a:t>void</a:t>
            </a:r>
            <a:r>
              <a:rPr lang="en-GB" altLang="zh-CN" sz="2400" dirty="0"/>
              <a:t> </a:t>
            </a:r>
            <a:r>
              <a:rPr lang="en-US" altLang="zh-CN" sz="2400" dirty="0"/>
              <a:t>g</a:t>
            </a:r>
            <a:r>
              <a:rPr lang="en-GB" altLang="zh-CN" sz="2400" dirty="0"/>
              <a:t>(</a:t>
            </a:r>
            <a:r>
              <a:rPr lang="en-GB" altLang="zh-CN" sz="2400" dirty="0">
                <a:solidFill>
                  <a:srgbClr val="FFC000"/>
                </a:solidFill>
              </a:rPr>
              <a:t>Date</a:t>
            </a:r>
            <a:r>
              <a:rPr lang="en-GB" altLang="zh-CN" sz="2400" dirty="0"/>
              <a:t> </a:t>
            </a:r>
            <a:r>
              <a:rPr lang="en-US" altLang="zh-CN" sz="2400" dirty="0">
                <a:solidFill>
                  <a:srgbClr val="FFC000"/>
                </a:solidFill>
              </a:rPr>
              <a:t>&amp;</a:t>
            </a:r>
            <a:r>
              <a:rPr lang="en-GB" altLang="zh-CN" sz="2400" dirty="0"/>
              <a:t>d) </a:t>
            </a:r>
            <a:r>
              <a:rPr lang="en-US" altLang="zh-CN" sz="2400" dirty="0"/>
              <a:t>//</a:t>
            </a:r>
            <a:r>
              <a:rPr lang="zh-CN" altLang="en-US" sz="2400" dirty="0"/>
              <a:t>不创建新对象，</a:t>
            </a:r>
            <a:r>
              <a:rPr lang="en-US" altLang="zh-CN" sz="2400" dirty="0"/>
              <a:t>d</a:t>
            </a:r>
            <a:r>
              <a:rPr lang="zh-CN" altLang="en-US" sz="2400" dirty="0"/>
              <a:t>就是实参对象！</a:t>
            </a:r>
            <a:endParaRPr lang="en-US" altLang="zh-CN" sz="2400" dirty="0"/>
          </a:p>
          <a:p>
            <a:pPr marL="838200" lvl="1" indent="-381000" eaLnBrk="1" hangingPunct="1">
              <a:buFontTx/>
              <a:buNone/>
              <a:defRPr/>
            </a:pPr>
            <a:r>
              <a:rPr lang="en-US" altLang="zh-CN" sz="2400" dirty="0"/>
              <a:t>{ ...... }</a:t>
            </a:r>
          </a:p>
          <a:p>
            <a:pPr marL="838200" lvl="1" indent="-381000" eaLnBrk="1" hangingPunct="1">
              <a:buFontTx/>
              <a:buNone/>
              <a:defRPr/>
            </a:pPr>
            <a:endParaRPr lang="en-US" altLang="zh-CN" sz="2400" dirty="0"/>
          </a:p>
          <a:p>
            <a:pPr marL="838200" lvl="1" indent="-381000" eaLnBrk="1" hangingPunct="1">
              <a:buFontTx/>
              <a:buNone/>
              <a:defRPr/>
            </a:pPr>
            <a:r>
              <a:rPr lang="en-GB" altLang="zh-CN" sz="2400" dirty="0"/>
              <a:t>Date today;</a:t>
            </a:r>
            <a:endParaRPr lang="en-US" altLang="zh-CN" sz="2400" dirty="0"/>
          </a:p>
          <a:p>
            <a:pPr marL="838200" lvl="1" indent="-381000" eaLnBrk="1" hangingPunct="1">
              <a:buFontTx/>
              <a:buNone/>
              <a:defRPr/>
            </a:pPr>
            <a:r>
              <a:rPr lang="en-GB" altLang="zh-CN" sz="2400" dirty="0"/>
              <a:t>f(today); //</a:t>
            </a:r>
            <a:r>
              <a:rPr lang="zh-CN" altLang="en-GB" sz="2400" dirty="0"/>
              <a:t>调用函数</a:t>
            </a:r>
            <a:r>
              <a:rPr lang="en-GB" altLang="zh-CN" sz="2400" dirty="0"/>
              <a:t>f</a:t>
            </a:r>
            <a:r>
              <a:rPr lang="zh-CN" altLang="en-GB" sz="2400" dirty="0"/>
              <a:t>，对象</a:t>
            </a:r>
            <a:r>
              <a:rPr lang="en-GB" altLang="zh-CN" sz="2400" dirty="0"/>
              <a:t>today</a:t>
            </a:r>
            <a:r>
              <a:rPr lang="zh-CN" altLang="en-US" sz="2400" dirty="0">
                <a:solidFill>
                  <a:srgbClr val="FFC000"/>
                </a:solidFill>
              </a:rPr>
              <a:t>不会</a:t>
            </a:r>
            <a:r>
              <a:rPr lang="zh-CN" altLang="en-US" sz="2400" dirty="0"/>
              <a:t>被</a:t>
            </a:r>
            <a:r>
              <a:rPr lang="en-US" altLang="zh-CN" sz="2400" dirty="0"/>
              <a:t>f</a:t>
            </a:r>
            <a:r>
              <a:rPr lang="zh-CN" altLang="en-US" sz="2400" dirty="0"/>
              <a:t>修改</a:t>
            </a:r>
            <a:endParaRPr lang="en-US" altLang="zh-CN" sz="2400" dirty="0"/>
          </a:p>
          <a:p>
            <a:pPr marL="838200" lvl="1" indent="-381000" eaLnBrk="1" hangingPunct="1">
              <a:buFontTx/>
              <a:buNone/>
              <a:defRPr/>
            </a:pPr>
            <a:r>
              <a:rPr lang="en-US" altLang="zh-CN" sz="2400" dirty="0"/>
              <a:t>g</a:t>
            </a:r>
            <a:r>
              <a:rPr lang="en-GB" altLang="zh-CN" sz="2400" dirty="0"/>
              <a:t>(today); //</a:t>
            </a:r>
            <a:r>
              <a:rPr lang="zh-CN" altLang="en-GB" sz="2400" dirty="0"/>
              <a:t>调用函数</a:t>
            </a:r>
            <a:r>
              <a:rPr lang="en-US" altLang="zh-CN" sz="2400" dirty="0"/>
              <a:t>g</a:t>
            </a:r>
            <a:r>
              <a:rPr lang="zh-CN" altLang="en-GB" sz="2400" dirty="0"/>
              <a:t>，对象</a:t>
            </a:r>
            <a:r>
              <a:rPr lang="en-GB" altLang="zh-CN" sz="2400" dirty="0"/>
              <a:t>today</a:t>
            </a:r>
            <a:r>
              <a:rPr lang="zh-CN" altLang="en-US" sz="2400" dirty="0">
                <a:solidFill>
                  <a:srgbClr val="FFC000"/>
                </a:solidFill>
              </a:rPr>
              <a:t>会</a:t>
            </a:r>
            <a:r>
              <a:rPr lang="zh-CN" altLang="en-US" sz="2400" dirty="0"/>
              <a:t>被</a:t>
            </a:r>
            <a:r>
              <a:rPr lang="en-US" altLang="zh-CN" sz="2400" dirty="0"/>
              <a:t>g</a:t>
            </a:r>
            <a:r>
              <a:rPr lang="zh-CN" altLang="en-US" sz="2400" dirty="0"/>
              <a:t>修改！</a:t>
            </a:r>
          </a:p>
          <a:p>
            <a:pPr marL="838200" lvl="1" indent="-381000" eaLnBrk="1" hangingPunct="1">
              <a:buFontTx/>
              <a:buNone/>
              <a:defRPr/>
            </a:pPr>
            <a:endParaRPr lang="zh-CN" altLang="en-US" sz="2200" dirty="0"/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DAE2DC-65FB-42AD-DD1A-6224EBCE1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260350"/>
            <a:ext cx="8785225" cy="6121400"/>
          </a:xfrm>
        </p:spPr>
        <p:txBody>
          <a:bodyPr>
            <a:normAutofit fontScale="92500" lnSpcReduction="10000"/>
          </a:bodyPr>
          <a:lstStyle/>
          <a:p>
            <a:pPr marL="457200" indent="-457200" eaLnBrk="1" hangingPunct="1">
              <a:defRPr/>
            </a:pPr>
            <a:r>
              <a:rPr lang="zh-CN" altLang="en-GB" dirty="0"/>
              <a:t>把对象作为函数的返回值。</a:t>
            </a:r>
            <a:r>
              <a:rPr lang="zh-CN" altLang="en-US" dirty="0"/>
              <a:t>例如，</a:t>
            </a:r>
            <a:endParaRPr lang="en-US" altLang="zh-CN" dirty="0"/>
          </a:p>
          <a:p>
            <a:pPr marL="838200" lvl="1" indent="-381000" eaLnBrk="1" hangingPunct="1">
              <a:lnSpc>
                <a:spcPct val="130000"/>
              </a:lnSpc>
              <a:buFontTx/>
              <a:buNone/>
              <a:defRPr/>
            </a:pPr>
            <a:r>
              <a:rPr lang="en-GB" altLang="zh-CN" sz="2200" dirty="0">
                <a:solidFill>
                  <a:srgbClr val="FFC000"/>
                </a:solidFill>
              </a:rPr>
              <a:t>Date</a:t>
            </a:r>
            <a:r>
              <a:rPr lang="en-GB" altLang="zh-CN" sz="2200" dirty="0"/>
              <a:t> </a:t>
            </a:r>
            <a:r>
              <a:rPr lang="en-US" altLang="zh-CN" sz="2200" dirty="0"/>
              <a:t>f</a:t>
            </a:r>
            <a:r>
              <a:rPr lang="en-GB" altLang="zh-CN" sz="2200" dirty="0"/>
              <a:t>(Date &amp;d)</a:t>
            </a:r>
          </a:p>
          <a:p>
            <a:pPr marL="838200" lvl="1" indent="-381000" eaLnBrk="1" hangingPunct="1">
              <a:buFontTx/>
              <a:buNone/>
              <a:defRPr/>
            </a:pPr>
            <a:r>
              <a:rPr lang="en-US" altLang="zh-CN" sz="2200" dirty="0"/>
              <a:t>{ </a:t>
            </a:r>
            <a:r>
              <a:rPr lang="en-US" altLang="zh-CN" sz="2200" dirty="0" err="1"/>
              <a:t>d.print</a:t>
            </a:r>
            <a:r>
              <a:rPr lang="en-US" altLang="zh-CN" sz="2200" dirty="0"/>
              <a:t>(); //</a:t>
            </a:r>
            <a:r>
              <a:rPr lang="zh-CN" altLang="en-US" sz="2200" dirty="0"/>
              <a:t>输出：</a:t>
            </a:r>
            <a:r>
              <a:rPr lang="en-US" altLang="zh-CN" sz="2200" dirty="0"/>
              <a:t>2020.2.20</a:t>
            </a:r>
          </a:p>
          <a:p>
            <a:pPr marL="838200" lvl="1" indent="-381000" eaLnBrk="1" hangingPunct="1">
              <a:buFontTx/>
              <a:buNone/>
              <a:defRPr/>
            </a:pPr>
            <a:r>
              <a:rPr lang="en-US" altLang="zh-CN" sz="2200" dirty="0"/>
              <a:t>   return d;  //</a:t>
            </a:r>
            <a:r>
              <a:rPr lang="zh-CN" altLang="en-US" sz="2200" dirty="0"/>
              <a:t>创建一个</a:t>
            </a:r>
            <a:r>
              <a:rPr lang="zh-CN" altLang="en-US" sz="2200" dirty="0">
                <a:solidFill>
                  <a:srgbClr val="FFC000"/>
                </a:solidFill>
              </a:rPr>
              <a:t>临时对象作为返回值</a:t>
            </a:r>
            <a:r>
              <a:rPr lang="zh-CN" altLang="en-US" sz="2200" dirty="0"/>
              <a:t>，用</a:t>
            </a:r>
            <a:r>
              <a:rPr lang="en-US" altLang="zh-CN" sz="2200" dirty="0"/>
              <a:t>d</a:t>
            </a:r>
            <a:r>
              <a:rPr lang="zh-CN" altLang="en-US" sz="2200" dirty="0"/>
              <a:t>对其初始化</a:t>
            </a:r>
            <a:endParaRPr lang="en-US" altLang="zh-CN" sz="2200" dirty="0"/>
          </a:p>
          <a:p>
            <a:pPr marL="838200" lvl="1" indent="-381000" eaLnBrk="1" hangingPunct="1">
              <a:lnSpc>
                <a:spcPct val="130000"/>
              </a:lnSpc>
              <a:buFontTx/>
              <a:buNone/>
              <a:defRPr/>
            </a:pPr>
            <a:r>
              <a:rPr lang="en-US" altLang="zh-CN" sz="2200" dirty="0"/>
              <a:t>}</a:t>
            </a:r>
            <a:endParaRPr lang="zh-CN" altLang="en-GB" sz="2200" dirty="0"/>
          </a:p>
          <a:p>
            <a:pPr marL="838200" lvl="1" indent="-381000" eaLnBrk="1" hangingPunct="1">
              <a:lnSpc>
                <a:spcPct val="130000"/>
              </a:lnSpc>
              <a:buFontTx/>
              <a:buNone/>
              <a:defRPr/>
            </a:pPr>
            <a:r>
              <a:rPr lang="en-GB" altLang="zh-CN" sz="2200" dirty="0">
                <a:solidFill>
                  <a:srgbClr val="FFC000"/>
                </a:solidFill>
              </a:rPr>
              <a:t>Date</a:t>
            </a:r>
            <a:r>
              <a:rPr lang="en-US" altLang="zh-CN" sz="2200" dirty="0">
                <a:solidFill>
                  <a:srgbClr val="FFC000"/>
                </a:solidFill>
              </a:rPr>
              <a:t>&amp;</a:t>
            </a:r>
            <a:r>
              <a:rPr lang="en-GB" altLang="zh-CN" sz="2200" dirty="0"/>
              <a:t> </a:t>
            </a:r>
            <a:r>
              <a:rPr lang="en-US" altLang="zh-CN" sz="2200" dirty="0"/>
              <a:t>g</a:t>
            </a:r>
            <a:r>
              <a:rPr lang="en-GB" altLang="zh-CN" sz="2200" dirty="0"/>
              <a:t>(Date </a:t>
            </a:r>
            <a:r>
              <a:rPr lang="en-US" altLang="zh-CN" sz="2200" dirty="0"/>
              <a:t>&amp;</a:t>
            </a:r>
            <a:r>
              <a:rPr lang="en-GB" altLang="zh-CN" sz="2200" dirty="0"/>
              <a:t>d)</a:t>
            </a:r>
          </a:p>
          <a:p>
            <a:pPr marL="838200" lvl="1" indent="-381000" eaLnBrk="1" hangingPunct="1">
              <a:buFontTx/>
              <a:buNone/>
              <a:defRPr/>
            </a:pPr>
            <a:r>
              <a:rPr lang="en-US" altLang="zh-CN" sz="2200" dirty="0"/>
              <a:t>{ </a:t>
            </a:r>
            <a:r>
              <a:rPr lang="en-US" altLang="zh-CN" sz="2200" dirty="0" err="1"/>
              <a:t>d.print</a:t>
            </a:r>
            <a:r>
              <a:rPr lang="en-US" altLang="zh-CN" sz="2200" dirty="0"/>
              <a:t>(); //</a:t>
            </a:r>
            <a:r>
              <a:rPr lang="zh-CN" altLang="en-US" sz="2200" dirty="0"/>
              <a:t>输出：</a:t>
            </a:r>
            <a:r>
              <a:rPr lang="en-US" altLang="zh-CN" sz="2200" dirty="0"/>
              <a:t>2020.2.20</a:t>
            </a:r>
          </a:p>
          <a:p>
            <a:pPr marL="838200" lvl="1" indent="-381000" eaLnBrk="1" hangingPunct="1">
              <a:buFontTx/>
              <a:buNone/>
              <a:defRPr/>
            </a:pPr>
            <a:r>
              <a:rPr lang="en-US" altLang="zh-CN" sz="2200" dirty="0"/>
              <a:t>   return d;  //</a:t>
            </a:r>
            <a:r>
              <a:rPr lang="zh-CN" altLang="en-US" sz="2200" dirty="0"/>
              <a:t>不创建新对象，把</a:t>
            </a:r>
            <a:r>
              <a:rPr lang="zh-CN" altLang="en-US" sz="2200" dirty="0">
                <a:solidFill>
                  <a:srgbClr val="FFC000"/>
                </a:solidFill>
              </a:rPr>
              <a:t>对象</a:t>
            </a:r>
            <a:r>
              <a:rPr lang="en-US" altLang="zh-CN" sz="2200" dirty="0">
                <a:solidFill>
                  <a:srgbClr val="FFC000"/>
                </a:solidFill>
              </a:rPr>
              <a:t>d</a:t>
            </a:r>
            <a:r>
              <a:rPr lang="zh-CN" altLang="en-US" sz="2200" dirty="0">
                <a:solidFill>
                  <a:srgbClr val="FFC000"/>
                </a:solidFill>
              </a:rPr>
              <a:t>作为返回值</a:t>
            </a:r>
            <a:endParaRPr lang="en-US" altLang="zh-CN" sz="2200" dirty="0">
              <a:solidFill>
                <a:srgbClr val="FFC000"/>
              </a:solidFill>
            </a:endParaRPr>
          </a:p>
          <a:p>
            <a:pPr marL="838200" lvl="1" indent="-381000" eaLnBrk="1" hangingPunct="1">
              <a:buFontTx/>
              <a:buNone/>
              <a:defRPr/>
            </a:pPr>
            <a:r>
              <a:rPr lang="en-US" altLang="zh-CN" sz="2200" dirty="0">
                <a:solidFill>
                  <a:srgbClr val="FFC000"/>
                </a:solidFill>
              </a:rPr>
              <a:t>                  </a:t>
            </a:r>
            <a:r>
              <a:rPr lang="en-US" altLang="zh-CN" sz="2600" b="1" dirty="0">
                <a:solidFill>
                  <a:srgbClr val="FF0000"/>
                </a:solidFill>
                <a:effectLst/>
              </a:rPr>
              <a:t>//</a:t>
            </a:r>
            <a:r>
              <a:rPr lang="zh-CN" altLang="en-US" sz="2600" b="1" dirty="0">
                <a:solidFill>
                  <a:srgbClr val="FF0000"/>
                </a:solidFill>
                <a:effectLst/>
              </a:rPr>
              <a:t>切记：不能返回临时本地变量引用</a:t>
            </a:r>
            <a:endParaRPr lang="en-US" altLang="zh-CN" sz="2200" b="1" dirty="0">
              <a:solidFill>
                <a:srgbClr val="FF0000"/>
              </a:solidFill>
              <a:effectLst/>
            </a:endParaRPr>
          </a:p>
          <a:p>
            <a:pPr marL="838200" lvl="1" indent="-381000" eaLnBrk="1" hangingPunct="1">
              <a:lnSpc>
                <a:spcPct val="130000"/>
              </a:lnSpc>
              <a:buFontTx/>
              <a:buNone/>
              <a:defRPr/>
            </a:pPr>
            <a:r>
              <a:rPr lang="en-US" altLang="zh-CN" sz="2200" dirty="0"/>
              <a:t>}</a:t>
            </a:r>
            <a:endParaRPr lang="zh-CN" altLang="en-GB" sz="2200" dirty="0"/>
          </a:p>
          <a:p>
            <a:pPr marL="838200" lvl="1" indent="-381000" eaLnBrk="1" hangingPunct="1">
              <a:buFontTx/>
              <a:buNone/>
              <a:defRPr/>
            </a:pPr>
            <a:r>
              <a:rPr lang="en-GB" altLang="zh-CN" sz="2200" dirty="0"/>
              <a:t>Date </a:t>
            </a:r>
            <a:r>
              <a:rPr lang="en-GB" altLang="zh-CN" sz="2200" dirty="0" err="1"/>
              <a:t>some_day</a:t>
            </a:r>
            <a:r>
              <a:rPr lang="en-US" altLang="zh-CN" sz="2200" dirty="0"/>
              <a:t>;</a:t>
            </a:r>
            <a:r>
              <a:rPr lang="en-GB" altLang="zh-CN" sz="2200" dirty="0"/>
              <a:t> //</a:t>
            </a:r>
            <a:r>
              <a:rPr lang="zh-CN" altLang="en-US" sz="2200" dirty="0"/>
              <a:t>创建一个日期对象</a:t>
            </a:r>
            <a:endParaRPr lang="en-US" altLang="zh-CN" sz="2200" dirty="0"/>
          </a:p>
          <a:p>
            <a:pPr marL="838200" lvl="1" indent="-381000" eaLnBrk="1" hangingPunct="1">
              <a:buFontTx/>
              <a:buNone/>
              <a:defRPr/>
            </a:pPr>
            <a:r>
              <a:rPr lang="en-US" altLang="zh-CN" sz="2200" dirty="0" err="1"/>
              <a:t>some_day.set</a:t>
            </a:r>
            <a:r>
              <a:rPr lang="en-GB" altLang="zh-CN" sz="2200" dirty="0"/>
              <a:t>(2020,2,20); </a:t>
            </a:r>
            <a:endParaRPr lang="en-US" altLang="zh-CN" sz="2200" dirty="0"/>
          </a:p>
          <a:p>
            <a:pPr marL="838200" lvl="1" indent="-381000" eaLnBrk="1" hangingPunct="1">
              <a:buFontTx/>
              <a:buNone/>
              <a:defRPr/>
            </a:pPr>
            <a:r>
              <a:rPr lang="en-US" altLang="zh-CN" sz="2200" dirty="0"/>
              <a:t>f(</a:t>
            </a:r>
            <a:r>
              <a:rPr lang="en-US" altLang="zh-CN" sz="2200" dirty="0" err="1"/>
              <a:t>some_day</a:t>
            </a:r>
            <a:r>
              <a:rPr lang="en-US" altLang="zh-CN" sz="2200" dirty="0"/>
              <a:t>).set(2017,3,13); </a:t>
            </a:r>
            <a:r>
              <a:rPr lang="en-US" altLang="zh-CN" sz="2200" dirty="0" err="1"/>
              <a:t>some_day.print</a:t>
            </a:r>
            <a:r>
              <a:rPr lang="en-US" altLang="zh-CN" sz="2200" dirty="0"/>
              <a:t>(); //</a:t>
            </a:r>
            <a:r>
              <a:rPr lang="en-US" altLang="zh-CN" sz="2200" dirty="0">
                <a:solidFill>
                  <a:srgbClr val="FFC000"/>
                </a:solidFill>
              </a:rPr>
              <a:t>?</a:t>
            </a:r>
          </a:p>
          <a:p>
            <a:pPr marL="838200" lvl="1" indent="-381000" eaLnBrk="1" hangingPunct="1">
              <a:buFontTx/>
              <a:buNone/>
              <a:defRPr/>
            </a:pPr>
            <a:r>
              <a:rPr lang="en-US" altLang="zh-CN" sz="2200" dirty="0"/>
              <a:t>g(</a:t>
            </a:r>
            <a:r>
              <a:rPr lang="en-US" altLang="zh-CN" sz="2200" dirty="0" err="1"/>
              <a:t>some_day</a:t>
            </a:r>
            <a:r>
              <a:rPr lang="en-US" altLang="zh-CN" sz="2200" dirty="0"/>
              <a:t>).set(2017,3,13); </a:t>
            </a:r>
            <a:r>
              <a:rPr lang="en-US" altLang="zh-CN" sz="2200" dirty="0" err="1"/>
              <a:t>some_day.print</a:t>
            </a:r>
            <a:r>
              <a:rPr lang="en-US" altLang="zh-CN" sz="2200" dirty="0"/>
              <a:t>(); //</a:t>
            </a:r>
            <a:r>
              <a:rPr lang="en-US" altLang="zh-CN" sz="2200" dirty="0">
                <a:solidFill>
                  <a:srgbClr val="FFC000"/>
                </a:solidFill>
              </a:rPr>
              <a:t>?</a:t>
            </a:r>
          </a:p>
          <a:p>
            <a:pPr marL="838200" lvl="1" indent="-381000" eaLnBrk="1" hangingPunct="1">
              <a:buFontTx/>
              <a:buNone/>
              <a:defRPr/>
            </a:pPr>
            <a:r>
              <a:rPr lang="en-US" altLang="zh-CN" sz="2400" dirty="0">
                <a:solidFill>
                  <a:srgbClr val="FFC000"/>
                </a:solidFill>
              </a:rPr>
              <a:t>//</a:t>
            </a:r>
            <a:r>
              <a:rPr lang="zh-CN" altLang="en-US" sz="2400" dirty="0">
                <a:solidFill>
                  <a:srgbClr val="FFC000"/>
                </a:solidFill>
              </a:rPr>
              <a:t>前者显示：</a:t>
            </a:r>
            <a:r>
              <a:rPr lang="en-US" altLang="zh-CN" sz="2400" dirty="0">
                <a:solidFill>
                  <a:srgbClr val="FFC000"/>
                </a:solidFill>
              </a:rPr>
              <a:t>2020.2.20</a:t>
            </a:r>
            <a:r>
              <a:rPr lang="zh-CN" altLang="en-US" sz="2400" dirty="0">
                <a:solidFill>
                  <a:srgbClr val="FFC000"/>
                </a:solidFill>
              </a:rPr>
              <a:t>，因为修改的是临时对象</a:t>
            </a:r>
            <a:endParaRPr lang="en-US" altLang="zh-CN" sz="2400" dirty="0">
              <a:solidFill>
                <a:srgbClr val="FFC000"/>
              </a:solidFill>
            </a:endParaRPr>
          </a:p>
          <a:p>
            <a:pPr marL="838200" lvl="1" indent="-381000" eaLnBrk="1" hangingPunct="1">
              <a:buFontTx/>
              <a:buNone/>
              <a:defRPr/>
            </a:pPr>
            <a:r>
              <a:rPr lang="en-US" altLang="zh-CN" sz="2400" dirty="0">
                <a:solidFill>
                  <a:srgbClr val="FFC000"/>
                </a:solidFill>
              </a:rPr>
              <a:t>//</a:t>
            </a:r>
            <a:r>
              <a:rPr lang="zh-CN" altLang="en-US" sz="2400" dirty="0">
                <a:solidFill>
                  <a:srgbClr val="FFC000"/>
                </a:solidFill>
              </a:rPr>
              <a:t>后者显示：</a:t>
            </a:r>
            <a:r>
              <a:rPr lang="en-US" altLang="zh-CN" sz="2400" dirty="0">
                <a:solidFill>
                  <a:srgbClr val="FFC000"/>
                </a:solidFill>
              </a:rPr>
              <a:t>2017.3.13</a:t>
            </a:r>
            <a:r>
              <a:rPr lang="zh-CN" altLang="en-US" sz="2400" dirty="0">
                <a:solidFill>
                  <a:srgbClr val="FFC000"/>
                </a:solidFill>
              </a:rPr>
              <a:t>，因为修改的是</a:t>
            </a:r>
            <a:r>
              <a:rPr lang="en-US" altLang="zh-CN" sz="2400" dirty="0" err="1">
                <a:solidFill>
                  <a:srgbClr val="FFC000"/>
                </a:solidFill>
              </a:rPr>
              <a:t>some_day</a:t>
            </a:r>
            <a:r>
              <a:rPr lang="en-US" altLang="zh-CN" sz="2400" dirty="0">
                <a:solidFill>
                  <a:srgbClr val="FFC000"/>
                </a:solidFill>
              </a:rPr>
              <a:t>!</a:t>
            </a:r>
            <a:endParaRPr lang="zh-CN" altLang="en-US" sz="24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lobe">
  <a:themeElements>
    <a:clrScheme name="Globe 11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ln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CC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10">
        <a:dk1>
          <a:srgbClr val="003B76"/>
        </a:dk1>
        <a:lt1>
          <a:srgbClr val="FFFFFF"/>
        </a:lt1>
        <a:dk2>
          <a:srgbClr val="0066CC"/>
        </a:dk2>
        <a:lt2>
          <a:srgbClr val="FFCC66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11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33668</TotalTime>
  <Words>2000</Words>
  <Application>Microsoft Office PowerPoint</Application>
  <PresentationFormat>全屏显示(4:3)</PresentationFormat>
  <Paragraphs>225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Verdana</vt:lpstr>
      <vt:lpstr>宋体</vt:lpstr>
      <vt:lpstr>Arial</vt:lpstr>
      <vt:lpstr>Wingdings</vt:lpstr>
      <vt:lpstr>Times New Roman</vt:lpstr>
      <vt:lpstr>Globe</vt:lpstr>
      <vt:lpstr>对象与类</vt:lpstr>
      <vt:lpstr>类</vt:lpstr>
      <vt:lpstr>例：一个日期类的定义</vt:lpstr>
      <vt:lpstr>数据成员</vt:lpstr>
      <vt:lpstr>PowerPoint 演示文稿</vt:lpstr>
      <vt:lpstr>成员函数</vt:lpstr>
      <vt:lpstr>PowerPoint 演示文稿</vt:lpstr>
      <vt:lpstr>类成员的访问控制 </vt:lpstr>
      <vt:lpstr>PowerPoint 演示文稿</vt:lpstr>
      <vt:lpstr>PowerPoint 演示文稿</vt:lpstr>
      <vt:lpstr>对  象</vt:lpstr>
      <vt:lpstr>对象的创建和标识 </vt:lpstr>
      <vt:lpstr>PowerPoint 演示文稿</vt:lpstr>
      <vt:lpstr>成员对象</vt:lpstr>
      <vt:lpstr>对象的操作 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chenjj</dc:creator>
  <cp:lastModifiedBy>润泽 颜</cp:lastModifiedBy>
  <cp:revision>617</cp:revision>
  <dcterms:created xsi:type="dcterms:W3CDTF">1999-05-22T12:40:20Z</dcterms:created>
  <dcterms:modified xsi:type="dcterms:W3CDTF">2026-06-18T00:20:37Z</dcterms:modified>
</cp:coreProperties>
</file>