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49"/>
  </p:notesMasterIdLst>
  <p:handoutMasterIdLst>
    <p:handoutMasterId r:id="rId50"/>
  </p:handoutMasterIdLst>
  <p:sldIdLst>
    <p:sldId id="367" r:id="rId6"/>
    <p:sldId id="382" r:id="rId7"/>
    <p:sldId id="384" r:id="rId8"/>
    <p:sldId id="394" r:id="rId9"/>
    <p:sldId id="444" r:id="rId10"/>
    <p:sldId id="445" r:id="rId11"/>
    <p:sldId id="411" r:id="rId12"/>
    <p:sldId id="417" r:id="rId13"/>
    <p:sldId id="442" r:id="rId14"/>
    <p:sldId id="441" r:id="rId15"/>
    <p:sldId id="460" r:id="rId16"/>
    <p:sldId id="440" r:id="rId17"/>
    <p:sldId id="438" r:id="rId18"/>
    <p:sldId id="439" r:id="rId19"/>
    <p:sldId id="446" r:id="rId20"/>
    <p:sldId id="443" r:id="rId21"/>
    <p:sldId id="437" r:id="rId22"/>
    <p:sldId id="447" r:id="rId23"/>
    <p:sldId id="425" r:id="rId24"/>
    <p:sldId id="448" r:id="rId25"/>
    <p:sldId id="426" r:id="rId26"/>
    <p:sldId id="449" r:id="rId27"/>
    <p:sldId id="466" r:id="rId28"/>
    <p:sldId id="450" r:id="rId29"/>
    <p:sldId id="451" r:id="rId30"/>
    <p:sldId id="452" r:id="rId31"/>
    <p:sldId id="432" r:id="rId32"/>
    <p:sldId id="464" r:id="rId33"/>
    <p:sldId id="463" r:id="rId34"/>
    <p:sldId id="433" r:id="rId35"/>
    <p:sldId id="459" r:id="rId36"/>
    <p:sldId id="434" r:id="rId37"/>
    <p:sldId id="458" r:id="rId38"/>
    <p:sldId id="454" r:id="rId39"/>
    <p:sldId id="461" r:id="rId40"/>
    <p:sldId id="465" r:id="rId41"/>
    <p:sldId id="453" r:id="rId42"/>
    <p:sldId id="455" r:id="rId43"/>
    <p:sldId id="435" r:id="rId44"/>
    <p:sldId id="436" r:id="rId45"/>
    <p:sldId id="456" r:id="rId46"/>
    <p:sldId id="457" r:id="rId47"/>
    <p:sldId id="462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585E08"/>
    <a:srgbClr val="660066"/>
    <a:srgbClr val="F60000"/>
    <a:srgbClr val="FFFF00"/>
    <a:srgbClr val="000000"/>
    <a:srgbClr val="1BB54E"/>
    <a:srgbClr val="F1E7E7"/>
    <a:srgbClr val="FFFFFF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615" autoAdjust="0"/>
  </p:normalViewPr>
  <p:slideViewPr>
    <p:cSldViewPr snapToGrid="0">
      <p:cViewPr varScale="1">
        <p:scale>
          <a:sx n="120" d="100"/>
          <a:sy n="120" d="100"/>
        </p:scale>
        <p:origin x="404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B1B7AC-EF47-46E5-B92B-F2D54A97B1E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E4647-9947-4B64-B5DC-CF2057819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1166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194BB-0A04-4E4D-8275-4042BBD91D7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05382-D517-4F7D-80E6-28CD52617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3397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538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364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noProof="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 following C function leaks a block of allocated memory if the call to read() does not return the expected number of bytes</a:t>
            </a:r>
            <a:r>
              <a:rPr lang="en-US" altLang="zh-CN" sz="1200" b="0" i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sz="1200" b="0" i="0" kern="1200" noProof="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564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114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651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676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395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12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23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484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313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049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6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6411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7256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166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836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7290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923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3673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7010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0121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2850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408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081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2275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2522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3119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7166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1017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8230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3953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3530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8239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5497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7747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1476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6443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5563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769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184A-3FBC-4B2E-8AEA-4790F961A659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40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05D7F-5EA5-4343-9001-24D6A09084FD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05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299F-E660-4D39-8DF5-866B7430029D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619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7B18A-788C-41AB-B339-140D5E756975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37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86E5F-A469-4C88-B35D-EB275F217A41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63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0119-C858-4464-B177-CC0B8B931BCB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6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EF9C-0AB5-431E-AF43-86BF274C0BB8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45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CE3C8-0F68-4F62-B47F-E225CE6651E5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52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895B-052B-4F41-AA99-B92009B88D8F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34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14C0-7E88-425F-9E03-4F2A63E08053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555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941E0-A9AB-4A89-A0F1-FD5289838608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177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 txBox="1">
            <a:spLocks/>
          </p:cNvSpPr>
          <p:nvPr userDrawn="1"/>
        </p:nvSpPr>
        <p:spPr>
          <a:xfrm>
            <a:off x="31751" y="6704014"/>
            <a:ext cx="2032000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Concordia University </a:t>
            </a:r>
            <a:endParaRPr lang="en-US" sz="1200" dirty="0"/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3407834" y="6704014"/>
            <a:ext cx="5183717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Department of Computer Science and Software Engineering</a:t>
            </a:r>
            <a:endParaRPr lang="en-US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620688"/>
            <a:ext cx="11521280" cy="5976664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4"/>
          <p:cNvSpPr>
            <a:spLocks noGrp="1"/>
          </p:cNvSpPr>
          <p:nvPr>
            <p:ph type="title"/>
          </p:nvPr>
        </p:nvSpPr>
        <p:spPr>
          <a:xfrm>
            <a:off x="239350" y="180174"/>
            <a:ext cx="11728869" cy="360357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0"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745133" y="6704014"/>
            <a:ext cx="2523067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0668000" y="26989"/>
            <a:ext cx="1422400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fld id="{98703A65-A875-4E9C-89CA-880E7BF5FB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2"/>
          </p:nvPr>
        </p:nvSpPr>
        <p:spPr>
          <a:xfrm>
            <a:off x="122767" y="26989"/>
            <a:ext cx="6830484" cy="109537"/>
          </a:xfrm>
        </p:spPr>
        <p:txBody>
          <a:bodyPr/>
          <a:lstStyle>
            <a:lvl1pPr algn="l">
              <a:defRPr sz="120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E4EFD188-5A9E-4B37-8968-C9E2365EB3BD}" type="datetime1">
              <a:rPr lang="zh-CN" altLang="en-US" smtClean="0"/>
              <a:t>2026/5/18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16172"/>
      </p:ext>
    </p:extLst>
  </p:cSld>
  <p:clrMapOvr>
    <a:masterClrMapping/>
  </p:clrMapOvr>
  <p:transition spd="med">
    <p:pull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/>
          <p:cNvSpPr txBox="1">
            <a:spLocks/>
          </p:cNvSpPr>
          <p:nvPr userDrawn="1"/>
        </p:nvSpPr>
        <p:spPr>
          <a:xfrm>
            <a:off x="31751" y="6704014"/>
            <a:ext cx="2032000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Concordia University </a:t>
            </a:r>
            <a:endParaRPr lang="en-US" sz="1200" dirty="0"/>
          </a:p>
        </p:txBody>
      </p:sp>
      <p:sp>
        <p:nvSpPr>
          <p:cNvPr id="4" name="Footer Placeholder 4"/>
          <p:cNvSpPr txBox="1">
            <a:spLocks/>
          </p:cNvSpPr>
          <p:nvPr userDrawn="1"/>
        </p:nvSpPr>
        <p:spPr>
          <a:xfrm>
            <a:off x="3407834" y="6704014"/>
            <a:ext cx="5183717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Department of Computer Science and Software Engineering</a:t>
            </a:r>
            <a:endParaRPr lang="en-US" sz="1200" dirty="0"/>
          </a:p>
        </p:txBody>
      </p:sp>
      <p:sp>
        <p:nvSpPr>
          <p:cNvPr id="10" name="Title Placeholder 14"/>
          <p:cNvSpPr>
            <a:spLocks noGrp="1"/>
          </p:cNvSpPr>
          <p:nvPr>
            <p:ph type="title"/>
          </p:nvPr>
        </p:nvSpPr>
        <p:spPr>
          <a:xfrm>
            <a:off x="239350" y="180174"/>
            <a:ext cx="11728869" cy="360357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0"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745133" y="6704014"/>
            <a:ext cx="2523067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0668000" y="26989"/>
            <a:ext cx="1422400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fld id="{736DAF89-DCC0-41F3-8953-363ED3B501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>
          <a:xfrm>
            <a:off x="118534" y="26989"/>
            <a:ext cx="6830484" cy="109537"/>
          </a:xfrm>
        </p:spPr>
        <p:txBody>
          <a:bodyPr/>
          <a:lstStyle>
            <a:lvl1pPr algn="l">
              <a:defRPr sz="120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31215BFC-B83D-444E-9D05-BF1F132DE25C}" type="datetime1">
              <a:rPr lang="zh-CN" altLang="en-US" smtClean="0"/>
              <a:t>2026/5/18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83097"/>
      </p:ext>
    </p:extLst>
  </p:cSld>
  <p:clrMapOvr>
    <a:masterClrMapping/>
  </p:clrMapOvr>
  <p:transition spd="med">
    <p:pull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1A830A-FFBD-45AF-8AF8-C6B6DDB76035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7130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289B59-75B2-4D58-A3B4-704F647CBA20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7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8FB0F-DF48-4978-BDEF-B480E65D6A5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946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54605A-CAE6-4641-87F6-043AE8A731AE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8644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52FB10-A096-4E53-B5DD-0187DA130E2D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761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45A44-C02F-4653-B198-B738706F4DBD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94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54106B-58BC-4443-BCB8-5DF1DC13C9A2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2778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237DC7-FB1C-4540-92E4-0B68E4D783C6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0292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5640B6-99A4-411A-9A61-C10310955DC5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8647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606E29-B525-4FF6-B256-CDDB9E2D7D66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0912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E5F8E-E99A-4E22-8189-23A40D84D88D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3258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D99262-5331-4104-9FF3-24E9C5AE4F7B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1894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C75068-AB63-400D-A3AB-3CF41F278725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2079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C89331-1A13-4D38-98DB-879CCF951DE1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6484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FE0ED8-C91A-4F6C-988C-7D5D9DF687EA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3369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B17204-135A-49E4-BDCA-BB936BD26FA9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1522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95554F-B715-4B1E-B75F-EE868D0D438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028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395B69-D8B1-4695-8AF2-A137F63D60C2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0494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8FF1A5-7AF3-4B73-9386-939B6B5AF48B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88847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3E985C-A9E6-47C2-810D-29F414AECA48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44481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B8B555-D6DF-45B4-A98F-E0303A679176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5414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7642E5-FA4A-4680-9F8C-170FF82897F9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8740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2C8954-D1B0-427A-B1DC-380BDB23781B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4626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5721E7-D3C6-4F79-A219-591CC15BB684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7526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3418EA-0547-43A9-819C-38E3D72EB71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3039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F26475-9BDF-40F0-B239-ACCF94215266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80305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623A89-4D98-450E-A0B1-F9ECFA35F105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7539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5570D6-93AC-4814-85C7-BD989E90B1EF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98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9BAB1-9059-4879-9686-B476F7195905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0117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6798DC-B587-4A0D-8897-B1B42D85606E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1076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4E3DB2-F558-4892-B662-87656D8BA991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089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2D681F-B7D5-43B1-9AA4-499B26111CEA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7214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5E2A6A-2D05-42AE-8BD2-8265AB5D3887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8399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6724BB-012F-408D-A563-B286402962F9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36179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C8C221-D313-4079-B18F-D35E01F37E7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670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DF62BA-FB8E-404B-B22C-B06182FEBB38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650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D17AC-E7ED-47AE-86F4-93658F700ABD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4324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059437-CAC2-4649-92F5-4EDCBF0574F5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111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6DBD1-6453-46B5-A4DA-AF7A122B942B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693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933596-22AE-4CEB-9F2F-C406978FEEE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1150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532589-3D7D-4CFA-ACB1-3FDE57E520CB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3557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13F9DD-D866-48B5-AF5A-6A08F18CD444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4764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275C02-4DEE-4088-9878-1F94EE5EE4E2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92733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C3035-00C0-45F5-931C-CF75D578E8C1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048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B029A-8D1C-45AF-B61D-6A387582FCA9}" type="datetime1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39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08" r:id="rId12"/>
    <p:sldLayoutId id="214748370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E69F60-7E67-4FC8-A011-779A1002032E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26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A6689-E2AE-451E-A747-B64DDA9A9E88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891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F2E075-201E-4901-9C62-6BC63F463570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41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E3671B-D043-4564-BF87-FFDC6C87233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08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pratikparvati/memory-management-using-smart-pointers-in-c-part-2-3pp4" TargetMode="External"/><Relationship Id="rId2" Type="http://schemas.openxmlformats.org/officeDocument/2006/relationships/hyperlink" Target="https://dev.to/pratikparvati/memory-management-using-smart-pointers-in-c-part-1-4j2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eb.stanford.edu/class/archive/cs/cs106l/cs106l.1192/lectures/lecture15/15_RAII.pdf" TargetMode="External"/><Relationship Id="rId4" Type="http://schemas.openxmlformats.org/officeDocument/2006/relationships/hyperlink" Target="https://courses.cs.washington.edu/courses/cse333/24sp/lectures/16-c++-smartptr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69546" y="1656057"/>
            <a:ext cx="10955214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800" b="1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华文新魏"/>
              </a:rPr>
              <a:t>Memory-safety Programming</a:t>
            </a:r>
            <a:br>
              <a:rPr lang="en-US" altLang="zh-CN" sz="4800" b="1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华文新魏"/>
              </a:rPr>
            </a:br>
            <a:r>
              <a:rPr lang="zh-CN" altLang="en-US" sz="4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/>
              </a:rPr>
              <a:t>内存安全程序设计</a:t>
            </a:r>
            <a:endParaRPr lang="zh-CN" altLang="en-US" sz="6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新魏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564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 dirty="0">
                <a:latin typeface="Arial Black" panose="020B0A04020102020204" pitchFamily="34" charset="0"/>
                <a:ea typeface="微软雅黑" panose="020B0503020204020204" pitchFamily="34" charset="-122"/>
              </a:rPr>
              <a:t>Content</a:t>
            </a:r>
            <a:r>
              <a:rPr lang="en-US" altLang="zh-CN" sz="3600" b="1" dirty="0">
                <a:latin typeface="Arial Black" panose="020B0A04020102020204" pitchFamily="34" charset="0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Memory-safety problems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Temporal memory problems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smart pointer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Spatial memory problems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dynamic bound checking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20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989666" cy="507877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时间类内存安全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Temporal safety caused by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lifetime violation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释放后使用（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Use after free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重复释放（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Double free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悬垂指针（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Dangling pointer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内存泄漏（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Memory leak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空间类内存安全（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Spatial safety caused by wrong access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缓冲区溢出（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Buffer overflow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解引用空指针（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Null pointer dereferencing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访问未初始化内存（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Dereference uninitialized pointer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Taxonomy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76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064" y="2396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Temporal Memory Problems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08079" y="2011468"/>
            <a:ext cx="7087613" cy="2308324"/>
          </a:xfrm>
          <a:prstGeom prst="rect">
            <a:avLst/>
          </a:prstGeom>
          <a:noFill/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*)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(SIZE);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(err) {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logError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2A00FF"/>
                </a:solidFill>
                <a:latin typeface="Consolas" panose="020B0609020204030204" pitchFamily="49" charset="0"/>
              </a:rPr>
              <a:t>"operation aborted before commit"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b="1" dirty="0"/>
          </a:p>
        </p:txBody>
      </p:sp>
      <p:sp>
        <p:nvSpPr>
          <p:cNvPr id="13" name="Rectangle 5"/>
          <p:cNvSpPr/>
          <p:nvPr/>
        </p:nvSpPr>
        <p:spPr>
          <a:xfrm>
            <a:off x="555722" y="6432011"/>
            <a:ext cx="4553170" cy="23852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CWE-416: Use After Free https://cwe.mitre.org/data/definitions/416.html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83008" y="4894351"/>
            <a:ext cx="3696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Use-After-Free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90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064" y="2396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Temporal Memory Problems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23685" y="4878720"/>
            <a:ext cx="3696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Memory Leak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621280" y="1870156"/>
            <a:ext cx="6897858" cy="2862322"/>
          </a:xfrm>
          <a:prstGeom prst="rect">
            <a:avLst/>
          </a:prstGeom>
          <a:noFill/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getBlock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    char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*)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(BLOCK_SIZE);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return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NULL;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(read(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BLOCK_SIZE) != BLOCK_SIZE) {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return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NULL;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577382" y="6430223"/>
            <a:ext cx="4511491" cy="23852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CWE-401: Memory Leak https://cwe.mitre.org/data/definitions/401.html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椭圆 10"/>
          <p:cNvSpPr/>
          <p:nvPr/>
        </p:nvSpPr>
        <p:spPr bwMode="gray">
          <a:xfrm>
            <a:off x="3416439" y="3126153"/>
            <a:ext cx="5478234" cy="579703"/>
          </a:xfrm>
          <a:prstGeom prst="ellipse">
            <a:avLst/>
          </a:prstGeom>
          <a:noFill/>
          <a:ln w="222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939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064" y="2396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Temporal Memory Problems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92423" y="5543028"/>
            <a:ext cx="3696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Dangling Pointer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619634" y="1709177"/>
            <a:ext cx="4814277" cy="3293209"/>
          </a:xfrm>
          <a:prstGeom prst="rect">
            <a:avLst/>
          </a:prstGeom>
          <a:ln w="12700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latin typeface="Consolas" panose="020B0609020204030204" pitchFamily="49" charset="0"/>
              </a:rPr>
              <a:t> main()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latin typeface="Consolas" panose="020B0609020204030204" pitchFamily="49" charset="0"/>
              </a:rPr>
              <a:t>* </a:t>
            </a:r>
            <a:r>
              <a:rPr lang="en-US" altLang="zh-CN" sz="1600" b="1" dirty="0" err="1">
                <a:latin typeface="Consolas" panose="020B0609020204030204" pitchFamily="49" charset="0"/>
              </a:rPr>
              <a:t>ptr</a:t>
            </a:r>
            <a:r>
              <a:rPr lang="en-US" altLang="zh-CN" sz="1600" b="1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creating an inner block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{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    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latin typeface="Consolas" panose="020B0609020204030204" pitchFamily="49" charset="0"/>
              </a:rPr>
              <a:t> a = 10;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    </a:t>
            </a:r>
            <a:r>
              <a:rPr lang="en-US" altLang="zh-CN" sz="1600" b="1" dirty="0" err="1">
                <a:latin typeface="Consolas" panose="020B0609020204030204" pitchFamily="49" charset="0"/>
              </a:rPr>
              <a:t>ptr</a:t>
            </a:r>
            <a:r>
              <a:rPr lang="en-US" altLang="zh-CN" sz="1600" b="1" dirty="0">
                <a:latin typeface="Consolas" panose="020B0609020204030204" pitchFamily="49" charset="0"/>
              </a:rPr>
              <a:t> = &amp;a;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}</a:t>
            </a:r>
          </a:p>
          <a:p>
            <a:endParaRPr lang="en-US" altLang="zh-CN" sz="1600" b="1" dirty="0">
              <a:latin typeface="Consolas" panose="020B0609020204030204" pitchFamily="49" charset="0"/>
            </a:endParaRP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altLang="zh-CN" sz="1600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ptr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here becomes dangling pointer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b="1" dirty="0" err="1">
                <a:latin typeface="Consolas" panose="020B0609020204030204" pitchFamily="49" charset="0"/>
              </a:rPr>
              <a:t>printf</a:t>
            </a:r>
            <a:r>
              <a:rPr lang="en-US" altLang="zh-CN" sz="1600" b="1" dirty="0">
                <a:latin typeface="Consolas" panose="020B0609020204030204" pitchFamily="49" charset="0"/>
              </a:rPr>
              <a:t>("%d", *</a:t>
            </a:r>
            <a:r>
              <a:rPr lang="en-US" altLang="zh-CN" sz="1600" b="1" dirty="0" err="1">
                <a:latin typeface="Consolas" panose="020B0609020204030204" pitchFamily="49" charset="0"/>
              </a:rPr>
              <a:t>ptr</a:t>
            </a:r>
            <a:r>
              <a:rPr lang="en-US" altLang="zh-CN" sz="1600" b="1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b="1" dirty="0">
                <a:latin typeface="Consolas" panose="020B0609020204030204" pitchFamily="49" charset="0"/>
              </a:rPr>
              <a:t> 0;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}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9108" y="1407448"/>
            <a:ext cx="4954954" cy="4031873"/>
          </a:xfrm>
          <a:prstGeom prst="rect">
            <a:avLst/>
          </a:prstGeom>
          <a:ln w="12700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latin typeface="Consolas" panose="020B0609020204030204" pitchFamily="49" charset="0"/>
              </a:rPr>
              <a:t>* fun()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x is local variable and goes out of </a:t>
            </a:r>
          </a:p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	scope after fun() is returned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latin typeface="Consolas" panose="020B0609020204030204" pitchFamily="49" charset="0"/>
              </a:rPr>
              <a:t> x = 5;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b="1" dirty="0">
                <a:latin typeface="Consolas" panose="020B0609020204030204" pitchFamily="49" charset="0"/>
              </a:rPr>
              <a:t> &amp;x;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}</a:t>
            </a:r>
          </a:p>
          <a:p>
            <a:endParaRPr lang="en-US" altLang="zh-CN" sz="1600" b="1" dirty="0">
              <a:latin typeface="Consolas" panose="020B0609020204030204" pitchFamily="49" charset="0"/>
            </a:endParaRPr>
          </a:p>
          <a:p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latin typeface="Consolas" panose="020B0609020204030204" pitchFamily="49" charset="0"/>
              </a:rPr>
              <a:t> main()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latin typeface="Consolas" panose="020B0609020204030204" pitchFamily="49" charset="0"/>
              </a:rPr>
              <a:t>* p = fun();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p points to something which</a:t>
            </a:r>
          </a:p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	is not valid anymore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b="1" dirty="0" err="1">
                <a:latin typeface="Consolas" panose="020B0609020204030204" pitchFamily="49" charset="0"/>
              </a:rPr>
              <a:t>printf</a:t>
            </a:r>
            <a:r>
              <a:rPr lang="en-US" altLang="zh-CN" sz="1600" b="1" dirty="0">
                <a:latin typeface="Consolas" panose="020B0609020204030204" pitchFamily="49" charset="0"/>
              </a:rPr>
              <a:t>("%d", *p);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b="1" dirty="0">
                <a:latin typeface="Consolas" panose="020B0609020204030204" pitchFamily="49" charset="0"/>
              </a:rPr>
              <a:t> 0;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}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77382" y="6430223"/>
            <a:ext cx="4069063" cy="23852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https://www.geeksforgeeks.org/dangling-void-null-wild-pointers/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432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745038" y="1598193"/>
            <a:ext cx="10576473" cy="21756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时间类内存安全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Temporal safety caused by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lifetime violation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prstClr val="black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释放后使用（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Use after free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prstClr val="black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重复释放（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Double free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prstClr val="black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悬垂指针（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Dangling pointer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prstClr val="black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内存泄漏（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Memory leak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prstClr val="black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255731" y="4383113"/>
            <a:ext cx="7594171" cy="15327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如何从程序设计的角度</a:t>
            </a:r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</a:t>
            </a:r>
            <a:endParaRPr lang="en-US" altLang="zh-CN" sz="3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时间类内存安全问题？</a:t>
            </a:r>
          </a:p>
        </p:txBody>
      </p:sp>
      <p:sp>
        <p:nvSpPr>
          <p:cNvPr id="10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Temporal Memory Safety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45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RAII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3" name="矩形 2"/>
          <p:cNvSpPr/>
          <p:nvPr/>
        </p:nvSpPr>
        <p:spPr>
          <a:xfrm>
            <a:off x="1852246" y="1780293"/>
            <a:ext cx="5838092" cy="2862322"/>
          </a:xfrm>
          <a:prstGeom prst="rect">
            <a:avLst/>
          </a:prstGeom>
          <a:ln w="12700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latin typeface="Consolas" panose="020B0609020204030204" pitchFamily="49" charset="0"/>
              </a:rPr>
              <a:t>printFile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const</a:t>
            </a:r>
            <a:r>
              <a:rPr lang="en-US" altLang="zh-CN" dirty="0">
                <a:latin typeface="Consolas" panose="020B0609020204030204" pitchFamily="49" charset="0"/>
              </a:rPr>
              <a:t> char* name)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acquire file resource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FILE* f =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CN" dirty="0">
                <a:latin typeface="Consolas" panose="020B0609020204030204" pitchFamily="49" charset="0"/>
              </a:rPr>
              <a:t>(name, "r");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 // print contents of f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…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 // release file resource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CN" dirty="0">
                <a:latin typeface="Consolas" panose="020B0609020204030204" pitchFamily="49" charset="0"/>
              </a:rPr>
              <a:t>(f);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84425" y="5081919"/>
            <a:ext cx="2114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File I/O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272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RAII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3" name="矩形 2"/>
          <p:cNvSpPr/>
          <p:nvPr/>
        </p:nvSpPr>
        <p:spPr>
          <a:xfrm>
            <a:off x="1852246" y="1780293"/>
            <a:ext cx="6369539" cy="2862322"/>
          </a:xfrm>
          <a:prstGeom prst="rect">
            <a:avLst/>
          </a:prstGeom>
          <a:ln w="12700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latin typeface="Consolas" panose="020B0609020204030204" pitchFamily="49" charset="0"/>
              </a:rPr>
              <a:t>printFile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const</a:t>
            </a:r>
            <a:r>
              <a:rPr lang="en-US" altLang="zh-CN" dirty="0">
                <a:latin typeface="Consolas" panose="020B0609020204030204" pitchFamily="49" charset="0"/>
              </a:rPr>
              <a:t> char* name)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acquire file resource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FILE* f =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CN" dirty="0">
                <a:latin typeface="Consolas" panose="020B0609020204030204" pitchFamily="49" charset="0"/>
              </a:rPr>
              <a:t>(name, "r");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 // print contents of f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…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 // release file resource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CN" dirty="0">
                <a:latin typeface="Consolas" panose="020B0609020204030204" pitchFamily="49" charset="0"/>
              </a:rPr>
              <a:t>(f);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20302" y="5050658"/>
            <a:ext cx="2114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File I/O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2399323" y="4181231"/>
            <a:ext cx="1180123" cy="781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172886" y="3960411"/>
            <a:ext cx="4252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this is missed?</a:t>
            </a:r>
            <a:endParaRPr lang="zh-CN" altLang="en-US" sz="2800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14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RAII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1600" y="1578708"/>
            <a:ext cx="11629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esource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cquisition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altLang="zh-CN" sz="3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nitialisation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57047" y="2688158"/>
            <a:ext cx="806547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When you initialize an object, it should already have acquired any resources it needs (in the constructor).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When an object goes out of scope, it should release every resource it is using (using the destructor).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66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RAII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1600" y="1578708"/>
            <a:ext cx="11629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esource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cquisition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altLang="zh-CN" sz="3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nitialisation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63259" y="5427781"/>
            <a:ext cx="8042031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onstructor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cquires,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estructor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eleases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57047" y="2688158"/>
            <a:ext cx="806547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When you initialize an object, it should already have acquired any resources it needs (in the constructor).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When an object goes out of scope, it should release every resource it is using (using the destructor).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25104">
            <a:off x="9963151" y="4262953"/>
            <a:ext cx="1631232" cy="13361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r="7949"/>
          <a:stretch/>
        </p:blipFill>
        <p:spPr>
          <a:xfrm>
            <a:off x="9861062" y="2950185"/>
            <a:ext cx="2104292" cy="128587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662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RAII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矩形 4"/>
          <p:cNvSpPr/>
          <p:nvPr/>
        </p:nvSpPr>
        <p:spPr>
          <a:xfrm>
            <a:off x="812799" y="1741217"/>
            <a:ext cx="4220309" cy="3139321"/>
          </a:xfrm>
          <a:prstGeom prst="rect">
            <a:avLst/>
          </a:prstGeom>
          <a:ln w="12700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class </a:t>
            </a:r>
            <a:r>
              <a:rPr lang="en-US" altLang="zh-CN" dirty="0" err="1">
                <a:latin typeface="Consolas" panose="020B0609020204030204" pitchFamily="49" charset="0"/>
              </a:rPr>
              <a:t>FileObj</a:t>
            </a:r>
            <a:r>
              <a:rPr lang="en-US" altLang="zh-CN" dirty="0">
                <a:latin typeface="Consolas" panose="020B0609020204030204" pitchFamily="49" charset="0"/>
              </a:rPr>
              <a:t>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public: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FILE* </a:t>
            </a:r>
            <a:r>
              <a:rPr lang="en-US" altLang="zh-CN" dirty="0" err="1">
                <a:latin typeface="Consolas" panose="020B0609020204030204" pitchFamily="49" charset="0"/>
              </a:rPr>
              <a:t>ptr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FileObj</a:t>
            </a:r>
            <a:r>
              <a:rPr lang="en-US" altLang="zh-CN" dirty="0">
                <a:latin typeface="Consolas" panose="020B0609020204030204" pitchFamily="49" charset="0"/>
              </a:rPr>
              <a:t>(char* name)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ptr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CN" dirty="0">
                <a:latin typeface="Consolas" panose="020B0609020204030204" pitchFamily="49" charset="0"/>
              </a:rPr>
              <a:t>(name, "r");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~</a:t>
            </a:r>
            <a:r>
              <a:rPr lang="en-US" altLang="zh-CN" dirty="0" err="1">
                <a:latin typeface="Consolas" panose="020B0609020204030204" pitchFamily="49" charset="0"/>
              </a:rPr>
              <a:t>FileObj</a:t>
            </a:r>
            <a:r>
              <a:rPr lang="en-US" altLang="zh-CN" dirty="0">
                <a:latin typeface="Consolas" panose="020B0609020204030204" pitchFamily="49" charset="0"/>
              </a:rPr>
              <a:t>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ptr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" name="矩形 1"/>
          <p:cNvSpPr/>
          <p:nvPr/>
        </p:nvSpPr>
        <p:spPr>
          <a:xfrm>
            <a:off x="5486400" y="1737754"/>
            <a:ext cx="6291385" cy="3139321"/>
          </a:xfrm>
          <a:prstGeom prst="rect">
            <a:avLst/>
          </a:prstGeom>
          <a:ln w="12700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latin typeface="Consolas" panose="020B0609020204030204" pitchFamily="49" charset="0"/>
              </a:rPr>
              <a:t>printFile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const</a:t>
            </a:r>
            <a:r>
              <a:rPr lang="en-US" altLang="zh-CN" dirty="0">
                <a:latin typeface="Consolas" panose="020B0609020204030204" pitchFamily="49" charset="0"/>
              </a:rPr>
              <a:t> char* name)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initialization will acquire resources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FileObj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fobj</a:t>
            </a:r>
            <a:r>
              <a:rPr lang="en-US" altLang="zh-CN" dirty="0">
                <a:latin typeface="Consolas" panose="020B0609020204030204" pitchFamily="49" charset="0"/>
              </a:rPr>
              <a:t>(name);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print contents of f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…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FileObj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destructor will release resources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8339" y="6466450"/>
            <a:ext cx="73542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https://web.stanford.edu/class/archive/cs/cs106l/cs106l.1192/lectures/lecture15/15_RAII.pdf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719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Other Resources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887" y="1444381"/>
            <a:ext cx="7439025" cy="33909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85022" y="5313145"/>
            <a:ext cx="9928454" cy="6692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Can be RAII applied to heap memory management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？</a:t>
            </a:r>
          </a:p>
        </p:txBody>
      </p:sp>
      <p:sp>
        <p:nvSpPr>
          <p:cNvPr id="6" name="矩形 5"/>
          <p:cNvSpPr/>
          <p:nvPr/>
        </p:nvSpPr>
        <p:spPr>
          <a:xfrm>
            <a:off x="578339" y="6466450"/>
            <a:ext cx="73542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https://web.stanford.edu/class/archive/cs/cs106l/cs106l.1192/lectures/lecture15/15_RAII.pdf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08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C++ Smart Pointers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331944" cy="47082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What?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smart pointer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is an object that stores a pointer to a heap-allocated object</a:t>
            </a:r>
          </a:p>
          <a:p>
            <a:pPr>
              <a:lnSpc>
                <a:spcPct val="10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Why? 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With correct use of smart pointers, you no longer have to explicitly call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delete()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to free heap memory.</a:t>
            </a:r>
          </a:p>
          <a:p>
            <a:pPr>
              <a:lnSpc>
                <a:spcPct val="10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How?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smart pointer are implemented via 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class template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while overloading *, -&gt;, [], etc.</a:t>
            </a:r>
          </a:p>
          <a:p>
            <a:pPr lvl="1">
              <a:lnSpc>
                <a:spcPct val="100000"/>
              </a:lnSpc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142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Toy_ptr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2" name="矩形 1"/>
          <p:cNvSpPr/>
          <p:nvPr/>
        </p:nvSpPr>
        <p:spPr>
          <a:xfrm>
            <a:off x="1563076" y="1361720"/>
            <a:ext cx="9276862" cy="4801314"/>
          </a:xfrm>
          <a:prstGeom prst="rect">
            <a:avLst/>
          </a:prstGeom>
          <a:ln w="12700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template &lt;</a:t>
            </a:r>
            <a:r>
              <a:rPr lang="en-US" altLang="zh-CN" dirty="0" err="1">
                <a:latin typeface="Consolas" panose="020B0609020204030204" pitchFamily="49" charset="0"/>
              </a:rPr>
              <a:t>typename</a:t>
            </a:r>
            <a:r>
              <a:rPr lang="en-US" altLang="zh-CN" dirty="0">
                <a:latin typeface="Consolas" panose="020B0609020204030204" pitchFamily="49" charset="0"/>
              </a:rPr>
              <a:t> T&gt; class </a:t>
            </a:r>
            <a:r>
              <a:rPr lang="en-US" altLang="zh-CN" dirty="0" err="1">
                <a:latin typeface="Consolas" panose="020B0609020204030204" pitchFamily="49" charset="0"/>
              </a:rPr>
              <a:t>ToyPtr</a:t>
            </a:r>
            <a:r>
              <a:rPr lang="en-US" altLang="zh-CN" dirty="0">
                <a:latin typeface="Consolas" panose="020B0609020204030204" pitchFamily="49" charset="0"/>
              </a:rPr>
              <a:t> {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public: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explicit </a:t>
            </a:r>
            <a:r>
              <a:rPr lang="en-US" altLang="zh-CN" dirty="0" err="1">
                <a:latin typeface="Consolas" panose="020B0609020204030204" pitchFamily="49" charset="0"/>
              </a:rPr>
              <a:t>ToyPtr</a:t>
            </a:r>
            <a:r>
              <a:rPr lang="en-US" altLang="zh-CN" dirty="0">
                <a:latin typeface="Consolas" panose="020B0609020204030204" pitchFamily="49" charset="0"/>
              </a:rPr>
              <a:t>(T *</a:t>
            </a:r>
            <a:r>
              <a:rPr lang="en-US" altLang="zh-CN" dirty="0" err="1">
                <a:latin typeface="Consolas" panose="020B0609020204030204" pitchFamily="49" charset="0"/>
              </a:rPr>
              <a:t>ptr</a:t>
            </a:r>
            <a:r>
              <a:rPr lang="en-US" altLang="zh-CN" dirty="0">
                <a:latin typeface="Consolas" panose="020B0609020204030204" pitchFamily="49" charset="0"/>
              </a:rPr>
              <a:t>):</a:t>
            </a:r>
            <a:r>
              <a:rPr lang="en-US" altLang="zh-CN" dirty="0" err="1">
                <a:latin typeface="Consolas" panose="020B0609020204030204" pitchFamily="49" charset="0"/>
              </a:rPr>
              <a:t>ptr</a:t>
            </a:r>
            <a:r>
              <a:rPr lang="en-US" altLang="zh-CN" dirty="0">
                <a:latin typeface="Consolas" panose="020B0609020204030204" pitchFamily="49" charset="0"/>
              </a:rPr>
              <a:t>_(</a:t>
            </a:r>
            <a:r>
              <a:rPr lang="en-US" altLang="zh-CN" dirty="0" err="1">
                <a:latin typeface="Consolas" panose="020B0609020204030204" pitchFamily="49" charset="0"/>
              </a:rPr>
              <a:t>ptr</a:t>
            </a:r>
            <a:r>
              <a:rPr lang="en-US" altLang="zh-CN" dirty="0">
                <a:latin typeface="Consolas" panose="020B0609020204030204" pitchFamily="49" charset="0"/>
              </a:rPr>
              <a:t>){}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//constructor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~</a:t>
            </a:r>
            <a:r>
              <a:rPr lang="en-US" altLang="zh-CN" dirty="0" err="1">
                <a:latin typeface="Consolas" panose="020B0609020204030204" pitchFamily="49" charset="0"/>
              </a:rPr>
              <a:t>ToyPtr</a:t>
            </a:r>
            <a:r>
              <a:rPr lang="en-US" altLang="zh-CN" dirty="0">
                <a:latin typeface="Consolas" panose="020B0609020204030204" pitchFamily="49" charset="0"/>
              </a:rPr>
              <a:t>() {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delete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ptr</a:t>
            </a:r>
            <a:r>
              <a:rPr lang="en-US" altLang="zh-CN" dirty="0">
                <a:latin typeface="Consolas" panose="020B0609020204030204" pitchFamily="49" charset="0"/>
              </a:rPr>
              <a:t>_; }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//destructor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T &amp; 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operator*</a:t>
            </a:r>
            <a:r>
              <a:rPr lang="en-US" altLang="zh-CN" dirty="0">
                <a:latin typeface="Consolas" panose="020B0609020204030204" pitchFamily="49" charset="0"/>
              </a:rPr>
              <a:t>() { return *</a:t>
            </a:r>
            <a:r>
              <a:rPr lang="en-US" altLang="zh-CN" dirty="0" err="1">
                <a:latin typeface="Consolas" panose="020B0609020204030204" pitchFamily="49" charset="0"/>
              </a:rPr>
              <a:t>ptr</a:t>
            </a:r>
            <a:r>
              <a:rPr lang="en-US" altLang="zh-CN" dirty="0">
                <a:latin typeface="Consolas" panose="020B0609020204030204" pitchFamily="49" charset="0"/>
              </a:rPr>
              <a:t>_; }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* operator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T * 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operator-&gt;</a:t>
            </a:r>
            <a:r>
              <a:rPr lang="en-US" altLang="zh-CN" dirty="0">
                <a:latin typeface="Consolas" panose="020B0609020204030204" pitchFamily="49" charset="0"/>
              </a:rPr>
              <a:t>() { return </a:t>
            </a:r>
            <a:r>
              <a:rPr lang="en-US" altLang="zh-CN" dirty="0" err="1">
                <a:latin typeface="Consolas" panose="020B0609020204030204" pitchFamily="49" charset="0"/>
              </a:rPr>
              <a:t>ptr</a:t>
            </a:r>
            <a:r>
              <a:rPr lang="en-US" altLang="zh-CN" dirty="0">
                <a:latin typeface="Consolas" panose="020B0609020204030204" pitchFamily="49" charset="0"/>
              </a:rPr>
              <a:t>_; }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-&gt; operator 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private: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T *</a:t>
            </a:r>
            <a:r>
              <a:rPr lang="en-US" altLang="zh-CN" dirty="0" err="1">
                <a:latin typeface="Consolas" panose="020B0609020204030204" pitchFamily="49" charset="0"/>
              </a:rPr>
              <a:t>ptr</a:t>
            </a:r>
            <a:r>
              <a:rPr lang="en-US" altLang="zh-CN" dirty="0">
                <a:latin typeface="Consolas" panose="020B0609020204030204" pitchFamily="49" charset="0"/>
              </a:rPr>
              <a:t>_;                  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the pointer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}; 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//heap is automatically freed when main() is finished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ToyPtr</a:t>
            </a:r>
            <a:r>
              <a:rPr lang="en-US" altLang="zh-CN" dirty="0"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&gt; </a:t>
            </a:r>
            <a:r>
              <a:rPr lang="en-US" altLang="zh-CN" dirty="0" err="1">
                <a:latin typeface="Consolas" panose="020B0609020204030204" pitchFamily="49" charset="0"/>
              </a:rPr>
              <a:t>int_sp</a:t>
            </a:r>
            <a:r>
              <a:rPr lang="en-US" altLang="zh-CN" dirty="0">
                <a:latin typeface="Consolas" panose="020B0609020204030204" pitchFamily="49" charset="0"/>
              </a:rPr>
              <a:t>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(8));    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443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Toy_ptr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331944" cy="47082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Cannot handle: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Arrays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Copying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Assignment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Move semantics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STL provides non-toy smart pointers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std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std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std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weak_ptr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350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unique_ptr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矩形 4"/>
          <p:cNvSpPr/>
          <p:nvPr/>
        </p:nvSpPr>
        <p:spPr>
          <a:xfrm>
            <a:off x="1336428" y="3487513"/>
            <a:ext cx="9870831" cy="2862322"/>
          </a:xfrm>
          <a:prstGeom prst="rect">
            <a:avLst/>
          </a:prstGeom>
          <a:ln w="12700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&lt;memory&gt;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for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 //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points to heap variable; never used delete, but no leak</a:t>
            </a:r>
            <a:r>
              <a:rPr lang="en-US" altLang="zh-CN" dirty="0">
                <a:latin typeface="Consolas" panose="020B0609020204030204" pitchFamily="49" charset="0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x(new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(5)); 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(*x)--;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331944" cy="17697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</a:t>
            </a: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takes ownership of a pointer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Exclusive ownership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Lightweight pointer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Destroys the object when goes out of scope by invoking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delete()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 destructor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284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unique_ptr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矩形 4"/>
          <p:cNvSpPr/>
          <p:nvPr/>
        </p:nvSpPr>
        <p:spPr>
          <a:xfrm>
            <a:off x="1383321" y="3690708"/>
            <a:ext cx="9870831" cy="2308324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&lt;memory&gt;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for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x(new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(5)); 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dirty="0"/>
              <a:t>        </a:t>
            </a:r>
            <a:r>
              <a:rPr lang="en-US" altLang="zh-CN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lots of code, including several returns </a:t>
            </a:r>
          </a:p>
          <a:p>
            <a:r>
              <a:rPr lang="en-US" altLang="zh-CN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// lots of code, including potential exception throws</a:t>
            </a:r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331944" cy="17697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If you have many potential exits out of a function, it’s easy to forget to call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delete()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on all of them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will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delete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its pointer when it falls out of scope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</a:t>
            </a:r>
            <a:r>
              <a:rPr lang="en-US" altLang="zh-CN" sz="20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also helps with </a:t>
            </a:r>
            <a:r>
              <a:rPr lang="en-US" altLang="zh-CN" sz="20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exception safety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395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unique_ptr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331944" cy="47082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Initialization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Constructor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lang="fr-FR" altLang="zh-CN" sz="2000" b="1" dirty="0">
                <a:solidFill>
                  <a:schemeClr val="accent5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T *pT = new T();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altLang="zh-CN" sz="2000" b="1" dirty="0">
                <a:solidFill>
                  <a:schemeClr val="accent5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   std::unique_ptr&lt;T&gt; p1 (pT);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altLang="zh-CN" sz="2000" b="1" dirty="0">
                <a:solidFill>
                  <a:schemeClr val="accent5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   std::unique_ptr&lt;T&gt; p2 (new T());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Make_unique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fr-FR" altLang="zh-CN" sz="2000" b="1" dirty="0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fr-FR" altLang="zh-CN" sz="2000" b="1" dirty="0">
                <a:solidFill>
                  <a:schemeClr val="accent5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std::unique_ptr&lt;T&gt; p3 = make_unique&lt;T&gt;();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Move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altLang="zh-CN" sz="2000" b="1" dirty="0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fr-FR" altLang="zh-CN" sz="2000" b="1" dirty="0">
                <a:solidFill>
                  <a:schemeClr val="accent5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std::unique_ptr&lt;T&gt; p4 = std::move(p1);</a:t>
            </a:r>
            <a:endParaRPr lang="en-US" altLang="zh-CN" sz="2000" dirty="0">
              <a:solidFill>
                <a:schemeClr val="accent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40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unique_ptr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331944" cy="47082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cannot be copied to maintain uniqueness or ownership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Its 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 constructor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and 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assignment operator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are disabled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89536" y="2870092"/>
            <a:ext cx="9870831" cy="3277820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&lt;memory&gt;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for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x(new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(5)); 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line 1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y(x);          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line 2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z;             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line 3</a:t>
            </a:r>
            <a:r>
              <a:rPr lang="en-US" altLang="zh-CN" dirty="0">
                <a:latin typeface="Consolas" panose="020B0609020204030204" pitchFamily="49" charset="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z = x;                              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line 4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416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unique_ptr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331944" cy="47082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cannot be copied to maintain uniqueness or ownership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Its 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 constructor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and </a:t>
            </a:r>
            <a:r>
              <a:rPr lang="en-US" altLang="zh-CN" sz="2000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assignment operator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are disabled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FR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89536" y="2870092"/>
            <a:ext cx="9870831" cy="3277820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&lt;memory&gt;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for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x(new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(5)); 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line 1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y(x);          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line 2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z;             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line 3</a:t>
            </a:r>
            <a:r>
              <a:rPr lang="en-US" altLang="zh-CN" dirty="0">
                <a:latin typeface="Consolas" panose="020B0609020204030204" pitchFamily="49" charset="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z = x;                              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line 4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216" y="4243758"/>
            <a:ext cx="308707" cy="30870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308" y="5068280"/>
            <a:ext cx="308707" cy="308707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688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unique_ptr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426790"/>
            <a:ext cx="10331944" cy="13476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use 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reset()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and 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release()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to transfer ownership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release()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returns the wrapped raw pointer, and sets itself to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nullptr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89536" y="2582903"/>
            <a:ext cx="9870831" cy="3831818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&lt;memory&gt;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for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x(new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(5));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int* </a:t>
            </a:r>
            <a:r>
              <a:rPr lang="en-US" altLang="zh-CN" dirty="0" err="1">
                <a:latin typeface="Consolas" panose="020B0609020204030204" pitchFamily="49" charset="0"/>
              </a:rPr>
              <a:t>raw_ptr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latin typeface="Consolas" panose="020B0609020204030204" pitchFamily="49" charset="0"/>
              </a:rPr>
              <a:t>x.release</a:t>
            </a:r>
            <a:r>
              <a:rPr lang="en-US" altLang="zh-CN" dirty="0">
                <a:latin typeface="Consolas" panose="020B0609020204030204" pitchFamily="49" charset="0"/>
              </a:rPr>
              <a:t>();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release the ownership 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if(x == </a:t>
            </a:r>
            <a:r>
              <a:rPr lang="en-US" altLang="zh-CN" dirty="0" err="1">
                <a:latin typeface="Consolas" panose="020B0609020204030204" pitchFamily="49" charset="0"/>
              </a:rPr>
              <a:t>nullptr</a:t>
            </a:r>
            <a:r>
              <a:rPr lang="en-US" altLang="zh-CN" dirty="0">
                <a:latin typeface="Consolas" panose="020B0609020204030204" pitchFamily="49" charset="0"/>
              </a:rPr>
              <a:t>){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x is null now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	std::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</a:rPr>
              <a:t> &lt;&lt; “x is now empty” &lt;&lt; std::</a:t>
            </a:r>
            <a:r>
              <a:rPr lang="en-US" altLang="zh-CN" dirty="0" err="1">
                <a:latin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delete </a:t>
            </a:r>
            <a:r>
              <a:rPr lang="en-US" altLang="zh-CN" dirty="0" err="1">
                <a:latin typeface="Consolas" panose="020B0609020204030204" pitchFamily="49" charset="0"/>
              </a:rPr>
              <a:t>raw_ptr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674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unique_ptr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426790"/>
            <a:ext cx="10331944" cy="13476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use 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reset()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and 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release()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to transfer ownership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release()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returns the wrapped raw pointer, and sets itself to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nullptr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reset()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delete’s the current pointer and stores a new one</a:t>
            </a:r>
            <a:r>
              <a:rPr lang="fr-FR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89536" y="2924802"/>
            <a:ext cx="9870831" cy="3000821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&lt;memory&gt;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for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x(new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(5));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std::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&lt;int&gt;</a:t>
            </a:r>
            <a:r>
              <a:rPr lang="en-US" altLang="zh-CN" dirty="0">
                <a:latin typeface="Consolas" panose="020B0609020204030204" pitchFamily="49" charset="0"/>
              </a:rPr>
              <a:t> z(new int(8));    </a:t>
            </a:r>
          </a:p>
          <a:p>
            <a:pPr>
              <a:lnSpc>
                <a:spcPct val="150000"/>
              </a:lnSpc>
            </a:pP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    // x transfers ownership of its pointer to z; z’s old pointer was deleted.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z.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reset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x.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release</a:t>
            </a:r>
            <a:r>
              <a:rPr lang="en-US" altLang="zh-CN" dirty="0">
                <a:latin typeface="Consolas" panose="020B0609020204030204" pitchFamily="49" charset="0"/>
              </a:rPr>
              <a:t>());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941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unique_ptr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r="8636" b="48684"/>
          <a:stretch/>
        </p:blipFill>
        <p:spPr>
          <a:xfrm>
            <a:off x="1108197" y="1667645"/>
            <a:ext cx="4878388" cy="284183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t="52234"/>
          <a:stretch/>
        </p:blipFill>
        <p:spPr>
          <a:xfrm>
            <a:off x="6321059" y="1766276"/>
            <a:ext cx="5339496" cy="26452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9938" y="6486719"/>
            <a:ext cx="3458319" cy="23852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https://cplusplus.com/reference/memory/unique_ptr/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507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unique_ptr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426790"/>
            <a:ext cx="10331944" cy="13476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en-US" altLang="zh-CN" sz="2400" dirty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Move semantics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 move values from one object to another without copying</a:t>
            </a:r>
          </a:p>
        </p:txBody>
      </p:sp>
      <p:sp>
        <p:nvSpPr>
          <p:cNvPr id="6" name="矩形 5"/>
          <p:cNvSpPr/>
          <p:nvPr/>
        </p:nvSpPr>
        <p:spPr>
          <a:xfrm>
            <a:off x="1258275" y="2659079"/>
            <a:ext cx="9511326" cy="3693319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returnString</a:t>
            </a:r>
            <a:r>
              <a:rPr lang="en-US" altLang="zh-CN" dirty="0">
                <a:latin typeface="Consolas" panose="020B0609020204030204" pitchFamily="49" charset="0"/>
              </a:rPr>
              <a:t>(){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latin typeface="Consolas" panose="020B0609020204030204" pitchFamily="49" charset="0"/>
              </a:rPr>
              <a:t> x("foo");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return x;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latin typeface="Consolas" panose="020B0609020204030204" pitchFamily="49" charset="0"/>
              </a:rPr>
              <a:t> a("hello");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latin typeface="Consolas" panose="020B0609020204030204" pitchFamily="49" charset="0"/>
              </a:rPr>
              <a:t> b =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move</a:t>
            </a:r>
            <a:r>
              <a:rPr lang="en-US" altLang="zh-CN" dirty="0">
                <a:latin typeface="Consolas" panose="020B0609020204030204" pitchFamily="49" charset="0"/>
              </a:rPr>
              <a:t>(a);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move a to b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b =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move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returnString</a:t>
            </a:r>
            <a:r>
              <a:rPr lang="en-US" altLang="zh-CN" dirty="0">
                <a:latin typeface="Consolas" panose="020B0609020204030204" pitchFamily="49" charset="0"/>
              </a:rPr>
              <a:t>());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move the returned value into b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78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unique_ptr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426790"/>
            <a:ext cx="10331944" cy="13476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supports move semantics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Can “move” ownership from one </a:t>
            </a:r>
            <a:r>
              <a:rPr lang="en-US" altLang="zh-CN" sz="20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to another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Equivalent to “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release-and-reset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6" name="矩形 5"/>
          <p:cNvSpPr/>
          <p:nvPr/>
        </p:nvSpPr>
        <p:spPr>
          <a:xfrm>
            <a:off x="1297352" y="2846644"/>
            <a:ext cx="9870831" cy="3416320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&lt;memory&gt;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for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x(new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(5));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y =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move</a:t>
            </a:r>
            <a:r>
              <a:rPr lang="en-US" altLang="zh-CN" dirty="0">
                <a:latin typeface="Consolas" panose="020B0609020204030204" pitchFamily="49" charset="0"/>
              </a:rPr>
              <a:t>(x);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y gets the ownership from x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z(new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(8));    </a:t>
            </a:r>
          </a:p>
          <a:p>
            <a:pPr>
              <a:lnSpc>
                <a:spcPct val="150000"/>
              </a:lnSpc>
            </a:pP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    // y transfers ownership of its pointer to z; z’s old pointer was deleted.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z =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move</a:t>
            </a:r>
            <a:r>
              <a:rPr lang="en-US" altLang="zh-CN" dirty="0">
                <a:latin typeface="Consolas" panose="020B0609020204030204" pitchFamily="49" charset="0"/>
              </a:rPr>
              <a:t>(y);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676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331944" cy="47082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Is</a:t>
            </a:r>
            <a:r>
              <a:rPr lang="en-US" altLang="zh-CN" sz="2400" dirty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sz="2400" dirty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enough? NO!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some scenarios, multiple pointers of the same object are needed, e.g.,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multithreaded programming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97352" y="2846644"/>
            <a:ext cx="5189417" cy="3662541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void </a:t>
            </a:r>
            <a:r>
              <a:rPr lang="en-US" altLang="zh-CN" sz="1600" dirty="0" err="1">
                <a:latin typeface="Consolas" panose="020B0609020204030204" pitchFamily="49" charset="0"/>
              </a:rPr>
              <a:t>inc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1600" dirty="0">
                <a:latin typeface="Consolas" panose="020B0609020204030204" pitchFamily="49" charset="0"/>
              </a:rPr>
              <a:t> x){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(*x)++;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::count &lt;&lt; *x &lt;&lt;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latin typeface="Consolas" panose="020B0609020204030204" pitchFamily="49" charset="0"/>
              </a:rPr>
              <a:t>endl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</a:t>
            </a: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1600" dirty="0">
                <a:latin typeface="Consolas" panose="020B0609020204030204" pitchFamily="49" charset="0"/>
              </a:rPr>
              <a:t> m(new </a:t>
            </a:r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(5));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thread t1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inc</a:t>
            </a:r>
            <a:r>
              <a:rPr lang="en-US" altLang="zh-CN" sz="1600" dirty="0">
                <a:latin typeface="Consolas" panose="020B0609020204030204" pitchFamily="49" charset="0"/>
              </a:rPr>
              <a:t>, m);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std::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thread t2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inc</a:t>
            </a:r>
            <a:r>
              <a:rPr lang="en-US" altLang="zh-CN" sz="1600" dirty="0">
                <a:latin typeface="Consolas" panose="020B0609020204030204" pitchFamily="49" charset="0"/>
              </a:rPr>
              <a:t>, m);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t1.join(); t2.join();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493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331944" cy="47082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Is</a:t>
            </a:r>
            <a:r>
              <a:rPr lang="en-US" altLang="zh-CN" sz="2400" dirty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sz="2400" dirty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enough? NO!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some scenarios, multiple pointers of the same object are needed, e.g.,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multithreaded programming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97352" y="2846644"/>
            <a:ext cx="5189417" cy="3662541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void </a:t>
            </a:r>
            <a:r>
              <a:rPr lang="en-US" altLang="zh-CN" sz="1600" dirty="0" err="1">
                <a:latin typeface="Consolas" panose="020B0609020204030204" pitchFamily="49" charset="0"/>
              </a:rPr>
              <a:t>inc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1600" dirty="0">
                <a:latin typeface="Consolas" panose="020B0609020204030204" pitchFamily="49" charset="0"/>
              </a:rPr>
              <a:t> x){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(*x)++;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::count &lt;&lt; *x &lt;&lt;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latin typeface="Consolas" panose="020B0609020204030204" pitchFamily="49" charset="0"/>
              </a:rPr>
              <a:t>endl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</a:t>
            </a: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1600" dirty="0">
                <a:latin typeface="Consolas" panose="020B0609020204030204" pitchFamily="49" charset="0"/>
              </a:rPr>
              <a:t> m(new </a:t>
            </a:r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(5));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thread t1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inc</a:t>
            </a:r>
            <a:r>
              <a:rPr lang="en-US" altLang="zh-CN" sz="1600" dirty="0">
                <a:latin typeface="Consolas" panose="020B0609020204030204" pitchFamily="49" charset="0"/>
              </a:rPr>
              <a:t>, m);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std::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thread t2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inc</a:t>
            </a:r>
            <a:r>
              <a:rPr lang="en-US" altLang="zh-CN" sz="1600" dirty="0">
                <a:latin typeface="Consolas" panose="020B0609020204030204" pitchFamily="49" charset="0"/>
              </a:rPr>
              <a:t>, m);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t1.join(); t2.join();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939" y="3954589"/>
            <a:ext cx="1178168" cy="1178168"/>
          </a:xfrm>
          <a:prstGeom prst="rect">
            <a:avLst/>
          </a:prstGeom>
        </p:spPr>
      </p:pic>
      <p:pic>
        <p:nvPicPr>
          <p:cNvPr id="9" name="内容占位符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65"/>
          <a:stretch/>
        </p:blipFill>
        <p:spPr>
          <a:xfrm>
            <a:off x="7737230" y="2824068"/>
            <a:ext cx="3376247" cy="370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48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331944" cy="47082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is similar to </a:t>
            </a:r>
            <a:r>
              <a:rPr lang="en-US" altLang="zh-CN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unique_ptr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but allow shared objects to have multiple owners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 ownership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Destroys the object when last reference is released</a:t>
            </a:r>
          </a:p>
          <a:p>
            <a:pPr lvl="1">
              <a:lnSpc>
                <a:spcPct val="100000"/>
              </a:lnSpc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dirty="0" err="1">
                <a:solidFill>
                  <a:srgbClr val="4472C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r>
              <a:rPr lang="en-US" altLang="zh-CN" dirty="0">
                <a:solidFill>
                  <a:srgbClr val="4472C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is implemented via 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reference counting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Associate a reference counter with each object</a:t>
            </a:r>
          </a:p>
          <a:p>
            <a:pPr lvl="1">
              <a:lnSpc>
                <a:spcPct val="100000"/>
              </a:lnSpc>
            </a:pPr>
            <a:endParaRPr lang="en-US" altLang="zh-CN" sz="2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580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211378" y="2289907"/>
            <a:ext cx="9902099" cy="413433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Constructors create a counter holding number of references (pointers) to the object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Adjusted whenever pointers are changed:</a:t>
            </a:r>
          </a:p>
          <a:p>
            <a:pPr lvl="1">
              <a:lnSpc>
                <a:spcPct val="100000"/>
              </a:lnSpc>
            </a:pPr>
            <a:r>
              <a:rPr lang="en-US" altLang="zh-CN" sz="2000" i="1" dirty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 constructor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and </a:t>
            </a:r>
            <a:r>
              <a:rPr lang="en-US" altLang="zh-CN" sz="2000" i="1" dirty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operator =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will increment the counter by 1</a:t>
            </a:r>
          </a:p>
          <a:p>
            <a:pPr lvl="1">
              <a:lnSpc>
                <a:spcPct val="100000"/>
              </a:lnSpc>
            </a:pPr>
            <a:r>
              <a:rPr lang="en-US" altLang="zh-CN" sz="2000" i="1" dirty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Destructor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will decrement the counter by 1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When reference counter decreased to 0, no more pointers to the object, so delete it (automatically)</a:t>
            </a:r>
          </a:p>
          <a:p>
            <a:pPr>
              <a:lnSpc>
                <a:spcPct val="100000"/>
              </a:lnSpc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599" y="1375504"/>
            <a:ext cx="12090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Idea: associate a reference counter with each object</a:t>
            </a:r>
            <a:endParaRPr lang="zh-CN" altLang="en-US" sz="2800" b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206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2" name="矩形 1"/>
          <p:cNvSpPr/>
          <p:nvPr/>
        </p:nvSpPr>
        <p:spPr>
          <a:xfrm>
            <a:off x="1438030" y="2035634"/>
            <a:ext cx="9698893" cy="2862322"/>
          </a:xfrm>
          <a:prstGeom prst="rect">
            <a:avLst/>
          </a:prstGeom>
          <a:ln w="12700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iostream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 &lt;memory&gt; // for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shared_ptr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argc</a:t>
            </a:r>
            <a:r>
              <a:rPr lang="en-US" altLang="zh-CN" dirty="0">
                <a:latin typeface="Consolas" panose="020B0609020204030204" pitchFamily="49" charset="0"/>
              </a:rPr>
              <a:t>, char **</a:t>
            </a:r>
            <a:r>
              <a:rPr lang="en-US" altLang="zh-CN" dirty="0" err="1">
                <a:latin typeface="Consolas" panose="020B0609020204030204" pitchFamily="49" charset="0"/>
              </a:rPr>
              <a:t>argv</a:t>
            </a:r>
            <a:r>
              <a:rPr lang="en-US" altLang="zh-CN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x(new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(10));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ref count for “10” node: 1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y = x;  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ref count for “10” node: 2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auto z(y);			    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ref count for “10” node: 3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auto w =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make_shared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(100);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     // ref count for “100” node: 1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                               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ref count: 0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2736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2" name="矩形 1"/>
          <p:cNvSpPr/>
          <p:nvPr/>
        </p:nvSpPr>
        <p:spPr>
          <a:xfrm>
            <a:off x="1508368" y="1676126"/>
            <a:ext cx="9698893" cy="3970318"/>
          </a:xfrm>
          <a:prstGeom prst="rect">
            <a:avLst/>
          </a:prstGeom>
          <a:ln w="12700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iostream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 &lt;memory&gt; // for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shared_ptr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argc</a:t>
            </a:r>
            <a:r>
              <a:rPr lang="en-US" altLang="zh-CN" dirty="0">
                <a:latin typeface="Consolas" panose="020B0609020204030204" pitchFamily="49" charset="0"/>
              </a:rPr>
              <a:t>, char **</a:t>
            </a:r>
            <a:r>
              <a:rPr lang="en-US" altLang="zh-CN" dirty="0" err="1">
                <a:latin typeface="Consolas" panose="020B0609020204030204" pitchFamily="49" charset="0"/>
              </a:rPr>
              <a:t>argv</a:t>
            </a:r>
            <a:r>
              <a:rPr lang="en-US" altLang="zh-CN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x(new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(10));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ref count: 1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temporary inner scope with local y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y = x;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ref count: 2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</a:rPr>
              <a:t> &lt;&lt; *y &lt;&lt;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 auto z(y);			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ref count: 3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}                            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exit scope, y and z deleted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</a:rPr>
              <a:t> &lt;&lt; *x &lt;&lt;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</a:rPr>
              <a:t>;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ref count: 1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                               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ref count: 0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6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/>
          <a:srcRect t="52088"/>
          <a:stretch/>
        </p:blipFill>
        <p:spPr>
          <a:xfrm>
            <a:off x="6439023" y="1539630"/>
            <a:ext cx="4949160" cy="32512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/>
          <a:srcRect r="4761" b="50663"/>
          <a:stretch/>
        </p:blipFill>
        <p:spPr>
          <a:xfrm>
            <a:off x="1046407" y="1499944"/>
            <a:ext cx="4713531" cy="3347888"/>
          </a:xfrm>
          <a:prstGeom prst="rect">
            <a:avLst/>
          </a:prstGeom>
        </p:spPr>
      </p:pic>
      <p:sp>
        <p:nvSpPr>
          <p:cNvPr id="15" name="Rectangle 5"/>
          <p:cNvSpPr/>
          <p:nvPr/>
        </p:nvSpPr>
        <p:spPr>
          <a:xfrm>
            <a:off x="969938" y="6486719"/>
            <a:ext cx="3450304" cy="23852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https://cplusplus.com/reference/memory/shared_ptr/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813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047261" y="1785571"/>
            <a:ext cx="3735753" cy="3458552"/>
            <a:chOff x="1336431" y="1801202"/>
            <a:chExt cx="3212122" cy="313445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/>
            <a:srcRect r="50123"/>
            <a:stretch/>
          </p:blipFill>
          <p:spPr>
            <a:xfrm>
              <a:off x="1375018" y="1801202"/>
              <a:ext cx="3173535" cy="150495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3"/>
            <a:srcRect l="49938"/>
            <a:stretch/>
          </p:blipFill>
          <p:spPr>
            <a:xfrm>
              <a:off x="1336431" y="3430710"/>
              <a:ext cx="3185256" cy="1504950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586154" y="6341404"/>
            <a:ext cx="73542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https://learn.microsoft.com/en-us/cpp/cpp/how-to-create-and-use-shared-ptr-instances?view=msvc-170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270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047261" y="1785571"/>
            <a:ext cx="3735753" cy="3458552"/>
            <a:chOff x="1336431" y="1801202"/>
            <a:chExt cx="3212122" cy="313445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/>
            <a:srcRect r="50123"/>
            <a:stretch/>
          </p:blipFill>
          <p:spPr>
            <a:xfrm>
              <a:off x="1375018" y="1801202"/>
              <a:ext cx="3173535" cy="150495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3"/>
            <a:srcRect l="49938"/>
            <a:stretch/>
          </p:blipFill>
          <p:spPr>
            <a:xfrm>
              <a:off x="1336431" y="3430710"/>
              <a:ext cx="3185256" cy="1504950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/>
        </p:nvGrpSpPr>
        <p:grpSpPr>
          <a:xfrm>
            <a:off x="5376984" y="1531817"/>
            <a:ext cx="6400799" cy="3735753"/>
            <a:chOff x="5376984" y="1531817"/>
            <a:chExt cx="6400799" cy="3735753"/>
          </a:xfrm>
        </p:grpSpPr>
        <p:grpSp>
          <p:nvGrpSpPr>
            <p:cNvPr id="5" name="组合 4"/>
            <p:cNvGrpSpPr/>
            <p:nvPr/>
          </p:nvGrpSpPr>
          <p:grpSpPr>
            <a:xfrm>
              <a:off x="5376984" y="1531817"/>
              <a:ext cx="6400799" cy="3735753"/>
              <a:chOff x="5092700" y="1547447"/>
              <a:chExt cx="7099300" cy="4141348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 rotWithShape="1">
              <a:blip r:embed="rId4"/>
              <a:srcRect t="9653" b="23339"/>
              <a:stretch/>
            </p:blipFill>
            <p:spPr>
              <a:xfrm>
                <a:off x="5092700" y="1820984"/>
                <a:ext cx="7099300" cy="3867811"/>
              </a:xfrm>
              <a:prstGeom prst="rect">
                <a:avLst/>
              </a:prstGeom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 rotWithShape="1">
              <a:blip r:embed="rId4"/>
              <a:srcRect t="93802" b="1798"/>
              <a:stretch/>
            </p:blipFill>
            <p:spPr>
              <a:xfrm>
                <a:off x="5092700" y="1547447"/>
                <a:ext cx="7099300" cy="254001"/>
              </a:xfrm>
              <a:prstGeom prst="rect">
                <a:avLst/>
              </a:prstGeom>
            </p:spPr>
          </p:pic>
        </p:grpSp>
        <p:sp>
          <p:nvSpPr>
            <p:cNvPr id="10" name="矩形 9"/>
            <p:cNvSpPr/>
            <p:nvPr/>
          </p:nvSpPr>
          <p:spPr>
            <a:xfrm>
              <a:off x="8854832" y="5095631"/>
              <a:ext cx="156307" cy="1484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 11"/>
          <p:cNvSpPr/>
          <p:nvPr/>
        </p:nvSpPr>
        <p:spPr>
          <a:xfrm>
            <a:off x="586154" y="6341404"/>
            <a:ext cx="735427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https://learn.microsoft.com/en-us/cpp/cpp/how-to-create-and-use-shared-ptr-instances?view=msvc-170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https://dev.to/pratikparvati/memory-management-using-smart-pointers-in-c-part-2-3pp4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5552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1047256" y="1426790"/>
            <a:ext cx="10331944" cy="13476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Avoid the duplicated creation of </a:t>
            </a: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dirty="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 the same object 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97352" y="2276125"/>
            <a:ext cx="9870831" cy="3970318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&lt;memory&gt;  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* p = 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(5);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x(p);   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x maintains a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ref count: 1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temporary inner scope with local y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y(p); </a:t>
            </a:r>
            <a:r>
              <a:rPr lang="en-US" altLang="zh-CN" i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// y maintains another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ref count: 1</a:t>
            </a:r>
          </a:p>
          <a:p>
            <a:pPr>
              <a:lnSpc>
                <a:spcPct val="150000"/>
              </a:lnSpc>
            </a:pP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</a:rPr>
              <a:t>}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                          // exit scope, y deleted, p deleted as well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</a:rPr>
              <a:t> &lt;&lt; *x &lt;&lt;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</a:rPr>
              <a:t>;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dangling pointer, use-after-free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    return 0;	         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double delete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139" y="3079265"/>
            <a:ext cx="1178168" cy="117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5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426790"/>
            <a:ext cx="10331944" cy="13476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are deleted when their reference count drops to 0. It doesn’t work well for some scenarios: cyclic reference of </a:t>
            </a: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158" y="2568062"/>
            <a:ext cx="3337781" cy="272600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242645" y="2643445"/>
            <a:ext cx="5517663" cy="4031873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#include &lt;memory&gt;  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for </a:t>
            </a:r>
            <a:r>
              <a:rPr lang="en-US" altLang="zh-CN" sz="1600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en-US" altLang="zh-CN" sz="1600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endParaRPr lang="en-US" altLang="zh-CN" sz="1600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struct</a:t>
            </a:r>
            <a:r>
              <a:rPr lang="en-US" altLang="zh-CN" sz="1600" dirty="0">
                <a:latin typeface="Consolas" panose="020B0609020204030204" pitchFamily="49" charset="0"/>
              </a:rPr>
              <a:t> A 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 next;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latin typeface="Consolas" panose="020B0609020204030204" pitchFamily="49" charset="0"/>
              </a:rPr>
              <a:t>prev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};</a:t>
            </a: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A* </a:t>
            </a:r>
            <a:r>
              <a:rPr lang="en-US" altLang="zh-CN" sz="1600" dirty="0" err="1">
                <a:latin typeface="Consolas" panose="020B0609020204030204" pitchFamily="49" charset="0"/>
              </a:rPr>
              <a:t>raw_a</a:t>
            </a:r>
            <a:r>
              <a:rPr lang="en-US" altLang="zh-CN" sz="1600" dirty="0">
                <a:latin typeface="Consolas" panose="020B0609020204030204" pitchFamily="49" charset="0"/>
              </a:rPr>
              <a:t> = new A();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A* </a:t>
            </a:r>
            <a:r>
              <a:rPr lang="en-US" altLang="zh-CN" sz="1600" dirty="0" err="1">
                <a:latin typeface="Consolas" panose="020B0609020204030204" pitchFamily="49" charset="0"/>
              </a:rPr>
              <a:t>raw_b</a:t>
            </a:r>
            <a:r>
              <a:rPr lang="en-US" altLang="zh-CN" sz="1600" dirty="0">
                <a:latin typeface="Consolas" panose="020B0609020204030204" pitchFamily="49" charset="0"/>
              </a:rPr>
              <a:t> = new A();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std::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 head(</a:t>
            </a:r>
            <a:r>
              <a:rPr lang="en-US" altLang="zh-CN" sz="1600" dirty="0" err="1">
                <a:latin typeface="Consolas" panose="020B0609020204030204" pitchFamily="49" charset="0"/>
              </a:rPr>
              <a:t>raw_a</a:t>
            </a:r>
            <a:r>
              <a:rPr lang="en-US" altLang="zh-CN" sz="1600" dirty="0">
                <a:latin typeface="Consolas" panose="020B0609020204030204" pitchFamily="49" charset="0"/>
              </a:rPr>
              <a:t>);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head-&gt;next = std::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raw_b</a:t>
            </a:r>
            <a:r>
              <a:rPr lang="en-US" altLang="zh-CN" sz="16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head-&gt;next-&gt;</a:t>
            </a:r>
            <a:r>
              <a:rPr lang="en-US" altLang="zh-CN" sz="1600" dirty="0" err="1">
                <a:latin typeface="Consolas" panose="020B0609020204030204" pitchFamily="49" charset="0"/>
              </a:rPr>
              <a:t>prev</a:t>
            </a:r>
            <a:r>
              <a:rPr lang="en-US" altLang="zh-CN" sz="1600" dirty="0">
                <a:latin typeface="Consolas" panose="020B0609020204030204" pitchFamily="49" charset="0"/>
              </a:rPr>
              <a:t> = head;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99569" y="5470769"/>
            <a:ext cx="4525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What happens when we </a:t>
            </a:r>
            <a:r>
              <a:rPr lang="en-US" altLang="zh-CN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head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968649-6986-EE10-E896-A31451E9EB73}"/>
              </a:ext>
            </a:extLst>
          </p:cNvPr>
          <p:cNvSpPr txBox="1"/>
          <p:nvPr/>
        </p:nvSpPr>
        <p:spPr>
          <a:xfrm>
            <a:off x="6830172" y="4230094"/>
            <a:ext cx="80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raw_a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7E608E-3970-B5F5-106F-DDB2F063BAEB}"/>
              </a:ext>
            </a:extLst>
          </p:cNvPr>
          <p:cNvSpPr txBox="1"/>
          <p:nvPr/>
        </p:nvSpPr>
        <p:spPr>
          <a:xfrm>
            <a:off x="10791245" y="4207565"/>
            <a:ext cx="80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raw_b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360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shared_ptr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426790"/>
            <a:ext cx="10331944" cy="13476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are deleted when their reference count drops to 0. It doesn’t work well for some scenarios: cyclic reference of </a:t>
            </a: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534" y="2553065"/>
            <a:ext cx="3335484" cy="273795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299569" y="5470769"/>
            <a:ext cx="45251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What happens when we </a:t>
            </a:r>
            <a:r>
              <a:rPr lang="en-US" altLang="zh-CN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head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Unreachable nodes aren’t deleted because ref counts &gt; 0</a:t>
            </a:r>
            <a:endParaRPr lang="zh-CN" altLang="en-US" sz="2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78DDBD-EDD4-AB3A-0523-1874D0F0ADBB}"/>
              </a:ext>
            </a:extLst>
          </p:cNvPr>
          <p:cNvSpPr/>
          <p:nvPr/>
        </p:nvSpPr>
        <p:spPr>
          <a:xfrm>
            <a:off x="1242645" y="2643445"/>
            <a:ext cx="5517663" cy="4031873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#include &lt;memory&gt;  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for </a:t>
            </a:r>
            <a:r>
              <a:rPr lang="en-US" altLang="zh-CN" sz="1600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en-US" altLang="zh-CN" sz="1600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endParaRPr lang="en-US" altLang="zh-CN" sz="1600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struct</a:t>
            </a:r>
            <a:r>
              <a:rPr lang="en-US" altLang="zh-CN" sz="1600" dirty="0">
                <a:latin typeface="Consolas" panose="020B0609020204030204" pitchFamily="49" charset="0"/>
              </a:rPr>
              <a:t> A 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 next;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latin typeface="Consolas" panose="020B0609020204030204" pitchFamily="49" charset="0"/>
              </a:rPr>
              <a:t>prev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};</a:t>
            </a: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A* </a:t>
            </a:r>
            <a:r>
              <a:rPr lang="en-US" altLang="zh-CN" sz="1600" dirty="0" err="1">
                <a:latin typeface="Consolas" panose="020B0609020204030204" pitchFamily="49" charset="0"/>
              </a:rPr>
              <a:t>raw_a</a:t>
            </a:r>
            <a:r>
              <a:rPr lang="en-US" altLang="zh-CN" sz="1600" dirty="0">
                <a:latin typeface="Consolas" panose="020B0609020204030204" pitchFamily="49" charset="0"/>
              </a:rPr>
              <a:t> = new A();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A* </a:t>
            </a:r>
            <a:r>
              <a:rPr lang="en-US" altLang="zh-CN" sz="1600" dirty="0" err="1">
                <a:latin typeface="Consolas" panose="020B0609020204030204" pitchFamily="49" charset="0"/>
              </a:rPr>
              <a:t>raw_b</a:t>
            </a:r>
            <a:r>
              <a:rPr lang="en-US" altLang="zh-CN" sz="1600" dirty="0">
                <a:latin typeface="Consolas" panose="020B0609020204030204" pitchFamily="49" charset="0"/>
              </a:rPr>
              <a:t> = new A();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std::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 head(</a:t>
            </a:r>
            <a:r>
              <a:rPr lang="en-US" altLang="zh-CN" sz="1600" dirty="0" err="1">
                <a:latin typeface="Consolas" panose="020B0609020204030204" pitchFamily="49" charset="0"/>
              </a:rPr>
              <a:t>raw_a</a:t>
            </a:r>
            <a:r>
              <a:rPr lang="en-US" altLang="zh-CN" sz="1600" dirty="0">
                <a:latin typeface="Consolas" panose="020B0609020204030204" pitchFamily="49" charset="0"/>
              </a:rPr>
              <a:t>);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head-&gt;next = std::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raw_b</a:t>
            </a:r>
            <a:r>
              <a:rPr lang="en-US" altLang="zh-CN" sz="16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head-&gt;next-&gt;</a:t>
            </a:r>
            <a:r>
              <a:rPr lang="en-US" altLang="zh-CN" sz="1600" dirty="0" err="1">
                <a:latin typeface="Consolas" panose="020B0609020204030204" pitchFamily="49" charset="0"/>
              </a:rPr>
              <a:t>prev</a:t>
            </a:r>
            <a:r>
              <a:rPr lang="en-US" altLang="zh-CN" sz="1600" dirty="0">
                <a:latin typeface="Consolas" panose="020B0609020204030204" pitchFamily="49" charset="0"/>
              </a:rPr>
              <a:t> = head;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835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weak_ptr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047256" y="1426790"/>
            <a:ext cx="10331944" cy="13476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weak_ptr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is similar to a 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but doesn’t affect the reference count; it can be used to break the cycle reference problem.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628" y="2575169"/>
            <a:ext cx="3200156" cy="262931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99569" y="5470769"/>
            <a:ext cx="4525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What happens when we </a:t>
            </a:r>
            <a:r>
              <a:rPr lang="en-US" altLang="zh-CN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head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0D246E-7FB2-7F8C-77FF-72A27DF1FB0B}"/>
              </a:ext>
            </a:extLst>
          </p:cNvPr>
          <p:cNvSpPr/>
          <p:nvPr/>
        </p:nvSpPr>
        <p:spPr>
          <a:xfrm>
            <a:off x="1242645" y="2643445"/>
            <a:ext cx="5517663" cy="4031873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#include &lt;memory&gt;  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for </a:t>
            </a:r>
            <a:r>
              <a:rPr lang="en-US" altLang="zh-CN" sz="1600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en-US" altLang="zh-CN" sz="1600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endParaRPr lang="en-US" altLang="zh-CN" sz="1600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struct</a:t>
            </a:r>
            <a:r>
              <a:rPr lang="en-US" altLang="zh-CN" sz="1600" dirty="0">
                <a:latin typeface="Consolas" panose="020B0609020204030204" pitchFamily="49" charset="0"/>
              </a:rPr>
              <a:t> A 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 next;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std::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weak_ptr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&lt;A&gt; </a:t>
            </a:r>
            <a:r>
              <a:rPr lang="en-US" altLang="zh-CN" sz="1600" dirty="0" err="1">
                <a:latin typeface="Consolas" panose="020B0609020204030204" pitchFamily="49" charset="0"/>
              </a:rPr>
              <a:t>prev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};</a:t>
            </a: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A* </a:t>
            </a:r>
            <a:r>
              <a:rPr lang="en-US" altLang="zh-CN" sz="1600" dirty="0" err="1">
                <a:latin typeface="Consolas" panose="020B0609020204030204" pitchFamily="49" charset="0"/>
              </a:rPr>
              <a:t>raw_a</a:t>
            </a:r>
            <a:r>
              <a:rPr lang="en-US" altLang="zh-CN" sz="1600" dirty="0">
                <a:latin typeface="Consolas" panose="020B0609020204030204" pitchFamily="49" charset="0"/>
              </a:rPr>
              <a:t> = new A();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A* </a:t>
            </a:r>
            <a:r>
              <a:rPr lang="en-US" altLang="zh-CN" sz="1600" dirty="0" err="1">
                <a:latin typeface="Consolas" panose="020B0609020204030204" pitchFamily="49" charset="0"/>
              </a:rPr>
              <a:t>raw_b</a:t>
            </a:r>
            <a:r>
              <a:rPr lang="en-US" altLang="zh-CN" sz="1600" dirty="0">
                <a:latin typeface="Consolas" panose="020B0609020204030204" pitchFamily="49" charset="0"/>
              </a:rPr>
              <a:t> = new A();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std::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 head(</a:t>
            </a:r>
            <a:r>
              <a:rPr lang="en-US" altLang="zh-CN" sz="1600" dirty="0" err="1">
                <a:latin typeface="Consolas" panose="020B0609020204030204" pitchFamily="49" charset="0"/>
              </a:rPr>
              <a:t>raw_a</a:t>
            </a:r>
            <a:r>
              <a:rPr lang="en-US" altLang="zh-CN" sz="1600" dirty="0">
                <a:latin typeface="Consolas" panose="020B0609020204030204" pitchFamily="49" charset="0"/>
              </a:rPr>
              <a:t>);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head-&gt;next = std::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raw_b</a:t>
            </a:r>
            <a:r>
              <a:rPr lang="en-US" altLang="zh-CN" sz="16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head-&gt;next-&gt;</a:t>
            </a:r>
            <a:r>
              <a:rPr lang="en-US" altLang="zh-CN" sz="1600" dirty="0" err="1">
                <a:latin typeface="Consolas" panose="020B0609020204030204" pitchFamily="49" charset="0"/>
              </a:rPr>
              <a:t>prev</a:t>
            </a:r>
            <a:r>
              <a:rPr lang="en-US" altLang="zh-CN" sz="1600" dirty="0">
                <a:latin typeface="Consolas" panose="020B0609020204030204" pitchFamily="49" charset="0"/>
              </a:rPr>
              <a:t> = head;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3928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weak_ptr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99569" y="5470769"/>
            <a:ext cx="45251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What happens when we </a:t>
            </a:r>
            <a:r>
              <a:rPr lang="en-US" altLang="zh-CN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head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 counts go to 0 and nodes deleted!</a:t>
            </a:r>
            <a:endParaRPr lang="zh-CN" altLang="en-US" sz="2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047256" y="1426790"/>
            <a:ext cx="10331944" cy="13476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weak_ptr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is similar to a 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but doesn’t affect the reference count; it can be used to break the cycle reference problem.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629" y="2572117"/>
            <a:ext cx="3340833" cy="2735871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F91332-D685-E23F-C6D5-FFFF5B90C788}"/>
              </a:ext>
            </a:extLst>
          </p:cNvPr>
          <p:cNvSpPr/>
          <p:nvPr/>
        </p:nvSpPr>
        <p:spPr>
          <a:xfrm>
            <a:off x="1242645" y="2643445"/>
            <a:ext cx="5517663" cy="4031873"/>
          </a:xfrm>
          <a:prstGeom prst="rect">
            <a:avLst/>
          </a:prstGeom>
          <a:ln w="12700" cmpd="sng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#include &lt;memory&gt;  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for </a:t>
            </a:r>
            <a:r>
              <a:rPr lang="en-US" altLang="zh-CN" sz="1600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::</a:t>
            </a:r>
            <a:r>
              <a:rPr lang="en-US" altLang="zh-CN" sz="1600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unique_ptr</a:t>
            </a:r>
            <a:endParaRPr lang="en-US" altLang="zh-CN" sz="1600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struct</a:t>
            </a:r>
            <a:r>
              <a:rPr lang="en-US" altLang="zh-CN" sz="1600" dirty="0">
                <a:latin typeface="Consolas" panose="020B0609020204030204" pitchFamily="49" charset="0"/>
              </a:rPr>
              <a:t> A 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</a:t>
            </a:r>
            <a:r>
              <a:rPr lang="en-US" altLang="zh-CN" sz="1600" dirty="0" err="1"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 next;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std::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weak_ptr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&lt;A&gt; </a:t>
            </a:r>
            <a:r>
              <a:rPr lang="en-US" altLang="zh-CN" sz="1600" dirty="0" err="1">
                <a:latin typeface="Consolas" panose="020B0609020204030204" pitchFamily="49" charset="0"/>
              </a:rPr>
              <a:t>prev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};</a:t>
            </a: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A* </a:t>
            </a:r>
            <a:r>
              <a:rPr lang="en-US" altLang="zh-CN" sz="1600" dirty="0" err="1">
                <a:latin typeface="Consolas" panose="020B0609020204030204" pitchFamily="49" charset="0"/>
              </a:rPr>
              <a:t>raw_a</a:t>
            </a:r>
            <a:r>
              <a:rPr lang="en-US" altLang="zh-CN" sz="1600" dirty="0">
                <a:latin typeface="Consolas" panose="020B0609020204030204" pitchFamily="49" charset="0"/>
              </a:rPr>
              <a:t> = new A();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A* </a:t>
            </a:r>
            <a:r>
              <a:rPr lang="en-US" altLang="zh-CN" sz="1600" dirty="0" err="1">
                <a:latin typeface="Consolas" panose="020B0609020204030204" pitchFamily="49" charset="0"/>
              </a:rPr>
              <a:t>raw_b</a:t>
            </a:r>
            <a:r>
              <a:rPr lang="en-US" altLang="zh-CN" sz="1600" dirty="0">
                <a:latin typeface="Consolas" panose="020B0609020204030204" pitchFamily="49" charset="0"/>
              </a:rPr>
              <a:t> = new A();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std::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 head(</a:t>
            </a:r>
            <a:r>
              <a:rPr lang="en-US" altLang="zh-CN" sz="1600" dirty="0" err="1">
                <a:latin typeface="Consolas" panose="020B0609020204030204" pitchFamily="49" charset="0"/>
              </a:rPr>
              <a:t>raw_a</a:t>
            </a:r>
            <a:r>
              <a:rPr lang="en-US" altLang="zh-CN" sz="1600" dirty="0">
                <a:latin typeface="Consolas" panose="020B0609020204030204" pitchFamily="49" charset="0"/>
              </a:rPr>
              <a:t>);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head-&gt;next = std::</a:t>
            </a:r>
            <a:r>
              <a:rPr lang="en-US" altLang="zh-CN" sz="1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sz="1600" dirty="0">
                <a:solidFill>
                  <a:schemeClr val="accent5"/>
                </a:solidFill>
                <a:latin typeface="Consolas" panose="020B0609020204030204" pitchFamily="49" charset="0"/>
              </a:rPr>
              <a:t>&lt;A&gt;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raw_b</a:t>
            </a:r>
            <a:r>
              <a:rPr lang="en-US" altLang="zh-CN" sz="16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head-&gt;next-&gt;</a:t>
            </a:r>
            <a:r>
              <a:rPr lang="en-US" altLang="zh-CN" sz="1600" dirty="0" err="1">
                <a:latin typeface="Consolas" panose="020B0609020204030204" pitchFamily="49" charset="0"/>
              </a:rPr>
              <a:t>prev</a:t>
            </a:r>
            <a:r>
              <a:rPr lang="en-US" altLang="zh-CN" sz="1600" dirty="0">
                <a:latin typeface="Consolas" panose="020B0609020204030204" pitchFamily="49" charset="0"/>
              </a:rPr>
              <a:t> = head;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return 0;	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1835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weak_ptr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1047256" y="1411155"/>
            <a:ext cx="10331944" cy="47082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use_count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gets reference count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expired()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returns (</a:t>
            </a:r>
            <a:r>
              <a:rPr lang="en-US" altLang="zh-CN" sz="2400" dirty="0" err="1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use_count</a:t>
            </a:r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() == 0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lock()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returns an "upgraded" </a:t>
            </a: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weak_ptr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to a </a:t>
            </a:r>
            <a:r>
              <a:rPr lang="en-US" altLang="zh-CN" sz="2400" dirty="0" err="1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endParaRPr lang="en-US" altLang="zh-CN" sz="2400" dirty="0">
              <a:solidFill>
                <a:schemeClr val="accent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685800" lvl="2">
              <a:lnSpc>
                <a:spcPct val="100000"/>
              </a:lnSpc>
              <a:spcBef>
                <a:spcPts val="1000"/>
              </a:spcBef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Basically implemented as 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expired()?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&lt;T&gt;(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nullptr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):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shared_ptr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&lt;T&gt;(this)</a:t>
            </a:r>
          </a:p>
          <a:p>
            <a:pPr>
              <a:lnSpc>
                <a:spcPct val="100000"/>
              </a:lnSpc>
            </a:pP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145" y="3493476"/>
            <a:ext cx="5586778" cy="2709503"/>
          </a:xfrm>
          <a:prstGeom prst="rect">
            <a:avLst/>
          </a:prstGeom>
        </p:spPr>
      </p:pic>
      <p:sp>
        <p:nvSpPr>
          <p:cNvPr id="11" name="Rectangle 5"/>
          <p:cNvSpPr/>
          <p:nvPr/>
        </p:nvSpPr>
        <p:spPr>
          <a:xfrm>
            <a:off x="969938" y="6486719"/>
            <a:ext cx="3458319" cy="23852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https://cplusplus.com/reference/memory/weak_ptr/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0577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-10205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</a:t>
            </a:r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sz="2400" dirty="0" err="1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weak_ptr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矩形 4"/>
          <p:cNvSpPr/>
          <p:nvPr/>
        </p:nvSpPr>
        <p:spPr>
          <a:xfrm>
            <a:off x="836248" y="1050897"/>
            <a:ext cx="10886831" cy="5355312"/>
          </a:xfrm>
          <a:prstGeom prst="rect">
            <a:avLst/>
          </a:prstGeom>
          <a:ln w="12700">
            <a:solidFill>
              <a:schemeClr val="accent3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iostream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 &lt;memory&gt; // for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shared_ptr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argc</a:t>
            </a:r>
            <a:r>
              <a:rPr lang="en-US" altLang="zh-CN" dirty="0">
                <a:latin typeface="Consolas" panose="020B0609020204030204" pitchFamily="49" charset="0"/>
              </a:rPr>
              <a:t>, char **</a:t>
            </a:r>
            <a:r>
              <a:rPr lang="en-US" altLang="zh-CN" dirty="0" err="1">
                <a:latin typeface="Consolas" panose="020B0609020204030204" pitchFamily="49" charset="0"/>
              </a:rPr>
              <a:t>argv</a:t>
            </a:r>
            <a:r>
              <a:rPr lang="en-US" altLang="zh-CN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weak_ptr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w;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x;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{</a:t>
            </a:r>
            <a:endParaRPr lang="en-US" altLang="zh-CN" i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 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y(new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(10));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     w = y;             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weak ref; ref count for “10” node is same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     x = </a:t>
            </a:r>
            <a:r>
              <a:rPr lang="en-US" altLang="zh-CN" dirty="0" err="1">
                <a:latin typeface="Consolas" panose="020B0609020204030204" pitchFamily="49" charset="0"/>
              </a:rPr>
              <a:t>w.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lock</a:t>
            </a:r>
            <a:r>
              <a:rPr lang="en-US" altLang="zh-CN" dirty="0">
                <a:latin typeface="Consolas" panose="020B0609020204030204" pitchFamily="49" charset="0"/>
              </a:rPr>
              <a:t>();      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get "promoted"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ref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cnt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= 2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 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</a:rPr>
              <a:t> &lt;&lt; *x &lt;&lt;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 }                      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y deleted; ref count now 1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</a:rPr>
              <a:t> &lt;&lt; *x &lt;&lt;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                           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x deleted; ref count now 0; mem freed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shared_ptr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latin typeface="Consolas" panose="020B0609020204030204" pitchFamily="49" charset="0"/>
              </a:rPr>
              <a:t> a = </a:t>
            </a:r>
            <a:r>
              <a:rPr lang="en-US" altLang="zh-CN" dirty="0" err="1">
                <a:latin typeface="Consolas" panose="020B0609020204030204" pitchFamily="49" charset="0"/>
              </a:rPr>
              <a:t>w.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lock</a:t>
            </a:r>
            <a:r>
              <a:rPr lang="en-US" altLang="zh-CN" dirty="0">
                <a:latin typeface="Consolas" panose="020B0609020204030204" pitchFamily="49" charset="0"/>
              </a:rPr>
              <a:t>();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altLang="zh-CN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nullptr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</a:rPr>
              <a:t> &lt;&lt; a &lt;&lt;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</a:rPr>
              <a:t>;        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output is 0 (null)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en-US" altLang="zh-CN" i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8697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Memory management using Smart Pointers in C++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https://dev.to/pratikparvati/memory-management-using-smart-pointers-in-c-part-1-4j2k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https://dev.to/pratikparvati/memory-management-using-smart-pointers-in-c-part-2-3pp4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University of Washington CSE333: Systems Programming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https://courses.cs.washington.edu/courses/cse333/24sp/lectures/16-c++-smartptr.pdf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n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Stanford University CS106L Standard C++ Programming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https://web.stanford.edu/class/archive/cs/cs106l/cs106l.1192/lectures/lecture15/15_RAII.pdf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838200" y="1167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00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5706</TotalTime>
  <Words>4172</Words>
  <Application>Microsoft Office PowerPoint</Application>
  <PresentationFormat>宽屏</PresentationFormat>
  <Paragraphs>615</Paragraphs>
  <Slides>43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43</vt:i4>
      </vt:variant>
    </vt:vector>
  </HeadingPairs>
  <TitlesOfParts>
    <vt:vector size="57" baseType="lpstr">
      <vt:lpstr>等线</vt:lpstr>
      <vt:lpstr>等线 Light</vt:lpstr>
      <vt:lpstr>微软雅黑</vt:lpstr>
      <vt:lpstr>Arial</vt:lpstr>
      <vt:lpstr>Arial Black</vt:lpstr>
      <vt:lpstr>Calibri</vt:lpstr>
      <vt:lpstr>Calibri Light</vt:lpstr>
      <vt:lpstr>Consolas</vt:lpstr>
      <vt:lpstr>Wingdings 2</vt:lpstr>
      <vt:lpstr>Office 主题​​</vt:lpstr>
      <vt:lpstr>HDOfficeLightV0</vt:lpstr>
      <vt:lpstr>1_HDOfficeLightV0</vt:lpstr>
      <vt:lpstr>2_HDOfficeLightV0</vt:lpstr>
      <vt:lpstr>3_HDOfficeLightV0</vt:lpstr>
      <vt:lpstr>Memory-safety Programming 内存安全程序设计</vt:lpstr>
      <vt:lpstr>Content </vt:lpstr>
      <vt:lpstr>PowerPoint 演示文稿</vt:lpstr>
      <vt:lpstr>Temporal Memory Problems</vt:lpstr>
      <vt:lpstr>Temporal Memory Problems</vt:lpstr>
      <vt:lpstr>Temporal Memory Problems</vt:lpstr>
      <vt:lpstr>PowerPoint 演示文稿</vt:lpstr>
      <vt:lpstr>RAII</vt:lpstr>
      <vt:lpstr>RAII</vt:lpstr>
      <vt:lpstr>RAII</vt:lpstr>
      <vt:lpstr>RAII</vt:lpstr>
      <vt:lpstr>RAII</vt:lpstr>
      <vt:lpstr>Other Resources</vt:lpstr>
      <vt:lpstr>C++ Smart Pointers</vt:lpstr>
      <vt:lpstr>Toy_ptr</vt:lpstr>
      <vt:lpstr>Toy_ptr</vt:lpstr>
      <vt:lpstr>std::unique_ptr</vt:lpstr>
      <vt:lpstr>std::unique_ptr</vt:lpstr>
      <vt:lpstr>std::unique_ptr</vt:lpstr>
      <vt:lpstr>std::unique_ptr</vt:lpstr>
      <vt:lpstr>std::unique_ptr</vt:lpstr>
      <vt:lpstr>std::unique_ptr</vt:lpstr>
      <vt:lpstr>std::unique_ptr</vt:lpstr>
      <vt:lpstr>std::unique_ptr</vt:lpstr>
      <vt:lpstr>std::unique_ptr</vt:lpstr>
      <vt:lpstr>std::unique_ptr</vt:lpstr>
      <vt:lpstr>std::shared_ptr</vt:lpstr>
      <vt:lpstr>std::shared_ptr</vt:lpstr>
      <vt:lpstr>std::shared_ptr</vt:lpstr>
      <vt:lpstr>std::shared_ptr</vt:lpstr>
      <vt:lpstr>std::shared_ptr</vt:lpstr>
      <vt:lpstr>std::shared_ptr</vt:lpstr>
      <vt:lpstr>std::shared_ptr</vt:lpstr>
      <vt:lpstr>std::shared_ptr</vt:lpstr>
      <vt:lpstr>std::shared_ptr</vt:lpstr>
      <vt:lpstr>std::shared_ptr</vt:lpstr>
      <vt:lpstr>std::shared_ptr</vt:lpstr>
      <vt:lpstr>std::shared_ptr</vt:lpstr>
      <vt:lpstr>std::weak_ptr</vt:lpstr>
      <vt:lpstr>std::weak_ptr</vt:lpstr>
      <vt:lpstr>std::weak_ptr</vt:lpstr>
      <vt:lpstr>std::weak_ptr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Zuo Zhiqiang</dc:creator>
  <cp:lastModifiedBy>Dell</cp:lastModifiedBy>
  <cp:revision>2746</cp:revision>
  <dcterms:created xsi:type="dcterms:W3CDTF">2019-12-04T06:34:48Z</dcterms:created>
  <dcterms:modified xsi:type="dcterms:W3CDTF">2026-05-18T02:43:49Z</dcterms:modified>
</cp:coreProperties>
</file>