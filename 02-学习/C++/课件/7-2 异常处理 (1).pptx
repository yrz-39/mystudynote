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272" r:id="rId2"/>
    <p:sldId id="271" r:id="rId3"/>
    <p:sldId id="276" r:id="rId4"/>
    <p:sldId id="291" r:id="rId5"/>
    <p:sldId id="260" r:id="rId6"/>
    <p:sldId id="277" r:id="rId7"/>
    <p:sldId id="259" r:id="rId8"/>
    <p:sldId id="278" r:id="rId9"/>
    <p:sldId id="279" r:id="rId10"/>
    <p:sldId id="280" r:id="rId11"/>
    <p:sldId id="281" r:id="rId12"/>
    <p:sldId id="282" r:id="rId13"/>
    <p:sldId id="290" r:id="rId14"/>
    <p:sldId id="261" r:id="rId15"/>
    <p:sldId id="283" r:id="rId16"/>
    <p:sldId id="262" r:id="rId17"/>
    <p:sldId id="263" r:id="rId18"/>
    <p:sldId id="264" r:id="rId19"/>
    <p:sldId id="265" r:id="rId20"/>
    <p:sldId id="266" r:id="rId21"/>
    <p:sldId id="267" r:id="rId22"/>
    <p:sldId id="269" r:id="rId23"/>
    <p:sldId id="270" r:id="rId24"/>
    <p:sldId id="273" r:id="rId25"/>
    <p:sldId id="274" r:id="rId26"/>
    <p:sldId id="296" r:id="rId27"/>
    <p:sldId id="293" r:id="rId2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3" d="100"/>
          <a:sy n="153" d="100"/>
        </p:scale>
        <p:origin x="4590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77B09B1-764B-A749-CA7B-3C2788A1827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F993DE0-831D-41CE-006D-31CD6D3759D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0D60FF8-7BC2-5E76-5761-1FAAEF02D63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59ABEE4-D417-680E-BFD0-FA91CDBD634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C4A48FBF-96CE-1539-881F-DF6424DB81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2973218C-FF96-4D79-62FC-A87C875FBBD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41FEFFCC-CBFE-3A7D-4289-C9FE08D7D91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DD933A62-A42A-937D-0E24-8BEBEFC5D54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C28F5543-98F0-0F4C-AFFB-32DC3BFEF78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E67E3397-9C82-1FC5-9357-7992CFFE6E8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28EB0B43-ABD8-682F-EF9A-5A8E363316C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AFE14EBD-F41C-0B50-38D5-2757852768F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8D4FB954-A03F-E15E-F640-5F90BD62EA8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8C83FDB7-7160-B130-9680-E675DF96291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5750CEDF-BAD8-B09D-B34B-0AA398964A3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5236AF6E-DDC3-1C5E-02BB-DFADEF46DF7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3A2F0C86-54B6-D498-ECB5-58E4701A65B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EADDBDA5-8D60-5AC5-8FD3-6AF6EDF8660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B4CAAEC3-D164-4682-6B0D-4E0C22DEC65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CFE19C46-2E0E-9807-9F22-0C5F501DB21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3A339653-3BCD-E9DB-21D0-493BB112107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34255410-CA92-BE3D-79B5-247BA98B2B3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815 w 717"/>
                <a:gd name="T1" fmla="*/ 845 h 845"/>
                <a:gd name="T2" fmla="*/ 815 w 717"/>
                <a:gd name="T3" fmla="*/ 821 h 845"/>
                <a:gd name="T4" fmla="*/ 672 w 717"/>
                <a:gd name="T5" fmla="*/ 605 h 845"/>
                <a:gd name="T6" fmla="*/ 455 w 717"/>
                <a:gd name="T7" fmla="*/ 396 h 845"/>
                <a:gd name="T8" fmla="*/ 270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58 w 717"/>
                <a:gd name="T15" fmla="*/ 198 h 845"/>
                <a:gd name="T16" fmla="*/ 449 w 717"/>
                <a:gd name="T17" fmla="*/ 408 h 845"/>
                <a:gd name="T18" fmla="*/ 666 w 717"/>
                <a:gd name="T19" fmla="*/ 623 h 845"/>
                <a:gd name="T20" fmla="*/ 815 w 717"/>
                <a:gd name="T21" fmla="*/ 845 h 845"/>
                <a:gd name="T22" fmla="*/ 815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8F8E3A98-D78C-B17B-C40D-FE61B569D26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56 w 407"/>
                <a:gd name="T1" fmla="*/ 414 h 414"/>
                <a:gd name="T2" fmla="*/ 456 w 407"/>
                <a:gd name="T3" fmla="*/ 396 h 414"/>
                <a:gd name="T4" fmla="*/ 271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65 w 407"/>
                <a:gd name="T13" fmla="*/ 204 h 414"/>
                <a:gd name="T14" fmla="*/ 456 w 407"/>
                <a:gd name="T15" fmla="*/ 414 h 414"/>
                <a:gd name="T16" fmla="*/ 456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CB24EEC9-4BE4-3288-CD49-AD55EB874B4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62735147-3F9A-BBE5-306B-00503BCB7BD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84 w 586"/>
                <a:gd name="T1" fmla="*/ 0 h 599"/>
                <a:gd name="T2" fmla="*/ 666 w 586"/>
                <a:gd name="T3" fmla="*/ 0 h 599"/>
                <a:gd name="T4" fmla="*/ 472 w 586"/>
                <a:gd name="T5" fmla="*/ 132 h 599"/>
                <a:gd name="T6" fmla="*/ 306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06 w 586"/>
                <a:gd name="T17" fmla="*/ 282 h 599"/>
                <a:gd name="T18" fmla="*/ 484 w 586"/>
                <a:gd name="T19" fmla="*/ 138 h 599"/>
                <a:gd name="T20" fmla="*/ 684 w 586"/>
                <a:gd name="T21" fmla="*/ 0 h 599"/>
                <a:gd name="T22" fmla="*/ 68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F6D99379-5CEA-332B-EF1E-AEC814CFBF5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18 w 269"/>
                <a:gd name="T1" fmla="*/ 0 h 252"/>
                <a:gd name="T2" fmla="*/ 300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18 w 269"/>
                <a:gd name="T15" fmla="*/ 0 h 252"/>
                <a:gd name="T16" fmla="*/ 318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AD31C77F-8EA3-FB7B-CA85-6D83DA458174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BD7BE982-5C14-3034-EE3B-C816F70FF75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8055B5C5-2BB2-766C-9E62-CEEFCCDC3861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31">
              <a:extLst>
                <a:ext uri="{FF2B5EF4-FFF2-40B4-BE49-F238E27FC236}">
                  <a16:creationId xmlns:a16="http://schemas.microsoft.com/office/drawing/2014/main" id="{9FF9830C-F485-04B7-5F90-DC0230999E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1" name="Line 32">
                <a:extLst>
                  <a:ext uri="{FF2B5EF4-FFF2-40B4-BE49-F238E27FC236}">
                    <a16:creationId xmlns:a16="http://schemas.microsoft.com/office/drawing/2014/main" id="{B3842958-CF8E-436A-018F-B310A2AC129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380B8B3A-77E3-B2AE-DA88-0D658B6D4AB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E9B91415-D64E-1FAF-E4B6-B456CB6A31A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7B050C09-B44E-0099-D4BD-4EC81F2C705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6">
                <a:extLst>
                  <a:ext uri="{FF2B5EF4-FFF2-40B4-BE49-F238E27FC236}">
                    <a16:creationId xmlns:a16="http://schemas.microsoft.com/office/drawing/2014/main" id="{D7B7AFAE-AD0B-B725-0E76-7F3A35CC1F3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78DF1355-66CB-614C-D140-A4214028C0C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8">
              <a:extLst>
                <a:ext uri="{FF2B5EF4-FFF2-40B4-BE49-F238E27FC236}">
                  <a16:creationId xmlns:a16="http://schemas.microsoft.com/office/drawing/2014/main" id="{9259482F-C8A4-3BD3-8835-8782903ADA78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31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8232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C540C0BD-5929-72E0-1611-2B6A1129822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A89F7A29-8A48-928C-D116-238A0C079B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4B9CEF90-B017-6D62-58A9-70B387F0FB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BB347E-0350-4C91-B593-8DCFA66AB03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584819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3C05D118-84C5-C717-B254-BDB3DF48AF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67F47E61-EA5B-ED4F-0BA7-0B92E90E63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FB780D95-DA29-C630-6E4E-9D7038F5F7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86FEF2-A316-4104-A99E-15249F4A10F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9848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F370CB17-9A27-6135-D402-CF93837DBF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DE9B6D45-88D0-0BB1-6B1A-6464503B6D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588107DE-D6B4-B28C-F931-B6F70C8478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602DF2-3D47-4174-B5A6-2A2A456D4A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8925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C43F786C-AE1A-78DC-1842-5B0C0282BA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3E4B5376-3C24-18DB-1282-7711047105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A8C6F0A6-9DB5-700F-53FA-594E137486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8AE091-D96C-4621-871A-9EB28454157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5959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AD2F8A10-496D-FA88-6E24-FAA6EC8B3F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5BA0AB92-862F-DAFF-C942-1A17508996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0C170573-0632-F243-FDE9-4B117E8056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51F3FA-ED49-47E7-91AD-2F8308AF37B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9387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7133CC4F-33F3-4EA3-EC6D-5353A9842B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893293C0-280F-CE75-1A77-1ED63200A3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91AD3704-5982-D07E-0C46-B26789AC12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8B62FB-0913-49E9-AC9F-27F5F019F19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47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1A83555F-759F-117A-BC3A-A901298E16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B92A903A-0F80-3BC6-F9CF-150DC83EA0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814D0274-5BA3-5F16-87BE-B0A0800573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CA7BEA-6FA8-4889-A640-E9C0B381DC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8925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BAD6F1AC-B996-7BC9-BD1F-B80FD7063B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A9FE03B7-681D-EC0C-831B-F63C11B642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B1947840-0946-29BB-153C-AAD02262DC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FAF1F1-0254-49EE-B52A-F2BE74C7732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5912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1D1944BD-3112-473A-8AFA-77CE039B9E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0226E882-5FCF-E9E7-704F-17257A661D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26FDD879-FCCB-14AA-5832-7338412FD6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68F942-C630-42FB-8C97-1A585DB5F42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665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44DCF274-2D96-113E-E613-776DECE898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460CEE33-5489-AEC8-A0A2-7F3B66F078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E12D0F0-05E4-11BE-BE34-F8112C67CB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7DF5D9-5E10-468A-80C4-8BB7D3E4C04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7440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B54A10F1-4CCF-A645-7117-EE08B3F7A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31081E5E-15D1-C524-3662-179A295ADA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0269327D-3269-D34C-6979-01E19A443F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B519C3-A430-4FE9-8AA7-FB93393C2CB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6578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4D99"/>
            </a:gs>
            <a:gs pos="89999">
              <a:srgbClr val="002850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F191957F-D5BF-5518-C6F6-F8A121CB0D15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7171" name="Freeform 3">
              <a:extLst>
                <a:ext uri="{FF2B5EF4-FFF2-40B4-BE49-F238E27FC236}">
                  <a16:creationId xmlns:a16="http://schemas.microsoft.com/office/drawing/2014/main" id="{95151E42-4824-00D1-891A-2A97A882E41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172" name="Freeform 4">
              <a:extLst>
                <a:ext uri="{FF2B5EF4-FFF2-40B4-BE49-F238E27FC236}">
                  <a16:creationId xmlns:a16="http://schemas.microsoft.com/office/drawing/2014/main" id="{F1BED3DB-5A4D-57B7-E662-3DC7D47E3D5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173" name="Freeform 5">
              <a:extLst>
                <a:ext uri="{FF2B5EF4-FFF2-40B4-BE49-F238E27FC236}">
                  <a16:creationId xmlns:a16="http://schemas.microsoft.com/office/drawing/2014/main" id="{E12BF79B-6FCA-90A7-38DA-AF9E7FD6BC5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1035" name="Group 6">
              <a:extLst>
                <a:ext uri="{FF2B5EF4-FFF2-40B4-BE49-F238E27FC236}">
                  <a16:creationId xmlns:a16="http://schemas.microsoft.com/office/drawing/2014/main" id="{6840EBE3-9A5B-1A36-2B6A-316C628880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7175" name="Freeform 7">
                <a:extLst>
                  <a:ext uri="{FF2B5EF4-FFF2-40B4-BE49-F238E27FC236}">
                    <a16:creationId xmlns:a16="http://schemas.microsoft.com/office/drawing/2014/main" id="{4B8447C2-95EA-EF41-E9F2-49C95203437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76" name="Freeform 8">
                <a:extLst>
                  <a:ext uri="{FF2B5EF4-FFF2-40B4-BE49-F238E27FC236}">
                    <a16:creationId xmlns:a16="http://schemas.microsoft.com/office/drawing/2014/main" id="{729E6C78-EF34-A8AB-2AAB-27136A25794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77" name="Freeform 9">
                <a:extLst>
                  <a:ext uri="{FF2B5EF4-FFF2-40B4-BE49-F238E27FC236}">
                    <a16:creationId xmlns:a16="http://schemas.microsoft.com/office/drawing/2014/main" id="{D9FD6475-3703-EB37-6D54-51E906378CE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78" name="Freeform 10">
                <a:extLst>
                  <a:ext uri="{FF2B5EF4-FFF2-40B4-BE49-F238E27FC236}">
                    <a16:creationId xmlns:a16="http://schemas.microsoft.com/office/drawing/2014/main" id="{92ABDB60-2A4E-F0E0-B64C-3270947C3F5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79" name="Freeform 11">
                <a:extLst>
                  <a:ext uri="{FF2B5EF4-FFF2-40B4-BE49-F238E27FC236}">
                    <a16:creationId xmlns:a16="http://schemas.microsoft.com/office/drawing/2014/main" id="{E210AC38-F7F6-222F-3801-572BCCA4C20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80" name="Freeform 12">
                <a:extLst>
                  <a:ext uri="{FF2B5EF4-FFF2-40B4-BE49-F238E27FC236}">
                    <a16:creationId xmlns:a16="http://schemas.microsoft.com/office/drawing/2014/main" id="{FE0A5E6A-0A83-79EA-25EB-674BB2A9C3B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81" name="Freeform 13">
                <a:extLst>
                  <a:ext uri="{FF2B5EF4-FFF2-40B4-BE49-F238E27FC236}">
                    <a16:creationId xmlns:a16="http://schemas.microsoft.com/office/drawing/2014/main" id="{734F6039-32E3-0D37-5986-F1BF7BA4F11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82" name="Freeform 14">
                <a:extLst>
                  <a:ext uri="{FF2B5EF4-FFF2-40B4-BE49-F238E27FC236}">
                    <a16:creationId xmlns:a16="http://schemas.microsoft.com/office/drawing/2014/main" id="{70C60B33-A710-B890-63E1-B0743B224A1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83" name="Freeform 15">
                <a:extLst>
                  <a:ext uri="{FF2B5EF4-FFF2-40B4-BE49-F238E27FC236}">
                    <a16:creationId xmlns:a16="http://schemas.microsoft.com/office/drawing/2014/main" id="{5A83DF51-D2FD-E58A-2863-7247BF37D96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84" name="Freeform 16">
                <a:extLst>
                  <a:ext uri="{FF2B5EF4-FFF2-40B4-BE49-F238E27FC236}">
                    <a16:creationId xmlns:a16="http://schemas.microsoft.com/office/drawing/2014/main" id="{C7632CFE-BBB9-4631-614F-63B7D144930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85" name="Freeform 17">
                <a:extLst>
                  <a:ext uri="{FF2B5EF4-FFF2-40B4-BE49-F238E27FC236}">
                    <a16:creationId xmlns:a16="http://schemas.microsoft.com/office/drawing/2014/main" id="{5D3AFEE6-6C37-1720-3F44-8F22B12CE35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86" name="Freeform 18">
                <a:extLst>
                  <a:ext uri="{FF2B5EF4-FFF2-40B4-BE49-F238E27FC236}">
                    <a16:creationId xmlns:a16="http://schemas.microsoft.com/office/drawing/2014/main" id="{A03154E6-8973-063D-7603-43BEEA46FC5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87" name="Freeform 19">
                <a:extLst>
                  <a:ext uri="{FF2B5EF4-FFF2-40B4-BE49-F238E27FC236}">
                    <a16:creationId xmlns:a16="http://schemas.microsoft.com/office/drawing/2014/main" id="{008FBCC6-A41D-2AE7-A3D4-004998434E7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188" name="Freeform 20">
              <a:extLst>
                <a:ext uri="{FF2B5EF4-FFF2-40B4-BE49-F238E27FC236}">
                  <a16:creationId xmlns:a16="http://schemas.microsoft.com/office/drawing/2014/main" id="{30E02C3A-57B1-C2D9-DA18-33C6CDC77C2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189" name="Freeform 21">
              <a:extLst>
                <a:ext uri="{FF2B5EF4-FFF2-40B4-BE49-F238E27FC236}">
                  <a16:creationId xmlns:a16="http://schemas.microsoft.com/office/drawing/2014/main" id="{B9C26B29-43ED-CCA7-123F-8A04BE13ABE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190" name="Freeform 22">
              <a:extLst>
                <a:ext uri="{FF2B5EF4-FFF2-40B4-BE49-F238E27FC236}">
                  <a16:creationId xmlns:a16="http://schemas.microsoft.com/office/drawing/2014/main" id="{A754C02B-770C-DE8A-D1C8-6DCEAD614ED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9" name="Freeform 23">
              <a:extLst>
                <a:ext uri="{FF2B5EF4-FFF2-40B4-BE49-F238E27FC236}">
                  <a16:creationId xmlns:a16="http://schemas.microsoft.com/office/drawing/2014/main" id="{659A4FCB-2EC8-B4E9-26A4-D00705D9DAF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815 w 717"/>
                <a:gd name="T1" fmla="*/ 845 h 845"/>
                <a:gd name="T2" fmla="*/ 815 w 717"/>
                <a:gd name="T3" fmla="*/ 821 h 845"/>
                <a:gd name="T4" fmla="*/ 672 w 717"/>
                <a:gd name="T5" fmla="*/ 605 h 845"/>
                <a:gd name="T6" fmla="*/ 455 w 717"/>
                <a:gd name="T7" fmla="*/ 396 h 845"/>
                <a:gd name="T8" fmla="*/ 270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58 w 717"/>
                <a:gd name="T15" fmla="*/ 198 h 845"/>
                <a:gd name="T16" fmla="*/ 449 w 717"/>
                <a:gd name="T17" fmla="*/ 408 h 845"/>
                <a:gd name="T18" fmla="*/ 666 w 717"/>
                <a:gd name="T19" fmla="*/ 623 h 845"/>
                <a:gd name="T20" fmla="*/ 815 w 717"/>
                <a:gd name="T21" fmla="*/ 845 h 845"/>
                <a:gd name="T22" fmla="*/ 815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>
              <a:extLst>
                <a:ext uri="{FF2B5EF4-FFF2-40B4-BE49-F238E27FC236}">
                  <a16:creationId xmlns:a16="http://schemas.microsoft.com/office/drawing/2014/main" id="{76383AE1-8C10-FC97-9FE3-0CA1C6CC193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56 w 407"/>
                <a:gd name="T1" fmla="*/ 414 h 414"/>
                <a:gd name="T2" fmla="*/ 456 w 407"/>
                <a:gd name="T3" fmla="*/ 396 h 414"/>
                <a:gd name="T4" fmla="*/ 271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65 w 407"/>
                <a:gd name="T13" fmla="*/ 204 h 414"/>
                <a:gd name="T14" fmla="*/ 456 w 407"/>
                <a:gd name="T15" fmla="*/ 414 h 414"/>
                <a:gd name="T16" fmla="*/ 456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3" name="Freeform 25">
              <a:extLst>
                <a:ext uri="{FF2B5EF4-FFF2-40B4-BE49-F238E27FC236}">
                  <a16:creationId xmlns:a16="http://schemas.microsoft.com/office/drawing/2014/main" id="{DC3BBB74-AE8A-84A7-F765-896AECDD399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2" name="Freeform 26">
              <a:extLst>
                <a:ext uri="{FF2B5EF4-FFF2-40B4-BE49-F238E27FC236}">
                  <a16:creationId xmlns:a16="http://schemas.microsoft.com/office/drawing/2014/main" id="{1738EA6C-5385-9840-6DD7-B23B0ABE479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84 w 586"/>
                <a:gd name="T1" fmla="*/ 0 h 599"/>
                <a:gd name="T2" fmla="*/ 666 w 586"/>
                <a:gd name="T3" fmla="*/ 0 h 599"/>
                <a:gd name="T4" fmla="*/ 472 w 586"/>
                <a:gd name="T5" fmla="*/ 132 h 599"/>
                <a:gd name="T6" fmla="*/ 306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06 w 586"/>
                <a:gd name="T17" fmla="*/ 282 h 599"/>
                <a:gd name="T18" fmla="*/ 484 w 586"/>
                <a:gd name="T19" fmla="*/ 138 h 599"/>
                <a:gd name="T20" fmla="*/ 684 w 586"/>
                <a:gd name="T21" fmla="*/ 0 h 599"/>
                <a:gd name="T22" fmla="*/ 68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>
              <a:extLst>
                <a:ext uri="{FF2B5EF4-FFF2-40B4-BE49-F238E27FC236}">
                  <a16:creationId xmlns:a16="http://schemas.microsoft.com/office/drawing/2014/main" id="{71854DE0-CDD4-5766-3825-C6DBEFCDD57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18 w 269"/>
                <a:gd name="T1" fmla="*/ 0 h 252"/>
                <a:gd name="T2" fmla="*/ 300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18 w 269"/>
                <a:gd name="T15" fmla="*/ 0 h 252"/>
                <a:gd name="T16" fmla="*/ 318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>
              <a:extLst>
                <a:ext uri="{FF2B5EF4-FFF2-40B4-BE49-F238E27FC236}">
                  <a16:creationId xmlns:a16="http://schemas.microsoft.com/office/drawing/2014/main" id="{59F300FF-7BB4-BA40-AE1D-F79155329B60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>
              <a:extLst>
                <a:ext uri="{FF2B5EF4-FFF2-40B4-BE49-F238E27FC236}">
                  <a16:creationId xmlns:a16="http://schemas.microsoft.com/office/drawing/2014/main" id="{F32C44C1-9DCE-FAD2-7F2B-A55ABF216C33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>
              <a:extLst>
                <a:ext uri="{FF2B5EF4-FFF2-40B4-BE49-F238E27FC236}">
                  <a16:creationId xmlns:a16="http://schemas.microsoft.com/office/drawing/2014/main" id="{FB5E2CEE-80D4-1A1B-1D0F-B16BFF81423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>
              <a:extLst>
                <a:ext uri="{FF2B5EF4-FFF2-40B4-BE49-F238E27FC236}">
                  <a16:creationId xmlns:a16="http://schemas.microsoft.com/office/drawing/2014/main" id="{961C6B4C-7EFD-68CC-0ECE-C4CF5BFCFC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>
                <a:extLst>
                  <a:ext uri="{FF2B5EF4-FFF2-40B4-BE49-F238E27FC236}">
                    <a16:creationId xmlns:a16="http://schemas.microsoft.com/office/drawing/2014/main" id="{AB845BF0-52FB-6173-2348-D0918526639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>
                <a:extLst>
                  <a:ext uri="{FF2B5EF4-FFF2-40B4-BE49-F238E27FC236}">
                    <a16:creationId xmlns:a16="http://schemas.microsoft.com/office/drawing/2014/main" id="{8CC60842-3C78-831F-9329-3B1BE0AD2CF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>
                <a:extLst>
                  <a:ext uri="{FF2B5EF4-FFF2-40B4-BE49-F238E27FC236}">
                    <a16:creationId xmlns:a16="http://schemas.microsoft.com/office/drawing/2014/main" id="{5CFF60FA-8176-7B21-1974-6E562BCFB76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>
                <a:extLst>
                  <a:ext uri="{FF2B5EF4-FFF2-40B4-BE49-F238E27FC236}">
                    <a16:creationId xmlns:a16="http://schemas.microsoft.com/office/drawing/2014/main" id="{24545467-B349-0EF8-EC95-5B57E03BE34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>
                <a:extLst>
                  <a:ext uri="{FF2B5EF4-FFF2-40B4-BE49-F238E27FC236}">
                    <a16:creationId xmlns:a16="http://schemas.microsoft.com/office/drawing/2014/main" id="{74A1E8EB-0A58-08C7-51A7-C4F25035DA8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>
              <a:extLst>
                <a:ext uri="{FF2B5EF4-FFF2-40B4-BE49-F238E27FC236}">
                  <a16:creationId xmlns:a16="http://schemas.microsoft.com/office/drawing/2014/main" id="{30096FAC-7310-61BF-16F5-070EEF698794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>
              <a:extLst>
                <a:ext uri="{FF2B5EF4-FFF2-40B4-BE49-F238E27FC236}">
                  <a16:creationId xmlns:a16="http://schemas.microsoft.com/office/drawing/2014/main" id="{AB89FFF0-380A-976E-D126-746FDDE221A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07" name="Rectangle 39">
            <a:extLst>
              <a:ext uri="{FF2B5EF4-FFF2-40B4-BE49-F238E27FC236}">
                <a16:creationId xmlns:a16="http://schemas.microsoft.com/office/drawing/2014/main" id="{DCE209F9-0357-65C9-FE5F-7E7210CA42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208" name="Rectangle 40">
            <a:extLst>
              <a:ext uri="{FF2B5EF4-FFF2-40B4-BE49-F238E27FC236}">
                <a16:creationId xmlns:a16="http://schemas.microsoft.com/office/drawing/2014/main" id="{1A4C91AF-3DFA-A17D-0EC8-0C6AD7F3614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209" name="Rectangle 41">
            <a:extLst>
              <a:ext uri="{FF2B5EF4-FFF2-40B4-BE49-F238E27FC236}">
                <a16:creationId xmlns:a16="http://schemas.microsoft.com/office/drawing/2014/main" id="{1279CA0A-45EC-9CAF-5094-BB4133A5768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210" name="Rectangle 42">
            <a:extLst>
              <a:ext uri="{FF2B5EF4-FFF2-40B4-BE49-F238E27FC236}">
                <a16:creationId xmlns:a16="http://schemas.microsoft.com/office/drawing/2014/main" id="{0564068A-E68A-4C1A-049A-95A5CD87D2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FFC7FB15-9B16-496F-A514-2C104104338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211" name="Rectangle 43">
            <a:extLst>
              <a:ext uri="{FF2B5EF4-FFF2-40B4-BE49-F238E27FC236}">
                <a16:creationId xmlns:a16="http://schemas.microsoft.com/office/drawing/2014/main" id="{9A089BBD-69D5-6B3C-0F18-404816D30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250" r:id="rId1"/>
    <p:sldLayoutId id="2147484240" r:id="rId2"/>
    <p:sldLayoutId id="2147484241" r:id="rId3"/>
    <p:sldLayoutId id="2147484242" r:id="rId4"/>
    <p:sldLayoutId id="2147484243" r:id="rId5"/>
    <p:sldLayoutId id="2147484244" r:id="rId6"/>
    <p:sldLayoutId id="2147484245" r:id="rId7"/>
    <p:sldLayoutId id="2147484246" r:id="rId8"/>
    <p:sldLayoutId id="2147484247" r:id="rId9"/>
    <p:sldLayoutId id="2147484248" r:id="rId10"/>
    <p:sldLayoutId id="21474842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E529C387-DA39-9AB2-D73A-2064756EBE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异常处理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8155641-3349-47E2-2012-555DB6D5171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B6F3386-EF2C-AB16-D740-1274C795E5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主要内容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4AD667D4-BF49-C05E-7439-D40F1684C9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异常概述</a:t>
            </a:r>
          </a:p>
          <a:p>
            <a:pPr eaLnBrk="1" hangingPunct="1">
              <a:defRPr/>
            </a:pPr>
            <a:r>
              <a:rPr lang="en-US" altLang="zh-CN" dirty="0"/>
              <a:t>C++</a:t>
            </a:r>
            <a:r>
              <a:rPr lang="zh-CN" altLang="en-US" dirty="0"/>
              <a:t>的异常处理机制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C1F6C6B-5140-7939-B39E-1DE66AEE9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异常概述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AC6619AE-45C0-A713-834A-EF8E701FF9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58958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zh-CN" altLang="en-GB" dirty="0"/>
              <a:t>程序的错误通常包括：</a:t>
            </a:r>
          </a:p>
          <a:p>
            <a:pPr lvl="1" eaLnBrk="1" hangingPunct="1">
              <a:defRPr/>
            </a:pPr>
            <a:r>
              <a:rPr lang="zh-CN" altLang="en-GB" dirty="0">
                <a:solidFill>
                  <a:schemeClr val="folHlink"/>
                </a:solidFill>
              </a:rPr>
              <a:t>语法错误</a:t>
            </a:r>
            <a:r>
              <a:rPr lang="zh-CN" altLang="en-US" dirty="0"/>
              <a:t>：</a:t>
            </a:r>
            <a:r>
              <a:rPr lang="zh-CN" altLang="en-GB" dirty="0"/>
              <a:t>指程序的书写不符合语言的语法规则。</a:t>
            </a:r>
            <a:endParaRPr lang="en-US" altLang="zh-CN" dirty="0"/>
          </a:p>
          <a:p>
            <a:pPr marL="914400" lvl="2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例如：</a:t>
            </a:r>
            <a:endParaRPr lang="en-US" altLang="zh-CN" dirty="0"/>
          </a:p>
          <a:p>
            <a:pPr lvl="2" eaLnBrk="1" hangingPunct="1">
              <a:defRPr/>
            </a:pPr>
            <a:r>
              <a:rPr lang="zh-CN" altLang="en-US" dirty="0"/>
              <a:t>使用了未定义或未声明的标识符</a:t>
            </a:r>
            <a:endParaRPr lang="en-US" altLang="zh-CN" dirty="0"/>
          </a:p>
          <a:p>
            <a:pPr lvl="2" eaLnBrk="1" hangingPunct="1">
              <a:defRPr/>
            </a:pPr>
            <a:r>
              <a:rPr lang="zh-CN" altLang="en-US" dirty="0"/>
              <a:t>左右括号不匹配</a:t>
            </a:r>
            <a:endParaRPr lang="en-US" altLang="zh-CN" dirty="0"/>
          </a:p>
          <a:p>
            <a:pPr lvl="2" eaLnBrk="1" hangingPunct="1">
              <a:defRPr/>
            </a:pPr>
            <a:r>
              <a:rPr lang="en-US" altLang="zh-CN" dirty="0"/>
              <a:t>......</a:t>
            </a:r>
          </a:p>
          <a:p>
            <a:pPr lvl="2" eaLnBrk="1" hangingPunct="1">
              <a:defRPr/>
            </a:pPr>
            <a:r>
              <a:rPr lang="zh-CN" altLang="en-GB" dirty="0"/>
              <a:t>这类错误可由编译程序发现。</a:t>
            </a:r>
            <a:endParaRPr lang="en-US" altLang="zh-CN" dirty="0"/>
          </a:p>
          <a:p>
            <a:pPr lvl="2" eaLnBrk="1" hangingPunct="1">
              <a:defRPr/>
            </a:pPr>
            <a:endParaRPr lang="zh-CN" altLang="en-GB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GB" dirty="0">
                <a:solidFill>
                  <a:schemeClr val="folHlink"/>
                </a:solidFill>
              </a:rPr>
              <a:t>逻辑错误</a:t>
            </a:r>
            <a:r>
              <a:rPr lang="zh-CN" altLang="en-GB" dirty="0"/>
              <a:t>（或</a:t>
            </a:r>
            <a:r>
              <a:rPr lang="zh-CN" altLang="en-GB" dirty="0">
                <a:solidFill>
                  <a:schemeClr val="folHlink"/>
                </a:solidFill>
              </a:rPr>
              <a:t>语义错误</a:t>
            </a:r>
            <a:r>
              <a:rPr lang="zh-CN" altLang="en-GB" dirty="0"/>
              <a:t>）</a:t>
            </a:r>
            <a:r>
              <a:rPr lang="zh-CN" altLang="en-US" dirty="0"/>
              <a:t>：</a:t>
            </a:r>
            <a:r>
              <a:rPr lang="zh-CN" altLang="en-GB" dirty="0"/>
              <a:t>指程序设计不当造成程序没有完成预期的功能。</a:t>
            </a:r>
            <a:endParaRPr lang="en-US" altLang="zh-CN" dirty="0"/>
          </a:p>
          <a:p>
            <a:pPr marL="914400" lvl="2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例如：</a:t>
            </a:r>
            <a:endParaRPr lang="en-US" altLang="zh-CN" dirty="0"/>
          </a:p>
          <a:p>
            <a:pPr lvl="2" eaLnBrk="1" hangingPunct="1">
              <a:defRPr/>
            </a:pPr>
            <a:r>
              <a:rPr lang="zh-CN" altLang="en-US" dirty="0"/>
              <a:t>把两个数相加写成了相乘</a:t>
            </a:r>
            <a:endParaRPr lang="en-US" altLang="zh-CN" dirty="0"/>
          </a:p>
          <a:p>
            <a:pPr lvl="2" eaLnBrk="1" hangingPunct="1">
              <a:defRPr/>
            </a:pPr>
            <a:r>
              <a:rPr lang="zh-CN" altLang="en-US" dirty="0"/>
              <a:t>排序功能未能正确排序</a:t>
            </a:r>
            <a:endParaRPr lang="en-US" altLang="zh-CN" dirty="0"/>
          </a:p>
          <a:p>
            <a:pPr lvl="2" eaLnBrk="1" hangingPunct="1">
              <a:defRPr/>
            </a:pPr>
            <a:r>
              <a:rPr lang="en-US" altLang="zh-CN" dirty="0"/>
              <a:t>......</a:t>
            </a:r>
          </a:p>
          <a:p>
            <a:pPr lvl="2" eaLnBrk="1" hangingPunct="1">
              <a:defRPr/>
            </a:pPr>
            <a:r>
              <a:rPr lang="zh-CN" altLang="en-GB" dirty="0"/>
              <a:t>这类错误</a:t>
            </a:r>
            <a:r>
              <a:rPr lang="zh-CN" altLang="en-US" dirty="0"/>
              <a:t>可</a:t>
            </a:r>
            <a:r>
              <a:rPr lang="zh-CN" altLang="en-GB" dirty="0"/>
              <a:t>通过</a:t>
            </a:r>
            <a:r>
              <a:rPr lang="zh-CN" altLang="en-US" dirty="0"/>
              <a:t>对程序进行静态分析和动态</a:t>
            </a:r>
            <a:r>
              <a:rPr lang="zh-CN" altLang="en-GB" dirty="0"/>
              <a:t>测试发现。</a:t>
            </a:r>
            <a:endParaRPr lang="en-US" altLang="zh-CN" dirty="0"/>
          </a:p>
          <a:p>
            <a:pPr lvl="2" eaLnBrk="1" hangingPunct="1">
              <a:defRPr/>
            </a:pPr>
            <a:endParaRPr lang="zh-CN" alt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F5ABA7-3593-B9B0-6D8D-81B6EE2BC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7688"/>
            <a:ext cx="8362950" cy="5976937"/>
          </a:xfrm>
        </p:spPr>
        <p:txBody>
          <a:bodyPr/>
          <a:lstStyle/>
          <a:p>
            <a:pPr lvl="1" eaLnBrk="1" hangingPunct="1">
              <a:defRPr/>
            </a:pPr>
            <a:r>
              <a:rPr lang="zh-CN" altLang="en-GB" dirty="0">
                <a:solidFill>
                  <a:schemeClr val="folHlink"/>
                </a:solidFill>
              </a:rPr>
              <a:t>运行异常</a:t>
            </a:r>
            <a:r>
              <a:rPr lang="zh-CN" altLang="en-US" dirty="0"/>
              <a:t>：</a:t>
            </a:r>
            <a:r>
              <a:rPr lang="zh-CN" altLang="en-GB" dirty="0"/>
              <a:t>指程序设计对程序运行环境考虑不周而造成的程序</a:t>
            </a:r>
            <a:r>
              <a:rPr lang="zh-CN" altLang="en-US" dirty="0"/>
              <a:t>运行错误。</a:t>
            </a:r>
            <a:endParaRPr lang="en-US" altLang="zh-CN" dirty="0"/>
          </a:p>
          <a:p>
            <a:pPr marL="914400" lvl="2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例</a:t>
            </a:r>
            <a:r>
              <a:rPr lang="zh-CN" altLang="en-GB" dirty="0"/>
              <a:t>如：</a:t>
            </a:r>
            <a:endParaRPr lang="en-US" altLang="zh-CN" dirty="0"/>
          </a:p>
          <a:p>
            <a:pPr lvl="2" eaLnBrk="1" hangingPunct="1">
              <a:defRPr/>
            </a:pPr>
            <a:r>
              <a:rPr lang="zh-CN" altLang="en-US" dirty="0"/>
              <a:t>对于“</a:t>
            </a:r>
            <a:r>
              <a:rPr lang="en-US" altLang="zh-CN" dirty="0"/>
              <a:t>x/y</a:t>
            </a:r>
            <a:r>
              <a:rPr lang="zh-CN" altLang="en-US" dirty="0"/>
              <a:t>”操作，给</a:t>
            </a:r>
            <a:r>
              <a:rPr lang="en-US" altLang="zh-CN" dirty="0"/>
              <a:t>y</a:t>
            </a:r>
            <a:r>
              <a:rPr lang="zh-CN" altLang="en-US" dirty="0"/>
              <a:t>输入了“零”</a:t>
            </a:r>
            <a:endParaRPr lang="en-US" altLang="zh-CN" dirty="0"/>
          </a:p>
          <a:p>
            <a:pPr lvl="2" eaLnBrk="1" hangingPunct="1">
              <a:defRPr/>
            </a:pPr>
            <a:r>
              <a:rPr lang="zh-CN" altLang="en-US" dirty="0"/>
              <a:t>由</a:t>
            </a:r>
            <a:r>
              <a:rPr lang="zh-CN" altLang="en-GB" dirty="0"/>
              <a:t>内存空间不足</a:t>
            </a:r>
            <a:r>
              <a:rPr lang="zh-CN" altLang="en-US" dirty="0"/>
              <a:t>导致的内存访问错误：</a:t>
            </a:r>
            <a:endParaRPr lang="en-US" altLang="zh-CN" dirty="0"/>
          </a:p>
          <a:p>
            <a:pPr marL="1371600" lvl="3" indent="0" eaLnBrk="1" hangingPunct="1">
              <a:buFontTx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*p=new </a:t>
            </a:r>
            <a:r>
              <a:rPr lang="en-US" altLang="zh-CN" dirty="0" err="1"/>
              <a:t>int</a:t>
            </a:r>
            <a:r>
              <a:rPr lang="en-US" altLang="zh-CN" dirty="0"/>
              <a:t>; //</a:t>
            </a:r>
            <a:r>
              <a:rPr lang="zh-CN" altLang="en-US" dirty="0"/>
              <a:t>动态分配空间，可能失败！</a:t>
            </a:r>
          </a:p>
          <a:p>
            <a:pPr lvl="2" eaLnBrk="1" hangingPunct="1">
              <a:defRPr/>
            </a:pPr>
            <a:r>
              <a:rPr lang="zh-CN" altLang="en-GB" dirty="0"/>
              <a:t>文件</a:t>
            </a:r>
            <a:r>
              <a:rPr lang="zh-CN" altLang="en-US" dirty="0"/>
              <a:t>打开错误</a:t>
            </a:r>
            <a:endParaRPr lang="en-US" altLang="zh-CN" dirty="0"/>
          </a:p>
          <a:p>
            <a:pPr lvl="2" eaLnBrk="1" hangingPunct="1">
              <a:defRPr/>
            </a:pPr>
            <a:r>
              <a:rPr lang="en-US" altLang="zh-CN" dirty="0"/>
              <a:t>......</a:t>
            </a:r>
            <a:r>
              <a:rPr lang="zh-CN" altLang="en-US" dirty="0"/>
              <a:t> 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6AB941-8F5E-386B-0B03-227614F71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437063"/>
            <a:ext cx="8229600" cy="256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zh-CN" altLang="en-GB" sz="2600" kern="0" dirty="0"/>
              <a:t>在正常的情况下，运行异常的错误不会出现。</a:t>
            </a:r>
          </a:p>
          <a:p>
            <a:pPr eaLnBrk="1" hangingPunct="1">
              <a:defRPr/>
            </a:pPr>
            <a:r>
              <a:rPr lang="zh-CN" altLang="en-GB" sz="2600" kern="0" dirty="0"/>
              <a:t>导致程序运行异常的情况</a:t>
            </a:r>
            <a:r>
              <a:rPr lang="zh-CN" altLang="en-GB" sz="2600" kern="0" dirty="0">
                <a:solidFill>
                  <a:schemeClr val="folHlink"/>
                </a:solidFill>
              </a:rPr>
              <a:t>可以预料</a:t>
            </a:r>
            <a:r>
              <a:rPr lang="zh-CN" altLang="en-GB" sz="2600" kern="0" dirty="0"/>
              <a:t>，</a:t>
            </a:r>
            <a:r>
              <a:rPr lang="zh-CN" altLang="en-US" sz="2600" kern="0" dirty="0"/>
              <a:t>但</a:t>
            </a:r>
            <a:r>
              <a:rPr lang="zh-CN" altLang="en-US" sz="2600" kern="0" dirty="0">
                <a:solidFill>
                  <a:schemeClr val="folHlink"/>
                </a:solidFill>
              </a:rPr>
              <a:t>无法避免</a:t>
            </a:r>
            <a:r>
              <a:rPr lang="zh-CN" altLang="en-US" sz="2600" kern="0" dirty="0"/>
              <a:t>。</a:t>
            </a:r>
          </a:p>
          <a:p>
            <a:pPr eaLnBrk="1" hangingPunct="1">
              <a:defRPr/>
            </a:pPr>
            <a:r>
              <a:rPr lang="zh-CN" altLang="en-GB" sz="2600" kern="0" dirty="0"/>
              <a:t>为了保证程序的</a:t>
            </a:r>
            <a:r>
              <a:rPr lang="zh-CN" altLang="en-GB" sz="2600" kern="0" dirty="0">
                <a:solidFill>
                  <a:schemeClr val="folHlink"/>
                </a:solidFill>
              </a:rPr>
              <a:t>鲁棒性</a:t>
            </a:r>
            <a:r>
              <a:rPr lang="zh-CN" altLang="en-US" sz="2600" kern="0" dirty="0"/>
              <a:t>（</a:t>
            </a:r>
            <a:r>
              <a:rPr lang="en-US" altLang="zh-CN" sz="2600" kern="0" dirty="0"/>
              <a:t>Robustness</a:t>
            </a:r>
            <a:r>
              <a:rPr lang="zh-CN" altLang="en-US" sz="2600" kern="0" dirty="0"/>
              <a:t>）</a:t>
            </a:r>
            <a:r>
              <a:rPr lang="zh-CN" altLang="en-GB" sz="2600" kern="0" dirty="0"/>
              <a:t>，必须在程序中对可能</a:t>
            </a:r>
            <a:r>
              <a:rPr lang="zh-CN" altLang="en-US" sz="2600" kern="0" dirty="0"/>
              <a:t>出现</a:t>
            </a:r>
            <a:r>
              <a:rPr lang="zh-CN" altLang="en-GB" sz="2600" kern="0" dirty="0"/>
              <a:t>的异常进行</a:t>
            </a:r>
            <a:r>
              <a:rPr lang="zh-CN" altLang="en-GB" sz="2600" kern="0" dirty="0">
                <a:solidFill>
                  <a:srgbClr val="FFC000"/>
                </a:solidFill>
              </a:rPr>
              <a:t>预见性处理</a:t>
            </a:r>
            <a:r>
              <a:rPr lang="zh-CN" altLang="en-GB" sz="2600" kern="0" dirty="0"/>
              <a:t>。</a:t>
            </a:r>
            <a:r>
              <a:rPr lang="zh-CN" altLang="en-US" sz="2600" kern="0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72A0266-F701-E046-1671-28F43F637C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229600" cy="611981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/>
              <a:t>例如，下面程序的鲁棒性不高！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GB" altLang="zh-CN" dirty="0"/>
              <a:t>void f(char *filename)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GB" altLang="zh-CN" dirty="0"/>
              <a:t>{	</a:t>
            </a:r>
            <a:r>
              <a:rPr lang="en-GB" altLang="zh-CN" dirty="0" err="1"/>
              <a:t>ifstream</a:t>
            </a:r>
            <a:r>
              <a:rPr lang="en-GB" altLang="zh-CN" dirty="0"/>
              <a:t> file(filename);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GB" altLang="zh-CN" dirty="0"/>
              <a:t>	</a:t>
            </a:r>
            <a:r>
              <a:rPr lang="en-GB" altLang="zh-CN" dirty="0" err="1"/>
              <a:t>int</a:t>
            </a:r>
            <a:r>
              <a:rPr lang="en-GB" altLang="zh-CN" dirty="0"/>
              <a:t> x;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GB" altLang="zh-CN" dirty="0"/>
              <a:t>	file &gt;&gt; x; //</a:t>
            </a:r>
            <a:r>
              <a:rPr lang="zh-CN" altLang="en-GB" dirty="0">
                <a:solidFill>
                  <a:srgbClr val="FFC000"/>
                </a:solidFill>
              </a:rPr>
              <a:t>如果</a:t>
            </a:r>
            <a:r>
              <a:rPr lang="zh-CN" altLang="en-US" dirty="0">
                <a:solidFill>
                  <a:srgbClr val="FFC000"/>
                </a:solidFill>
              </a:rPr>
              <a:t>打开</a:t>
            </a:r>
            <a:r>
              <a:rPr lang="en-GB" altLang="zh-CN" dirty="0">
                <a:solidFill>
                  <a:srgbClr val="FFC000"/>
                </a:solidFill>
              </a:rPr>
              <a:t>filename</a:t>
            </a:r>
            <a:r>
              <a:rPr lang="zh-CN" altLang="en-GB" dirty="0">
                <a:solidFill>
                  <a:srgbClr val="FFC000"/>
                </a:solidFill>
              </a:rPr>
              <a:t>指定的文件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zh-CN" altLang="en-GB" dirty="0"/>
              <a:t>			</a:t>
            </a:r>
            <a:r>
              <a:rPr lang="en-GB" altLang="zh-CN" dirty="0"/>
              <a:t>//</a:t>
            </a:r>
            <a:r>
              <a:rPr lang="zh-CN" altLang="en-US" dirty="0">
                <a:solidFill>
                  <a:srgbClr val="FFC000"/>
                </a:solidFill>
              </a:rPr>
              <a:t>失败，</a:t>
            </a:r>
            <a:r>
              <a:rPr lang="zh-CN" altLang="en-GB" dirty="0">
                <a:solidFill>
                  <a:srgbClr val="FFC000"/>
                </a:solidFill>
              </a:rPr>
              <a:t>将会出现运行异常</a:t>
            </a:r>
            <a:r>
              <a:rPr lang="zh-CN" altLang="en-US" dirty="0">
                <a:solidFill>
                  <a:srgbClr val="FFC000"/>
                </a:solidFill>
              </a:rPr>
              <a:t>错误</a:t>
            </a:r>
            <a:r>
              <a:rPr lang="en-GB" altLang="zh-CN" dirty="0">
                <a:solidFill>
                  <a:srgbClr val="FFC000"/>
                </a:solidFill>
              </a:rPr>
              <a:t>!</a:t>
            </a:r>
            <a:endParaRPr lang="zh-CN" altLang="en-GB" dirty="0">
              <a:solidFill>
                <a:srgbClr val="FFC000"/>
              </a:solidFill>
            </a:endParaRPr>
          </a:p>
          <a:p>
            <a:pPr marL="457200" lvl="1" indent="0" eaLnBrk="1" hangingPunct="1">
              <a:buFontTx/>
              <a:buNone/>
              <a:defRPr/>
            </a:pPr>
            <a:r>
              <a:rPr lang="zh-CN" altLang="en-GB" dirty="0"/>
              <a:t>	</a:t>
            </a:r>
            <a:r>
              <a:rPr lang="en-GB" altLang="zh-CN" dirty="0"/>
              <a:t>......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GB" altLang="zh-CN"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A15CFBC-760F-ABD1-296B-4576A36B5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异常处理的策略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FA15C09-C3D5-7EA4-1C58-3BD58C5BE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815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/>
              <a:t>就地处理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在发现异常错误的地方处理异常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异地处理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在其它地方（非异常发现地）处理异常</a:t>
            </a:r>
          </a:p>
          <a:p>
            <a:pPr eaLnBrk="1" hangingPunct="1"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1DBA832-7F27-FB66-B32F-469411EFFB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异常的就地处理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A7899CD-790A-8717-296C-52B7FF57CF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815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/>
              <a:t>常用做法是调用</a:t>
            </a:r>
            <a:r>
              <a:rPr lang="en-GB" altLang="zh-CN" dirty="0"/>
              <a:t>C++</a:t>
            </a:r>
            <a:r>
              <a:rPr lang="zh-CN" altLang="en-GB" dirty="0"/>
              <a:t>标准库中的函数</a:t>
            </a:r>
            <a:r>
              <a:rPr lang="en-GB" altLang="zh-CN" dirty="0"/>
              <a:t>exit</a:t>
            </a:r>
            <a:r>
              <a:rPr lang="zh-CN" altLang="en-GB" dirty="0"/>
              <a:t>或</a:t>
            </a:r>
            <a:r>
              <a:rPr lang="en-GB" altLang="zh-CN" dirty="0"/>
              <a:t>abort</a:t>
            </a:r>
            <a:r>
              <a:rPr lang="zh-CN" altLang="en-GB" dirty="0"/>
              <a:t>终止程序执行（在</a:t>
            </a:r>
            <a:r>
              <a:rPr lang="en-GB" altLang="zh-CN" dirty="0" err="1"/>
              <a:t>cstdlib</a:t>
            </a:r>
            <a:r>
              <a:rPr lang="zh-CN" altLang="en-GB" dirty="0"/>
              <a:t>或</a:t>
            </a:r>
            <a:r>
              <a:rPr lang="en-GB" altLang="zh-CN" dirty="0" err="1"/>
              <a:t>stdlib.h</a:t>
            </a:r>
            <a:r>
              <a:rPr lang="zh-CN" altLang="en-GB" dirty="0"/>
              <a:t>中声明）</a:t>
            </a:r>
            <a:endParaRPr lang="en-US" altLang="zh-CN" dirty="0"/>
          </a:p>
          <a:p>
            <a:pPr lvl="1" eaLnBrk="1" hangingPunct="1">
              <a:defRPr/>
            </a:pPr>
            <a:r>
              <a:rPr lang="en-US" altLang="zh-CN" dirty="0"/>
              <a:t>abort</a:t>
            </a:r>
            <a:r>
              <a:rPr lang="zh-CN" altLang="en-US" dirty="0"/>
              <a:t>立即终止程序的执行，不作任何的善后处理工作。</a:t>
            </a:r>
            <a:endParaRPr lang="en-US" altLang="zh-CN" dirty="0"/>
          </a:p>
          <a:p>
            <a:pPr lvl="1" eaLnBrk="1" hangingPunct="1">
              <a:defRPr/>
            </a:pPr>
            <a:r>
              <a:rPr lang="en-US" altLang="zh-CN" dirty="0"/>
              <a:t>exit</a:t>
            </a:r>
            <a:r>
              <a:rPr lang="zh-CN" altLang="en-US" dirty="0"/>
              <a:t>在终止程序的运行前，会做关闭被程序打开的文件、调用全局对象和</a:t>
            </a:r>
            <a:r>
              <a:rPr lang="en-US" altLang="zh-CN" dirty="0"/>
              <a:t>static</a:t>
            </a:r>
            <a:r>
              <a:rPr lang="zh-CN" altLang="en-US" dirty="0"/>
              <a:t>存储类的局部对象的析</a:t>
            </a:r>
            <a:r>
              <a:rPr lang="zh-CN" altLang="en-US"/>
              <a:t>构函数等</a:t>
            </a:r>
            <a:r>
              <a:rPr lang="zh-CN" altLang="en-US" dirty="0"/>
              <a:t>工作。</a:t>
            </a: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5A002F-5182-B9BF-7EE2-C2DB7829C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813"/>
            <a:ext cx="8229600" cy="5832475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zh-CN" altLang="en-US" dirty="0"/>
              <a:t>例如：</a:t>
            </a:r>
            <a:endParaRPr lang="en-US" altLang="zh-CN" dirty="0"/>
          </a:p>
          <a:p>
            <a:pPr lvl="1">
              <a:buFontTx/>
              <a:buNone/>
              <a:defRPr/>
            </a:pPr>
            <a:r>
              <a:rPr lang="en-US" altLang="zh-CN" dirty="0"/>
              <a:t>void f(char *filename)</a:t>
            </a:r>
          </a:p>
          <a:p>
            <a:pPr lvl="1">
              <a:buFontTx/>
              <a:buNone/>
              <a:defRPr/>
            </a:pPr>
            <a:r>
              <a:rPr lang="en-US" altLang="zh-CN" dirty="0"/>
              <a:t>{	</a:t>
            </a:r>
            <a:r>
              <a:rPr lang="en-GB" altLang="zh-CN" dirty="0" err="1"/>
              <a:t>ifstream</a:t>
            </a:r>
            <a:r>
              <a:rPr lang="en-GB" altLang="zh-CN" dirty="0"/>
              <a:t> file(filename);</a:t>
            </a:r>
            <a:endParaRPr lang="en-US" altLang="zh-CN" dirty="0"/>
          </a:p>
          <a:p>
            <a:pPr lvl="1">
              <a:buFontTx/>
              <a:buNone/>
              <a:defRPr/>
            </a:pPr>
            <a:r>
              <a:rPr lang="en-US" altLang="zh-CN" dirty="0"/>
              <a:t>	if (</a:t>
            </a:r>
            <a:r>
              <a:rPr lang="en-US" altLang="zh-CN" dirty="0" err="1"/>
              <a:t>file.fail</a:t>
            </a:r>
            <a:r>
              <a:rPr lang="en-US" altLang="zh-CN" dirty="0"/>
              <a:t>())</a:t>
            </a:r>
          </a:p>
          <a:p>
            <a:pPr lvl="1">
              <a:buFontTx/>
              <a:buNone/>
              <a:defRPr/>
            </a:pPr>
            <a:r>
              <a:rPr lang="en-US" altLang="zh-CN" dirty="0"/>
              <a:t>  {   </a:t>
            </a:r>
            <a:r>
              <a:rPr lang="en-US" altLang="zh-CN" dirty="0" err="1"/>
              <a:t>cerr</a:t>
            </a:r>
            <a:r>
              <a:rPr lang="en-US" altLang="zh-CN" dirty="0"/>
              <a:t> &lt;&lt; "</a:t>
            </a:r>
            <a:r>
              <a:rPr lang="zh-CN" altLang="en-US" dirty="0"/>
              <a:t>文件打开失败</a:t>
            </a:r>
            <a:r>
              <a:rPr lang="en-US" altLang="zh-CN" dirty="0"/>
              <a:t>\n";</a:t>
            </a:r>
          </a:p>
          <a:p>
            <a:pPr lvl="1">
              <a:buFontTx/>
              <a:buNone/>
              <a:defRPr/>
            </a:pPr>
            <a:r>
              <a:rPr lang="en-US" altLang="zh-CN" dirty="0"/>
              <a:t>	    </a:t>
            </a:r>
            <a:r>
              <a:rPr lang="en-US" altLang="zh-CN" dirty="0">
                <a:solidFill>
                  <a:srgbClr val="FFC000"/>
                </a:solidFill>
              </a:rPr>
              <a:t>exit(-1);	</a:t>
            </a:r>
          </a:p>
          <a:p>
            <a:pPr lvl="1">
              <a:buFontTx/>
              <a:buNone/>
              <a:defRPr/>
            </a:pPr>
            <a:r>
              <a:rPr lang="en-US" altLang="zh-CN" dirty="0"/>
              <a:t>  }</a:t>
            </a:r>
          </a:p>
          <a:p>
            <a:pPr lvl="1">
              <a:buFontTx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err="1"/>
              <a:t>int</a:t>
            </a:r>
            <a:r>
              <a:rPr lang="en-US" altLang="zh-CN" dirty="0"/>
              <a:t> x;</a:t>
            </a:r>
          </a:p>
          <a:p>
            <a:pPr lvl="1">
              <a:buFontTx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err="1"/>
              <a:t>cin</a:t>
            </a:r>
            <a:r>
              <a:rPr lang="en-US" altLang="zh-CN" dirty="0"/>
              <a:t> &gt;&gt; x;</a:t>
            </a:r>
          </a:p>
          <a:p>
            <a:pPr lvl="1">
              <a:buFontTx/>
              <a:buNone/>
              <a:defRPr/>
            </a:pPr>
            <a:r>
              <a:rPr lang="en-US" altLang="zh-CN" dirty="0"/>
              <a:t>  ......</a:t>
            </a:r>
          </a:p>
          <a:p>
            <a:pPr lvl="1">
              <a:buFontTx/>
              <a:buNone/>
              <a:defRPr/>
            </a:pPr>
            <a:r>
              <a:rPr lang="en-US" altLang="zh-CN" dirty="0"/>
              <a:t>}</a:t>
            </a:r>
          </a:p>
          <a:p>
            <a:pPr eaLnBrk="1" hangingPunct="1">
              <a:buClr>
                <a:srgbClr val="FFFFCC"/>
              </a:buClr>
              <a:defRPr/>
            </a:pPr>
            <a:r>
              <a:rPr lang="zh-CN" altLang="en-US" sz="3000" dirty="0">
                <a:solidFill>
                  <a:srgbClr val="FFFFFF"/>
                </a:solidFill>
              </a:rPr>
              <a:t>不管</a:t>
            </a:r>
            <a:r>
              <a:rPr lang="en-US" altLang="zh-CN" sz="3000" dirty="0">
                <a:solidFill>
                  <a:srgbClr val="FFFFFF"/>
                </a:solidFill>
              </a:rPr>
              <a:t>abort</a:t>
            </a:r>
            <a:r>
              <a:rPr lang="zh-CN" altLang="en-US" sz="3000" dirty="0">
                <a:solidFill>
                  <a:srgbClr val="FFFFFF"/>
                </a:solidFill>
              </a:rPr>
              <a:t>还是</a:t>
            </a:r>
            <a:r>
              <a:rPr lang="en-US" altLang="zh-CN" sz="3000" dirty="0">
                <a:solidFill>
                  <a:srgbClr val="FFFFFF"/>
                </a:solidFill>
              </a:rPr>
              <a:t>exit</a:t>
            </a:r>
            <a:r>
              <a:rPr lang="zh-CN" altLang="en-US" sz="3000" dirty="0">
                <a:solidFill>
                  <a:srgbClr val="FFFFFF"/>
                </a:solidFill>
              </a:rPr>
              <a:t>，都“</a:t>
            </a:r>
            <a:r>
              <a:rPr lang="en-US" altLang="zh-CN" sz="3000" dirty="0">
                <a:solidFill>
                  <a:srgbClr val="FFC000"/>
                </a:solidFill>
              </a:rPr>
              <a:t>not user-friendly</a:t>
            </a:r>
            <a:r>
              <a:rPr lang="zh-CN" altLang="en-US" sz="3000" dirty="0">
                <a:solidFill>
                  <a:srgbClr val="FFFFFF"/>
                </a:solidFill>
              </a:rPr>
              <a:t>”</a:t>
            </a:r>
            <a:endParaRPr lang="en-GB" altLang="zh-CN" sz="3000" dirty="0">
              <a:solidFill>
                <a:srgbClr val="FFFFFF"/>
              </a:solidFill>
            </a:endParaRPr>
          </a:p>
          <a:p>
            <a:pPr lvl="1">
              <a:buFontTx/>
              <a:buNone/>
              <a:defRPr/>
            </a:pP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B37A7C-59B7-509B-3A50-305D85D74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异常的异地处理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0F2AC8-7171-7CE6-A141-61FC5443C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5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/>
              <a:t>发现异常时，往往在异常的发现地（如在</a:t>
            </a:r>
            <a:r>
              <a:rPr lang="zh-CN" altLang="en-US" dirty="0">
                <a:solidFill>
                  <a:srgbClr val="FFC000"/>
                </a:solidFill>
              </a:rPr>
              <a:t>被调用的函数</a:t>
            </a:r>
            <a:r>
              <a:rPr lang="zh-CN" altLang="en-US" dirty="0"/>
              <a:t>中）不知道如何处理这个异常，或者不能很好地处理这个异常。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这时，可由程序的其它地方（如</a:t>
            </a:r>
            <a:r>
              <a:rPr lang="zh-CN" altLang="en-US" dirty="0">
                <a:solidFill>
                  <a:srgbClr val="FFC000"/>
                </a:solidFill>
              </a:rPr>
              <a:t>函数的调用者</a:t>
            </a:r>
            <a:r>
              <a:rPr lang="zh-CN" altLang="en-US" dirty="0"/>
              <a:t>）来处理。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例如，前面的函数</a:t>
            </a:r>
            <a:r>
              <a:rPr lang="en-US" altLang="zh-CN" dirty="0"/>
              <a:t>f</a:t>
            </a:r>
            <a:r>
              <a:rPr lang="zh-CN" altLang="en-US" dirty="0"/>
              <a:t>中打开文件失败，这时可以由函数</a:t>
            </a:r>
            <a:r>
              <a:rPr lang="en-US" altLang="zh-CN" dirty="0"/>
              <a:t>f</a:t>
            </a:r>
            <a:r>
              <a:rPr lang="zh-CN" altLang="en-US" dirty="0"/>
              <a:t>的调用者重新提供一个文件来解决。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如何实现异常的异地处理？</a:t>
            </a:r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4EA021-0F9E-1F4D-7D96-89172C424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49275"/>
            <a:ext cx="8578850" cy="604837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zh-CN" altLang="en-US" dirty="0"/>
              <a:t>一种解决途径：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通过函数的返回值，或指针</a:t>
            </a:r>
            <a:r>
              <a:rPr lang="en-US" altLang="zh-CN" dirty="0"/>
              <a:t>/</a:t>
            </a:r>
            <a:r>
              <a:rPr lang="zh-CN" altLang="en-US" dirty="0"/>
              <a:t>引用类型的参数，或全局变量把异常情况通知函数的调用者，由调用者处理异常。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例如：</a:t>
            </a:r>
            <a:endParaRPr lang="en-US" altLang="zh-CN" dirty="0"/>
          </a:p>
          <a:p>
            <a:pPr marL="400050" lvl="1" indent="0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dirty="0" err="1">
                <a:solidFill>
                  <a:srgbClr val="FFC000"/>
                </a:solidFill>
              </a:rPr>
              <a:t>int</a:t>
            </a:r>
            <a:r>
              <a:rPr lang="en-US" altLang="zh-CN" dirty="0"/>
              <a:t> f(char *filename)</a:t>
            </a:r>
          </a:p>
          <a:p>
            <a:pPr marL="400050" lvl="1" indent="0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ifstream</a:t>
            </a:r>
            <a:r>
              <a:rPr lang="en-US" altLang="zh-CN" dirty="0"/>
              <a:t> file(filename);</a:t>
            </a:r>
          </a:p>
          <a:p>
            <a:pPr marL="400050" lvl="1" indent="0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dirty="0"/>
              <a:t>   if (</a:t>
            </a:r>
            <a:r>
              <a:rPr lang="en-US" altLang="zh-CN" dirty="0" err="1"/>
              <a:t>file.fail</a:t>
            </a:r>
            <a:r>
              <a:rPr lang="en-US" altLang="zh-CN" dirty="0"/>
              <a:t>()) </a:t>
            </a:r>
          </a:p>
          <a:p>
            <a:pPr marL="400050" lvl="1" indent="0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dirty="0"/>
              <a:t>     return -1; //</a:t>
            </a:r>
            <a:r>
              <a:rPr lang="zh-CN" altLang="en-US" dirty="0">
                <a:solidFill>
                  <a:srgbClr val="FFC000"/>
                </a:solidFill>
              </a:rPr>
              <a:t>把错误情况告诉调用者</a:t>
            </a:r>
            <a:endParaRPr lang="en-US" altLang="zh-CN" dirty="0">
              <a:solidFill>
                <a:srgbClr val="FFC000"/>
              </a:solidFill>
            </a:endParaRPr>
          </a:p>
          <a:p>
            <a:pPr marL="400050" lvl="1" indent="0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x;</a:t>
            </a:r>
          </a:p>
          <a:p>
            <a:pPr marL="400050" lvl="1" indent="0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err="1"/>
              <a:t>cin</a:t>
            </a:r>
            <a:r>
              <a:rPr lang="en-US" altLang="zh-CN" dirty="0"/>
              <a:t> &gt;&gt; x;</a:t>
            </a:r>
            <a:r>
              <a:rPr lang="en-US" altLang="zh-CN" dirty="0">
                <a:solidFill>
                  <a:srgbClr val="FFC000"/>
                </a:solidFill>
              </a:rPr>
              <a:t>   </a:t>
            </a:r>
          </a:p>
          <a:p>
            <a:pPr marL="400050" lvl="1" indent="0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   </a:t>
            </a:r>
            <a:r>
              <a:rPr lang="en-US" altLang="zh-CN" dirty="0"/>
              <a:t>......</a:t>
            </a:r>
          </a:p>
          <a:p>
            <a:pPr marL="400050" lvl="1" indent="0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dirty="0"/>
              <a:t>   return 0;</a:t>
            </a:r>
          </a:p>
          <a:p>
            <a:pPr marL="400050" lvl="1" indent="0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dirty="0"/>
              <a:t>} 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47E144-D443-3D2C-1931-365553469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250"/>
            <a:ext cx="8229600" cy="5976938"/>
          </a:xfrm>
        </p:spPr>
        <p:txBody>
          <a:bodyPr>
            <a:normAutofit lnSpcReduction="10000"/>
          </a:bodyPr>
          <a:lstStyle/>
          <a:p>
            <a:pPr lvl="1">
              <a:buFontTx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lvl="1">
              <a:buFontTx/>
              <a:buNone/>
              <a:defRPr/>
            </a:pPr>
            <a:r>
              <a:rPr lang="en-US" altLang="zh-CN" dirty="0"/>
              <a:t>{  char </a:t>
            </a:r>
            <a:r>
              <a:rPr lang="en-US" altLang="zh-CN" dirty="0" err="1"/>
              <a:t>str</a:t>
            </a:r>
            <a:r>
              <a:rPr lang="en-US" altLang="zh-CN" dirty="0"/>
              <a:t>[100];</a:t>
            </a:r>
          </a:p>
          <a:p>
            <a:pPr lvl="1">
              <a:buFontTx/>
              <a:buNone/>
              <a:defRPr/>
            </a:pPr>
            <a:r>
              <a:rPr lang="en-US" altLang="zh-CN" dirty="0"/>
              <a:t>    ......</a:t>
            </a:r>
          </a:p>
          <a:p>
            <a:pPr lvl="1">
              <a:buFontTx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rc</a:t>
            </a:r>
            <a:r>
              <a:rPr lang="en-US" altLang="zh-CN" dirty="0"/>
              <a:t>=f(</a:t>
            </a:r>
            <a:r>
              <a:rPr lang="en-US" altLang="zh-CN" dirty="0" err="1"/>
              <a:t>str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>
              <a:buFontTx/>
              <a:buNone/>
              <a:defRPr/>
            </a:pPr>
            <a:r>
              <a:rPr lang="en-US" altLang="zh-CN" dirty="0"/>
              <a:t>    if (</a:t>
            </a:r>
            <a:r>
              <a:rPr lang="en-US" altLang="zh-CN" dirty="0" err="1"/>
              <a:t>rc</a:t>
            </a:r>
            <a:r>
              <a:rPr lang="en-US" altLang="zh-CN" dirty="0"/>
              <a:t>== -1)</a:t>
            </a:r>
          </a:p>
          <a:p>
            <a:pPr lvl="1">
              <a:buFontTx/>
              <a:buNone/>
              <a:defRPr/>
            </a:pPr>
            <a:r>
              <a:rPr lang="en-US" altLang="zh-CN" dirty="0"/>
              <a:t>    { ...... //</a:t>
            </a:r>
            <a:r>
              <a:rPr lang="zh-CN" altLang="en-US" dirty="0">
                <a:solidFill>
                  <a:srgbClr val="FFC000"/>
                </a:solidFill>
              </a:rPr>
              <a:t>处理异常</a:t>
            </a:r>
            <a:endParaRPr lang="en-US" altLang="zh-CN" dirty="0">
              <a:solidFill>
                <a:srgbClr val="FFC000"/>
              </a:solidFill>
            </a:endParaRPr>
          </a:p>
          <a:p>
            <a:pPr lvl="1">
              <a:buFontTx/>
              <a:buNone/>
              <a:defRPr/>
            </a:pPr>
            <a:r>
              <a:rPr lang="en-US" altLang="zh-CN" dirty="0"/>
              <a:t>    }</a:t>
            </a:r>
          </a:p>
          <a:p>
            <a:pPr lvl="1">
              <a:buFontTx/>
              <a:buNone/>
              <a:defRPr/>
            </a:pPr>
            <a:r>
              <a:rPr lang="en-US" altLang="zh-CN" dirty="0"/>
              <a:t>	 else</a:t>
            </a:r>
          </a:p>
          <a:p>
            <a:pPr lvl="1">
              <a:buFontTx/>
              <a:buNone/>
              <a:defRPr/>
            </a:pPr>
            <a:r>
              <a:rPr lang="en-US" altLang="zh-CN" dirty="0"/>
              <a:t>	 { ...... //</a:t>
            </a:r>
            <a:r>
              <a:rPr lang="zh-CN" altLang="en-US" dirty="0"/>
              <a:t>正常情况</a:t>
            </a:r>
            <a:endParaRPr lang="en-US" altLang="zh-CN" dirty="0"/>
          </a:p>
          <a:p>
            <a:pPr lvl="1">
              <a:buFontTx/>
              <a:buNone/>
              <a:defRPr/>
            </a:pPr>
            <a:r>
              <a:rPr lang="en-US" altLang="zh-CN" dirty="0"/>
              <a:t>	 }</a:t>
            </a:r>
          </a:p>
          <a:p>
            <a:pPr lvl="1">
              <a:buFontTx/>
              <a:buNone/>
              <a:defRPr/>
            </a:pPr>
            <a:r>
              <a:rPr lang="en-US" altLang="zh-CN" dirty="0"/>
              <a:t>    ......</a:t>
            </a:r>
          </a:p>
          <a:p>
            <a:pPr lvl="1">
              <a:buFontTx/>
              <a:buNone/>
              <a:defRPr/>
            </a:pPr>
            <a:r>
              <a:rPr lang="en-US" altLang="zh-CN" dirty="0"/>
              <a:t>}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DB7197-89DD-48E3-3ABF-D70929097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050"/>
            <a:ext cx="8229600" cy="522287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/>
              <a:t>该途径的不足：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通过函数的返回值返回异常情况会导致正常返回值和异常返回值</a:t>
            </a:r>
            <a:r>
              <a:rPr lang="zh-CN" altLang="en-US" dirty="0">
                <a:solidFill>
                  <a:srgbClr val="FFC000"/>
                </a:solidFill>
              </a:rPr>
              <a:t>交织在一起</a:t>
            </a:r>
            <a:r>
              <a:rPr lang="zh-CN" altLang="en-US" dirty="0"/>
              <a:t>，有时无法区分。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通过指针</a:t>
            </a:r>
            <a:r>
              <a:rPr lang="en-US" altLang="zh-CN" dirty="0"/>
              <a:t>/</a:t>
            </a:r>
            <a:r>
              <a:rPr lang="zh-CN" altLang="en-US" dirty="0"/>
              <a:t>引用类型的参数或全局变量返回异常情况，需要引入</a:t>
            </a:r>
            <a:r>
              <a:rPr lang="zh-CN" altLang="en-US" dirty="0">
                <a:solidFill>
                  <a:srgbClr val="FFC000"/>
                </a:solidFill>
              </a:rPr>
              <a:t>额外的</a:t>
            </a:r>
            <a:r>
              <a:rPr lang="zh-CN" altLang="en-US" dirty="0"/>
              <a:t>参数或变量，给函数的使用带来负担。</a:t>
            </a:r>
            <a:endParaRPr lang="en-US" altLang="zh-CN" dirty="0">
              <a:solidFill>
                <a:srgbClr val="FFC000"/>
              </a:solidFill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C000"/>
                </a:solidFill>
              </a:rPr>
              <a:t>程序的可读性差！</a:t>
            </a:r>
            <a:r>
              <a:rPr lang="zh-CN" altLang="en-US" dirty="0"/>
              <a:t>程序的正常处理代码与异常处理代码混杂在一起。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670F0-0818-7706-3DFD-5B2374F33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134907-6D25-D466-8D0B-E54964E05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另一种解决异常的异地处理途径：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通过语言提供的</a:t>
            </a:r>
            <a:r>
              <a:rPr lang="zh-CN" altLang="en-US" dirty="0">
                <a:solidFill>
                  <a:srgbClr val="FFC000"/>
                </a:solidFill>
              </a:rPr>
              <a:t>结构化异常处理机制</a:t>
            </a:r>
            <a:r>
              <a:rPr lang="zh-CN" altLang="en-US" dirty="0"/>
              <a:t>进行处理。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F7068A8-6A00-C06B-D7D4-FD6A5DED7C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C++</a:t>
            </a:r>
            <a:r>
              <a:rPr lang="zh-CN" altLang="en-US" dirty="0"/>
              <a:t>结构化异常处理机制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C2C7745-84FB-43BE-D7E9-A5A6AE148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47050" cy="5068888"/>
          </a:xfrm>
        </p:spPr>
        <p:txBody>
          <a:bodyPr/>
          <a:lstStyle/>
          <a:p>
            <a:pPr marL="363538" indent="-363538" eaLnBrk="1" hangingPunct="1">
              <a:defRPr/>
            </a:pPr>
            <a:r>
              <a:rPr lang="en-US" altLang="zh-CN" dirty="0"/>
              <a:t>t</a:t>
            </a:r>
            <a:r>
              <a:rPr lang="en-GB" altLang="zh-CN" dirty="0" err="1"/>
              <a:t>ry</a:t>
            </a:r>
            <a:r>
              <a:rPr lang="en-US" altLang="zh-CN" dirty="0"/>
              <a:t>: </a:t>
            </a:r>
            <a:r>
              <a:rPr lang="zh-CN" altLang="en-GB" dirty="0"/>
              <a:t>把有可能</a:t>
            </a:r>
            <a:r>
              <a:rPr lang="zh-CN" altLang="en-US" dirty="0">
                <a:solidFill>
                  <a:srgbClr val="FFC000"/>
                </a:solidFill>
              </a:rPr>
              <a:t>遭遇</a:t>
            </a:r>
            <a:r>
              <a:rPr lang="zh-CN" altLang="en-GB" dirty="0"/>
              <a:t>异常的</a:t>
            </a:r>
            <a:r>
              <a:rPr lang="zh-CN" altLang="en-US" dirty="0"/>
              <a:t>代码</a:t>
            </a:r>
            <a:r>
              <a:rPr lang="zh-CN" altLang="en-GB" dirty="0"/>
              <a:t>（语句或函数调用）</a:t>
            </a:r>
            <a:r>
              <a:rPr lang="zh-CN" altLang="en-US" dirty="0"/>
              <a:t>构成</a:t>
            </a:r>
            <a:r>
              <a:rPr lang="zh-CN" altLang="en-GB" dirty="0"/>
              <a:t>一个</a:t>
            </a:r>
            <a:r>
              <a:rPr lang="en-GB" altLang="zh-CN" dirty="0"/>
              <a:t>try</a:t>
            </a:r>
            <a:r>
              <a:rPr lang="zh-CN" altLang="en-GB" dirty="0"/>
              <a:t>语句块。</a:t>
            </a:r>
          </a:p>
          <a:p>
            <a:pPr marL="363538" indent="-363538" eaLnBrk="1" hangingPunct="1">
              <a:defRPr/>
            </a:pPr>
            <a:r>
              <a:rPr lang="en-US" altLang="zh-CN" dirty="0"/>
              <a:t>throw: </a:t>
            </a:r>
            <a:r>
              <a:rPr lang="zh-CN" altLang="en-GB" dirty="0"/>
              <a:t>如果</a:t>
            </a:r>
            <a:r>
              <a:rPr lang="en-GB" altLang="zh-CN" dirty="0"/>
              <a:t>try</a:t>
            </a:r>
            <a:r>
              <a:rPr lang="zh-CN" altLang="en-GB" dirty="0"/>
              <a:t>语句块中的</a:t>
            </a:r>
            <a:r>
              <a:rPr lang="zh-CN" altLang="en-US" dirty="0"/>
              <a:t>某部分代码</a:t>
            </a:r>
            <a:r>
              <a:rPr lang="zh-CN" altLang="en-GB" dirty="0"/>
              <a:t>在执行中发</a:t>
            </a:r>
            <a:r>
              <a:rPr lang="zh-CN" altLang="en-US" dirty="0"/>
              <a:t>生</a:t>
            </a:r>
            <a:r>
              <a:rPr lang="zh-CN" altLang="en-GB" dirty="0"/>
              <a:t>了异常，则</a:t>
            </a:r>
            <a:r>
              <a:rPr lang="zh-CN" altLang="en-US" dirty="0"/>
              <a:t>由</a:t>
            </a:r>
            <a:r>
              <a:rPr lang="en-GB" altLang="zh-CN" dirty="0"/>
              <a:t>throw</a:t>
            </a:r>
            <a:r>
              <a:rPr lang="zh-CN" altLang="en-GB" dirty="0"/>
              <a:t>语句</a:t>
            </a:r>
            <a:r>
              <a:rPr lang="zh-CN" altLang="en-GB" dirty="0">
                <a:solidFill>
                  <a:srgbClr val="FFC000"/>
                </a:solidFill>
              </a:rPr>
              <a:t>产生</a:t>
            </a:r>
            <a:r>
              <a:rPr lang="zh-CN" altLang="en-GB" dirty="0"/>
              <a:t>一个异常对象</a:t>
            </a:r>
            <a:r>
              <a:rPr lang="zh-CN" altLang="en-US" dirty="0"/>
              <a:t>，之后的操作不再进行</a:t>
            </a:r>
            <a:r>
              <a:rPr lang="zh-CN" altLang="en-GB" dirty="0"/>
              <a:t>。</a:t>
            </a:r>
          </a:p>
          <a:p>
            <a:pPr marL="363538" indent="-363538" eaLnBrk="1" hangingPunct="1">
              <a:defRPr/>
            </a:pPr>
            <a:r>
              <a:rPr lang="en-US" altLang="zh-CN" dirty="0"/>
              <a:t>catch: </a:t>
            </a:r>
            <a:r>
              <a:rPr lang="zh-CN" altLang="en-GB" dirty="0"/>
              <a:t>抛掷的异常对象通过</a:t>
            </a:r>
            <a:r>
              <a:rPr lang="en-GB" altLang="zh-CN" dirty="0"/>
              <a:t>catch</a:t>
            </a:r>
            <a:r>
              <a:rPr lang="zh-CN" altLang="en-GB" dirty="0"/>
              <a:t>语句块来</a:t>
            </a:r>
            <a:r>
              <a:rPr lang="zh-CN" altLang="en-GB" dirty="0">
                <a:solidFill>
                  <a:srgbClr val="FFC000"/>
                </a:solidFill>
              </a:rPr>
              <a:t>捕获</a:t>
            </a:r>
            <a:r>
              <a:rPr lang="zh-CN" altLang="en-GB" dirty="0"/>
              <a:t>并处理之。</a:t>
            </a:r>
            <a:r>
              <a:rPr lang="zh-CN" altLang="en-US" dirty="0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963746-D588-239A-2DD7-A123933FD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3375"/>
            <a:ext cx="8578850" cy="6335713"/>
          </a:xfrm>
        </p:spPr>
        <p:txBody>
          <a:bodyPr>
            <a:normAutofit fontScale="70000" lnSpcReduction="2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void f(char *filename)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</a:t>
            </a:r>
            <a:r>
              <a:rPr lang="en-US" altLang="zh-CN" dirty="0" err="1"/>
              <a:t>ifstream</a:t>
            </a:r>
            <a:r>
              <a:rPr lang="en-US" altLang="zh-CN" dirty="0"/>
              <a:t> file(filename);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if (</a:t>
            </a:r>
            <a:r>
              <a:rPr lang="en-US" altLang="zh-CN" dirty="0" err="1"/>
              <a:t>file.fail</a:t>
            </a:r>
            <a:r>
              <a:rPr lang="en-US" altLang="zh-CN" dirty="0"/>
              <a:t>())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en-US" altLang="zh-CN" dirty="0">
                <a:solidFill>
                  <a:srgbClr val="FFC000"/>
                </a:solidFill>
              </a:rPr>
              <a:t>throw </a:t>
            </a:r>
            <a:r>
              <a:rPr lang="en-US" altLang="zh-CN" dirty="0"/>
              <a:t>filename; //</a:t>
            </a:r>
            <a:r>
              <a:rPr lang="zh-CN" altLang="en-US" dirty="0">
                <a:solidFill>
                  <a:srgbClr val="FFC000"/>
                </a:solidFill>
              </a:rPr>
              <a:t>产生异常对象，报告错误情况</a:t>
            </a:r>
            <a:endParaRPr lang="en-US" altLang="zh-CN" dirty="0">
              <a:solidFill>
                <a:srgbClr val="FFC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x;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err="1"/>
              <a:t>cin</a:t>
            </a:r>
            <a:r>
              <a:rPr lang="en-US" altLang="zh-CN" dirty="0"/>
              <a:t> &gt;&gt; x;</a:t>
            </a:r>
            <a:endParaRPr lang="en-US" altLang="zh-CN" dirty="0">
              <a:solidFill>
                <a:srgbClr val="FFC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   </a:t>
            </a:r>
            <a:r>
              <a:rPr lang="en-US" altLang="zh-CN" dirty="0"/>
              <a:t>......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return 0;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{  char </a:t>
            </a:r>
            <a:r>
              <a:rPr lang="en-US" altLang="zh-CN" dirty="0" err="1"/>
              <a:t>str</a:t>
            </a:r>
            <a:r>
              <a:rPr lang="en-US" altLang="zh-CN" dirty="0"/>
              <a:t>[100];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......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FFC000"/>
                </a:solidFill>
              </a:rPr>
              <a:t>try</a:t>
            </a:r>
            <a:r>
              <a:rPr lang="en-US" altLang="zh-CN" dirty="0"/>
              <a:t> { f(</a:t>
            </a:r>
            <a:r>
              <a:rPr lang="en-US" altLang="zh-CN" dirty="0" err="1"/>
              <a:t>str</a:t>
            </a:r>
            <a:r>
              <a:rPr lang="en-US" altLang="zh-CN" dirty="0"/>
              <a:t>); }</a:t>
            </a:r>
            <a:endParaRPr lang="en-US" altLang="zh-CN" dirty="0">
              <a:solidFill>
                <a:srgbClr val="FFC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FFC000"/>
                </a:solidFill>
              </a:rPr>
              <a:t>catch</a:t>
            </a:r>
            <a:r>
              <a:rPr lang="en-US" altLang="zh-CN" dirty="0"/>
              <a:t> (char *</a:t>
            </a:r>
            <a:r>
              <a:rPr lang="en-US" altLang="zh-CN" dirty="0" err="1"/>
              <a:t>fn</a:t>
            </a:r>
            <a:r>
              <a:rPr lang="en-US" altLang="zh-CN" dirty="0"/>
              <a:t>) //</a:t>
            </a:r>
            <a:r>
              <a:rPr lang="zh-CN" altLang="en-US" dirty="0">
                <a:solidFill>
                  <a:srgbClr val="FFC000"/>
                </a:solidFill>
              </a:rPr>
              <a:t>捕获异常</a:t>
            </a:r>
            <a:endParaRPr lang="en-US" altLang="zh-CN" dirty="0">
              <a:solidFill>
                <a:srgbClr val="FFC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{ ...... //</a:t>
            </a:r>
            <a:r>
              <a:rPr lang="zh-CN" altLang="en-US" dirty="0"/>
              <a:t>处理异常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/>
              <a:t>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...... //</a:t>
            </a:r>
            <a:r>
              <a:rPr lang="zh-CN" altLang="en-US" dirty="0"/>
              <a:t>正常情况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B078340-83C9-1F9E-855B-4D1522FEB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try</a:t>
            </a:r>
            <a:r>
              <a:rPr lang="zh-CN" altLang="en-US"/>
              <a:t>语句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D534083-3B14-FE95-7FF8-BE2E41DAAD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472113"/>
          </a:xfrm>
        </p:spPr>
        <p:txBody>
          <a:bodyPr>
            <a:normAutofit/>
          </a:bodyPr>
          <a:lstStyle/>
          <a:p>
            <a:pPr marL="365125" indent="-365125" eaLnBrk="1" hangingPunct="1">
              <a:defRPr/>
            </a:pPr>
            <a:r>
              <a:rPr lang="en-GB" altLang="zh-CN" sz="2800" dirty="0"/>
              <a:t>try</a:t>
            </a:r>
            <a:r>
              <a:rPr lang="zh-CN" altLang="en-GB" sz="2800" dirty="0"/>
              <a:t>语句块的作用是</a:t>
            </a:r>
            <a:r>
              <a:rPr lang="zh-CN" altLang="en-GB" sz="2800" dirty="0">
                <a:solidFill>
                  <a:srgbClr val="FFC000"/>
                </a:solidFill>
              </a:rPr>
              <a:t>启动</a:t>
            </a:r>
            <a:r>
              <a:rPr lang="zh-CN" altLang="en-GB" sz="2800" dirty="0"/>
              <a:t>异常处理机制。格式为：</a:t>
            </a:r>
          </a:p>
          <a:p>
            <a:pPr marL="915988" lvl="1" eaLnBrk="1" hangingPunct="1">
              <a:buFontTx/>
              <a:buNone/>
              <a:defRPr/>
            </a:pPr>
            <a:r>
              <a:rPr lang="en-GB" altLang="zh-CN" sz="2400" dirty="0">
                <a:solidFill>
                  <a:srgbClr val="FFC000"/>
                </a:solidFill>
              </a:rPr>
              <a:t>try {</a:t>
            </a:r>
            <a:r>
              <a:rPr lang="en-GB" altLang="zh-CN" sz="2400" dirty="0"/>
              <a:t> &lt;</a:t>
            </a:r>
            <a:r>
              <a:rPr lang="zh-CN" altLang="en-GB" sz="2400" dirty="0"/>
              <a:t>语句序列</a:t>
            </a:r>
            <a:r>
              <a:rPr lang="en-GB" altLang="zh-CN" sz="2400" dirty="0"/>
              <a:t>&gt; </a:t>
            </a:r>
            <a:r>
              <a:rPr lang="en-GB" altLang="zh-CN" sz="2400" dirty="0">
                <a:solidFill>
                  <a:srgbClr val="FFC000"/>
                </a:solidFill>
              </a:rPr>
              <a:t>}</a:t>
            </a:r>
          </a:p>
          <a:p>
            <a:pPr marL="365125" indent="-365125" eaLnBrk="1" hangingPunct="1">
              <a:buFont typeface="Wingdings" panose="05000000000000000000" pitchFamily="2" charset="2"/>
              <a:buNone/>
              <a:defRPr/>
            </a:pPr>
            <a:endParaRPr lang="en-GB" altLang="zh-CN" sz="2800" dirty="0"/>
          </a:p>
          <a:p>
            <a:pPr marL="365125" indent="-365125" eaLnBrk="1" hangingPunct="1">
              <a:defRPr/>
            </a:pPr>
            <a:r>
              <a:rPr lang="zh-CN" altLang="en-GB" sz="2800" dirty="0"/>
              <a:t>上述的</a:t>
            </a:r>
            <a:r>
              <a:rPr lang="en-GB" altLang="zh-CN" sz="2800" dirty="0"/>
              <a:t>&lt;</a:t>
            </a:r>
            <a:r>
              <a:rPr lang="zh-CN" altLang="en-GB" sz="2800" dirty="0"/>
              <a:t>语句序列</a:t>
            </a:r>
            <a:r>
              <a:rPr lang="en-GB" altLang="zh-CN" sz="2800" dirty="0"/>
              <a:t>&gt;</a:t>
            </a:r>
            <a:r>
              <a:rPr lang="zh-CN" altLang="en-GB" sz="2800" dirty="0"/>
              <a:t>中可以有函数调用。例如，</a:t>
            </a:r>
            <a:endParaRPr lang="en-US" altLang="zh-CN" sz="2800" dirty="0"/>
          </a:p>
          <a:p>
            <a:pPr marL="400050" lvl="1" indent="0" eaLnBrk="1" hangingPunct="1">
              <a:buFontTx/>
              <a:buNone/>
              <a:defRPr/>
            </a:pPr>
            <a:r>
              <a:rPr lang="en-US" altLang="zh-CN" sz="2400" dirty="0"/>
              <a:t>  ......</a:t>
            </a:r>
            <a:endParaRPr lang="zh-CN" altLang="en-GB" sz="2400" dirty="0"/>
          </a:p>
          <a:p>
            <a:pPr marL="915988" lvl="1" eaLnBrk="1" hangingPunct="1">
              <a:buFontTx/>
              <a:buNone/>
              <a:defRPr/>
            </a:pPr>
            <a:r>
              <a:rPr lang="en-GB" altLang="zh-CN" sz="2400" dirty="0"/>
              <a:t>try { f(</a:t>
            </a:r>
            <a:r>
              <a:rPr lang="en-GB" altLang="zh-CN" sz="2400" dirty="0" err="1"/>
              <a:t>str</a:t>
            </a:r>
            <a:r>
              <a:rPr lang="en-GB" altLang="zh-CN" sz="2400" dirty="0"/>
              <a:t>); }</a:t>
            </a:r>
          </a:p>
          <a:p>
            <a:pPr marL="915988" lvl="1" eaLnBrk="1" hangingPunct="1">
              <a:buFontTx/>
              <a:buNone/>
              <a:defRPr/>
            </a:pPr>
            <a:r>
              <a:rPr lang="en-GB" altLang="zh-CN" sz="2400" dirty="0"/>
              <a:t>......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BB1C7EA-D2D7-1CC7-327C-47D01F4C42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9239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throw</a:t>
            </a:r>
            <a:r>
              <a:rPr lang="zh-CN" altLang="en-US"/>
              <a:t>语句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4ABB21A-2A02-6840-8E43-9B65EC8C08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125538"/>
            <a:ext cx="8748713" cy="5472112"/>
          </a:xfrm>
        </p:spPr>
        <p:txBody>
          <a:bodyPr>
            <a:normAutofit fontScale="92500" lnSpcReduction="20000"/>
          </a:bodyPr>
          <a:lstStyle/>
          <a:p>
            <a:pPr marL="365125" indent="-365125" eaLnBrk="1" hangingPunct="1">
              <a:lnSpc>
                <a:spcPct val="110000"/>
              </a:lnSpc>
              <a:defRPr/>
            </a:pPr>
            <a:r>
              <a:rPr lang="en-GB" altLang="zh-CN" sz="2800" dirty="0"/>
              <a:t>throw</a:t>
            </a:r>
            <a:r>
              <a:rPr lang="zh-CN" altLang="en-GB" sz="2800" dirty="0"/>
              <a:t>语句用于在发现异常情况时抛掷（</a:t>
            </a:r>
            <a:r>
              <a:rPr lang="zh-CN" altLang="en-GB" sz="2800" dirty="0">
                <a:solidFill>
                  <a:srgbClr val="FFC000"/>
                </a:solidFill>
              </a:rPr>
              <a:t>产生</a:t>
            </a:r>
            <a:r>
              <a:rPr lang="zh-CN" altLang="en-GB" sz="2800" dirty="0"/>
              <a:t>）异常对象。</a:t>
            </a:r>
            <a:r>
              <a:rPr lang="zh-CN" altLang="en-US" sz="2800" dirty="0"/>
              <a:t>格式为：</a:t>
            </a:r>
            <a:endParaRPr lang="zh-CN" altLang="en-GB" sz="2800" dirty="0"/>
          </a:p>
          <a:p>
            <a:pPr marL="365125" indent="-365125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   		</a:t>
            </a:r>
            <a:r>
              <a:rPr lang="en-GB" altLang="zh-CN" sz="2400" dirty="0">
                <a:solidFill>
                  <a:srgbClr val="FFC000"/>
                </a:solidFill>
              </a:rPr>
              <a:t>throw</a:t>
            </a:r>
            <a:r>
              <a:rPr lang="en-GB" altLang="zh-CN" sz="2400" dirty="0"/>
              <a:t> &lt;</a:t>
            </a:r>
            <a:r>
              <a:rPr lang="zh-CN" altLang="en-GB" sz="2400" dirty="0"/>
              <a:t>表达式</a:t>
            </a:r>
            <a:r>
              <a:rPr lang="en-GB" altLang="zh-CN" sz="2400" dirty="0"/>
              <a:t>&gt;</a:t>
            </a:r>
            <a:r>
              <a:rPr lang="en-GB" altLang="zh-CN" sz="2400" dirty="0">
                <a:solidFill>
                  <a:srgbClr val="FFC000"/>
                </a:solidFill>
              </a:rPr>
              <a:t>;</a:t>
            </a:r>
          </a:p>
          <a:p>
            <a:pPr marL="830263" lvl="1" eaLnBrk="1" hangingPunct="1">
              <a:lnSpc>
                <a:spcPct val="110000"/>
              </a:lnSpc>
              <a:defRPr/>
            </a:pPr>
            <a:r>
              <a:rPr lang="en-GB" altLang="zh-CN" sz="2000" dirty="0"/>
              <a:t>&lt;</a:t>
            </a:r>
            <a:r>
              <a:rPr lang="zh-CN" altLang="en-GB" sz="2000" dirty="0"/>
              <a:t>表达式</a:t>
            </a:r>
            <a:r>
              <a:rPr lang="en-GB" altLang="zh-CN" sz="2000" dirty="0"/>
              <a:t>&gt;</a:t>
            </a:r>
            <a:r>
              <a:rPr lang="zh-CN" altLang="en-GB" sz="2000" dirty="0"/>
              <a:t>为任意类型的</a:t>
            </a:r>
            <a:r>
              <a:rPr lang="en-GB" altLang="zh-CN" sz="2000" dirty="0"/>
              <a:t>C++</a:t>
            </a:r>
            <a:r>
              <a:rPr lang="zh-CN" altLang="en-GB" sz="2000" dirty="0"/>
              <a:t>表达式（</a:t>
            </a:r>
            <a:r>
              <a:rPr lang="en-GB" altLang="zh-CN" sz="2000" dirty="0"/>
              <a:t>void</a:t>
            </a:r>
            <a:r>
              <a:rPr lang="zh-CN" altLang="en-GB" sz="2000" dirty="0"/>
              <a:t>除外）。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GB" sz="2400" dirty="0"/>
              <a:t>例如</a:t>
            </a:r>
            <a:r>
              <a:rPr lang="en-GB" altLang="zh-CN" sz="2400" dirty="0"/>
              <a:t>: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void f(char *filename)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{ </a:t>
            </a:r>
            <a:r>
              <a:rPr lang="en-GB" altLang="zh-CN" sz="2400" dirty="0" err="1"/>
              <a:t>ifstream</a:t>
            </a:r>
            <a:r>
              <a:rPr lang="en-GB" altLang="zh-CN" sz="2400" dirty="0"/>
              <a:t> file(filename);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  if (</a:t>
            </a:r>
            <a:r>
              <a:rPr lang="en-GB" altLang="zh-CN" sz="2400" dirty="0" err="1"/>
              <a:t>file.fail</a:t>
            </a:r>
            <a:r>
              <a:rPr lang="en-GB" altLang="zh-CN" sz="2400" dirty="0"/>
              <a:t>())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  { </a:t>
            </a:r>
            <a:r>
              <a:rPr lang="en-GB" altLang="zh-CN" sz="2400" dirty="0">
                <a:solidFill>
                  <a:srgbClr val="FFC000"/>
                </a:solidFill>
              </a:rPr>
              <a:t>throw</a:t>
            </a:r>
            <a:r>
              <a:rPr lang="en-GB" altLang="zh-CN" sz="2400" dirty="0"/>
              <a:t> filename; //</a:t>
            </a:r>
            <a:r>
              <a:rPr lang="zh-CN" altLang="en-GB" sz="2400" dirty="0"/>
              <a:t>产生异常对象</a:t>
            </a:r>
            <a:r>
              <a:rPr lang="zh-CN" altLang="en-US" sz="2400" dirty="0"/>
              <a:t>（一个字符串指针）</a:t>
            </a:r>
            <a:endParaRPr lang="zh-CN" altLang="en-GB" sz="2400" dirty="0"/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GB" sz="2400" dirty="0"/>
              <a:t>  </a:t>
            </a:r>
            <a:r>
              <a:rPr lang="en-GB" altLang="zh-CN" sz="2400" dirty="0"/>
              <a:t>}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  ......</a:t>
            </a:r>
          </a:p>
          <a:p>
            <a:pPr marL="8302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/>
              <a:t>}</a:t>
            </a:r>
            <a:endParaRPr lang="en-US" altLang="zh-CN" sz="2400" dirty="0"/>
          </a:p>
          <a:p>
            <a:pPr marL="365125" indent="-365125" eaLnBrk="1" hangingPunct="1">
              <a:lnSpc>
                <a:spcPct val="110000"/>
              </a:lnSpc>
              <a:defRPr/>
            </a:pPr>
            <a:r>
              <a:rPr lang="zh-CN" altLang="en-GB" sz="2800" dirty="0"/>
              <a:t>执行</a:t>
            </a:r>
            <a:r>
              <a:rPr lang="en-GB" altLang="zh-CN" sz="2800" dirty="0"/>
              <a:t>throw</a:t>
            </a:r>
            <a:r>
              <a:rPr lang="zh-CN" altLang="en-GB" sz="2800" dirty="0"/>
              <a:t>语句后，接在其后的语句将不再继续执行，而是转向异常处理（由某个</a:t>
            </a:r>
            <a:r>
              <a:rPr lang="en-GB" altLang="zh-CN" sz="2800" dirty="0"/>
              <a:t>catch</a:t>
            </a:r>
            <a:r>
              <a:rPr lang="zh-CN" altLang="en-GB" sz="2800" dirty="0"/>
              <a:t>语句给出）。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5DB0709-BCD0-519D-07CB-54E8A68708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9239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catch</a:t>
            </a:r>
            <a:r>
              <a:rPr lang="zh-CN" altLang="en-US"/>
              <a:t>语句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EC5C35A-AC80-92AE-BB76-5A09979307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5900" y="1125538"/>
            <a:ext cx="8820150" cy="5327650"/>
          </a:xfrm>
        </p:spPr>
        <p:txBody>
          <a:bodyPr>
            <a:normAutofit/>
          </a:bodyPr>
          <a:lstStyle/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en-GB" altLang="zh-CN" dirty="0"/>
              <a:t>catch</a:t>
            </a:r>
            <a:r>
              <a:rPr lang="zh-CN" altLang="en-GB" dirty="0"/>
              <a:t>语句块捕获</a:t>
            </a:r>
            <a:r>
              <a:rPr lang="en-GB" altLang="zh-CN" dirty="0"/>
              <a:t>throw</a:t>
            </a:r>
            <a:r>
              <a:rPr lang="zh-CN" altLang="en-GB" dirty="0"/>
              <a:t>抛掷的异常对象并处理相应的异常。</a:t>
            </a:r>
            <a:r>
              <a:rPr lang="zh-CN" altLang="en-US" dirty="0"/>
              <a:t>格式为：</a:t>
            </a:r>
            <a:endParaRPr lang="zh-CN" altLang="en-GB" dirty="0"/>
          </a:p>
          <a:p>
            <a:pPr marL="1008063" lvl="1" eaLnBrk="1" hangingPunct="1">
              <a:lnSpc>
                <a:spcPct val="120000"/>
              </a:lnSpc>
              <a:buFontTx/>
              <a:buNone/>
              <a:defRPr/>
            </a:pPr>
            <a:r>
              <a:rPr lang="en-GB" altLang="zh-CN" dirty="0"/>
              <a:t>  </a:t>
            </a:r>
            <a:r>
              <a:rPr lang="en-GB" altLang="zh-CN" dirty="0">
                <a:solidFill>
                  <a:srgbClr val="FFC000"/>
                </a:solidFill>
              </a:rPr>
              <a:t>catch (</a:t>
            </a:r>
            <a:r>
              <a:rPr lang="en-GB" altLang="zh-CN" dirty="0"/>
              <a:t>&lt;</a:t>
            </a:r>
            <a:r>
              <a:rPr lang="zh-CN" altLang="en-GB" dirty="0"/>
              <a:t>类型</a:t>
            </a:r>
            <a:r>
              <a:rPr lang="en-GB" altLang="zh-CN" dirty="0"/>
              <a:t>&gt; [&lt;</a:t>
            </a:r>
            <a:r>
              <a:rPr lang="zh-CN" altLang="en-GB" dirty="0"/>
              <a:t>变量</a:t>
            </a:r>
            <a:r>
              <a:rPr lang="en-GB" altLang="zh-CN" dirty="0"/>
              <a:t>&gt;]</a:t>
            </a:r>
            <a:r>
              <a:rPr lang="en-GB" altLang="zh-CN" dirty="0">
                <a:solidFill>
                  <a:srgbClr val="FFC000"/>
                </a:solidFill>
              </a:rPr>
              <a:t>)</a:t>
            </a:r>
            <a:r>
              <a:rPr lang="en-GB" altLang="zh-CN" dirty="0"/>
              <a:t>  </a:t>
            </a:r>
            <a:r>
              <a:rPr lang="en-GB" altLang="zh-CN" dirty="0">
                <a:solidFill>
                  <a:srgbClr val="FFC000"/>
                </a:solidFill>
              </a:rPr>
              <a:t>{</a:t>
            </a:r>
            <a:r>
              <a:rPr lang="en-GB" altLang="zh-CN" dirty="0"/>
              <a:t> </a:t>
            </a:r>
            <a:r>
              <a:rPr lang="en-US" altLang="zh-CN" dirty="0"/>
              <a:t>&lt;</a:t>
            </a:r>
            <a:r>
              <a:rPr lang="zh-CN" altLang="en-US" dirty="0"/>
              <a:t>语句序列</a:t>
            </a:r>
            <a:r>
              <a:rPr lang="en-US" altLang="zh-CN" dirty="0"/>
              <a:t>&gt;</a:t>
            </a:r>
            <a:r>
              <a:rPr lang="en-GB" altLang="zh-CN" dirty="0"/>
              <a:t> </a:t>
            </a:r>
            <a:r>
              <a:rPr lang="en-GB" altLang="zh-CN" dirty="0">
                <a:solidFill>
                  <a:srgbClr val="FFC000"/>
                </a:solidFill>
              </a:rPr>
              <a:t>}</a:t>
            </a:r>
            <a:endParaRPr lang="zh-CN" altLang="en-GB" dirty="0">
              <a:solidFill>
                <a:srgbClr val="FFC000"/>
              </a:solidFill>
            </a:endParaRPr>
          </a:p>
          <a:p>
            <a:pPr marL="1008063" lvl="1" eaLnBrk="1" hangingPunct="1">
              <a:lnSpc>
                <a:spcPct val="120000"/>
              </a:lnSpc>
              <a:defRPr/>
            </a:pPr>
            <a:r>
              <a:rPr lang="en-GB" altLang="zh-CN" dirty="0"/>
              <a:t>&lt;</a:t>
            </a:r>
            <a:r>
              <a:rPr lang="zh-CN" altLang="en-GB" dirty="0"/>
              <a:t>类型</a:t>
            </a:r>
            <a:r>
              <a:rPr lang="en-GB" altLang="zh-CN" dirty="0"/>
              <a:t>&gt;</a:t>
            </a:r>
            <a:r>
              <a:rPr lang="zh-CN" altLang="en-GB" dirty="0"/>
              <a:t>用于指出捕获何种异常对象，它与</a:t>
            </a:r>
            <a:r>
              <a:rPr lang="en-US" altLang="zh-CN" dirty="0"/>
              <a:t>throw</a:t>
            </a:r>
            <a:r>
              <a:rPr lang="zh-CN" altLang="en-US" dirty="0"/>
              <a:t>所产生的</a:t>
            </a:r>
            <a:r>
              <a:rPr lang="zh-CN" altLang="en-GB" dirty="0"/>
              <a:t>异常对象</a:t>
            </a:r>
            <a:r>
              <a:rPr lang="zh-CN" altLang="en-US" dirty="0"/>
              <a:t>进行</a:t>
            </a:r>
            <a:r>
              <a:rPr lang="zh-CN" altLang="en-GB" dirty="0"/>
              <a:t>类型匹配</a:t>
            </a:r>
            <a:r>
              <a:rPr lang="zh-CN" altLang="en-US" dirty="0"/>
              <a:t>。</a:t>
            </a:r>
            <a:endParaRPr lang="zh-CN" altLang="en-GB" dirty="0"/>
          </a:p>
          <a:p>
            <a:pPr marL="1008063" lvl="1" eaLnBrk="1" hangingPunct="1">
              <a:lnSpc>
                <a:spcPct val="120000"/>
              </a:lnSpc>
              <a:defRPr/>
            </a:pPr>
            <a:r>
              <a:rPr lang="en-GB" altLang="zh-CN" dirty="0"/>
              <a:t>&lt;</a:t>
            </a:r>
            <a:r>
              <a:rPr lang="zh-CN" altLang="en-GB" dirty="0"/>
              <a:t>变量</a:t>
            </a:r>
            <a:r>
              <a:rPr lang="en-GB" altLang="zh-CN" dirty="0"/>
              <a:t>&gt;</a:t>
            </a:r>
            <a:r>
              <a:rPr lang="zh-CN" altLang="en-GB" dirty="0"/>
              <a:t>用于存储</a:t>
            </a:r>
            <a:r>
              <a:rPr lang="zh-CN" altLang="en-US" dirty="0"/>
              <a:t>捕获到的</a:t>
            </a:r>
            <a:r>
              <a:rPr lang="zh-CN" altLang="en-GB" dirty="0"/>
              <a:t>异常对象，它可以缺省。</a:t>
            </a:r>
          </a:p>
          <a:p>
            <a:pPr marL="357188" indent="-357188" eaLnBrk="1" hangingPunct="1">
              <a:lnSpc>
                <a:spcPct val="120000"/>
              </a:lnSpc>
              <a:defRPr/>
            </a:pPr>
            <a:r>
              <a:rPr lang="en-GB" altLang="zh-CN" dirty="0"/>
              <a:t>catch</a:t>
            </a:r>
            <a:r>
              <a:rPr lang="zh-CN" altLang="en-GB" dirty="0"/>
              <a:t>语句块要紧接在某个</a:t>
            </a:r>
            <a:r>
              <a:rPr lang="en-US" altLang="zh-CN" dirty="0"/>
              <a:t>try</a:t>
            </a:r>
            <a:r>
              <a:rPr lang="zh-CN" altLang="en-US" dirty="0"/>
              <a:t>语句的后面。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A7BF1CB4-A275-0EB4-8CC5-43E1577C86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260350"/>
            <a:ext cx="9144000" cy="6408738"/>
          </a:xfrm>
        </p:spPr>
        <p:txBody>
          <a:bodyPr/>
          <a:lstStyle/>
          <a:p>
            <a:pPr marL="365125" indent="-365125" eaLnBrk="1" hangingPunct="1">
              <a:defRPr/>
            </a:pPr>
            <a:r>
              <a:rPr lang="zh-CN" altLang="en-US" sz="2800" dirty="0"/>
              <a:t>例如：</a:t>
            </a:r>
            <a:endParaRPr lang="zh-CN" altLang="en-GB" sz="2800" dirty="0"/>
          </a:p>
          <a:p>
            <a:pPr marL="830263" lvl="1" eaLnBrk="1" hangingPunct="1">
              <a:buFontTx/>
              <a:buNone/>
              <a:defRPr/>
            </a:pPr>
            <a:r>
              <a:rPr lang="en-GB" altLang="zh-CN" sz="2400" dirty="0"/>
              <a:t>char filename[100];</a:t>
            </a:r>
          </a:p>
          <a:p>
            <a:pPr marL="830263" lvl="1" eaLnBrk="1" hangingPunct="1">
              <a:buFontTx/>
              <a:buNone/>
              <a:defRPr/>
            </a:pPr>
            <a:r>
              <a:rPr lang="en-GB" altLang="zh-CN" sz="2400" dirty="0" err="1"/>
              <a:t>cout</a:t>
            </a:r>
            <a:r>
              <a:rPr lang="en-GB" altLang="zh-CN" sz="2400" dirty="0"/>
              <a:t> &lt;&lt; </a:t>
            </a:r>
            <a:r>
              <a:rPr lang="en-GB" altLang="zh-CN" sz="2400" dirty="0">
                <a:latin typeface="Arial"/>
              </a:rPr>
              <a:t>“</a:t>
            </a:r>
            <a:r>
              <a:rPr lang="zh-CN" altLang="en-GB" sz="2400" dirty="0"/>
              <a:t>请输入文件名：</a:t>
            </a:r>
            <a:r>
              <a:rPr lang="zh-CN" altLang="en-GB" sz="2400" dirty="0">
                <a:latin typeface="Arial"/>
              </a:rPr>
              <a:t>”</a:t>
            </a:r>
            <a:r>
              <a:rPr lang="zh-CN" altLang="en-GB" sz="2400" dirty="0"/>
              <a:t> </a:t>
            </a:r>
            <a:r>
              <a:rPr lang="en-GB" altLang="zh-CN" sz="2400" dirty="0"/>
              <a:t>&lt;&lt; </a:t>
            </a:r>
            <a:r>
              <a:rPr lang="en-GB" altLang="zh-CN" sz="2400" dirty="0" err="1"/>
              <a:t>endl</a:t>
            </a:r>
            <a:r>
              <a:rPr lang="en-GB" altLang="zh-CN" sz="2400" dirty="0"/>
              <a:t>;</a:t>
            </a:r>
          </a:p>
          <a:p>
            <a:pPr marL="830263" lvl="1" eaLnBrk="1" hangingPunct="1">
              <a:buFontTx/>
              <a:buNone/>
              <a:defRPr/>
            </a:pPr>
            <a:r>
              <a:rPr lang="en-GB" altLang="zh-CN" sz="2400" dirty="0" err="1"/>
              <a:t>cin</a:t>
            </a:r>
            <a:r>
              <a:rPr lang="en-GB" altLang="zh-CN" sz="2400" dirty="0"/>
              <a:t> &gt;&gt; filename;</a:t>
            </a:r>
          </a:p>
          <a:p>
            <a:pPr marL="830263" lvl="1" eaLnBrk="1" hangingPunct="1">
              <a:buFontTx/>
              <a:buNone/>
              <a:defRPr/>
            </a:pPr>
            <a:r>
              <a:rPr lang="en-GB" altLang="zh-CN" sz="2400" dirty="0"/>
              <a:t>try</a:t>
            </a:r>
          </a:p>
          <a:p>
            <a:pPr marL="830263" lvl="1" eaLnBrk="1" hangingPunct="1">
              <a:buFontTx/>
              <a:buNone/>
              <a:defRPr/>
            </a:pPr>
            <a:r>
              <a:rPr lang="en-GB" altLang="zh-CN" sz="2400" dirty="0"/>
              <a:t>{	f(filename);//</a:t>
            </a:r>
            <a:r>
              <a:rPr lang="zh-CN" altLang="en-US" sz="2400" dirty="0"/>
              <a:t>如果在函数</a:t>
            </a:r>
            <a:r>
              <a:rPr lang="en-US" altLang="zh-CN" sz="2400" dirty="0"/>
              <a:t>f</a:t>
            </a:r>
            <a:r>
              <a:rPr lang="zh-CN" altLang="en-US" sz="2400" dirty="0"/>
              <a:t>中抛掷了</a:t>
            </a:r>
            <a:r>
              <a:rPr lang="en-US" altLang="zh-CN" sz="2400" dirty="0"/>
              <a:t>char *</a:t>
            </a:r>
            <a:r>
              <a:rPr lang="zh-CN" altLang="en-US" sz="2400" dirty="0"/>
              <a:t>类型的异常，</a:t>
            </a:r>
          </a:p>
          <a:p>
            <a:pPr marL="830263" lvl="1" eaLnBrk="1" hangingPunct="1">
              <a:buFontTx/>
              <a:buNone/>
              <a:defRPr/>
            </a:pPr>
            <a:r>
              <a:rPr lang="zh-CN" altLang="en-US" sz="2400" dirty="0"/>
              <a:t>                 </a:t>
            </a:r>
            <a:r>
              <a:rPr lang="en-US" altLang="zh-CN" sz="2400" dirty="0"/>
              <a:t>//</a:t>
            </a:r>
            <a:r>
              <a:rPr lang="zh-CN" altLang="en-US" sz="2400" dirty="0"/>
              <a:t>则程序转到</a:t>
            </a:r>
            <a:r>
              <a:rPr lang="en-US" altLang="zh-CN" sz="2400" dirty="0"/>
              <a:t>try</a:t>
            </a:r>
            <a:r>
              <a:rPr lang="zh-CN" altLang="en-US" sz="2400" dirty="0"/>
              <a:t>后面的</a:t>
            </a:r>
            <a:r>
              <a:rPr lang="en-US" altLang="zh-CN" sz="2400" dirty="0"/>
              <a:t>catch(char *</a:t>
            </a:r>
            <a:r>
              <a:rPr lang="en-US" altLang="zh-CN" sz="2400" dirty="0" err="1"/>
              <a:t>str</a:t>
            </a:r>
            <a:r>
              <a:rPr lang="en-US" altLang="zh-CN" sz="2400" dirty="0"/>
              <a:t>)</a:t>
            </a:r>
            <a:r>
              <a:rPr lang="zh-CN" altLang="en-US" sz="2400" dirty="0"/>
              <a:t>处理。</a:t>
            </a:r>
            <a:endParaRPr lang="en-GB" altLang="zh-CN" sz="2400" dirty="0"/>
          </a:p>
          <a:p>
            <a:pPr marL="830263" lvl="1" eaLnBrk="1" hangingPunct="1">
              <a:buFontTx/>
              <a:buNone/>
              <a:defRPr/>
            </a:pPr>
            <a:r>
              <a:rPr lang="en-GB" altLang="zh-CN" sz="2400" dirty="0"/>
              <a:t>}</a:t>
            </a:r>
          </a:p>
          <a:p>
            <a:pPr marL="830263" lvl="1" eaLnBrk="1" hangingPunct="1">
              <a:buFontTx/>
              <a:buNone/>
              <a:defRPr/>
            </a:pPr>
            <a:r>
              <a:rPr lang="en-GB" altLang="zh-CN" sz="2400" dirty="0">
                <a:solidFill>
                  <a:srgbClr val="FFC000"/>
                </a:solidFill>
              </a:rPr>
              <a:t>catch</a:t>
            </a:r>
            <a:r>
              <a:rPr lang="en-GB" altLang="zh-CN" sz="2400" dirty="0"/>
              <a:t> (char *</a:t>
            </a:r>
            <a:r>
              <a:rPr lang="en-GB" altLang="zh-CN" sz="2400" dirty="0" err="1"/>
              <a:t>str</a:t>
            </a:r>
            <a:r>
              <a:rPr lang="en-GB" altLang="zh-CN" sz="2400" dirty="0"/>
              <a:t>)</a:t>
            </a:r>
          </a:p>
          <a:p>
            <a:pPr marL="830263" lvl="1" eaLnBrk="1" hangingPunct="1">
              <a:buFontTx/>
              <a:buNone/>
              <a:defRPr/>
            </a:pPr>
            <a:r>
              <a:rPr lang="en-GB" altLang="zh-CN" sz="2400" dirty="0"/>
              <a:t>{	</a:t>
            </a:r>
            <a:r>
              <a:rPr lang="en-GB" altLang="zh-CN" sz="2400" dirty="0" err="1"/>
              <a:t>cout</a:t>
            </a:r>
            <a:r>
              <a:rPr lang="en-GB" altLang="zh-CN" sz="2400" dirty="0"/>
              <a:t> &lt;&lt; </a:t>
            </a:r>
            <a:r>
              <a:rPr lang="en-GB" altLang="zh-CN" sz="2400" dirty="0" err="1"/>
              <a:t>str</a:t>
            </a:r>
            <a:r>
              <a:rPr lang="en-GB" altLang="zh-CN" sz="2400" dirty="0"/>
              <a:t> &lt;&lt; </a:t>
            </a:r>
            <a:r>
              <a:rPr lang="en-GB" altLang="zh-CN" sz="2400" dirty="0">
                <a:latin typeface="Arial"/>
              </a:rPr>
              <a:t>“</a:t>
            </a:r>
            <a:r>
              <a:rPr lang="zh-CN" altLang="en-GB" sz="2400" dirty="0"/>
              <a:t>不存在</a:t>
            </a:r>
            <a:r>
              <a:rPr lang="en-GB" altLang="zh-CN" sz="2400" dirty="0"/>
              <a:t>!</a:t>
            </a:r>
            <a:r>
              <a:rPr lang="en-GB" altLang="zh-CN" sz="2400" dirty="0">
                <a:latin typeface="Arial"/>
              </a:rPr>
              <a:t>”</a:t>
            </a:r>
            <a:r>
              <a:rPr lang="en-GB" altLang="zh-CN" sz="2400" dirty="0"/>
              <a:t>&lt;&lt; </a:t>
            </a:r>
            <a:r>
              <a:rPr lang="en-GB" altLang="zh-CN" sz="2400" dirty="0" err="1"/>
              <a:t>endl</a:t>
            </a:r>
            <a:r>
              <a:rPr lang="en-GB" altLang="zh-CN" sz="2400" dirty="0"/>
              <a:t>;</a:t>
            </a:r>
          </a:p>
          <a:p>
            <a:pPr marL="830263" lvl="1" eaLnBrk="1" hangingPunct="1">
              <a:buFontTx/>
              <a:buNone/>
              <a:defRPr/>
            </a:pPr>
            <a:r>
              <a:rPr lang="en-GB" altLang="zh-CN" sz="2400" dirty="0"/>
              <a:t>	</a:t>
            </a:r>
            <a:r>
              <a:rPr lang="en-GB" altLang="zh-CN" sz="2400" dirty="0" err="1"/>
              <a:t>cout</a:t>
            </a:r>
            <a:r>
              <a:rPr lang="en-GB" altLang="zh-CN" sz="2400" dirty="0"/>
              <a:t> &lt;&lt; </a:t>
            </a:r>
            <a:r>
              <a:rPr lang="en-GB" altLang="zh-CN" sz="2400" dirty="0">
                <a:latin typeface="Arial"/>
              </a:rPr>
              <a:t>“</a:t>
            </a:r>
            <a:r>
              <a:rPr lang="zh-CN" altLang="en-GB" sz="2400" dirty="0"/>
              <a:t>请重新输入文件名：</a:t>
            </a:r>
            <a:r>
              <a:rPr lang="zh-CN" altLang="en-GB" sz="2400" dirty="0">
                <a:latin typeface="Arial"/>
              </a:rPr>
              <a:t>”</a:t>
            </a:r>
            <a:r>
              <a:rPr lang="zh-CN" altLang="en-GB" sz="2400" dirty="0"/>
              <a:t> </a:t>
            </a:r>
            <a:r>
              <a:rPr lang="en-GB" altLang="zh-CN" sz="2400" dirty="0"/>
              <a:t>&lt;&lt; </a:t>
            </a:r>
            <a:r>
              <a:rPr lang="en-GB" altLang="zh-CN" sz="2400" dirty="0" err="1"/>
              <a:t>endl</a:t>
            </a:r>
            <a:r>
              <a:rPr lang="en-GB" altLang="zh-CN" sz="2400" dirty="0"/>
              <a:t>;</a:t>
            </a:r>
          </a:p>
          <a:p>
            <a:pPr marL="830263" lvl="1" eaLnBrk="1" hangingPunct="1">
              <a:buFontTx/>
              <a:buNone/>
              <a:defRPr/>
            </a:pPr>
            <a:r>
              <a:rPr lang="en-GB" altLang="zh-CN" sz="2400" dirty="0"/>
              <a:t>	</a:t>
            </a:r>
            <a:r>
              <a:rPr lang="en-GB" altLang="zh-CN" sz="2400" dirty="0" err="1"/>
              <a:t>cin</a:t>
            </a:r>
            <a:r>
              <a:rPr lang="en-GB" altLang="zh-CN" sz="2400" dirty="0"/>
              <a:t> &gt;&gt; filename;</a:t>
            </a:r>
          </a:p>
          <a:p>
            <a:pPr marL="830263" lvl="1" eaLnBrk="1" hangingPunct="1">
              <a:buFontTx/>
              <a:buNone/>
              <a:defRPr/>
            </a:pPr>
            <a:r>
              <a:rPr lang="en-GB" altLang="zh-CN" sz="2400" dirty="0"/>
              <a:t>	f(filename); //</a:t>
            </a:r>
            <a:r>
              <a:rPr lang="zh-CN" altLang="en-US" sz="2400" dirty="0"/>
              <a:t>如果在函数</a:t>
            </a:r>
            <a:r>
              <a:rPr lang="en-US" altLang="zh-CN" sz="2400" dirty="0"/>
              <a:t>f</a:t>
            </a:r>
            <a:r>
              <a:rPr lang="zh-CN" altLang="en-US" sz="2400" dirty="0"/>
              <a:t>中又抛掷了异常呢？</a:t>
            </a:r>
            <a:endParaRPr lang="en-GB" altLang="zh-CN" sz="2400" dirty="0"/>
          </a:p>
          <a:p>
            <a:pPr marL="830263" lvl="1" eaLnBrk="1" hangingPunct="1">
              <a:buFontTx/>
              <a:buNone/>
              <a:defRPr/>
            </a:pPr>
            <a:r>
              <a:rPr lang="en-GB" altLang="zh-CN" sz="2400" dirty="0"/>
              <a:t>}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E5907265-D841-A6FF-1251-3D2911E9B2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4463" y="260350"/>
            <a:ext cx="8820150" cy="1008063"/>
          </a:xfrm>
        </p:spPr>
        <p:txBody>
          <a:bodyPr/>
          <a:lstStyle/>
          <a:p>
            <a:pPr marL="365125" indent="-365125" eaLnBrk="1" hangingPunct="1">
              <a:defRPr/>
            </a:pPr>
            <a:r>
              <a:rPr lang="zh-CN" altLang="en-GB" sz="2800" dirty="0"/>
              <a:t>一个</a:t>
            </a:r>
            <a:r>
              <a:rPr lang="en-GB" altLang="zh-CN" sz="2800" dirty="0"/>
              <a:t>try</a:t>
            </a:r>
            <a:r>
              <a:rPr lang="zh-CN" altLang="en-GB" sz="2800" dirty="0"/>
              <a:t>语句块的后面可以跟多个</a:t>
            </a:r>
            <a:r>
              <a:rPr lang="en-GB" altLang="zh-CN" sz="2800" dirty="0"/>
              <a:t>catch</a:t>
            </a:r>
            <a:r>
              <a:rPr lang="zh-CN" altLang="en-GB" sz="2800" dirty="0"/>
              <a:t>语句块，用于捕获不同类型的异常对象并进行处理。例如：</a:t>
            </a:r>
            <a:endParaRPr lang="zh-CN" altLang="en-US" sz="2800" dirty="0"/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E538ACCC-81AB-2F81-7657-4553DAB12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8888" y="1484313"/>
            <a:ext cx="2625725" cy="283527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void f()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{ ......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...throw 1;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......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...throw 1.0;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......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...throw "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abcd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";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.......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849CEF6F-958A-1F57-E872-698EBEF53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1484313"/>
            <a:ext cx="5837238" cy="496887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0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g()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{ ......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try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{ f();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}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catch (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)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处理函数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throw 1;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{ &lt;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语句序列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1&gt;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}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catch (double)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处理函数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throw 1.0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{ &lt;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语句序列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2&gt;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}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catch (char *) //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处理函数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中的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throw "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abcd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"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{ &lt;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语句序列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3&gt;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}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&lt;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非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catch</a:t>
            </a:r>
            <a:r>
              <a:rPr lang="zh-CN" altLang="en-US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语句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&gt;</a:t>
            </a:r>
          </a:p>
          <a:p>
            <a:pPr eaLnBrk="1" hangingPunct="1"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:a16="http://schemas.microsoft.com/office/drawing/2014/main" id="{97C79054-D2C5-83EC-3BAE-6364D085A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052513"/>
            <a:ext cx="8642350" cy="5329237"/>
          </a:xfrm>
        </p:spPr>
        <p:txBody>
          <a:bodyPr>
            <a:normAutofit fontScale="92500" lnSpcReduction="20000"/>
          </a:bodyPr>
          <a:lstStyle/>
          <a:p>
            <a:pPr marL="609600" indent="-609600" eaLnBrk="1" hangingPunct="1">
              <a:lnSpc>
                <a:spcPct val="120000"/>
              </a:lnSpc>
              <a:defRPr/>
            </a:pPr>
            <a:r>
              <a:rPr lang="zh-CN" altLang="en-US" dirty="0"/>
              <a:t>如果</a:t>
            </a:r>
            <a:r>
              <a:rPr lang="zh-CN" altLang="en-GB" dirty="0"/>
              <a:t>在</a:t>
            </a:r>
            <a:r>
              <a:rPr lang="en-US" altLang="zh-CN" dirty="0"/>
              <a:t>try</a:t>
            </a:r>
            <a:r>
              <a:rPr lang="zh-CN" altLang="en-US" dirty="0"/>
              <a:t>语句块的执行中没有抛掷异常对象（即没有执行</a:t>
            </a:r>
            <a:r>
              <a:rPr lang="en-US" altLang="zh-CN" dirty="0"/>
              <a:t>throw</a:t>
            </a:r>
            <a:r>
              <a:rPr lang="zh-CN" altLang="en-US" dirty="0"/>
              <a:t>），则其后的</a:t>
            </a:r>
            <a:r>
              <a:rPr lang="en-US" altLang="zh-CN" dirty="0"/>
              <a:t>catch</a:t>
            </a:r>
            <a:r>
              <a:rPr lang="zh-CN" altLang="en-US" dirty="0"/>
              <a:t>语句不执行，而是继续执行</a:t>
            </a:r>
            <a:r>
              <a:rPr lang="en-US" altLang="zh-CN" dirty="0"/>
              <a:t>try</a:t>
            </a:r>
            <a:r>
              <a:rPr lang="zh-CN" altLang="en-US" dirty="0"/>
              <a:t>语句块之后的非</a:t>
            </a:r>
            <a:r>
              <a:rPr lang="en-US" altLang="zh-CN" dirty="0"/>
              <a:t>catch</a:t>
            </a:r>
            <a:r>
              <a:rPr lang="zh-CN" altLang="en-US" dirty="0"/>
              <a:t>语句。</a:t>
            </a:r>
          </a:p>
          <a:p>
            <a:pPr marL="609600" indent="-609600" eaLnBrk="1" hangingPunct="1">
              <a:lnSpc>
                <a:spcPct val="120000"/>
              </a:lnSpc>
              <a:defRPr/>
            </a:pPr>
            <a:r>
              <a:rPr lang="zh-CN" altLang="en-US" dirty="0"/>
              <a:t>如果</a:t>
            </a:r>
            <a:r>
              <a:rPr lang="zh-CN" altLang="en-GB" dirty="0"/>
              <a:t>在</a:t>
            </a:r>
            <a:r>
              <a:rPr lang="en-US" altLang="zh-CN" dirty="0"/>
              <a:t>try</a:t>
            </a:r>
            <a:r>
              <a:rPr lang="zh-CN" altLang="en-US" dirty="0"/>
              <a:t>语句块执行中抛掷了异常对象（即执行了</a:t>
            </a:r>
            <a:r>
              <a:rPr lang="en-US" altLang="zh-CN" dirty="0"/>
              <a:t>throw</a:t>
            </a:r>
            <a:r>
              <a:rPr lang="zh-CN" altLang="en-US" dirty="0"/>
              <a:t>语句） ，</a:t>
            </a:r>
            <a:endParaRPr lang="en-US" altLang="zh-CN" dirty="0"/>
          </a:p>
          <a:p>
            <a:pPr marL="1009650" lvl="1" indent="-609600" eaLnBrk="1" hangingPunct="1">
              <a:lnSpc>
                <a:spcPct val="120000"/>
              </a:lnSpc>
              <a:defRPr/>
            </a:pPr>
            <a:r>
              <a:rPr lang="zh-CN" altLang="en-US" dirty="0"/>
              <a:t>如果该</a:t>
            </a:r>
            <a:r>
              <a:rPr lang="en-US" altLang="zh-CN" dirty="0"/>
              <a:t>try</a:t>
            </a:r>
            <a:r>
              <a:rPr lang="zh-CN" altLang="en-US" dirty="0"/>
              <a:t>语句块之后有能够捕获该异常对象的</a:t>
            </a:r>
            <a:r>
              <a:rPr lang="en-US" altLang="zh-CN" dirty="0"/>
              <a:t>catch</a:t>
            </a:r>
            <a:r>
              <a:rPr lang="zh-CN" altLang="en-US" dirty="0"/>
              <a:t>语句，则执行这个</a:t>
            </a:r>
            <a:r>
              <a:rPr lang="en-US" altLang="zh-CN" dirty="0"/>
              <a:t>catch</a:t>
            </a:r>
            <a:r>
              <a:rPr lang="zh-CN" altLang="en-US" dirty="0"/>
              <a:t>语句块，然后继续执行这个</a:t>
            </a:r>
            <a:r>
              <a:rPr lang="en-US" altLang="zh-CN" dirty="0"/>
              <a:t>catch</a:t>
            </a:r>
            <a:r>
              <a:rPr lang="zh-CN" altLang="en-US" dirty="0"/>
              <a:t>语句之后的非</a:t>
            </a:r>
            <a:r>
              <a:rPr lang="en-US" altLang="zh-CN" dirty="0"/>
              <a:t>catch</a:t>
            </a:r>
            <a:r>
              <a:rPr lang="zh-CN" altLang="en-US" dirty="0"/>
              <a:t>语句。</a:t>
            </a:r>
            <a:endParaRPr lang="en-US" altLang="zh-CN" dirty="0"/>
          </a:p>
          <a:p>
            <a:pPr marL="1009650" lvl="1" indent="-609600" eaLnBrk="1" hangingPunct="1">
              <a:lnSpc>
                <a:spcPct val="120000"/>
              </a:lnSpc>
              <a:defRPr/>
            </a:pPr>
            <a:r>
              <a:rPr lang="zh-CN" altLang="en-US" dirty="0"/>
              <a:t>如果该</a:t>
            </a:r>
            <a:r>
              <a:rPr lang="en-US" altLang="zh-CN" dirty="0"/>
              <a:t>try</a:t>
            </a:r>
            <a:r>
              <a:rPr lang="zh-CN" altLang="en-US" dirty="0"/>
              <a:t>语句块之后没有能够捕获该异常对象的</a:t>
            </a:r>
            <a:r>
              <a:rPr lang="en-US" altLang="zh-CN" dirty="0"/>
              <a:t>catch</a:t>
            </a:r>
            <a:r>
              <a:rPr lang="zh-CN" altLang="en-US" dirty="0"/>
              <a:t>语句，则按</a:t>
            </a:r>
            <a:r>
              <a:rPr lang="zh-CN" altLang="en-US" dirty="0">
                <a:solidFill>
                  <a:srgbClr val="FFC000"/>
                </a:solidFill>
              </a:rPr>
              <a:t>嵌套的异常处理</a:t>
            </a:r>
            <a:r>
              <a:rPr lang="zh-CN" altLang="en-US" dirty="0"/>
              <a:t>规则进行处理。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540A79C-6BE6-9A62-1C8E-2FE949D8B0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8588"/>
            <a:ext cx="8229600" cy="923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/>
              <a:t>异常处理的嵌套</a:t>
            </a:r>
            <a:r>
              <a:rPr lang="zh-CN" altLang="en-US"/>
              <a:t> 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B561F1D-827C-424C-08FB-DFB651B898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412875"/>
            <a:ext cx="8208962" cy="4968875"/>
          </a:xfrm>
        </p:spPr>
        <p:txBody>
          <a:bodyPr>
            <a:normAutofit fontScale="85000" lnSpcReduction="10000"/>
          </a:bodyPr>
          <a:lstStyle/>
          <a:p>
            <a:pPr marL="452438" indent="-452438" eaLnBrk="1" hangingPunct="1">
              <a:lnSpc>
                <a:spcPct val="120000"/>
              </a:lnSpc>
              <a:defRPr/>
            </a:pPr>
            <a:r>
              <a:rPr lang="en-GB" altLang="zh-CN" dirty="0"/>
              <a:t>try</a:t>
            </a:r>
            <a:r>
              <a:rPr lang="zh-CN" altLang="en-GB" dirty="0"/>
              <a:t>语句是可以嵌套的</a:t>
            </a:r>
            <a:r>
              <a:rPr lang="zh-CN" altLang="en-US" dirty="0"/>
              <a:t>：</a:t>
            </a:r>
            <a:endParaRPr lang="en-US" altLang="zh-CN" dirty="0"/>
          </a:p>
          <a:p>
            <a:pPr marL="852488" lvl="1" indent="-452438" eaLnBrk="1" hangingPunct="1">
              <a:lnSpc>
                <a:spcPct val="120000"/>
              </a:lnSpc>
              <a:defRPr/>
            </a:pPr>
            <a:r>
              <a:rPr lang="zh-CN" altLang="en-US" dirty="0"/>
              <a:t>在</a:t>
            </a:r>
            <a:r>
              <a:rPr lang="en-US" altLang="zh-CN" dirty="0"/>
              <a:t>try</a:t>
            </a:r>
            <a:r>
              <a:rPr lang="zh-CN" altLang="en-US" dirty="0"/>
              <a:t>语句块中还可以包含</a:t>
            </a:r>
            <a:r>
              <a:rPr lang="en-US" altLang="zh-CN" dirty="0"/>
              <a:t>try</a:t>
            </a:r>
            <a:r>
              <a:rPr lang="zh-CN" altLang="en-US" dirty="0"/>
              <a:t>语句块。</a:t>
            </a:r>
            <a:endParaRPr lang="zh-CN" altLang="en-GB" dirty="0"/>
          </a:p>
          <a:p>
            <a:pPr marL="452438" indent="-452438" eaLnBrk="1" hangingPunct="1">
              <a:lnSpc>
                <a:spcPct val="120000"/>
              </a:lnSpc>
              <a:defRPr/>
            </a:pPr>
            <a:r>
              <a:rPr lang="zh-CN" altLang="en-GB" dirty="0"/>
              <a:t>当在内层的</a:t>
            </a:r>
            <a:r>
              <a:rPr lang="en-GB" altLang="zh-CN" dirty="0"/>
              <a:t>try</a:t>
            </a:r>
            <a:r>
              <a:rPr lang="zh-CN" altLang="en-GB" dirty="0"/>
              <a:t>语句的执行中产生了异常，则首先在内层</a:t>
            </a:r>
            <a:r>
              <a:rPr lang="en-GB" altLang="zh-CN" dirty="0"/>
              <a:t>try</a:t>
            </a:r>
            <a:r>
              <a:rPr lang="zh-CN" altLang="en-GB" dirty="0"/>
              <a:t>语句块之后的</a:t>
            </a:r>
            <a:r>
              <a:rPr lang="en-GB" altLang="zh-CN" dirty="0"/>
              <a:t>catch</a:t>
            </a:r>
            <a:r>
              <a:rPr lang="zh-CN" altLang="en-GB" dirty="0"/>
              <a:t>语句序列中查找与之匹配的处理，如果内层不存在能捕获相应异常的</a:t>
            </a:r>
            <a:r>
              <a:rPr lang="en-GB" altLang="zh-CN" dirty="0"/>
              <a:t>catch</a:t>
            </a:r>
            <a:r>
              <a:rPr lang="zh-CN" altLang="en-GB" dirty="0"/>
              <a:t>，则逐步向外层进行查找。</a:t>
            </a:r>
            <a:r>
              <a:rPr lang="zh-CN" altLang="en-US" dirty="0"/>
              <a:t> </a:t>
            </a:r>
            <a:endParaRPr lang="en-US" altLang="zh-CN" dirty="0"/>
          </a:p>
          <a:p>
            <a:pPr marL="452438" indent="-452438" eaLnBrk="1" hangingPunct="1">
              <a:lnSpc>
                <a:spcPct val="120000"/>
              </a:lnSpc>
              <a:defRPr/>
            </a:pPr>
            <a:r>
              <a:rPr lang="zh-CN" altLang="en-US" dirty="0"/>
              <a:t>如果抛掷的异常对象在程序的函数调用链上没有给出捕获，则调用系统的</a:t>
            </a:r>
            <a:r>
              <a:rPr lang="en-US" altLang="zh-CN" dirty="0"/>
              <a:t>terminate</a:t>
            </a:r>
            <a:r>
              <a:rPr lang="zh-CN" altLang="en-US" dirty="0"/>
              <a:t>函数进行标准的异常处理。默认情况下，</a:t>
            </a:r>
            <a:r>
              <a:rPr lang="en-US" altLang="zh-CN" dirty="0"/>
              <a:t>terminate</a:t>
            </a:r>
            <a:r>
              <a:rPr lang="zh-CN" altLang="en-US" dirty="0"/>
              <a:t>函数将会去调用</a:t>
            </a:r>
            <a:r>
              <a:rPr lang="en-US" altLang="zh-CN" dirty="0"/>
              <a:t>abort</a:t>
            </a:r>
            <a:r>
              <a:rPr lang="zh-CN" altLang="en-US" dirty="0"/>
              <a:t>函数。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1A2DE42-2E2E-D4DB-702F-FA6735BD00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4078288"/>
            <a:ext cx="8569325" cy="2663825"/>
          </a:xfrm>
          <a:solidFill>
            <a:schemeClr val="bg1"/>
          </a:solidFill>
        </p:spPr>
        <p:txBody>
          <a:bodyPr/>
          <a:lstStyle/>
          <a:p>
            <a:pPr marL="449263" indent="-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void h()</a:t>
            </a:r>
          </a:p>
          <a:p>
            <a:pPr marL="449263" indent="-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{	......</a:t>
            </a:r>
          </a:p>
          <a:p>
            <a:pPr marL="449263" indent="-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... throw 1; //</a:t>
            </a:r>
            <a:r>
              <a:rPr lang="zh-CN" altLang="en-GB" sz="2400" dirty="0"/>
              <a:t>由</a:t>
            </a:r>
            <a:r>
              <a:rPr lang="en-GB" altLang="zh-CN" sz="2400" dirty="0"/>
              <a:t>g</a:t>
            </a:r>
            <a:r>
              <a:rPr lang="zh-CN" altLang="en-GB" sz="2400" dirty="0"/>
              <a:t>捕获并处理</a:t>
            </a:r>
          </a:p>
          <a:p>
            <a:pPr marL="449263" indent="-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GB" sz="2400" dirty="0"/>
              <a:t>	</a:t>
            </a:r>
            <a:r>
              <a:rPr lang="en-US" altLang="zh-CN" sz="2400"/>
              <a:t>or</a:t>
            </a:r>
          </a:p>
          <a:p>
            <a:pPr marL="449263" indent="-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	... throw "</a:t>
            </a:r>
            <a:r>
              <a:rPr lang="en-GB" altLang="zh-CN" sz="2400" dirty="0" err="1"/>
              <a:t>abcd</a:t>
            </a:r>
            <a:r>
              <a:rPr lang="en-GB" altLang="zh-CN" sz="2400" dirty="0"/>
              <a:t>"; //</a:t>
            </a:r>
            <a:r>
              <a:rPr lang="zh-CN" altLang="en-GB" sz="2400" dirty="0"/>
              <a:t>由</a:t>
            </a:r>
            <a:r>
              <a:rPr lang="en-GB" altLang="zh-CN" sz="2400" dirty="0"/>
              <a:t>f</a:t>
            </a:r>
            <a:r>
              <a:rPr lang="zh-CN" altLang="en-GB" sz="2400" dirty="0"/>
              <a:t>捕获并处理</a:t>
            </a:r>
          </a:p>
          <a:p>
            <a:pPr marL="449263" indent="-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GB" sz="2400" dirty="0"/>
              <a:t>	</a:t>
            </a:r>
            <a:r>
              <a:rPr lang="en-GB" altLang="zh-CN" sz="2400" dirty="0"/>
              <a:t>......</a:t>
            </a:r>
          </a:p>
          <a:p>
            <a:pPr marL="449263" indent="-449263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400" dirty="0"/>
              <a:t>}</a:t>
            </a: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0CFA6D8C-F1F3-5514-BF41-762D18FB1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115888"/>
            <a:ext cx="4248150" cy="34782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void g()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{ try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{ h();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}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catch (</a:t>
            </a:r>
            <a:r>
              <a:rPr lang="en-GB" altLang="zh-CN" sz="22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{ ......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}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......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... throw 2; //</a:t>
            </a:r>
            <a:r>
              <a:rPr lang="zh-CN" altLang="en-US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由</a:t>
            </a:r>
            <a:r>
              <a:rPr lang="en-US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f</a:t>
            </a:r>
            <a:r>
              <a:rPr lang="zh-CN" altLang="en-US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捕获并处理</a:t>
            </a:r>
            <a:endParaRPr lang="en-GB" altLang="zh-CN" sz="22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12B4CD19-2CB7-6CBE-3211-FDA059E74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5888"/>
            <a:ext cx="3979863" cy="37766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void f()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{ try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{ g();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}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catch (</a:t>
            </a:r>
            <a:r>
              <a:rPr lang="en-GB" altLang="zh-CN" sz="22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{	......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}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catch (char *)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{ ......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}</a:t>
            </a:r>
          </a:p>
          <a:p>
            <a:pPr eaLnBrk="1" hangingPunct="1">
              <a:defRPr/>
            </a:pPr>
            <a:r>
              <a:rPr lang="en-GB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  <a:r>
              <a:rPr lang="en-US" altLang="zh-CN" sz="2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altLang="zh-CN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50193BF-0A4F-5B23-6C8D-F76C2DD300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191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/>
              <a:t>例：一种处理除数为</a:t>
            </a:r>
            <a:r>
              <a:rPr lang="en-US" altLang="zh-CN" sz="4000"/>
              <a:t>0</a:t>
            </a:r>
            <a:r>
              <a:rPr lang="zh-CN" altLang="en-US" sz="4000"/>
              <a:t>的异常错误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5EE1984-621E-917A-CFA0-2BBEDDCE36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5400675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#include &lt;</a:t>
            </a:r>
            <a:r>
              <a:rPr lang="en-US" altLang="zh-CN" sz="2000" dirty="0" err="1"/>
              <a:t>iostream</a:t>
            </a:r>
            <a:r>
              <a:rPr lang="en-US" altLang="zh-CN" sz="2000" dirty="0"/>
              <a:t>&gt;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using namespace </a:t>
            </a:r>
            <a:r>
              <a:rPr lang="en-US" altLang="zh-CN" sz="2000" dirty="0" err="1"/>
              <a:t>std</a:t>
            </a:r>
            <a:r>
              <a:rPr lang="en-US" altLang="zh-CN" sz="2000" dirty="0"/>
              <a:t>;</a:t>
            </a:r>
            <a:endParaRPr lang="fr-FR" altLang="zh-CN" sz="2000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void f() </a:t>
            </a:r>
            <a:r>
              <a:rPr lang="en-US" altLang="zh-CN" sz="2000" dirty="0"/>
              <a:t>//</a:t>
            </a:r>
            <a:r>
              <a:rPr lang="zh-CN" altLang="en-US" sz="2000" dirty="0"/>
              <a:t>其中用到两个数相除操作</a:t>
            </a:r>
            <a:endParaRPr lang="en-GB" altLang="zh-CN" sz="2000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{	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</a:t>
            </a:r>
            <a:r>
              <a:rPr lang="en-GB" altLang="zh-CN" sz="2000" dirty="0" err="1"/>
              <a:t>a,b</a:t>
            </a:r>
            <a:r>
              <a:rPr lang="en-GB" altLang="zh-CN" sz="2000" dirty="0"/>
              <a:t>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try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{ 	</a:t>
            </a:r>
            <a:r>
              <a:rPr lang="en-GB" altLang="zh-CN" sz="2000" dirty="0" err="1"/>
              <a:t>cout</a:t>
            </a:r>
            <a:r>
              <a:rPr lang="en-GB" altLang="zh-CN" sz="2000" dirty="0"/>
              <a:t> &lt;&lt; "</a:t>
            </a:r>
            <a:r>
              <a:rPr lang="zh-CN" altLang="en-GB" sz="2000" dirty="0"/>
              <a:t>请输入两个数：</a:t>
            </a:r>
            <a:r>
              <a:rPr lang="en-GB" altLang="zh-CN" sz="2000" dirty="0"/>
              <a:t>";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</a:t>
            </a:r>
            <a:r>
              <a:rPr lang="en-GB" altLang="zh-CN" sz="2000" dirty="0" err="1"/>
              <a:t>cin</a:t>
            </a:r>
            <a:r>
              <a:rPr lang="en-GB" altLang="zh-CN" sz="2000" dirty="0"/>
              <a:t> &gt;&gt; a &gt;&gt; b;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r=divide(</a:t>
            </a:r>
            <a:r>
              <a:rPr lang="en-GB" altLang="zh-CN" sz="2000" dirty="0" err="1"/>
              <a:t>a,b</a:t>
            </a:r>
            <a:r>
              <a:rPr lang="en-GB" altLang="zh-CN" sz="2000" dirty="0"/>
              <a:t>);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</a:t>
            </a:r>
            <a:r>
              <a:rPr lang="en-GB" altLang="zh-CN" sz="2000" dirty="0" err="1"/>
              <a:t>cout</a:t>
            </a:r>
            <a:r>
              <a:rPr lang="en-GB" altLang="zh-CN" sz="2000" dirty="0"/>
              <a:t> &lt;&lt; a &lt;&lt; "</a:t>
            </a:r>
            <a:r>
              <a:rPr lang="zh-CN" altLang="en-GB" sz="2000" dirty="0"/>
              <a:t>除以</a:t>
            </a:r>
            <a:r>
              <a:rPr lang="en-GB" altLang="zh-CN" sz="2000" dirty="0"/>
              <a:t>" &lt;&lt; b &lt;&lt; "</a:t>
            </a:r>
            <a:r>
              <a:rPr lang="zh-CN" altLang="en-GB" sz="2000" dirty="0"/>
              <a:t>的商为：</a:t>
            </a:r>
            <a:r>
              <a:rPr lang="en-GB" altLang="zh-CN" sz="2000" dirty="0"/>
              <a:t>" &lt;&lt; r &lt;&lt; </a:t>
            </a:r>
            <a:r>
              <a:rPr lang="en-GB" altLang="zh-CN" sz="2000" dirty="0" err="1"/>
              <a:t>endl</a:t>
            </a:r>
            <a:r>
              <a:rPr lang="en-GB" altLang="zh-CN" sz="2000" dirty="0"/>
              <a:t>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}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catch(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)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{	</a:t>
            </a:r>
            <a:r>
              <a:rPr lang="en-GB" altLang="zh-CN" sz="2000" dirty="0" err="1"/>
              <a:t>cout</a:t>
            </a:r>
            <a:r>
              <a:rPr lang="en-GB" altLang="zh-CN" sz="2000" dirty="0"/>
              <a:t> &lt;&lt; "</a:t>
            </a:r>
            <a:r>
              <a:rPr lang="zh-CN" altLang="en-GB" sz="2000" dirty="0"/>
              <a:t>除数不能为</a:t>
            </a:r>
            <a:r>
              <a:rPr lang="en-GB" altLang="zh-CN" sz="2000" dirty="0"/>
              <a:t>0</a:t>
            </a:r>
            <a:r>
              <a:rPr lang="zh-CN" altLang="en-GB" sz="2000" dirty="0"/>
              <a:t>，请重新输入两个数：</a:t>
            </a:r>
            <a:r>
              <a:rPr lang="en-GB" altLang="zh-CN" sz="2000" dirty="0"/>
              <a:t>";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</a:t>
            </a:r>
            <a:r>
              <a:rPr lang="en-GB" altLang="zh-CN" sz="2000" dirty="0" err="1"/>
              <a:t>cin</a:t>
            </a:r>
            <a:r>
              <a:rPr lang="en-GB" altLang="zh-CN" sz="2000" dirty="0"/>
              <a:t> &gt;&gt; a &gt;&gt; b;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</a:t>
            </a:r>
            <a:r>
              <a:rPr lang="en-GB" altLang="zh-CN" sz="2000" dirty="0" err="1"/>
              <a:t>int</a:t>
            </a:r>
            <a:r>
              <a:rPr lang="en-GB" altLang="zh-CN" sz="2000" dirty="0"/>
              <a:t> r=divide(</a:t>
            </a:r>
            <a:r>
              <a:rPr lang="en-GB" altLang="zh-CN" sz="2000" dirty="0" err="1"/>
              <a:t>a,b</a:t>
            </a:r>
            <a:r>
              <a:rPr lang="en-GB" altLang="zh-CN" sz="2000" dirty="0"/>
              <a:t>);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	</a:t>
            </a:r>
            <a:r>
              <a:rPr lang="en-GB" altLang="zh-CN" sz="2000" dirty="0" err="1"/>
              <a:t>cout</a:t>
            </a:r>
            <a:r>
              <a:rPr lang="en-GB" altLang="zh-CN" sz="2000" dirty="0"/>
              <a:t> &lt;&lt; a &lt;&lt; "</a:t>
            </a:r>
            <a:r>
              <a:rPr lang="zh-CN" altLang="en-GB" sz="2000" dirty="0"/>
              <a:t>除以</a:t>
            </a:r>
            <a:r>
              <a:rPr lang="en-GB" altLang="zh-CN" sz="2000" dirty="0"/>
              <a:t>" &lt;&lt; b &lt;&lt; "</a:t>
            </a:r>
            <a:r>
              <a:rPr lang="zh-CN" altLang="en-GB" sz="2000" dirty="0"/>
              <a:t>的商为：</a:t>
            </a:r>
            <a:r>
              <a:rPr lang="en-GB" altLang="zh-CN" sz="2000" dirty="0"/>
              <a:t>" &lt;&lt; r &lt;&lt; </a:t>
            </a:r>
            <a:r>
              <a:rPr lang="en-GB" altLang="zh-CN" sz="2000" dirty="0" err="1"/>
              <a:t>endl</a:t>
            </a:r>
            <a:r>
              <a:rPr lang="en-GB" altLang="zh-CN" sz="2000" dirty="0"/>
              <a:t>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	}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    ......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000" dirty="0"/>
              <a:t>}</a:t>
            </a:r>
            <a:r>
              <a:rPr lang="en-US" altLang="zh-CN" sz="2000" dirty="0"/>
              <a:t>	</a:t>
            </a:r>
            <a:endParaRPr lang="en-GB" altLang="zh-CN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52D04A-9ECC-09A2-8582-F12B1A914564}"/>
              </a:ext>
            </a:extLst>
          </p:cNvPr>
          <p:cNvSpPr txBox="1"/>
          <p:nvPr/>
        </p:nvSpPr>
        <p:spPr>
          <a:xfrm>
            <a:off x="5651500" y="1385888"/>
            <a:ext cx="3097213" cy="132238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fr-FR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divide(int x, int y)</a:t>
            </a:r>
            <a:endParaRPr lang="en-GB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if (y == 0) throw 0;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return x/y;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D057005-BEF6-8A18-BC1C-F537AF5EDC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92627C74-708B-5362-33FE-3B3236648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dirty="0" err="1"/>
              <a:t>int</a:t>
            </a:r>
            <a:r>
              <a:rPr lang="en-GB" altLang="zh-CN" sz="2800" dirty="0"/>
              <a:t> main()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dirty="0"/>
              <a:t>{	try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dirty="0"/>
              <a:t>	{ f();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dirty="0"/>
              <a:t>	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dirty="0"/>
              <a:t>	catch (</a:t>
            </a:r>
            <a:r>
              <a:rPr lang="en-GB" altLang="zh-CN" sz="2800" dirty="0" err="1"/>
              <a:t>int</a:t>
            </a:r>
            <a:r>
              <a:rPr lang="en-GB" altLang="zh-CN" sz="2800" dirty="0"/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dirty="0"/>
              <a:t>	{	</a:t>
            </a:r>
            <a:r>
              <a:rPr lang="en-GB" altLang="zh-CN" sz="2800" dirty="0" err="1"/>
              <a:t>cout</a:t>
            </a:r>
            <a:r>
              <a:rPr lang="en-GB" altLang="zh-CN" sz="2800" dirty="0"/>
              <a:t> &lt;&lt; "</a:t>
            </a:r>
            <a:r>
              <a:rPr lang="zh-CN" altLang="en-GB" sz="2800" dirty="0"/>
              <a:t>请重新运行本程序！</a:t>
            </a:r>
            <a:r>
              <a:rPr lang="en-GB" altLang="zh-CN" sz="2800" dirty="0"/>
              <a:t>"&lt;&lt; </a:t>
            </a:r>
            <a:r>
              <a:rPr lang="en-GB" altLang="zh-CN" sz="2800" dirty="0" err="1"/>
              <a:t>endl</a:t>
            </a:r>
            <a:r>
              <a:rPr lang="en-GB" altLang="zh-CN" sz="2800" dirty="0"/>
              <a:t>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dirty="0"/>
              <a:t>	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dirty="0"/>
              <a:t>	return 0;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GB" altLang="zh-CN" sz="2800" dirty="0"/>
              <a:t>}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/>
              <a:t>如何做到程序不终止，一直到获得正确的数据为止？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84A973-5BD9-9EB0-ACE5-8FADEA973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3D72D-3D47-B155-C6B0-EA57DA22A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FFC000"/>
                </a:solidFill>
              </a:rPr>
              <a:t>注意：</a:t>
            </a:r>
            <a:r>
              <a:rPr lang="zh-CN" altLang="en-US" dirty="0"/>
              <a:t>有了异常处理机制后，一个函数的对外接口说明：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除了要包含函数的功能描述以及函数的参数和返回值的含义之外，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还要包含函数可能抛掷的异常（类型和含义）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1AA7C-55C4-D737-E6A1-C9765AE6B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异常处理实现机制（示意）</a:t>
            </a:r>
          </a:p>
        </p:txBody>
      </p:sp>
      <p:sp>
        <p:nvSpPr>
          <p:cNvPr id="29699" name="TextBox 3">
            <a:extLst>
              <a:ext uri="{FF2B5EF4-FFF2-40B4-BE49-F238E27FC236}">
                <a16:creationId xmlns:a16="http://schemas.microsoft.com/office/drawing/2014/main" id="{5543DDA8-D389-51F2-3C00-D21B10CB1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8963" y="4943475"/>
            <a:ext cx="266700" cy="369888"/>
          </a:xfrm>
          <a:prstGeom prst="rect">
            <a:avLst/>
          </a:prstGeom>
          <a:solidFill>
            <a:srgbClr val="002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f</a:t>
            </a:r>
            <a:endParaRPr lang="zh-CN" altLang="en-US" sz="1800"/>
          </a:p>
        </p:txBody>
      </p:sp>
      <p:sp>
        <p:nvSpPr>
          <p:cNvPr id="29700" name="TextBox 4">
            <a:extLst>
              <a:ext uri="{FF2B5EF4-FFF2-40B4-BE49-F238E27FC236}">
                <a16:creationId xmlns:a16="http://schemas.microsoft.com/office/drawing/2014/main" id="{A82A73A6-AA0B-C526-747E-10FDB0A9F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2013" y="4933950"/>
            <a:ext cx="328612" cy="369888"/>
          </a:xfrm>
          <a:prstGeom prst="rect">
            <a:avLst/>
          </a:prstGeom>
          <a:solidFill>
            <a:srgbClr val="002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g</a:t>
            </a:r>
            <a:endParaRPr lang="zh-CN" altLang="en-US" sz="1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374E35-70EB-B5CC-E44C-B7375D83F489}"/>
              </a:ext>
            </a:extLst>
          </p:cNvPr>
          <p:cNvSpPr txBox="1"/>
          <p:nvPr/>
        </p:nvSpPr>
        <p:spPr>
          <a:xfrm>
            <a:off x="4183063" y="5481638"/>
            <a:ext cx="1362075" cy="922337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catch(...);</a:t>
            </a:r>
          </a:p>
          <a:p>
            <a:pPr eaLnBrk="1" hangingPunct="1">
              <a:defRPr/>
            </a:pPr>
            <a:r>
              <a:rPr lang="en-GB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catch(...);</a:t>
            </a:r>
          </a:p>
          <a:p>
            <a:pPr eaLnBrk="1" hangingPunct="1">
              <a:defRPr/>
            </a:pPr>
            <a:r>
              <a:rPr lang="en-GB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......</a:t>
            </a:r>
          </a:p>
        </p:txBody>
      </p:sp>
      <p:sp>
        <p:nvSpPr>
          <p:cNvPr id="29702" name="TextBox 6">
            <a:extLst>
              <a:ext uri="{FF2B5EF4-FFF2-40B4-BE49-F238E27FC236}">
                <a16:creationId xmlns:a16="http://schemas.microsoft.com/office/drawing/2014/main" id="{9B9D130F-8EB2-45B0-4198-41F03D295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8" y="4943475"/>
            <a:ext cx="330200" cy="369888"/>
          </a:xfrm>
          <a:prstGeom prst="rect">
            <a:avLst/>
          </a:prstGeom>
          <a:solidFill>
            <a:srgbClr val="002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h</a:t>
            </a:r>
            <a:endParaRPr lang="zh-CN" altLang="en-US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44021-E5D4-0144-3A40-E1DE39E1D3F1}"/>
              </a:ext>
            </a:extLst>
          </p:cNvPr>
          <p:cNvSpPr txBox="1"/>
          <p:nvPr/>
        </p:nvSpPr>
        <p:spPr>
          <a:xfrm>
            <a:off x="5815013" y="5483225"/>
            <a:ext cx="1527175" cy="922338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catch (...); </a:t>
            </a:r>
          </a:p>
          <a:p>
            <a:pPr eaLnBrk="1" hangingPunct="1">
              <a:defRPr/>
            </a:pPr>
            <a:r>
              <a:rPr lang="en-GB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catch (...);</a:t>
            </a:r>
          </a:p>
          <a:p>
            <a:pPr eaLnBrk="1" hangingPunct="1">
              <a:defRPr/>
            </a:pPr>
            <a:r>
              <a:rPr lang="en-GB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......</a:t>
            </a:r>
          </a:p>
        </p:txBody>
      </p:sp>
      <p:sp>
        <p:nvSpPr>
          <p:cNvPr id="29704" name="TextBox 10">
            <a:extLst>
              <a:ext uri="{FF2B5EF4-FFF2-40B4-BE49-F238E27FC236}">
                <a16:creationId xmlns:a16="http://schemas.microsoft.com/office/drawing/2014/main" id="{8303E3EC-3E5C-75A7-EE1F-CA2CD0519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943475"/>
            <a:ext cx="646112" cy="369888"/>
          </a:xfrm>
          <a:prstGeom prst="rect">
            <a:avLst/>
          </a:prstGeom>
          <a:solidFill>
            <a:srgbClr val="002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系统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ECDC8-446F-CF0F-67DA-9B9E58A4778F}"/>
              </a:ext>
            </a:extLst>
          </p:cNvPr>
          <p:cNvSpPr txBox="1"/>
          <p:nvPr/>
        </p:nvSpPr>
        <p:spPr>
          <a:xfrm>
            <a:off x="323850" y="5481638"/>
            <a:ext cx="1708150" cy="368300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terminate();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BEF10C1-2960-240E-5B5D-942AA7189C32}"/>
              </a:ext>
            </a:extLst>
          </p:cNvPr>
          <p:cNvCxnSpPr/>
          <p:nvPr/>
        </p:nvCxnSpPr>
        <p:spPr>
          <a:xfrm>
            <a:off x="4068763" y="5159375"/>
            <a:ext cx="330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E9CEFF1-1C62-F2D3-11AD-A91AF67EEEAE}"/>
              </a:ext>
            </a:extLst>
          </p:cNvPr>
          <p:cNvCxnSpPr/>
          <p:nvPr/>
        </p:nvCxnSpPr>
        <p:spPr>
          <a:xfrm>
            <a:off x="4656138" y="5159375"/>
            <a:ext cx="12541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D078228-3C69-AADB-26DA-0AA76289A88A}"/>
              </a:ext>
            </a:extLst>
          </p:cNvPr>
          <p:cNvCxnSpPr/>
          <p:nvPr/>
        </p:nvCxnSpPr>
        <p:spPr>
          <a:xfrm>
            <a:off x="6311900" y="5159375"/>
            <a:ext cx="125571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9" name="TextBox 16">
            <a:extLst>
              <a:ext uri="{FF2B5EF4-FFF2-40B4-BE49-F238E27FC236}">
                <a16:creationId xmlns:a16="http://schemas.microsoft.com/office/drawing/2014/main" id="{C0B896BC-20E6-994F-225C-00B118CA4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4943475"/>
            <a:ext cx="757238" cy="369888"/>
          </a:xfrm>
          <a:prstGeom prst="rect">
            <a:avLst/>
          </a:prstGeom>
          <a:solidFill>
            <a:srgbClr val="002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main</a:t>
            </a:r>
            <a:endParaRPr lang="zh-CN" altLang="en-US" sz="1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282F3E-50BA-2CE4-E504-8BF08AD2E7BB}"/>
              </a:ext>
            </a:extLst>
          </p:cNvPr>
          <p:cNvSpPr txBox="1"/>
          <p:nvPr/>
        </p:nvSpPr>
        <p:spPr>
          <a:xfrm>
            <a:off x="2195513" y="5481638"/>
            <a:ext cx="1362075" cy="922337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catch(...);</a:t>
            </a:r>
          </a:p>
          <a:p>
            <a:pPr eaLnBrk="1" hangingPunct="1">
              <a:defRPr/>
            </a:pPr>
            <a:r>
              <a:rPr lang="en-GB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catch(...);</a:t>
            </a:r>
          </a:p>
          <a:p>
            <a:pPr eaLnBrk="1" hangingPunct="1">
              <a:defRPr/>
            </a:pPr>
            <a:r>
              <a:rPr lang="en-GB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......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88FFC5F-ED1F-2A4B-E0A6-24C1344838FB}"/>
              </a:ext>
            </a:extLst>
          </p:cNvPr>
          <p:cNvCxnSpPr/>
          <p:nvPr/>
        </p:nvCxnSpPr>
        <p:spPr>
          <a:xfrm>
            <a:off x="1116013" y="5159375"/>
            <a:ext cx="125571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76B4D67-C26F-6C32-FD80-BE2D73DAB101}"/>
              </a:ext>
            </a:extLst>
          </p:cNvPr>
          <p:cNvCxnSpPr/>
          <p:nvPr/>
        </p:nvCxnSpPr>
        <p:spPr>
          <a:xfrm>
            <a:off x="3132138" y="5159375"/>
            <a:ext cx="330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22AE1AB-90A0-B6FC-4937-A58D07CAC5AE}"/>
              </a:ext>
            </a:extLst>
          </p:cNvPr>
          <p:cNvCxnSpPr/>
          <p:nvPr/>
        </p:nvCxnSpPr>
        <p:spPr>
          <a:xfrm>
            <a:off x="3517900" y="5159375"/>
            <a:ext cx="479425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B25587FA-59BD-EC38-5AB9-EB1AF8448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052763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每个函数都有一个</a:t>
            </a:r>
            <a:r>
              <a:rPr lang="en-US" altLang="zh-CN" dirty="0"/>
              <a:t>catch</a:t>
            </a:r>
            <a:r>
              <a:rPr lang="zh-CN" altLang="en-US" dirty="0"/>
              <a:t>表。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每进入一个</a:t>
            </a:r>
            <a:r>
              <a:rPr lang="en-US" altLang="zh-CN" dirty="0"/>
              <a:t>try</a:t>
            </a:r>
            <a:r>
              <a:rPr lang="zh-CN" altLang="en-US" dirty="0"/>
              <a:t>，都会把其后的所有</a:t>
            </a:r>
            <a:r>
              <a:rPr lang="en-US" altLang="zh-CN" dirty="0"/>
              <a:t>catch</a:t>
            </a:r>
            <a:r>
              <a:rPr lang="zh-CN" altLang="en-US" dirty="0"/>
              <a:t>入口地址记录在相应函数的</a:t>
            </a:r>
            <a:r>
              <a:rPr lang="en-US" altLang="zh-CN" dirty="0"/>
              <a:t>catch</a:t>
            </a:r>
            <a:r>
              <a:rPr lang="zh-CN" altLang="en-US" dirty="0"/>
              <a:t>表中。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执行</a:t>
            </a:r>
            <a:r>
              <a:rPr lang="en-US" altLang="zh-CN" dirty="0"/>
              <a:t>throw</a:t>
            </a:r>
            <a:r>
              <a:rPr lang="zh-CN" altLang="en-US" dirty="0"/>
              <a:t>时，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顺着函数调用链去搜索</a:t>
            </a:r>
            <a:r>
              <a:rPr lang="en-US" altLang="zh-CN" dirty="0"/>
              <a:t>throw</a:t>
            </a:r>
            <a:r>
              <a:rPr lang="zh-CN" altLang="en-US" dirty="0"/>
              <a:t>所在</a:t>
            </a:r>
            <a:r>
              <a:rPr lang="en-US" altLang="zh-CN" dirty="0"/>
              <a:t>try</a:t>
            </a:r>
            <a:r>
              <a:rPr lang="zh-CN" altLang="en-US" dirty="0"/>
              <a:t>对应的</a:t>
            </a:r>
            <a:r>
              <a:rPr lang="en-US" altLang="zh-CN" dirty="0"/>
              <a:t>catch</a:t>
            </a:r>
            <a:r>
              <a:rPr lang="zh-CN" altLang="en-US" dirty="0"/>
              <a:t>入口；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对之前函数调用的栈空间进行退栈处理；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转到搜索到的</a:t>
            </a:r>
            <a:r>
              <a:rPr lang="en-US" altLang="zh-CN" dirty="0"/>
              <a:t>catch</a:t>
            </a:r>
            <a:r>
              <a:rPr lang="zh-CN" altLang="en-US" dirty="0"/>
              <a:t>入口。</a:t>
            </a: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159B4F-5B6A-7BE7-E96D-BF8AB157A753}"/>
              </a:ext>
            </a:extLst>
          </p:cNvPr>
          <p:cNvSpPr txBox="1"/>
          <p:nvPr/>
        </p:nvSpPr>
        <p:spPr>
          <a:xfrm>
            <a:off x="7608888" y="5468938"/>
            <a:ext cx="1284287" cy="120015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throw ...</a:t>
            </a:r>
            <a:r>
              <a:rPr lang="en-GB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;</a:t>
            </a:r>
          </a:p>
          <a:p>
            <a:pPr eaLnBrk="1" hangingPunct="1">
              <a:defRPr/>
            </a:pPr>
            <a:r>
              <a:rPr lang="en-GB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...... </a:t>
            </a:r>
          </a:p>
          <a:p>
            <a:pPr eaLnBrk="1" hangingPunct="1">
              <a:defRPr/>
            </a:pPr>
            <a:r>
              <a:rPr lang="en-GB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throw ...;</a:t>
            </a:r>
          </a:p>
          <a:p>
            <a:pPr eaLnBrk="1" hangingPunct="1">
              <a:defRPr/>
            </a:pPr>
            <a:r>
              <a:rPr lang="en-GB" altLang="zh-CN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......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1_Globe 9">
    <a:dk1>
      <a:srgbClr val="003B76"/>
    </a:dk1>
    <a:lt1>
      <a:srgbClr val="FFFFFF"/>
    </a:lt1>
    <a:dk2>
      <a:srgbClr val="0066CC"/>
    </a:dk2>
    <a:lt2>
      <a:srgbClr val="FFFF00"/>
    </a:lt2>
    <a:accent1>
      <a:srgbClr val="33CCCC"/>
    </a:accent1>
    <a:accent2>
      <a:srgbClr val="66CCFF"/>
    </a:accent2>
    <a:accent3>
      <a:srgbClr val="AAB8E2"/>
    </a:accent3>
    <a:accent4>
      <a:srgbClr val="DADADA"/>
    </a:accent4>
    <a:accent5>
      <a:srgbClr val="ADE2E2"/>
    </a:accent5>
    <a:accent6>
      <a:srgbClr val="5CB9E7"/>
    </a:accent6>
    <a:hlink>
      <a:srgbClr val="FFFFCC"/>
    </a:hlink>
    <a:folHlink>
      <a:srgbClr val="FFCC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5702</TotalTime>
  <Words>2149</Words>
  <Application>Microsoft Office PowerPoint</Application>
  <PresentationFormat>全屏显示(4:3)</PresentationFormat>
  <Paragraphs>281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Verdana</vt:lpstr>
      <vt:lpstr>宋体</vt:lpstr>
      <vt:lpstr>Arial</vt:lpstr>
      <vt:lpstr>Wingdings</vt:lpstr>
      <vt:lpstr>等线</vt:lpstr>
      <vt:lpstr>Globe</vt:lpstr>
      <vt:lpstr>异常处理</vt:lpstr>
      <vt:lpstr>主要内容</vt:lpstr>
      <vt:lpstr>异常概述</vt:lpstr>
      <vt:lpstr>PowerPoint 演示文稿</vt:lpstr>
      <vt:lpstr>PowerPoint 演示文稿</vt:lpstr>
      <vt:lpstr>异常处理的策略</vt:lpstr>
      <vt:lpstr>异常的就地处理</vt:lpstr>
      <vt:lpstr>PowerPoint 演示文稿</vt:lpstr>
      <vt:lpstr>异常的异地处理</vt:lpstr>
      <vt:lpstr>PowerPoint 演示文稿</vt:lpstr>
      <vt:lpstr>PowerPoint 演示文稿</vt:lpstr>
      <vt:lpstr>PowerPoint 演示文稿</vt:lpstr>
      <vt:lpstr>PowerPoint 演示文稿</vt:lpstr>
      <vt:lpstr>C++结构化异常处理机制</vt:lpstr>
      <vt:lpstr>PowerPoint 演示文稿</vt:lpstr>
      <vt:lpstr>try语句</vt:lpstr>
      <vt:lpstr>throw语句</vt:lpstr>
      <vt:lpstr>catch语句</vt:lpstr>
      <vt:lpstr>PowerPoint 演示文稿</vt:lpstr>
      <vt:lpstr>PowerPoint 演示文稿</vt:lpstr>
      <vt:lpstr>PowerPoint 演示文稿</vt:lpstr>
      <vt:lpstr>异常处理的嵌套 </vt:lpstr>
      <vt:lpstr>PowerPoint 演示文稿</vt:lpstr>
      <vt:lpstr>例：一种处理除数为0的异常错误</vt:lpstr>
      <vt:lpstr>PowerPoint 演示文稿</vt:lpstr>
      <vt:lpstr>PowerPoint 演示文稿</vt:lpstr>
      <vt:lpstr>异常处理实现机制（示意）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第十一章 异常处理</dc:title>
  <dc:creator>chenjiajun</dc:creator>
  <cp:lastModifiedBy>润泽 颜</cp:lastModifiedBy>
  <cp:revision>173</cp:revision>
  <dcterms:created xsi:type="dcterms:W3CDTF">2005-01-07T00:40:31Z</dcterms:created>
  <dcterms:modified xsi:type="dcterms:W3CDTF">2026-06-18T00:20:45Z</dcterms:modified>
</cp:coreProperties>
</file>