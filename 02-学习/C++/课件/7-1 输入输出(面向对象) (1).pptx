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98" r:id="rId2"/>
    <p:sldId id="299" r:id="rId3"/>
    <p:sldId id="351" r:id="rId4"/>
    <p:sldId id="257" r:id="rId5"/>
    <p:sldId id="333" r:id="rId6"/>
    <p:sldId id="326" r:id="rId7"/>
    <p:sldId id="327" r:id="rId8"/>
    <p:sldId id="301" r:id="rId9"/>
    <p:sldId id="302" r:id="rId10"/>
    <p:sldId id="352" r:id="rId11"/>
    <p:sldId id="304" r:id="rId12"/>
    <p:sldId id="264" r:id="rId13"/>
    <p:sldId id="270" r:id="rId14"/>
    <p:sldId id="305" r:id="rId15"/>
    <p:sldId id="272" r:id="rId16"/>
    <p:sldId id="346" r:id="rId17"/>
    <p:sldId id="306" r:id="rId18"/>
    <p:sldId id="271" r:id="rId19"/>
    <p:sldId id="347" r:id="rId20"/>
    <p:sldId id="348" r:id="rId21"/>
    <p:sldId id="336" r:id="rId22"/>
    <p:sldId id="337" r:id="rId23"/>
    <p:sldId id="338" r:id="rId24"/>
    <p:sldId id="345" r:id="rId25"/>
    <p:sldId id="344" r:id="rId26"/>
    <p:sldId id="310" r:id="rId27"/>
    <p:sldId id="311" r:id="rId28"/>
    <p:sldId id="259" r:id="rId29"/>
    <p:sldId id="275" r:id="rId30"/>
    <p:sldId id="266" r:id="rId31"/>
    <p:sldId id="339" r:id="rId32"/>
    <p:sldId id="340" r:id="rId33"/>
    <p:sldId id="341" r:id="rId34"/>
    <p:sldId id="312" r:id="rId35"/>
    <p:sldId id="313" r:id="rId36"/>
    <p:sldId id="320" r:id="rId37"/>
    <p:sldId id="319" r:id="rId38"/>
    <p:sldId id="343" r:id="rId39"/>
    <p:sldId id="329" r:id="rId40"/>
    <p:sldId id="316" r:id="rId41"/>
    <p:sldId id="321" r:id="rId42"/>
    <p:sldId id="314" r:id="rId43"/>
    <p:sldId id="325" r:id="rId44"/>
    <p:sldId id="350" r:id="rId45"/>
    <p:sldId id="342" r:id="rId46"/>
    <p:sldId id="322" r:id="rId47"/>
    <p:sldId id="332" r:id="rId48"/>
    <p:sldId id="296" r:id="rId49"/>
    <p:sldId id="318"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92" autoAdjust="0"/>
    <p:restoredTop sz="94660"/>
  </p:normalViewPr>
  <p:slideViewPr>
    <p:cSldViewPr>
      <p:cViewPr varScale="1">
        <p:scale>
          <a:sx n="162" d="100"/>
          <a:sy n="162" d="100"/>
        </p:scale>
        <p:origin x="4320"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AACA733-8D77-F3C4-CE0A-0F65AFA30804}"/>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3BFD8D25-9C68-3BC1-2071-4CC40642E57D}"/>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 name="Freeform 4">
              <a:extLst>
                <a:ext uri="{FF2B5EF4-FFF2-40B4-BE49-F238E27FC236}">
                  <a16:creationId xmlns:a16="http://schemas.microsoft.com/office/drawing/2014/main" id="{01658C81-AF33-7319-9A0B-5EC166D68C76}"/>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5" name="Freeform 5">
              <a:extLst>
                <a:ext uri="{FF2B5EF4-FFF2-40B4-BE49-F238E27FC236}">
                  <a16:creationId xmlns:a16="http://schemas.microsoft.com/office/drawing/2014/main" id="{0F9AEEEA-4E34-5A40-9F93-B37CDEB64B29}"/>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6" name="Group 6">
              <a:extLst>
                <a:ext uri="{FF2B5EF4-FFF2-40B4-BE49-F238E27FC236}">
                  <a16:creationId xmlns:a16="http://schemas.microsoft.com/office/drawing/2014/main" id="{6FAC240F-FA6A-2D14-29C0-192C420D22CF}"/>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AAB456EE-D5F2-03DD-B1FA-3EE771605367}"/>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7" name="Freeform 8">
                <a:extLst>
                  <a:ext uri="{FF2B5EF4-FFF2-40B4-BE49-F238E27FC236}">
                    <a16:creationId xmlns:a16="http://schemas.microsoft.com/office/drawing/2014/main" id="{241DF44B-474D-9098-2872-AF8C7B87A671}"/>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8" name="Freeform 9">
                <a:extLst>
                  <a:ext uri="{FF2B5EF4-FFF2-40B4-BE49-F238E27FC236}">
                    <a16:creationId xmlns:a16="http://schemas.microsoft.com/office/drawing/2014/main" id="{036F0E43-EE30-AB72-2275-D99EB9A2F6D9}"/>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9" name="Freeform 10">
                <a:extLst>
                  <a:ext uri="{FF2B5EF4-FFF2-40B4-BE49-F238E27FC236}">
                    <a16:creationId xmlns:a16="http://schemas.microsoft.com/office/drawing/2014/main" id="{AD57D090-1C0E-8966-8281-338D44FD9A4E}"/>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0" name="Freeform 11">
                <a:extLst>
                  <a:ext uri="{FF2B5EF4-FFF2-40B4-BE49-F238E27FC236}">
                    <a16:creationId xmlns:a16="http://schemas.microsoft.com/office/drawing/2014/main" id="{3312BC0B-E7D7-0989-2235-A72BDFE77A95}"/>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1" name="Freeform 12">
                <a:extLst>
                  <a:ext uri="{FF2B5EF4-FFF2-40B4-BE49-F238E27FC236}">
                    <a16:creationId xmlns:a16="http://schemas.microsoft.com/office/drawing/2014/main" id="{201B6E1D-7318-165C-D218-A10BDDB65FA3}"/>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2" name="Freeform 13">
                <a:extLst>
                  <a:ext uri="{FF2B5EF4-FFF2-40B4-BE49-F238E27FC236}">
                    <a16:creationId xmlns:a16="http://schemas.microsoft.com/office/drawing/2014/main" id="{90667461-2AAC-F1D1-9084-5BDE556EED96}"/>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3" name="Freeform 14">
                <a:extLst>
                  <a:ext uri="{FF2B5EF4-FFF2-40B4-BE49-F238E27FC236}">
                    <a16:creationId xmlns:a16="http://schemas.microsoft.com/office/drawing/2014/main" id="{9DEAF2C4-9C83-38E0-2566-C25138031296}"/>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4" name="Freeform 15">
                <a:extLst>
                  <a:ext uri="{FF2B5EF4-FFF2-40B4-BE49-F238E27FC236}">
                    <a16:creationId xmlns:a16="http://schemas.microsoft.com/office/drawing/2014/main" id="{22540B47-A542-2133-3E52-CF2E16E59E36}"/>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5" name="Freeform 16">
                <a:extLst>
                  <a:ext uri="{FF2B5EF4-FFF2-40B4-BE49-F238E27FC236}">
                    <a16:creationId xmlns:a16="http://schemas.microsoft.com/office/drawing/2014/main" id="{75A98F30-6A6B-E4CA-39FC-69B16F825846}"/>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6" name="Freeform 17">
                <a:extLst>
                  <a:ext uri="{FF2B5EF4-FFF2-40B4-BE49-F238E27FC236}">
                    <a16:creationId xmlns:a16="http://schemas.microsoft.com/office/drawing/2014/main" id="{E2F38968-82F4-13CC-2124-EDF167C09936}"/>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7" name="Freeform 18">
                <a:extLst>
                  <a:ext uri="{FF2B5EF4-FFF2-40B4-BE49-F238E27FC236}">
                    <a16:creationId xmlns:a16="http://schemas.microsoft.com/office/drawing/2014/main" id="{72CBE963-9B69-D1F0-DEBE-0244CC613F82}"/>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8" name="Freeform 19">
                <a:extLst>
                  <a:ext uri="{FF2B5EF4-FFF2-40B4-BE49-F238E27FC236}">
                    <a16:creationId xmlns:a16="http://schemas.microsoft.com/office/drawing/2014/main" id="{FFBE8B4E-4979-702B-3871-8DE03B8704E8}"/>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7" name="Freeform 20">
              <a:extLst>
                <a:ext uri="{FF2B5EF4-FFF2-40B4-BE49-F238E27FC236}">
                  <a16:creationId xmlns:a16="http://schemas.microsoft.com/office/drawing/2014/main" id="{28A12D35-2924-47A3-68DE-22200A99C6D0}"/>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8" name="Freeform 21">
              <a:extLst>
                <a:ext uri="{FF2B5EF4-FFF2-40B4-BE49-F238E27FC236}">
                  <a16:creationId xmlns:a16="http://schemas.microsoft.com/office/drawing/2014/main" id="{D478F81D-B3AD-410C-30E7-71A9996A05E1}"/>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9" name="Freeform 22">
              <a:extLst>
                <a:ext uri="{FF2B5EF4-FFF2-40B4-BE49-F238E27FC236}">
                  <a16:creationId xmlns:a16="http://schemas.microsoft.com/office/drawing/2014/main" id="{12FC5037-5DD9-5BA3-67DA-972AFB339242}"/>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 name="Freeform 23">
              <a:extLst>
                <a:ext uri="{FF2B5EF4-FFF2-40B4-BE49-F238E27FC236}">
                  <a16:creationId xmlns:a16="http://schemas.microsoft.com/office/drawing/2014/main" id="{D3DF6A60-BD8B-3309-C474-CE159F36CE8F}"/>
                </a:ext>
              </a:extLst>
            </p:cNvPr>
            <p:cNvSpPr>
              <a:spLocks/>
            </p:cNvSpPr>
            <p:nvPr/>
          </p:nvSpPr>
          <p:spPr bwMode="hidden">
            <a:xfrm>
              <a:off x="5041" y="0"/>
              <a:ext cx="719" cy="845"/>
            </a:xfrm>
            <a:custGeom>
              <a:avLst/>
              <a:gdLst>
                <a:gd name="T0" fmla="*/ 885 w 717"/>
                <a:gd name="T1" fmla="*/ 845 h 845"/>
                <a:gd name="T2" fmla="*/ 885 w 717"/>
                <a:gd name="T3" fmla="*/ 821 h 845"/>
                <a:gd name="T4" fmla="*/ 742 w 717"/>
                <a:gd name="T5" fmla="*/ 605 h 845"/>
                <a:gd name="T6" fmla="*/ 490 w 717"/>
                <a:gd name="T7" fmla="*/ 396 h 845"/>
                <a:gd name="T8" fmla="*/ 305 w 717"/>
                <a:gd name="T9" fmla="*/ 192 h 845"/>
                <a:gd name="T10" fmla="*/ 17 w 717"/>
                <a:gd name="T11" fmla="*/ 0 h 845"/>
                <a:gd name="T12" fmla="*/ 0 w 717"/>
                <a:gd name="T13" fmla="*/ 0 h 845"/>
                <a:gd name="T14" fmla="*/ 293 w 717"/>
                <a:gd name="T15" fmla="*/ 198 h 845"/>
                <a:gd name="T16" fmla="*/ 484 w 717"/>
                <a:gd name="T17" fmla="*/ 408 h 845"/>
                <a:gd name="T18" fmla="*/ 736 w 717"/>
                <a:gd name="T19" fmla="*/ 623 h 845"/>
                <a:gd name="T20" fmla="*/ 885 w 717"/>
                <a:gd name="T21" fmla="*/ 845 h 845"/>
                <a:gd name="T22" fmla="*/ 88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14F31B03-C50E-C7B5-3612-0A92FF7C1987}"/>
                </a:ext>
              </a:extLst>
            </p:cNvPr>
            <p:cNvSpPr>
              <a:spLocks/>
            </p:cNvSpPr>
            <p:nvPr/>
          </p:nvSpPr>
          <p:spPr bwMode="hidden">
            <a:xfrm>
              <a:off x="5352" y="0"/>
              <a:ext cx="408" cy="414"/>
            </a:xfrm>
            <a:custGeom>
              <a:avLst/>
              <a:gdLst>
                <a:gd name="T0" fmla="*/ 491 w 407"/>
                <a:gd name="T1" fmla="*/ 414 h 414"/>
                <a:gd name="T2" fmla="*/ 491 w 407"/>
                <a:gd name="T3" fmla="*/ 396 h 414"/>
                <a:gd name="T4" fmla="*/ 306 w 407"/>
                <a:gd name="T5" fmla="*/ 192 h 414"/>
                <a:gd name="T6" fmla="*/ 12 w 407"/>
                <a:gd name="T7" fmla="*/ 0 h 414"/>
                <a:gd name="T8" fmla="*/ 0 w 407"/>
                <a:gd name="T9" fmla="*/ 0 h 414"/>
                <a:gd name="T10" fmla="*/ 108 w 407"/>
                <a:gd name="T11" fmla="*/ 102 h 414"/>
                <a:gd name="T12" fmla="*/ 300 w 407"/>
                <a:gd name="T13" fmla="*/ 204 h 414"/>
                <a:gd name="T14" fmla="*/ 491 w 407"/>
                <a:gd name="T15" fmla="*/ 414 h 414"/>
                <a:gd name="T16" fmla="*/ 49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FCF268F4-33A4-F448-92AC-8500E4A7ECE1}"/>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3" name="Freeform 26">
              <a:extLst>
                <a:ext uri="{FF2B5EF4-FFF2-40B4-BE49-F238E27FC236}">
                  <a16:creationId xmlns:a16="http://schemas.microsoft.com/office/drawing/2014/main" id="{16A77FA5-1CEA-A1ED-69D6-1B254E10F7AA}"/>
                </a:ext>
              </a:extLst>
            </p:cNvPr>
            <p:cNvSpPr>
              <a:spLocks/>
            </p:cNvSpPr>
            <p:nvPr/>
          </p:nvSpPr>
          <p:spPr bwMode="hidden">
            <a:xfrm>
              <a:off x="6" y="0"/>
              <a:ext cx="588" cy="599"/>
            </a:xfrm>
            <a:custGeom>
              <a:avLst/>
              <a:gdLst>
                <a:gd name="T0" fmla="*/ 764 w 586"/>
                <a:gd name="T1" fmla="*/ 0 h 599"/>
                <a:gd name="T2" fmla="*/ 737 w 586"/>
                <a:gd name="T3" fmla="*/ 0 h 599"/>
                <a:gd name="T4" fmla="*/ 542 w 586"/>
                <a:gd name="T5" fmla="*/ 132 h 599"/>
                <a:gd name="T6" fmla="*/ 341 w 586"/>
                <a:gd name="T7" fmla="*/ 270 h 599"/>
                <a:gd name="T8" fmla="*/ 120 w 586"/>
                <a:gd name="T9" fmla="*/ 420 h 599"/>
                <a:gd name="T10" fmla="*/ 0 w 586"/>
                <a:gd name="T11" fmla="*/ 575 h 599"/>
                <a:gd name="T12" fmla="*/ 0 w 586"/>
                <a:gd name="T13" fmla="*/ 599 h 599"/>
                <a:gd name="T14" fmla="*/ 120 w 586"/>
                <a:gd name="T15" fmla="*/ 432 h 599"/>
                <a:gd name="T16" fmla="*/ 341 w 586"/>
                <a:gd name="T17" fmla="*/ 282 h 599"/>
                <a:gd name="T18" fmla="*/ 554 w 586"/>
                <a:gd name="T19" fmla="*/ 138 h 599"/>
                <a:gd name="T20" fmla="*/ 764 w 586"/>
                <a:gd name="T21" fmla="*/ 0 h 599"/>
                <a:gd name="T22" fmla="*/ 76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02FB15A8-688E-2D3E-114B-9518A00EB4CA}"/>
                </a:ext>
              </a:extLst>
            </p:cNvPr>
            <p:cNvSpPr>
              <a:spLocks/>
            </p:cNvSpPr>
            <p:nvPr/>
          </p:nvSpPr>
          <p:spPr bwMode="hidden">
            <a:xfrm>
              <a:off x="6" y="0"/>
              <a:ext cx="270" cy="252"/>
            </a:xfrm>
            <a:custGeom>
              <a:avLst/>
              <a:gdLst>
                <a:gd name="T0" fmla="*/ 353 w 269"/>
                <a:gd name="T1" fmla="*/ 0 h 252"/>
                <a:gd name="T2" fmla="*/ 33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53 w 269"/>
                <a:gd name="T15" fmla="*/ 0 h 252"/>
                <a:gd name="T16" fmla="*/ 35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356682E3-85A1-BCC7-E88E-D35A22ACB27B}"/>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BAA3F7BD-247E-F5A4-1326-DF96F46B613A}"/>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7A4C28FD-1F9C-3B2B-4721-E18685216DB4}"/>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4646B29C-6857-1E32-4BD5-CC1782431F04}"/>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E3E932B2-A108-024E-2EFF-5E7C8F1B3B40}"/>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AF4FA564-BF72-AE7E-CDFC-4D9696B6AF07}"/>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ADEF5E57-138A-7FC2-5F4A-AD030E3593B4}"/>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768A84C4-8C4E-ED0F-032D-5B5BAFDCF92F}"/>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C9BAA010-5C9A-6BA2-EDDD-606B3D80BD5A}"/>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4CDDFB62-FF02-88FA-7B99-360C60AB2E8B}"/>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3BF3657E-B812-99CF-FF06-00ED285BF442}"/>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9"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5160"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F12E9581-B2D7-743D-1F7D-1965F1F378C1}"/>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5ADED727-95E0-46D0-705D-AD8A3B2D484A}"/>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5AE204E2-0430-A2D6-02DA-3525CB9565B3}"/>
              </a:ext>
            </a:extLst>
          </p:cNvPr>
          <p:cNvSpPr>
            <a:spLocks noGrp="1" noChangeArrowheads="1"/>
          </p:cNvSpPr>
          <p:nvPr>
            <p:ph type="sldNum" sz="quarter" idx="12"/>
          </p:nvPr>
        </p:nvSpPr>
        <p:spPr/>
        <p:txBody>
          <a:bodyPr/>
          <a:lstStyle>
            <a:lvl1pPr>
              <a:defRPr/>
            </a:lvl1pPr>
          </a:lstStyle>
          <a:p>
            <a:fld id="{1F9DEFE2-E2D0-4DD0-BF42-D13B3764E173}" type="slidenum">
              <a:rPr lang="en-US" altLang="zh-CN"/>
              <a:pPr/>
              <a:t>‹#›</a:t>
            </a:fld>
            <a:endParaRPr lang="en-US" altLang="zh-CN"/>
          </a:p>
        </p:txBody>
      </p:sp>
    </p:spTree>
    <p:extLst>
      <p:ext uri="{BB962C8B-B14F-4D97-AF65-F5344CB8AC3E}">
        <p14:creationId xmlns:p14="http://schemas.microsoft.com/office/powerpoint/2010/main" val="1383386"/>
      </p:ext>
    </p:extLst>
  </p:cSld>
  <p:clrMapOvr>
    <a:overrideClrMapping bg1="dk2" tx1="lt1" bg2="dk1"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5F1C894F-834D-0543-8632-8089C8130F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3EC6BC7A-D52F-B86D-A552-2BB67ADF7E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6A1DEBD5-524D-CCDA-01C8-B99E12C3DF82}"/>
              </a:ext>
            </a:extLst>
          </p:cNvPr>
          <p:cNvSpPr>
            <a:spLocks noGrp="1" noChangeArrowheads="1"/>
          </p:cNvSpPr>
          <p:nvPr>
            <p:ph type="sldNum" sz="quarter" idx="12"/>
          </p:nvPr>
        </p:nvSpPr>
        <p:spPr>
          <a:ln/>
        </p:spPr>
        <p:txBody>
          <a:bodyPr/>
          <a:lstStyle>
            <a:lvl1pPr>
              <a:defRPr/>
            </a:lvl1pPr>
          </a:lstStyle>
          <a:p>
            <a:fld id="{DEDBD9DE-AE5D-4571-9F62-B881B9E02879}" type="slidenum">
              <a:rPr lang="en-US" altLang="zh-CN"/>
              <a:pPr/>
              <a:t>‹#›</a:t>
            </a:fld>
            <a:endParaRPr lang="en-US" altLang="zh-CN"/>
          </a:p>
        </p:txBody>
      </p:sp>
    </p:spTree>
    <p:extLst>
      <p:ext uri="{BB962C8B-B14F-4D97-AF65-F5344CB8AC3E}">
        <p14:creationId xmlns:p14="http://schemas.microsoft.com/office/powerpoint/2010/main" val="2584320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D8B0B36D-30C7-D3CD-CA23-BBE9EDEA6F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A91215AF-FA4E-3014-51E6-32DDA750CF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262C2583-FE8C-4790-BB72-46AF8FA9F9CA}"/>
              </a:ext>
            </a:extLst>
          </p:cNvPr>
          <p:cNvSpPr>
            <a:spLocks noGrp="1" noChangeArrowheads="1"/>
          </p:cNvSpPr>
          <p:nvPr>
            <p:ph type="sldNum" sz="quarter" idx="12"/>
          </p:nvPr>
        </p:nvSpPr>
        <p:spPr>
          <a:ln/>
        </p:spPr>
        <p:txBody>
          <a:bodyPr/>
          <a:lstStyle>
            <a:lvl1pPr>
              <a:defRPr/>
            </a:lvl1pPr>
          </a:lstStyle>
          <a:p>
            <a:fld id="{B807D838-6DB2-45CB-A910-5375300C3A69}" type="slidenum">
              <a:rPr lang="en-US" altLang="zh-CN"/>
              <a:pPr/>
              <a:t>‹#›</a:t>
            </a:fld>
            <a:endParaRPr lang="en-US" altLang="zh-CN"/>
          </a:p>
        </p:txBody>
      </p:sp>
    </p:spTree>
    <p:extLst>
      <p:ext uri="{BB962C8B-B14F-4D97-AF65-F5344CB8AC3E}">
        <p14:creationId xmlns:p14="http://schemas.microsoft.com/office/powerpoint/2010/main" val="3147569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C3FA3A3C-3682-0851-082A-D9C4AEDB2AC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45653DC3-251E-C5B7-3E6E-0D04EE8BCC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75A62FF3-C7D0-D4AE-8133-3F0531DC12ED}"/>
              </a:ext>
            </a:extLst>
          </p:cNvPr>
          <p:cNvSpPr>
            <a:spLocks noGrp="1" noChangeArrowheads="1"/>
          </p:cNvSpPr>
          <p:nvPr>
            <p:ph type="sldNum" sz="quarter" idx="12"/>
          </p:nvPr>
        </p:nvSpPr>
        <p:spPr>
          <a:ln/>
        </p:spPr>
        <p:txBody>
          <a:bodyPr/>
          <a:lstStyle>
            <a:lvl1pPr>
              <a:defRPr/>
            </a:lvl1pPr>
          </a:lstStyle>
          <a:p>
            <a:fld id="{AF3EA5A0-01E1-4C5E-BDDA-DAAABF20938F}" type="slidenum">
              <a:rPr lang="en-US" altLang="zh-CN"/>
              <a:pPr/>
              <a:t>‹#›</a:t>
            </a:fld>
            <a:endParaRPr lang="en-US" altLang="zh-CN"/>
          </a:p>
        </p:txBody>
      </p:sp>
    </p:spTree>
    <p:extLst>
      <p:ext uri="{BB962C8B-B14F-4D97-AF65-F5344CB8AC3E}">
        <p14:creationId xmlns:p14="http://schemas.microsoft.com/office/powerpoint/2010/main" val="2138005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78214AE4-7FD7-C321-DDE1-9D91969D01A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6E2FEC1D-B85B-F810-7925-5FFBFAD6188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821EE254-3FEC-BC76-6964-795816B70D4F}"/>
              </a:ext>
            </a:extLst>
          </p:cNvPr>
          <p:cNvSpPr>
            <a:spLocks noGrp="1" noChangeArrowheads="1"/>
          </p:cNvSpPr>
          <p:nvPr>
            <p:ph type="sldNum" sz="quarter" idx="12"/>
          </p:nvPr>
        </p:nvSpPr>
        <p:spPr>
          <a:ln/>
        </p:spPr>
        <p:txBody>
          <a:bodyPr/>
          <a:lstStyle>
            <a:lvl1pPr>
              <a:defRPr/>
            </a:lvl1pPr>
          </a:lstStyle>
          <a:p>
            <a:fld id="{E2D06DB0-44F7-4395-AA42-55B1DAB7C673}" type="slidenum">
              <a:rPr lang="en-US" altLang="zh-CN"/>
              <a:pPr/>
              <a:t>‹#›</a:t>
            </a:fld>
            <a:endParaRPr lang="en-US" altLang="zh-CN"/>
          </a:p>
        </p:txBody>
      </p:sp>
    </p:spTree>
    <p:extLst>
      <p:ext uri="{BB962C8B-B14F-4D97-AF65-F5344CB8AC3E}">
        <p14:creationId xmlns:p14="http://schemas.microsoft.com/office/powerpoint/2010/main" val="244950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0B334E69-BCAA-633F-D272-4906A6131FE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0BEB49AA-3C1E-1960-29FE-792414E845B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8F2A61B4-0294-AF30-6154-F68D98355E70}"/>
              </a:ext>
            </a:extLst>
          </p:cNvPr>
          <p:cNvSpPr>
            <a:spLocks noGrp="1" noChangeArrowheads="1"/>
          </p:cNvSpPr>
          <p:nvPr>
            <p:ph type="sldNum" sz="quarter" idx="12"/>
          </p:nvPr>
        </p:nvSpPr>
        <p:spPr>
          <a:ln/>
        </p:spPr>
        <p:txBody>
          <a:bodyPr/>
          <a:lstStyle>
            <a:lvl1pPr>
              <a:defRPr/>
            </a:lvl1pPr>
          </a:lstStyle>
          <a:p>
            <a:fld id="{00B06666-9144-47A5-96D8-DA067CB925EF}" type="slidenum">
              <a:rPr lang="en-US" altLang="zh-CN"/>
              <a:pPr/>
              <a:t>‹#›</a:t>
            </a:fld>
            <a:endParaRPr lang="en-US" altLang="zh-CN"/>
          </a:p>
        </p:txBody>
      </p:sp>
    </p:spTree>
    <p:extLst>
      <p:ext uri="{BB962C8B-B14F-4D97-AF65-F5344CB8AC3E}">
        <p14:creationId xmlns:p14="http://schemas.microsoft.com/office/powerpoint/2010/main" val="1455730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D9006D08-3555-03EC-D8BA-19EBC35868D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981DF3D1-C9A9-99EE-3E1D-A41AAB9697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C3CDD8DA-FE2D-049D-9E3A-532D68EE2372}"/>
              </a:ext>
            </a:extLst>
          </p:cNvPr>
          <p:cNvSpPr>
            <a:spLocks noGrp="1" noChangeArrowheads="1"/>
          </p:cNvSpPr>
          <p:nvPr>
            <p:ph type="sldNum" sz="quarter" idx="12"/>
          </p:nvPr>
        </p:nvSpPr>
        <p:spPr>
          <a:ln/>
        </p:spPr>
        <p:txBody>
          <a:bodyPr/>
          <a:lstStyle>
            <a:lvl1pPr>
              <a:defRPr/>
            </a:lvl1pPr>
          </a:lstStyle>
          <a:p>
            <a:fld id="{9E921D16-02B7-4BC0-905F-54036A80B635}" type="slidenum">
              <a:rPr lang="en-US" altLang="zh-CN"/>
              <a:pPr/>
              <a:t>‹#›</a:t>
            </a:fld>
            <a:endParaRPr lang="en-US" altLang="zh-CN"/>
          </a:p>
        </p:txBody>
      </p:sp>
    </p:spTree>
    <p:extLst>
      <p:ext uri="{BB962C8B-B14F-4D97-AF65-F5344CB8AC3E}">
        <p14:creationId xmlns:p14="http://schemas.microsoft.com/office/powerpoint/2010/main" val="4080422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B2AE025B-0FCD-06D2-E81C-6A348FA82FB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1A372A87-34AC-1C90-7768-6690CCFED35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0531E8EB-5FE0-A832-D1C7-BB2F346B3CCE}"/>
              </a:ext>
            </a:extLst>
          </p:cNvPr>
          <p:cNvSpPr>
            <a:spLocks noGrp="1" noChangeArrowheads="1"/>
          </p:cNvSpPr>
          <p:nvPr>
            <p:ph type="sldNum" sz="quarter" idx="12"/>
          </p:nvPr>
        </p:nvSpPr>
        <p:spPr>
          <a:ln/>
        </p:spPr>
        <p:txBody>
          <a:bodyPr/>
          <a:lstStyle>
            <a:lvl1pPr>
              <a:defRPr/>
            </a:lvl1pPr>
          </a:lstStyle>
          <a:p>
            <a:fld id="{DD4A9B63-308B-4454-8843-6407BA7EBFE2}" type="slidenum">
              <a:rPr lang="en-US" altLang="zh-CN"/>
              <a:pPr/>
              <a:t>‹#›</a:t>
            </a:fld>
            <a:endParaRPr lang="en-US" altLang="zh-CN"/>
          </a:p>
        </p:txBody>
      </p:sp>
    </p:spTree>
    <p:extLst>
      <p:ext uri="{BB962C8B-B14F-4D97-AF65-F5344CB8AC3E}">
        <p14:creationId xmlns:p14="http://schemas.microsoft.com/office/powerpoint/2010/main" val="2857337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258BADA9-A23B-25A0-3A0F-8803EE1A63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6AA5EDA-598B-2E72-DF73-F7F9688DB54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BF2100B6-F22D-EC65-5231-4A64C83B3759}"/>
              </a:ext>
            </a:extLst>
          </p:cNvPr>
          <p:cNvSpPr>
            <a:spLocks noGrp="1" noChangeArrowheads="1"/>
          </p:cNvSpPr>
          <p:nvPr>
            <p:ph type="sldNum" sz="quarter" idx="12"/>
          </p:nvPr>
        </p:nvSpPr>
        <p:spPr>
          <a:ln/>
        </p:spPr>
        <p:txBody>
          <a:bodyPr/>
          <a:lstStyle>
            <a:lvl1pPr>
              <a:defRPr/>
            </a:lvl1pPr>
          </a:lstStyle>
          <a:p>
            <a:fld id="{615348BB-37ED-468B-AFC0-326D0D78CFAF}" type="slidenum">
              <a:rPr lang="en-US" altLang="zh-CN"/>
              <a:pPr/>
              <a:t>‹#›</a:t>
            </a:fld>
            <a:endParaRPr lang="en-US" altLang="zh-CN"/>
          </a:p>
        </p:txBody>
      </p:sp>
    </p:spTree>
    <p:extLst>
      <p:ext uri="{BB962C8B-B14F-4D97-AF65-F5344CB8AC3E}">
        <p14:creationId xmlns:p14="http://schemas.microsoft.com/office/powerpoint/2010/main" val="3449272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17535CC3-6CB0-31C3-49D5-9BCC39CD4B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A63EAAE-21C9-0D14-2D15-93D42E4CE0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F3E49432-6E02-CF7A-D54C-E0188DA9A3C2}"/>
              </a:ext>
            </a:extLst>
          </p:cNvPr>
          <p:cNvSpPr>
            <a:spLocks noGrp="1" noChangeArrowheads="1"/>
          </p:cNvSpPr>
          <p:nvPr>
            <p:ph type="sldNum" sz="quarter" idx="12"/>
          </p:nvPr>
        </p:nvSpPr>
        <p:spPr>
          <a:ln/>
        </p:spPr>
        <p:txBody>
          <a:bodyPr/>
          <a:lstStyle>
            <a:lvl1pPr>
              <a:defRPr/>
            </a:lvl1pPr>
          </a:lstStyle>
          <a:p>
            <a:fld id="{2FFDD4AD-6E71-43AD-914E-4E8249D795B1}" type="slidenum">
              <a:rPr lang="en-US" altLang="zh-CN"/>
              <a:pPr/>
              <a:t>‹#›</a:t>
            </a:fld>
            <a:endParaRPr lang="en-US" altLang="zh-CN"/>
          </a:p>
        </p:txBody>
      </p:sp>
    </p:spTree>
    <p:extLst>
      <p:ext uri="{BB962C8B-B14F-4D97-AF65-F5344CB8AC3E}">
        <p14:creationId xmlns:p14="http://schemas.microsoft.com/office/powerpoint/2010/main" val="4229160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AA9D278E-41B4-1265-1434-7D01B708962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CD6EA5A5-A6B5-96C5-0169-B8786DF6CFF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D0DA4F34-6B7A-A0B2-4172-24095DE86158}"/>
              </a:ext>
            </a:extLst>
          </p:cNvPr>
          <p:cNvSpPr>
            <a:spLocks noGrp="1" noChangeArrowheads="1"/>
          </p:cNvSpPr>
          <p:nvPr>
            <p:ph type="sldNum" sz="quarter" idx="12"/>
          </p:nvPr>
        </p:nvSpPr>
        <p:spPr>
          <a:ln/>
        </p:spPr>
        <p:txBody>
          <a:bodyPr/>
          <a:lstStyle>
            <a:lvl1pPr>
              <a:defRPr/>
            </a:lvl1pPr>
          </a:lstStyle>
          <a:p>
            <a:fld id="{BE7AC0A7-B4AC-45ED-A477-C26492A40945}" type="slidenum">
              <a:rPr lang="en-US" altLang="zh-CN"/>
              <a:pPr/>
              <a:t>‹#›</a:t>
            </a:fld>
            <a:endParaRPr lang="en-US" altLang="zh-CN"/>
          </a:p>
        </p:txBody>
      </p:sp>
    </p:spTree>
    <p:extLst>
      <p:ext uri="{BB962C8B-B14F-4D97-AF65-F5344CB8AC3E}">
        <p14:creationId xmlns:p14="http://schemas.microsoft.com/office/powerpoint/2010/main" val="3794413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89999">
              <a:srgbClr val="002C57"/>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AA4DDEBD-52EE-85C1-22FF-B6D9C67CFA0D}"/>
              </a:ext>
            </a:extLst>
          </p:cNvPr>
          <p:cNvGrpSpPr>
            <a:grpSpLocks/>
          </p:cNvGrpSpPr>
          <p:nvPr/>
        </p:nvGrpSpPr>
        <p:grpSpPr bwMode="auto">
          <a:xfrm>
            <a:off x="1588" y="0"/>
            <a:ext cx="9148762" cy="6851650"/>
            <a:chOff x="1" y="0"/>
            <a:chExt cx="5763" cy="4316"/>
          </a:xfrm>
        </p:grpSpPr>
        <p:sp>
          <p:nvSpPr>
            <p:cNvPr id="4099" name="Freeform 3">
              <a:extLst>
                <a:ext uri="{FF2B5EF4-FFF2-40B4-BE49-F238E27FC236}">
                  <a16:creationId xmlns:a16="http://schemas.microsoft.com/office/drawing/2014/main" id="{AB18F99F-AE86-2B2F-6665-AEED99DA9234}"/>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00" name="Freeform 4">
              <a:extLst>
                <a:ext uri="{FF2B5EF4-FFF2-40B4-BE49-F238E27FC236}">
                  <a16:creationId xmlns:a16="http://schemas.microsoft.com/office/drawing/2014/main" id="{3CFF1B63-380F-849D-740D-10168D321F7C}"/>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01" name="Freeform 5">
              <a:extLst>
                <a:ext uri="{FF2B5EF4-FFF2-40B4-BE49-F238E27FC236}">
                  <a16:creationId xmlns:a16="http://schemas.microsoft.com/office/drawing/2014/main" id="{224B6F65-86FC-FABA-2EF9-04FB72C6E672}"/>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1035" name="Group 6">
              <a:extLst>
                <a:ext uri="{FF2B5EF4-FFF2-40B4-BE49-F238E27FC236}">
                  <a16:creationId xmlns:a16="http://schemas.microsoft.com/office/drawing/2014/main" id="{B9DF9056-5A45-E6B1-7ADD-9BB39AD1CE5D}"/>
                </a:ext>
              </a:extLst>
            </p:cNvPr>
            <p:cNvGrpSpPr>
              <a:grpSpLocks/>
            </p:cNvGrpSpPr>
            <p:nvPr/>
          </p:nvGrpSpPr>
          <p:grpSpPr bwMode="auto">
            <a:xfrm>
              <a:off x="288" y="0"/>
              <a:ext cx="5098" cy="4316"/>
              <a:chOff x="288" y="0"/>
              <a:chExt cx="5098" cy="4316"/>
            </a:xfrm>
          </p:grpSpPr>
          <p:sp>
            <p:nvSpPr>
              <p:cNvPr id="4103" name="Freeform 7">
                <a:extLst>
                  <a:ext uri="{FF2B5EF4-FFF2-40B4-BE49-F238E27FC236}">
                    <a16:creationId xmlns:a16="http://schemas.microsoft.com/office/drawing/2014/main" id="{D461DD4E-E240-FEC8-8F2B-0BC2CF812919}"/>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4" name="Freeform 8">
                <a:extLst>
                  <a:ext uri="{FF2B5EF4-FFF2-40B4-BE49-F238E27FC236}">
                    <a16:creationId xmlns:a16="http://schemas.microsoft.com/office/drawing/2014/main" id="{CADF61A2-D4FB-BF17-C4C2-94CB2F7B1E76}"/>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5" name="Freeform 9">
                <a:extLst>
                  <a:ext uri="{FF2B5EF4-FFF2-40B4-BE49-F238E27FC236}">
                    <a16:creationId xmlns:a16="http://schemas.microsoft.com/office/drawing/2014/main" id="{7158A654-DE2B-BDDC-7E8C-1EC543D505BE}"/>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6" name="Freeform 10">
                <a:extLst>
                  <a:ext uri="{FF2B5EF4-FFF2-40B4-BE49-F238E27FC236}">
                    <a16:creationId xmlns:a16="http://schemas.microsoft.com/office/drawing/2014/main" id="{E8C82E27-E773-9B02-A284-014D98F8D668}"/>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7" name="Freeform 11">
                <a:extLst>
                  <a:ext uri="{FF2B5EF4-FFF2-40B4-BE49-F238E27FC236}">
                    <a16:creationId xmlns:a16="http://schemas.microsoft.com/office/drawing/2014/main" id="{6EFD97F9-DB5F-B777-A7EC-FED20DB485B7}"/>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8" name="Freeform 12">
                <a:extLst>
                  <a:ext uri="{FF2B5EF4-FFF2-40B4-BE49-F238E27FC236}">
                    <a16:creationId xmlns:a16="http://schemas.microsoft.com/office/drawing/2014/main" id="{00713DAA-C9A6-5DF6-3C34-0F610DDF93F1}"/>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9" name="Freeform 13">
                <a:extLst>
                  <a:ext uri="{FF2B5EF4-FFF2-40B4-BE49-F238E27FC236}">
                    <a16:creationId xmlns:a16="http://schemas.microsoft.com/office/drawing/2014/main" id="{1E169971-BADC-D063-D18F-FFC17869E838}"/>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0" name="Freeform 14">
                <a:extLst>
                  <a:ext uri="{FF2B5EF4-FFF2-40B4-BE49-F238E27FC236}">
                    <a16:creationId xmlns:a16="http://schemas.microsoft.com/office/drawing/2014/main" id="{A0019849-32A8-CA57-C1E5-6AE5AEAF9976}"/>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1" name="Freeform 15">
                <a:extLst>
                  <a:ext uri="{FF2B5EF4-FFF2-40B4-BE49-F238E27FC236}">
                    <a16:creationId xmlns:a16="http://schemas.microsoft.com/office/drawing/2014/main" id="{C9422B10-4872-904E-BB91-8D9175832E70}"/>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2" name="Freeform 16">
                <a:extLst>
                  <a:ext uri="{FF2B5EF4-FFF2-40B4-BE49-F238E27FC236}">
                    <a16:creationId xmlns:a16="http://schemas.microsoft.com/office/drawing/2014/main" id="{987AFA1C-A750-3A4A-3186-FCFA1E4DEED9}"/>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3" name="Freeform 17">
                <a:extLst>
                  <a:ext uri="{FF2B5EF4-FFF2-40B4-BE49-F238E27FC236}">
                    <a16:creationId xmlns:a16="http://schemas.microsoft.com/office/drawing/2014/main" id="{CD89B322-0DC7-6E7B-BCAE-814CE8888C9A}"/>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4" name="Freeform 18">
                <a:extLst>
                  <a:ext uri="{FF2B5EF4-FFF2-40B4-BE49-F238E27FC236}">
                    <a16:creationId xmlns:a16="http://schemas.microsoft.com/office/drawing/2014/main" id="{66AF03AA-C2C1-743D-85C3-E51DB353D6D2}"/>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5" name="Freeform 19">
                <a:extLst>
                  <a:ext uri="{FF2B5EF4-FFF2-40B4-BE49-F238E27FC236}">
                    <a16:creationId xmlns:a16="http://schemas.microsoft.com/office/drawing/2014/main" id="{AADFDF86-FD8B-5EB1-D31B-4395FA95116D}"/>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4116" name="Freeform 20">
              <a:extLst>
                <a:ext uri="{FF2B5EF4-FFF2-40B4-BE49-F238E27FC236}">
                  <a16:creationId xmlns:a16="http://schemas.microsoft.com/office/drawing/2014/main" id="{66742AC2-7218-9E8D-1F6B-73864ED38DFB}"/>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17" name="Freeform 21">
              <a:extLst>
                <a:ext uri="{FF2B5EF4-FFF2-40B4-BE49-F238E27FC236}">
                  <a16:creationId xmlns:a16="http://schemas.microsoft.com/office/drawing/2014/main" id="{D5AEF0F3-8535-4B07-D0B1-EA5F257E8715}"/>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18" name="Freeform 22">
              <a:extLst>
                <a:ext uri="{FF2B5EF4-FFF2-40B4-BE49-F238E27FC236}">
                  <a16:creationId xmlns:a16="http://schemas.microsoft.com/office/drawing/2014/main" id="{708189F4-7CB6-41F0-43FD-9C66D816917F}"/>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39" name="Freeform 23">
              <a:extLst>
                <a:ext uri="{FF2B5EF4-FFF2-40B4-BE49-F238E27FC236}">
                  <a16:creationId xmlns:a16="http://schemas.microsoft.com/office/drawing/2014/main" id="{EEC5502F-297A-F228-6F23-1D259C576894}"/>
                </a:ext>
              </a:extLst>
            </p:cNvPr>
            <p:cNvSpPr>
              <a:spLocks/>
            </p:cNvSpPr>
            <p:nvPr/>
          </p:nvSpPr>
          <p:spPr bwMode="hidden">
            <a:xfrm>
              <a:off x="5041" y="0"/>
              <a:ext cx="719" cy="845"/>
            </a:xfrm>
            <a:custGeom>
              <a:avLst/>
              <a:gdLst>
                <a:gd name="T0" fmla="*/ 885 w 717"/>
                <a:gd name="T1" fmla="*/ 845 h 845"/>
                <a:gd name="T2" fmla="*/ 885 w 717"/>
                <a:gd name="T3" fmla="*/ 821 h 845"/>
                <a:gd name="T4" fmla="*/ 742 w 717"/>
                <a:gd name="T5" fmla="*/ 605 h 845"/>
                <a:gd name="T6" fmla="*/ 490 w 717"/>
                <a:gd name="T7" fmla="*/ 396 h 845"/>
                <a:gd name="T8" fmla="*/ 305 w 717"/>
                <a:gd name="T9" fmla="*/ 192 h 845"/>
                <a:gd name="T10" fmla="*/ 17 w 717"/>
                <a:gd name="T11" fmla="*/ 0 h 845"/>
                <a:gd name="T12" fmla="*/ 0 w 717"/>
                <a:gd name="T13" fmla="*/ 0 h 845"/>
                <a:gd name="T14" fmla="*/ 293 w 717"/>
                <a:gd name="T15" fmla="*/ 198 h 845"/>
                <a:gd name="T16" fmla="*/ 484 w 717"/>
                <a:gd name="T17" fmla="*/ 408 h 845"/>
                <a:gd name="T18" fmla="*/ 736 w 717"/>
                <a:gd name="T19" fmla="*/ 623 h 845"/>
                <a:gd name="T20" fmla="*/ 885 w 717"/>
                <a:gd name="T21" fmla="*/ 845 h 845"/>
                <a:gd name="T22" fmla="*/ 88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6A9ED600-BDB7-506E-0DE3-C8D9086B0DFF}"/>
                </a:ext>
              </a:extLst>
            </p:cNvPr>
            <p:cNvSpPr>
              <a:spLocks/>
            </p:cNvSpPr>
            <p:nvPr/>
          </p:nvSpPr>
          <p:spPr bwMode="hidden">
            <a:xfrm>
              <a:off x="5352" y="0"/>
              <a:ext cx="408" cy="414"/>
            </a:xfrm>
            <a:custGeom>
              <a:avLst/>
              <a:gdLst>
                <a:gd name="T0" fmla="*/ 491 w 407"/>
                <a:gd name="T1" fmla="*/ 414 h 414"/>
                <a:gd name="T2" fmla="*/ 491 w 407"/>
                <a:gd name="T3" fmla="*/ 396 h 414"/>
                <a:gd name="T4" fmla="*/ 306 w 407"/>
                <a:gd name="T5" fmla="*/ 192 h 414"/>
                <a:gd name="T6" fmla="*/ 12 w 407"/>
                <a:gd name="T7" fmla="*/ 0 h 414"/>
                <a:gd name="T8" fmla="*/ 0 w 407"/>
                <a:gd name="T9" fmla="*/ 0 h 414"/>
                <a:gd name="T10" fmla="*/ 108 w 407"/>
                <a:gd name="T11" fmla="*/ 102 h 414"/>
                <a:gd name="T12" fmla="*/ 300 w 407"/>
                <a:gd name="T13" fmla="*/ 204 h 414"/>
                <a:gd name="T14" fmla="*/ 491 w 407"/>
                <a:gd name="T15" fmla="*/ 414 h 414"/>
                <a:gd name="T16" fmla="*/ 49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21" name="Freeform 25">
              <a:extLst>
                <a:ext uri="{FF2B5EF4-FFF2-40B4-BE49-F238E27FC236}">
                  <a16:creationId xmlns:a16="http://schemas.microsoft.com/office/drawing/2014/main" id="{99010691-22C3-A6C7-7547-9941D19F2AFB}"/>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42" name="Freeform 26">
              <a:extLst>
                <a:ext uri="{FF2B5EF4-FFF2-40B4-BE49-F238E27FC236}">
                  <a16:creationId xmlns:a16="http://schemas.microsoft.com/office/drawing/2014/main" id="{01DC3550-7428-FC2E-46DE-C11699EDA780}"/>
                </a:ext>
              </a:extLst>
            </p:cNvPr>
            <p:cNvSpPr>
              <a:spLocks/>
            </p:cNvSpPr>
            <p:nvPr/>
          </p:nvSpPr>
          <p:spPr bwMode="hidden">
            <a:xfrm>
              <a:off x="6" y="0"/>
              <a:ext cx="588" cy="599"/>
            </a:xfrm>
            <a:custGeom>
              <a:avLst/>
              <a:gdLst>
                <a:gd name="T0" fmla="*/ 764 w 586"/>
                <a:gd name="T1" fmla="*/ 0 h 599"/>
                <a:gd name="T2" fmla="*/ 737 w 586"/>
                <a:gd name="T3" fmla="*/ 0 h 599"/>
                <a:gd name="T4" fmla="*/ 542 w 586"/>
                <a:gd name="T5" fmla="*/ 132 h 599"/>
                <a:gd name="T6" fmla="*/ 341 w 586"/>
                <a:gd name="T7" fmla="*/ 270 h 599"/>
                <a:gd name="T8" fmla="*/ 120 w 586"/>
                <a:gd name="T9" fmla="*/ 420 h 599"/>
                <a:gd name="T10" fmla="*/ 0 w 586"/>
                <a:gd name="T11" fmla="*/ 575 h 599"/>
                <a:gd name="T12" fmla="*/ 0 w 586"/>
                <a:gd name="T13" fmla="*/ 599 h 599"/>
                <a:gd name="T14" fmla="*/ 120 w 586"/>
                <a:gd name="T15" fmla="*/ 432 h 599"/>
                <a:gd name="T16" fmla="*/ 341 w 586"/>
                <a:gd name="T17" fmla="*/ 282 h 599"/>
                <a:gd name="T18" fmla="*/ 554 w 586"/>
                <a:gd name="T19" fmla="*/ 138 h 599"/>
                <a:gd name="T20" fmla="*/ 764 w 586"/>
                <a:gd name="T21" fmla="*/ 0 h 599"/>
                <a:gd name="T22" fmla="*/ 76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7977A260-579E-7416-BACB-A056301F5E55}"/>
                </a:ext>
              </a:extLst>
            </p:cNvPr>
            <p:cNvSpPr>
              <a:spLocks/>
            </p:cNvSpPr>
            <p:nvPr/>
          </p:nvSpPr>
          <p:spPr bwMode="hidden">
            <a:xfrm>
              <a:off x="6" y="0"/>
              <a:ext cx="270" cy="252"/>
            </a:xfrm>
            <a:custGeom>
              <a:avLst/>
              <a:gdLst>
                <a:gd name="T0" fmla="*/ 353 w 269"/>
                <a:gd name="T1" fmla="*/ 0 h 252"/>
                <a:gd name="T2" fmla="*/ 33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53 w 269"/>
                <a:gd name="T15" fmla="*/ 0 h 252"/>
                <a:gd name="T16" fmla="*/ 35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96F9B679-59EC-00BA-9782-E357F198F1B6}"/>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6B490F5E-A18F-B96C-1AE7-2C1EC2743488}"/>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98C51B97-C4D4-FC19-0F6E-CA57124ADE7E}"/>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7F4EEAC0-3BDB-0C32-50DB-7191293E4671}"/>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99210F43-AF8F-1F99-3027-771597CD9010}"/>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0CB9AE58-0B8A-CC8B-BE29-8895332DDABB}"/>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5D0F8F74-D399-AC54-2719-7E928DB32530}"/>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FC5A3185-A345-EDE3-0B43-0C21CF76203B}"/>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496AB864-B3B6-3657-E8DA-B9A3FB1E7774}"/>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0F2B7356-881A-1CF8-2256-642EB103A7DA}"/>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E6FC280A-4231-0366-24CE-1193A8A70FAA}"/>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35" name="Rectangle 39">
            <a:extLst>
              <a:ext uri="{FF2B5EF4-FFF2-40B4-BE49-F238E27FC236}">
                <a16:creationId xmlns:a16="http://schemas.microsoft.com/office/drawing/2014/main" id="{0FE86AAE-18F8-6C20-31E7-E6FB0BEAE327}"/>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4136" name="Rectangle 40">
            <a:extLst>
              <a:ext uri="{FF2B5EF4-FFF2-40B4-BE49-F238E27FC236}">
                <a16:creationId xmlns:a16="http://schemas.microsoft.com/office/drawing/2014/main" id="{38E56B70-9BF8-65B1-BA39-87E82EC1EAE7}"/>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4137" name="Rectangle 41">
            <a:extLst>
              <a:ext uri="{FF2B5EF4-FFF2-40B4-BE49-F238E27FC236}">
                <a16:creationId xmlns:a16="http://schemas.microsoft.com/office/drawing/2014/main" id="{75432851-C8C8-7F57-51C0-34580FE3A7B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4138" name="Rectangle 42">
            <a:extLst>
              <a:ext uri="{FF2B5EF4-FFF2-40B4-BE49-F238E27FC236}">
                <a16:creationId xmlns:a16="http://schemas.microsoft.com/office/drawing/2014/main" id="{B0FE47D3-8715-D32D-39B0-79F4847BD361}"/>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6D30C920-6839-453C-AE8E-27799D270056}" type="slidenum">
              <a:rPr lang="en-US" altLang="zh-CN"/>
              <a:pPr/>
              <a:t>‹#›</a:t>
            </a:fld>
            <a:endParaRPr lang="en-US" altLang="zh-CN"/>
          </a:p>
        </p:txBody>
      </p:sp>
      <p:sp>
        <p:nvSpPr>
          <p:cNvPr id="4139" name="Rectangle 43">
            <a:extLst>
              <a:ext uri="{FF2B5EF4-FFF2-40B4-BE49-F238E27FC236}">
                <a16:creationId xmlns:a16="http://schemas.microsoft.com/office/drawing/2014/main" id="{145F2840-ABD4-D2F3-6828-FF5EAE2E5851}"/>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4728"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C1E03DC-31A3-F1F0-9D2C-2E6A1B28F736}"/>
              </a:ext>
            </a:extLst>
          </p:cNvPr>
          <p:cNvSpPr>
            <a:spLocks noGrp="1" noChangeArrowheads="1"/>
          </p:cNvSpPr>
          <p:nvPr>
            <p:ph type="ctrTitle"/>
          </p:nvPr>
        </p:nvSpPr>
        <p:spPr/>
        <p:txBody>
          <a:bodyPr/>
          <a:lstStyle/>
          <a:p>
            <a:pPr eaLnBrk="1" hangingPunct="1">
              <a:defRPr/>
            </a:pPr>
            <a:r>
              <a:rPr lang="zh-CN" altLang="en-US" dirty="0"/>
              <a:t>输入</a:t>
            </a:r>
            <a:r>
              <a:rPr lang="en-US" altLang="zh-CN" dirty="0"/>
              <a:t>/</a:t>
            </a:r>
            <a:r>
              <a:rPr lang="zh-CN" altLang="en-US" dirty="0"/>
              <a:t>输出</a:t>
            </a:r>
            <a:endParaRPr lang="zh-CN" altLang="en-US" sz="4000" dirty="0"/>
          </a:p>
        </p:txBody>
      </p:sp>
      <p:sp>
        <p:nvSpPr>
          <p:cNvPr id="49155" name="Rectangle 3">
            <a:extLst>
              <a:ext uri="{FF2B5EF4-FFF2-40B4-BE49-F238E27FC236}">
                <a16:creationId xmlns:a16="http://schemas.microsoft.com/office/drawing/2014/main" id="{3AD2E1C7-7C2C-5286-9488-E018680B1EB5}"/>
              </a:ext>
            </a:extLst>
          </p:cNvPr>
          <p:cNvSpPr>
            <a:spLocks noGrp="1" noChangeArrowheads="1"/>
          </p:cNvSpPr>
          <p:nvPr>
            <p:ph type="subTitle" idx="1"/>
          </p:nvPr>
        </p:nvSpPr>
        <p:spPr/>
        <p:txBody>
          <a:bodyPr/>
          <a:lstStyle/>
          <a:p>
            <a:pPr eaLnBrk="1" hangingPunct="1">
              <a:defRPr/>
            </a:pPr>
            <a:r>
              <a:rPr lang="zh-CN" altLang="en-US" dirty="0"/>
              <a:t>面向对象途径</a:t>
            </a:r>
            <a:endParaRPr lang="zh-CN"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6FDECC3-03A0-59FA-A868-2672310B2721}"/>
              </a:ext>
            </a:extLst>
          </p:cNvPr>
          <p:cNvSpPr>
            <a:spLocks noGrp="1" noChangeArrowheads="1"/>
          </p:cNvSpPr>
          <p:nvPr>
            <p:ph type="title"/>
          </p:nvPr>
        </p:nvSpPr>
        <p:spPr/>
        <p:txBody>
          <a:bodyPr/>
          <a:lstStyle/>
          <a:p>
            <a:pPr eaLnBrk="1" hangingPunct="1">
              <a:defRPr/>
            </a:pPr>
            <a:r>
              <a:rPr lang="zh-CN" altLang="en-US" dirty="0"/>
              <a:t>主要内容</a:t>
            </a:r>
          </a:p>
        </p:txBody>
      </p:sp>
      <p:sp>
        <p:nvSpPr>
          <p:cNvPr id="50179" name="Rectangle 3">
            <a:extLst>
              <a:ext uri="{FF2B5EF4-FFF2-40B4-BE49-F238E27FC236}">
                <a16:creationId xmlns:a16="http://schemas.microsoft.com/office/drawing/2014/main" id="{10BCF54C-3670-5914-6E15-72BD40A22136}"/>
              </a:ext>
            </a:extLst>
          </p:cNvPr>
          <p:cNvSpPr>
            <a:spLocks noGrp="1" noChangeArrowheads="1"/>
          </p:cNvSpPr>
          <p:nvPr>
            <p:ph type="body" idx="1"/>
          </p:nvPr>
        </p:nvSpPr>
        <p:spPr/>
        <p:txBody>
          <a:bodyPr/>
          <a:lstStyle/>
          <a:p>
            <a:pPr eaLnBrk="1" hangingPunct="1">
              <a:defRPr/>
            </a:pPr>
            <a:r>
              <a:rPr lang="zh-CN" altLang="en-US" dirty="0"/>
              <a:t>输入</a:t>
            </a:r>
            <a:r>
              <a:rPr lang="en-US" altLang="zh-CN" dirty="0"/>
              <a:t>/</a:t>
            </a:r>
            <a:r>
              <a:rPr lang="zh-CN" altLang="en-US" dirty="0"/>
              <a:t>输出（</a:t>
            </a:r>
            <a:r>
              <a:rPr lang="en-US" altLang="zh-CN" dirty="0"/>
              <a:t>I/O</a:t>
            </a:r>
            <a:r>
              <a:rPr lang="zh-CN" altLang="en-US" dirty="0"/>
              <a:t>）概述</a:t>
            </a:r>
          </a:p>
          <a:p>
            <a:pPr eaLnBrk="1" hangingPunct="1">
              <a:defRPr/>
            </a:pPr>
            <a:r>
              <a:rPr lang="zh-CN" altLang="en-US" dirty="0"/>
              <a:t>面向控制台的</a:t>
            </a:r>
            <a:r>
              <a:rPr lang="en-US" altLang="zh-CN" dirty="0"/>
              <a:t>I/O</a:t>
            </a:r>
          </a:p>
          <a:p>
            <a:pPr eaLnBrk="1" hangingPunct="1">
              <a:defRPr/>
            </a:pPr>
            <a:r>
              <a:rPr lang="zh-CN" altLang="en-US" dirty="0"/>
              <a:t>面向文件的</a:t>
            </a:r>
            <a:r>
              <a:rPr lang="en-US" altLang="zh-CN" dirty="0"/>
              <a:t>I/O</a:t>
            </a:r>
          </a:p>
          <a:p>
            <a:pPr eaLnBrk="1" hangingPunct="1">
              <a:defRPr/>
            </a:pP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A1357F2-4EBF-4D59-98DF-886D49260672}"/>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输入</a:t>
            </a:r>
            <a:r>
              <a:rPr lang="en-US" altLang="zh-CN" dirty="0"/>
              <a:t>/</a:t>
            </a:r>
            <a:r>
              <a:rPr lang="zh-CN" altLang="en-US" dirty="0"/>
              <a:t>输出（</a:t>
            </a:r>
            <a:r>
              <a:rPr lang="en-US" altLang="zh-CN" dirty="0"/>
              <a:t>I/O</a:t>
            </a:r>
            <a:r>
              <a:rPr lang="zh-CN" altLang="en-US" dirty="0"/>
              <a:t>）概述</a:t>
            </a:r>
          </a:p>
        </p:txBody>
      </p:sp>
      <p:sp>
        <p:nvSpPr>
          <p:cNvPr id="7171" name="Rectangle 3">
            <a:extLst>
              <a:ext uri="{FF2B5EF4-FFF2-40B4-BE49-F238E27FC236}">
                <a16:creationId xmlns:a16="http://schemas.microsoft.com/office/drawing/2014/main" id="{9DD6A5AF-660B-2257-C374-D03BC6E7FA52}"/>
              </a:ext>
            </a:extLst>
          </p:cNvPr>
          <p:cNvSpPr>
            <a:spLocks noGrp="1" noChangeArrowheads="1"/>
          </p:cNvSpPr>
          <p:nvPr>
            <p:ph type="body" idx="1"/>
          </p:nvPr>
        </p:nvSpPr>
        <p:spPr>
          <a:xfrm>
            <a:off x="457200" y="1557338"/>
            <a:ext cx="8229600" cy="5111750"/>
          </a:xfrm>
        </p:spPr>
        <p:txBody>
          <a:bodyPr>
            <a:normAutofit fontScale="85000" lnSpcReduction="10000"/>
          </a:bodyPr>
          <a:lstStyle/>
          <a:p>
            <a:pPr eaLnBrk="1" hangingPunct="1">
              <a:lnSpc>
                <a:spcPct val="120000"/>
              </a:lnSpc>
              <a:defRPr/>
            </a:pPr>
            <a:r>
              <a:rPr lang="zh-CN" altLang="en-GB" dirty="0"/>
              <a:t>输入</a:t>
            </a:r>
            <a:r>
              <a:rPr lang="en-GB" altLang="zh-CN" dirty="0"/>
              <a:t>/</a:t>
            </a:r>
            <a:r>
              <a:rPr lang="zh-CN" altLang="en-GB" dirty="0"/>
              <a:t>输出（简称</a:t>
            </a:r>
            <a:r>
              <a:rPr lang="en-GB" altLang="zh-CN" dirty="0"/>
              <a:t>I/O</a:t>
            </a:r>
            <a:r>
              <a:rPr lang="zh-CN" altLang="en-GB" dirty="0"/>
              <a:t>）是程序的一个重要组成部分：</a:t>
            </a:r>
          </a:p>
          <a:p>
            <a:pPr lvl="1" eaLnBrk="1" hangingPunct="1">
              <a:lnSpc>
                <a:spcPct val="120000"/>
              </a:lnSpc>
              <a:defRPr/>
            </a:pPr>
            <a:r>
              <a:rPr lang="zh-CN" altLang="en-GB" dirty="0"/>
              <a:t>程序运行所需要的数据往往要从外设（如：键盘、文件等）得到</a:t>
            </a:r>
          </a:p>
          <a:p>
            <a:pPr lvl="1" eaLnBrk="1" hangingPunct="1">
              <a:lnSpc>
                <a:spcPct val="120000"/>
              </a:lnSpc>
              <a:defRPr/>
            </a:pPr>
            <a:r>
              <a:rPr lang="zh-CN" altLang="en-GB" dirty="0"/>
              <a:t>程序的运行结果通常也要输出到外设（如：显示器、打印机、文件等）中去。</a:t>
            </a:r>
            <a:endParaRPr lang="en-US" altLang="zh-CN" dirty="0"/>
          </a:p>
          <a:p>
            <a:pPr eaLnBrk="1" hangingPunct="1">
              <a:lnSpc>
                <a:spcPct val="120000"/>
              </a:lnSpc>
              <a:defRPr/>
            </a:pPr>
            <a:r>
              <a:rPr lang="zh-CN" altLang="en-US" dirty="0"/>
              <a:t>在</a:t>
            </a:r>
            <a:r>
              <a:rPr lang="en-US" altLang="zh-CN" dirty="0"/>
              <a:t>C++</a:t>
            </a:r>
            <a:r>
              <a:rPr lang="zh-CN" altLang="en-US" dirty="0"/>
              <a:t>中，输入</a:t>
            </a:r>
            <a:r>
              <a:rPr lang="en-US" altLang="zh-CN" dirty="0"/>
              <a:t>/</a:t>
            </a:r>
            <a:r>
              <a:rPr lang="zh-CN" altLang="en-US" dirty="0"/>
              <a:t>输出是一种基于</a:t>
            </a:r>
            <a:r>
              <a:rPr lang="zh-CN" altLang="en-US" dirty="0">
                <a:solidFill>
                  <a:srgbClr val="FFC000"/>
                </a:solidFill>
              </a:rPr>
              <a:t>字节流</a:t>
            </a:r>
            <a:r>
              <a:rPr lang="zh-CN" altLang="en-US" dirty="0"/>
              <a:t>的操作：</a:t>
            </a:r>
          </a:p>
          <a:p>
            <a:pPr lvl="1" eaLnBrk="1" hangingPunct="1">
              <a:lnSpc>
                <a:spcPct val="120000"/>
              </a:lnSpc>
              <a:defRPr/>
            </a:pPr>
            <a:r>
              <a:rPr lang="zh-CN" altLang="en-US" dirty="0"/>
              <a:t>在进行输入操作时，可把输入的数据看成</a:t>
            </a:r>
            <a:r>
              <a:rPr lang="zh-CN" altLang="en-US" dirty="0">
                <a:solidFill>
                  <a:srgbClr val="FFC000"/>
                </a:solidFill>
              </a:rPr>
              <a:t>逐个字节</a:t>
            </a:r>
            <a:r>
              <a:rPr lang="zh-CN" altLang="en-US" dirty="0"/>
              <a:t>地从外设流入到计算机内存。</a:t>
            </a:r>
          </a:p>
          <a:p>
            <a:pPr lvl="1" eaLnBrk="1" hangingPunct="1">
              <a:lnSpc>
                <a:spcPct val="120000"/>
              </a:lnSpc>
              <a:defRPr/>
            </a:pPr>
            <a:r>
              <a:rPr lang="zh-CN" altLang="en-US" dirty="0"/>
              <a:t>在进行输出操作时，则把输出的数据看成</a:t>
            </a:r>
            <a:r>
              <a:rPr lang="zh-CN" altLang="en-US" dirty="0">
                <a:solidFill>
                  <a:srgbClr val="FFC000"/>
                </a:solidFill>
              </a:rPr>
              <a:t>逐个字节</a:t>
            </a:r>
            <a:r>
              <a:rPr lang="zh-CN" altLang="en-US" dirty="0"/>
              <a:t>地从内存流出到外设。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FE583474-E4E7-AA92-B85C-34D9CF8B4DB0}"/>
              </a:ext>
            </a:extLst>
          </p:cNvPr>
          <p:cNvSpPr>
            <a:spLocks noGrp="1" noChangeArrowheads="1"/>
          </p:cNvSpPr>
          <p:nvPr>
            <p:ph type="body" idx="1"/>
          </p:nvPr>
        </p:nvSpPr>
        <p:spPr>
          <a:xfrm>
            <a:off x="457200" y="908050"/>
            <a:ext cx="8229600" cy="5111750"/>
          </a:xfrm>
        </p:spPr>
        <p:txBody>
          <a:bodyPr>
            <a:normAutofit fontScale="92500"/>
          </a:bodyPr>
          <a:lstStyle/>
          <a:p>
            <a:pPr eaLnBrk="1" hangingPunct="1">
              <a:lnSpc>
                <a:spcPct val="120000"/>
              </a:lnSpc>
              <a:defRPr/>
            </a:pPr>
            <a:r>
              <a:rPr lang="zh-CN" altLang="en-US" dirty="0"/>
              <a:t>在</a:t>
            </a:r>
            <a:r>
              <a:rPr lang="en-US" altLang="zh-CN" dirty="0"/>
              <a:t>C++</a:t>
            </a:r>
            <a:r>
              <a:rPr lang="zh-CN" altLang="en-US" dirty="0"/>
              <a:t>中，输入</a:t>
            </a:r>
            <a:r>
              <a:rPr lang="en-US" altLang="zh-CN" dirty="0"/>
              <a:t>/</a:t>
            </a:r>
            <a:r>
              <a:rPr lang="zh-CN" altLang="en-US" dirty="0"/>
              <a:t>输出操作是作为</a:t>
            </a:r>
            <a:r>
              <a:rPr lang="zh-CN" altLang="en-US" dirty="0">
                <a:solidFill>
                  <a:srgbClr val="FFC000"/>
                </a:solidFill>
              </a:rPr>
              <a:t>标准库</a:t>
            </a:r>
            <a:r>
              <a:rPr lang="zh-CN" altLang="en-US" dirty="0"/>
              <a:t>的功能来提供。 </a:t>
            </a:r>
            <a:endParaRPr lang="en-US" altLang="zh-CN" dirty="0"/>
          </a:p>
          <a:p>
            <a:pPr eaLnBrk="1" hangingPunct="1">
              <a:lnSpc>
                <a:spcPct val="110000"/>
              </a:lnSpc>
              <a:defRPr/>
            </a:pPr>
            <a:r>
              <a:rPr lang="zh-CN" altLang="en-GB" dirty="0"/>
              <a:t>在</a:t>
            </a:r>
            <a:r>
              <a:rPr lang="en-US" altLang="zh-CN" dirty="0"/>
              <a:t>C++</a:t>
            </a:r>
            <a:r>
              <a:rPr lang="zh-CN" altLang="en-US" dirty="0"/>
              <a:t>的标准库中，</a:t>
            </a:r>
            <a:r>
              <a:rPr lang="zh-CN" altLang="en-GB" dirty="0"/>
              <a:t>提供</a:t>
            </a:r>
            <a:r>
              <a:rPr lang="zh-CN" altLang="en-US" dirty="0"/>
              <a:t>了：</a:t>
            </a:r>
            <a:endParaRPr lang="en-US" altLang="zh-CN" dirty="0"/>
          </a:p>
          <a:p>
            <a:pPr lvl="1" eaLnBrk="1" hangingPunct="1">
              <a:lnSpc>
                <a:spcPct val="110000"/>
              </a:lnSpc>
              <a:defRPr/>
            </a:pPr>
            <a:r>
              <a:rPr lang="zh-CN" altLang="en-GB" dirty="0"/>
              <a:t>基于字节的</a:t>
            </a:r>
            <a:r>
              <a:rPr lang="en-US" altLang="zh-CN" dirty="0"/>
              <a:t>I/O</a:t>
            </a:r>
            <a:r>
              <a:rPr lang="zh-CN" altLang="en-GB" dirty="0"/>
              <a:t>操作</a:t>
            </a:r>
            <a:endParaRPr lang="en-US" altLang="zh-CN" dirty="0"/>
          </a:p>
          <a:p>
            <a:pPr lvl="1" eaLnBrk="1" hangingPunct="1">
              <a:lnSpc>
                <a:spcPct val="110000"/>
              </a:lnSpc>
              <a:defRPr/>
            </a:pPr>
            <a:r>
              <a:rPr lang="zh-CN" altLang="en-US" dirty="0"/>
              <a:t>基于</a:t>
            </a:r>
            <a:r>
              <a:rPr lang="en-GB" altLang="zh-CN" dirty="0"/>
              <a:t>C++</a:t>
            </a:r>
            <a:r>
              <a:rPr lang="zh-CN" altLang="en-GB" dirty="0">
                <a:solidFill>
                  <a:srgbClr val="FFC000"/>
                </a:solidFill>
              </a:rPr>
              <a:t>基本数据类型</a:t>
            </a:r>
            <a:r>
              <a:rPr lang="zh-CN" altLang="en-GB" dirty="0"/>
              <a:t>数据的</a:t>
            </a:r>
            <a:r>
              <a:rPr lang="en-US" altLang="zh-CN" dirty="0"/>
              <a:t>I/O</a:t>
            </a:r>
            <a:r>
              <a:rPr lang="zh-CN" altLang="en-GB" dirty="0"/>
              <a:t>操作</a:t>
            </a:r>
            <a:r>
              <a:rPr lang="zh-CN" altLang="en-US" dirty="0"/>
              <a:t>（在这些操作的内部实现了基本数据类型与字节流之间的转换）</a:t>
            </a:r>
            <a:endParaRPr lang="en-US" altLang="zh-CN" dirty="0"/>
          </a:p>
          <a:p>
            <a:pPr eaLnBrk="1" hangingPunct="1">
              <a:lnSpc>
                <a:spcPct val="120000"/>
              </a:lnSpc>
              <a:defRPr/>
            </a:pPr>
            <a:r>
              <a:rPr lang="zh-CN" altLang="en-US" dirty="0"/>
              <a:t>另外，还可以对操作符“</a:t>
            </a:r>
            <a:r>
              <a:rPr lang="en-US" altLang="zh-CN" dirty="0"/>
              <a:t>&lt;&lt;</a:t>
            </a:r>
            <a:r>
              <a:rPr lang="zh-CN" altLang="en-US" dirty="0"/>
              <a:t>”和“</a:t>
            </a:r>
            <a:r>
              <a:rPr lang="en-US" altLang="zh-CN" dirty="0"/>
              <a:t>&gt;&gt;</a:t>
            </a:r>
            <a:r>
              <a:rPr lang="zh-CN" altLang="en-US" dirty="0"/>
              <a:t>”进行重载，以实现对</a:t>
            </a:r>
            <a:r>
              <a:rPr lang="zh-CN" altLang="en-US" dirty="0">
                <a:solidFill>
                  <a:srgbClr val="FFC000"/>
                </a:solidFill>
              </a:rPr>
              <a:t>自定义类型</a:t>
            </a:r>
            <a:r>
              <a:rPr lang="zh-CN" altLang="en-US" dirty="0"/>
              <a:t>的数据（对象）进行输入</a:t>
            </a:r>
            <a:r>
              <a:rPr lang="en-US" altLang="zh-CN" dirty="0"/>
              <a:t>/</a:t>
            </a:r>
            <a:r>
              <a:rPr lang="zh-CN" altLang="en-US" dirty="0"/>
              <a:t>输出操作。</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38336A7-42EB-8A71-8C2A-2D574C4DBAC0}"/>
              </a:ext>
            </a:extLst>
          </p:cNvPr>
          <p:cNvSpPr>
            <a:spLocks noGrp="1" noChangeArrowheads="1"/>
          </p:cNvSpPr>
          <p:nvPr>
            <p:ph type="title"/>
          </p:nvPr>
        </p:nvSpPr>
        <p:spPr/>
        <p:txBody>
          <a:bodyPr/>
          <a:lstStyle/>
          <a:p>
            <a:pPr eaLnBrk="1" hangingPunct="1">
              <a:defRPr/>
            </a:pPr>
            <a:r>
              <a:rPr lang="en-US" altLang="zh-CN"/>
              <a:t>C++</a:t>
            </a:r>
            <a:r>
              <a:rPr lang="zh-CN" altLang="en-US"/>
              <a:t>输入输出的实现途径</a:t>
            </a:r>
          </a:p>
        </p:txBody>
      </p:sp>
      <p:sp>
        <p:nvSpPr>
          <p:cNvPr id="54275" name="Rectangle 3">
            <a:extLst>
              <a:ext uri="{FF2B5EF4-FFF2-40B4-BE49-F238E27FC236}">
                <a16:creationId xmlns:a16="http://schemas.microsoft.com/office/drawing/2014/main" id="{E4D22A97-0C18-C837-35A0-3AD21E73EF26}"/>
              </a:ext>
            </a:extLst>
          </p:cNvPr>
          <p:cNvSpPr>
            <a:spLocks noGrp="1" noChangeArrowheads="1"/>
          </p:cNvSpPr>
          <p:nvPr>
            <p:ph type="body" idx="1"/>
          </p:nvPr>
        </p:nvSpPr>
        <p:spPr/>
        <p:txBody>
          <a:bodyPr>
            <a:normAutofit fontScale="92500" lnSpcReduction="20000"/>
          </a:bodyPr>
          <a:lstStyle/>
          <a:p>
            <a:pPr eaLnBrk="1" hangingPunct="1">
              <a:lnSpc>
                <a:spcPct val="110000"/>
              </a:lnSpc>
              <a:defRPr/>
            </a:pPr>
            <a:r>
              <a:rPr lang="zh-CN" altLang="en-GB" dirty="0">
                <a:latin typeface="Times New Roman" pitchFamily="18" charset="0"/>
              </a:rPr>
              <a:t>过程式——通过从</a:t>
            </a:r>
            <a:r>
              <a:rPr lang="en-GB" altLang="zh-CN" dirty="0">
                <a:latin typeface="Times New Roman" pitchFamily="18" charset="0"/>
                <a:cs typeface="Times New Roman" pitchFamily="18" charset="0"/>
              </a:rPr>
              <a:t>C</a:t>
            </a:r>
            <a:r>
              <a:rPr lang="zh-CN" altLang="en-GB" dirty="0">
                <a:latin typeface="Times New Roman" pitchFamily="18" charset="0"/>
              </a:rPr>
              <a:t>语言保留下来的函数库中的输入</a:t>
            </a:r>
            <a:r>
              <a:rPr lang="zh-CN" altLang="en-GB" dirty="0">
                <a:latin typeface="Times New Roman" pitchFamily="18" charset="0"/>
                <a:cs typeface="Times New Roman" pitchFamily="18" charset="0"/>
              </a:rPr>
              <a:t>/</a:t>
            </a:r>
            <a:r>
              <a:rPr lang="zh-CN" altLang="en-GB" dirty="0">
                <a:latin typeface="Times New Roman" pitchFamily="18" charset="0"/>
              </a:rPr>
              <a:t>输出函数来实现</a:t>
            </a:r>
            <a:r>
              <a:rPr lang="zh-CN" altLang="en-US" dirty="0"/>
              <a:t>。</a:t>
            </a:r>
            <a:endParaRPr lang="en-US" altLang="zh-CN" dirty="0"/>
          </a:p>
          <a:p>
            <a:pPr lvl="1" eaLnBrk="1" hangingPunct="1">
              <a:lnSpc>
                <a:spcPct val="110000"/>
              </a:lnSpc>
              <a:defRPr/>
            </a:pPr>
            <a:r>
              <a:rPr lang="en-US" altLang="zh-CN" dirty="0" err="1"/>
              <a:t>printf</a:t>
            </a:r>
            <a:endParaRPr lang="en-US" altLang="zh-CN" dirty="0"/>
          </a:p>
          <a:p>
            <a:pPr lvl="1" eaLnBrk="1" hangingPunct="1">
              <a:lnSpc>
                <a:spcPct val="110000"/>
              </a:lnSpc>
              <a:defRPr/>
            </a:pPr>
            <a:r>
              <a:rPr lang="en-US" altLang="zh-CN" dirty="0" err="1"/>
              <a:t>scanf</a:t>
            </a:r>
            <a:endParaRPr lang="en-US" altLang="zh-CN" dirty="0"/>
          </a:p>
          <a:p>
            <a:pPr lvl="1" eaLnBrk="1" hangingPunct="1">
              <a:lnSpc>
                <a:spcPct val="110000"/>
              </a:lnSpc>
              <a:defRPr/>
            </a:pPr>
            <a:r>
              <a:rPr lang="en-US" altLang="zh-CN" dirty="0"/>
              <a:t>......</a:t>
            </a:r>
            <a:endParaRPr lang="zh-CN" altLang="en-US" dirty="0"/>
          </a:p>
          <a:p>
            <a:pPr eaLnBrk="1" hangingPunct="1">
              <a:lnSpc>
                <a:spcPct val="110000"/>
              </a:lnSpc>
              <a:defRPr/>
            </a:pPr>
            <a:r>
              <a:rPr lang="zh-CN" altLang="en-GB" dirty="0">
                <a:latin typeface="Times New Roman" pitchFamily="18" charset="0"/>
              </a:rPr>
              <a:t>面向对象——通过</a:t>
            </a:r>
            <a:r>
              <a:rPr lang="en-GB" altLang="zh-CN" dirty="0">
                <a:latin typeface="Times New Roman" pitchFamily="18" charset="0"/>
                <a:cs typeface="Times New Roman" pitchFamily="18" charset="0"/>
              </a:rPr>
              <a:t>C++</a:t>
            </a:r>
            <a:r>
              <a:rPr lang="zh-CN" altLang="en-GB" dirty="0">
                <a:latin typeface="Times New Roman" pitchFamily="18" charset="0"/>
              </a:rPr>
              <a:t>的</a:t>
            </a:r>
            <a:r>
              <a:rPr lang="en-GB" altLang="zh-CN" dirty="0">
                <a:latin typeface="Times New Roman" pitchFamily="18" charset="0"/>
                <a:cs typeface="Times New Roman" pitchFamily="18" charset="0"/>
              </a:rPr>
              <a:t>I/O</a:t>
            </a:r>
            <a:r>
              <a:rPr lang="zh-CN" altLang="en-GB" dirty="0">
                <a:latin typeface="Times New Roman" pitchFamily="18" charset="0"/>
              </a:rPr>
              <a:t>类库中的类</a:t>
            </a:r>
            <a:r>
              <a:rPr lang="en-US" altLang="zh-CN" dirty="0">
                <a:latin typeface="Times New Roman" pitchFamily="18" charset="0"/>
              </a:rPr>
              <a:t>/</a:t>
            </a:r>
            <a:r>
              <a:rPr lang="zh-CN" altLang="en-US" dirty="0">
                <a:latin typeface="Times New Roman" pitchFamily="18" charset="0"/>
              </a:rPr>
              <a:t>对象以及重载的操作符“</a:t>
            </a:r>
            <a:r>
              <a:rPr lang="en-US" altLang="zh-CN" dirty="0">
                <a:latin typeface="Times New Roman" pitchFamily="18" charset="0"/>
              </a:rPr>
              <a:t>&lt;&lt;</a:t>
            </a:r>
            <a:r>
              <a:rPr lang="zh-CN" altLang="en-US" dirty="0">
                <a:latin typeface="Times New Roman" pitchFamily="18" charset="0"/>
              </a:rPr>
              <a:t>”和“</a:t>
            </a:r>
            <a:r>
              <a:rPr lang="en-US" altLang="zh-CN" dirty="0">
                <a:latin typeface="Times New Roman" pitchFamily="18" charset="0"/>
              </a:rPr>
              <a:t>&gt;&gt;</a:t>
            </a:r>
            <a:r>
              <a:rPr lang="zh-CN" altLang="en-US" dirty="0">
                <a:latin typeface="Times New Roman" pitchFamily="18" charset="0"/>
              </a:rPr>
              <a:t>”</a:t>
            </a:r>
            <a:r>
              <a:rPr lang="zh-CN" altLang="en-GB" dirty="0">
                <a:latin typeface="Times New Roman" pitchFamily="18" charset="0"/>
              </a:rPr>
              <a:t>来实现。</a:t>
            </a:r>
            <a:endParaRPr lang="en-US" altLang="zh-CN" dirty="0">
              <a:latin typeface="Times New Roman" pitchFamily="18" charset="0"/>
            </a:endParaRPr>
          </a:p>
          <a:p>
            <a:pPr lvl="1" eaLnBrk="1" hangingPunct="1">
              <a:lnSpc>
                <a:spcPct val="110000"/>
              </a:lnSpc>
              <a:defRPr/>
            </a:pPr>
            <a:r>
              <a:rPr lang="en-US" altLang="zh-CN" dirty="0">
                <a:effectLst>
                  <a:outerShdw blurRad="38100" dist="38100" dir="2700000" algn="tl">
                    <a:srgbClr val="000000">
                      <a:alpha val="43137"/>
                    </a:srgbClr>
                  </a:outerShdw>
                </a:effectLst>
              </a:rPr>
              <a:t>o</a:t>
            </a:r>
            <a:r>
              <a:rPr lang="en-GB" altLang="zh-CN" dirty="0">
                <a:effectLst>
                  <a:outerShdw blurRad="38100" dist="38100" dir="2700000" algn="tl">
                    <a:srgbClr val="000000">
                      <a:alpha val="43137"/>
                    </a:srgbClr>
                  </a:outerShdw>
                </a:effectLst>
              </a:rPr>
              <a:t>stream</a:t>
            </a:r>
            <a:r>
              <a:rPr lang="zh-CN" altLang="en-US" dirty="0">
                <a:effectLst>
                  <a:outerShdw blurRad="38100" dist="38100" dir="2700000" algn="tl">
                    <a:srgbClr val="000000">
                      <a:alpha val="43137"/>
                    </a:srgbClr>
                  </a:outerShdw>
                </a:effectLst>
              </a:rPr>
              <a:t>、</a:t>
            </a:r>
            <a:r>
              <a:rPr lang="en-US" altLang="zh-CN" dirty="0" err="1"/>
              <a:t>cout</a:t>
            </a:r>
            <a:r>
              <a:rPr lang="zh-CN" altLang="en-US" dirty="0"/>
              <a:t>，</a:t>
            </a:r>
            <a:r>
              <a:rPr lang="en-US" altLang="zh-CN" dirty="0"/>
              <a:t>&lt;&lt;</a:t>
            </a:r>
          </a:p>
          <a:p>
            <a:pPr lvl="1" eaLnBrk="1" hangingPunct="1">
              <a:lnSpc>
                <a:spcPct val="110000"/>
              </a:lnSpc>
              <a:defRPr/>
            </a:pPr>
            <a:r>
              <a:rPr lang="en-GB" altLang="zh-CN" dirty="0" err="1">
                <a:effectLst>
                  <a:outerShdw blurRad="38100" dist="38100" dir="2700000" algn="tl">
                    <a:srgbClr val="000000">
                      <a:alpha val="43137"/>
                    </a:srgbClr>
                  </a:outerShdw>
                </a:effectLst>
              </a:rPr>
              <a:t>istream</a:t>
            </a:r>
            <a:r>
              <a:rPr lang="zh-CN" altLang="en-US" dirty="0">
                <a:effectLst>
                  <a:outerShdw blurRad="38100" dist="38100" dir="2700000" algn="tl">
                    <a:srgbClr val="000000">
                      <a:alpha val="43137"/>
                    </a:srgbClr>
                  </a:outerShdw>
                </a:effectLst>
              </a:rPr>
              <a:t>、</a:t>
            </a:r>
            <a:r>
              <a:rPr lang="en-US" altLang="zh-CN" dirty="0" err="1"/>
              <a:t>cin</a:t>
            </a:r>
            <a:r>
              <a:rPr lang="zh-CN" altLang="en-US" dirty="0"/>
              <a:t>，</a:t>
            </a:r>
            <a:r>
              <a:rPr lang="en-US" altLang="zh-CN" dirty="0"/>
              <a:t>&gt;&gt;</a:t>
            </a:r>
          </a:p>
          <a:p>
            <a:pPr lvl="1" eaLnBrk="1" hangingPunct="1">
              <a:lnSpc>
                <a:spcPct val="110000"/>
              </a:lnSpc>
              <a:defRPr/>
            </a:pPr>
            <a:r>
              <a:rPr lang="en-US" altLang="zh-CN"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15F3F99F-2DD1-FE43-7446-9F1DFCBFF9AC}"/>
              </a:ext>
            </a:extLst>
          </p:cNvPr>
          <p:cNvSpPr>
            <a:spLocks noGrp="1" noChangeArrowheads="1"/>
          </p:cNvSpPr>
          <p:nvPr>
            <p:ph type="body" idx="1"/>
          </p:nvPr>
        </p:nvSpPr>
        <p:spPr>
          <a:xfrm>
            <a:off x="457200" y="1196975"/>
            <a:ext cx="8218488" cy="5472113"/>
          </a:xfrm>
        </p:spPr>
        <p:txBody>
          <a:bodyPr>
            <a:normAutofit fontScale="62500" lnSpcReduction="20000"/>
          </a:bodyPr>
          <a:lstStyle/>
          <a:p>
            <a:pPr>
              <a:lnSpc>
                <a:spcPct val="120000"/>
              </a:lnSpc>
              <a:defRPr/>
            </a:pPr>
            <a:r>
              <a:rPr lang="en-US" altLang="zh-CN" sz="4000" dirty="0" err="1"/>
              <a:t>printf</a:t>
            </a:r>
            <a:r>
              <a:rPr lang="zh-CN" altLang="en-US" sz="4000" dirty="0"/>
              <a:t>和</a:t>
            </a:r>
            <a:r>
              <a:rPr lang="en-US" altLang="zh-CN" sz="4000" dirty="0" err="1"/>
              <a:t>scanf</a:t>
            </a:r>
            <a:r>
              <a:rPr lang="zh-CN" altLang="en-US" sz="4000" dirty="0"/>
              <a:t>是两个带可变参数的函数：</a:t>
            </a:r>
            <a:endParaRPr lang="en-US" altLang="zh-CN" sz="4000" dirty="0"/>
          </a:p>
          <a:p>
            <a:pPr marL="1009650" lvl="1" indent="-609600">
              <a:lnSpc>
                <a:spcPct val="120000"/>
              </a:lnSpc>
              <a:buFont typeface="Wingdings" pitchFamily="2" charset="2"/>
              <a:buNone/>
              <a:defRPr/>
            </a:pPr>
            <a:r>
              <a:rPr lang="en-US" altLang="zh-CN" sz="3500" dirty="0" err="1"/>
              <a:t>int</a:t>
            </a:r>
            <a:r>
              <a:rPr lang="en-US" altLang="zh-CN" sz="3500" dirty="0"/>
              <a:t> </a:t>
            </a:r>
            <a:r>
              <a:rPr lang="en-US" altLang="zh-CN" sz="3500" dirty="0" err="1"/>
              <a:t>i</a:t>
            </a:r>
            <a:r>
              <a:rPr lang="en-US" altLang="zh-CN" sz="3500" dirty="0"/>
              <a:t>; double j;</a:t>
            </a:r>
            <a:endParaRPr lang="it-IT" altLang="zh-CN" sz="3500" dirty="0"/>
          </a:p>
          <a:p>
            <a:pPr marL="1009650" lvl="1" indent="-609600">
              <a:lnSpc>
                <a:spcPct val="120000"/>
              </a:lnSpc>
              <a:buFont typeface="Wingdings" pitchFamily="2" charset="2"/>
              <a:buNone/>
              <a:defRPr/>
            </a:pPr>
            <a:r>
              <a:rPr lang="en-US" altLang="zh-CN" sz="3500" dirty="0" err="1"/>
              <a:t>scanf</a:t>
            </a:r>
            <a:r>
              <a:rPr lang="en-US" altLang="zh-CN" sz="3500" dirty="0"/>
              <a:t>("</a:t>
            </a:r>
            <a:r>
              <a:rPr lang="en-US" altLang="zh-CN" sz="3500" dirty="0" err="1"/>
              <a:t>i</a:t>
            </a:r>
            <a:r>
              <a:rPr lang="en-US" altLang="zh-CN" sz="3500" dirty="0"/>
              <a:t>=</a:t>
            </a:r>
            <a:r>
              <a:rPr lang="en-US" altLang="zh-CN" sz="3500" dirty="0">
                <a:solidFill>
                  <a:srgbClr val="FFC000"/>
                </a:solidFill>
              </a:rPr>
              <a:t>%</a:t>
            </a:r>
            <a:r>
              <a:rPr lang="en-US" altLang="zh-CN" sz="3500" dirty="0" err="1">
                <a:solidFill>
                  <a:srgbClr val="FFC000"/>
                </a:solidFill>
              </a:rPr>
              <a:t>d</a:t>
            </a:r>
            <a:r>
              <a:rPr lang="en-US" altLang="zh-CN" sz="3500" dirty="0" err="1"/>
              <a:t>,j</a:t>
            </a:r>
            <a:r>
              <a:rPr lang="en-US" altLang="zh-CN" sz="3500" dirty="0"/>
              <a:t>=</a:t>
            </a:r>
            <a:r>
              <a:rPr lang="en-US" altLang="zh-CN" sz="3500" dirty="0">
                <a:solidFill>
                  <a:srgbClr val="FFC000"/>
                </a:solidFill>
              </a:rPr>
              <a:t>%lf</a:t>
            </a:r>
            <a:r>
              <a:rPr lang="en-US" altLang="zh-CN" sz="3500" dirty="0"/>
              <a:t>",</a:t>
            </a:r>
            <a:r>
              <a:rPr lang="en-US" altLang="zh-CN" sz="3500" dirty="0">
                <a:solidFill>
                  <a:srgbClr val="FFC000"/>
                </a:solidFill>
              </a:rPr>
              <a:t>&amp;</a:t>
            </a:r>
            <a:r>
              <a:rPr lang="en-US" altLang="zh-CN" sz="3500" dirty="0" err="1"/>
              <a:t>i</a:t>
            </a:r>
            <a:r>
              <a:rPr lang="en-US" altLang="zh-CN" sz="3500" dirty="0"/>
              <a:t>,</a:t>
            </a:r>
            <a:r>
              <a:rPr lang="en-US" altLang="zh-CN" sz="3500" dirty="0">
                <a:solidFill>
                  <a:srgbClr val="FFC000"/>
                </a:solidFill>
              </a:rPr>
              <a:t>&amp;</a:t>
            </a:r>
            <a:r>
              <a:rPr lang="en-US" altLang="zh-CN" sz="3500" dirty="0"/>
              <a:t>j); //</a:t>
            </a:r>
            <a:r>
              <a:rPr lang="en-US" altLang="zh-CN" sz="3500" u="sng" dirty="0" err="1"/>
              <a:t>i</a:t>
            </a:r>
            <a:r>
              <a:rPr lang="en-US" altLang="zh-CN" sz="3500" u="sng" dirty="0"/>
              <a:t>=12,j=34.5 </a:t>
            </a:r>
            <a:r>
              <a:rPr lang="en-US" altLang="zh-CN" sz="3500" dirty="0"/>
              <a:t>  </a:t>
            </a:r>
          </a:p>
          <a:p>
            <a:pPr marL="1009650" lvl="1" indent="-609600">
              <a:lnSpc>
                <a:spcPct val="120000"/>
              </a:lnSpc>
              <a:buFont typeface="Wingdings" pitchFamily="2" charset="2"/>
              <a:buNone/>
              <a:defRPr/>
            </a:pPr>
            <a:r>
              <a:rPr lang="it-IT" altLang="zh-CN" sz="3500" dirty="0"/>
              <a:t>printf("i=</a:t>
            </a:r>
            <a:r>
              <a:rPr lang="it-IT" altLang="zh-CN" sz="3500" dirty="0">
                <a:solidFill>
                  <a:schemeClr val="folHlink"/>
                </a:solidFill>
              </a:rPr>
              <a:t>%d</a:t>
            </a:r>
            <a:r>
              <a:rPr lang="it-IT" altLang="zh-CN" sz="3500" dirty="0"/>
              <a:t>, j=</a:t>
            </a:r>
            <a:r>
              <a:rPr lang="it-IT" altLang="zh-CN" sz="3500" dirty="0">
                <a:solidFill>
                  <a:schemeClr val="folHlink"/>
                </a:solidFill>
              </a:rPr>
              <a:t>%f</a:t>
            </a:r>
            <a:r>
              <a:rPr lang="it-IT" altLang="zh-CN" sz="3500" dirty="0"/>
              <a:t>\n",i,j);  //i=12, j=34.5</a:t>
            </a:r>
          </a:p>
          <a:p>
            <a:pPr>
              <a:lnSpc>
                <a:spcPct val="120000"/>
              </a:lnSpc>
              <a:defRPr/>
            </a:pPr>
            <a:r>
              <a:rPr lang="zh-CN" altLang="en-US" sz="4000" dirty="0"/>
              <a:t>不是强类型：编译时刻不进行参数类型检查，会导致与类型相关的运行错误！（</a:t>
            </a:r>
            <a:r>
              <a:rPr lang="zh-CN" altLang="en-US" sz="4000" dirty="0">
                <a:solidFill>
                  <a:srgbClr val="FFC000"/>
                </a:solidFill>
              </a:rPr>
              <a:t>类型不安全</a:t>
            </a:r>
            <a:r>
              <a:rPr lang="zh-CN" altLang="en-US" sz="4000" dirty="0"/>
              <a:t>）</a:t>
            </a:r>
            <a:endParaRPr lang="en-US" altLang="zh-CN" sz="4000" dirty="0"/>
          </a:p>
          <a:p>
            <a:pPr eaLnBrk="1" latinLnBrk="1" hangingPunct="1">
              <a:lnSpc>
                <a:spcPct val="120000"/>
              </a:lnSpc>
              <a:defRPr/>
            </a:pPr>
            <a:r>
              <a:rPr lang="zh-CN" altLang="en-US" sz="4000" dirty="0"/>
              <a:t>不对</a:t>
            </a:r>
            <a:r>
              <a:rPr lang="en-US" altLang="zh-CN" sz="4000" dirty="0" err="1"/>
              <a:t>printf</a:t>
            </a:r>
            <a:r>
              <a:rPr lang="zh-CN" altLang="en-US" sz="4000" dirty="0"/>
              <a:t>和</a:t>
            </a:r>
            <a:r>
              <a:rPr lang="en-US" altLang="zh-CN" sz="4000" dirty="0" err="1"/>
              <a:t>scanf</a:t>
            </a:r>
            <a:r>
              <a:rPr lang="zh-CN" altLang="en-US" sz="4000" dirty="0"/>
              <a:t>的格式串中指定的数据类型与所提供的数据的实际类型之间是否一致进行编译时刻的检查，当格式串描述与数据不一致时会导致运行时刻的错误：</a:t>
            </a:r>
            <a:endParaRPr lang="en-US" altLang="zh-CN" sz="4000" dirty="0"/>
          </a:p>
          <a:p>
            <a:pPr marL="1009650" lvl="1" indent="-609600">
              <a:lnSpc>
                <a:spcPct val="120000"/>
              </a:lnSpc>
              <a:buFont typeface="Wingdings" pitchFamily="2" charset="2"/>
              <a:buNone/>
              <a:defRPr/>
            </a:pPr>
            <a:r>
              <a:rPr lang="en-US" altLang="zh-CN" sz="3500" dirty="0" err="1"/>
              <a:t>scanf</a:t>
            </a:r>
            <a:r>
              <a:rPr lang="en-US" altLang="zh-CN" sz="3500" dirty="0"/>
              <a:t>("</a:t>
            </a:r>
            <a:r>
              <a:rPr lang="en-US" altLang="zh-CN" sz="3500" dirty="0" err="1"/>
              <a:t>i</a:t>
            </a:r>
            <a:r>
              <a:rPr lang="en-US" altLang="zh-CN" sz="3500" dirty="0"/>
              <a:t>=%</a:t>
            </a:r>
            <a:r>
              <a:rPr lang="en-US" altLang="zh-CN" sz="3500" dirty="0" err="1"/>
              <a:t>d,j</a:t>
            </a:r>
            <a:r>
              <a:rPr lang="en-US" altLang="zh-CN" sz="3500" dirty="0"/>
              <a:t>=</a:t>
            </a:r>
            <a:r>
              <a:rPr lang="en-US" altLang="zh-CN" sz="3500" dirty="0">
                <a:solidFill>
                  <a:srgbClr val="FFC000"/>
                </a:solidFill>
              </a:rPr>
              <a:t>%d</a:t>
            </a:r>
            <a:r>
              <a:rPr lang="en-US" altLang="zh-CN" sz="3500" dirty="0"/>
              <a:t>",&amp;</a:t>
            </a:r>
            <a:r>
              <a:rPr lang="en-US" altLang="zh-CN" sz="3500" dirty="0" err="1"/>
              <a:t>i</a:t>
            </a:r>
            <a:r>
              <a:rPr lang="en-US" altLang="zh-CN" sz="3500" dirty="0"/>
              <a:t>,</a:t>
            </a:r>
            <a:r>
              <a:rPr lang="en-US" altLang="zh-CN" sz="3500" dirty="0">
                <a:solidFill>
                  <a:srgbClr val="FFC000"/>
                </a:solidFill>
              </a:rPr>
              <a:t>&amp;j</a:t>
            </a:r>
            <a:r>
              <a:rPr lang="en-US" altLang="zh-CN" sz="3500" dirty="0"/>
              <a:t>); //</a:t>
            </a:r>
            <a:r>
              <a:rPr lang="zh-CN" altLang="en-US" sz="3500" dirty="0"/>
              <a:t>类型不一致</a:t>
            </a:r>
            <a:endParaRPr lang="en-US" altLang="zh-CN" sz="3500" dirty="0"/>
          </a:p>
          <a:p>
            <a:pPr marL="1009650" lvl="1" indent="-609600">
              <a:lnSpc>
                <a:spcPct val="120000"/>
              </a:lnSpc>
              <a:buFont typeface="Wingdings" pitchFamily="2" charset="2"/>
              <a:buNone/>
              <a:defRPr/>
            </a:pPr>
            <a:r>
              <a:rPr lang="it-IT" altLang="zh-CN" sz="3500" dirty="0"/>
              <a:t>printf("i=%d, j=</a:t>
            </a:r>
            <a:r>
              <a:rPr lang="it-IT" altLang="zh-CN" sz="3500" dirty="0">
                <a:solidFill>
                  <a:srgbClr val="FFC000"/>
                </a:solidFill>
              </a:rPr>
              <a:t>%</a:t>
            </a:r>
            <a:r>
              <a:rPr lang="en-US" altLang="zh-CN" sz="3500" dirty="0">
                <a:solidFill>
                  <a:srgbClr val="FFC000"/>
                </a:solidFill>
              </a:rPr>
              <a:t>d</a:t>
            </a:r>
            <a:r>
              <a:rPr lang="it-IT" altLang="zh-CN" sz="3500" dirty="0"/>
              <a:t>\n",i,</a:t>
            </a:r>
            <a:r>
              <a:rPr lang="it-IT" altLang="zh-CN" sz="3500" dirty="0">
                <a:solidFill>
                  <a:srgbClr val="FFC000"/>
                </a:solidFill>
              </a:rPr>
              <a:t>j</a:t>
            </a:r>
            <a:r>
              <a:rPr lang="it-IT" altLang="zh-CN" sz="3500" dirty="0"/>
              <a:t>);</a:t>
            </a:r>
            <a:r>
              <a:rPr lang="en-US" altLang="zh-CN" sz="3500" dirty="0"/>
              <a:t> //</a:t>
            </a:r>
            <a:r>
              <a:rPr lang="zh-CN" altLang="en-US" sz="3500" dirty="0"/>
              <a:t>类型不一致</a:t>
            </a:r>
            <a:endParaRPr lang="it-IT" altLang="zh-CN" sz="3500" dirty="0"/>
          </a:p>
          <a:p>
            <a:pPr marL="1009650" lvl="1" indent="-609600">
              <a:lnSpc>
                <a:spcPct val="120000"/>
              </a:lnSpc>
              <a:buFont typeface="Wingdings" pitchFamily="2" charset="2"/>
              <a:buNone/>
              <a:defRPr/>
            </a:pPr>
            <a:r>
              <a:rPr lang="en-US" altLang="zh-CN" sz="3500" dirty="0" err="1"/>
              <a:t>scanf</a:t>
            </a:r>
            <a:r>
              <a:rPr lang="en-US" altLang="zh-CN" sz="3500" dirty="0"/>
              <a:t>("</a:t>
            </a:r>
            <a:r>
              <a:rPr lang="en-US" altLang="zh-CN" sz="3500" dirty="0" err="1"/>
              <a:t>i</a:t>
            </a:r>
            <a:r>
              <a:rPr lang="en-US" altLang="zh-CN" sz="3500" dirty="0"/>
              <a:t>=%d",&amp;</a:t>
            </a:r>
            <a:r>
              <a:rPr lang="en-US" altLang="zh-CN" sz="3500" dirty="0" err="1"/>
              <a:t>i</a:t>
            </a:r>
            <a:r>
              <a:rPr lang="en-US" altLang="zh-CN" sz="3500" dirty="0"/>
              <a:t>,</a:t>
            </a:r>
            <a:r>
              <a:rPr lang="en-US" altLang="zh-CN" sz="3500" dirty="0">
                <a:solidFill>
                  <a:srgbClr val="FFC000"/>
                </a:solidFill>
              </a:rPr>
              <a:t>&amp;j</a:t>
            </a:r>
            <a:r>
              <a:rPr lang="en-US" altLang="zh-CN" sz="3500" dirty="0"/>
              <a:t>); //</a:t>
            </a:r>
            <a:r>
              <a:rPr lang="zh-CN" altLang="en-US" sz="3500" dirty="0"/>
              <a:t>个数不一致</a:t>
            </a:r>
            <a:endParaRPr lang="en-US" altLang="zh-CN" sz="3500" dirty="0"/>
          </a:p>
          <a:p>
            <a:pPr marL="1009650" lvl="1" indent="-609600">
              <a:lnSpc>
                <a:spcPct val="120000"/>
              </a:lnSpc>
              <a:buFont typeface="Wingdings" pitchFamily="2" charset="2"/>
              <a:buNone/>
              <a:defRPr/>
            </a:pPr>
            <a:r>
              <a:rPr lang="it-IT" altLang="zh-CN" sz="3500" dirty="0"/>
              <a:t>printf("i=%d, j=</a:t>
            </a:r>
            <a:r>
              <a:rPr lang="it-IT" altLang="zh-CN" sz="3500" dirty="0">
                <a:solidFill>
                  <a:srgbClr val="FFC000"/>
                </a:solidFill>
              </a:rPr>
              <a:t>%</a:t>
            </a:r>
            <a:r>
              <a:rPr lang="en-US" altLang="zh-CN" sz="3500" dirty="0">
                <a:solidFill>
                  <a:srgbClr val="FFC000"/>
                </a:solidFill>
              </a:rPr>
              <a:t>f</a:t>
            </a:r>
            <a:r>
              <a:rPr lang="it-IT" altLang="zh-CN" sz="3500" dirty="0"/>
              <a:t>\n",i);  </a:t>
            </a:r>
            <a:r>
              <a:rPr lang="en-US" altLang="zh-CN" sz="3500" dirty="0"/>
              <a:t>//</a:t>
            </a:r>
            <a:r>
              <a:rPr lang="zh-CN" altLang="en-US" sz="3500" dirty="0"/>
              <a:t>个数不一致</a:t>
            </a:r>
            <a:endParaRPr lang="en-US" altLang="zh-CN" sz="3500" dirty="0"/>
          </a:p>
        </p:txBody>
      </p:sp>
      <p:sp>
        <p:nvSpPr>
          <p:cNvPr id="3" name="Rectangle 2">
            <a:extLst>
              <a:ext uri="{FF2B5EF4-FFF2-40B4-BE49-F238E27FC236}">
                <a16:creationId xmlns:a16="http://schemas.microsoft.com/office/drawing/2014/main" id="{2864AA9F-E48D-08F1-0F57-8A49D9EF943C}"/>
              </a:ext>
            </a:extLst>
          </p:cNvPr>
          <p:cNvSpPr>
            <a:spLocks noGrp="1" noChangeArrowheads="1"/>
          </p:cNvSpPr>
          <p:nvPr>
            <p:ph type="title"/>
          </p:nvPr>
        </p:nvSpPr>
        <p:spPr>
          <a:xfrm>
            <a:off x="457200" y="44450"/>
            <a:ext cx="8229600" cy="1139825"/>
          </a:xfrm>
        </p:spPr>
        <p:txBody>
          <a:bodyPr/>
          <a:lstStyle/>
          <a:p>
            <a:pPr eaLnBrk="1" hangingPunct="1">
              <a:defRPr/>
            </a:pPr>
            <a:r>
              <a:rPr lang="en-US" altLang="zh-CN" dirty="0" err="1"/>
              <a:t>printf</a:t>
            </a:r>
            <a:r>
              <a:rPr lang="zh-CN" altLang="en-US" dirty="0"/>
              <a:t>、</a:t>
            </a:r>
            <a:r>
              <a:rPr lang="en-US" altLang="zh-CN" dirty="0" err="1"/>
              <a:t>scanf</a:t>
            </a:r>
            <a:r>
              <a:rPr lang="zh-CN" altLang="en-US" dirty="0"/>
              <a:t>的缺陷</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a16="http://schemas.microsoft.com/office/drawing/2014/main" id="{12CF20E2-F177-A608-A3F7-31563F3916DF}"/>
              </a:ext>
            </a:extLst>
          </p:cNvPr>
          <p:cNvSpPr>
            <a:spLocks noGrp="1" noChangeArrowheads="1"/>
          </p:cNvSpPr>
          <p:nvPr>
            <p:ph type="body" idx="1"/>
          </p:nvPr>
        </p:nvSpPr>
        <p:spPr>
          <a:xfrm>
            <a:off x="395288" y="1557338"/>
            <a:ext cx="8640762" cy="4464050"/>
          </a:xfrm>
        </p:spPr>
        <p:txBody>
          <a:bodyPr>
            <a:normAutofit fontScale="85000" lnSpcReduction="20000"/>
          </a:bodyPr>
          <a:lstStyle/>
          <a:p>
            <a:pPr eaLnBrk="1">
              <a:lnSpc>
                <a:spcPct val="120000"/>
              </a:lnSpc>
              <a:defRPr/>
            </a:pPr>
            <a:r>
              <a:rPr lang="zh-CN" altLang="en-US" sz="3600" dirty="0"/>
              <a:t>不需要单独指定数据的类型和个数，编译时刻根据数据本身来决定操作的类型和个数，这样可避免与类型和个数相关的错误！</a:t>
            </a:r>
            <a:endParaRPr lang="en-US" altLang="zh-CN" sz="3600" dirty="0"/>
          </a:p>
          <a:p>
            <a:pPr marL="1009650" lvl="1" indent="-609600">
              <a:lnSpc>
                <a:spcPct val="110000"/>
              </a:lnSpc>
              <a:buFont typeface="Wingdings" pitchFamily="2" charset="2"/>
              <a:buNone/>
              <a:defRPr/>
            </a:pPr>
            <a:r>
              <a:rPr lang="en-US" altLang="zh-CN" sz="2700" dirty="0" err="1"/>
              <a:t>int</a:t>
            </a:r>
            <a:r>
              <a:rPr lang="en-US" altLang="zh-CN" sz="2700" dirty="0"/>
              <a:t> </a:t>
            </a:r>
            <a:r>
              <a:rPr lang="en-US" altLang="zh-CN" sz="2700" dirty="0" err="1"/>
              <a:t>i</a:t>
            </a:r>
            <a:r>
              <a:rPr lang="en-US" altLang="zh-CN" sz="2700" dirty="0"/>
              <a:t>;</a:t>
            </a:r>
          </a:p>
          <a:p>
            <a:pPr marL="1009650" lvl="1" indent="-609600">
              <a:lnSpc>
                <a:spcPct val="110000"/>
              </a:lnSpc>
              <a:buFont typeface="Wingdings" pitchFamily="2" charset="2"/>
              <a:buNone/>
              <a:defRPr/>
            </a:pPr>
            <a:r>
              <a:rPr lang="en-US" altLang="zh-CN" sz="2700" dirty="0"/>
              <a:t>double j;</a:t>
            </a:r>
            <a:endParaRPr lang="it-IT" altLang="zh-CN" sz="2700" dirty="0"/>
          </a:p>
          <a:p>
            <a:pPr marL="1009650" lvl="1" indent="-609600">
              <a:lnSpc>
                <a:spcPct val="110000"/>
              </a:lnSpc>
              <a:buFontTx/>
              <a:buNone/>
              <a:defRPr/>
            </a:pPr>
            <a:r>
              <a:rPr lang="en-US" altLang="zh-CN" sz="2700" dirty="0" err="1"/>
              <a:t>cout</a:t>
            </a:r>
            <a:r>
              <a:rPr lang="en-US" altLang="zh-CN" sz="2700" dirty="0"/>
              <a:t> &lt;&lt; "</a:t>
            </a:r>
            <a:r>
              <a:rPr lang="en-US" altLang="zh-CN" sz="2700" dirty="0" err="1"/>
              <a:t>i</a:t>
            </a:r>
            <a:r>
              <a:rPr lang="en-US" altLang="zh-CN" sz="2700" dirty="0"/>
              <a:t>=";  </a:t>
            </a:r>
          </a:p>
          <a:p>
            <a:pPr marL="1009650" lvl="1" indent="-609600">
              <a:lnSpc>
                <a:spcPct val="110000"/>
              </a:lnSpc>
              <a:buFontTx/>
              <a:buNone/>
              <a:defRPr/>
            </a:pPr>
            <a:r>
              <a:rPr lang="en-US" altLang="zh-CN" sz="2700" dirty="0" err="1"/>
              <a:t>cin</a:t>
            </a:r>
            <a:r>
              <a:rPr lang="en-US" altLang="zh-CN" sz="2700" dirty="0"/>
              <a:t> &gt;&gt; </a:t>
            </a:r>
            <a:r>
              <a:rPr lang="en-US" altLang="zh-CN" sz="2700" dirty="0" err="1"/>
              <a:t>i</a:t>
            </a:r>
            <a:r>
              <a:rPr lang="en-US" altLang="zh-CN" sz="2700" dirty="0"/>
              <a:t>; </a:t>
            </a:r>
          </a:p>
          <a:p>
            <a:pPr marL="1009650" lvl="1" indent="-609600">
              <a:lnSpc>
                <a:spcPct val="110000"/>
              </a:lnSpc>
              <a:buFontTx/>
              <a:buNone/>
              <a:defRPr/>
            </a:pPr>
            <a:r>
              <a:rPr lang="en-US" altLang="zh-CN" sz="2700" dirty="0" err="1"/>
              <a:t>cout</a:t>
            </a:r>
            <a:r>
              <a:rPr lang="en-US" altLang="zh-CN" sz="2700" dirty="0"/>
              <a:t> &lt;&lt; "j="; </a:t>
            </a:r>
          </a:p>
          <a:p>
            <a:pPr marL="1009650" lvl="1" indent="-609600">
              <a:lnSpc>
                <a:spcPct val="110000"/>
              </a:lnSpc>
              <a:buFontTx/>
              <a:buNone/>
              <a:defRPr/>
            </a:pPr>
            <a:r>
              <a:rPr lang="en-US" altLang="zh-CN" sz="2700" dirty="0" err="1"/>
              <a:t>cin</a:t>
            </a:r>
            <a:r>
              <a:rPr lang="en-US" altLang="zh-CN" sz="2700" dirty="0"/>
              <a:t> &gt;&gt; j;</a:t>
            </a:r>
          </a:p>
          <a:p>
            <a:pPr marL="400050" lvl="1" indent="0">
              <a:lnSpc>
                <a:spcPct val="110000"/>
              </a:lnSpc>
              <a:buFont typeface="Wingdings" pitchFamily="2" charset="2"/>
              <a:buNone/>
              <a:defRPr/>
            </a:pPr>
            <a:r>
              <a:rPr lang="en-US" altLang="zh-CN" sz="2700" dirty="0" err="1"/>
              <a:t>cout</a:t>
            </a:r>
            <a:r>
              <a:rPr lang="en-US" altLang="zh-CN" sz="2700" dirty="0"/>
              <a:t> &lt;&lt; "</a:t>
            </a:r>
            <a:r>
              <a:rPr lang="en-US" altLang="zh-CN" sz="2700" dirty="0" err="1"/>
              <a:t>i</a:t>
            </a:r>
            <a:r>
              <a:rPr lang="en-US" altLang="zh-CN" sz="2700" dirty="0"/>
              <a:t>=" &lt;&lt; </a:t>
            </a:r>
            <a:r>
              <a:rPr lang="en-US" altLang="zh-CN" sz="2700" dirty="0" err="1"/>
              <a:t>i</a:t>
            </a:r>
            <a:r>
              <a:rPr lang="en-US" altLang="zh-CN" sz="2700" dirty="0"/>
              <a:t> &lt;&lt; ",j=" &lt;&lt; j &lt;&lt; </a:t>
            </a:r>
            <a:r>
              <a:rPr lang="en-US" altLang="zh-CN" sz="2700" dirty="0" err="1"/>
              <a:t>endl</a:t>
            </a:r>
            <a:r>
              <a:rPr lang="en-US" altLang="zh-CN" sz="2700" dirty="0"/>
              <a:t>;</a:t>
            </a:r>
          </a:p>
        </p:txBody>
      </p:sp>
      <p:sp>
        <p:nvSpPr>
          <p:cNvPr id="3" name="Rectangle 2">
            <a:extLst>
              <a:ext uri="{FF2B5EF4-FFF2-40B4-BE49-F238E27FC236}">
                <a16:creationId xmlns:a16="http://schemas.microsoft.com/office/drawing/2014/main" id="{ED8818D5-C4F0-1CF4-F5D7-97AAA29A0FC5}"/>
              </a:ext>
            </a:extLst>
          </p:cNvPr>
          <p:cNvSpPr>
            <a:spLocks noGrp="1" noChangeArrowheads="1"/>
          </p:cNvSpPr>
          <p:nvPr>
            <p:ph type="title"/>
          </p:nvPr>
        </p:nvSpPr>
        <p:spPr>
          <a:xfrm>
            <a:off x="457200" y="44450"/>
            <a:ext cx="8229600" cy="1139825"/>
          </a:xfrm>
        </p:spPr>
        <p:txBody>
          <a:bodyPr/>
          <a:lstStyle/>
          <a:p>
            <a:pPr eaLnBrk="1" hangingPunct="1">
              <a:defRPr/>
            </a:pPr>
            <a:r>
              <a:rPr lang="en-US" altLang="zh-CN" dirty="0" err="1"/>
              <a:t>cout</a:t>
            </a:r>
            <a:r>
              <a:rPr lang="zh-CN" altLang="en-US" dirty="0"/>
              <a:t>、</a:t>
            </a:r>
            <a:r>
              <a:rPr lang="en-US" altLang="zh-CN" dirty="0" err="1"/>
              <a:t>cin</a:t>
            </a:r>
            <a:r>
              <a:rPr lang="zh-CN" altLang="en-US" dirty="0"/>
              <a:t>的优势</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D842278-8B8C-032A-5694-E1EDFF834C4B}"/>
              </a:ext>
            </a:extLst>
          </p:cNvPr>
          <p:cNvSpPr>
            <a:spLocks noGrp="1" noChangeArrowheads="1"/>
          </p:cNvSpPr>
          <p:nvPr>
            <p:ph type="title"/>
          </p:nvPr>
        </p:nvSpPr>
        <p:spPr/>
        <p:txBody>
          <a:bodyPr/>
          <a:lstStyle/>
          <a:p>
            <a:pPr eaLnBrk="1" hangingPunct="1">
              <a:defRPr/>
            </a:pPr>
            <a:r>
              <a:rPr lang="en-US" altLang="zh-CN"/>
              <a:t>I/O</a:t>
            </a:r>
            <a:r>
              <a:rPr lang="zh-CN" altLang="en-US"/>
              <a:t>的分类</a:t>
            </a:r>
          </a:p>
        </p:txBody>
      </p:sp>
      <p:sp>
        <p:nvSpPr>
          <p:cNvPr id="52227" name="Rectangle 3">
            <a:extLst>
              <a:ext uri="{FF2B5EF4-FFF2-40B4-BE49-F238E27FC236}">
                <a16:creationId xmlns:a16="http://schemas.microsoft.com/office/drawing/2014/main" id="{C316847E-D528-149A-9103-C9F46E97BB4D}"/>
              </a:ext>
            </a:extLst>
          </p:cNvPr>
          <p:cNvSpPr>
            <a:spLocks noGrp="1" noChangeArrowheads="1"/>
          </p:cNvSpPr>
          <p:nvPr>
            <p:ph type="body" idx="1"/>
          </p:nvPr>
        </p:nvSpPr>
        <p:spPr>
          <a:xfrm>
            <a:off x="457200" y="1600200"/>
            <a:ext cx="8229600" cy="4637088"/>
          </a:xfrm>
        </p:spPr>
        <p:txBody>
          <a:bodyPr/>
          <a:lstStyle/>
          <a:p>
            <a:pPr eaLnBrk="1" hangingPunct="1">
              <a:defRPr/>
            </a:pPr>
            <a:r>
              <a:rPr lang="zh-CN" altLang="en-US" sz="2800" dirty="0">
                <a:solidFill>
                  <a:schemeClr val="folHlink"/>
                </a:solidFill>
              </a:rPr>
              <a:t>面向</a:t>
            </a:r>
            <a:r>
              <a:rPr lang="zh-CN" altLang="en-GB" sz="2800" dirty="0">
                <a:solidFill>
                  <a:schemeClr val="folHlink"/>
                </a:solidFill>
              </a:rPr>
              <a:t>控制台的</a:t>
            </a:r>
            <a:r>
              <a:rPr lang="en-GB" altLang="zh-CN" sz="2800" dirty="0">
                <a:solidFill>
                  <a:schemeClr val="folHlink"/>
                </a:solidFill>
              </a:rPr>
              <a:t>I/O</a:t>
            </a:r>
            <a:endParaRPr lang="zh-CN" altLang="en-GB" sz="2800" dirty="0"/>
          </a:p>
          <a:p>
            <a:pPr lvl="1" eaLnBrk="1" hangingPunct="1">
              <a:defRPr/>
            </a:pPr>
            <a:r>
              <a:rPr lang="zh-CN" altLang="en-GB" sz="2400" dirty="0"/>
              <a:t>从标准输入设备（如：键盘）获得数据</a:t>
            </a:r>
          </a:p>
          <a:p>
            <a:pPr lvl="1" eaLnBrk="1" hangingPunct="1">
              <a:defRPr/>
            </a:pPr>
            <a:r>
              <a:rPr lang="zh-CN" altLang="en-GB" sz="2400" dirty="0"/>
              <a:t>把程序结果从标准输出设备（如：显示器）输出</a:t>
            </a:r>
          </a:p>
          <a:p>
            <a:pPr eaLnBrk="1" hangingPunct="1">
              <a:defRPr/>
            </a:pPr>
            <a:r>
              <a:rPr lang="zh-CN" altLang="en-US" sz="2800" dirty="0">
                <a:solidFill>
                  <a:schemeClr val="folHlink"/>
                </a:solidFill>
              </a:rPr>
              <a:t>面向</a:t>
            </a:r>
            <a:r>
              <a:rPr lang="zh-CN" altLang="en-GB" sz="2800" dirty="0">
                <a:solidFill>
                  <a:schemeClr val="folHlink"/>
                </a:solidFill>
              </a:rPr>
              <a:t>文件的</a:t>
            </a:r>
            <a:r>
              <a:rPr lang="en-GB" altLang="zh-CN" sz="2800" dirty="0">
                <a:solidFill>
                  <a:schemeClr val="folHlink"/>
                </a:solidFill>
              </a:rPr>
              <a:t>I/O</a:t>
            </a:r>
            <a:endParaRPr lang="zh-CN" altLang="en-GB" sz="2800" dirty="0"/>
          </a:p>
          <a:p>
            <a:pPr lvl="1" eaLnBrk="1" hangingPunct="1">
              <a:defRPr/>
            </a:pPr>
            <a:r>
              <a:rPr lang="zh-CN" altLang="en-GB" sz="2400" dirty="0"/>
              <a:t>从外存文件获得数据</a:t>
            </a:r>
          </a:p>
          <a:p>
            <a:pPr lvl="1" eaLnBrk="1" hangingPunct="1">
              <a:defRPr/>
            </a:pPr>
            <a:r>
              <a:rPr lang="zh-CN" altLang="en-GB" sz="2400" dirty="0"/>
              <a:t>把程序结果保存到外存文件中</a:t>
            </a:r>
          </a:p>
          <a:p>
            <a:pPr eaLnBrk="1" hangingPunct="1">
              <a:defRPr/>
            </a:pPr>
            <a:r>
              <a:rPr lang="zh-CN" altLang="en-US" sz="2800" dirty="0">
                <a:solidFill>
                  <a:schemeClr val="folHlink"/>
                </a:solidFill>
              </a:rPr>
              <a:t>面向</a:t>
            </a:r>
            <a:r>
              <a:rPr lang="zh-CN" altLang="en-GB" sz="2800" dirty="0">
                <a:solidFill>
                  <a:schemeClr val="folHlink"/>
                </a:solidFill>
              </a:rPr>
              <a:t>字符串变量的</a:t>
            </a:r>
            <a:r>
              <a:rPr lang="en-GB" altLang="zh-CN" sz="2800" dirty="0">
                <a:solidFill>
                  <a:schemeClr val="folHlink"/>
                </a:solidFill>
              </a:rPr>
              <a:t>I/O</a:t>
            </a:r>
            <a:endParaRPr lang="zh-CN" altLang="en-GB" sz="2800" dirty="0"/>
          </a:p>
          <a:p>
            <a:pPr lvl="1" eaLnBrk="1" hangingPunct="1">
              <a:defRPr/>
            </a:pPr>
            <a:r>
              <a:rPr lang="zh-CN" altLang="en-GB" sz="2400" dirty="0"/>
              <a:t>从程序中的字符串变量中获得数据</a:t>
            </a:r>
          </a:p>
          <a:p>
            <a:pPr lvl="1" eaLnBrk="1" hangingPunct="1">
              <a:defRPr/>
            </a:pPr>
            <a:r>
              <a:rPr lang="zh-CN" altLang="en-GB" sz="2400" dirty="0"/>
              <a:t>把程序结果保存到字符串变量中</a:t>
            </a: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BC3845A-3BF1-122F-5061-B601A73CD677}"/>
              </a:ext>
            </a:extLst>
          </p:cNvPr>
          <p:cNvSpPr>
            <a:spLocks noGrp="1" noChangeArrowheads="1"/>
          </p:cNvSpPr>
          <p:nvPr>
            <p:ph type="title"/>
          </p:nvPr>
        </p:nvSpPr>
        <p:spPr>
          <a:xfrm>
            <a:off x="457200" y="115888"/>
            <a:ext cx="8229600" cy="1139825"/>
          </a:xfrm>
        </p:spPr>
        <p:txBody>
          <a:bodyPr/>
          <a:lstStyle/>
          <a:p>
            <a:pPr eaLnBrk="1" hangingPunct="1">
              <a:defRPr/>
            </a:pPr>
            <a:r>
              <a:rPr lang="en-GB" altLang="zh-CN" dirty="0"/>
              <a:t>C++</a:t>
            </a:r>
            <a:r>
              <a:rPr lang="zh-CN" altLang="en-GB" dirty="0"/>
              <a:t>的</a:t>
            </a:r>
            <a:r>
              <a:rPr lang="en-GB" altLang="zh-CN" dirty="0"/>
              <a:t>I/O</a:t>
            </a:r>
            <a:r>
              <a:rPr lang="zh-CN" altLang="en-GB" dirty="0"/>
              <a:t>类库</a:t>
            </a:r>
            <a:r>
              <a:rPr lang="zh-CN" altLang="en-US" dirty="0"/>
              <a:t>中基本的类</a:t>
            </a:r>
          </a:p>
        </p:txBody>
      </p:sp>
      <p:sp>
        <p:nvSpPr>
          <p:cNvPr id="53251" name="Rectangle 3">
            <a:extLst>
              <a:ext uri="{FF2B5EF4-FFF2-40B4-BE49-F238E27FC236}">
                <a16:creationId xmlns:a16="http://schemas.microsoft.com/office/drawing/2014/main" id="{86431140-9E84-B9AC-AFF7-0BBE79E5BF0B}"/>
              </a:ext>
            </a:extLst>
          </p:cNvPr>
          <p:cNvSpPr>
            <a:spLocks noGrp="1" noChangeArrowheads="1"/>
          </p:cNvSpPr>
          <p:nvPr>
            <p:ph type="body" idx="1"/>
          </p:nvPr>
        </p:nvSpPr>
        <p:spPr>
          <a:xfrm>
            <a:off x="217488" y="1557338"/>
            <a:ext cx="8469312" cy="1214437"/>
          </a:xfrm>
        </p:spPr>
        <p:txBody>
          <a:bodyPr>
            <a:normAutofit fontScale="92500" lnSpcReduction="20000"/>
          </a:bodyPr>
          <a:lstStyle/>
          <a:p>
            <a:pPr eaLnBrk="1" hangingPunct="1">
              <a:lnSpc>
                <a:spcPct val="110000"/>
              </a:lnSpc>
              <a:defRPr/>
            </a:pPr>
            <a:r>
              <a:rPr lang="en-US" altLang="zh-CN" sz="2800" dirty="0"/>
              <a:t>C++</a:t>
            </a:r>
            <a:r>
              <a:rPr lang="zh-CN" altLang="en-US" sz="2800" dirty="0"/>
              <a:t>标准类库提供了以下的类来实现各种输入</a:t>
            </a:r>
            <a:r>
              <a:rPr lang="en-US" altLang="zh-CN" sz="2800" dirty="0"/>
              <a:t>/</a:t>
            </a:r>
            <a:r>
              <a:rPr lang="zh-CN" altLang="en-US" sz="2800" dirty="0"/>
              <a:t>输出功能，其中，字符串变量的</a:t>
            </a:r>
            <a:r>
              <a:rPr lang="en-US" altLang="zh-CN" sz="2800" dirty="0"/>
              <a:t>I/O</a:t>
            </a:r>
            <a:r>
              <a:rPr lang="zh-CN" altLang="en-US" sz="2800" dirty="0"/>
              <a:t>现在已被</a:t>
            </a:r>
            <a:r>
              <a:rPr lang="en-US" altLang="zh-CN" sz="2800" dirty="0"/>
              <a:t>STL</a:t>
            </a:r>
            <a:r>
              <a:rPr lang="zh-CN" altLang="en-US" sz="2800" dirty="0"/>
              <a:t>中的</a:t>
            </a:r>
            <a:r>
              <a:rPr lang="en-US" altLang="zh-CN" sz="2800" dirty="0"/>
              <a:t>string</a:t>
            </a:r>
            <a:r>
              <a:rPr lang="zh-CN" altLang="en-US" sz="2800" dirty="0"/>
              <a:t>替代。</a:t>
            </a:r>
          </a:p>
        </p:txBody>
      </p:sp>
      <p:grpSp>
        <p:nvGrpSpPr>
          <p:cNvPr id="11268" name="Group 0">
            <a:extLst>
              <a:ext uri="{FF2B5EF4-FFF2-40B4-BE49-F238E27FC236}">
                <a16:creationId xmlns:a16="http://schemas.microsoft.com/office/drawing/2014/main" id="{8498C72D-57F0-2F37-0E35-F995717724A6}"/>
              </a:ext>
            </a:extLst>
          </p:cNvPr>
          <p:cNvGrpSpPr>
            <a:grpSpLocks/>
          </p:cNvGrpSpPr>
          <p:nvPr/>
        </p:nvGrpSpPr>
        <p:grpSpPr bwMode="auto">
          <a:xfrm>
            <a:off x="250825" y="2652713"/>
            <a:ext cx="9217025" cy="3944937"/>
            <a:chOff x="158" y="1927"/>
            <a:chExt cx="5806" cy="2311"/>
          </a:xfrm>
        </p:grpSpPr>
        <p:sp>
          <p:nvSpPr>
            <p:cNvPr id="11291" name="Text Box 27">
              <a:extLst>
                <a:ext uri="{FF2B5EF4-FFF2-40B4-BE49-F238E27FC236}">
                  <a16:creationId xmlns:a16="http://schemas.microsoft.com/office/drawing/2014/main" id="{F2DD6CD3-F382-FFF0-1449-5A29CE157AC7}"/>
                </a:ext>
              </a:extLst>
            </p:cNvPr>
            <p:cNvSpPr txBox="1">
              <a:spLocks noChangeArrowheads="1"/>
            </p:cNvSpPr>
            <p:nvPr/>
          </p:nvSpPr>
          <p:spPr bwMode="auto">
            <a:xfrm>
              <a:off x="838" y="3002"/>
              <a:ext cx="270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istr</a:t>
              </a:r>
              <a:r>
                <a:rPr lang="en-US" altLang="zh-CN" sz="2000" dirty="0" err="1">
                  <a:effectLst>
                    <a:outerShdw blurRad="38100" dist="38100" dir="2700000" algn="tl">
                      <a:srgbClr val="000000">
                        <a:alpha val="43137"/>
                      </a:srgbClr>
                    </a:outerShdw>
                  </a:effectLst>
                </a:rPr>
                <a:t>ing</a:t>
              </a:r>
              <a:r>
                <a:rPr lang="en-GB" altLang="zh-CN" sz="2000" dirty="0">
                  <a:effectLst>
                    <a:outerShdw blurRad="38100" dist="38100" dir="2700000" algn="tl">
                      <a:srgbClr val="000000">
                        <a:alpha val="43137"/>
                      </a:srgbClr>
                    </a:outerShdw>
                  </a:effectLst>
                </a:rPr>
                <a:t>stream</a:t>
              </a:r>
              <a:r>
                <a:rPr lang="zh-CN" altLang="en-GB" sz="2000" dirty="0">
                  <a:effectLst>
                    <a:outerShdw blurRad="38100" dist="38100" dir="2700000" algn="tl">
                      <a:srgbClr val="000000">
                        <a:alpha val="43137"/>
                      </a:srgbClr>
                    </a:outerShdw>
                  </a:effectLst>
                </a:rPr>
                <a:t>（字符串变量输入）</a:t>
              </a:r>
              <a:r>
                <a:rPr lang="zh-CN" altLang="en-US" sz="2000" dirty="0">
                  <a:effectLst>
                    <a:outerShdw blurRad="38100" dist="38100" dir="2700000" algn="tl">
                      <a:srgbClr val="000000">
                        <a:alpha val="43137"/>
                      </a:srgbClr>
                    </a:outerShdw>
                  </a:effectLst>
                </a:rPr>
                <a:t> </a:t>
              </a:r>
            </a:p>
          </p:txBody>
        </p:sp>
        <p:sp>
          <p:nvSpPr>
            <p:cNvPr id="11269" name="Line 4">
              <a:extLst>
                <a:ext uri="{FF2B5EF4-FFF2-40B4-BE49-F238E27FC236}">
                  <a16:creationId xmlns:a16="http://schemas.microsoft.com/office/drawing/2014/main" id="{5ED11712-8F31-BD05-B60C-16819F121F86}"/>
                </a:ext>
              </a:extLst>
            </p:cNvPr>
            <p:cNvSpPr>
              <a:spLocks noChangeShapeType="1"/>
            </p:cNvSpPr>
            <p:nvPr/>
          </p:nvSpPr>
          <p:spPr bwMode="auto">
            <a:xfrm>
              <a:off x="352" y="2251"/>
              <a:ext cx="0" cy="11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0" name="Line 5">
              <a:extLst>
                <a:ext uri="{FF2B5EF4-FFF2-40B4-BE49-F238E27FC236}">
                  <a16:creationId xmlns:a16="http://schemas.microsoft.com/office/drawing/2014/main" id="{4D1B7AC4-15CB-1B84-021E-7E63EC94DAB3}"/>
                </a:ext>
              </a:extLst>
            </p:cNvPr>
            <p:cNvSpPr>
              <a:spLocks noChangeShapeType="1"/>
            </p:cNvSpPr>
            <p:nvPr/>
          </p:nvSpPr>
          <p:spPr bwMode="auto">
            <a:xfrm>
              <a:off x="352" y="237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1" name="Line 6">
              <a:extLst>
                <a:ext uri="{FF2B5EF4-FFF2-40B4-BE49-F238E27FC236}">
                  <a16:creationId xmlns:a16="http://schemas.microsoft.com/office/drawing/2014/main" id="{2BE9B683-A27D-3DC7-F393-7129931BA749}"/>
                </a:ext>
              </a:extLst>
            </p:cNvPr>
            <p:cNvSpPr>
              <a:spLocks noChangeShapeType="1"/>
            </p:cNvSpPr>
            <p:nvPr/>
          </p:nvSpPr>
          <p:spPr bwMode="auto">
            <a:xfrm>
              <a:off x="352" y="3393"/>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2" name="Line 7">
              <a:extLst>
                <a:ext uri="{FF2B5EF4-FFF2-40B4-BE49-F238E27FC236}">
                  <a16:creationId xmlns:a16="http://schemas.microsoft.com/office/drawing/2014/main" id="{DDDAC562-1C18-08A0-FCDD-2EF2F6F6581E}"/>
                </a:ext>
              </a:extLst>
            </p:cNvPr>
            <p:cNvSpPr>
              <a:spLocks noChangeShapeType="1"/>
            </p:cNvSpPr>
            <p:nvPr/>
          </p:nvSpPr>
          <p:spPr bwMode="auto">
            <a:xfrm>
              <a:off x="662" y="2503"/>
              <a:ext cx="0" cy="6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3" name="Line 8">
              <a:extLst>
                <a:ext uri="{FF2B5EF4-FFF2-40B4-BE49-F238E27FC236}">
                  <a16:creationId xmlns:a16="http://schemas.microsoft.com/office/drawing/2014/main" id="{0859A1E4-4426-AABC-CF1D-C967DBAC374D}"/>
                </a:ext>
              </a:extLst>
            </p:cNvPr>
            <p:cNvSpPr>
              <a:spLocks noChangeShapeType="1"/>
            </p:cNvSpPr>
            <p:nvPr/>
          </p:nvSpPr>
          <p:spPr bwMode="auto">
            <a:xfrm>
              <a:off x="662" y="2886"/>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4" name="Line 9">
              <a:extLst>
                <a:ext uri="{FF2B5EF4-FFF2-40B4-BE49-F238E27FC236}">
                  <a16:creationId xmlns:a16="http://schemas.microsoft.com/office/drawing/2014/main" id="{02A45384-384F-7AC1-7645-EEF1DE5744ED}"/>
                </a:ext>
              </a:extLst>
            </p:cNvPr>
            <p:cNvSpPr>
              <a:spLocks noChangeShapeType="1"/>
            </p:cNvSpPr>
            <p:nvPr/>
          </p:nvSpPr>
          <p:spPr bwMode="auto">
            <a:xfrm>
              <a:off x="662" y="3138"/>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5" name="Line 10">
              <a:extLst>
                <a:ext uri="{FF2B5EF4-FFF2-40B4-BE49-F238E27FC236}">
                  <a16:creationId xmlns:a16="http://schemas.microsoft.com/office/drawing/2014/main" id="{FDB13A35-EC08-DCB3-953D-8E8E10224495}"/>
                </a:ext>
              </a:extLst>
            </p:cNvPr>
            <p:cNvSpPr>
              <a:spLocks noChangeShapeType="1"/>
            </p:cNvSpPr>
            <p:nvPr/>
          </p:nvSpPr>
          <p:spPr bwMode="auto">
            <a:xfrm>
              <a:off x="662" y="3521"/>
              <a:ext cx="0" cy="6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6" name="Line 11">
              <a:extLst>
                <a:ext uri="{FF2B5EF4-FFF2-40B4-BE49-F238E27FC236}">
                  <a16:creationId xmlns:a16="http://schemas.microsoft.com/office/drawing/2014/main" id="{111A9DF0-B821-9F3A-FF4A-1AD42EC40A7B}"/>
                </a:ext>
              </a:extLst>
            </p:cNvPr>
            <p:cNvSpPr>
              <a:spLocks noChangeShapeType="1"/>
            </p:cNvSpPr>
            <p:nvPr/>
          </p:nvSpPr>
          <p:spPr bwMode="auto">
            <a:xfrm>
              <a:off x="662" y="3902"/>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7" name="Line 12">
              <a:extLst>
                <a:ext uri="{FF2B5EF4-FFF2-40B4-BE49-F238E27FC236}">
                  <a16:creationId xmlns:a16="http://schemas.microsoft.com/office/drawing/2014/main" id="{6D0219AB-4460-1511-A54A-E3EDB5266AB1}"/>
                </a:ext>
              </a:extLst>
            </p:cNvPr>
            <p:cNvSpPr>
              <a:spLocks noChangeShapeType="1"/>
            </p:cNvSpPr>
            <p:nvPr/>
          </p:nvSpPr>
          <p:spPr bwMode="auto">
            <a:xfrm>
              <a:off x="662" y="4156"/>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8" name="Line 13">
              <a:extLst>
                <a:ext uri="{FF2B5EF4-FFF2-40B4-BE49-F238E27FC236}">
                  <a16:creationId xmlns:a16="http://schemas.microsoft.com/office/drawing/2014/main" id="{BD957F36-6965-C699-C4F7-5B0B71B6CEE2}"/>
                </a:ext>
              </a:extLst>
            </p:cNvPr>
            <p:cNvSpPr>
              <a:spLocks noChangeShapeType="1"/>
            </p:cNvSpPr>
            <p:nvPr/>
          </p:nvSpPr>
          <p:spPr bwMode="auto">
            <a:xfrm>
              <a:off x="657" y="2614"/>
              <a:ext cx="2713"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79" name="Line 14">
              <a:extLst>
                <a:ext uri="{FF2B5EF4-FFF2-40B4-BE49-F238E27FC236}">
                  <a16:creationId xmlns:a16="http://schemas.microsoft.com/office/drawing/2014/main" id="{AC2EB2B5-12E4-C696-28EB-699F79576CCF}"/>
                </a:ext>
              </a:extLst>
            </p:cNvPr>
            <p:cNvSpPr>
              <a:spLocks noChangeShapeType="1"/>
            </p:cNvSpPr>
            <p:nvPr/>
          </p:nvSpPr>
          <p:spPr bwMode="auto">
            <a:xfrm>
              <a:off x="657" y="3657"/>
              <a:ext cx="2722" cy="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0" name="Line 15">
              <a:extLst>
                <a:ext uri="{FF2B5EF4-FFF2-40B4-BE49-F238E27FC236}">
                  <a16:creationId xmlns:a16="http://schemas.microsoft.com/office/drawing/2014/main" id="{2A904197-36E9-0A98-EA2F-AA4CFD1179D0}"/>
                </a:ext>
              </a:extLst>
            </p:cNvPr>
            <p:cNvSpPr>
              <a:spLocks noChangeShapeType="1"/>
            </p:cNvSpPr>
            <p:nvPr/>
          </p:nvSpPr>
          <p:spPr bwMode="auto">
            <a:xfrm>
              <a:off x="3370" y="2632"/>
              <a:ext cx="0" cy="5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1" name="Line 16">
              <a:extLst>
                <a:ext uri="{FF2B5EF4-FFF2-40B4-BE49-F238E27FC236}">
                  <a16:creationId xmlns:a16="http://schemas.microsoft.com/office/drawing/2014/main" id="{C1C5C6F8-CDE5-BD1A-98AD-669F21AB04A3}"/>
                </a:ext>
              </a:extLst>
            </p:cNvPr>
            <p:cNvSpPr>
              <a:spLocks noChangeShapeType="1"/>
            </p:cNvSpPr>
            <p:nvPr/>
          </p:nvSpPr>
          <p:spPr bwMode="auto">
            <a:xfrm flipV="1">
              <a:off x="3370" y="3267"/>
              <a:ext cx="0" cy="3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2" name="Line 17">
              <a:extLst>
                <a:ext uri="{FF2B5EF4-FFF2-40B4-BE49-F238E27FC236}">
                  <a16:creationId xmlns:a16="http://schemas.microsoft.com/office/drawing/2014/main" id="{1E634DDF-F1C6-027B-AE09-2C05B94DF9F2}"/>
                </a:ext>
              </a:extLst>
            </p:cNvPr>
            <p:cNvSpPr>
              <a:spLocks noChangeShapeType="1"/>
            </p:cNvSpPr>
            <p:nvPr/>
          </p:nvSpPr>
          <p:spPr bwMode="auto">
            <a:xfrm>
              <a:off x="3379" y="3138"/>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3" name="Line 18">
              <a:extLst>
                <a:ext uri="{FF2B5EF4-FFF2-40B4-BE49-F238E27FC236}">
                  <a16:creationId xmlns:a16="http://schemas.microsoft.com/office/drawing/2014/main" id="{2470A5BC-9DDE-BDE6-B446-B694ED2F8BB6}"/>
                </a:ext>
              </a:extLst>
            </p:cNvPr>
            <p:cNvSpPr>
              <a:spLocks noChangeShapeType="1"/>
            </p:cNvSpPr>
            <p:nvPr/>
          </p:nvSpPr>
          <p:spPr bwMode="auto">
            <a:xfrm>
              <a:off x="3370" y="326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4" name="Line 19">
              <a:extLst>
                <a:ext uri="{FF2B5EF4-FFF2-40B4-BE49-F238E27FC236}">
                  <a16:creationId xmlns:a16="http://schemas.microsoft.com/office/drawing/2014/main" id="{55CA8D22-C1C1-49D4-4FEC-1DCE3C290C77}"/>
                </a:ext>
              </a:extLst>
            </p:cNvPr>
            <p:cNvSpPr>
              <a:spLocks noChangeShapeType="1"/>
            </p:cNvSpPr>
            <p:nvPr/>
          </p:nvSpPr>
          <p:spPr bwMode="auto">
            <a:xfrm>
              <a:off x="3687" y="3267"/>
              <a:ext cx="0" cy="3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5" name="Line 20">
              <a:extLst>
                <a:ext uri="{FF2B5EF4-FFF2-40B4-BE49-F238E27FC236}">
                  <a16:creationId xmlns:a16="http://schemas.microsoft.com/office/drawing/2014/main" id="{D6BDA575-3822-4AA3-6140-F20CBC2367D4}"/>
                </a:ext>
              </a:extLst>
            </p:cNvPr>
            <p:cNvSpPr>
              <a:spLocks noChangeShapeType="1"/>
            </p:cNvSpPr>
            <p:nvPr/>
          </p:nvSpPr>
          <p:spPr bwMode="auto">
            <a:xfrm>
              <a:off x="3687" y="3393"/>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6" name="Line 21">
              <a:extLst>
                <a:ext uri="{FF2B5EF4-FFF2-40B4-BE49-F238E27FC236}">
                  <a16:creationId xmlns:a16="http://schemas.microsoft.com/office/drawing/2014/main" id="{24CCF3D2-B26E-A7BB-12F0-966D9DD97684}"/>
                </a:ext>
              </a:extLst>
            </p:cNvPr>
            <p:cNvSpPr>
              <a:spLocks noChangeShapeType="1"/>
            </p:cNvSpPr>
            <p:nvPr/>
          </p:nvSpPr>
          <p:spPr bwMode="auto">
            <a:xfrm>
              <a:off x="3687" y="3647"/>
              <a:ext cx="1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7" name="Text Box 23">
              <a:extLst>
                <a:ext uri="{FF2B5EF4-FFF2-40B4-BE49-F238E27FC236}">
                  <a16:creationId xmlns:a16="http://schemas.microsoft.com/office/drawing/2014/main" id="{9462B7F3-B213-0B9A-C14E-D88FE01B8296}"/>
                </a:ext>
              </a:extLst>
            </p:cNvPr>
            <p:cNvSpPr txBox="1">
              <a:spLocks noChangeArrowheads="1"/>
            </p:cNvSpPr>
            <p:nvPr/>
          </p:nvSpPr>
          <p:spPr bwMode="auto">
            <a:xfrm>
              <a:off x="158" y="1927"/>
              <a:ext cx="39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a:effectLst>
                    <a:outerShdw blurRad="38100" dist="38100" dir="2700000" algn="tl">
                      <a:srgbClr val="000000">
                        <a:alpha val="43137"/>
                      </a:srgbClr>
                    </a:outerShdw>
                  </a:effectLst>
                </a:rPr>
                <a:t>ios</a:t>
              </a:r>
              <a:r>
                <a:rPr lang="en-US" altLang="zh-CN" sz="2000">
                  <a:effectLst>
                    <a:outerShdw blurRad="38100" dist="38100" dir="2700000" algn="tl">
                      <a:srgbClr val="000000">
                        <a:alpha val="43137"/>
                      </a:srgbClr>
                    </a:outerShdw>
                  </a:effectLst>
                </a:rPr>
                <a:t> </a:t>
              </a:r>
            </a:p>
          </p:txBody>
        </p:sp>
        <p:sp>
          <p:nvSpPr>
            <p:cNvPr id="11288" name="Text Box 24">
              <a:extLst>
                <a:ext uri="{FF2B5EF4-FFF2-40B4-BE49-F238E27FC236}">
                  <a16:creationId xmlns:a16="http://schemas.microsoft.com/office/drawing/2014/main" id="{D641CB14-6B0F-0190-A45B-AF0C85F3F01B}"/>
                </a:ext>
              </a:extLst>
            </p:cNvPr>
            <p:cNvSpPr txBox="1">
              <a:spLocks noChangeArrowheads="1"/>
            </p:cNvSpPr>
            <p:nvPr/>
          </p:nvSpPr>
          <p:spPr bwMode="auto">
            <a:xfrm>
              <a:off x="521" y="2231"/>
              <a:ext cx="189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istream</a:t>
              </a:r>
              <a:r>
                <a:rPr lang="zh-CN" altLang="en-GB" sz="2000" dirty="0">
                  <a:effectLst>
                    <a:outerShdw blurRad="38100" dist="38100" dir="2700000" algn="tl">
                      <a:srgbClr val="000000">
                        <a:alpha val="43137"/>
                      </a:srgbClr>
                    </a:outerShdw>
                  </a:effectLst>
                </a:rPr>
                <a:t>（控制台输入）</a:t>
              </a:r>
              <a:r>
                <a:rPr lang="zh-CN" altLang="en-US" sz="2000" dirty="0">
                  <a:effectLst>
                    <a:outerShdw blurRad="38100" dist="38100" dir="2700000" algn="tl">
                      <a:srgbClr val="000000">
                        <a:alpha val="43137"/>
                      </a:srgbClr>
                    </a:outerShdw>
                  </a:effectLst>
                </a:rPr>
                <a:t> </a:t>
              </a:r>
            </a:p>
          </p:txBody>
        </p:sp>
        <p:sp>
          <p:nvSpPr>
            <p:cNvPr id="11289" name="Text Box 25">
              <a:extLst>
                <a:ext uri="{FF2B5EF4-FFF2-40B4-BE49-F238E27FC236}">
                  <a16:creationId xmlns:a16="http://schemas.microsoft.com/office/drawing/2014/main" id="{D2E16DD6-96FD-5793-68FD-6F2B55F43695}"/>
                </a:ext>
              </a:extLst>
            </p:cNvPr>
            <p:cNvSpPr txBox="1">
              <a:spLocks noChangeArrowheads="1"/>
            </p:cNvSpPr>
            <p:nvPr/>
          </p:nvSpPr>
          <p:spPr bwMode="auto">
            <a:xfrm>
              <a:off x="521" y="3271"/>
              <a:ext cx="196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a:effectLst>
                    <a:outerShdw blurRad="38100" dist="38100" dir="2700000" algn="tl">
                      <a:srgbClr val="000000">
                        <a:alpha val="43137"/>
                      </a:srgbClr>
                    </a:outerShdw>
                  </a:effectLst>
                </a:rPr>
                <a:t>ostream</a:t>
              </a:r>
              <a:r>
                <a:rPr lang="zh-CN" altLang="en-GB" sz="2000">
                  <a:effectLst>
                    <a:outerShdw blurRad="38100" dist="38100" dir="2700000" algn="tl">
                      <a:srgbClr val="000000">
                        <a:alpha val="43137"/>
                      </a:srgbClr>
                    </a:outerShdw>
                  </a:effectLst>
                </a:rPr>
                <a:t>（控制台输出）</a:t>
              </a:r>
              <a:r>
                <a:rPr lang="zh-CN" altLang="en-US" sz="2000">
                  <a:effectLst>
                    <a:outerShdw blurRad="38100" dist="38100" dir="2700000" algn="tl">
                      <a:srgbClr val="000000">
                        <a:alpha val="43137"/>
                      </a:srgbClr>
                    </a:outerShdw>
                  </a:effectLst>
                </a:rPr>
                <a:t> </a:t>
              </a:r>
            </a:p>
          </p:txBody>
        </p:sp>
        <p:sp>
          <p:nvSpPr>
            <p:cNvPr id="11290" name="Text Box 26">
              <a:extLst>
                <a:ext uri="{FF2B5EF4-FFF2-40B4-BE49-F238E27FC236}">
                  <a16:creationId xmlns:a16="http://schemas.microsoft.com/office/drawing/2014/main" id="{E3674F6A-88D4-899A-2EE5-C523195F4C91}"/>
                </a:ext>
              </a:extLst>
            </p:cNvPr>
            <p:cNvSpPr txBox="1">
              <a:spLocks noChangeArrowheads="1"/>
            </p:cNvSpPr>
            <p:nvPr/>
          </p:nvSpPr>
          <p:spPr bwMode="auto">
            <a:xfrm>
              <a:off x="838" y="2729"/>
              <a:ext cx="181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ifstream</a:t>
              </a:r>
              <a:r>
                <a:rPr lang="zh-CN" altLang="en-GB" sz="2000" dirty="0">
                  <a:effectLst>
                    <a:outerShdw blurRad="38100" dist="38100" dir="2700000" algn="tl">
                      <a:srgbClr val="000000">
                        <a:alpha val="43137"/>
                      </a:srgbClr>
                    </a:outerShdw>
                  </a:effectLst>
                </a:rPr>
                <a:t>（文件输入）</a:t>
              </a:r>
              <a:r>
                <a:rPr lang="zh-CN" altLang="en-US" sz="2000" dirty="0">
                  <a:effectLst>
                    <a:outerShdw blurRad="38100" dist="38100" dir="2700000" algn="tl">
                      <a:srgbClr val="000000">
                        <a:alpha val="43137"/>
                      </a:srgbClr>
                    </a:outerShdw>
                  </a:effectLst>
                </a:rPr>
                <a:t> </a:t>
              </a:r>
            </a:p>
          </p:txBody>
        </p:sp>
        <p:sp>
          <p:nvSpPr>
            <p:cNvPr id="11292" name="Text Box 28">
              <a:extLst>
                <a:ext uri="{FF2B5EF4-FFF2-40B4-BE49-F238E27FC236}">
                  <a16:creationId xmlns:a16="http://schemas.microsoft.com/office/drawing/2014/main" id="{72575647-CD63-D462-6F20-CAD0E6FD3102}"/>
                </a:ext>
              </a:extLst>
            </p:cNvPr>
            <p:cNvSpPr txBox="1">
              <a:spLocks noChangeArrowheads="1"/>
            </p:cNvSpPr>
            <p:nvPr/>
          </p:nvSpPr>
          <p:spPr bwMode="auto">
            <a:xfrm>
              <a:off x="883" y="3741"/>
              <a:ext cx="184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a:effectLst>
                    <a:outerShdw blurRad="38100" dist="38100" dir="2700000" algn="tl">
                      <a:srgbClr val="000000">
                        <a:alpha val="43137"/>
                      </a:srgbClr>
                    </a:outerShdw>
                  </a:effectLst>
                </a:rPr>
                <a:t>ofstream</a:t>
              </a:r>
              <a:r>
                <a:rPr lang="zh-CN" altLang="en-GB" sz="2000">
                  <a:effectLst>
                    <a:outerShdw blurRad="38100" dist="38100" dir="2700000" algn="tl">
                      <a:srgbClr val="000000">
                        <a:alpha val="43137"/>
                      </a:srgbClr>
                    </a:outerShdw>
                  </a:effectLst>
                </a:rPr>
                <a:t>（文件输出）</a:t>
              </a:r>
              <a:r>
                <a:rPr lang="zh-CN" altLang="en-US" sz="2000">
                  <a:effectLst>
                    <a:outerShdw blurRad="38100" dist="38100" dir="2700000" algn="tl">
                      <a:srgbClr val="000000">
                        <a:alpha val="43137"/>
                      </a:srgbClr>
                    </a:outerShdw>
                  </a:effectLst>
                </a:rPr>
                <a:t> </a:t>
              </a:r>
            </a:p>
          </p:txBody>
        </p:sp>
        <p:sp>
          <p:nvSpPr>
            <p:cNvPr id="11293" name="Text Box 29">
              <a:extLst>
                <a:ext uri="{FF2B5EF4-FFF2-40B4-BE49-F238E27FC236}">
                  <a16:creationId xmlns:a16="http://schemas.microsoft.com/office/drawing/2014/main" id="{0CA0E4D5-1799-F20F-2884-1194A47336B5}"/>
                </a:ext>
              </a:extLst>
            </p:cNvPr>
            <p:cNvSpPr txBox="1">
              <a:spLocks noChangeArrowheads="1"/>
            </p:cNvSpPr>
            <p:nvPr/>
          </p:nvSpPr>
          <p:spPr bwMode="auto">
            <a:xfrm>
              <a:off x="883" y="4004"/>
              <a:ext cx="2755"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ostringstream</a:t>
              </a:r>
              <a:r>
                <a:rPr lang="zh-CN" altLang="en-GB" sz="2000" dirty="0">
                  <a:effectLst>
                    <a:outerShdw blurRad="38100" dist="38100" dir="2700000" algn="tl">
                      <a:srgbClr val="000000">
                        <a:alpha val="43137"/>
                      </a:srgbClr>
                    </a:outerShdw>
                  </a:effectLst>
                </a:rPr>
                <a:t>（字符串变量输出）</a:t>
              </a:r>
              <a:r>
                <a:rPr lang="zh-CN" altLang="en-US" sz="2000" dirty="0">
                  <a:effectLst>
                    <a:outerShdw blurRad="38100" dist="38100" dir="2700000" algn="tl">
                      <a:srgbClr val="000000">
                        <a:alpha val="43137"/>
                      </a:srgbClr>
                    </a:outerShdw>
                  </a:effectLst>
                </a:rPr>
                <a:t> </a:t>
              </a:r>
            </a:p>
          </p:txBody>
        </p:sp>
        <p:sp>
          <p:nvSpPr>
            <p:cNvPr id="11294" name="Text Box 30">
              <a:extLst>
                <a:ext uri="{FF2B5EF4-FFF2-40B4-BE49-F238E27FC236}">
                  <a16:creationId xmlns:a16="http://schemas.microsoft.com/office/drawing/2014/main" id="{C6383C2C-BC00-176F-3BBD-FD42E3C90309}"/>
                </a:ext>
              </a:extLst>
            </p:cNvPr>
            <p:cNvSpPr txBox="1">
              <a:spLocks noChangeArrowheads="1"/>
            </p:cNvSpPr>
            <p:nvPr/>
          </p:nvSpPr>
          <p:spPr bwMode="auto">
            <a:xfrm>
              <a:off x="3550" y="3015"/>
              <a:ext cx="190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a:effectLst>
                    <a:outerShdw blurRad="38100" dist="38100" dir="2700000" algn="tl">
                      <a:srgbClr val="000000">
                        <a:alpha val="43137"/>
                      </a:srgbClr>
                    </a:outerShdw>
                  </a:effectLst>
                </a:rPr>
                <a:t>iostream</a:t>
              </a:r>
              <a:r>
                <a:rPr lang="zh-CN" altLang="en-GB" sz="2000">
                  <a:effectLst>
                    <a:outerShdw blurRad="38100" dist="38100" dir="2700000" algn="tl">
                      <a:srgbClr val="000000">
                        <a:alpha val="43137"/>
                      </a:srgbClr>
                    </a:outerShdw>
                  </a:effectLst>
                </a:rPr>
                <a:t>（输入</a:t>
              </a:r>
              <a:r>
                <a:rPr lang="en-GB" altLang="zh-CN" sz="2000">
                  <a:effectLst>
                    <a:outerShdw blurRad="38100" dist="38100" dir="2700000" algn="tl">
                      <a:srgbClr val="000000">
                        <a:alpha val="43137"/>
                      </a:srgbClr>
                    </a:outerShdw>
                  </a:effectLst>
                </a:rPr>
                <a:t>/</a:t>
              </a:r>
              <a:r>
                <a:rPr lang="zh-CN" altLang="en-GB" sz="2000">
                  <a:effectLst>
                    <a:outerShdw blurRad="38100" dist="38100" dir="2700000" algn="tl">
                      <a:srgbClr val="000000">
                        <a:alpha val="43137"/>
                      </a:srgbClr>
                    </a:outerShdw>
                  </a:effectLst>
                </a:rPr>
                <a:t>输出）</a:t>
              </a:r>
              <a:r>
                <a:rPr lang="zh-CN" altLang="en-US" sz="2000">
                  <a:effectLst>
                    <a:outerShdw blurRad="38100" dist="38100" dir="2700000" algn="tl">
                      <a:srgbClr val="000000">
                        <a:alpha val="43137"/>
                      </a:srgbClr>
                    </a:outerShdw>
                  </a:effectLst>
                </a:rPr>
                <a:t> </a:t>
              </a:r>
            </a:p>
          </p:txBody>
        </p:sp>
        <p:sp>
          <p:nvSpPr>
            <p:cNvPr id="11295" name="Text Box 31">
              <a:extLst>
                <a:ext uri="{FF2B5EF4-FFF2-40B4-BE49-F238E27FC236}">
                  <a16:creationId xmlns:a16="http://schemas.microsoft.com/office/drawing/2014/main" id="{D53CB9E5-D26A-780D-E7E4-0117C27E3A62}"/>
                </a:ext>
              </a:extLst>
            </p:cNvPr>
            <p:cNvSpPr txBox="1">
              <a:spLocks noChangeArrowheads="1"/>
            </p:cNvSpPr>
            <p:nvPr/>
          </p:nvSpPr>
          <p:spPr bwMode="auto">
            <a:xfrm>
              <a:off x="3802" y="3242"/>
              <a:ext cx="216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fstream</a:t>
              </a:r>
              <a:r>
                <a:rPr lang="zh-CN" altLang="en-GB" sz="2000" dirty="0">
                  <a:effectLst>
                    <a:outerShdw blurRad="38100" dist="38100" dir="2700000" algn="tl">
                      <a:srgbClr val="000000">
                        <a:alpha val="43137"/>
                      </a:srgbClr>
                    </a:outerShdw>
                  </a:effectLst>
                </a:rPr>
                <a:t>（文件输入</a:t>
              </a:r>
              <a:r>
                <a:rPr lang="en-GB" altLang="zh-CN" sz="2000" dirty="0">
                  <a:effectLst>
                    <a:outerShdw blurRad="38100" dist="38100" dir="2700000" algn="tl">
                      <a:srgbClr val="000000">
                        <a:alpha val="43137"/>
                      </a:srgbClr>
                    </a:outerShdw>
                  </a:effectLst>
                </a:rPr>
                <a:t>/</a:t>
              </a:r>
              <a:r>
                <a:rPr lang="zh-CN" altLang="en-GB" sz="2000" dirty="0">
                  <a:effectLst>
                    <a:outerShdw blurRad="38100" dist="38100" dir="2700000" algn="tl">
                      <a:srgbClr val="000000">
                        <a:alpha val="43137"/>
                      </a:srgbClr>
                    </a:outerShdw>
                  </a:effectLst>
                </a:rPr>
                <a:t>输出）</a:t>
              </a:r>
              <a:r>
                <a:rPr lang="zh-CN" altLang="en-US" sz="2000" dirty="0">
                  <a:effectLst>
                    <a:outerShdw blurRad="38100" dist="38100" dir="2700000" algn="tl">
                      <a:srgbClr val="000000">
                        <a:alpha val="43137"/>
                      </a:srgbClr>
                    </a:outerShdw>
                  </a:effectLst>
                </a:rPr>
                <a:t> </a:t>
              </a:r>
            </a:p>
          </p:txBody>
        </p:sp>
        <p:sp>
          <p:nvSpPr>
            <p:cNvPr id="11296" name="Text Box 32">
              <a:extLst>
                <a:ext uri="{FF2B5EF4-FFF2-40B4-BE49-F238E27FC236}">
                  <a16:creationId xmlns:a16="http://schemas.microsoft.com/office/drawing/2014/main" id="{C01ED12B-1C07-2FD4-AD46-A5768EB446F7}"/>
                </a:ext>
              </a:extLst>
            </p:cNvPr>
            <p:cNvSpPr txBox="1">
              <a:spLocks noChangeArrowheads="1"/>
            </p:cNvSpPr>
            <p:nvPr/>
          </p:nvSpPr>
          <p:spPr bwMode="auto">
            <a:xfrm>
              <a:off x="3802" y="3514"/>
              <a:ext cx="1959"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rPr>
                <a:t>stringstream</a:t>
              </a:r>
              <a:r>
                <a:rPr lang="zh-CN" altLang="en-GB" sz="2000" dirty="0">
                  <a:effectLst>
                    <a:outerShdw blurRad="38100" dist="38100" dir="2700000" algn="tl">
                      <a:srgbClr val="000000">
                        <a:alpha val="43137"/>
                      </a:srgbClr>
                    </a:outerShdw>
                  </a:effectLst>
                </a:rPr>
                <a:t>（字符串</a:t>
              </a:r>
              <a:endParaRPr lang="en-US" altLang="zh-CN" sz="2000" dirty="0">
                <a:effectLst>
                  <a:outerShdw blurRad="38100" dist="38100" dir="2700000" algn="tl">
                    <a:srgbClr val="000000">
                      <a:alpha val="43137"/>
                    </a:srgbClr>
                  </a:outerShdw>
                </a:effectLst>
              </a:endParaRPr>
            </a:p>
            <a:p>
              <a:pPr eaLnBrk="1" hangingPunct="1">
                <a:spcBef>
                  <a:spcPct val="0"/>
                </a:spcBef>
                <a:buClrTx/>
                <a:buSzTx/>
                <a:buFontTx/>
                <a:buNone/>
                <a:defRPr/>
              </a:pPr>
              <a:r>
                <a:rPr lang="en-US" altLang="zh-CN" sz="2000" dirty="0">
                  <a:effectLst>
                    <a:outerShdw blurRad="38100" dist="38100" dir="2700000" algn="tl">
                      <a:srgbClr val="000000">
                        <a:alpha val="43137"/>
                      </a:srgbClr>
                    </a:outerShdw>
                  </a:effectLst>
                </a:rPr>
                <a:t>	</a:t>
              </a:r>
              <a:r>
                <a:rPr lang="zh-CN" altLang="en-GB" sz="2000" dirty="0">
                  <a:effectLst>
                    <a:outerShdw blurRad="38100" dist="38100" dir="2700000" algn="tl">
                      <a:srgbClr val="000000">
                        <a:alpha val="43137"/>
                      </a:srgbClr>
                    </a:outerShdw>
                  </a:effectLst>
                </a:rPr>
                <a:t>变量输入</a:t>
              </a:r>
              <a:r>
                <a:rPr lang="en-GB" altLang="zh-CN" sz="2000" dirty="0">
                  <a:effectLst>
                    <a:outerShdw blurRad="38100" dist="38100" dir="2700000" algn="tl">
                      <a:srgbClr val="000000">
                        <a:alpha val="43137"/>
                      </a:srgbClr>
                    </a:outerShdw>
                  </a:effectLst>
                </a:rPr>
                <a:t>/</a:t>
              </a:r>
              <a:r>
                <a:rPr lang="zh-CN" altLang="en-GB" sz="2000" dirty="0">
                  <a:effectLst>
                    <a:outerShdw blurRad="38100" dist="38100" dir="2700000" algn="tl">
                      <a:srgbClr val="000000">
                        <a:alpha val="43137"/>
                      </a:srgbClr>
                    </a:outerShdw>
                  </a:effectLst>
                </a:rPr>
                <a:t>输出）</a:t>
              </a:r>
              <a:r>
                <a:rPr lang="zh-CN" altLang="en-US" sz="2000" dirty="0">
                  <a:effectLst>
                    <a:outerShdw blurRad="38100" dist="38100" dir="2700000" algn="tl">
                      <a:srgbClr val="000000">
                        <a:alpha val="43137"/>
                      </a:srgbClr>
                    </a:outerShdw>
                  </a:effectLst>
                </a:rPr>
                <a:t> </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0D43BB3-977A-63CD-5E3F-A42225D24955}"/>
              </a:ext>
            </a:extLst>
          </p:cNvPr>
          <p:cNvSpPr>
            <a:spLocks noGrp="1"/>
          </p:cNvSpPr>
          <p:nvPr>
            <p:ph idx="1"/>
          </p:nvPr>
        </p:nvSpPr>
        <p:spPr>
          <a:xfrm>
            <a:off x="457200" y="404813"/>
            <a:ext cx="8229600" cy="6264275"/>
          </a:xfrm>
        </p:spPr>
        <p:txBody>
          <a:bodyPr>
            <a:normAutofit fontScale="92500" lnSpcReduction="10000"/>
          </a:bodyPr>
          <a:lstStyle/>
          <a:p>
            <a:pPr>
              <a:defRPr/>
            </a:pPr>
            <a:r>
              <a:rPr lang="zh-CN" altLang="en-US" dirty="0"/>
              <a:t>在进行输入</a:t>
            </a:r>
            <a:r>
              <a:rPr lang="en-US" altLang="zh-CN" dirty="0"/>
              <a:t>/</a:t>
            </a:r>
            <a:r>
              <a:rPr lang="zh-CN" altLang="en-US" dirty="0"/>
              <a:t>输出时，首先创建某个</a:t>
            </a:r>
            <a:r>
              <a:rPr lang="en-US" altLang="zh-CN" dirty="0"/>
              <a:t>I/O</a:t>
            </a:r>
            <a:r>
              <a:rPr lang="zh-CN" altLang="en-US" dirty="0"/>
              <a:t>类的对象，然后，调用该对象类的成员函数进行基于</a:t>
            </a:r>
            <a:r>
              <a:rPr lang="zh-CN" altLang="en-US" dirty="0">
                <a:solidFill>
                  <a:srgbClr val="FFC000"/>
                </a:solidFill>
              </a:rPr>
              <a:t>字节流</a:t>
            </a:r>
            <a:r>
              <a:rPr lang="zh-CN" altLang="en-US" dirty="0"/>
              <a:t>的输入</a:t>
            </a:r>
            <a:r>
              <a:rPr lang="en-US" altLang="zh-CN" dirty="0"/>
              <a:t>/</a:t>
            </a:r>
            <a:r>
              <a:rPr lang="zh-CN" altLang="en-US" dirty="0"/>
              <a:t>输出操作。例如：</a:t>
            </a:r>
            <a:endParaRPr lang="en-US" altLang="zh-CN" dirty="0"/>
          </a:p>
          <a:p>
            <a:pPr lvl="1" eaLnBrk="1" hangingPunct="1">
              <a:lnSpc>
                <a:spcPct val="110000"/>
              </a:lnSpc>
              <a:defRPr/>
            </a:pPr>
            <a:r>
              <a:rPr lang="zh-CN" altLang="en-US" sz="2400" dirty="0"/>
              <a:t>输入</a:t>
            </a:r>
            <a:endParaRPr lang="en-GB" altLang="zh-CN" sz="2400" dirty="0"/>
          </a:p>
          <a:p>
            <a:pPr lvl="1" eaLnBrk="1" hangingPunct="1">
              <a:lnSpc>
                <a:spcPct val="110000"/>
              </a:lnSpc>
              <a:buFontTx/>
              <a:buNone/>
              <a:defRPr/>
            </a:pPr>
            <a:r>
              <a:rPr lang="en-GB" altLang="zh-CN" sz="2400" dirty="0"/>
              <a:t>	</a:t>
            </a:r>
            <a:r>
              <a:rPr lang="en-GB" altLang="zh-CN" sz="2400" dirty="0" err="1"/>
              <a:t>istream</a:t>
            </a:r>
            <a:r>
              <a:rPr lang="zh-CN" altLang="en-GB" sz="2400" dirty="0"/>
              <a:t> </a:t>
            </a:r>
            <a:r>
              <a:rPr lang="en-GB" altLang="zh-CN" sz="2400" dirty="0">
                <a:solidFill>
                  <a:srgbClr val="FFC000"/>
                </a:solidFill>
              </a:rPr>
              <a:t>in</a:t>
            </a:r>
            <a:r>
              <a:rPr lang="en-GB" altLang="zh-CN" sz="2400" dirty="0"/>
              <a:t>(...);</a:t>
            </a:r>
          </a:p>
          <a:p>
            <a:pPr lvl="1" eaLnBrk="1" hangingPunct="1">
              <a:lnSpc>
                <a:spcPct val="110000"/>
              </a:lnSpc>
              <a:buFontTx/>
              <a:buNone/>
              <a:defRPr/>
            </a:pPr>
            <a:r>
              <a:rPr lang="en-GB" altLang="zh-CN" sz="2400" dirty="0"/>
              <a:t>	in</a:t>
            </a:r>
            <a:r>
              <a:rPr lang="en-US" altLang="zh-CN" sz="2400" dirty="0"/>
              <a:t>.</a:t>
            </a:r>
            <a:r>
              <a:rPr lang="en-US" altLang="zh-CN" sz="2400" dirty="0">
                <a:solidFill>
                  <a:srgbClr val="FFC000"/>
                </a:solidFill>
              </a:rPr>
              <a:t>get</a:t>
            </a:r>
            <a:r>
              <a:rPr lang="en-US" altLang="zh-CN" sz="2400" dirty="0"/>
              <a:t>(</a:t>
            </a:r>
            <a:r>
              <a:rPr lang="en-US" altLang="zh-CN" sz="2400" dirty="0" err="1"/>
              <a:t>ch</a:t>
            </a:r>
            <a:r>
              <a:rPr lang="en-US" altLang="zh-CN" sz="2400" dirty="0"/>
              <a:t>); //</a:t>
            </a:r>
            <a:r>
              <a:rPr lang="zh-CN" altLang="en-US" sz="2400" dirty="0"/>
              <a:t>读入一个字节，</a:t>
            </a:r>
            <a:r>
              <a:rPr lang="en-US" altLang="zh-CN" sz="2400" dirty="0" err="1"/>
              <a:t>ch</a:t>
            </a:r>
            <a:r>
              <a:rPr lang="zh-CN" altLang="en-US" sz="2400" dirty="0"/>
              <a:t>为一个字符变量</a:t>
            </a:r>
            <a:endParaRPr lang="en-US" altLang="zh-CN" sz="2400" dirty="0"/>
          </a:p>
          <a:p>
            <a:pPr lvl="1" eaLnBrk="1" hangingPunct="1">
              <a:lnSpc>
                <a:spcPct val="110000"/>
              </a:lnSpc>
              <a:buFontTx/>
              <a:buNone/>
              <a:defRPr/>
            </a:pPr>
            <a:r>
              <a:rPr lang="en-GB" altLang="zh-CN" sz="2400" dirty="0"/>
              <a:t>	</a:t>
            </a:r>
            <a:r>
              <a:rPr lang="en-GB" altLang="zh-CN" sz="2400" dirty="0" err="1"/>
              <a:t>in.</a:t>
            </a:r>
            <a:r>
              <a:rPr lang="en-GB" altLang="zh-CN" sz="2400" dirty="0" err="1">
                <a:solidFill>
                  <a:srgbClr val="FFC000"/>
                </a:solidFill>
              </a:rPr>
              <a:t>read</a:t>
            </a:r>
            <a:r>
              <a:rPr lang="en-GB" altLang="zh-CN" sz="2400" dirty="0"/>
              <a:t>(p,100); //</a:t>
            </a:r>
            <a:r>
              <a:rPr lang="zh-CN" altLang="en-US" sz="2400" dirty="0"/>
              <a:t>读入</a:t>
            </a:r>
            <a:r>
              <a:rPr lang="en-US" altLang="zh-CN" sz="2400" dirty="0"/>
              <a:t>100</a:t>
            </a:r>
            <a:r>
              <a:rPr lang="zh-CN" altLang="en-US" sz="2400" dirty="0"/>
              <a:t>个字节，</a:t>
            </a:r>
            <a:r>
              <a:rPr lang="en-US" altLang="zh-CN" sz="2400" dirty="0"/>
              <a:t>p</a:t>
            </a:r>
            <a:r>
              <a:rPr lang="zh-CN" altLang="en-GB" sz="2400" dirty="0"/>
              <a:t>是</a:t>
            </a:r>
            <a:r>
              <a:rPr lang="zh-CN" altLang="en-US" sz="2400" dirty="0"/>
              <a:t>内存空间首地址</a:t>
            </a:r>
            <a:endParaRPr lang="zh-CN" altLang="en-GB" sz="2400" dirty="0"/>
          </a:p>
          <a:p>
            <a:pPr lvl="1" eaLnBrk="1" hangingPunct="1">
              <a:lnSpc>
                <a:spcPct val="110000"/>
              </a:lnSpc>
              <a:buFontTx/>
              <a:buNone/>
              <a:defRPr/>
            </a:pPr>
            <a:endParaRPr lang="zh-CN" altLang="en-US" sz="2400" dirty="0"/>
          </a:p>
          <a:p>
            <a:pPr lvl="1" eaLnBrk="1" hangingPunct="1">
              <a:lnSpc>
                <a:spcPct val="110000"/>
              </a:lnSpc>
              <a:buFontTx/>
              <a:buNone/>
              <a:defRPr/>
            </a:pPr>
            <a:r>
              <a:rPr lang="en-US" altLang="zh-CN" sz="2400" dirty="0"/>
              <a:t>	</a:t>
            </a:r>
          </a:p>
          <a:p>
            <a:pPr lvl="1" eaLnBrk="1" hangingPunct="1">
              <a:lnSpc>
                <a:spcPct val="110000"/>
              </a:lnSpc>
              <a:defRPr/>
            </a:pPr>
            <a:r>
              <a:rPr lang="zh-CN" altLang="en-US" sz="2400" dirty="0"/>
              <a:t>输出</a:t>
            </a:r>
            <a:endParaRPr lang="en-US" altLang="zh-CN" sz="2400" dirty="0"/>
          </a:p>
          <a:p>
            <a:pPr lvl="1" eaLnBrk="1" hangingPunct="1">
              <a:lnSpc>
                <a:spcPct val="110000"/>
              </a:lnSpc>
              <a:buFontTx/>
              <a:buNone/>
              <a:defRPr/>
            </a:pPr>
            <a:r>
              <a:rPr lang="en-GB" altLang="zh-CN" sz="2400" dirty="0"/>
              <a:t>	</a:t>
            </a:r>
            <a:r>
              <a:rPr lang="en-GB" altLang="zh-CN" sz="2400" dirty="0" err="1"/>
              <a:t>ostream</a:t>
            </a:r>
            <a:r>
              <a:rPr lang="en-GB" altLang="zh-CN" sz="2400" dirty="0"/>
              <a:t> </a:t>
            </a:r>
            <a:r>
              <a:rPr lang="en-GB" altLang="zh-CN" sz="2400" dirty="0">
                <a:solidFill>
                  <a:srgbClr val="FFC000"/>
                </a:solidFill>
              </a:rPr>
              <a:t>out</a:t>
            </a:r>
            <a:r>
              <a:rPr lang="en-GB" altLang="zh-CN" sz="2400" dirty="0"/>
              <a:t>(...);</a:t>
            </a:r>
            <a:endParaRPr lang="en-US" altLang="zh-CN" sz="2400" dirty="0"/>
          </a:p>
          <a:p>
            <a:pPr lvl="1" eaLnBrk="1" hangingPunct="1">
              <a:lnSpc>
                <a:spcPct val="110000"/>
              </a:lnSpc>
              <a:buFontTx/>
              <a:buNone/>
              <a:defRPr/>
            </a:pPr>
            <a:r>
              <a:rPr lang="en-GB" altLang="zh-CN" sz="2400" dirty="0"/>
              <a:t>	out</a:t>
            </a:r>
            <a:r>
              <a:rPr lang="en-US" altLang="zh-CN" sz="2400" dirty="0"/>
              <a:t>.</a:t>
            </a:r>
            <a:r>
              <a:rPr lang="en-US" altLang="zh-CN" sz="2400" dirty="0">
                <a:solidFill>
                  <a:srgbClr val="FFC000"/>
                </a:solidFill>
              </a:rPr>
              <a:t>put</a:t>
            </a:r>
            <a:r>
              <a:rPr lang="en-US" altLang="zh-CN" sz="2400" dirty="0"/>
              <a:t>(</a:t>
            </a:r>
            <a:r>
              <a:rPr lang="en-US" altLang="zh-CN" sz="2400" dirty="0" err="1"/>
              <a:t>ch</a:t>
            </a:r>
            <a:r>
              <a:rPr lang="en-US" altLang="zh-CN" sz="2400" dirty="0"/>
              <a:t>); </a:t>
            </a:r>
            <a:r>
              <a:rPr lang="en-GB" altLang="zh-CN" sz="2400" dirty="0"/>
              <a:t>//</a:t>
            </a:r>
            <a:r>
              <a:rPr lang="zh-CN" altLang="en-US" sz="2400" dirty="0"/>
              <a:t>输出</a:t>
            </a:r>
            <a:r>
              <a:rPr lang="zh-CN" altLang="en-GB" sz="2400" dirty="0"/>
              <a:t>一个</a:t>
            </a:r>
            <a:r>
              <a:rPr lang="zh-CN" altLang="en-US" sz="2400" dirty="0"/>
              <a:t>字节，</a:t>
            </a:r>
            <a:r>
              <a:rPr lang="en-US" altLang="zh-CN" sz="2400" dirty="0" err="1"/>
              <a:t>ch</a:t>
            </a:r>
            <a:r>
              <a:rPr lang="zh-CN" altLang="en-US" sz="2400" dirty="0"/>
              <a:t>为一个字符变量</a:t>
            </a:r>
            <a:endParaRPr lang="zh-CN" altLang="en-GB" sz="2400" dirty="0"/>
          </a:p>
          <a:p>
            <a:pPr lvl="1" eaLnBrk="1" hangingPunct="1">
              <a:lnSpc>
                <a:spcPct val="110000"/>
              </a:lnSpc>
              <a:buFontTx/>
              <a:buNone/>
              <a:defRPr/>
            </a:pPr>
            <a:r>
              <a:rPr lang="en-GB" altLang="zh-CN" sz="2400" dirty="0"/>
              <a:t>	</a:t>
            </a:r>
            <a:r>
              <a:rPr lang="en-GB" altLang="zh-CN" sz="2400" dirty="0" err="1"/>
              <a:t>out.</a:t>
            </a:r>
            <a:r>
              <a:rPr lang="en-GB" altLang="zh-CN" sz="2400" dirty="0" err="1">
                <a:solidFill>
                  <a:srgbClr val="FFC000"/>
                </a:solidFill>
              </a:rPr>
              <a:t>write</a:t>
            </a:r>
            <a:r>
              <a:rPr lang="en-GB" altLang="zh-CN" sz="2400" dirty="0"/>
              <a:t>(p,100); //</a:t>
            </a:r>
            <a:r>
              <a:rPr lang="zh-CN" altLang="en-US" sz="2400" dirty="0"/>
              <a:t>把</a:t>
            </a:r>
            <a:r>
              <a:rPr lang="en-US" altLang="zh-CN" sz="2400" dirty="0"/>
              <a:t>p</a:t>
            </a:r>
            <a:r>
              <a:rPr lang="zh-CN" altLang="en-US" sz="2400" dirty="0"/>
              <a:t>指向的内存中</a:t>
            </a:r>
            <a:r>
              <a:rPr lang="en-US" altLang="zh-CN" sz="2400" dirty="0"/>
              <a:t>100</a:t>
            </a:r>
            <a:r>
              <a:rPr lang="zh-CN" altLang="en-US" sz="2400" dirty="0"/>
              <a:t>个字节输出</a:t>
            </a:r>
            <a:endParaRPr lang="en-US" altLang="zh-CN" sz="2400" dirty="0"/>
          </a:p>
          <a:p>
            <a:pPr lvl="1" eaLnBrk="1" hangingPunct="1">
              <a:lnSpc>
                <a:spcPct val="110000"/>
              </a:lnSpc>
              <a:buFontTx/>
              <a:buNone/>
              <a:defRPr/>
            </a:pPr>
            <a:endParaRPr lang="zh-CN" altLang="en-US" sz="2400" dirty="0"/>
          </a:p>
          <a:p>
            <a:pPr lvl="1" eaLnBrk="1" hangingPunct="1">
              <a:lnSpc>
                <a:spcPct val="110000"/>
              </a:lnSpc>
              <a:buFontTx/>
              <a:buNone/>
              <a:defRPr/>
            </a:pPr>
            <a:r>
              <a:rPr lang="en-US" altLang="zh-CN" sz="2400" dirty="0"/>
              <a:t>	</a:t>
            </a:r>
            <a:endParaRPr lang="zh-CN" altLang="en-US" dirty="0"/>
          </a:p>
          <a:p>
            <a:pPr>
              <a:defRPr/>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12E93293-1891-D5C0-AEED-86ED89D9D97D}"/>
              </a:ext>
            </a:extLst>
          </p:cNvPr>
          <p:cNvSpPr>
            <a:spLocks noGrp="1" noChangeArrowheads="1"/>
          </p:cNvSpPr>
          <p:nvPr>
            <p:ph type="body" idx="1"/>
          </p:nvPr>
        </p:nvSpPr>
        <p:spPr>
          <a:xfrm>
            <a:off x="250825" y="260350"/>
            <a:ext cx="8686800" cy="6481763"/>
          </a:xfrm>
        </p:spPr>
        <p:txBody>
          <a:bodyPr>
            <a:normAutofit fontScale="92500" lnSpcReduction="10000"/>
          </a:bodyPr>
          <a:lstStyle/>
          <a:p>
            <a:pPr eaLnBrk="1" hangingPunct="1">
              <a:lnSpc>
                <a:spcPct val="110000"/>
              </a:lnSpc>
              <a:defRPr/>
            </a:pPr>
            <a:r>
              <a:rPr lang="en-GB" altLang="zh-CN" sz="2800" dirty="0" err="1"/>
              <a:t>istream</a:t>
            </a:r>
            <a:r>
              <a:rPr lang="zh-CN" altLang="en-GB" sz="2800" dirty="0"/>
              <a:t>类</a:t>
            </a:r>
            <a:r>
              <a:rPr lang="zh-CN" altLang="en-US" sz="2800" dirty="0"/>
              <a:t>和</a:t>
            </a:r>
            <a:r>
              <a:rPr lang="en-GB" altLang="zh-CN" sz="2800" dirty="0" err="1"/>
              <a:t>ostream</a:t>
            </a:r>
            <a:r>
              <a:rPr lang="zh-CN" altLang="en-US" sz="2800" dirty="0"/>
              <a:t>类以及它们的派生类还分别</a:t>
            </a:r>
            <a:r>
              <a:rPr lang="zh-CN" altLang="en-GB" sz="2800" dirty="0"/>
              <a:t>重载了操作符</a:t>
            </a:r>
            <a:r>
              <a:rPr lang="zh-CN" altLang="en-GB" sz="2800" dirty="0">
                <a:latin typeface="Arial"/>
              </a:rPr>
              <a:t>“</a:t>
            </a:r>
            <a:r>
              <a:rPr lang="en-GB" altLang="zh-CN" sz="2800" dirty="0"/>
              <a:t>&gt;&gt;</a:t>
            </a:r>
            <a:r>
              <a:rPr lang="zh-CN" altLang="en-US" sz="2800" dirty="0">
                <a:latin typeface="Arial"/>
              </a:rPr>
              <a:t>”</a:t>
            </a:r>
            <a:r>
              <a:rPr lang="zh-CN" altLang="en-GB" sz="2800" dirty="0"/>
              <a:t> </a:t>
            </a:r>
            <a:r>
              <a:rPr lang="zh-CN" altLang="en-US" sz="2800" dirty="0"/>
              <a:t>和</a:t>
            </a:r>
            <a:r>
              <a:rPr lang="zh-CN" altLang="en-GB" sz="2800" dirty="0">
                <a:latin typeface="Arial"/>
              </a:rPr>
              <a:t>“</a:t>
            </a:r>
            <a:r>
              <a:rPr lang="en-GB" altLang="zh-CN" sz="2800" dirty="0"/>
              <a:t>&lt;&lt;</a:t>
            </a:r>
            <a:r>
              <a:rPr lang="zh-CN" altLang="en-US" sz="2800" dirty="0"/>
              <a:t>”</a:t>
            </a:r>
            <a:r>
              <a:rPr lang="zh-CN" altLang="en-GB" sz="2800" dirty="0"/>
              <a:t>，用它</a:t>
            </a:r>
            <a:r>
              <a:rPr lang="zh-CN" altLang="en-US" sz="2800" dirty="0"/>
              <a:t>们</a:t>
            </a:r>
            <a:r>
              <a:rPr lang="zh-CN" altLang="en-GB" sz="2800" dirty="0"/>
              <a:t>可以进行</a:t>
            </a:r>
            <a:r>
              <a:rPr lang="zh-CN" altLang="en-GB" sz="2800" dirty="0">
                <a:solidFill>
                  <a:srgbClr val="FFC000"/>
                </a:solidFill>
              </a:rPr>
              <a:t>基本类型数据</a:t>
            </a:r>
            <a:r>
              <a:rPr lang="zh-CN" altLang="en-GB" sz="2800" dirty="0"/>
              <a:t>的输入</a:t>
            </a:r>
            <a:r>
              <a:rPr lang="en-US" altLang="zh-CN" sz="2800" dirty="0"/>
              <a:t>/</a:t>
            </a:r>
            <a:r>
              <a:rPr lang="zh-CN" altLang="en-US" sz="2800" dirty="0"/>
              <a:t>输出</a:t>
            </a:r>
            <a:r>
              <a:rPr lang="zh-CN" altLang="en-GB" sz="2800" dirty="0"/>
              <a:t>操作。例如：</a:t>
            </a:r>
          </a:p>
          <a:p>
            <a:pPr lvl="1" eaLnBrk="1" hangingPunct="1">
              <a:lnSpc>
                <a:spcPct val="110000"/>
              </a:lnSpc>
              <a:defRPr/>
            </a:pPr>
            <a:r>
              <a:rPr lang="zh-CN" altLang="en-US" sz="2400" dirty="0"/>
              <a:t>输入</a:t>
            </a:r>
            <a:endParaRPr lang="en-GB" altLang="zh-CN" sz="2400" dirty="0"/>
          </a:p>
          <a:p>
            <a:pPr lvl="1" eaLnBrk="1" hangingPunct="1">
              <a:lnSpc>
                <a:spcPct val="110000"/>
              </a:lnSpc>
              <a:buFontTx/>
              <a:buNone/>
              <a:defRPr/>
            </a:pPr>
            <a:r>
              <a:rPr lang="en-GB" altLang="zh-CN" sz="2400" dirty="0"/>
              <a:t>	</a:t>
            </a:r>
            <a:r>
              <a:rPr lang="en-GB" altLang="zh-CN" sz="2400" dirty="0" err="1"/>
              <a:t>istream</a:t>
            </a:r>
            <a:r>
              <a:rPr lang="zh-CN" altLang="en-GB" sz="2400" dirty="0"/>
              <a:t> </a:t>
            </a:r>
            <a:r>
              <a:rPr lang="en-GB" altLang="zh-CN" sz="2400" dirty="0"/>
              <a:t>in(...);</a:t>
            </a:r>
          </a:p>
          <a:p>
            <a:pPr lvl="1" eaLnBrk="1" hangingPunct="1">
              <a:lnSpc>
                <a:spcPct val="110000"/>
              </a:lnSpc>
              <a:buFontTx/>
              <a:buNone/>
              <a:defRPr/>
            </a:pPr>
            <a:r>
              <a:rPr lang="en-GB" altLang="zh-CN" sz="2400" dirty="0"/>
              <a:t>	in &gt;&gt; x; //x</a:t>
            </a:r>
            <a:r>
              <a:rPr lang="zh-CN" altLang="en-GB" sz="2400" dirty="0"/>
              <a:t>是一个变量</a:t>
            </a:r>
          </a:p>
          <a:p>
            <a:pPr lvl="1" eaLnBrk="1" hangingPunct="1">
              <a:lnSpc>
                <a:spcPct val="110000"/>
              </a:lnSpc>
              <a:buFontTx/>
              <a:buNone/>
              <a:defRPr/>
            </a:pPr>
            <a:r>
              <a:rPr lang="en-GB" altLang="zh-CN" sz="2400" dirty="0"/>
              <a:t>	in &gt;&gt; y; //y</a:t>
            </a:r>
            <a:r>
              <a:rPr lang="zh-CN" altLang="en-GB" sz="2400" dirty="0"/>
              <a:t>是一个变量</a:t>
            </a:r>
          </a:p>
          <a:p>
            <a:pPr lvl="1" eaLnBrk="1" hangingPunct="1">
              <a:lnSpc>
                <a:spcPct val="110000"/>
              </a:lnSpc>
              <a:buFontTx/>
              <a:buNone/>
              <a:defRPr/>
            </a:pPr>
            <a:r>
              <a:rPr lang="zh-CN" altLang="en-US" sz="2400" dirty="0"/>
              <a:t>或</a:t>
            </a:r>
          </a:p>
          <a:p>
            <a:pPr lvl="1" eaLnBrk="1" hangingPunct="1">
              <a:lnSpc>
                <a:spcPct val="110000"/>
              </a:lnSpc>
              <a:buFontTx/>
              <a:buNone/>
              <a:defRPr/>
            </a:pPr>
            <a:r>
              <a:rPr lang="en-US" altLang="zh-CN" sz="2400" dirty="0"/>
              <a:t>	in &gt;&gt; x &gt;&gt; y;</a:t>
            </a:r>
          </a:p>
          <a:p>
            <a:pPr lvl="1" eaLnBrk="1" hangingPunct="1">
              <a:lnSpc>
                <a:spcPct val="110000"/>
              </a:lnSpc>
              <a:defRPr/>
            </a:pPr>
            <a:r>
              <a:rPr lang="zh-CN" altLang="en-US" sz="2400" dirty="0"/>
              <a:t>输出</a:t>
            </a:r>
            <a:endParaRPr lang="en-US" altLang="zh-CN" sz="2400" dirty="0"/>
          </a:p>
          <a:p>
            <a:pPr lvl="1" eaLnBrk="1" hangingPunct="1">
              <a:lnSpc>
                <a:spcPct val="110000"/>
              </a:lnSpc>
              <a:buFontTx/>
              <a:buNone/>
              <a:defRPr/>
            </a:pPr>
            <a:r>
              <a:rPr lang="en-GB" altLang="zh-CN" sz="2400" dirty="0"/>
              <a:t>	</a:t>
            </a:r>
            <a:r>
              <a:rPr lang="en-GB" altLang="zh-CN" sz="2400" dirty="0" err="1"/>
              <a:t>ostream</a:t>
            </a:r>
            <a:r>
              <a:rPr lang="en-GB" altLang="zh-CN" sz="2400" dirty="0"/>
              <a:t> out(...);</a:t>
            </a:r>
            <a:endParaRPr lang="en-US" altLang="zh-CN" sz="2400" dirty="0"/>
          </a:p>
          <a:p>
            <a:pPr lvl="1" eaLnBrk="1" hangingPunct="1">
              <a:lnSpc>
                <a:spcPct val="110000"/>
              </a:lnSpc>
              <a:buFontTx/>
              <a:buNone/>
              <a:defRPr/>
            </a:pPr>
            <a:r>
              <a:rPr lang="en-GB" altLang="zh-CN" sz="2400" dirty="0"/>
              <a:t>	out &lt;&lt; e1; //e1</a:t>
            </a:r>
            <a:r>
              <a:rPr lang="zh-CN" altLang="en-GB" sz="2400" dirty="0"/>
              <a:t>是一个表达式</a:t>
            </a:r>
          </a:p>
          <a:p>
            <a:pPr lvl="1" eaLnBrk="1" hangingPunct="1">
              <a:lnSpc>
                <a:spcPct val="110000"/>
              </a:lnSpc>
              <a:buFontTx/>
              <a:buNone/>
              <a:defRPr/>
            </a:pPr>
            <a:r>
              <a:rPr lang="en-GB" altLang="zh-CN" sz="2400" dirty="0"/>
              <a:t>	out &lt;&lt; e2; //e2</a:t>
            </a:r>
            <a:r>
              <a:rPr lang="zh-CN" altLang="en-GB" sz="2400" dirty="0"/>
              <a:t>是一个表达式</a:t>
            </a:r>
          </a:p>
          <a:p>
            <a:pPr lvl="1" eaLnBrk="1" hangingPunct="1">
              <a:lnSpc>
                <a:spcPct val="110000"/>
              </a:lnSpc>
              <a:buFontTx/>
              <a:buNone/>
              <a:defRPr/>
            </a:pPr>
            <a:r>
              <a:rPr lang="zh-CN" altLang="en-US" sz="2400" dirty="0"/>
              <a:t>或</a:t>
            </a:r>
          </a:p>
          <a:p>
            <a:pPr lvl="1" eaLnBrk="1" hangingPunct="1">
              <a:lnSpc>
                <a:spcPct val="110000"/>
              </a:lnSpc>
              <a:buFontTx/>
              <a:buNone/>
              <a:defRPr/>
            </a:pPr>
            <a:r>
              <a:rPr lang="en-US" altLang="zh-CN" sz="2400" dirty="0"/>
              <a:t>	out &lt;&lt; e1 &lt;&lt; e2;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8838C03-8582-5249-D71E-7FE7BB84062F}"/>
              </a:ext>
            </a:extLst>
          </p:cNvPr>
          <p:cNvSpPr>
            <a:spLocks noGrp="1" noChangeArrowheads="1"/>
          </p:cNvSpPr>
          <p:nvPr>
            <p:ph type="title"/>
          </p:nvPr>
        </p:nvSpPr>
        <p:spPr>
          <a:xfrm>
            <a:off x="457200" y="347663"/>
            <a:ext cx="8229600" cy="560387"/>
          </a:xfrm>
        </p:spPr>
        <p:txBody>
          <a:bodyPr/>
          <a:lstStyle/>
          <a:p>
            <a:pPr eaLnBrk="1" hangingPunct="1">
              <a:defRPr/>
            </a:pPr>
            <a:r>
              <a:rPr lang="zh-CN" altLang="en-US" dirty="0">
                <a:latin typeface="Verdana" pitchFamily="34" charset="0"/>
              </a:rPr>
              <a:t>面向</a:t>
            </a:r>
            <a:r>
              <a:rPr lang="zh-CN" altLang="en-GB" dirty="0">
                <a:latin typeface="Verdana" pitchFamily="34" charset="0"/>
              </a:rPr>
              <a:t>控制台</a:t>
            </a:r>
            <a:r>
              <a:rPr lang="zh-CN" altLang="en-US" dirty="0">
                <a:latin typeface="Verdana" pitchFamily="34" charset="0"/>
              </a:rPr>
              <a:t>的</a:t>
            </a:r>
            <a:r>
              <a:rPr lang="en-GB" altLang="zh-CN" dirty="0">
                <a:latin typeface="Verdana" pitchFamily="34" charset="0"/>
                <a:cs typeface="Times New Roman" pitchFamily="18" charset="0"/>
              </a:rPr>
              <a:t>I/O</a:t>
            </a:r>
            <a:r>
              <a:rPr lang="en-US" altLang="zh-CN" dirty="0"/>
              <a:t> </a:t>
            </a:r>
          </a:p>
        </p:txBody>
      </p:sp>
      <p:sp>
        <p:nvSpPr>
          <p:cNvPr id="14339" name="Rectangle 3">
            <a:extLst>
              <a:ext uri="{FF2B5EF4-FFF2-40B4-BE49-F238E27FC236}">
                <a16:creationId xmlns:a16="http://schemas.microsoft.com/office/drawing/2014/main" id="{3B2E2025-4E4C-AA3D-8800-D4336FB7B921}"/>
              </a:ext>
            </a:extLst>
          </p:cNvPr>
          <p:cNvSpPr>
            <a:spLocks noGrp="1" noChangeArrowheads="1"/>
          </p:cNvSpPr>
          <p:nvPr>
            <p:ph type="body" idx="1"/>
          </p:nvPr>
        </p:nvSpPr>
        <p:spPr>
          <a:xfrm>
            <a:off x="250825" y="1233488"/>
            <a:ext cx="8640763" cy="5291137"/>
          </a:xfrm>
        </p:spPr>
        <p:txBody>
          <a:bodyPr>
            <a:normAutofit fontScale="92500" lnSpcReduction="10000"/>
          </a:bodyPr>
          <a:lstStyle/>
          <a:p>
            <a:pPr marL="449263" indent="-449263" algn="just" eaLnBrk="1" hangingPunct="1">
              <a:lnSpc>
                <a:spcPct val="110000"/>
              </a:lnSpc>
              <a:defRPr/>
            </a:pPr>
            <a:r>
              <a:rPr lang="zh-CN" altLang="en-GB" sz="2800" dirty="0"/>
              <a:t>在</a:t>
            </a:r>
            <a:r>
              <a:rPr lang="en-GB" altLang="zh-CN" sz="2800" dirty="0"/>
              <a:t>I/O</a:t>
            </a:r>
            <a:r>
              <a:rPr lang="zh-CN" altLang="en-GB" sz="2800" dirty="0"/>
              <a:t>类库中预定义了四个</a:t>
            </a:r>
            <a:r>
              <a:rPr lang="en-GB" altLang="zh-CN" sz="2800" dirty="0"/>
              <a:t>I/O</a:t>
            </a:r>
            <a:r>
              <a:rPr lang="zh-CN" altLang="en-GB" sz="2800" dirty="0"/>
              <a:t>对象</a:t>
            </a:r>
            <a:r>
              <a:rPr lang="zh-CN" altLang="en-US" sz="2800" dirty="0"/>
              <a:t>，</a:t>
            </a:r>
            <a:r>
              <a:rPr lang="zh-CN" altLang="en-GB" sz="2800" dirty="0"/>
              <a:t>可以直接</a:t>
            </a:r>
            <a:r>
              <a:rPr lang="zh-CN" altLang="en-US" sz="2800" dirty="0"/>
              <a:t>用来</a:t>
            </a:r>
            <a:r>
              <a:rPr lang="zh-CN" altLang="en-GB" sz="2800" dirty="0"/>
              <a:t>进行控制台的输入/输出操作：</a:t>
            </a:r>
            <a:r>
              <a:rPr lang="zh-CN" altLang="en-US" sz="2800" dirty="0"/>
              <a:t> </a:t>
            </a:r>
          </a:p>
          <a:p>
            <a:pPr marL="914400" lvl="1" algn="just" eaLnBrk="1" hangingPunct="1">
              <a:lnSpc>
                <a:spcPct val="110000"/>
              </a:lnSpc>
              <a:defRPr/>
            </a:pPr>
            <a:r>
              <a:rPr lang="en-GB" altLang="zh-CN" sz="2400" dirty="0" err="1">
                <a:solidFill>
                  <a:schemeClr val="folHlink"/>
                </a:solidFill>
              </a:rPr>
              <a:t>cin</a:t>
            </a:r>
            <a:r>
              <a:rPr lang="zh-CN" altLang="en-US" sz="2400" dirty="0"/>
              <a:t>（</a:t>
            </a:r>
            <a:r>
              <a:rPr lang="en-GB" altLang="zh-CN" sz="2400" dirty="0" err="1"/>
              <a:t>istream</a:t>
            </a:r>
            <a:r>
              <a:rPr lang="zh-CN" altLang="en-GB" sz="2400" dirty="0"/>
              <a:t>类的对象</a:t>
            </a:r>
            <a:r>
              <a:rPr lang="zh-CN" altLang="en-US" sz="2400" dirty="0"/>
              <a:t>）：</a:t>
            </a:r>
            <a:r>
              <a:rPr lang="zh-CN" altLang="en-GB" sz="2400" dirty="0"/>
              <a:t>对应着计算机系统的标准输入设备</a:t>
            </a:r>
            <a:r>
              <a:rPr lang="zh-CN" altLang="en-US" sz="2400" dirty="0"/>
              <a:t>。（通常为键盘）</a:t>
            </a:r>
            <a:endParaRPr lang="zh-CN" altLang="en-GB" sz="2400" dirty="0"/>
          </a:p>
          <a:p>
            <a:pPr marL="914400" lvl="1" algn="just" eaLnBrk="1" hangingPunct="1">
              <a:lnSpc>
                <a:spcPct val="110000"/>
              </a:lnSpc>
              <a:defRPr/>
            </a:pPr>
            <a:r>
              <a:rPr lang="en-GB" altLang="zh-CN" sz="2400" dirty="0" err="1">
                <a:solidFill>
                  <a:schemeClr val="folHlink"/>
                </a:solidFill>
              </a:rPr>
              <a:t>cout</a:t>
            </a:r>
            <a:r>
              <a:rPr lang="zh-CN" altLang="en-US" sz="2400" dirty="0"/>
              <a:t>（</a:t>
            </a:r>
            <a:r>
              <a:rPr lang="en-GB" altLang="zh-CN" sz="2400" dirty="0" err="1"/>
              <a:t>ostream</a:t>
            </a:r>
            <a:r>
              <a:rPr lang="zh-CN" altLang="en-GB" sz="2400" dirty="0"/>
              <a:t>类的对象</a:t>
            </a:r>
            <a:r>
              <a:rPr lang="zh-CN" altLang="en-US" sz="2400" dirty="0"/>
              <a:t>）：</a:t>
            </a:r>
            <a:r>
              <a:rPr lang="zh-CN" altLang="en-GB" sz="2400" dirty="0"/>
              <a:t>对应着计算机系统的标准输出设备</a:t>
            </a:r>
            <a:r>
              <a:rPr lang="zh-CN" altLang="en-US" sz="2400" dirty="0"/>
              <a:t>。（通常为显示器）</a:t>
            </a:r>
            <a:endParaRPr lang="zh-CN" altLang="en-GB" sz="2400" dirty="0"/>
          </a:p>
          <a:p>
            <a:pPr marL="914400" lvl="1" algn="just" eaLnBrk="1" hangingPunct="1">
              <a:lnSpc>
                <a:spcPct val="110000"/>
              </a:lnSpc>
              <a:defRPr/>
            </a:pPr>
            <a:r>
              <a:rPr lang="en-GB" altLang="zh-CN" sz="2400" dirty="0" err="1">
                <a:solidFill>
                  <a:schemeClr val="folHlink"/>
                </a:solidFill>
              </a:rPr>
              <a:t>cerr</a:t>
            </a:r>
            <a:r>
              <a:rPr lang="zh-CN" altLang="en-GB" sz="2400" dirty="0"/>
              <a:t>和</a:t>
            </a:r>
            <a:r>
              <a:rPr lang="en-GB" altLang="zh-CN" sz="2400" dirty="0">
                <a:solidFill>
                  <a:schemeClr val="folHlink"/>
                </a:solidFill>
              </a:rPr>
              <a:t>clog</a:t>
            </a:r>
            <a:r>
              <a:rPr lang="zh-CN" altLang="en-US" sz="2400" dirty="0"/>
              <a:t>（</a:t>
            </a:r>
            <a:r>
              <a:rPr lang="en-GB" altLang="zh-CN" sz="2400" dirty="0" err="1"/>
              <a:t>ostream</a:t>
            </a:r>
            <a:r>
              <a:rPr lang="zh-CN" altLang="en-GB" sz="2400" dirty="0"/>
              <a:t>类的对象</a:t>
            </a:r>
            <a:r>
              <a:rPr lang="zh-CN" altLang="en-US" sz="2400" dirty="0"/>
              <a:t>）：</a:t>
            </a:r>
            <a:r>
              <a:rPr lang="zh-CN" altLang="en-GB" sz="2400" dirty="0"/>
              <a:t>对应着计算机系统用于输出</a:t>
            </a:r>
            <a:r>
              <a:rPr lang="zh-CN" altLang="en-US" sz="2400" dirty="0"/>
              <a:t>特殊信息（如</a:t>
            </a:r>
            <a:r>
              <a:rPr lang="zh-CN" altLang="en-GB" sz="2400" dirty="0"/>
              <a:t>程序</a:t>
            </a:r>
            <a:r>
              <a:rPr lang="zh-CN" altLang="en-GB" sz="2400" dirty="0">
                <a:solidFill>
                  <a:srgbClr val="FFC000"/>
                </a:solidFill>
              </a:rPr>
              <a:t>错误信息</a:t>
            </a:r>
            <a:r>
              <a:rPr lang="zh-CN" altLang="en-US" sz="2400" dirty="0"/>
              <a:t>）</a:t>
            </a:r>
            <a:r>
              <a:rPr lang="zh-CN" altLang="en-GB" sz="2400" dirty="0"/>
              <a:t>的设备</a:t>
            </a:r>
            <a:r>
              <a:rPr lang="zh-CN" altLang="en-US" sz="2400" dirty="0"/>
              <a:t>。（</a:t>
            </a:r>
            <a:r>
              <a:rPr lang="zh-CN" altLang="en-GB" sz="2400" dirty="0"/>
              <a:t>通常</a:t>
            </a:r>
            <a:r>
              <a:rPr lang="zh-CN" altLang="en-US" sz="2400" dirty="0"/>
              <a:t>也</a:t>
            </a:r>
            <a:r>
              <a:rPr lang="zh-CN" altLang="en-GB" sz="2400" dirty="0"/>
              <a:t>对应着显示器</a:t>
            </a:r>
            <a:r>
              <a:rPr lang="zh-CN" altLang="en-US" sz="2400" dirty="0"/>
              <a:t>，但</a:t>
            </a:r>
            <a:r>
              <a:rPr lang="zh-CN" altLang="en-US" sz="2400" dirty="0">
                <a:solidFill>
                  <a:srgbClr val="FFC000"/>
                </a:solidFill>
              </a:rPr>
              <a:t>不受输出重定向</a:t>
            </a:r>
            <a:r>
              <a:rPr lang="zh-CN" altLang="en-US" sz="2400" dirty="0"/>
              <a:t>的影响）。</a:t>
            </a:r>
            <a:r>
              <a:rPr lang="en-US" altLang="zh-CN" sz="2400" dirty="0" err="1"/>
              <a:t>cerr</a:t>
            </a:r>
            <a:r>
              <a:rPr lang="zh-CN" altLang="en-US" sz="2400" dirty="0"/>
              <a:t>为不带缓冲的，</a:t>
            </a:r>
            <a:r>
              <a:rPr lang="en-US" altLang="zh-CN" sz="2400" dirty="0"/>
              <a:t>clog</a:t>
            </a:r>
            <a:r>
              <a:rPr lang="zh-CN" altLang="en-US" sz="2400" dirty="0"/>
              <a:t>为带缓冲的。</a:t>
            </a:r>
            <a:endParaRPr lang="zh-CN" altLang="en-GB" sz="2400" dirty="0"/>
          </a:p>
          <a:p>
            <a:pPr marL="449263" indent="-449263" algn="just" eaLnBrk="1" hangingPunct="1">
              <a:lnSpc>
                <a:spcPct val="110000"/>
              </a:lnSpc>
              <a:defRPr/>
            </a:pPr>
            <a:r>
              <a:rPr lang="zh-CN" altLang="en-GB" sz="2800" dirty="0"/>
              <a:t>在进行控制台输入</a:t>
            </a:r>
            <a:r>
              <a:rPr lang="en-US" altLang="zh-CN" sz="2800" dirty="0">
                <a:cs typeface="Times New Roman" pitchFamily="18" charset="0"/>
              </a:rPr>
              <a:t>/</a:t>
            </a:r>
            <a:r>
              <a:rPr lang="zh-CN" altLang="en-US" sz="2800" dirty="0"/>
              <a:t>输出时</a:t>
            </a:r>
            <a:r>
              <a:rPr lang="zh-CN" altLang="en-GB" sz="2800" dirty="0"/>
              <a:t>，</a:t>
            </a:r>
            <a:r>
              <a:rPr lang="zh-CN" altLang="en-US" sz="2800" dirty="0"/>
              <a:t>程序中需要有下面的包含命令</a:t>
            </a:r>
            <a:r>
              <a:rPr lang="zh-CN" altLang="en-GB" sz="2800" dirty="0"/>
              <a:t>：</a:t>
            </a:r>
            <a:r>
              <a:rPr lang="zh-CN" altLang="en-US" sz="2400" b="1" dirty="0">
                <a:cs typeface="Courier New" pitchFamily="49" charset="0"/>
              </a:rPr>
              <a:t> </a:t>
            </a:r>
            <a:endParaRPr lang="en-US" altLang="zh-CN" sz="2400" b="1" dirty="0">
              <a:cs typeface="Courier New" pitchFamily="49" charset="0"/>
            </a:endParaRPr>
          </a:p>
          <a:p>
            <a:pPr marL="849313" lvl="1" indent="-449263" algn="just" eaLnBrk="1" hangingPunct="1">
              <a:lnSpc>
                <a:spcPct val="110000"/>
              </a:lnSpc>
              <a:defRPr/>
            </a:pPr>
            <a:r>
              <a:rPr lang="zh-CN" altLang="en-US" sz="2000" dirty="0">
                <a:cs typeface="Courier New" pitchFamily="49" charset="0"/>
              </a:rPr>
              <a:t> </a:t>
            </a:r>
            <a:r>
              <a:rPr lang="en-US" altLang="zh-CN" sz="2000" dirty="0">
                <a:cs typeface="Courier New" pitchFamily="49" charset="0"/>
              </a:rPr>
              <a:t>#include &lt;</a:t>
            </a:r>
            <a:r>
              <a:rPr lang="en-US" altLang="zh-CN" sz="2000" dirty="0" err="1">
                <a:cs typeface="Courier New" pitchFamily="49" charset="0"/>
              </a:rPr>
              <a:t>iostream</a:t>
            </a:r>
            <a:r>
              <a:rPr lang="en-US" altLang="zh-CN" sz="2000" dirty="0">
                <a:cs typeface="Courier New" pitchFamily="49" charset="0"/>
              </a:rPr>
              <a:t>&gt;</a:t>
            </a:r>
          </a:p>
        </p:txBody>
      </p:sp>
      <p:sp>
        <p:nvSpPr>
          <p:cNvPr id="2" name="文本框 1">
            <a:extLst>
              <a:ext uri="{FF2B5EF4-FFF2-40B4-BE49-F238E27FC236}">
                <a16:creationId xmlns:a16="http://schemas.microsoft.com/office/drawing/2014/main" id="{F80CEB03-5827-1D21-4FF5-60FE49E767D9}"/>
              </a:ext>
            </a:extLst>
          </p:cNvPr>
          <p:cNvSpPr txBox="1"/>
          <p:nvPr/>
        </p:nvSpPr>
        <p:spPr>
          <a:xfrm>
            <a:off x="5292725" y="5540375"/>
            <a:ext cx="3651250" cy="1201738"/>
          </a:xfrm>
          <a:prstGeom prst="rect">
            <a:avLst/>
          </a:prstGeom>
          <a:solidFill>
            <a:schemeClr val="bg2"/>
          </a:solidFill>
        </p:spPr>
        <p:txBody>
          <a:bodyPr wrap="none">
            <a:spAutoFit/>
          </a:bodyPr>
          <a:lstStyle/>
          <a:p>
            <a:pPr marL="285750" indent="-285750">
              <a:buFont typeface="Arial" panose="020B0604020202020204" pitchFamily="34" charset="0"/>
              <a:buChar char="•"/>
              <a:defRPr/>
            </a:pPr>
            <a:r>
              <a:rPr lang="zh-CN" altLang="en-US" dirty="0">
                <a:solidFill>
                  <a:srgbClr val="FFC000"/>
                </a:solidFill>
              </a:rPr>
              <a:t>输入</a:t>
            </a:r>
            <a:r>
              <a:rPr lang="en-US" altLang="zh-CN" dirty="0">
                <a:solidFill>
                  <a:srgbClr val="FFC000"/>
                </a:solidFill>
              </a:rPr>
              <a:t>/</a:t>
            </a:r>
            <a:r>
              <a:rPr lang="zh-CN" altLang="en-US" dirty="0">
                <a:solidFill>
                  <a:srgbClr val="FFC000"/>
                </a:solidFill>
              </a:rPr>
              <a:t>输出重定向</a:t>
            </a:r>
            <a:endParaRPr lang="en-US" altLang="zh-CN" dirty="0">
              <a:solidFill>
                <a:srgbClr val="FFC000"/>
              </a:solidFill>
            </a:endParaRPr>
          </a:p>
          <a:p>
            <a:pPr>
              <a:defRPr/>
            </a:pPr>
            <a:r>
              <a:rPr lang="en-US" altLang="zh-CN" dirty="0"/>
              <a:t>C&gt;prog.exe </a:t>
            </a:r>
            <a:r>
              <a:rPr lang="en-US" altLang="zh-CN" dirty="0">
                <a:solidFill>
                  <a:srgbClr val="FFC000"/>
                </a:solidFill>
              </a:rPr>
              <a:t>&lt;</a:t>
            </a:r>
            <a:r>
              <a:rPr lang="en-US" altLang="zh-CN" dirty="0"/>
              <a:t>a.txt </a:t>
            </a:r>
            <a:r>
              <a:rPr lang="en-US" altLang="zh-CN" dirty="0">
                <a:solidFill>
                  <a:srgbClr val="FFC000"/>
                </a:solidFill>
              </a:rPr>
              <a:t>&gt;</a:t>
            </a:r>
            <a:r>
              <a:rPr lang="en-US" altLang="zh-CN" dirty="0"/>
              <a:t>b.txt</a:t>
            </a:r>
          </a:p>
          <a:p>
            <a:pPr marL="285750" indent="-285750">
              <a:buFont typeface="Arial" panose="020B0604020202020204" pitchFamily="34" charset="0"/>
              <a:buChar char="•"/>
              <a:defRPr/>
            </a:pPr>
            <a:r>
              <a:rPr lang="zh-CN" altLang="en-US" dirty="0"/>
              <a:t>程序中</a:t>
            </a:r>
            <a:r>
              <a:rPr lang="en-US" altLang="zh-CN" dirty="0" err="1"/>
              <a:t>cin</a:t>
            </a:r>
            <a:r>
              <a:rPr lang="zh-CN" altLang="en-US" dirty="0"/>
              <a:t>从文件</a:t>
            </a:r>
            <a:r>
              <a:rPr lang="en-US" altLang="zh-CN" dirty="0"/>
              <a:t>a.txt</a:t>
            </a:r>
            <a:r>
              <a:rPr lang="zh-CN" altLang="en-US" dirty="0"/>
              <a:t>中输入</a:t>
            </a:r>
            <a:endParaRPr lang="en-US" altLang="zh-CN" dirty="0"/>
          </a:p>
          <a:p>
            <a:pPr marL="285750" indent="-285750">
              <a:buFont typeface="Arial" panose="020B0604020202020204" pitchFamily="34" charset="0"/>
              <a:buChar char="•"/>
              <a:defRPr/>
            </a:pPr>
            <a:r>
              <a:rPr lang="zh-CN" altLang="en-US" dirty="0"/>
              <a:t>程序中</a:t>
            </a:r>
            <a:r>
              <a:rPr lang="en-US" altLang="zh-CN" dirty="0" err="1"/>
              <a:t>cout</a:t>
            </a:r>
            <a:r>
              <a:rPr lang="zh-CN" altLang="en-US" dirty="0"/>
              <a:t>输出到文件</a:t>
            </a:r>
            <a:r>
              <a:rPr lang="en-US" altLang="zh-CN" dirty="0"/>
              <a:t>b.txt</a:t>
            </a:r>
            <a:r>
              <a:rPr lang="zh-CN" altLang="en-US" dirty="0"/>
              <a:t>中</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5E97C1F-553C-C97A-ED3E-333A0C630209}"/>
              </a:ext>
            </a:extLst>
          </p:cNvPr>
          <p:cNvSpPr>
            <a:spLocks noGrp="1" noChangeArrowheads="1"/>
          </p:cNvSpPr>
          <p:nvPr>
            <p:ph type="title"/>
          </p:nvPr>
        </p:nvSpPr>
        <p:spPr>
          <a:xfrm>
            <a:off x="457200" y="347663"/>
            <a:ext cx="8229600" cy="560387"/>
          </a:xfrm>
        </p:spPr>
        <p:txBody>
          <a:bodyPr/>
          <a:lstStyle/>
          <a:p>
            <a:pPr eaLnBrk="1" hangingPunct="1">
              <a:defRPr/>
            </a:pPr>
            <a:r>
              <a:rPr lang="zh-CN" altLang="en-GB" dirty="0">
                <a:latin typeface="Times New Roman" pitchFamily="18" charset="0"/>
              </a:rPr>
              <a:t>控制台输出</a:t>
            </a:r>
            <a:r>
              <a:rPr lang="zh-CN" altLang="en-US" dirty="0">
                <a:latin typeface="Times New Roman" pitchFamily="18" charset="0"/>
              </a:rPr>
              <a:t>操作</a:t>
            </a:r>
            <a:endParaRPr lang="zh-CN" altLang="en-US" dirty="0"/>
          </a:p>
        </p:txBody>
      </p:sp>
      <p:sp>
        <p:nvSpPr>
          <p:cNvPr id="20483" name="Rectangle 3">
            <a:extLst>
              <a:ext uri="{FF2B5EF4-FFF2-40B4-BE49-F238E27FC236}">
                <a16:creationId xmlns:a16="http://schemas.microsoft.com/office/drawing/2014/main" id="{DC740704-D443-6CDC-6F0D-85217DD5D715}"/>
              </a:ext>
            </a:extLst>
          </p:cNvPr>
          <p:cNvSpPr>
            <a:spLocks noGrp="1" noChangeArrowheads="1"/>
          </p:cNvSpPr>
          <p:nvPr>
            <p:ph type="body" idx="1"/>
          </p:nvPr>
        </p:nvSpPr>
        <p:spPr>
          <a:xfrm>
            <a:off x="457200" y="1125538"/>
            <a:ext cx="8578850" cy="5616575"/>
          </a:xfrm>
        </p:spPr>
        <p:txBody>
          <a:bodyPr>
            <a:normAutofit fontScale="85000" lnSpcReduction="20000"/>
          </a:bodyPr>
          <a:lstStyle/>
          <a:p>
            <a:pPr eaLnBrk="1" hangingPunct="1">
              <a:lnSpc>
                <a:spcPct val="110000"/>
              </a:lnSpc>
              <a:defRPr/>
            </a:pPr>
            <a:r>
              <a:rPr lang="zh-CN" altLang="en-US" sz="2800" dirty="0">
                <a:cs typeface="Courier New" pitchFamily="49" charset="0"/>
              </a:rPr>
              <a:t>用</a:t>
            </a:r>
            <a:r>
              <a:rPr lang="en-US" altLang="zh-CN" sz="2800" dirty="0">
                <a:cs typeface="Courier New" pitchFamily="49" charset="0"/>
              </a:rPr>
              <a:t>&lt;&lt;</a:t>
            </a:r>
            <a:r>
              <a:rPr lang="zh-CN" altLang="en-US" sz="2800" dirty="0">
                <a:cs typeface="Courier New" pitchFamily="49" charset="0"/>
              </a:rPr>
              <a:t>操作符进行</a:t>
            </a:r>
            <a:r>
              <a:rPr lang="zh-CN" altLang="en-US" sz="2800" dirty="0">
                <a:solidFill>
                  <a:srgbClr val="FFC000"/>
                </a:solidFill>
                <a:cs typeface="Courier New" pitchFamily="49" charset="0"/>
              </a:rPr>
              <a:t>基本数据类型</a:t>
            </a:r>
            <a:r>
              <a:rPr lang="zh-CN" altLang="en-US" sz="2800" dirty="0">
                <a:cs typeface="Courier New" pitchFamily="49" charset="0"/>
              </a:rPr>
              <a:t>数据的输出。例如：</a:t>
            </a:r>
            <a:endParaRPr lang="en-US" altLang="zh-CN" sz="2800" dirty="0">
              <a:cs typeface="Courier New" pitchFamily="49" charset="0"/>
            </a:endParaRPr>
          </a:p>
          <a:p>
            <a:pPr eaLnBrk="1" hangingPunct="1">
              <a:lnSpc>
                <a:spcPct val="110000"/>
              </a:lnSpc>
              <a:buFont typeface="Wingdings" panose="05000000000000000000" pitchFamily="2" charset="2"/>
              <a:buNone/>
              <a:defRPr/>
            </a:pPr>
            <a:r>
              <a:rPr lang="en-US" altLang="zh-CN" sz="2400" dirty="0">
                <a:cs typeface="Courier New" pitchFamily="49" charset="0"/>
              </a:rPr>
              <a:t>#include &lt;</a:t>
            </a:r>
            <a:r>
              <a:rPr lang="en-US" altLang="zh-CN" sz="2400" dirty="0" err="1">
                <a:cs typeface="Courier New" pitchFamily="49" charset="0"/>
              </a:rPr>
              <a:t>iostream</a:t>
            </a:r>
            <a:r>
              <a:rPr lang="en-US" altLang="zh-CN" sz="2400" dirty="0">
                <a:cs typeface="Courier New" pitchFamily="49" charset="0"/>
              </a:rPr>
              <a:t>&gt;</a:t>
            </a:r>
          </a:p>
          <a:p>
            <a:pPr eaLnBrk="1" hangingPunct="1">
              <a:lnSpc>
                <a:spcPct val="110000"/>
              </a:lnSpc>
              <a:buFont typeface="Wingdings" panose="05000000000000000000" pitchFamily="2" charset="2"/>
              <a:buNone/>
              <a:defRPr/>
            </a:pPr>
            <a:r>
              <a:rPr lang="en-US" altLang="zh-CN" sz="2400" dirty="0">
                <a:cs typeface="Courier New" pitchFamily="49" charset="0"/>
              </a:rPr>
              <a:t>using namespace </a:t>
            </a:r>
            <a:r>
              <a:rPr lang="en-US" altLang="zh-CN" sz="2400" dirty="0" err="1">
                <a:cs typeface="Courier New" pitchFamily="49" charset="0"/>
              </a:rPr>
              <a:t>std</a:t>
            </a:r>
            <a:r>
              <a:rPr lang="en-US" altLang="zh-CN" sz="2400" dirty="0">
                <a:cs typeface="Courier New" pitchFamily="49" charset="0"/>
              </a:rPr>
              <a:t>;</a:t>
            </a:r>
          </a:p>
          <a:p>
            <a:pPr eaLnBrk="1" hangingPunct="1">
              <a:lnSpc>
                <a:spcPct val="110000"/>
              </a:lnSpc>
              <a:buFont typeface="Wingdings" panose="05000000000000000000" pitchFamily="2" charset="2"/>
              <a:buNone/>
              <a:defRPr/>
            </a:pPr>
            <a:r>
              <a:rPr lang="en-US" altLang="zh-CN" sz="2400" dirty="0">
                <a:cs typeface="Courier New" pitchFamily="49" charset="0"/>
              </a:rPr>
              <a:t>......</a:t>
            </a:r>
          </a:p>
          <a:p>
            <a:pPr eaLnBrk="1" hangingPunct="1">
              <a:lnSpc>
                <a:spcPct val="110000"/>
              </a:lnSpc>
              <a:buFont typeface="Wingdings" panose="05000000000000000000" pitchFamily="2" charset="2"/>
              <a:buNone/>
              <a:defRPr/>
            </a:pPr>
            <a:r>
              <a:rPr lang="en-GB" altLang="zh-CN" sz="2400" dirty="0" err="1">
                <a:cs typeface="Courier New" pitchFamily="49" charset="0"/>
              </a:rPr>
              <a:t>int</a:t>
            </a:r>
            <a:r>
              <a:rPr lang="en-GB" altLang="zh-CN" sz="2400" dirty="0">
                <a:cs typeface="Courier New" pitchFamily="49" charset="0"/>
              </a:rPr>
              <a:t> x;</a:t>
            </a:r>
            <a:endParaRPr lang="en-US" altLang="zh-CN" sz="2400" dirty="0">
              <a:cs typeface="Courier New" pitchFamily="49" charset="0"/>
            </a:endParaRPr>
          </a:p>
          <a:p>
            <a:pPr eaLnBrk="1" hangingPunct="1">
              <a:lnSpc>
                <a:spcPct val="110000"/>
              </a:lnSpc>
              <a:buFont typeface="Wingdings" panose="05000000000000000000" pitchFamily="2" charset="2"/>
              <a:buNone/>
              <a:defRPr/>
            </a:pPr>
            <a:r>
              <a:rPr lang="en-GB" altLang="zh-CN" sz="2400" dirty="0">
                <a:cs typeface="Courier New" pitchFamily="49" charset="0"/>
              </a:rPr>
              <a:t>float f;</a:t>
            </a:r>
            <a:endParaRPr lang="en-US" altLang="zh-CN" sz="2400" dirty="0">
              <a:cs typeface="Courier New" pitchFamily="49" charset="0"/>
            </a:endParaRPr>
          </a:p>
          <a:p>
            <a:pPr eaLnBrk="1" hangingPunct="1">
              <a:lnSpc>
                <a:spcPct val="110000"/>
              </a:lnSpc>
              <a:buFont typeface="Wingdings" panose="05000000000000000000" pitchFamily="2" charset="2"/>
              <a:buNone/>
              <a:defRPr/>
            </a:pPr>
            <a:r>
              <a:rPr lang="en-GB" altLang="zh-CN" sz="2400" dirty="0">
                <a:cs typeface="Courier New" pitchFamily="49" charset="0"/>
              </a:rPr>
              <a:t>char </a:t>
            </a:r>
            <a:r>
              <a:rPr lang="en-GB" altLang="zh-CN" sz="2400" dirty="0" err="1">
                <a:cs typeface="Courier New" pitchFamily="49" charset="0"/>
              </a:rPr>
              <a:t>ch</a:t>
            </a:r>
            <a:r>
              <a:rPr lang="en-GB" altLang="zh-CN" sz="2400" dirty="0">
                <a:cs typeface="Courier New" pitchFamily="49" charset="0"/>
              </a:rPr>
              <a:t>;</a:t>
            </a:r>
            <a:endParaRPr lang="en-US" altLang="zh-CN"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int</a:t>
            </a:r>
            <a:r>
              <a:rPr lang="en-GB" altLang="zh-CN" sz="2400" dirty="0">
                <a:cs typeface="Courier New" pitchFamily="49" charset="0"/>
              </a:rPr>
              <a:t> *p=&amp;x;</a:t>
            </a:r>
            <a:endParaRPr lang="en-US" altLang="zh-CN" sz="2400" dirty="0">
              <a:cs typeface="Courier New" pitchFamily="49" charset="0"/>
            </a:endParaRPr>
          </a:p>
          <a:p>
            <a:pPr eaLnBrk="1" hangingPunct="1">
              <a:lnSpc>
                <a:spcPct val="110000"/>
              </a:lnSpc>
              <a:buFont typeface="Wingdings" panose="05000000000000000000" pitchFamily="2" charset="2"/>
              <a:buNone/>
              <a:defRPr/>
            </a:pPr>
            <a:r>
              <a:rPr lang="en-GB" altLang="zh-CN" sz="2400" dirty="0">
                <a:cs typeface="Courier New" pitchFamily="49" charset="0"/>
              </a:rPr>
              <a:t>......</a:t>
            </a:r>
            <a:endParaRPr lang="en-US" altLang="zh-CN"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x ; //</a:t>
            </a:r>
            <a:r>
              <a:rPr lang="zh-CN" altLang="en-GB" sz="2400" dirty="0"/>
              <a:t>输出</a:t>
            </a:r>
            <a:r>
              <a:rPr lang="en-GB" altLang="zh-CN" sz="2400" dirty="0">
                <a:cs typeface="Courier New" pitchFamily="49" charset="0"/>
              </a:rPr>
              <a:t>x</a:t>
            </a:r>
            <a:r>
              <a:rPr lang="zh-CN" altLang="en-GB" sz="2400" dirty="0"/>
              <a:t>的值。</a:t>
            </a:r>
            <a:endParaRPr lang="zh-CN" altLang="en-US"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f; //</a:t>
            </a:r>
            <a:r>
              <a:rPr lang="zh-CN" altLang="en-GB" sz="2400" dirty="0"/>
              <a:t>输出</a:t>
            </a:r>
            <a:r>
              <a:rPr lang="en-GB" altLang="zh-CN" sz="2400" dirty="0">
                <a:cs typeface="Courier New" pitchFamily="49" charset="0"/>
              </a:rPr>
              <a:t>f</a:t>
            </a:r>
            <a:r>
              <a:rPr lang="zh-CN" altLang="en-GB" sz="2400" dirty="0"/>
              <a:t>的值。</a:t>
            </a:r>
            <a:endParaRPr lang="zh-CN" altLang="en-US"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a:t>
            </a:r>
            <a:r>
              <a:rPr lang="en-GB" altLang="zh-CN" sz="2400" dirty="0" err="1">
                <a:cs typeface="Courier New" pitchFamily="49" charset="0"/>
              </a:rPr>
              <a:t>ch</a:t>
            </a:r>
            <a:r>
              <a:rPr lang="en-GB" altLang="zh-CN" sz="2400" dirty="0">
                <a:cs typeface="Courier New" pitchFamily="49" charset="0"/>
              </a:rPr>
              <a:t>; //</a:t>
            </a:r>
            <a:r>
              <a:rPr lang="zh-CN" altLang="en-GB" sz="2400" dirty="0"/>
              <a:t>输出</a:t>
            </a:r>
            <a:r>
              <a:rPr lang="en-GB" altLang="zh-CN" sz="2400" dirty="0" err="1">
                <a:cs typeface="Courier New" pitchFamily="49" charset="0"/>
              </a:rPr>
              <a:t>ch</a:t>
            </a:r>
            <a:r>
              <a:rPr lang="zh-CN" altLang="en-GB" sz="2400" dirty="0"/>
              <a:t>的值。</a:t>
            </a:r>
            <a:endParaRPr lang="zh-CN" altLang="en-US"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"hello"; //</a:t>
            </a:r>
            <a:r>
              <a:rPr lang="zh-CN" altLang="en-GB" sz="2400" dirty="0"/>
              <a:t>输出字符串</a:t>
            </a:r>
            <a:r>
              <a:rPr lang="zh-CN" altLang="en-GB" sz="2400" dirty="0">
                <a:cs typeface="Courier New" pitchFamily="49" charset="0"/>
              </a:rPr>
              <a:t>"</a:t>
            </a:r>
            <a:r>
              <a:rPr lang="en-GB" altLang="zh-CN" sz="2400" dirty="0">
                <a:cs typeface="Courier New" pitchFamily="49" charset="0"/>
              </a:rPr>
              <a:t>hello"</a:t>
            </a:r>
            <a:r>
              <a:rPr lang="en-GB" altLang="zh-CN" sz="2400" dirty="0"/>
              <a:t>。</a:t>
            </a:r>
            <a:endParaRPr lang="zh-CN" altLang="en-US" sz="2400" dirty="0">
              <a:cs typeface="Courier New" pitchFamily="49" charset="0"/>
            </a:endParaRP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p; //</a:t>
            </a:r>
            <a:r>
              <a:rPr lang="zh-CN" altLang="en-GB" sz="2400" dirty="0"/>
              <a:t>输出变量</a:t>
            </a:r>
            <a:r>
              <a:rPr lang="en-GB" altLang="zh-CN" sz="2400" dirty="0">
                <a:cs typeface="Courier New" pitchFamily="49" charset="0"/>
              </a:rPr>
              <a:t>p</a:t>
            </a:r>
            <a:r>
              <a:rPr lang="zh-CN" altLang="en-GB" sz="2400" dirty="0"/>
              <a:t>的值，即，变量</a:t>
            </a:r>
            <a:r>
              <a:rPr lang="en-GB" altLang="zh-CN" sz="2400" dirty="0">
                <a:cs typeface="Courier New" pitchFamily="49" charset="0"/>
              </a:rPr>
              <a:t>x</a:t>
            </a:r>
            <a:r>
              <a:rPr lang="zh-CN" altLang="en-GB" sz="2400" dirty="0"/>
              <a:t>的地址。</a:t>
            </a:r>
            <a:endParaRPr lang="zh-CN" altLang="en-US" sz="2400" dirty="0"/>
          </a:p>
          <a:p>
            <a:pPr eaLnBrk="1" hangingPunct="1">
              <a:lnSpc>
                <a:spcPct val="110000"/>
              </a:lnSpc>
              <a:buFont typeface="Wingdings" panose="05000000000000000000" pitchFamily="2" charset="2"/>
              <a:buNone/>
              <a:defRPr/>
            </a:pPr>
            <a:r>
              <a:rPr lang="zh-CN" altLang="en-GB" sz="2400" dirty="0">
                <a:cs typeface="Courier New" pitchFamily="49" charset="0"/>
              </a:rPr>
              <a:t>或</a:t>
            </a:r>
          </a:p>
          <a:p>
            <a:pPr eaLnBrk="1" hangingPunct="1">
              <a:lnSpc>
                <a:spcPct val="110000"/>
              </a:lnSpc>
              <a:buFont typeface="Wingdings" panose="05000000000000000000" pitchFamily="2" charset="2"/>
              <a:buNone/>
              <a:defRPr/>
            </a:pPr>
            <a:r>
              <a:rPr lang="en-GB" altLang="zh-CN" sz="2400" dirty="0" err="1">
                <a:cs typeface="Courier New" pitchFamily="49" charset="0"/>
              </a:rPr>
              <a:t>cout</a:t>
            </a:r>
            <a:r>
              <a:rPr lang="en-GB" altLang="zh-CN" sz="2400" dirty="0">
                <a:cs typeface="Courier New" pitchFamily="49" charset="0"/>
              </a:rPr>
              <a:t> &lt;&lt; x &lt;&lt; f &lt;&lt; </a:t>
            </a:r>
            <a:r>
              <a:rPr lang="en-GB" altLang="zh-CN" sz="2400" dirty="0" err="1">
                <a:cs typeface="Courier New" pitchFamily="49" charset="0"/>
              </a:rPr>
              <a:t>ch</a:t>
            </a:r>
            <a:r>
              <a:rPr lang="en-GB" altLang="zh-CN" sz="2400" dirty="0">
                <a:cs typeface="Courier New" pitchFamily="49" charset="0"/>
              </a:rPr>
              <a:t> &lt;&lt; "hello" &lt;&lt; p;</a:t>
            </a:r>
            <a:endParaRPr lang="en-US" altLang="zh-C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C62E0A4-3366-7580-8125-D5D0913C6B7F}"/>
              </a:ext>
            </a:extLst>
          </p:cNvPr>
          <p:cNvSpPr>
            <a:spLocks noGrp="1" noChangeArrowheads="1"/>
          </p:cNvSpPr>
          <p:nvPr>
            <p:ph type="title"/>
          </p:nvPr>
        </p:nvSpPr>
        <p:spPr/>
        <p:txBody>
          <a:bodyPr/>
          <a:lstStyle/>
          <a:p>
            <a:pPr eaLnBrk="1" hangingPunct="1">
              <a:defRPr/>
            </a:pPr>
            <a:r>
              <a:rPr lang="zh-CN" altLang="en-US"/>
              <a:t>输出格式控制</a:t>
            </a:r>
          </a:p>
        </p:txBody>
      </p:sp>
      <p:sp>
        <p:nvSpPr>
          <p:cNvPr id="56323" name="Rectangle 3">
            <a:extLst>
              <a:ext uri="{FF2B5EF4-FFF2-40B4-BE49-F238E27FC236}">
                <a16:creationId xmlns:a16="http://schemas.microsoft.com/office/drawing/2014/main" id="{A05AF6BA-8195-2227-EF50-689128BD49B4}"/>
              </a:ext>
            </a:extLst>
          </p:cNvPr>
          <p:cNvSpPr>
            <a:spLocks noGrp="1" noChangeArrowheads="1"/>
          </p:cNvSpPr>
          <p:nvPr>
            <p:ph type="body" idx="1"/>
          </p:nvPr>
        </p:nvSpPr>
        <p:spPr/>
        <p:txBody>
          <a:bodyPr/>
          <a:lstStyle/>
          <a:p>
            <a:pPr eaLnBrk="1" hangingPunct="1">
              <a:defRPr/>
            </a:pPr>
            <a:r>
              <a:rPr lang="zh-CN" altLang="en-GB" sz="2800" dirty="0"/>
              <a:t>为了对输出格式进行控制，可以通过输出一些</a:t>
            </a:r>
            <a:r>
              <a:rPr lang="zh-CN" altLang="en-GB" sz="2800" dirty="0">
                <a:solidFill>
                  <a:schemeClr val="folHlink"/>
                </a:solidFill>
              </a:rPr>
              <a:t>操纵符</a:t>
            </a:r>
            <a:r>
              <a:rPr lang="zh-CN" altLang="en-GB" sz="2800" dirty="0"/>
              <a:t>（</a:t>
            </a:r>
            <a:r>
              <a:rPr lang="en-GB" altLang="zh-CN" sz="2800" dirty="0"/>
              <a:t>manipulator</a:t>
            </a:r>
            <a:r>
              <a:rPr lang="zh-CN" altLang="en-GB" sz="2800" dirty="0"/>
              <a:t>）来实现</a:t>
            </a:r>
            <a:r>
              <a:rPr lang="zh-CN" altLang="en-US" sz="2800" dirty="0"/>
              <a:t>。</a:t>
            </a:r>
            <a:r>
              <a:rPr lang="zh-CN" altLang="en-GB" sz="2800" dirty="0"/>
              <a:t>例如：</a:t>
            </a:r>
            <a:endParaRPr lang="zh-CN" altLang="en-US" sz="2800" dirty="0"/>
          </a:p>
          <a:p>
            <a:pPr lvl="1" eaLnBrk="1" hangingPunct="1">
              <a:buFontTx/>
              <a:buNone/>
              <a:defRPr/>
            </a:pPr>
            <a:r>
              <a:rPr lang="en-US" altLang="zh-CN" sz="2400" dirty="0"/>
              <a:t>#include &lt;</a:t>
            </a:r>
            <a:r>
              <a:rPr lang="en-US" altLang="zh-CN" sz="2400" dirty="0" err="1"/>
              <a:t>iostream</a:t>
            </a:r>
            <a:r>
              <a:rPr lang="en-US" altLang="zh-CN" sz="2400" dirty="0"/>
              <a:t>&gt;</a:t>
            </a:r>
            <a:endParaRPr lang="en-GB" altLang="zh-CN" sz="2400" dirty="0"/>
          </a:p>
          <a:p>
            <a:pPr lvl="1" eaLnBrk="1" hangingPunct="1">
              <a:buFontTx/>
              <a:buNone/>
              <a:defRPr/>
            </a:pPr>
            <a:r>
              <a:rPr lang="en-GB" altLang="zh-CN" sz="2400" dirty="0"/>
              <a:t>#include &lt;</a:t>
            </a:r>
            <a:r>
              <a:rPr lang="en-GB" altLang="zh-CN" sz="2400" dirty="0" err="1"/>
              <a:t>iomanip</a:t>
            </a:r>
            <a:r>
              <a:rPr lang="en-GB" altLang="zh-CN" sz="2400" dirty="0"/>
              <a:t>&gt;  //</a:t>
            </a:r>
            <a:r>
              <a:rPr lang="zh-CN" altLang="en-GB" sz="2400" dirty="0"/>
              <a:t>操纵符声明的头文件。</a:t>
            </a:r>
            <a:endParaRPr lang="zh-CN" altLang="en-US" sz="2400" dirty="0"/>
          </a:p>
          <a:p>
            <a:pPr lvl="1" eaLnBrk="1" hangingPunct="1">
              <a:buFontTx/>
              <a:buNone/>
              <a:defRPr/>
            </a:pPr>
            <a:r>
              <a:rPr lang="en-US" altLang="zh-CN" sz="2400" dirty="0"/>
              <a:t>using namespace </a:t>
            </a:r>
            <a:r>
              <a:rPr lang="en-US" altLang="zh-CN" sz="2400" dirty="0" err="1"/>
              <a:t>std</a:t>
            </a:r>
            <a:r>
              <a:rPr lang="en-US" altLang="zh-CN" sz="2400" dirty="0"/>
              <a:t>;</a:t>
            </a:r>
          </a:p>
          <a:p>
            <a:pPr lvl="1" eaLnBrk="1" hangingPunct="1">
              <a:buFontTx/>
              <a:buNone/>
              <a:defRPr/>
            </a:pPr>
            <a:r>
              <a:rPr lang="en-US" altLang="zh-CN" sz="2400" dirty="0"/>
              <a:t>.....</a:t>
            </a:r>
          </a:p>
          <a:p>
            <a:pPr lvl="1" eaLnBrk="1" hangingPunct="1">
              <a:buFontTx/>
              <a:buNone/>
              <a:defRPr/>
            </a:pPr>
            <a:r>
              <a:rPr lang="en-US" altLang="zh-CN" sz="2400" dirty="0" err="1"/>
              <a:t>int</a:t>
            </a:r>
            <a:r>
              <a:rPr lang="en-US" altLang="zh-CN" sz="2400" dirty="0"/>
              <a:t> x=10;</a:t>
            </a:r>
            <a:endParaRPr lang="en-GB" altLang="zh-CN" sz="2400" dirty="0"/>
          </a:p>
          <a:p>
            <a:pPr lvl="1" eaLnBrk="1" hangingPunct="1">
              <a:buFontTx/>
              <a:buNone/>
              <a:defRPr/>
            </a:pPr>
            <a:r>
              <a:rPr lang="en-GB" altLang="zh-CN" sz="2400" dirty="0" err="1"/>
              <a:t>cout</a:t>
            </a:r>
            <a:r>
              <a:rPr lang="en-GB" altLang="zh-CN" sz="2400" dirty="0"/>
              <a:t> &lt;&lt; </a:t>
            </a:r>
            <a:r>
              <a:rPr lang="en-GB" altLang="zh-CN" sz="2400" dirty="0">
                <a:solidFill>
                  <a:schemeClr val="folHlink"/>
                </a:solidFill>
              </a:rPr>
              <a:t>hex</a:t>
            </a:r>
            <a:r>
              <a:rPr lang="en-GB" altLang="zh-CN" sz="2400" dirty="0"/>
              <a:t> &lt;&lt; x &lt;&lt; </a:t>
            </a:r>
            <a:r>
              <a:rPr lang="en-GB" altLang="zh-CN" sz="2400" dirty="0" err="1">
                <a:solidFill>
                  <a:schemeClr val="folHlink"/>
                </a:solidFill>
              </a:rPr>
              <a:t>endl</a:t>
            </a:r>
            <a:r>
              <a:rPr lang="en-GB" altLang="zh-CN" sz="2400" dirty="0"/>
              <a:t>; //</a:t>
            </a:r>
            <a:r>
              <a:rPr lang="zh-CN" altLang="en-GB" sz="2400" dirty="0"/>
              <a:t>以十六进制输出</a:t>
            </a:r>
            <a:r>
              <a:rPr lang="en-GB" altLang="zh-CN" sz="2400" dirty="0"/>
              <a:t>x</a:t>
            </a:r>
            <a:r>
              <a:rPr lang="zh-CN" altLang="en-GB" sz="2400" dirty="0"/>
              <a:t>的值，然后换行。</a:t>
            </a: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a:extLst>
              <a:ext uri="{FF2B5EF4-FFF2-40B4-BE49-F238E27FC236}">
                <a16:creationId xmlns:a16="http://schemas.microsoft.com/office/drawing/2014/main" id="{AE5ACA34-89A6-9FC0-6D43-7F0DA4241F66}"/>
              </a:ext>
            </a:extLst>
          </p:cNvPr>
          <p:cNvSpPr>
            <a:spLocks noChangeArrowheads="1"/>
          </p:cNvSpPr>
          <p:nvPr/>
        </p:nvSpPr>
        <p:spPr bwMode="auto">
          <a:xfrm>
            <a:off x="682625" y="152400"/>
            <a:ext cx="7242175" cy="579438"/>
          </a:xfrm>
          <a:prstGeom prst="rect">
            <a:avLst/>
          </a:prstGeom>
          <a:noFill/>
          <a:ln w="9525">
            <a:noFill/>
            <a:miter lim="800000"/>
            <a:headEnd/>
            <a:tailEnd/>
          </a:ln>
          <a:effectLst/>
        </p:spPr>
        <p:txBody>
          <a:bodyPr>
            <a:spAutoFit/>
          </a:bodyPr>
          <a:lstStyle/>
          <a:p>
            <a:pPr algn="ctr" eaLnBrk="1" hangingPunct="1">
              <a:defRPr/>
            </a:pPr>
            <a:r>
              <a:rPr lang="zh-CN" altLang="en-US" sz="3200" dirty="0">
                <a:effectLst>
                  <a:outerShdw blurRad="38100" dist="38100" dir="2700000" algn="tl">
                    <a:srgbClr val="000000"/>
                  </a:outerShdw>
                </a:effectLst>
                <a:latin typeface="Times New Roman" pitchFamily="18" charset="0"/>
                <a:ea typeface="黑体" pitchFamily="2" charset="-122"/>
              </a:rPr>
              <a:t>常用输出操纵符</a:t>
            </a:r>
            <a:endParaRPr lang="zh-CN" altLang="en-US" sz="3200" dirty="0">
              <a:effectLst>
                <a:outerShdw blurRad="38100" dist="38100" dir="2700000" algn="tl">
                  <a:srgbClr val="000000"/>
                </a:outerShdw>
              </a:effectLst>
              <a:latin typeface="Arial" charset="0"/>
            </a:endParaRPr>
          </a:p>
        </p:txBody>
      </p:sp>
      <p:grpSp>
        <p:nvGrpSpPr>
          <p:cNvPr id="17411" name="Group 55">
            <a:extLst>
              <a:ext uri="{FF2B5EF4-FFF2-40B4-BE49-F238E27FC236}">
                <a16:creationId xmlns:a16="http://schemas.microsoft.com/office/drawing/2014/main" id="{F79263AF-98DD-6175-BE2B-310A9E1C10E9}"/>
              </a:ext>
            </a:extLst>
          </p:cNvPr>
          <p:cNvGrpSpPr>
            <a:grpSpLocks/>
          </p:cNvGrpSpPr>
          <p:nvPr/>
        </p:nvGrpSpPr>
        <p:grpSpPr bwMode="auto">
          <a:xfrm>
            <a:off x="0" y="1052513"/>
            <a:ext cx="9144000" cy="5545137"/>
            <a:chOff x="-3" y="343"/>
            <a:chExt cx="2842" cy="3349"/>
          </a:xfrm>
        </p:grpSpPr>
        <p:grpSp>
          <p:nvGrpSpPr>
            <p:cNvPr id="17412" name="Group 53">
              <a:extLst>
                <a:ext uri="{FF2B5EF4-FFF2-40B4-BE49-F238E27FC236}">
                  <a16:creationId xmlns:a16="http://schemas.microsoft.com/office/drawing/2014/main" id="{966F69A2-22F0-E17F-72C9-667B5D8C1DB5}"/>
                </a:ext>
              </a:extLst>
            </p:cNvPr>
            <p:cNvGrpSpPr>
              <a:grpSpLocks/>
            </p:cNvGrpSpPr>
            <p:nvPr/>
          </p:nvGrpSpPr>
          <p:grpSpPr bwMode="auto">
            <a:xfrm>
              <a:off x="0" y="346"/>
              <a:ext cx="2836" cy="3343"/>
              <a:chOff x="0" y="346"/>
              <a:chExt cx="2836" cy="3343"/>
            </a:xfrm>
          </p:grpSpPr>
          <p:grpSp>
            <p:nvGrpSpPr>
              <p:cNvPr id="17414" name="Group 22">
                <a:extLst>
                  <a:ext uri="{FF2B5EF4-FFF2-40B4-BE49-F238E27FC236}">
                    <a16:creationId xmlns:a16="http://schemas.microsoft.com/office/drawing/2014/main" id="{8D19878A-109B-0524-4B19-EEBE4D5D1A7E}"/>
                  </a:ext>
                </a:extLst>
              </p:cNvPr>
              <p:cNvGrpSpPr>
                <a:grpSpLocks/>
              </p:cNvGrpSpPr>
              <p:nvPr/>
            </p:nvGrpSpPr>
            <p:grpSpPr bwMode="auto">
              <a:xfrm>
                <a:off x="0" y="346"/>
                <a:ext cx="1022" cy="346"/>
                <a:chOff x="0" y="346"/>
                <a:chExt cx="1022" cy="346"/>
              </a:xfrm>
            </p:grpSpPr>
            <p:sp>
              <p:nvSpPr>
                <p:cNvPr id="15412" name="Rectangle 5">
                  <a:extLst>
                    <a:ext uri="{FF2B5EF4-FFF2-40B4-BE49-F238E27FC236}">
                      <a16:creationId xmlns:a16="http://schemas.microsoft.com/office/drawing/2014/main" id="{FC1E9321-0CCB-6036-3CBC-7B9F6B7F05A6}"/>
                    </a:ext>
                  </a:extLst>
                </p:cNvPr>
                <p:cNvSpPr>
                  <a:spLocks noChangeArrowheads="1"/>
                </p:cNvSpPr>
                <p:nvPr/>
              </p:nvSpPr>
              <p:spPr bwMode="auto">
                <a:xfrm>
                  <a:off x="43" y="346"/>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b="1" i="1" dirty="0">
                      <a:effectLst>
                        <a:outerShdw blurRad="38100" dist="38100" dir="2700000" algn="tl">
                          <a:srgbClr val="000000">
                            <a:alpha val="43137"/>
                          </a:srgbClr>
                        </a:outerShdw>
                      </a:effectLst>
                      <a:latin typeface="+mn-lt"/>
                    </a:rPr>
                    <a:t>操纵符</a:t>
                  </a:r>
                  <a:endParaRPr lang="zh-CN" altLang="en-US" sz="2000" b="1" i="1" dirty="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dirty="0">
                    <a:effectLst>
                      <a:outerShdw blurRad="38100" dist="38100" dir="2700000" algn="tl">
                        <a:srgbClr val="000000">
                          <a:alpha val="43137"/>
                        </a:srgbClr>
                      </a:outerShdw>
                    </a:effectLst>
                    <a:latin typeface="+mn-lt"/>
                  </a:endParaRPr>
                </a:p>
              </p:txBody>
            </p:sp>
            <p:sp>
              <p:nvSpPr>
                <p:cNvPr id="15413" name="Rectangle 21">
                  <a:extLst>
                    <a:ext uri="{FF2B5EF4-FFF2-40B4-BE49-F238E27FC236}">
                      <a16:creationId xmlns:a16="http://schemas.microsoft.com/office/drawing/2014/main" id="{77FF3197-1685-367B-F3F7-DEA5E8496BE4}"/>
                    </a:ext>
                  </a:extLst>
                </p:cNvPr>
                <p:cNvSpPr>
                  <a:spLocks noChangeArrowheads="1"/>
                </p:cNvSpPr>
                <p:nvPr/>
              </p:nvSpPr>
              <p:spPr bwMode="auto">
                <a:xfrm>
                  <a:off x="0" y="346"/>
                  <a:ext cx="1022"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15" name="Group 24">
                <a:extLst>
                  <a:ext uri="{FF2B5EF4-FFF2-40B4-BE49-F238E27FC236}">
                    <a16:creationId xmlns:a16="http://schemas.microsoft.com/office/drawing/2014/main" id="{6E9BD8E8-152F-8D52-AF6D-F44758164976}"/>
                  </a:ext>
                </a:extLst>
              </p:cNvPr>
              <p:cNvGrpSpPr>
                <a:grpSpLocks/>
              </p:cNvGrpSpPr>
              <p:nvPr/>
            </p:nvGrpSpPr>
            <p:grpSpPr bwMode="auto">
              <a:xfrm>
                <a:off x="1022" y="346"/>
                <a:ext cx="1814" cy="346"/>
                <a:chOff x="1022" y="346"/>
                <a:chExt cx="1814" cy="346"/>
              </a:xfrm>
            </p:grpSpPr>
            <p:sp>
              <p:nvSpPr>
                <p:cNvPr id="15410" name="Rectangle 6">
                  <a:extLst>
                    <a:ext uri="{FF2B5EF4-FFF2-40B4-BE49-F238E27FC236}">
                      <a16:creationId xmlns:a16="http://schemas.microsoft.com/office/drawing/2014/main" id="{9B6B5F47-44A4-9EFC-66B0-FD0D361ACF9B}"/>
                    </a:ext>
                  </a:extLst>
                </p:cNvPr>
                <p:cNvSpPr>
                  <a:spLocks noChangeArrowheads="1"/>
                </p:cNvSpPr>
                <p:nvPr/>
              </p:nvSpPr>
              <p:spPr bwMode="auto">
                <a:xfrm>
                  <a:off x="1065" y="346"/>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b="1" i="1" dirty="0">
                      <a:effectLst>
                        <a:outerShdw blurRad="38100" dist="38100" dir="2700000" algn="tl">
                          <a:srgbClr val="000000">
                            <a:alpha val="43137"/>
                          </a:srgbClr>
                        </a:outerShdw>
                      </a:effectLst>
                      <a:latin typeface="+mn-lt"/>
                    </a:rPr>
                    <a:t>含义</a:t>
                  </a:r>
                  <a:endParaRPr lang="zh-CN" altLang="en-US" sz="2000" b="1" i="1" dirty="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dirty="0">
                    <a:effectLst>
                      <a:outerShdw blurRad="38100" dist="38100" dir="2700000" algn="tl">
                        <a:srgbClr val="000000">
                          <a:alpha val="43137"/>
                        </a:srgbClr>
                      </a:outerShdw>
                    </a:effectLst>
                    <a:latin typeface="+mn-lt"/>
                  </a:endParaRPr>
                </a:p>
              </p:txBody>
            </p:sp>
            <p:sp>
              <p:nvSpPr>
                <p:cNvPr id="15411" name="Rectangle 23">
                  <a:extLst>
                    <a:ext uri="{FF2B5EF4-FFF2-40B4-BE49-F238E27FC236}">
                      <a16:creationId xmlns:a16="http://schemas.microsoft.com/office/drawing/2014/main" id="{1A426E21-0123-BE06-3C04-FA58C41E9FC8}"/>
                    </a:ext>
                  </a:extLst>
                </p:cNvPr>
                <p:cNvSpPr>
                  <a:spLocks noChangeArrowheads="1"/>
                </p:cNvSpPr>
                <p:nvPr/>
              </p:nvSpPr>
              <p:spPr bwMode="auto">
                <a:xfrm>
                  <a:off x="1022" y="346"/>
                  <a:ext cx="1814"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16" name="Group 26">
                <a:extLst>
                  <a:ext uri="{FF2B5EF4-FFF2-40B4-BE49-F238E27FC236}">
                    <a16:creationId xmlns:a16="http://schemas.microsoft.com/office/drawing/2014/main" id="{1D71F28F-33F0-359F-8B0B-BEE6A8DF950B}"/>
                  </a:ext>
                </a:extLst>
              </p:cNvPr>
              <p:cNvGrpSpPr>
                <a:grpSpLocks/>
              </p:cNvGrpSpPr>
              <p:nvPr/>
            </p:nvGrpSpPr>
            <p:grpSpPr bwMode="auto">
              <a:xfrm>
                <a:off x="0" y="692"/>
                <a:ext cx="1022" cy="346"/>
                <a:chOff x="0" y="692"/>
                <a:chExt cx="1022" cy="346"/>
              </a:xfrm>
            </p:grpSpPr>
            <p:sp>
              <p:nvSpPr>
                <p:cNvPr id="15408" name="Rectangle 7">
                  <a:extLst>
                    <a:ext uri="{FF2B5EF4-FFF2-40B4-BE49-F238E27FC236}">
                      <a16:creationId xmlns:a16="http://schemas.microsoft.com/office/drawing/2014/main" id="{1C1E62F5-5648-DD5E-7E9B-E10F7D906CC6}"/>
                    </a:ext>
                  </a:extLst>
                </p:cNvPr>
                <p:cNvSpPr>
                  <a:spLocks noChangeArrowheads="1"/>
                </p:cNvSpPr>
                <p:nvPr/>
              </p:nvSpPr>
              <p:spPr bwMode="auto">
                <a:xfrm>
                  <a:off x="43" y="692"/>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a:effectLst>
                        <a:outerShdw blurRad="38100" dist="38100" dir="2700000" algn="tl">
                          <a:srgbClr val="000000">
                            <a:alpha val="43137"/>
                          </a:srgbClr>
                        </a:outerShdw>
                      </a:effectLst>
                      <a:latin typeface="+mn-lt"/>
                    </a:rPr>
                    <a:t>endl</a:t>
                  </a:r>
                  <a:endParaRPr lang="en-US" altLang="zh-CN"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409" name="Rectangle 25">
                  <a:extLst>
                    <a:ext uri="{FF2B5EF4-FFF2-40B4-BE49-F238E27FC236}">
                      <a16:creationId xmlns:a16="http://schemas.microsoft.com/office/drawing/2014/main" id="{8BDAE847-5845-3D6B-9F3D-45CE46FD998B}"/>
                    </a:ext>
                  </a:extLst>
                </p:cNvPr>
                <p:cNvSpPr>
                  <a:spLocks noChangeArrowheads="1"/>
                </p:cNvSpPr>
                <p:nvPr/>
              </p:nvSpPr>
              <p:spPr bwMode="auto">
                <a:xfrm>
                  <a:off x="0" y="692"/>
                  <a:ext cx="1022"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17" name="Group 28">
                <a:extLst>
                  <a:ext uri="{FF2B5EF4-FFF2-40B4-BE49-F238E27FC236}">
                    <a16:creationId xmlns:a16="http://schemas.microsoft.com/office/drawing/2014/main" id="{950B5BE9-C0AF-A1CF-A041-5EBB7229F25A}"/>
                  </a:ext>
                </a:extLst>
              </p:cNvPr>
              <p:cNvGrpSpPr>
                <a:grpSpLocks/>
              </p:cNvGrpSpPr>
              <p:nvPr/>
            </p:nvGrpSpPr>
            <p:grpSpPr bwMode="auto">
              <a:xfrm>
                <a:off x="1022" y="692"/>
                <a:ext cx="1814" cy="346"/>
                <a:chOff x="1022" y="692"/>
                <a:chExt cx="1814" cy="346"/>
              </a:xfrm>
            </p:grpSpPr>
            <p:sp>
              <p:nvSpPr>
                <p:cNvPr id="15406" name="Rectangle 8">
                  <a:extLst>
                    <a:ext uri="{FF2B5EF4-FFF2-40B4-BE49-F238E27FC236}">
                      <a16:creationId xmlns:a16="http://schemas.microsoft.com/office/drawing/2014/main" id="{7BE8720E-6359-AE62-6B96-B49B75325056}"/>
                    </a:ext>
                  </a:extLst>
                </p:cNvPr>
                <p:cNvSpPr>
                  <a:spLocks noChangeArrowheads="1"/>
                </p:cNvSpPr>
                <p:nvPr/>
              </p:nvSpPr>
              <p:spPr bwMode="auto">
                <a:xfrm>
                  <a:off x="1065" y="692"/>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dirty="0">
                      <a:effectLst>
                        <a:outerShdw blurRad="38100" dist="38100" dir="2700000" algn="tl">
                          <a:srgbClr val="000000">
                            <a:alpha val="43137"/>
                          </a:srgbClr>
                        </a:outerShdw>
                      </a:effectLst>
                      <a:latin typeface="+mn-lt"/>
                    </a:rPr>
                    <a:t>输出换行符，并执行</a:t>
                  </a:r>
                  <a:r>
                    <a:rPr lang="en-GB" altLang="zh-CN" sz="2000" dirty="0">
                      <a:effectLst>
                        <a:outerShdw blurRad="38100" dist="38100" dir="2700000" algn="tl">
                          <a:srgbClr val="000000">
                            <a:alpha val="43137"/>
                          </a:srgbClr>
                        </a:outerShdw>
                      </a:effectLst>
                      <a:latin typeface="+mn-lt"/>
                    </a:rPr>
                    <a:t>flush</a:t>
                  </a:r>
                  <a:r>
                    <a:rPr lang="zh-CN" altLang="en-GB" sz="2000" dirty="0">
                      <a:effectLst>
                        <a:outerShdw blurRad="38100" dist="38100" dir="2700000" algn="tl">
                          <a:srgbClr val="000000">
                            <a:alpha val="43137"/>
                          </a:srgbClr>
                        </a:outerShdw>
                      </a:effectLst>
                      <a:latin typeface="+mn-lt"/>
                    </a:rPr>
                    <a:t>操作</a:t>
                  </a:r>
                  <a:endParaRPr lang="zh-CN" altLang="en-US" sz="2000" dirty="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dirty="0">
                    <a:effectLst>
                      <a:outerShdw blurRad="38100" dist="38100" dir="2700000" algn="tl">
                        <a:srgbClr val="000000">
                          <a:alpha val="43137"/>
                        </a:srgbClr>
                      </a:outerShdw>
                    </a:effectLst>
                    <a:latin typeface="+mn-lt"/>
                  </a:endParaRPr>
                </a:p>
              </p:txBody>
            </p:sp>
            <p:sp>
              <p:nvSpPr>
                <p:cNvPr id="15407" name="Rectangle 27">
                  <a:extLst>
                    <a:ext uri="{FF2B5EF4-FFF2-40B4-BE49-F238E27FC236}">
                      <a16:creationId xmlns:a16="http://schemas.microsoft.com/office/drawing/2014/main" id="{D49E8ED9-F8D1-2217-A58F-493ABFD416B4}"/>
                    </a:ext>
                  </a:extLst>
                </p:cNvPr>
                <p:cNvSpPr>
                  <a:spLocks noChangeArrowheads="1"/>
                </p:cNvSpPr>
                <p:nvPr/>
              </p:nvSpPr>
              <p:spPr bwMode="auto">
                <a:xfrm>
                  <a:off x="1022" y="692"/>
                  <a:ext cx="1814"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18" name="Group 30">
                <a:extLst>
                  <a:ext uri="{FF2B5EF4-FFF2-40B4-BE49-F238E27FC236}">
                    <a16:creationId xmlns:a16="http://schemas.microsoft.com/office/drawing/2014/main" id="{5CAAFDAC-63AE-9CF5-7085-D8CF48168FF3}"/>
                  </a:ext>
                </a:extLst>
              </p:cNvPr>
              <p:cNvGrpSpPr>
                <a:grpSpLocks/>
              </p:cNvGrpSpPr>
              <p:nvPr/>
            </p:nvGrpSpPr>
            <p:grpSpPr bwMode="auto">
              <a:xfrm>
                <a:off x="0" y="1038"/>
                <a:ext cx="1022" cy="346"/>
                <a:chOff x="0" y="1038"/>
                <a:chExt cx="1022" cy="346"/>
              </a:xfrm>
            </p:grpSpPr>
            <p:sp>
              <p:nvSpPr>
                <p:cNvPr id="15404" name="Rectangle 9">
                  <a:extLst>
                    <a:ext uri="{FF2B5EF4-FFF2-40B4-BE49-F238E27FC236}">
                      <a16:creationId xmlns:a16="http://schemas.microsoft.com/office/drawing/2014/main" id="{BC30B179-5595-22F0-8784-46238C69204D}"/>
                    </a:ext>
                  </a:extLst>
                </p:cNvPr>
                <p:cNvSpPr>
                  <a:spLocks noChangeArrowheads="1"/>
                </p:cNvSpPr>
                <p:nvPr/>
              </p:nvSpPr>
              <p:spPr bwMode="auto">
                <a:xfrm>
                  <a:off x="43" y="1038"/>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a:effectLst>
                        <a:outerShdw blurRad="38100" dist="38100" dir="2700000" algn="tl">
                          <a:srgbClr val="000000">
                            <a:alpha val="43137"/>
                          </a:srgbClr>
                        </a:outerShdw>
                      </a:effectLst>
                      <a:latin typeface="+mn-lt"/>
                    </a:rPr>
                    <a:t>flush</a:t>
                  </a:r>
                  <a:endParaRPr lang="en-US" altLang="zh-CN"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405" name="Rectangle 29">
                  <a:extLst>
                    <a:ext uri="{FF2B5EF4-FFF2-40B4-BE49-F238E27FC236}">
                      <a16:creationId xmlns:a16="http://schemas.microsoft.com/office/drawing/2014/main" id="{3EAFE8CE-10CD-CD05-071D-5320FEE6E186}"/>
                    </a:ext>
                  </a:extLst>
                </p:cNvPr>
                <p:cNvSpPr>
                  <a:spLocks noChangeArrowheads="1"/>
                </p:cNvSpPr>
                <p:nvPr/>
              </p:nvSpPr>
              <p:spPr bwMode="auto">
                <a:xfrm>
                  <a:off x="0" y="1038"/>
                  <a:ext cx="1022"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19" name="Group 32">
                <a:extLst>
                  <a:ext uri="{FF2B5EF4-FFF2-40B4-BE49-F238E27FC236}">
                    <a16:creationId xmlns:a16="http://schemas.microsoft.com/office/drawing/2014/main" id="{72500490-7BD5-F471-D4CA-5C2E4D3939EC}"/>
                  </a:ext>
                </a:extLst>
              </p:cNvPr>
              <p:cNvGrpSpPr>
                <a:grpSpLocks/>
              </p:cNvGrpSpPr>
              <p:nvPr/>
            </p:nvGrpSpPr>
            <p:grpSpPr bwMode="auto">
              <a:xfrm>
                <a:off x="1022" y="1038"/>
                <a:ext cx="1814" cy="346"/>
                <a:chOff x="1022" y="1038"/>
                <a:chExt cx="1814" cy="346"/>
              </a:xfrm>
            </p:grpSpPr>
            <p:sp>
              <p:nvSpPr>
                <p:cNvPr id="15402" name="Rectangle 10">
                  <a:extLst>
                    <a:ext uri="{FF2B5EF4-FFF2-40B4-BE49-F238E27FC236}">
                      <a16:creationId xmlns:a16="http://schemas.microsoft.com/office/drawing/2014/main" id="{74C78DCB-20EF-F29E-1729-8A9F8A415A84}"/>
                    </a:ext>
                  </a:extLst>
                </p:cNvPr>
                <p:cNvSpPr>
                  <a:spLocks noChangeArrowheads="1"/>
                </p:cNvSpPr>
                <p:nvPr/>
              </p:nvSpPr>
              <p:spPr bwMode="auto">
                <a:xfrm>
                  <a:off x="1065" y="1038"/>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dirty="0">
                      <a:effectLst>
                        <a:outerShdw blurRad="38100" dist="38100" dir="2700000" algn="tl">
                          <a:srgbClr val="000000">
                            <a:alpha val="43137"/>
                          </a:srgbClr>
                        </a:outerShdw>
                      </a:effectLst>
                      <a:latin typeface="+mn-lt"/>
                    </a:rPr>
                    <a:t>使输出缓存中的内容立即输出</a:t>
                  </a:r>
                  <a:endParaRPr lang="zh-CN" altLang="en-US" sz="2000" dirty="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dirty="0">
                    <a:effectLst>
                      <a:outerShdw blurRad="38100" dist="38100" dir="2700000" algn="tl">
                        <a:srgbClr val="000000">
                          <a:alpha val="43137"/>
                        </a:srgbClr>
                      </a:outerShdw>
                    </a:effectLst>
                    <a:latin typeface="+mn-lt"/>
                  </a:endParaRPr>
                </a:p>
              </p:txBody>
            </p:sp>
            <p:sp>
              <p:nvSpPr>
                <p:cNvPr id="15403" name="Rectangle 31">
                  <a:extLst>
                    <a:ext uri="{FF2B5EF4-FFF2-40B4-BE49-F238E27FC236}">
                      <a16:creationId xmlns:a16="http://schemas.microsoft.com/office/drawing/2014/main" id="{734D8A75-73EB-ABDB-DDB4-0912B902D188}"/>
                    </a:ext>
                  </a:extLst>
                </p:cNvPr>
                <p:cNvSpPr>
                  <a:spLocks noChangeArrowheads="1"/>
                </p:cNvSpPr>
                <p:nvPr/>
              </p:nvSpPr>
              <p:spPr bwMode="auto">
                <a:xfrm>
                  <a:off x="1022" y="1038"/>
                  <a:ext cx="1814"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0" name="Group 34">
                <a:extLst>
                  <a:ext uri="{FF2B5EF4-FFF2-40B4-BE49-F238E27FC236}">
                    <a16:creationId xmlns:a16="http://schemas.microsoft.com/office/drawing/2014/main" id="{0FACA58A-7B52-D85E-E528-4AC124FC14EA}"/>
                  </a:ext>
                </a:extLst>
              </p:cNvPr>
              <p:cNvGrpSpPr>
                <a:grpSpLocks/>
              </p:cNvGrpSpPr>
              <p:nvPr/>
            </p:nvGrpSpPr>
            <p:grpSpPr bwMode="auto">
              <a:xfrm>
                <a:off x="0" y="1384"/>
                <a:ext cx="1022" cy="346"/>
                <a:chOff x="0" y="1384"/>
                <a:chExt cx="1022" cy="346"/>
              </a:xfrm>
            </p:grpSpPr>
            <p:sp>
              <p:nvSpPr>
                <p:cNvPr id="15400" name="Rectangle 11">
                  <a:extLst>
                    <a:ext uri="{FF2B5EF4-FFF2-40B4-BE49-F238E27FC236}">
                      <a16:creationId xmlns:a16="http://schemas.microsoft.com/office/drawing/2014/main" id="{4239E609-6816-0984-F24B-A0983B28DA2C}"/>
                    </a:ext>
                  </a:extLst>
                </p:cNvPr>
                <p:cNvSpPr>
                  <a:spLocks noChangeArrowheads="1"/>
                </p:cNvSpPr>
                <p:nvPr/>
              </p:nvSpPr>
              <p:spPr bwMode="auto">
                <a:xfrm>
                  <a:off x="43" y="1384"/>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a:effectLst>
                        <a:outerShdw blurRad="38100" dist="38100" dir="2700000" algn="tl">
                          <a:srgbClr val="000000">
                            <a:alpha val="43137"/>
                          </a:srgbClr>
                        </a:outerShdw>
                      </a:effectLst>
                      <a:latin typeface="+mn-lt"/>
                    </a:rPr>
                    <a:t>dec</a:t>
                  </a:r>
                  <a:endParaRPr lang="en-US" altLang="zh-CN"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401" name="Rectangle 33">
                  <a:extLst>
                    <a:ext uri="{FF2B5EF4-FFF2-40B4-BE49-F238E27FC236}">
                      <a16:creationId xmlns:a16="http://schemas.microsoft.com/office/drawing/2014/main" id="{A75B3FCC-8AF6-4354-0701-6D4CF5354DC3}"/>
                    </a:ext>
                  </a:extLst>
                </p:cNvPr>
                <p:cNvSpPr>
                  <a:spLocks noChangeArrowheads="1"/>
                </p:cNvSpPr>
                <p:nvPr/>
              </p:nvSpPr>
              <p:spPr bwMode="auto">
                <a:xfrm>
                  <a:off x="0" y="1384"/>
                  <a:ext cx="1022"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1" name="Group 36">
                <a:extLst>
                  <a:ext uri="{FF2B5EF4-FFF2-40B4-BE49-F238E27FC236}">
                    <a16:creationId xmlns:a16="http://schemas.microsoft.com/office/drawing/2014/main" id="{974B3B98-7652-32CC-0D13-B248292373D6}"/>
                  </a:ext>
                </a:extLst>
              </p:cNvPr>
              <p:cNvGrpSpPr>
                <a:grpSpLocks/>
              </p:cNvGrpSpPr>
              <p:nvPr/>
            </p:nvGrpSpPr>
            <p:grpSpPr bwMode="auto">
              <a:xfrm>
                <a:off x="1022" y="1384"/>
                <a:ext cx="1814" cy="346"/>
                <a:chOff x="1022" y="1384"/>
                <a:chExt cx="1814" cy="346"/>
              </a:xfrm>
            </p:grpSpPr>
            <p:sp>
              <p:nvSpPr>
                <p:cNvPr id="15398" name="Rectangle 12">
                  <a:extLst>
                    <a:ext uri="{FF2B5EF4-FFF2-40B4-BE49-F238E27FC236}">
                      <a16:creationId xmlns:a16="http://schemas.microsoft.com/office/drawing/2014/main" id="{B13D18A9-CEEF-C9BA-B7EC-E777B55A5A7E}"/>
                    </a:ext>
                  </a:extLst>
                </p:cNvPr>
                <p:cNvSpPr>
                  <a:spLocks noChangeArrowheads="1"/>
                </p:cNvSpPr>
                <p:nvPr/>
              </p:nvSpPr>
              <p:spPr bwMode="auto">
                <a:xfrm>
                  <a:off x="1065" y="1384"/>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a:effectLst>
                        <a:outerShdw blurRad="38100" dist="38100" dir="2700000" algn="tl">
                          <a:srgbClr val="000000">
                            <a:alpha val="43137"/>
                          </a:srgbClr>
                        </a:outerShdw>
                      </a:effectLst>
                      <a:latin typeface="+mn-lt"/>
                    </a:rPr>
                    <a:t>十进制输出</a:t>
                  </a:r>
                  <a:endParaRPr lang="zh-CN" altLang="en-US"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399" name="Rectangle 35">
                  <a:extLst>
                    <a:ext uri="{FF2B5EF4-FFF2-40B4-BE49-F238E27FC236}">
                      <a16:creationId xmlns:a16="http://schemas.microsoft.com/office/drawing/2014/main" id="{1015B96F-94FE-E808-AC73-9C829CE95E23}"/>
                    </a:ext>
                  </a:extLst>
                </p:cNvPr>
                <p:cNvSpPr>
                  <a:spLocks noChangeArrowheads="1"/>
                </p:cNvSpPr>
                <p:nvPr/>
              </p:nvSpPr>
              <p:spPr bwMode="auto">
                <a:xfrm>
                  <a:off x="1022" y="1384"/>
                  <a:ext cx="1814"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2" name="Group 38">
                <a:extLst>
                  <a:ext uri="{FF2B5EF4-FFF2-40B4-BE49-F238E27FC236}">
                    <a16:creationId xmlns:a16="http://schemas.microsoft.com/office/drawing/2014/main" id="{0886A367-49E7-A77A-F2FB-D2D009A46AD0}"/>
                  </a:ext>
                </a:extLst>
              </p:cNvPr>
              <p:cNvGrpSpPr>
                <a:grpSpLocks/>
              </p:cNvGrpSpPr>
              <p:nvPr/>
            </p:nvGrpSpPr>
            <p:grpSpPr bwMode="auto">
              <a:xfrm>
                <a:off x="0" y="1730"/>
                <a:ext cx="1022" cy="346"/>
                <a:chOff x="0" y="1730"/>
                <a:chExt cx="1022" cy="346"/>
              </a:xfrm>
            </p:grpSpPr>
            <p:sp>
              <p:nvSpPr>
                <p:cNvPr id="15396" name="Rectangle 13">
                  <a:extLst>
                    <a:ext uri="{FF2B5EF4-FFF2-40B4-BE49-F238E27FC236}">
                      <a16:creationId xmlns:a16="http://schemas.microsoft.com/office/drawing/2014/main" id="{ABD29EFC-7A2B-EE1D-A319-370285D2B696}"/>
                    </a:ext>
                  </a:extLst>
                </p:cNvPr>
                <p:cNvSpPr>
                  <a:spLocks noChangeArrowheads="1"/>
                </p:cNvSpPr>
                <p:nvPr/>
              </p:nvSpPr>
              <p:spPr bwMode="auto">
                <a:xfrm>
                  <a:off x="43" y="1730"/>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a:effectLst>
                        <a:outerShdw blurRad="38100" dist="38100" dir="2700000" algn="tl">
                          <a:srgbClr val="000000">
                            <a:alpha val="43137"/>
                          </a:srgbClr>
                        </a:outerShdw>
                      </a:effectLst>
                      <a:latin typeface="+mn-lt"/>
                    </a:rPr>
                    <a:t>oct</a:t>
                  </a:r>
                  <a:endParaRPr lang="en-US" altLang="zh-CN"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397" name="Rectangle 37">
                  <a:extLst>
                    <a:ext uri="{FF2B5EF4-FFF2-40B4-BE49-F238E27FC236}">
                      <a16:creationId xmlns:a16="http://schemas.microsoft.com/office/drawing/2014/main" id="{952FAB02-82C1-B439-ECDE-C2F4C26D6BE4}"/>
                    </a:ext>
                  </a:extLst>
                </p:cNvPr>
                <p:cNvSpPr>
                  <a:spLocks noChangeArrowheads="1"/>
                </p:cNvSpPr>
                <p:nvPr/>
              </p:nvSpPr>
              <p:spPr bwMode="auto">
                <a:xfrm>
                  <a:off x="0" y="1730"/>
                  <a:ext cx="1022"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3" name="Group 40">
                <a:extLst>
                  <a:ext uri="{FF2B5EF4-FFF2-40B4-BE49-F238E27FC236}">
                    <a16:creationId xmlns:a16="http://schemas.microsoft.com/office/drawing/2014/main" id="{66A04678-BA75-3C59-4FA9-81C682EDA383}"/>
                  </a:ext>
                </a:extLst>
              </p:cNvPr>
              <p:cNvGrpSpPr>
                <a:grpSpLocks/>
              </p:cNvGrpSpPr>
              <p:nvPr/>
            </p:nvGrpSpPr>
            <p:grpSpPr bwMode="auto">
              <a:xfrm>
                <a:off x="1022" y="1730"/>
                <a:ext cx="1814" cy="346"/>
                <a:chOff x="1022" y="1730"/>
                <a:chExt cx="1814" cy="346"/>
              </a:xfrm>
            </p:grpSpPr>
            <p:sp>
              <p:nvSpPr>
                <p:cNvPr id="15394" name="Rectangle 14">
                  <a:extLst>
                    <a:ext uri="{FF2B5EF4-FFF2-40B4-BE49-F238E27FC236}">
                      <a16:creationId xmlns:a16="http://schemas.microsoft.com/office/drawing/2014/main" id="{A3E7D577-84D5-C165-3EFC-59CA8665E94E}"/>
                    </a:ext>
                  </a:extLst>
                </p:cNvPr>
                <p:cNvSpPr>
                  <a:spLocks noChangeArrowheads="1"/>
                </p:cNvSpPr>
                <p:nvPr/>
              </p:nvSpPr>
              <p:spPr bwMode="auto">
                <a:xfrm>
                  <a:off x="1065" y="1730"/>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a:effectLst>
                        <a:outerShdw blurRad="38100" dist="38100" dir="2700000" algn="tl">
                          <a:srgbClr val="000000">
                            <a:alpha val="43137"/>
                          </a:srgbClr>
                        </a:outerShdw>
                      </a:effectLst>
                      <a:latin typeface="+mn-lt"/>
                    </a:rPr>
                    <a:t>八进制输出</a:t>
                  </a:r>
                  <a:endParaRPr lang="zh-CN" altLang="en-US"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395" name="Rectangle 39">
                  <a:extLst>
                    <a:ext uri="{FF2B5EF4-FFF2-40B4-BE49-F238E27FC236}">
                      <a16:creationId xmlns:a16="http://schemas.microsoft.com/office/drawing/2014/main" id="{C9157472-EBD1-403D-61C9-92096DF19093}"/>
                    </a:ext>
                  </a:extLst>
                </p:cNvPr>
                <p:cNvSpPr>
                  <a:spLocks noChangeArrowheads="1"/>
                </p:cNvSpPr>
                <p:nvPr/>
              </p:nvSpPr>
              <p:spPr bwMode="auto">
                <a:xfrm>
                  <a:off x="1022" y="1730"/>
                  <a:ext cx="1814" cy="34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4" name="Group 42">
                <a:extLst>
                  <a:ext uri="{FF2B5EF4-FFF2-40B4-BE49-F238E27FC236}">
                    <a16:creationId xmlns:a16="http://schemas.microsoft.com/office/drawing/2014/main" id="{9C9F365B-F5B0-536D-5EEE-D3153B06E25C}"/>
                  </a:ext>
                </a:extLst>
              </p:cNvPr>
              <p:cNvGrpSpPr>
                <a:grpSpLocks/>
              </p:cNvGrpSpPr>
              <p:nvPr/>
            </p:nvGrpSpPr>
            <p:grpSpPr bwMode="auto">
              <a:xfrm>
                <a:off x="0" y="2076"/>
                <a:ext cx="1022" cy="346"/>
                <a:chOff x="0" y="2076"/>
                <a:chExt cx="1022" cy="346"/>
              </a:xfrm>
            </p:grpSpPr>
            <p:sp>
              <p:nvSpPr>
                <p:cNvPr id="15392" name="Rectangle 15">
                  <a:extLst>
                    <a:ext uri="{FF2B5EF4-FFF2-40B4-BE49-F238E27FC236}">
                      <a16:creationId xmlns:a16="http://schemas.microsoft.com/office/drawing/2014/main" id="{3820D1B3-2F6E-71D0-D251-FBC96965EE9C}"/>
                    </a:ext>
                  </a:extLst>
                </p:cNvPr>
                <p:cNvSpPr>
                  <a:spLocks noChangeArrowheads="1"/>
                </p:cNvSpPr>
                <p:nvPr/>
              </p:nvSpPr>
              <p:spPr bwMode="auto">
                <a:xfrm>
                  <a:off x="43" y="2076"/>
                  <a:ext cx="93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a:effectLst>
                        <a:outerShdw blurRad="38100" dist="38100" dir="2700000" algn="tl">
                          <a:srgbClr val="000000">
                            <a:alpha val="43137"/>
                          </a:srgbClr>
                        </a:outerShdw>
                      </a:effectLst>
                      <a:latin typeface="+mn-lt"/>
                    </a:rPr>
                    <a:t>hex</a:t>
                  </a:r>
                  <a:endParaRPr lang="en-US" altLang="zh-CN"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393" name="Rectangle 41">
                  <a:extLst>
                    <a:ext uri="{FF2B5EF4-FFF2-40B4-BE49-F238E27FC236}">
                      <a16:creationId xmlns:a16="http://schemas.microsoft.com/office/drawing/2014/main" id="{F73A0D78-6998-57EA-B9DF-0EE91F8924AB}"/>
                    </a:ext>
                  </a:extLst>
                </p:cNvPr>
                <p:cNvSpPr>
                  <a:spLocks noChangeArrowheads="1"/>
                </p:cNvSpPr>
                <p:nvPr/>
              </p:nvSpPr>
              <p:spPr bwMode="auto">
                <a:xfrm>
                  <a:off x="0" y="2076"/>
                  <a:ext cx="1022" cy="33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5" name="Group 44">
                <a:extLst>
                  <a:ext uri="{FF2B5EF4-FFF2-40B4-BE49-F238E27FC236}">
                    <a16:creationId xmlns:a16="http://schemas.microsoft.com/office/drawing/2014/main" id="{8105E48B-A727-8FA6-D000-4F52B2E25DBB}"/>
                  </a:ext>
                </a:extLst>
              </p:cNvPr>
              <p:cNvGrpSpPr>
                <a:grpSpLocks/>
              </p:cNvGrpSpPr>
              <p:nvPr/>
            </p:nvGrpSpPr>
            <p:grpSpPr bwMode="auto">
              <a:xfrm>
                <a:off x="1022" y="2076"/>
                <a:ext cx="1814" cy="346"/>
                <a:chOff x="1022" y="2076"/>
                <a:chExt cx="1814" cy="346"/>
              </a:xfrm>
            </p:grpSpPr>
            <p:sp>
              <p:nvSpPr>
                <p:cNvPr id="15390" name="Rectangle 16">
                  <a:extLst>
                    <a:ext uri="{FF2B5EF4-FFF2-40B4-BE49-F238E27FC236}">
                      <a16:creationId xmlns:a16="http://schemas.microsoft.com/office/drawing/2014/main" id="{CB1FAACA-EE27-70E1-9CA8-5A40BFBAF417}"/>
                    </a:ext>
                  </a:extLst>
                </p:cNvPr>
                <p:cNvSpPr>
                  <a:spLocks noChangeArrowheads="1"/>
                </p:cNvSpPr>
                <p:nvPr/>
              </p:nvSpPr>
              <p:spPr bwMode="auto">
                <a:xfrm>
                  <a:off x="1065" y="2076"/>
                  <a:ext cx="172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GB" sz="2000">
                      <a:effectLst>
                        <a:outerShdw blurRad="38100" dist="38100" dir="2700000" algn="tl">
                          <a:srgbClr val="000000">
                            <a:alpha val="43137"/>
                          </a:srgbClr>
                        </a:outerShdw>
                      </a:effectLst>
                      <a:latin typeface="+mn-lt"/>
                    </a:rPr>
                    <a:t>十六进制输出</a:t>
                  </a:r>
                  <a:endParaRPr lang="zh-CN" altLang="en-US" sz="200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a:effectLst>
                      <a:outerShdw blurRad="38100" dist="38100" dir="2700000" algn="tl">
                        <a:srgbClr val="000000">
                          <a:alpha val="43137"/>
                        </a:srgbClr>
                      </a:outerShdw>
                    </a:effectLst>
                    <a:latin typeface="+mn-lt"/>
                  </a:endParaRPr>
                </a:p>
              </p:txBody>
            </p:sp>
            <p:sp>
              <p:nvSpPr>
                <p:cNvPr id="15391" name="Rectangle 43">
                  <a:extLst>
                    <a:ext uri="{FF2B5EF4-FFF2-40B4-BE49-F238E27FC236}">
                      <a16:creationId xmlns:a16="http://schemas.microsoft.com/office/drawing/2014/main" id="{D557DD15-A86C-EE97-0A4A-CB03224E980B}"/>
                    </a:ext>
                  </a:extLst>
                </p:cNvPr>
                <p:cNvSpPr>
                  <a:spLocks noChangeArrowheads="1"/>
                </p:cNvSpPr>
                <p:nvPr/>
              </p:nvSpPr>
              <p:spPr bwMode="auto">
                <a:xfrm>
                  <a:off x="1022" y="2076"/>
                  <a:ext cx="1814" cy="33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6" name="Group 46">
                <a:extLst>
                  <a:ext uri="{FF2B5EF4-FFF2-40B4-BE49-F238E27FC236}">
                    <a16:creationId xmlns:a16="http://schemas.microsoft.com/office/drawing/2014/main" id="{027EEE04-DF56-4493-6487-427070A6D2B1}"/>
                  </a:ext>
                </a:extLst>
              </p:cNvPr>
              <p:cNvGrpSpPr>
                <a:grpSpLocks/>
              </p:cNvGrpSpPr>
              <p:nvPr/>
            </p:nvGrpSpPr>
            <p:grpSpPr bwMode="auto">
              <a:xfrm>
                <a:off x="0" y="2422"/>
                <a:ext cx="1022" cy="461"/>
                <a:chOff x="0" y="2422"/>
                <a:chExt cx="1022" cy="461"/>
              </a:xfrm>
            </p:grpSpPr>
            <p:sp>
              <p:nvSpPr>
                <p:cNvPr id="15388" name="Rectangle 17">
                  <a:extLst>
                    <a:ext uri="{FF2B5EF4-FFF2-40B4-BE49-F238E27FC236}">
                      <a16:creationId xmlns:a16="http://schemas.microsoft.com/office/drawing/2014/main" id="{5DB04A3C-4934-B24F-27BB-47A9627192B8}"/>
                    </a:ext>
                  </a:extLst>
                </p:cNvPr>
                <p:cNvSpPr>
                  <a:spLocks noChangeArrowheads="1"/>
                </p:cNvSpPr>
                <p:nvPr/>
              </p:nvSpPr>
              <p:spPr bwMode="auto">
                <a:xfrm>
                  <a:off x="43" y="2422"/>
                  <a:ext cx="93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en-GB" altLang="zh-CN" sz="2000" dirty="0" err="1">
                      <a:effectLst>
                        <a:outerShdw blurRad="38100" dist="38100" dir="2700000" algn="tl">
                          <a:srgbClr val="000000">
                            <a:alpha val="43137"/>
                          </a:srgbClr>
                        </a:outerShdw>
                      </a:effectLst>
                      <a:latin typeface="+mn-lt"/>
                    </a:rPr>
                    <a:t>setprecision</a:t>
                  </a:r>
                  <a:r>
                    <a:rPr lang="en-GB" altLang="zh-CN" sz="2000" dirty="0">
                      <a:effectLst>
                        <a:outerShdw blurRad="38100" dist="38100" dir="2700000" algn="tl">
                          <a:srgbClr val="000000">
                            <a:alpha val="43137"/>
                          </a:srgbClr>
                        </a:outerShdw>
                      </a:effectLst>
                      <a:latin typeface="+mn-lt"/>
                    </a:rPr>
                    <a:t>(</a:t>
                  </a:r>
                  <a:r>
                    <a:rPr lang="en-GB" altLang="zh-CN" sz="2000" dirty="0" err="1">
                      <a:effectLst>
                        <a:outerShdw blurRad="38100" dist="38100" dir="2700000" algn="tl">
                          <a:srgbClr val="000000">
                            <a:alpha val="43137"/>
                          </a:srgbClr>
                        </a:outerShdw>
                      </a:effectLst>
                      <a:latin typeface="+mn-lt"/>
                    </a:rPr>
                    <a:t>int</a:t>
                  </a:r>
                  <a:r>
                    <a:rPr lang="en-GB" altLang="zh-CN" sz="2000" dirty="0">
                      <a:effectLst>
                        <a:outerShdw blurRad="38100" dist="38100" dir="2700000" algn="tl">
                          <a:srgbClr val="000000">
                            <a:alpha val="43137"/>
                          </a:srgbClr>
                        </a:outerShdw>
                      </a:effectLst>
                      <a:latin typeface="+mn-lt"/>
                    </a:rPr>
                    <a:t> n)</a:t>
                  </a:r>
                  <a:endParaRPr lang="en-US" altLang="zh-CN" sz="2000" dirty="0">
                    <a:effectLst>
                      <a:outerShdw blurRad="38100" dist="38100" dir="2700000" algn="tl">
                        <a:srgbClr val="000000">
                          <a:alpha val="43137"/>
                        </a:srgbClr>
                      </a:outerShdw>
                    </a:effectLst>
                    <a:latin typeface="+mn-lt"/>
                  </a:endParaRPr>
                </a:p>
                <a:p>
                  <a:pPr algn="just">
                    <a:spcBef>
                      <a:spcPct val="0"/>
                    </a:spcBef>
                    <a:buClrTx/>
                    <a:buSzTx/>
                    <a:buFontTx/>
                    <a:buNone/>
                    <a:defRPr/>
                  </a:pPr>
                  <a:endParaRPr lang="en-US" altLang="zh-CN" sz="2000" dirty="0">
                    <a:effectLst>
                      <a:outerShdw blurRad="38100" dist="38100" dir="2700000" algn="tl">
                        <a:srgbClr val="000000">
                          <a:alpha val="43137"/>
                        </a:srgbClr>
                      </a:outerShdw>
                    </a:effectLst>
                    <a:latin typeface="+mn-lt"/>
                  </a:endParaRPr>
                </a:p>
              </p:txBody>
            </p:sp>
            <p:sp>
              <p:nvSpPr>
                <p:cNvPr id="15389" name="Rectangle 45">
                  <a:extLst>
                    <a:ext uri="{FF2B5EF4-FFF2-40B4-BE49-F238E27FC236}">
                      <a16:creationId xmlns:a16="http://schemas.microsoft.com/office/drawing/2014/main" id="{F87B9479-F6CC-ECF3-D47D-52F85F79D780}"/>
                    </a:ext>
                  </a:extLst>
                </p:cNvPr>
                <p:cNvSpPr>
                  <a:spLocks noChangeArrowheads="1"/>
                </p:cNvSpPr>
                <p:nvPr/>
              </p:nvSpPr>
              <p:spPr bwMode="auto">
                <a:xfrm>
                  <a:off x="0" y="2422"/>
                  <a:ext cx="1022"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7" name="Group 48">
                <a:extLst>
                  <a:ext uri="{FF2B5EF4-FFF2-40B4-BE49-F238E27FC236}">
                    <a16:creationId xmlns:a16="http://schemas.microsoft.com/office/drawing/2014/main" id="{351168C1-FBC3-0AEB-731E-D914C0C87156}"/>
                  </a:ext>
                </a:extLst>
              </p:cNvPr>
              <p:cNvGrpSpPr>
                <a:grpSpLocks/>
              </p:cNvGrpSpPr>
              <p:nvPr/>
            </p:nvGrpSpPr>
            <p:grpSpPr bwMode="auto">
              <a:xfrm>
                <a:off x="1022" y="2422"/>
                <a:ext cx="1814" cy="461"/>
                <a:chOff x="1022" y="2422"/>
                <a:chExt cx="1814" cy="461"/>
              </a:xfrm>
            </p:grpSpPr>
            <p:sp>
              <p:nvSpPr>
                <p:cNvPr id="15386" name="Rectangle 18">
                  <a:extLst>
                    <a:ext uri="{FF2B5EF4-FFF2-40B4-BE49-F238E27FC236}">
                      <a16:creationId xmlns:a16="http://schemas.microsoft.com/office/drawing/2014/main" id="{5E24163A-3AF1-DAD6-7B40-C36AE9EBC906}"/>
                    </a:ext>
                  </a:extLst>
                </p:cNvPr>
                <p:cNvSpPr>
                  <a:spLocks noChangeArrowheads="1"/>
                </p:cNvSpPr>
                <p:nvPr/>
              </p:nvSpPr>
              <p:spPr bwMode="auto">
                <a:xfrm>
                  <a:off x="1065" y="2422"/>
                  <a:ext cx="1728"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just" eaLnBrk="1" hangingPunct="1">
                    <a:spcBef>
                      <a:spcPct val="0"/>
                    </a:spcBef>
                    <a:buClrTx/>
                    <a:buSzTx/>
                    <a:buFontTx/>
                    <a:buNone/>
                    <a:defRPr/>
                  </a:pPr>
                  <a:r>
                    <a:rPr lang="zh-CN" altLang="en-US" sz="2000" dirty="0">
                      <a:effectLst>
                        <a:outerShdw blurRad="38100" dist="38100" dir="2700000" algn="tl">
                          <a:srgbClr val="000000">
                            <a:alpha val="43137"/>
                          </a:srgbClr>
                        </a:outerShdw>
                      </a:effectLst>
                      <a:latin typeface="+mn-lt"/>
                    </a:rPr>
                    <a:t>设置浮点数的精度（由输出格式决定是有效数字的个数还是小数点后数字的位数）</a:t>
                  </a:r>
                </a:p>
              </p:txBody>
            </p:sp>
            <p:sp>
              <p:nvSpPr>
                <p:cNvPr id="15387" name="Rectangle 47">
                  <a:extLst>
                    <a:ext uri="{FF2B5EF4-FFF2-40B4-BE49-F238E27FC236}">
                      <a16:creationId xmlns:a16="http://schemas.microsoft.com/office/drawing/2014/main" id="{B54B45E0-6738-581D-D827-125E580011E6}"/>
                    </a:ext>
                  </a:extLst>
                </p:cNvPr>
                <p:cNvSpPr>
                  <a:spLocks noChangeArrowheads="1"/>
                </p:cNvSpPr>
                <p:nvPr/>
              </p:nvSpPr>
              <p:spPr bwMode="auto">
                <a:xfrm>
                  <a:off x="1022" y="2422"/>
                  <a:ext cx="1814" cy="46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8" name="Group 50">
                <a:extLst>
                  <a:ext uri="{FF2B5EF4-FFF2-40B4-BE49-F238E27FC236}">
                    <a16:creationId xmlns:a16="http://schemas.microsoft.com/office/drawing/2014/main" id="{0A37E41B-4B01-9B4E-FCFE-665C42F9674B}"/>
                  </a:ext>
                </a:extLst>
              </p:cNvPr>
              <p:cNvGrpSpPr>
                <a:grpSpLocks/>
              </p:cNvGrpSpPr>
              <p:nvPr/>
            </p:nvGrpSpPr>
            <p:grpSpPr bwMode="auto">
              <a:xfrm>
                <a:off x="0" y="2883"/>
                <a:ext cx="1022" cy="806"/>
                <a:chOff x="0" y="2883"/>
                <a:chExt cx="1022" cy="806"/>
              </a:xfrm>
            </p:grpSpPr>
            <p:sp>
              <p:nvSpPr>
                <p:cNvPr id="22547" name="Rectangle 19">
                  <a:extLst>
                    <a:ext uri="{FF2B5EF4-FFF2-40B4-BE49-F238E27FC236}">
                      <a16:creationId xmlns:a16="http://schemas.microsoft.com/office/drawing/2014/main" id="{B0E92E41-43EF-7489-BE23-5828AAC47611}"/>
                    </a:ext>
                  </a:extLst>
                </p:cNvPr>
                <p:cNvSpPr>
                  <a:spLocks noChangeArrowheads="1"/>
                </p:cNvSpPr>
                <p:nvPr/>
              </p:nvSpPr>
              <p:spPr bwMode="auto">
                <a:xfrm>
                  <a:off x="43" y="2883"/>
                  <a:ext cx="936" cy="806"/>
                </a:xfrm>
                <a:prstGeom prst="rect">
                  <a:avLst/>
                </a:prstGeom>
                <a:noFill/>
                <a:ln w="9525">
                  <a:noFill/>
                  <a:miter lim="800000"/>
                  <a:headEnd/>
                  <a:tailEnd/>
                </a:ln>
                <a:effectLst/>
              </p:spPr>
              <p:txBody>
                <a:bodyPr/>
                <a:lstStyle/>
                <a:p>
                  <a:pPr eaLnBrk="1" hangingPunct="1">
                    <a:defRPr/>
                  </a:pPr>
                  <a:r>
                    <a:rPr lang="en-GB" altLang="zh-CN" dirty="0" err="1">
                      <a:effectLst>
                        <a:outerShdw blurRad="38100" dist="38100" dir="2700000" algn="tl">
                          <a:srgbClr val="000000">
                            <a:alpha val="43137"/>
                          </a:srgbClr>
                        </a:outerShdw>
                      </a:effectLst>
                      <a:latin typeface="+mn-lt"/>
                    </a:rPr>
                    <a:t>setiosflags</a:t>
                  </a:r>
                  <a:r>
                    <a:rPr lang="en-GB" altLang="zh-CN" dirty="0">
                      <a:effectLst>
                        <a:outerShdw blurRad="38100" dist="38100" dir="2700000" algn="tl">
                          <a:srgbClr val="000000">
                            <a:alpha val="43137"/>
                          </a:srgbClr>
                        </a:outerShdw>
                      </a:effectLst>
                      <a:latin typeface="+mn-lt"/>
                    </a:rPr>
                    <a:t>(long flags)/</a:t>
                  </a:r>
                </a:p>
                <a:p>
                  <a:pPr eaLnBrk="1" hangingPunct="1">
                    <a:defRPr/>
                  </a:pPr>
                  <a:r>
                    <a:rPr lang="en-GB" altLang="zh-CN" dirty="0" err="1">
                      <a:effectLst>
                        <a:outerShdw blurRad="38100" dist="38100" dir="2700000" algn="tl">
                          <a:srgbClr val="000000">
                            <a:alpha val="43137"/>
                          </a:srgbClr>
                        </a:outerShdw>
                      </a:effectLst>
                      <a:latin typeface="+mn-lt"/>
                    </a:rPr>
                    <a:t>resetiosflags</a:t>
                  </a:r>
                  <a:r>
                    <a:rPr lang="en-GB" altLang="zh-CN" dirty="0">
                      <a:effectLst>
                        <a:outerShdw blurRad="38100" dist="38100" dir="2700000" algn="tl">
                          <a:srgbClr val="000000">
                            <a:alpha val="43137"/>
                          </a:srgbClr>
                        </a:outerShdw>
                      </a:effectLst>
                      <a:latin typeface="+mn-lt"/>
                    </a:rPr>
                    <a:t>(long flags)</a:t>
                  </a:r>
                  <a:r>
                    <a:rPr lang="en-US" altLang="zh-CN" dirty="0">
                      <a:effectLst>
                        <a:outerShdw blurRad="38100" dist="38100" dir="2700000" algn="tl">
                          <a:srgbClr val="000000">
                            <a:alpha val="43137"/>
                          </a:srgbClr>
                        </a:outerShdw>
                      </a:effectLst>
                      <a:latin typeface="+mn-lt"/>
                    </a:rPr>
                    <a:t> </a:t>
                  </a:r>
                </a:p>
              </p:txBody>
            </p:sp>
            <p:sp>
              <p:nvSpPr>
                <p:cNvPr id="15385" name="Rectangle 49">
                  <a:extLst>
                    <a:ext uri="{FF2B5EF4-FFF2-40B4-BE49-F238E27FC236}">
                      <a16:creationId xmlns:a16="http://schemas.microsoft.com/office/drawing/2014/main" id="{AC7BB3E3-22C9-9D0B-951D-6806531CCFFE}"/>
                    </a:ext>
                  </a:extLst>
                </p:cNvPr>
                <p:cNvSpPr>
                  <a:spLocks noChangeArrowheads="1"/>
                </p:cNvSpPr>
                <p:nvPr/>
              </p:nvSpPr>
              <p:spPr bwMode="auto">
                <a:xfrm>
                  <a:off x="0" y="2883"/>
                  <a:ext cx="1022" cy="80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nvGrpSpPr>
              <p:cNvPr id="17429" name="Group 52">
                <a:extLst>
                  <a:ext uri="{FF2B5EF4-FFF2-40B4-BE49-F238E27FC236}">
                    <a16:creationId xmlns:a16="http://schemas.microsoft.com/office/drawing/2014/main" id="{D125883A-A045-7605-15A1-F0DCD1DD6928}"/>
                  </a:ext>
                </a:extLst>
              </p:cNvPr>
              <p:cNvGrpSpPr>
                <a:grpSpLocks/>
              </p:cNvGrpSpPr>
              <p:nvPr/>
            </p:nvGrpSpPr>
            <p:grpSpPr bwMode="auto">
              <a:xfrm>
                <a:off x="1022" y="2883"/>
                <a:ext cx="1814" cy="806"/>
                <a:chOff x="1022" y="2883"/>
                <a:chExt cx="1814" cy="806"/>
              </a:xfrm>
            </p:grpSpPr>
            <p:sp>
              <p:nvSpPr>
                <p:cNvPr id="15382" name="Rectangle 20">
                  <a:extLst>
                    <a:ext uri="{FF2B5EF4-FFF2-40B4-BE49-F238E27FC236}">
                      <a16:creationId xmlns:a16="http://schemas.microsoft.com/office/drawing/2014/main" id="{A5C9D71A-79FC-75F7-08D1-4C52D23EAC55}"/>
                    </a:ext>
                  </a:extLst>
                </p:cNvPr>
                <p:cNvSpPr>
                  <a:spLocks noChangeArrowheads="1"/>
                </p:cNvSpPr>
                <p:nvPr/>
              </p:nvSpPr>
              <p:spPr bwMode="auto">
                <a:xfrm>
                  <a:off x="1065" y="2883"/>
                  <a:ext cx="1728"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r>
                    <a:rPr lang="zh-CN" altLang="en-GB" sz="2000" dirty="0">
                      <a:effectLst>
                        <a:outerShdw blurRad="38100" dist="38100" dir="2700000" algn="tl">
                          <a:srgbClr val="000000">
                            <a:alpha val="43137"/>
                          </a:srgbClr>
                        </a:outerShdw>
                      </a:effectLst>
                      <a:latin typeface="+mn-lt"/>
                    </a:rPr>
                    <a:t>设置</a:t>
                  </a:r>
                  <a:r>
                    <a:rPr lang="en-GB" altLang="zh-CN" sz="2000" dirty="0">
                      <a:effectLst>
                        <a:outerShdw blurRad="38100" dist="38100" dir="2700000" algn="tl">
                          <a:srgbClr val="000000">
                            <a:alpha val="43137"/>
                          </a:srgbClr>
                        </a:outerShdw>
                      </a:effectLst>
                      <a:latin typeface="+mn-lt"/>
                    </a:rPr>
                    <a:t>/</a:t>
                  </a:r>
                  <a:r>
                    <a:rPr lang="zh-CN" altLang="en-US" sz="2000" dirty="0">
                      <a:effectLst>
                        <a:outerShdw blurRad="38100" dist="38100" dir="2700000" algn="tl">
                          <a:srgbClr val="000000">
                            <a:alpha val="43137"/>
                          </a:srgbClr>
                        </a:outerShdw>
                      </a:effectLst>
                      <a:latin typeface="+mn-lt"/>
                    </a:rPr>
                    <a:t>重置</a:t>
                  </a:r>
                  <a:r>
                    <a:rPr lang="zh-CN" altLang="en-GB" sz="2000" dirty="0">
                      <a:effectLst>
                        <a:outerShdw blurRad="38100" dist="38100" dir="2700000" algn="tl">
                          <a:srgbClr val="000000">
                            <a:alpha val="43137"/>
                          </a:srgbClr>
                        </a:outerShdw>
                      </a:effectLst>
                      <a:latin typeface="+mn-lt"/>
                    </a:rPr>
                    <a:t>输出格式，</a:t>
                  </a:r>
                  <a:r>
                    <a:rPr lang="en-GB" altLang="zh-CN" sz="2000" dirty="0">
                      <a:effectLst>
                        <a:outerShdw blurRad="38100" dist="38100" dir="2700000" algn="tl">
                          <a:srgbClr val="000000">
                            <a:alpha val="43137"/>
                          </a:srgbClr>
                        </a:outerShdw>
                      </a:effectLst>
                      <a:latin typeface="+mn-lt"/>
                    </a:rPr>
                    <a:t>flags</a:t>
                  </a:r>
                  <a:r>
                    <a:rPr lang="zh-CN" altLang="en-GB" sz="2000" dirty="0">
                      <a:effectLst>
                        <a:outerShdw blurRad="38100" dist="38100" dir="2700000" algn="tl">
                          <a:srgbClr val="000000">
                            <a:alpha val="43137"/>
                          </a:srgbClr>
                        </a:outerShdw>
                      </a:effectLst>
                      <a:latin typeface="+mn-lt"/>
                    </a:rPr>
                    <a:t>的取值可以是：</a:t>
                  </a:r>
                </a:p>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latin typeface="+mn-lt"/>
                    </a:rPr>
                    <a:t>ios</a:t>
                  </a:r>
                  <a:r>
                    <a:rPr lang="en-GB" altLang="zh-CN" sz="2000" dirty="0">
                      <a:effectLst>
                        <a:outerShdw blurRad="38100" dist="38100" dir="2700000" algn="tl">
                          <a:srgbClr val="000000">
                            <a:alpha val="43137"/>
                          </a:srgbClr>
                        </a:outerShdw>
                      </a:effectLst>
                      <a:latin typeface="+mn-lt"/>
                    </a:rPr>
                    <a:t>::scientific</a:t>
                  </a:r>
                  <a:r>
                    <a:rPr lang="zh-CN" altLang="en-GB" sz="2000" dirty="0">
                      <a:effectLst>
                        <a:outerShdw blurRad="38100" dist="38100" dir="2700000" algn="tl">
                          <a:srgbClr val="000000">
                            <a:alpha val="43137"/>
                          </a:srgbClr>
                        </a:outerShdw>
                      </a:effectLst>
                      <a:latin typeface="+mn-lt"/>
                    </a:rPr>
                    <a:t>（以指数形式显示浮点数），</a:t>
                  </a:r>
                </a:p>
                <a:p>
                  <a:pPr eaLnBrk="1" hangingPunct="1">
                    <a:spcBef>
                      <a:spcPct val="0"/>
                    </a:spcBef>
                    <a:buClrTx/>
                    <a:buSzTx/>
                    <a:buFontTx/>
                    <a:buNone/>
                    <a:defRPr/>
                  </a:pPr>
                  <a:r>
                    <a:rPr lang="en-GB" altLang="zh-CN" sz="2000" dirty="0" err="1">
                      <a:effectLst>
                        <a:outerShdw blurRad="38100" dist="38100" dir="2700000" algn="tl">
                          <a:srgbClr val="000000">
                            <a:alpha val="43137"/>
                          </a:srgbClr>
                        </a:outerShdw>
                      </a:effectLst>
                      <a:latin typeface="+mn-lt"/>
                    </a:rPr>
                    <a:t>ios</a:t>
                  </a:r>
                  <a:r>
                    <a:rPr lang="en-GB" altLang="zh-CN" sz="2000" dirty="0">
                      <a:effectLst>
                        <a:outerShdw blurRad="38100" dist="38100" dir="2700000" algn="tl">
                          <a:srgbClr val="000000">
                            <a:alpha val="43137"/>
                          </a:srgbClr>
                        </a:outerShdw>
                      </a:effectLst>
                      <a:latin typeface="+mn-lt"/>
                    </a:rPr>
                    <a:t>::fixed</a:t>
                  </a:r>
                  <a:r>
                    <a:rPr lang="zh-CN" altLang="en-GB" sz="2000" dirty="0">
                      <a:effectLst>
                        <a:outerShdw blurRad="38100" dist="38100" dir="2700000" algn="tl">
                          <a:srgbClr val="000000">
                            <a:alpha val="43137"/>
                          </a:srgbClr>
                        </a:outerShdw>
                      </a:effectLst>
                      <a:latin typeface="+mn-lt"/>
                    </a:rPr>
                    <a:t>（以小数形式显示浮点数），等等</a:t>
                  </a:r>
                  <a:endParaRPr lang="zh-CN" altLang="en-US" sz="2000" dirty="0">
                    <a:effectLst>
                      <a:outerShdw blurRad="38100" dist="38100" dir="2700000" algn="tl">
                        <a:srgbClr val="000000">
                          <a:alpha val="43137"/>
                        </a:srgbClr>
                      </a:outerShdw>
                    </a:effectLst>
                    <a:latin typeface="+mn-lt"/>
                  </a:endParaRPr>
                </a:p>
              </p:txBody>
            </p:sp>
            <p:sp>
              <p:nvSpPr>
                <p:cNvPr id="15383" name="Rectangle 51">
                  <a:extLst>
                    <a:ext uri="{FF2B5EF4-FFF2-40B4-BE49-F238E27FC236}">
                      <a16:creationId xmlns:a16="http://schemas.microsoft.com/office/drawing/2014/main" id="{D8FBBD13-18DF-61B6-2966-71732436F39C}"/>
                    </a:ext>
                  </a:extLst>
                </p:cNvPr>
                <p:cNvSpPr>
                  <a:spLocks noChangeArrowheads="1"/>
                </p:cNvSpPr>
                <p:nvPr/>
              </p:nvSpPr>
              <p:spPr bwMode="auto">
                <a:xfrm>
                  <a:off x="1022" y="2883"/>
                  <a:ext cx="1814" cy="80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grpSp>
        <p:sp>
          <p:nvSpPr>
            <p:cNvPr id="15365" name="Rectangle 54">
              <a:extLst>
                <a:ext uri="{FF2B5EF4-FFF2-40B4-BE49-F238E27FC236}">
                  <a16:creationId xmlns:a16="http://schemas.microsoft.com/office/drawing/2014/main" id="{3437A8D2-37D0-5004-92E4-EEBA26E0D73D}"/>
                </a:ext>
              </a:extLst>
            </p:cNvPr>
            <p:cNvSpPr>
              <a:spLocks noChangeArrowheads="1"/>
            </p:cNvSpPr>
            <p:nvPr/>
          </p:nvSpPr>
          <p:spPr bwMode="auto">
            <a:xfrm>
              <a:off x="-3" y="343"/>
              <a:ext cx="2842" cy="3349"/>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defRPr/>
              </a:pPr>
              <a:endParaRPr lang="zh-CN" altLang="en-US" sz="1800">
                <a:effectLst>
                  <a:outerShdw blurRad="38100" dist="38100" dir="2700000" algn="tl">
                    <a:srgbClr val="000000">
                      <a:alpha val="43137"/>
                    </a:srgbClr>
                  </a:outerShdw>
                </a:effectLst>
                <a:latin typeface="+mn-lt"/>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91FD2B8-5D9F-D3AA-0210-C801B6B13E77}"/>
              </a:ext>
            </a:extLst>
          </p:cNvPr>
          <p:cNvSpPr>
            <a:spLocks noGrp="1" noChangeArrowheads="1"/>
          </p:cNvSpPr>
          <p:nvPr>
            <p:ph type="title"/>
          </p:nvPr>
        </p:nvSpPr>
        <p:spPr/>
        <p:txBody>
          <a:bodyPr/>
          <a:lstStyle/>
          <a:p>
            <a:pPr eaLnBrk="1" hangingPunct="1">
              <a:defRPr/>
            </a:pPr>
            <a:endParaRPr lang="zh-CN" altLang="zh-CN"/>
          </a:p>
        </p:txBody>
      </p:sp>
      <p:sp>
        <p:nvSpPr>
          <p:cNvPr id="97283" name="Rectangle 3">
            <a:extLst>
              <a:ext uri="{FF2B5EF4-FFF2-40B4-BE49-F238E27FC236}">
                <a16:creationId xmlns:a16="http://schemas.microsoft.com/office/drawing/2014/main" id="{F130BB08-3904-7841-844D-D301E20AA078}"/>
              </a:ext>
            </a:extLst>
          </p:cNvPr>
          <p:cNvSpPr>
            <a:spLocks noGrp="1" noChangeArrowheads="1"/>
          </p:cNvSpPr>
          <p:nvPr>
            <p:ph type="body" idx="1"/>
          </p:nvPr>
        </p:nvSpPr>
        <p:spPr>
          <a:xfrm>
            <a:off x="179388" y="1600200"/>
            <a:ext cx="8507412" cy="4530725"/>
          </a:xfrm>
        </p:spPr>
        <p:txBody>
          <a:bodyPr/>
          <a:lstStyle/>
          <a:p>
            <a:pPr eaLnBrk="1" hangingPunct="1">
              <a:defRPr/>
            </a:pPr>
            <a:r>
              <a:rPr lang="zh-CN" altLang="en-GB" dirty="0"/>
              <a:t>对于浮点数（</a:t>
            </a:r>
            <a:r>
              <a:rPr lang="en-GB" altLang="zh-CN" sz="2800" dirty="0"/>
              <a:t>float</a:t>
            </a:r>
            <a:r>
              <a:rPr lang="zh-CN" altLang="en-GB" sz="2800" dirty="0"/>
              <a:t>、</a:t>
            </a:r>
            <a:r>
              <a:rPr lang="en-GB" altLang="zh-CN" sz="2800" dirty="0"/>
              <a:t>double</a:t>
            </a:r>
            <a:r>
              <a:rPr lang="zh-CN" altLang="en-GB" sz="2800" dirty="0"/>
              <a:t>和</a:t>
            </a:r>
            <a:r>
              <a:rPr lang="en-GB" altLang="zh-CN" sz="2800" dirty="0"/>
              <a:t>long double</a:t>
            </a:r>
            <a:r>
              <a:rPr lang="zh-CN" altLang="en-GB" dirty="0"/>
              <a:t>）：</a:t>
            </a:r>
          </a:p>
          <a:p>
            <a:pPr lvl="1" eaLnBrk="1" hangingPunct="1">
              <a:defRPr/>
            </a:pPr>
            <a:r>
              <a:rPr lang="zh-CN" altLang="en-GB" dirty="0"/>
              <a:t>当输出格式为</a:t>
            </a:r>
            <a:r>
              <a:rPr lang="en-GB" altLang="zh-CN" dirty="0" err="1"/>
              <a:t>ios</a:t>
            </a:r>
            <a:r>
              <a:rPr lang="en-GB" altLang="zh-CN" dirty="0"/>
              <a:t>::scientific</a:t>
            </a:r>
            <a:r>
              <a:rPr lang="zh-CN" altLang="en-GB" dirty="0"/>
              <a:t>或</a:t>
            </a:r>
            <a:r>
              <a:rPr lang="en-GB" altLang="zh-CN" dirty="0" err="1"/>
              <a:t>ios</a:t>
            </a:r>
            <a:r>
              <a:rPr lang="en-GB" altLang="zh-CN" dirty="0"/>
              <a:t>::fixed</a:t>
            </a:r>
            <a:r>
              <a:rPr lang="zh-CN" altLang="en-GB" dirty="0"/>
              <a:t>时，操纵符</a:t>
            </a:r>
            <a:r>
              <a:rPr lang="en-GB" altLang="zh-CN" dirty="0" err="1"/>
              <a:t>setprecision</a:t>
            </a:r>
            <a:r>
              <a:rPr lang="zh-CN" altLang="en-GB" dirty="0"/>
              <a:t>用于设置浮点数小数点后面的位数；</a:t>
            </a:r>
          </a:p>
          <a:p>
            <a:pPr lvl="1" eaLnBrk="1" hangingPunct="1">
              <a:defRPr/>
            </a:pPr>
            <a:r>
              <a:rPr lang="zh-CN" altLang="en-GB" dirty="0"/>
              <a:t>当输出格式</a:t>
            </a:r>
            <a:r>
              <a:rPr lang="zh-CN" altLang="en-US" dirty="0"/>
              <a:t>为自动方式（</a:t>
            </a:r>
            <a:r>
              <a:rPr lang="zh-CN" altLang="en-GB" dirty="0"/>
              <a:t>既不</a:t>
            </a:r>
            <a:r>
              <a:rPr lang="zh-CN" altLang="en-US" dirty="0"/>
              <a:t>是</a:t>
            </a:r>
            <a:r>
              <a:rPr lang="en-GB" altLang="zh-CN" dirty="0" err="1"/>
              <a:t>ios</a:t>
            </a:r>
            <a:r>
              <a:rPr lang="en-GB" altLang="zh-CN" dirty="0"/>
              <a:t>::scientific</a:t>
            </a:r>
            <a:r>
              <a:rPr lang="zh-CN" altLang="en-GB" dirty="0"/>
              <a:t>也不</a:t>
            </a:r>
            <a:r>
              <a:rPr lang="zh-CN" altLang="en-US" dirty="0"/>
              <a:t>是</a:t>
            </a:r>
            <a:r>
              <a:rPr lang="en-GB" altLang="zh-CN" dirty="0" err="1"/>
              <a:t>ios</a:t>
            </a:r>
            <a:r>
              <a:rPr lang="en-GB" altLang="zh-CN" dirty="0"/>
              <a:t>::fixed</a:t>
            </a:r>
            <a:r>
              <a:rPr lang="zh-CN" altLang="en-GB" dirty="0"/>
              <a:t>，或两者都</a:t>
            </a:r>
            <a:r>
              <a:rPr lang="zh-CN" altLang="en-US" dirty="0"/>
              <a:t>设了）</a:t>
            </a:r>
            <a:r>
              <a:rPr lang="zh-CN" altLang="en-GB" dirty="0"/>
              <a:t>时，操纵符</a:t>
            </a:r>
            <a:r>
              <a:rPr lang="en-GB" altLang="zh-CN" dirty="0" err="1"/>
              <a:t>setprecision</a:t>
            </a:r>
            <a:r>
              <a:rPr lang="zh-CN" altLang="en-GB" dirty="0"/>
              <a:t>用于设置浮点数有效数字的个数，这时的输出格式根据有效数字自动确定。</a:t>
            </a:r>
            <a:r>
              <a:rPr lang="zh-CN" alt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a:extLst>
              <a:ext uri="{FF2B5EF4-FFF2-40B4-BE49-F238E27FC236}">
                <a16:creationId xmlns:a16="http://schemas.microsoft.com/office/drawing/2014/main" id="{1E2B2CF3-8C0E-7A88-E5B8-47681B00B2FF}"/>
              </a:ext>
            </a:extLst>
          </p:cNvPr>
          <p:cNvSpPr>
            <a:spLocks noGrp="1" noChangeArrowheads="1"/>
          </p:cNvSpPr>
          <p:nvPr>
            <p:ph type="body" idx="1"/>
          </p:nvPr>
        </p:nvSpPr>
        <p:spPr>
          <a:xfrm>
            <a:off x="314325" y="692150"/>
            <a:ext cx="8578850" cy="5545138"/>
          </a:xfrm>
        </p:spPr>
        <p:txBody>
          <a:bodyPr>
            <a:normAutofit/>
          </a:bodyPr>
          <a:lstStyle/>
          <a:p>
            <a:pPr eaLnBrk="1" hangingPunct="1">
              <a:defRPr/>
            </a:pPr>
            <a:r>
              <a:rPr lang="zh-CN" altLang="en-GB" sz="2800" dirty="0"/>
              <a:t>用</a:t>
            </a:r>
            <a:r>
              <a:rPr lang="en-GB" altLang="zh-CN" sz="2400" dirty="0" err="1"/>
              <a:t>ostream</a:t>
            </a:r>
            <a:r>
              <a:rPr lang="zh-CN" altLang="en-GB" sz="2800" dirty="0"/>
              <a:t>类的</a:t>
            </a:r>
            <a:r>
              <a:rPr lang="zh-CN" altLang="en-US" sz="2800" dirty="0"/>
              <a:t>成员函数进行基于</a:t>
            </a:r>
            <a:r>
              <a:rPr lang="zh-CN" altLang="en-GB" sz="2800" dirty="0">
                <a:solidFill>
                  <a:srgbClr val="FFC000"/>
                </a:solidFill>
              </a:rPr>
              <a:t>字节</a:t>
            </a:r>
            <a:r>
              <a:rPr lang="zh-CN" altLang="en-GB" sz="2800" dirty="0"/>
              <a:t>的输出</a:t>
            </a:r>
            <a:r>
              <a:rPr lang="zh-CN" altLang="en-US" sz="2800" dirty="0"/>
              <a:t>操作。</a:t>
            </a:r>
            <a:r>
              <a:rPr lang="zh-CN" altLang="en-GB" sz="2800" dirty="0"/>
              <a:t>例如：</a:t>
            </a:r>
          </a:p>
          <a:p>
            <a:pPr lvl="1" eaLnBrk="1" hangingPunct="1">
              <a:buFontTx/>
              <a:buNone/>
              <a:defRPr/>
            </a:pPr>
            <a:r>
              <a:rPr lang="en-GB" altLang="zh-CN" sz="2400" dirty="0"/>
              <a:t>//</a:t>
            </a:r>
            <a:r>
              <a:rPr lang="zh-CN" altLang="en-GB" sz="2400" dirty="0"/>
              <a:t>输出一个字</a:t>
            </a:r>
            <a:r>
              <a:rPr lang="zh-CN" altLang="en-US" sz="2400" dirty="0"/>
              <a:t>节</a:t>
            </a:r>
            <a:r>
              <a:rPr lang="zh-CN" altLang="en-GB" sz="2400" dirty="0"/>
              <a:t>。</a:t>
            </a:r>
          </a:p>
          <a:p>
            <a:pPr lvl="1" eaLnBrk="1" hangingPunct="1">
              <a:buFontTx/>
              <a:buNone/>
              <a:defRPr/>
            </a:pPr>
            <a:r>
              <a:rPr lang="en-GB" altLang="zh-CN" sz="2400" dirty="0" err="1"/>
              <a:t>ostream</a:t>
            </a:r>
            <a:r>
              <a:rPr lang="en-GB" altLang="zh-CN" sz="2400" dirty="0"/>
              <a:t>&amp; </a:t>
            </a:r>
            <a:r>
              <a:rPr lang="en-GB" altLang="zh-CN" sz="2400" dirty="0" err="1"/>
              <a:t>ostream</a:t>
            </a:r>
            <a:r>
              <a:rPr lang="en-GB" altLang="zh-CN" sz="2400" dirty="0"/>
              <a:t>::</a:t>
            </a:r>
            <a:r>
              <a:rPr lang="en-GB" altLang="zh-CN" sz="2400" dirty="0">
                <a:solidFill>
                  <a:srgbClr val="FFC000"/>
                </a:solidFill>
              </a:rPr>
              <a:t>put</a:t>
            </a:r>
            <a:r>
              <a:rPr lang="en-GB" altLang="zh-CN" sz="2400" dirty="0"/>
              <a:t>(char </a:t>
            </a:r>
            <a:r>
              <a:rPr lang="en-GB" altLang="zh-CN" sz="2400" dirty="0" err="1"/>
              <a:t>ch</a:t>
            </a:r>
            <a:r>
              <a:rPr lang="en-GB" altLang="zh-CN" sz="2400" dirty="0"/>
              <a:t>); </a:t>
            </a:r>
          </a:p>
          <a:p>
            <a:pPr lvl="1" eaLnBrk="1" hangingPunct="1">
              <a:buFontTx/>
              <a:buNone/>
              <a:defRPr/>
            </a:pPr>
            <a:r>
              <a:rPr lang="en-GB" altLang="zh-CN" sz="2400" dirty="0" err="1"/>
              <a:t>cout.put</a:t>
            </a:r>
            <a:r>
              <a:rPr lang="en-GB" altLang="zh-CN" sz="2400" dirty="0"/>
              <a:t>('A');</a:t>
            </a:r>
          </a:p>
          <a:p>
            <a:pPr lvl="1" eaLnBrk="1" hangingPunct="1">
              <a:buFontTx/>
              <a:buNone/>
              <a:defRPr/>
            </a:pPr>
            <a:r>
              <a:rPr lang="en-GB" altLang="zh-CN" sz="2400" dirty="0"/>
              <a:t>//</a:t>
            </a:r>
            <a:r>
              <a:rPr lang="zh-CN" altLang="en-GB" sz="2400" dirty="0"/>
              <a:t>输出</a:t>
            </a:r>
            <a:r>
              <a:rPr lang="en-GB" altLang="zh-CN" sz="2400" dirty="0"/>
              <a:t>p</a:t>
            </a:r>
            <a:r>
              <a:rPr lang="zh-CN" altLang="en-GB" sz="2400" dirty="0"/>
              <a:t>所指向的内存空间中</a:t>
            </a:r>
            <a:r>
              <a:rPr lang="en-GB" altLang="zh-CN" sz="2400" dirty="0"/>
              <a:t>count</a:t>
            </a:r>
            <a:r>
              <a:rPr lang="zh-CN" altLang="en-GB" sz="2400" dirty="0"/>
              <a:t>个字节。</a:t>
            </a:r>
          </a:p>
          <a:p>
            <a:pPr lvl="1" eaLnBrk="1" hangingPunct="1">
              <a:buFontTx/>
              <a:buNone/>
              <a:defRPr/>
            </a:pPr>
            <a:r>
              <a:rPr lang="en-GB" altLang="zh-CN" sz="2400" dirty="0" err="1"/>
              <a:t>ostream</a:t>
            </a:r>
            <a:r>
              <a:rPr lang="en-GB" altLang="zh-CN" sz="2400" dirty="0"/>
              <a:t>&amp; </a:t>
            </a:r>
            <a:r>
              <a:rPr lang="en-GB" altLang="zh-CN" sz="2400" dirty="0" err="1"/>
              <a:t>ostream</a:t>
            </a:r>
            <a:r>
              <a:rPr lang="en-GB" altLang="zh-CN" sz="2400" dirty="0"/>
              <a:t>::</a:t>
            </a:r>
            <a:r>
              <a:rPr lang="en-GB" altLang="zh-CN" sz="2400" dirty="0">
                <a:solidFill>
                  <a:srgbClr val="FFC000"/>
                </a:solidFill>
              </a:rPr>
              <a:t>write</a:t>
            </a:r>
            <a:r>
              <a:rPr lang="en-GB" altLang="zh-CN" sz="2400" dirty="0"/>
              <a:t>(</a:t>
            </a:r>
            <a:r>
              <a:rPr lang="en-GB" altLang="zh-CN" sz="2400" dirty="0" err="1"/>
              <a:t>const</a:t>
            </a:r>
            <a:r>
              <a:rPr lang="en-GB" altLang="zh-CN" sz="2400" dirty="0"/>
              <a:t> char *</a:t>
            </a:r>
            <a:r>
              <a:rPr lang="en-GB" altLang="zh-CN" sz="2400" dirty="0" err="1"/>
              <a:t>p,int</a:t>
            </a:r>
            <a:r>
              <a:rPr lang="en-GB" altLang="zh-CN" sz="2400" dirty="0"/>
              <a:t> count);</a:t>
            </a:r>
          </a:p>
          <a:p>
            <a:pPr lvl="1" eaLnBrk="1" hangingPunct="1">
              <a:buFontTx/>
              <a:buNone/>
              <a:defRPr/>
            </a:pPr>
            <a:r>
              <a:rPr lang="en-GB" altLang="zh-CN" sz="2400" dirty="0"/>
              <a:t>char info[100];  </a:t>
            </a:r>
          </a:p>
          <a:p>
            <a:pPr lvl="1" eaLnBrk="1" hangingPunct="1">
              <a:buFontTx/>
              <a:buNone/>
              <a:defRPr/>
            </a:pPr>
            <a:r>
              <a:rPr lang="en-US" altLang="zh-CN" sz="2400" dirty="0" err="1"/>
              <a:t>int</a:t>
            </a:r>
            <a:r>
              <a:rPr lang="en-US" altLang="zh-CN" sz="2400" dirty="0"/>
              <a:t> n;</a:t>
            </a:r>
            <a:endParaRPr lang="en-GB" altLang="zh-CN" sz="2400" dirty="0"/>
          </a:p>
          <a:p>
            <a:pPr lvl="1" eaLnBrk="1" hangingPunct="1">
              <a:buFontTx/>
              <a:buNone/>
              <a:defRPr/>
            </a:pPr>
            <a:r>
              <a:rPr lang="en-GB" altLang="zh-CN" sz="2400" dirty="0"/>
              <a:t>......</a:t>
            </a:r>
          </a:p>
          <a:p>
            <a:pPr lvl="1" eaLnBrk="1" hangingPunct="1">
              <a:buFontTx/>
              <a:buNone/>
              <a:defRPr/>
            </a:pPr>
            <a:r>
              <a:rPr lang="en-GB" altLang="zh-CN" sz="2400" dirty="0" err="1"/>
              <a:t>cout.write</a:t>
            </a:r>
            <a:r>
              <a:rPr lang="en-GB" altLang="zh-CN" sz="2400" dirty="0"/>
              <a:t>(</a:t>
            </a:r>
            <a:r>
              <a:rPr lang="en-GB" altLang="zh-CN" sz="2400" dirty="0" err="1"/>
              <a:t>info,n</a:t>
            </a:r>
            <a:r>
              <a:rPr lang="en-GB" altLang="zh-CN" sz="2400" dirty="0"/>
              <a:t>); </a:t>
            </a:r>
            <a:endParaRPr lang="en-US" altLang="zh-C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941F964-4B29-FC7D-4D38-CB6886A7A12A}"/>
              </a:ext>
            </a:extLst>
          </p:cNvPr>
          <p:cNvSpPr>
            <a:spLocks noGrp="1" noChangeArrowheads="1"/>
          </p:cNvSpPr>
          <p:nvPr>
            <p:ph type="title"/>
          </p:nvPr>
        </p:nvSpPr>
        <p:spPr>
          <a:xfrm>
            <a:off x="457200" y="430213"/>
            <a:ext cx="8229600" cy="712787"/>
          </a:xfrm>
        </p:spPr>
        <p:txBody>
          <a:bodyPr/>
          <a:lstStyle/>
          <a:p>
            <a:pPr eaLnBrk="1" hangingPunct="1">
              <a:defRPr/>
            </a:pPr>
            <a:r>
              <a:rPr lang="zh-CN" altLang="en-GB" dirty="0">
                <a:latin typeface="Times New Roman" pitchFamily="18" charset="0"/>
              </a:rPr>
              <a:t>控制台输入</a:t>
            </a:r>
            <a:r>
              <a:rPr lang="zh-CN" altLang="en-US" dirty="0">
                <a:latin typeface="Times New Roman" pitchFamily="18" charset="0"/>
              </a:rPr>
              <a:t>操作</a:t>
            </a:r>
            <a:endParaRPr lang="zh-CN" altLang="en-US" dirty="0"/>
          </a:p>
        </p:txBody>
      </p:sp>
      <p:sp>
        <p:nvSpPr>
          <p:cNvPr id="21507" name="Rectangle 3">
            <a:extLst>
              <a:ext uri="{FF2B5EF4-FFF2-40B4-BE49-F238E27FC236}">
                <a16:creationId xmlns:a16="http://schemas.microsoft.com/office/drawing/2014/main" id="{736B1626-A319-ED1F-3DF1-FA7C0F511D00}"/>
              </a:ext>
            </a:extLst>
          </p:cNvPr>
          <p:cNvSpPr>
            <a:spLocks noGrp="1" noChangeArrowheads="1"/>
          </p:cNvSpPr>
          <p:nvPr>
            <p:ph type="body" idx="1"/>
          </p:nvPr>
        </p:nvSpPr>
        <p:spPr>
          <a:xfrm>
            <a:off x="457200" y="1524000"/>
            <a:ext cx="8229600" cy="5000625"/>
          </a:xfrm>
        </p:spPr>
        <p:txBody>
          <a:bodyPr>
            <a:normAutofit fontScale="92500" lnSpcReduction="20000"/>
          </a:bodyPr>
          <a:lstStyle/>
          <a:p>
            <a:pPr eaLnBrk="1" hangingPunct="1">
              <a:lnSpc>
                <a:spcPct val="120000"/>
              </a:lnSpc>
              <a:defRPr/>
            </a:pPr>
            <a:r>
              <a:rPr lang="zh-CN" altLang="en-US" dirty="0">
                <a:cs typeface="Courier New" pitchFamily="49" charset="0"/>
              </a:rPr>
              <a:t>用</a:t>
            </a:r>
            <a:r>
              <a:rPr lang="en-US" altLang="zh-CN" dirty="0">
                <a:cs typeface="Courier New" pitchFamily="49" charset="0"/>
              </a:rPr>
              <a:t>&gt;&gt;</a:t>
            </a:r>
            <a:r>
              <a:rPr lang="zh-CN" altLang="en-US" dirty="0">
                <a:cs typeface="Courier New" pitchFamily="49" charset="0"/>
              </a:rPr>
              <a:t>操作符进行</a:t>
            </a:r>
            <a:r>
              <a:rPr lang="zh-CN" altLang="en-US" dirty="0">
                <a:solidFill>
                  <a:srgbClr val="FFC000"/>
                </a:solidFill>
                <a:cs typeface="Courier New" pitchFamily="49" charset="0"/>
              </a:rPr>
              <a:t>基本数据类型</a:t>
            </a:r>
            <a:r>
              <a:rPr lang="zh-CN" altLang="en-US" dirty="0">
                <a:cs typeface="Courier New" pitchFamily="49" charset="0"/>
              </a:rPr>
              <a:t>数据的输入。例如：</a:t>
            </a:r>
            <a:endParaRPr lang="en-US" altLang="zh-CN" dirty="0">
              <a:cs typeface="Courier New" pitchFamily="49" charset="0"/>
            </a:endParaRPr>
          </a:p>
          <a:p>
            <a:pPr lvl="1" eaLnBrk="1" hangingPunct="1">
              <a:lnSpc>
                <a:spcPct val="120000"/>
              </a:lnSpc>
              <a:buFontTx/>
              <a:buNone/>
              <a:defRPr/>
            </a:pPr>
            <a:r>
              <a:rPr lang="en-US" altLang="zh-CN" sz="2400" dirty="0">
                <a:cs typeface="Courier New" pitchFamily="49" charset="0"/>
              </a:rPr>
              <a:t>#include &lt;</a:t>
            </a:r>
            <a:r>
              <a:rPr lang="en-US" altLang="zh-CN" sz="2400" dirty="0" err="1">
                <a:cs typeface="Courier New" pitchFamily="49" charset="0"/>
              </a:rPr>
              <a:t>iostream</a:t>
            </a:r>
            <a:r>
              <a:rPr lang="en-US" altLang="zh-CN" sz="2400" dirty="0">
                <a:cs typeface="Courier New" pitchFamily="49" charset="0"/>
              </a:rPr>
              <a:t>&gt;</a:t>
            </a:r>
          </a:p>
          <a:p>
            <a:pPr lvl="1" eaLnBrk="1" hangingPunct="1">
              <a:lnSpc>
                <a:spcPct val="120000"/>
              </a:lnSpc>
              <a:buFontTx/>
              <a:buNone/>
              <a:defRPr/>
            </a:pPr>
            <a:r>
              <a:rPr lang="en-US" altLang="zh-CN" sz="2400" dirty="0">
                <a:cs typeface="Courier New" pitchFamily="49" charset="0"/>
              </a:rPr>
              <a:t>using namespace </a:t>
            </a:r>
            <a:r>
              <a:rPr lang="en-US" altLang="zh-CN" sz="2400" dirty="0" err="1">
                <a:cs typeface="Courier New" pitchFamily="49" charset="0"/>
              </a:rPr>
              <a:t>std</a:t>
            </a:r>
            <a:r>
              <a:rPr lang="en-US" altLang="zh-CN" sz="2400" dirty="0">
                <a:cs typeface="Courier New" pitchFamily="49" charset="0"/>
              </a:rPr>
              <a:t>;</a:t>
            </a:r>
          </a:p>
          <a:p>
            <a:pPr lvl="1" eaLnBrk="1" hangingPunct="1">
              <a:lnSpc>
                <a:spcPct val="120000"/>
              </a:lnSpc>
              <a:buFontTx/>
              <a:buNone/>
              <a:defRPr/>
            </a:pPr>
            <a:r>
              <a:rPr lang="fr-FR" altLang="zh-CN" sz="2400" dirty="0">
                <a:cs typeface="Courier New" pitchFamily="49" charset="0"/>
              </a:rPr>
              <a:t>......</a:t>
            </a:r>
            <a:endParaRPr lang="en-US" altLang="zh-CN" sz="2400" dirty="0">
              <a:cs typeface="Courier New" pitchFamily="49" charset="0"/>
            </a:endParaRPr>
          </a:p>
          <a:p>
            <a:pPr lvl="1" eaLnBrk="1" hangingPunct="1">
              <a:lnSpc>
                <a:spcPct val="120000"/>
              </a:lnSpc>
              <a:buFontTx/>
              <a:buNone/>
              <a:defRPr/>
            </a:pPr>
            <a:r>
              <a:rPr lang="fr-FR" altLang="zh-CN" sz="2400" dirty="0">
                <a:cs typeface="Courier New" pitchFamily="49" charset="0"/>
              </a:rPr>
              <a:t>int x;</a:t>
            </a:r>
            <a:endParaRPr lang="en-US" altLang="zh-CN" sz="2400" dirty="0">
              <a:cs typeface="Courier New" pitchFamily="49" charset="0"/>
            </a:endParaRPr>
          </a:p>
          <a:p>
            <a:pPr lvl="1" eaLnBrk="1" hangingPunct="1">
              <a:lnSpc>
                <a:spcPct val="120000"/>
              </a:lnSpc>
              <a:buFontTx/>
              <a:buNone/>
              <a:defRPr/>
            </a:pPr>
            <a:r>
              <a:rPr lang="fr-FR" altLang="zh-CN" sz="2400" dirty="0">
                <a:cs typeface="Courier New" pitchFamily="49" charset="0"/>
              </a:rPr>
              <a:t>double y;</a:t>
            </a:r>
            <a:endParaRPr lang="en-US" altLang="zh-CN" sz="2400" dirty="0">
              <a:cs typeface="Courier New" pitchFamily="49" charset="0"/>
            </a:endParaRPr>
          </a:p>
          <a:p>
            <a:pPr lvl="1" eaLnBrk="1" hangingPunct="1">
              <a:lnSpc>
                <a:spcPct val="120000"/>
              </a:lnSpc>
              <a:buFontTx/>
              <a:buNone/>
              <a:defRPr/>
            </a:pPr>
            <a:r>
              <a:rPr lang="fr-FR" altLang="zh-CN" sz="2400" dirty="0">
                <a:cs typeface="Courier New" pitchFamily="49" charset="0"/>
              </a:rPr>
              <a:t>char str[10];</a:t>
            </a:r>
            <a:endParaRPr lang="en-US" altLang="zh-CN" sz="2400" dirty="0">
              <a:cs typeface="Courier New" pitchFamily="49" charset="0"/>
            </a:endParaRPr>
          </a:p>
          <a:p>
            <a:pPr lvl="1" eaLnBrk="1" hangingPunct="1">
              <a:lnSpc>
                <a:spcPct val="120000"/>
              </a:lnSpc>
              <a:buFontTx/>
              <a:buNone/>
              <a:defRPr/>
            </a:pPr>
            <a:r>
              <a:rPr lang="fr-FR" altLang="zh-CN" sz="2400" dirty="0">
                <a:cs typeface="Courier New" pitchFamily="49" charset="0"/>
              </a:rPr>
              <a:t>cin &gt;&gt; x; cin &gt;&gt; y; cin &gt;&gt; str;</a:t>
            </a:r>
          </a:p>
          <a:p>
            <a:pPr lvl="1" eaLnBrk="1" hangingPunct="1">
              <a:lnSpc>
                <a:spcPct val="120000"/>
              </a:lnSpc>
              <a:buFontTx/>
              <a:buNone/>
              <a:defRPr/>
            </a:pPr>
            <a:r>
              <a:rPr lang="zh-CN" altLang="fr-FR" sz="2400" dirty="0">
                <a:cs typeface="Courier New" pitchFamily="49" charset="0"/>
              </a:rPr>
              <a:t>或者</a:t>
            </a:r>
            <a:endParaRPr lang="zh-CN" altLang="en-US" sz="2400" dirty="0">
              <a:cs typeface="Courier New" pitchFamily="49" charset="0"/>
            </a:endParaRPr>
          </a:p>
          <a:p>
            <a:pPr lvl="1" eaLnBrk="1" hangingPunct="1">
              <a:lnSpc>
                <a:spcPct val="120000"/>
              </a:lnSpc>
              <a:buFontTx/>
              <a:buNone/>
              <a:defRPr/>
            </a:pPr>
            <a:r>
              <a:rPr lang="en-GB" altLang="zh-CN" sz="2400" dirty="0" err="1">
                <a:cs typeface="Courier New" pitchFamily="49" charset="0"/>
              </a:rPr>
              <a:t>cin</a:t>
            </a:r>
            <a:r>
              <a:rPr lang="en-GB" altLang="zh-CN" sz="2400" dirty="0">
                <a:cs typeface="Courier New" pitchFamily="49" charset="0"/>
              </a:rPr>
              <a:t> &gt;&gt; x &gt;&gt; y &gt;&gt; </a:t>
            </a:r>
            <a:r>
              <a:rPr lang="en-GB" altLang="zh-CN" sz="2400" dirty="0" err="1">
                <a:cs typeface="Courier New" pitchFamily="49" charset="0"/>
              </a:rPr>
              <a:t>str</a:t>
            </a:r>
            <a:r>
              <a:rPr lang="en-GB" altLang="zh-CN" sz="2400" dirty="0">
                <a:cs typeface="Courier New" pitchFamily="49" charset="0"/>
              </a:rPr>
              <a:t>;</a:t>
            </a:r>
            <a:endParaRPr lang="en-US" altLang="zh-CN" sz="2400" dirty="0">
              <a:cs typeface="Courier New"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a16="http://schemas.microsoft.com/office/drawing/2014/main" id="{C824F80D-AE91-7182-1C60-C720F99B8102}"/>
              </a:ext>
            </a:extLst>
          </p:cNvPr>
          <p:cNvSpPr>
            <a:spLocks noGrp="1" noChangeArrowheads="1"/>
          </p:cNvSpPr>
          <p:nvPr>
            <p:ph type="body" idx="1"/>
          </p:nvPr>
        </p:nvSpPr>
        <p:spPr>
          <a:xfrm>
            <a:off x="322263" y="909638"/>
            <a:ext cx="8570912" cy="5614987"/>
          </a:xfrm>
        </p:spPr>
        <p:txBody>
          <a:bodyPr/>
          <a:lstStyle/>
          <a:p>
            <a:pPr eaLnBrk="1" hangingPunct="1">
              <a:lnSpc>
                <a:spcPct val="120000"/>
              </a:lnSpc>
              <a:defRPr/>
            </a:pPr>
            <a:r>
              <a:rPr lang="zh-CN" altLang="en-GB" dirty="0">
                <a:cs typeface="Courier New" pitchFamily="49" charset="0"/>
              </a:rPr>
              <a:t>在输入</a:t>
            </a:r>
            <a:r>
              <a:rPr lang="zh-CN" altLang="en-US" dirty="0">
                <a:cs typeface="Courier New" pitchFamily="49" charset="0"/>
              </a:rPr>
              <a:t>时，</a:t>
            </a:r>
            <a:r>
              <a:rPr lang="zh-CN" altLang="en-GB" dirty="0">
                <a:cs typeface="Courier New" pitchFamily="49" charset="0"/>
              </a:rPr>
              <a:t>各个数据之间</a:t>
            </a:r>
            <a:r>
              <a:rPr lang="zh-CN" altLang="en-US" dirty="0">
                <a:cs typeface="Courier New" pitchFamily="49" charset="0"/>
              </a:rPr>
              <a:t>一般要</a:t>
            </a:r>
            <a:r>
              <a:rPr lang="zh-CN" altLang="en-GB" dirty="0">
                <a:cs typeface="Courier New" pitchFamily="49" charset="0"/>
              </a:rPr>
              <a:t>用</a:t>
            </a:r>
            <a:r>
              <a:rPr lang="zh-CN" altLang="en-GB" dirty="0">
                <a:solidFill>
                  <a:srgbClr val="FFC000"/>
                </a:solidFill>
                <a:cs typeface="Courier New" pitchFamily="49" charset="0"/>
              </a:rPr>
              <a:t>空白符</a:t>
            </a:r>
            <a:r>
              <a:rPr lang="zh-CN" altLang="en-US" dirty="0">
                <a:cs typeface="Courier New" pitchFamily="49" charset="0"/>
              </a:rPr>
              <a:t>（空格、</a:t>
            </a:r>
            <a:r>
              <a:rPr lang="en-US" altLang="zh-CN" dirty="0">
                <a:cs typeface="Courier New" pitchFamily="49" charset="0"/>
              </a:rPr>
              <a:t>\t</a:t>
            </a:r>
            <a:r>
              <a:rPr lang="zh-CN" altLang="en-US" dirty="0">
                <a:cs typeface="Courier New" pitchFamily="49" charset="0"/>
              </a:rPr>
              <a:t>、</a:t>
            </a:r>
            <a:r>
              <a:rPr lang="en-US" altLang="zh-CN" dirty="0">
                <a:cs typeface="Courier New" pitchFamily="49" charset="0"/>
              </a:rPr>
              <a:t>\n</a:t>
            </a:r>
            <a:r>
              <a:rPr lang="zh-CN" altLang="en-US" dirty="0">
                <a:cs typeface="Courier New" pitchFamily="49" charset="0"/>
              </a:rPr>
              <a:t>）</a:t>
            </a:r>
            <a:r>
              <a:rPr lang="zh-CN" altLang="en-GB" dirty="0">
                <a:cs typeface="Courier New" pitchFamily="49" charset="0"/>
              </a:rPr>
              <a:t>分开</a:t>
            </a:r>
            <a:r>
              <a:rPr lang="zh-CN" altLang="en-US" dirty="0">
                <a:cs typeface="Courier New" pitchFamily="49" charset="0"/>
              </a:rPr>
              <a:t>：</a:t>
            </a:r>
            <a:endParaRPr lang="en-US" altLang="zh-CN" dirty="0">
              <a:cs typeface="Courier New" pitchFamily="49" charset="0"/>
            </a:endParaRPr>
          </a:p>
          <a:p>
            <a:pPr lvl="1" eaLnBrk="1" hangingPunct="1">
              <a:lnSpc>
                <a:spcPct val="120000"/>
              </a:lnSpc>
              <a:defRPr/>
            </a:pPr>
            <a:r>
              <a:rPr lang="zh-CN" altLang="en-US" sz="2600" dirty="0"/>
              <a:t>输入一个数据前，先跳过空白符 </a:t>
            </a:r>
          </a:p>
          <a:p>
            <a:pPr lvl="1" eaLnBrk="1" hangingPunct="1">
              <a:lnSpc>
                <a:spcPct val="120000"/>
              </a:lnSpc>
              <a:defRPr/>
            </a:pPr>
            <a:r>
              <a:rPr lang="zh-CN" altLang="en-US" sz="2600" dirty="0"/>
              <a:t>输入一个数据的过程中，碰到空白符或当前数据类型不允许的字符时结束当前数据的输入</a:t>
            </a:r>
            <a:endParaRPr lang="en-US" altLang="zh-CN" sz="2600" dirty="0"/>
          </a:p>
          <a:p>
            <a:pPr eaLnBrk="1" hangingPunct="1">
              <a:defRPr/>
            </a:pPr>
            <a:r>
              <a:rPr lang="zh-CN" altLang="en-GB" dirty="0"/>
              <a:t>可以通过一些</a:t>
            </a:r>
            <a:r>
              <a:rPr lang="zh-CN" altLang="en-GB" dirty="0">
                <a:solidFill>
                  <a:srgbClr val="FFC000"/>
                </a:solidFill>
              </a:rPr>
              <a:t>操纵符</a:t>
            </a:r>
            <a:r>
              <a:rPr lang="zh-CN" altLang="en-GB" dirty="0"/>
              <a:t>来控制输入的行为，例如</a:t>
            </a:r>
            <a:r>
              <a:rPr lang="en-GB" altLang="zh-CN" dirty="0"/>
              <a:t>:</a:t>
            </a:r>
          </a:p>
          <a:p>
            <a:pPr lvl="1" eaLnBrk="1" hangingPunct="1">
              <a:buFontTx/>
              <a:buNone/>
              <a:defRPr/>
            </a:pPr>
            <a:r>
              <a:rPr lang="en-GB" altLang="zh-CN" sz="2400" dirty="0"/>
              <a:t>char </a:t>
            </a:r>
            <a:r>
              <a:rPr lang="en-GB" altLang="zh-CN" sz="2400" dirty="0" err="1"/>
              <a:t>str</a:t>
            </a:r>
            <a:r>
              <a:rPr lang="en-GB" altLang="zh-CN" sz="2400" dirty="0"/>
              <a:t>[10];</a:t>
            </a:r>
          </a:p>
          <a:p>
            <a:pPr lvl="1" eaLnBrk="1" hangingPunct="1">
              <a:buFontTx/>
              <a:buNone/>
              <a:defRPr/>
            </a:pPr>
            <a:r>
              <a:rPr lang="en-GB" altLang="zh-CN" sz="2400" dirty="0" err="1"/>
              <a:t>cin</a:t>
            </a:r>
            <a:r>
              <a:rPr lang="en-GB" altLang="zh-CN" sz="2400" dirty="0"/>
              <a:t> &gt;&gt; </a:t>
            </a:r>
            <a:r>
              <a:rPr lang="en-GB" altLang="zh-CN" sz="2400" dirty="0" err="1">
                <a:solidFill>
                  <a:srgbClr val="FFC000"/>
                </a:solidFill>
              </a:rPr>
              <a:t>setw</a:t>
            </a:r>
            <a:r>
              <a:rPr lang="en-GB" altLang="zh-CN" sz="2400" dirty="0"/>
              <a:t>(10) &gt;&gt; </a:t>
            </a:r>
            <a:r>
              <a:rPr lang="en-GB" altLang="zh-CN" sz="2400" dirty="0" err="1"/>
              <a:t>str</a:t>
            </a:r>
            <a:r>
              <a:rPr lang="en-GB" altLang="zh-CN" sz="2400" dirty="0"/>
              <a:t>; //</a:t>
            </a:r>
            <a:r>
              <a:rPr lang="zh-CN" altLang="en-GB" sz="2400" dirty="0"/>
              <a:t>把输入的字符</a:t>
            </a:r>
            <a:r>
              <a:rPr lang="zh-CN" altLang="en-US" sz="2400" dirty="0"/>
              <a:t>串</a:t>
            </a:r>
            <a:r>
              <a:rPr lang="zh-CN" altLang="en-GB" sz="2400" dirty="0"/>
              <a:t>和一个</a:t>
            </a:r>
            <a:r>
              <a:rPr lang="en-GB" altLang="zh-CN" sz="2400" dirty="0"/>
              <a:t>'\0'</a:t>
            </a:r>
          </a:p>
          <a:p>
            <a:pPr lvl="1" eaLnBrk="1" hangingPunct="1">
              <a:buFontTx/>
              <a:buNone/>
              <a:defRPr/>
            </a:pPr>
            <a:r>
              <a:rPr lang="en-GB" altLang="zh-CN" sz="2400" dirty="0"/>
              <a:t>					   //</a:t>
            </a:r>
            <a:r>
              <a:rPr lang="zh-CN" altLang="en-GB" sz="2400" dirty="0"/>
              <a:t>放入</a:t>
            </a:r>
            <a:r>
              <a:rPr lang="en-GB" altLang="zh-CN" sz="2400" dirty="0" err="1"/>
              <a:t>str</a:t>
            </a:r>
            <a:r>
              <a:rPr lang="zh-CN" altLang="en-GB" sz="2400" dirty="0"/>
              <a:t>中</a:t>
            </a:r>
            <a:r>
              <a:rPr lang="zh-CN" altLang="en-US" sz="2400" dirty="0"/>
              <a:t>，最多输入</a:t>
            </a:r>
            <a:r>
              <a:rPr lang="en-GB" altLang="zh-CN" sz="2400" dirty="0"/>
              <a:t>9</a:t>
            </a:r>
            <a:r>
              <a:rPr lang="zh-CN" altLang="en-US" sz="2400" dirty="0"/>
              <a:t>个字符</a:t>
            </a:r>
            <a:r>
              <a:rPr lang="zh-CN" altLang="en-GB" sz="24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E67CA3B-EF86-68A9-1595-1E954C7A72C5}"/>
              </a:ext>
            </a:extLst>
          </p:cNvPr>
          <p:cNvSpPr>
            <a:spLocks noGrp="1"/>
          </p:cNvSpPr>
          <p:nvPr>
            <p:ph idx="1"/>
          </p:nvPr>
        </p:nvSpPr>
        <p:spPr>
          <a:xfrm>
            <a:off x="323850" y="549275"/>
            <a:ext cx="8640763" cy="5975350"/>
          </a:xfrm>
        </p:spPr>
        <p:txBody>
          <a:bodyPr>
            <a:normAutofit/>
          </a:bodyPr>
          <a:lstStyle/>
          <a:p>
            <a:pPr eaLnBrk="1" hangingPunct="1">
              <a:defRPr/>
            </a:pPr>
            <a:r>
              <a:rPr lang="zh-CN" altLang="en-GB" sz="2800" dirty="0"/>
              <a:t>用</a:t>
            </a:r>
            <a:r>
              <a:rPr lang="en-GB" altLang="zh-CN" sz="2800" dirty="0" err="1"/>
              <a:t>istream</a:t>
            </a:r>
            <a:r>
              <a:rPr lang="zh-CN" altLang="en-GB" sz="2800" dirty="0"/>
              <a:t>类的成员函数进行基于</a:t>
            </a:r>
            <a:r>
              <a:rPr lang="zh-CN" altLang="en-GB" sz="2800" dirty="0">
                <a:solidFill>
                  <a:srgbClr val="FFC000"/>
                </a:solidFill>
              </a:rPr>
              <a:t>字节</a:t>
            </a:r>
            <a:r>
              <a:rPr lang="zh-CN" altLang="en-GB" sz="2800" dirty="0"/>
              <a:t>的输入</a:t>
            </a:r>
            <a:r>
              <a:rPr lang="zh-CN" altLang="en-US" sz="2800" dirty="0"/>
              <a:t>操作。</a:t>
            </a:r>
            <a:r>
              <a:rPr lang="zh-CN" altLang="en-GB" sz="2800" dirty="0"/>
              <a:t>例如：</a:t>
            </a:r>
          </a:p>
          <a:p>
            <a:pPr lvl="1" eaLnBrk="1" hangingPunct="1">
              <a:buFontTx/>
              <a:buNone/>
              <a:defRPr/>
            </a:pPr>
            <a:r>
              <a:rPr lang="en-GB" altLang="zh-CN" sz="2400" dirty="0"/>
              <a:t>//</a:t>
            </a:r>
            <a:r>
              <a:rPr lang="zh-CN" altLang="en-GB" sz="2400" dirty="0"/>
              <a:t>输入一个字</a:t>
            </a:r>
            <a:r>
              <a:rPr lang="zh-CN" altLang="en-US" sz="2400" dirty="0"/>
              <a:t>节</a:t>
            </a:r>
            <a:r>
              <a:rPr lang="zh-CN" altLang="en-GB" sz="2400" dirty="0"/>
              <a:t>。</a:t>
            </a:r>
          </a:p>
          <a:p>
            <a:pPr lvl="1" eaLnBrk="1" hangingPunct="1">
              <a:buFontTx/>
              <a:buNone/>
              <a:defRPr/>
            </a:pPr>
            <a:r>
              <a:rPr lang="en-US" altLang="zh-CN" sz="2400" dirty="0" err="1">
                <a:effectLst/>
              </a:rPr>
              <a:t>istream</a:t>
            </a:r>
            <a:r>
              <a:rPr lang="en-US" altLang="zh-CN" sz="2400" dirty="0">
                <a:effectLst/>
              </a:rPr>
              <a:t>&amp; </a:t>
            </a:r>
            <a:r>
              <a:rPr lang="en-GB" altLang="zh-CN" sz="2400" dirty="0" err="1"/>
              <a:t>istream</a:t>
            </a:r>
            <a:r>
              <a:rPr lang="en-GB" altLang="zh-CN" sz="2400" dirty="0"/>
              <a:t>::</a:t>
            </a:r>
            <a:r>
              <a:rPr lang="en-GB" altLang="zh-CN" sz="2400" dirty="0">
                <a:solidFill>
                  <a:srgbClr val="FFC000"/>
                </a:solidFill>
              </a:rPr>
              <a:t>get</a:t>
            </a:r>
            <a:r>
              <a:rPr lang="en-GB" altLang="zh-CN" sz="2400" dirty="0"/>
              <a:t>(char &amp;</a:t>
            </a:r>
            <a:r>
              <a:rPr lang="en-GB" altLang="zh-CN" sz="2400" dirty="0" err="1"/>
              <a:t>ch</a:t>
            </a:r>
            <a:r>
              <a:rPr lang="en-GB" altLang="zh-CN" sz="2400" dirty="0"/>
              <a:t>); </a:t>
            </a:r>
          </a:p>
          <a:p>
            <a:pPr lvl="1" eaLnBrk="1" hangingPunct="1">
              <a:buFontTx/>
              <a:buNone/>
              <a:defRPr/>
            </a:pPr>
            <a:r>
              <a:rPr lang="en-GB" altLang="zh-CN" sz="2400" dirty="0"/>
              <a:t>//</a:t>
            </a:r>
            <a:r>
              <a:rPr lang="zh-CN" altLang="en-US" sz="2400" dirty="0"/>
              <a:t>输</a:t>
            </a:r>
            <a:r>
              <a:rPr lang="zh-CN" altLang="en-GB" sz="2400" dirty="0"/>
              <a:t>入</a:t>
            </a:r>
            <a:r>
              <a:rPr lang="en-GB" altLang="zh-CN" sz="2400" dirty="0"/>
              <a:t>count</a:t>
            </a:r>
            <a:r>
              <a:rPr lang="zh-CN" altLang="en-GB" sz="2400" dirty="0"/>
              <a:t>个字</a:t>
            </a:r>
            <a:r>
              <a:rPr lang="zh-CN" altLang="en-US" sz="2400" dirty="0"/>
              <a:t>节</a:t>
            </a:r>
            <a:r>
              <a:rPr lang="zh-CN" altLang="en-GB" sz="2400" dirty="0"/>
              <a:t>至</a:t>
            </a:r>
            <a:r>
              <a:rPr lang="en-GB" altLang="zh-CN" sz="2400" dirty="0"/>
              <a:t>p</a:t>
            </a:r>
            <a:r>
              <a:rPr lang="zh-CN" altLang="en-GB" sz="2400" dirty="0"/>
              <a:t>所指向的内存空间中。</a:t>
            </a:r>
          </a:p>
          <a:p>
            <a:pPr lvl="1" eaLnBrk="1" hangingPunct="1">
              <a:buFontTx/>
              <a:buNone/>
              <a:defRPr/>
            </a:pPr>
            <a:r>
              <a:rPr lang="en-US" altLang="zh-CN" sz="2400" dirty="0" err="1">
                <a:effectLst/>
              </a:rPr>
              <a:t>istream</a:t>
            </a:r>
            <a:r>
              <a:rPr lang="en-US" altLang="zh-CN" sz="2400" dirty="0">
                <a:effectLst/>
              </a:rPr>
              <a:t>&amp; </a:t>
            </a:r>
            <a:r>
              <a:rPr lang="en-GB" altLang="zh-CN" sz="2400" dirty="0" err="1"/>
              <a:t>istream</a:t>
            </a:r>
            <a:r>
              <a:rPr lang="en-GB" altLang="zh-CN" sz="2400" dirty="0"/>
              <a:t>::</a:t>
            </a:r>
            <a:r>
              <a:rPr lang="en-GB" altLang="zh-CN" sz="2400" dirty="0">
                <a:solidFill>
                  <a:srgbClr val="FFC000"/>
                </a:solidFill>
              </a:rPr>
              <a:t>read</a:t>
            </a:r>
            <a:r>
              <a:rPr lang="en-GB" altLang="zh-CN" sz="2400" dirty="0"/>
              <a:t>(char *</a:t>
            </a:r>
            <a:r>
              <a:rPr lang="en-GB" altLang="zh-CN" sz="2400" dirty="0" err="1"/>
              <a:t>p,int</a:t>
            </a:r>
            <a:r>
              <a:rPr lang="en-GB" altLang="zh-CN" sz="2400" dirty="0"/>
              <a:t> count);</a:t>
            </a:r>
          </a:p>
          <a:p>
            <a:pPr lvl="1" eaLnBrk="1" hangingPunct="1">
              <a:buFontTx/>
              <a:buNone/>
              <a:defRPr/>
            </a:pPr>
            <a:r>
              <a:rPr lang="en-GB" altLang="zh-CN" sz="2400" dirty="0"/>
              <a:t>//</a:t>
            </a:r>
            <a:r>
              <a:rPr lang="zh-CN" altLang="en-GB" sz="2400" dirty="0"/>
              <a:t>输入一个字符串</a:t>
            </a:r>
            <a:r>
              <a:rPr lang="zh-CN" altLang="en-US" sz="2400" dirty="0"/>
              <a:t>。输入过程</a:t>
            </a:r>
            <a:r>
              <a:rPr lang="zh-CN" altLang="en-GB" sz="2400" dirty="0"/>
              <a:t>直到输入了</a:t>
            </a:r>
            <a:r>
              <a:rPr lang="en-GB" altLang="zh-CN" sz="2400" dirty="0"/>
              <a:t>count-1</a:t>
            </a:r>
            <a:r>
              <a:rPr lang="zh-CN" altLang="en-GB" sz="2400" dirty="0"/>
              <a:t>个字符或</a:t>
            </a:r>
          </a:p>
          <a:p>
            <a:pPr lvl="1" eaLnBrk="1" hangingPunct="1">
              <a:buFontTx/>
              <a:buNone/>
              <a:defRPr/>
            </a:pPr>
            <a:r>
              <a:rPr lang="en-GB" altLang="zh-CN" sz="2400" dirty="0"/>
              <a:t>//</a:t>
            </a:r>
            <a:r>
              <a:rPr lang="zh-CN" altLang="en-GB" sz="2400" dirty="0"/>
              <a:t>遇到</a:t>
            </a:r>
            <a:r>
              <a:rPr lang="en-GB" altLang="zh-CN" sz="2400" dirty="0" err="1"/>
              <a:t>delim</a:t>
            </a:r>
            <a:r>
              <a:rPr lang="zh-CN" altLang="en-GB" sz="2400" dirty="0"/>
              <a:t>指定的字符为止，并自动加上一个</a:t>
            </a:r>
            <a:r>
              <a:rPr lang="en-GB" altLang="zh-CN" sz="2400" dirty="0"/>
              <a:t>'\0'</a:t>
            </a:r>
            <a:r>
              <a:rPr lang="zh-CN" altLang="en-GB" sz="2400" dirty="0"/>
              <a:t>字符。</a:t>
            </a:r>
          </a:p>
          <a:p>
            <a:pPr lvl="1" eaLnBrk="1" hangingPunct="1">
              <a:buFontTx/>
              <a:buNone/>
              <a:defRPr/>
            </a:pPr>
            <a:r>
              <a:rPr lang="en-US" altLang="zh-CN" sz="2400" dirty="0" err="1">
                <a:effectLst/>
              </a:rPr>
              <a:t>istream</a:t>
            </a:r>
            <a:r>
              <a:rPr lang="en-US" altLang="zh-CN" sz="2400" dirty="0">
                <a:effectLst/>
              </a:rPr>
              <a:t>&amp; </a:t>
            </a:r>
            <a:r>
              <a:rPr lang="en-GB" altLang="zh-CN" sz="2400" dirty="0" err="1"/>
              <a:t>istream</a:t>
            </a:r>
            <a:r>
              <a:rPr lang="en-GB" altLang="zh-CN" sz="2400" dirty="0"/>
              <a:t>::</a:t>
            </a:r>
            <a:r>
              <a:rPr lang="en-GB" altLang="zh-CN" sz="2400" dirty="0" err="1">
                <a:solidFill>
                  <a:srgbClr val="FFC000"/>
                </a:solidFill>
              </a:rPr>
              <a:t>getline</a:t>
            </a:r>
            <a:r>
              <a:rPr lang="en-GB" altLang="zh-CN" sz="2400" dirty="0"/>
              <a:t>(char *p, </a:t>
            </a:r>
            <a:r>
              <a:rPr lang="en-GB" altLang="zh-CN" sz="2400" dirty="0" err="1"/>
              <a:t>int</a:t>
            </a:r>
            <a:r>
              <a:rPr lang="en-GB" altLang="zh-CN" sz="2400" dirty="0"/>
              <a:t> count, </a:t>
            </a:r>
          </a:p>
          <a:p>
            <a:pPr lvl="1" eaLnBrk="1" hangingPunct="1">
              <a:buFontTx/>
              <a:buNone/>
              <a:defRPr/>
            </a:pPr>
            <a:r>
              <a:rPr lang="en-GB" altLang="zh-CN" sz="2400" dirty="0"/>
              <a:t>						char </a:t>
            </a:r>
            <a:r>
              <a:rPr lang="en-GB" altLang="zh-CN" sz="2400" dirty="0" err="1"/>
              <a:t>delim</a:t>
            </a:r>
            <a:r>
              <a:rPr lang="en-GB" altLang="zh-CN" sz="2400" dirty="0"/>
              <a:t>='\n'); </a:t>
            </a:r>
          </a:p>
          <a:p>
            <a:pPr eaLnBrk="1" hangingPunct="1">
              <a:defRPr/>
            </a:pPr>
            <a:r>
              <a:rPr lang="zh-CN" altLang="en-US" sz="2800" dirty="0"/>
              <a:t>用上述函数可以输入空白符！例如，</a:t>
            </a:r>
            <a:endParaRPr lang="en-US" altLang="zh-CN" sz="2800" dirty="0"/>
          </a:p>
          <a:p>
            <a:pPr marL="0" lvl="1" indent="0" eaLnBrk="1" hangingPunct="1">
              <a:buClr>
                <a:schemeClr val="hlink"/>
              </a:buClr>
              <a:buSzPct val="60000"/>
              <a:buFontTx/>
              <a:buNone/>
              <a:defRPr/>
            </a:pPr>
            <a:r>
              <a:rPr lang="fr-FR" altLang="zh-CN" sz="2400" dirty="0">
                <a:cs typeface="Courier New" pitchFamily="49" charset="0"/>
              </a:rPr>
              <a:t>    char str[10];</a:t>
            </a:r>
          </a:p>
          <a:p>
            <a:pPr marL="0" lvl="1" indent="0" eaLnBrk="1" hangingPunct="1">
              <a:buClr>
                <a:schemeClr val="hlink"/>
              </a:buClr>
              <a:buSzPct val="60000"/>
              <a:buFontTx/>
              <a:buNone/>
              <a:defRPr/>
            </a:pPr>
            <a:r>
              <a:rPr lang="fr-FR" altLang="zh-CN" sz="2400" dirty="0">
                <a:cs typeface="Courier New" pitchFamily="49" charset="0"/>
              </a:rPr>
              <a:t>    cin.getline(str,10); //</a:t>
            </a:r>
            <a:r>
              <a:rPr lang="zh-CN" altLang="en-US" sz="2400" dirty="0">
                <a:cs typeface="Courier New" pitchFamily="49" charset="0"/>
              </a:rPr>
              <a:t>可以输入带空格的字符串</a:t>
            </a:r>
            <a:endParaRPr lang="en-US" altLang="zh-CN" sz="2400" dirty="0">
              <a:cs typeface="Courier New" pitchFamily="49" charset="0"/>
            </a:endParaRPr>
          </a:p>
          <a:p>
            <a:pPr eaLnBrk="1" hangingPunct="1">
              <a:defRPr/>
            </a:pPr>
            <a:endParaRPr lang="en-US" altLang="zh-CN" sz="2800" dirty="0"/>
          </a:p>
          <a:p>
            <a:pPr eaLnBrk="1" hangingPunct="1">
              <a:defRPr/>
            </a:pPr>
            <a:endParaRPr lang="en-US" altLang="zh-CN"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F98ED5CF-5344-3876-AFFE-CE9695E1F338}"/>
              </a:ext>
            </a:extLst>
          </p:cNvPr>
          <p:cNvSpPr>
            <a:spLocks noGrp="1" noChangeArrowheads="1"/>
          </p:cNvSpPr>
          <p:nvPr>
            <p:ph type="title"/>
          </p:nvPr>
        </p:nvSpPr>
        <p:spPr>
          <a:xfrm>
            <a:off x="250825" y="277813"/>
            <a:ext cx="8435975" cy="1139825"/>
          </a:xfrm>
        </p:spPr>
        <p:txBody>
          <a:bodyPr/>
          <a:lstStyle/>
          <a:p>
            <a:pPr eaLnBrk="1" hangingPunct="1">
              <a:defRPr/>
            </a:pPr>
            <a:r>
              <a:rPr lang="zh-CN" altLang="en-GB" sz="3600" dirty="0"/>
              <a:t>操作符“</a:t>
            </a:r>
            <a:r>
              <a:rPr lang="en-GB" altLang="zh-CN" sz="3600" dirty="0"/>
              <a:t>&gt;&gt;</a:t>
            </a:r>
            <a:r>
              <a:rPr lang="zh-CN" altLang="en-US" sz="3600" dirty="0"/>
              <a:t>”</a:t>
            </a:r>
            <a:r>
              <a:rPr lang="zh-CN" altLang="en-GB" sz="3600" dirty="0"/>
              <a:t>和“</a:t>
            </a:r>
            <a:r>
              <a:rPr lang="en-GB" altLang="zh-CN" sz="3600" dirty="0"/>
              <a:t>&lt;&lt;</a:t>
            </a:r>
            <a:r>
              <a:rPr lang="zh-CN" altLang="en-US" sz="3600" dirty="0"/>
              <a:t>”</a:t>
            </a:r>
            <a:r>
              <a:rPr lang="zh-CN" altLang="en-GB" sz="3600" dirty="0"/>
              <a:t>的重载</a:t>
            </a:r>
            <a:r>
              <a:rPr lang="zh-CN" altLang="en-US" sz="3600" dirty="0"/>
              <a:t> </a:t>
            </a:r>
          </a:p>
        </p:txBody>
      </p:sp>
      <p:sp>
        <p:nvSpPr>
          <p:cNvPr id="90115" name="Rectangle 3">
            <a:extLst>
              <a:ext uri="{FF2B5EF4-FFF2-40B4-BE49-F238E27FC236}">
                <a16:creationId xmlns:a16="http://schemas.microsoft.com/office/drawing/2014/main" id="{06C24AA3-B68D-7FEA-95FC-15CD20EFCF61}"/>
              </a:ext>
            </a:extLst>
          </p:cNvPr>
          <p:cNvSpPr>
            <a:spLocks noGrp="1" noChangeArrowheads="1"/>
          </p:cNvSpPr>
          <p:nvPr>
            <p:ph type="body" idx="1"/>
          </p:nvPr>
        </p:nvSpPr>
        <p:spPr/>
        <p:txBody>
          <a:bodyPr/>
          <a:lstStyle/>
          <a:p>
            <a:pPr eaLnBrk="1" hangingPunct="1">
              <a:defRPr/>
            </a:pPr>
            <a:r>
              <a:rPr lang="zh-CN" altLang="en-US" dirty="0"/>
              <a:t>标准库中重载的</a:t>
            </a:r>
            <a:r>
              <a:rPr lang="zh-CN" altLang="en-GB" dirty="0"/>
              <a:t>操作符“</a:t>
            </a:r>
            <a:r>
              <a:rPr lang="en-GB" altLang="zh-CN" dirty="0"/>
              <a:t>&gt;&gt;</a:t>
            </a:r>
            <a:r>
              <a:rPr lang="zh-CN" altLang="en-US" dirty="0"/>
              <a:t>”</a:t>
            </a:r>
            <a:r>
              <a:rPr lang="zh-CN" altLang="en-GB" dirty="0"/>
              <a:t>和“</a:t>
            </a:r>
            <a:r>
              <a:rPr lang="en-GB" altLang="zh-CN" dirty="0"/>
              <a:t>&lt;&lt;</a:t>
            </a:r>
            <a:r>
              <a:rPr lang="zh-CN" altLang="en-US" dirty="0"/>
              <a:t>”只能对</a:t>
            </a:r>
            <a:r>
              <a:rPr lang="zh-CN" altLang="en-US" dirty="0">
                <a:solidFill>
                  <a:srgbClr val="FFC000"/>
                </a:solidFill>
              </a:rPr>
              <a:t>基本数据类型</a:t>
            </a:r>
            <a:r>
              <a:rPr lang="zh-CN" altLang="en-US" dirty="0"/>
              <a:t>的数据进行输入</a:t>
            </a:r>
            <a:r>
              <a:rPr lang="en-US" altLang="zh-CN" dirty="0"/>
              <a:t>/</a:t>
            </a:r>
            <a:r>
              <a:rPr lang="zh-CN" altLang="en-US" dirty="0"/>
              <a:t>输出。</a:t>
            </a:r>
            <a:endParaRPr lang="en-US" altLang="zh-CN" dirty="0"/>
          </a:p>
          <a:p>
            <a:pPr eaLnBrk="1" hangingPunct="1">
              <a:defRPr/>
            </a:pPr>
            <a:r>
              <a:rPr lang="zh-CN" altLang="en-US" dirty="0"/>
              <a:t>可以针对自定义的类</a:t>
            </a:r>
            <a:r>
              <a:rPr lang="zh-CN" altLang="en-US" dirty="0">
                <a:solidFill>
                  <a:srgbClr val="FFC000"/>
                </a:solidFill>
              </a:rPr>
              <a:t>进一步</a:t>
            </a:r>
            <a:r>
              <a:rPr lang="zh-CN" altLang="en-US" dirty="0"/>
              <a:t>重载</a:t>
            </a:r>
            <a:r>
              <a:rPr lang="zh-CN" altLang="en-GB" dirty="0"/>
              <a:t>操作符</a:t>
            </a:r>
            <a:r>
              <a:rPr lang="zh-CN" altLang="en-GB" dirty="0">
                <a:latin typeface="Arial"/>
              </a:rPr>
              <a:t>“</a:t>
            </a:r>
            <a:r>
              <a:rPr lang="en-GB" altLang="zh-CN" dirty="0"/>
              <a:t>&gt;&gt;</a:t>
            </a:r>
            <a:r>
              <a:rPr lang="zh-CN" altLang="en-US" dirty="0"/>
              <a:t>”</a:t>
            </a:r>
            <a:r>
              <a:rPr lang="zh-CN" altLang="en-GB" dirty="0"/>
              <a:t>和</a:t>
            </a:r>
            <a:r>
              <a:rPr lang="zh-CN" altLang="en-GB" dirty="0">
                <a:latin typeface="Arial"/>
              </a:rPr>
              <a:t>“</a:t>
            </a:r>
            <a:r>
              <a:rPr lang="en-GB" altLang="zh-CN" dirty="0"/>
              <a:t>&lt;&lt;</a:t>
            </a:r>
            <a:r>
              <a:rPr lang="zh-CN" altLang="en-US" dirty="0"/>
              <a:t>”，从而实现</a:t>
            </a:r>
            <a:r>
              <a:rPr lang="zh-CN" altLang="en-GB" dirty="0"/>
              <a:t>能用</a:t>
            </a:r>
            <a:r>
              <a:rPr lang="zh-CN" altLang="en-US" dirty="0"/>
              <a:t>它们</a:t>
            </a:r>
            <a:r>
              <a:rPr lang="zh-CN" altLang="en-GB" dirty="0"/>
              <a:t>对</a:t>
            </a:r>
            <a:r>
              <a:rPr lang="zh-CN" altLang="en-US" dirty="0">
                <a:solidFill>
                  <a:srgbClr val="FFC000"/>
                </a:solidFill>
              </a:rPr>
              <a:t>某个</a:t>
            </a:r>
            <a:r>
              <a:rPr lang="zh-CN" altLang="en-GB" dirty="0">
                <a:solidFill>
                  <a:srgbClr val="FFC000"/>
                </a:solidFill>
              </a:rPr>
              <a:t>类</a:t>
            </a:r>
            <a:r>
              <a:rPr lang="zh-CN" altLang="en-GB" dirty="0"/>
              <a:t>的对象进行输入</a:t>
            </a:r>
            <a:r>
              <a:rPr lang="en-GB" altLang="zh-CN" dirty="0"/>
              <a:t>/</a:t>
            </a:r>
            <a:r>
              <a:rPr lang="zh-CN" altLang="en-GB" dirty="0"/>
              <a:t>输出操作。</a:t>
            </a:r>
            <a:r>
              <a:rPr lang="zh-CN" altLang="en-US"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845CF03-1886-210C-560A-770FFCF66F35}"/>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例：</a:t>
            </a:r>
            <a:r>
              <a:rPr lang="zh-CN" altLang="en-GB" dirty="0"/>
              <a:t>“</a:t>
            </a:r>
            <a:r>
              <a:rPr lang="en-GB" altLang="zh-CN" dirty="0"/>
              <a:t>&lt;&lt;</a:t>
            </a:r>
            <a:r>
              <a:rPr lang="zh-CN" altLang="en-US" dirty="0"/>
              <a:t>”</a:t>
            </a:r>
            <a:r>
              <a:rPr lang="zh-CN" altLang="en-GB" dirty="0"/>
              <a:t>操作符的重载</a:t>
            </a:r>
            <a:r>
              <a:rPr lang="zh-CN" altLang="en-US" dirty="0"/>
              <a:t> </a:t>
            </a:r>
          </a:p>
        </p:txBody>
      </p:sp>
      <p:sp>
        <p:nvSpPr>
          <p:cNvPr id="91139" name="Rectangle 3">
            <a:extLst>
              <a:ext uri="{FF2B5EF4-FFF2-40B4-BE49-F238E27FC236}">
                <a16:creationId xmlns:a16="http://schemas.microsoft.com/office/drawing/2014/main" id="{5CDCD4AE-7821-52D0-6E78-C719A000DFD9}"/>
              </a:ext>
            </a:extLst>
          </p:cNvPr>
          <p:cNvSpPr>
            <a:spLocks noGrp="1" noChangeArrowheads="1"/>
          </p:cNvSpPr>
          <p:nvPr>
            <p:ph type="body" idx="1"/>
          </p:nvPr>
        </p:nvSpPr>
        <p:spPr>
          <a:xfrm>
            <a:off x="250825" y="1484313"/>
            <a:ext cx="8713788" cy="5184775"/>
          </a:xfrm>
        </p:spPr>
        <p:txBody>
          <a:bodyPr>
            <a:normAutofit fontScale="85000" lnSpcReduction="20000"/>
          </a:bodyPr>
          <a:lstStyle/>
          <a:p>
            <a:pPr defTabSz="614363" eaLnBrk="1" hangingPunct="1">
              <a:lnSpc>
                <a:spcPct val="80000"/>
              </a:lnSpc>
              <a:defRPr/>
            </a:pPr>
            <a:r>
              <a:rPr lang="zh-CN" altLang="en-US" sz="2800" dirty="0"/>
              <a:t>针对类</a:t>
            </a:r>
            <a:r>
              <a:rPr lang="en-US" altLang="zh-CN" sz="2800" dirty="0"/>
              <a:t>A</a:t>
            </a:r>
            <a:r>
              <a:rPr lang="zh-CN" altLang="en-US" sz="2800" dirty="0"/>
              <a:t>重载操作符“</a:t>
            </a:r>
            <a:r>
              <a:rPr lang="en-US" altLang="zh-CN" sz="2800" dirty="0"/>
              <a:t>&lt;&lt;</a:t>
            </a:r>
            <a:r>
              <a:rPr lang="zh-CN" altLang="en-US" sz="2800" dirty="0"/>
              <a:t>”，实现</a:t>
            </a:r>
            <a:r>
              <a:rPr lang="en-US" altLang="zh-CN" sz="2800" dirty="0"/>
              <a:t>A</a:t>
            </a:r>
            <a:r>
              <a:rPr lang="zh-CN" altLang="en-US" sz="2800" dirty="0"/>
              <a:t>类对象的输出：</a:t>
            </a:r>
            <a:endParaRPr lang="en-GB" altLang="zh-CN" sz="2800" dirty="0"/>
          </a:p>
          <a:p>
            <a:pPr defTabSz="614363" eaLnBrk="1" hangingPunct="1">
              <a:lnSpc>
                <a:spcPct val="120000"/>
              </a:lnSpc>
              <a:buFont typeface="Wingdings" panose="05000000000000000000" pitchFamily="2" charset="2"/>
              <a:buNone/>
              <a:defRPr/>
            </a:pPr>
            <a:r>
              <a:rPr lang="en-GB" altLang="zh-CN" sz="2400" dirty="0"/>
              <a:t>class A</a:t>
            </a:r>
          </a:p>
          <a:p>
            <a:pPr defTabSz="614363" eaLnBrk="1" hangingPunct="1">
              <a:lnSpc>
                <a:spcPct val="120000"/>
              </a:lnSpc>
              <a:buFont typeface="Wingdings" panose="05000000000000000000" pitchFamily="2" charset="2"/>
              <a:buNone/>
              <a:defRPr/>
            </a:pPr>
            <a:r>
              <a:rPr lang="en-GB" altLang="zh-CN" sz="2400" dirty="0"/>
              <a:t>{		</a:t>
            </a:r>
            <a:r>
              <a:rPr lang="en-GB" altLang="zh-CN" sz="2400" dirty="0" err="1"/>
              <a:t>int</a:t>
            </a:r>
            <a:r>
              <a:rPr lang="en-GB" altLang="zh-CN" sz="2400" dirty="0"/>
              <a:t> </a:t>
            </a:r>
            <a:r>
              <a:rPr lang="en-GB" altLang="zh-CN" sz="2400" dirty="0" err="1"/>
              <a:t>x,y</a:t>
            </a:r>
            <a:r>
              <a:rPr lang="en-GB" altLang="zh-CN" sz="2400" dirty="0"/>
              <a:t>;</a:t>
            </a:r>
          </a:p>
          <a:p>
            <a:pPr defTabSz="614363" eaLnBrk="1" hangingPunct="1">
              <a:lnSpc>
                <a:spcPct val="120000"/>
              </a:lnSpc>
              <a:buFont typeface="Wingdings" panose="05000000000000000000" pitchFamily="2" charset="2"/>
              <a:buNone/>
              <a:defRPr/>
            </a:pPr>
            <a:r>
              <a:rPr lang="en-GB" altLang="zh-CN" sz="2400" dirty="0"/>
              <a:t>	public:</a:t>
            </a:r>
          </a:p>
          <a:p>
            <a:pPr defTabSz="614363" eaLnBrk="1" hangingPunct="1">
              <a:lnSpc>
                <a:spcPct val="120000"/>
              </a:lnSpc>
              <a:buFont typeface="Wingdings" panose="05000000000000000000" pitchFamily="2" charset="2"/>
              <a:buNone/>
              <a:defRPr/>
            </a:pPr>
            <a:r>
              <a:rPr lang="en-GB" altLang="zh-CN" sz="2400" dirty="0"/>
              <a:t>		......</a:t>
            </a:r>
          </a:p>
          <a:p>
            <a:pPr defTabSz="614363" eaLnBrk="1" hangingPunct="1">
              <a:lnSpc>
                <a:spcPct val="120000"/>
              </a:lnSpc>
              <a:buFont typeface="Wingdings" panose="05000000000000000000" pitchFamily="2" charset="2"/>
              <a:buNone/>
              <a:defRPr/>
            </a:pPr>
            <a:r>
              <a:rPr lang="en-GB" altLang="zh-CN" sz="2400" dirty="0"/>
              <a:t>	friend </a:t>
            </a:r>
            <a:r>
              <a:rPr lang="en-GB" altLang="zh-CN" sz="2400" dirty="0" err="1"/>
              <a:t>ostream</a:t>
            </a:r>
            <a:r>
              <a:rPr lang="en-GB" altLang="zh-CN" sz="2400" dirty="0"/>
              <a:t>&amp; operator &lt;&lt; (</a:t>
            </a:r>
            <a:r>
              <a:rPr lang="en-GB" altLang="zh-CN" sz="2400" dirty="0" err="1"/>
              <a:t>ostream</a:t>
            </a:r>
            <a:r>
              <a:rPr lang="en-GB" altLang="zh-CN" sz="2400" dirty="0"/>
              <a:t>&amp; out, </a:t>
            </a:r>
            <a:r>
              <a:rPr lang="en-GB" altLang="zh-CN" sz="2400" dirty="0" err="1"/>
              <a:t>const</a:t>
            </a:r>
            <a:r>
              <a:rPr lang="en-GB" altLang="zh-CN" sz="2400" dirty="0"/>
              <a:t> A &amp;a)</a:t>
            </a:r>
            <a:r>
              <a:rPr lang="en-US" altLang="zh-CN" sz="2400" dirty="0"/>
              <a:t>;</a:t>
            </a:r>
            <a:endParaRPr lang="zh-CN" altLang="en-GB" sz="2400" dirty="0"/>
          </a:p>
          <a:p>
            <a:pPr defTabSz="614363" eaLnBrk="1" hangingPunct="1">
              <a:lnSpc>
                <a:spcPct val="120000"/>
              </a:lnSpc>
              <a:buFont typeface="Wingdings" panose="05000000000000000000" pitchFamily="2" charset="2"/>
              <a:buNone/>
              <a:defRPr/>
            </a:pPr>
            <a:r>
              <a:rPr lang="en-GB" altLang="zh-CN" sz="2400" dirty="0"/>
              <a:t>};</a:t>
            </a:r>
          </a:p>
          <a:p>
            <a:pPr defTabSz="614363" eaLnBrk="1" hangingPunct="1">
              <a:lnSpc>
                <a:spcPct val="120000"/>
              </a:lnSpc>
              <a:buFont typeface="Wingdings" panose="05000000000000000000" pitchFamily="2" charset="2"/>
              <a:buNone/>
              <a:defRPr/>
            </a:pPr>
            <a:r>
              <a:rPr lang="en-GB" altLang="zh-CN" sz="2400" dirty="0" err="1">
                <a:solidFill>
                  <a:schemeClr val="folHlink"/>
                </a:solidFill>
              </a:rPr>
              <a:t>ostream</a:t>
            </a:r>
            <a:r>
              <a:rPr lang="en-GB" altLang="zh-CN" sz="2400" dirty="0">
                <a:solidFill>
                  <a:schemeClr val="folHlink"/>
                </a:solidFill>
              </a:rPr>
              <a:t>&amp;</a:t>
            </a:r>
            <a:r>
              <a:rPr lang="en-GB" altLang="zh-CN" sz="2400" dirty="0"/>
              <a:t> operator </a:t>
            </a:r>
            <a:r>
              <a:rPr lang="en-GB" altLang="zh-CN" sz="2400" dirty="0">
                <a:solidFill>
                  <a:srgbClr val="FFC000"/>
                </a:solidFill>
              </a:rPr>
              <a:t>&lt;&lt;</a:t>
            </a:r>
            <a:r>
              <a:rPr lang="en-GB" altLang="zh-CN" sz="2400" dirty="0"/>
              <a:t> (</a:t>
            </a:r>
            <a:r>
              <a:rPr lang="en-GB" altLang="zh-CN" sz="2400" dirty="0" err="1"/>
              <a:t>ostream</a:t>
            </a:r>
            <a:r>
              <a:rPr lang="en-GB" altLang="zh-CN" sz="2400" dirty="0">
                <a:solidFill>
                  <a:srgbClr val="FFC000"/>
                </a:solidFill>
              </a:rPr>
              <a:t>&amp;</a:t>
            </a:r>
            <a:r>
              <a:rPr lang="en-GB" altLang="zh-CN" sz="2400" dirty="0"/>
              <a:t> out, </a:t>
            </a:r>
            <a:r>
              <a:rPr lang="en-GB" altLang="zh-CN" sz="2400" dirty="0" err="1"/>
              <a:t>const</a:t>
            </a:r>
            <a:r>
              <a:rPr lang="en-GB" altLang="zh-CN" sz="2400" dirty="0"/>
              <a:t> A &amp;a)</a:t>
            </a:r>
          </a:p>
          <a:p>
            <a:pPr defTabSz="614363" eaLnBrk="1" hangingPunct="1">
              <a:lnSpc>
                <a:spcPct val="120000"/>
              </a:lnSpc>
              <a:buFont typeface="Wingdings" panose="05000000000000000000" pitchFamily="2" charset="2"/>
              <a:buNone/>
              <a:defRPr/>
            </a:pPr>
            <a:r>
              <a:rPr lang="en-GB" altLang="zh-CN" sz="2400" dirty="0"/>
              <a:t>{	out &lt;&lt; </a:t>
            </a:r>
            <a:r>
              <a:rPr lang="en-GB" altLang="zh-CN" sz="2400" dirty="0" err="1"/>
              <a:t>a.x</a:t>
            </a:r>
            <a:r>
              <a:rPr lang="en-GB" altLang="zh-CN" sz="2400" dirty="0"/>
              <a:t> &lt;&lt; ',' &lt;&lt; </a:t>
            </a:r>
            <a:r>
              <a:rPr lang="en-GB" altLang="zh-CN" sz="2400" dirty="0" err="1"/>
              <a:t>a.y</a:t>
            </a:r>
            <a:r>
              <a:rPr lang="en-GB" altLang="zh-CN" sz="2400" dirty="0"/>
              <a:t>;</a:t>
            </a:r>
          </a:p>
          <a:p>
            <a:pPr defTabSz="614363" eaLnBrk="1" hangingPunct="1">
              <a:lnSpc>
                <a:spcPct val="120000"/>
              </a:lnSpc>
              <a:buFont typeface="Wingdings" panose="05000000000000000000" pitchFamily="2" charset="2"/>
              <a:buNone/>
              <a:defRPr/>
            </a:pPr>
            <a:r>
              <a:rPr lang="en-GB" altLang="zh-CN" sz="2400" dirty="0"/>
              <a:t>	return out;</a:t>
            </a:r>
          </a:p>
          <a:p>
            <a:pPr defTabSz="614363" eaLnBrk="1" hangingPunct="1">
              <a:lnSpc>
                <a:spcPct val="120000"/>
              </a:lnSpc>
              <a:buFont typeface="Wingdings" panose="05000000000000000000" pitchFamily="2" charset="2"/>
              <a:buNone/>
              <a:defRPr/>
            </a:pPr>
            <a:r>
              <a:rPr lang="en-GB" altLang="zh-CN" sz="2400" dirty="0"/>
              <a:t>}</a:t>
            </a:r>
          </a:p>
          <a:p>
            <a:pPr defTabSz="614363" eaLnBrk="1" hangingPunct="1">
              <a:lnSpc>
                <a:spcPct val="120000"/>
              </a:lnSpc>
              <a:buFont typeface="Wingdings" panose="05000000000000000000" pitchFamily="2" charset="2"/>
              <a:buNone/>
              <a:defRPr/>
            </a:pPr>
            <a:r>
              <a:rPr lang="en-GB" altLang="zh-CN" sz="2400" dirty="0"/>
              <a:t>.....</a:t>
            </a:r>
          </a:p>
          <a:p>
            <a:pPr defTabSz="614363" eaLnBrk="1" hangingPunct="1">
              <a:lnSpc>
                <a:spcPct val="120000"/>
              </a:lnSpc>
              <a:buFont typeface="Wingdings" panose="05000000000000000000" pitchFamily="2" charset="2"/>
              <a:buNone/>
              <a:defRPr/>
            </a:pPr>
            <a:r>
              <a:rPr lang="en-GB" altLang="zh-CN" sz="2400" dirty="0"/>
              <a:t>A a1,a2;</a:t>
            </a:r>
          </a:p>
          <a:p>
            <a:pPr defTabSz="614363" eaLnBrk="1" hangingPunct="1">
              <a:lnSpc>
                <a:spcPct val="120000"/>
              </a:lnSpc>
              <a:buFont typeface="Wingdings" panose="05000000000000000000" pitchFamily="2" charset="2"/>
              <a:buNone/>
              <a:defRPr/>
            </a:pPr>
            <a:r>
              <a:rPr lang="en-GB" altLang="zh-CN" sz="2400" dirty="0" err="1"/>
              <a:t>cout</a:t>
            </a:r>
            <a:r>
              <a:rPr lang="en-GB" altLang="zh-CN" sz="2400" dirty="0"/>
              <a:t> </a:t>
            </a:r>
            <a:r>
              <a:rPr lang="en-GB" altLang="zh-CN" sz="2400" dirty="0">
                <a:solidFill>
                  <a:srgbClr val="FFC000"/>
                </a:solidFill>
              </a:rPr>
              <a:t>&lt;&lt;</a:t>
            </a:r>
            <a:r>
              <a:rPr lang="en-GB" altLang="zh-CN" sz="2400" dirty="0"/>
              <a:t> a1 &lt;&lt; </a:t>
            </a:r>
            <a:r>
              <a:rPr lang="en-GB" altLang="zh-CN" sz="2400" dirty="0" err="1"/>
              <a:t>endl</a:t>
            </a:r>
            <a:r>
              <a:rPr lang="en-GB" altLang="zh-CN" sz="2400" dirty="0"/>
              <a:t> </a:t>
            </a:r>
            <a:r>
              <a:rPr lang="en-GB" altLang="zh-CN" sz="2400" dirty="0">
                <a:solidFill>
                  <a:srgbClr val="FFC000"/>
                </a:solidFill>
              </a:rPr>
              <a:t>&lt;&lt;</a:t>
            </a:r>
            <a:r>
              <a:rPr lang="en-GB" altLang="zh-CN" sz="2400" dirty="0"/>
              <a:t> a2 &lt;&lt; </a:t>
            </a:r>
            <a:r>
              <a:rPr lang="en-GB" altLang="zh-CN" sz="2400" dirty="0" err="1"/>
              <a:t>endl</a:t>
            </a:r>
            <a:r>
              <a:rPr lang="en-GB" altLang="zh-CN" sz="2400" dirty="0"/>
              <a:t>;</a:t>
            </a:r>
            <a:endParaRPr lang="en-US" altLang="zh-CN" sz="2400" dirty="0"/>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A0A7E4-BC5C-CFC7-B0DD-2F2201DAF513}"/>
              </a:ext>
            </a:extLst>
          </p:cNvPr>
          <p:cNvSpPr>
            <a:spLocks noGrp="1" noChangeArrowheads="1"/>
          </p:cNvSpPr>
          <p:nvPr>
            <p:ph type="title"/>
          </p:nvPr>
        </p:nvSpPr>
        <p:spPr>
          <a:xfrm>
            <a:off x="381000" y="115888"/>
            <a:ext cx="8229600" cy="609600"/>
          </a:xfrm>
        </p:spPr>
        <p:txBody>
          <a:bodyPr/>
          <a:lstStyle/>
          <a:p>
            <a:pPr eaLnBrk="1" hangingPunct="1">
              <a:defRPr/>
            </a:pPr>
            <a:r>
              <a:rPr lang="zh-CN" altLang="en-GB" sz="3600" dirty="0">
                <a:latin typeface="Times New Roman" pitchFamily="18" charset="0"/>
              </a:rPr>
              <a:t>派生类输出操作符“&lt;&lt;”的</a:t>
            </a:r>
            <a:r>
              <a:rPr lang="zh-CN" altLang="en-US" sz="3600" dirty="0">
                <a:latin typeface="Times New Roman" pitchFamily="18" charset="0"/>
              </a:rPr>
              <a:t>实现</a:t>
            </a:r>
            <a:endParaRPr lang="zh-CN" altLang="en-US" sz="3600" dirty="0"/>
          </a:p>
        </p:txBody>
      </p:sp>
      <p:sp>
        <p:nvSpPr>
          <p:cNvPr id="24579" name="Rectangle 3">
            <a:extLst>
              <a:ext uri="{FF2B5EF4-FFF2-40B4-BE49-F238E27FC236}">
                <a16:creationId xmlns:a16="http://schemas.microsoft.com/office/drawing/2014/main" id="{455129FB-B030-B398-3EE5-1E82360000C1}"/>
              </a:ext>
            </a:extLst>
          </p:cNvPr>
          <p:cNvSpPr>
            <a:spLocks noGrp="1" noChangeArrowheads="1"/>
          </p:cNvSpPr>
          <p:nvPr>
            <p:ph type="body" idx="1"/>
          </p:nvPr>
        </p:nvSpPr>
        <p:spPr>
          <a:xfrm>
            <a:off x="381000" y="908050"/>
            <a:ext cx="8534400" cy="5661025"/>
          </a:xfrm>
        </p:spPr>
        <p:txBody>
          <a:bodyPr/>
          <a:lstStyle/>
          <a:p>
            <a:pPr defTabSz="614363" eaLnBrk="1" hangingPunct="1">
              <a:lnSpc>
                <a:spcPct val="80000"/>
              </a:lnSpc>
              <a:buFont typeface="Wingdings" panose="05000000000000000000" pitchFamily="2" charset="2"/>
              <a:buNone/>
              <a:defRPr/>
            </a:pPr>
            <a:r>
              <a:rPr lang="en-GB" altLang="zh-CN" sz="1800" dirty="0">
                <a:cs typeface="Courier New" pitchFamily="49" charset="0"/>
              </a:rPr>
              <a:t>class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err="1">
                <a:cs typeface="Courier New" pitchFamily="49" charset="0"/>
              </a:rPr>
              <a:t>int</a:t>
            </a:r>
            <a:r>
              <a:rPr lang="en-GB" altLang="zh-CN" sz="1800" dirty="0">
                <a:cs typeface="Courier New" pitchFamily="49" charset="0"/>
              </a:rPr>
              <a:t> </a:t>
            </a:r>
            <a:r>
              <a:rPr lang="en-GB" altLang="zh-CN" sz="1800" dirty="0" err="1">
                <a:cs typeface="Courier New" pitchFamily="49" charset="0"/>
              </a:rPr>
              <a:t>x,y</a:t>
            </a: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t>	friend </a:t>
            </a:r>
            <a:r>
              <a:rPr lang="en-GB" altLang="zh-CN" sz="1800" dirty="0" err="1"/>
              <a:t>ostream</a:t>
            </a:r>
            <a:r>
              <a:rPr lang="en-GB" altLang="zh-CN" sz="1800" dirty="0"/>
              <a:t>&amp; operator &lt;&lt; (</a:t>
            </a:r>
            <a:r>
              <a:rPr lang="en-GB" altLang="zh-CN" sz="1800" dirty="0" err="1"/>
              <a:t>ostream</a:t>
            </a:r>
            <a:r>
              <a:rPr lang="en-GB" altLang="zh-CN" sz="1800" dirty="0"/>
              <a:t>&amp; out, </a:t>
            </a:r>
            <a:r>
              <a:rPr lang="en-GB" altLang="zh-CN" sz="1800" dirty="0" err="1"/>
              <a:t>const</a:t>
            </a:r>
            <a:r>
              <a:rPr lang="en-GB" altLang="zh-CN" sz="1800" dirty="0"/>
              <a:t> A &amp;a)</a:t>
            </a:r>
            <a:r>
              <a:rPr lang="en-US" altLang="zh-CN" sz="1800" dirty="0"/>
              <a:t>;</a:t>
            </a:r>
            <a:endParaRPr lang="zh-CN" altLang="en-GB" sz="1800" dirty="0"/>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err="1">
                <a:cs typeface="Courier New" pitchFamily="49" charset="0"/>
              </a:rPr>
              <a:t>ostream</a:t>
            </a:r>
            <a:r>
              <a:rPr lang="en-GB" altLang="zh-CN" sz="1800" dirty="0">
                <a:cs typeface="Courier New" pitchFamily="49" charset="0"/>
              </a:rPr>
              <a:t>&amp; operator </a:t>
            </a:r>
            <a:r>
              <a:rPr lang="en-GB" altLang="zh-CN" sz="1800" dirty="0">
                <a:solidFill>
                  <a:srgbClr val="FFC000"/>
                </a:solidFill>
                <a:cs typeface="Courier New" pitchFamily="49" charset="0"/>
              </a:rPr>
              <a:t>&lt;&lt;</a:t>
            </a:r>
            <a:r>
              <a:rPr lang="en-GB" altLang="zh-CN" sz="1800" dirty="0">
                <a:cs typeface="Courier New" pitchFamily="49" charset="0"/>
              </a:rPr>
              <a:t> (</a:t>
            </a:r>
            <a:r>
              <a:rPr lang="en-GB" altLang="zh-CN" sz="1800" dirty="0" err="1">
                <a:cs typeface="Courier New" pitchFamily="49" charset="0"/>
              </a:rPr>
              <a:t>ostream</a:t>
            </a:r>
            <a:r>
              <a:rPr lang="en-GB" altLang="zh-CN" sz="1800" dirty="0">
                <a:cs typeface="Courier New" pitchFamily="49" charset="0"/>
              </a:rPr>
              <a:t>&amp; out, </a:t>
            </a:r>
            <a:r>
              <a:rPr lang="en-GB" altLang="zh-CN" sz="1800" dirty="0" err="1">
                <a:cs typeface="Courier New" pitchFamily="49" charset="0"/>
              </a:rPr>
              <a:t>const</a:t>
            </a:r>
            <a:r>
              <a:rPr lang="en-GB" altLang="zh-CN" sz="1800" dirty="0">
                <a:cs typeface="Courier New" pitchFamily="49" charset="0"/>
              </a:rPr>
              <a:t> </a:t>
            </a:r>
            <a:r>
              <a:rPr lang="en-GB" altLang="zh-CN" sz="1800" dirty="0">
                <a:solidFill>
                  <a:srgbClr val="FFC000"/>
                </a:solidFill>
                <a:cs typeface="Courier New" pitchFamily="49" charset="0"/>
              </a:rPr>
              <a:t>A</a:t>
            </a:r>
            <a:r>
              <a:rPr lang="en-GB" altLang="zh-CN" sz="1800" dirty="0">
                <a:cs typeface="Courier New" pitchFamily="49" charset="0"/>
              </a:rPr>
              <a:t>&amp;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a:t>out &lt;&lt; </a:t>
            </a:r>
            <a:r>
              <a:rPr lang="en-GB" altLang="zh-CN" sz="1800" dirty="0" err="1"/>
              <a:t>a.x</a:t>
            </a:r>
            <a:r>
              <a:rPr lang="en-GB" altLang="zh-CN" sz="1800" dirty="0"/>
              <a:t> &lt;&lt; ',' &lt;&lt; </a:t>
            </a:r>
            <a:r>
              <a:rPr lang="en-GB" altLang="zh-CN" sz="1800" dirty="0" err="1"/>
              <a:t>a.y</a:t>
            </a:r>
            <a:r>
              <a:rPr lang="en-GB" altLang="zh-CN" sz="1800" dirty="0"/>
              <a:t>;</a:t>
            </a:r>
            <a:endParaRPr lang="zh-CN" altLang="en-US"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return out;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p>
          <a:p>
            <a:pPr defTabSz="614363" eaLnBrk="1" hangingPunct="1">
              <a:lnSpc>
                <a:spcPct val="80000"/>
              </a:lnSpc>
              <a:buFont typeface="Wingdings" panose="05000000000000000000" pitchFamily="2" charset="2"/>
              <a:buNone/>
              <a:defRPr/>
            </a:pPr>
            <a:r>
              <a:rPr lang="en-GB" altLang="zh-CN" sz="1800" dirty="0">
                <a:cs typeface="Courier New" pitchFamily="49" charset="0"/>
              </a:rPr>
              <a:t>class B: public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double z;</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US" altLang="zh-CN" sz="1800" dirty="0">
                <a:cs typeface="Courier New" pitchFamily="49" charset="0"/>
              </a:rPr>
              <a:t>A </a:t>
            </a:r>
            <a:r>
              <a:rPr lang="en-US" altLang="zh-CN" sz="1800" dirty="0" err="1">
                <a:cs typeface="Courier New" pitchFamily="49" charset="0"/>
              </a:rPr>
              <a:t>a</a:t>
            </a:r>
            <a:r>
              <a:rPr lang="en-US" altLang="zh-CN" sz="1800" dirty="0">
                <a:cs typeface="Courier New" pitchFamily="49" charset="0"/>
              </a:rPr>
              <a:t>; </a:t>
            </a:r>
          </a:p>
          <a:p>
            <a:pPr defTabSz="614363" eaLnBrk="1" hangingPunct="1">
              <a:lnSpc>
                <a:spcPct val="80000"/>
              </a:lnSpc>
              <a:buFont typeface="Wingdings" panose="05000000000000000000" pitchFamily="2" charset="2"/>
              <a:buNone/>
              <a:defRPr/>
            </a:pPr>
            <a:r>
              <a:rPr lang="en-US" altLang="zh-CN" sz="1800" dirty="0">
                <a:solidFill>
                  <a:srgbClr val="FFC000"/>
                </a:solidFill>
                <a:cs typeface="Courier New" pitchFamily="49" charset="0"/>
              </a:rPr>
              <a:t>B</a:t>
            </a:r>
            <a:r>
              <a:rPr lang="en-US" altLang="zh-CN" sz="1800" dirty="0">
                <a:cs typeface="Courier New" pitchFamily="49" charset="0"/>
              </a:rPr>
              <a:t> </a:t>
            </a:r>
            <a:r>
              <a:rPr lang="en-US" altLang="zh-CN" sz="1800" dirty="0" err="1">
                <a:cs typeface="Courier New" pitchFamily="49" charset="0"/>
              </a:rPr>
              <a:t>b</a:t>
            </a:r>
            <a:r>
              <a:rPr lang="en-US" altLang="zh-CN" sz="1800" dirty="0">
                <a:cs typeface="Courier New" pitchFamily="49" charset="0"/>
              </a:rPr>
              <a:t>;</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cout</a:t>
            </a:r>
            <a:r>
              <a:rPr lang="en-US" altLang="zh-CN" sz="1800" dirty="0">
                <a:cs typeface="Courier New" pitchFamily="49" charset="0"/>
              </a:rPr>
              <a:t> &lt;&lt; a &lt;&lt; </a:t>
            </a:r>
            <a:r>
              <a:rPr lang="en-US" altLang="zh-CN" sz="1800" dirty="0" err="1">
                <a:cs typeface="Courier New" pitchFamily="49" charset="0"/>
              </a:rPr>
              <a:t>endl</a:t>
            </a:r>
            <a:r>
              <a:rPr lang="en-US" altLang="zh-CN" sz="1800" dirty="0">
                <a:cs typeface="Courier New" pitchFamily="49" charset="0"/>
              </a:rPr>
              <a:t> </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cout</a:t>
            </a:r>
            <a:r>
              <a:rPr lang="en-US" altLang="zh-CN" sz="1800" dirty="0">
                <a:solidFill>
                  <a:srgbClr val="FFC000"/>
                </a:solidFill>
                <a:cs typeface="Courier New" pitchFamily="49" charset="0"/>
              </a:rPr>
              <a:t> </a:t>
            </a:r>
            <a:r>
              <a:rPr lang="en-US" altLang="zh-CN" sz="1800" dirty="0">
                <a:cs typeface="Courier New" pitchFamily="49" charset="0"/>
              </a:rPr>
              <a:t>&lt;&lt; </a:t>
            </a:r>
            <a:r>
              <a:rPr lang="en-US" altLang="zh-CN" sz="1800" dirty="0">
                <a:solidFill>
                  <a:srgbClr val="FFC000"/>
                </a:solidFill>
                <a:cs typeface="Courier New" pitchFamily="49" charset="0"/>
              </a:rPr>
              <a:t>b</a:t>
            </a:r>
            <a:r>
              <a:rPr lang="en-US" altLang="zh-CN" sz="1800" dirty="0">
                <a:cs typeface="Courier New" pitchFamily="49" charset="0"/>
              </a:rPr>
              <a:t> &lt;&lt; </a:t>
            </a:r>
            <a:r>
              <a:rPr lang="en-US" altLang="zh-CN" sz="1800" dirty="0" err="1">
                <a:cs typeface="Courier New" pitchFamily="49" charset="0"/>
              </a:rPr>
              <a:t>endl</a:t>
            </a:r>
            <a:r>
              <a:rPr lang="en-US" altLang="zh-CN" sz="1800" dirty="0">
                <a:cs typeface="Courier New" pitchFamily="49" charset="0"/>
              </a:rPr>
              <a:t>; //</a:t>
            </a:r>
            <a:r>
              <a:rPr lang="zh-CN" altLang="en-US" sz="1800" dirty="0">
                <a:solidFill>
                  <a:srgbClr val="FFC000"/>
                </a:solidFill>
                <a:cs typeface="Courier New" pitchFamily="49" charset="0"/>
              </a:rPr>
              <a:t>？</a:t>
            </a:r>
            <a:endParaRPr lang="en-US" altLang="zh-CN" sz="1800" dirty="0">
              <a:solidFill>
                <a:srgbClr val="FFC000"/>
              </a:solidFill>
            </a:endParaRPr>
          </a:p>
        </p:txBody>
      </p:sp>
      <p:sp>
        <p:nvSpPr>
          <p:cNvPr id="2" name="TextBox 1">
            <a:extLst>
              <a:ext uri="{FF2B5EF4-FFF2-40B4-BE49-F238E27FC236}">
                <a16:creationId xmlns:a16="http://schemas.microsoft.com/office/drawing/2014/main" id="{6AAAD28C-3D32-EB4F-EB3E-B0DFBFB4E2A6}"/>
              </a:ext>
            </a:extLst>
          </p:cNvPr>
          <p:cNvSpPr txBox="1"/>
          <p:nvPr/>
        </p:nvSpPr>
        <p:spPr>
          <a:xfrm>
            <a:off x="3059113" y="6083300"/>
            <a:ext cx="2062162" cy="369888"/>
          </a:xfrm>
          <a:prstGeom prst="rect">
            <a:avLst/>
          </a:prstGeom>
          <a:solidFill>
            <a:schemeClr val="bg1">
              <a:lumMod val="75000"/>
            </a:schemeClr>
          </a:solidFill>
        </p:spPr>
        <p:txBody>
          <a:bodyPr wrap="none">
            <a:spAutoFit/>
          </a:bodyPr>
          <a:lstStyle/>
          <a:p>
            <a:pPr eaLnBrk="1" hangingPunct="1">
              <a:defRPr/>
            </a:pPr>
            <a:r>
              <a:rPr lang="zh-CN" altLang="en-US" dirty="0"/>
              <a:t>只输出了</a:t>
            </a:r>
            <a:r>
              <a:rPr lang="en-US" altLang="zh-CN" dirty="0" err="1"/>
              <a:t>b.x</a:t>
            </a:r>
            <a:r>
              <a:rPr lang="zh-CN" altLang="en-US" dirty="0"/>
              <a:t>和</a:t>
            </a:r>
            <a:r>
              <a:rPr lang="en-US" altLang="zh-CN" dirty="0" err="1"/>
              <a:t>b.y</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40179F-5994-A044-79DF-90D0BA371AA7}"/>
              </a:ext>
            </a:extLst>
          </p:cNvPr>
          <p:cNvSpPr>
            <a:spLocks noGrp="1" noChangeArrowheads="1"/>
          </p:cNvSpPr>
          <p:nvPr>
            <p:ph type="title"/>
          </p:nvPr>
        </p:nvSpPr>
        <p:spPr>
          <a:xfrm>
            <a:off x="381000" y="115888"/>
            <a:ext cx="8229600" cy="609600"/>
          </a:xfrm>
        </p:spPr>
        <p:txBody>
          <a:bodyPr/>
          <a:lstStyle/>
          <a:p>
            <a:pPr eaLnBrk="1" hangingPunct="1">
              <a:defRPr/>
            </a:pPr>
            <a:r>
              <a:rPr lang="zh-CN" altLang="en-GB" sz="3600" dirty="0">
                <a:latin typeface="Times New Roman" pitchFamily="18" charset="0"/>
              </a:rPr>
              <a:t>派生类输出操作符“&lt;&lt;”的</a:t>
            </a:r>
            <a:r>
              <a:rPr lang="zh-CN" altLang="en-US" sz="3600" dirty="0">
                <a:latin typeface="Times New Roman" pitchFamily="18" charset="0"/>
              </a:rPr>
              <a:t>实现</a:t>
            </a:r>
            <a:endParaRPr lang="zh-CN" altLang="en-US" sz="3600" dirty="0"/>
          </a:p>
        </p:txBody>
      </p:sp>
      <p:sp>
        <p:nvSpPr>
          <p:cNvPr id="24579" name="Rectangle 3">
            <a:extLst>
              <a:ext uri="{FF2B5EF4-FFF2-40B4-BE49-F238E27FC236}">
                <a16:creationId xmlns:a16="http://schemas.microsoft.com/office/drawing/2014/main" id="{11F4BC25-8D67-F7DA-C16F-C6A256AC856D}"/>
              </a:ext>
            </a:extLst>
          </p:cNvPr>
          <p:cNvSpPr>
            <a:spLocks noGrp="1" noChangeArrowheads="1"/>
          </p:cNvSpPr>
          <p:nvPr>
            <p:ph type="body" idx="1"/>
          </p:nvPr>
        </p:nvSpPr>
        <p:spPr>
          <a:xfrm>
            <a:off x="381000" y="908050"/>
            <a:ext cx="8534400" cy="5949950"/>
          </a:xfrm>
        </p:spPr>
        <p:txBody>
          <a:bodyPr>
            <a:normAutofit lnSpcReduction="10000"/>
          </a:bodyPr>
          <a:lstStyle/>
          <a:p>
            <a:pPr defTabSz="614363" eaLnBrk="1" hangingPunct="1">
              <a:lnSpc>
                <a:spcPct val="80000"/>
              </a:lnSpc>
              <a:buFont typeface="Wingdings" panose="05000000000000000000" pitchFamily="2" charset="2"/>
              <a:buNone/>
              <a:defRPr/>
            </a:pPr>
            <a:r>
              <a:rPr lang="en-GB" altLang="zh-CN" sz="1800" dirty="0">
                <a:cs typeface="Courier New" pitchFamily="49" charset="0"/>
              </a:rPr>
              <a:t>class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err="1">
                <a:cs typeface="Courier New" pitchFamily="49" charset="0"/>
              </a:rPr>
              <a:t>int</a:t>
            </a:r>
            <a:r>
              <a:rPr lang="en-GB" altLang="zh-CN" sz="1800" dirty="0">
                <a:cs typeface="Courier New" pitchFamily="49" charset="0"/>
              </a:rPr>
              <a:t> </a:t>
            </a:r>
            <a:r>
              <a:rPr lang="en-GB" altLang="zh-CN" sz="1800" dirty="0" err="1">
                <a:cs typeface="Courier New" pitchFamily="49" charset="0"/>
              </a:rPr>
              <a:t>x,y</a:t>
            </a: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t>	friend </a:t>
            </a:r>
            <a:r>
              <a:rPr lang="en-GB" altLang="zh-CN" sz="1800" dirty="0" err="1"/>
              <a:t>ostream</a:t>
            </a:r>
            <a:r>
              <a:rPr lang="en-GB" altLang="zh-CN" sz="1800" dirty="0"/>
              <a:t>&amp; operator &lt;&lt; (</a:t>
            </a:r>
            <a:r>
              <a:rPr lang="en-GB" altLang="zh-CN" sz="1800" dirty="0" err="1"/>
              <a:t>ostream</a:t>
            </a:r>
            <a:r>
              <a:rPr lang="en-GB" altLang="zh-CN" sz="1800" dirty="0"/>
              <a:t>&amp; out, </a:t>
            </a:r>
            <a:r>
              <a:rPr lang="en-GB" altLang="zh-CN" sz="1800" dirty="0" err="1"/>
              <a:t>const</a:t>
            </a:r>
            <a:r>
              <a:rPr lang="en-GB" altLang="zh-CN" sz="1800" dirty="0"/>
              <a:t> A &amp;a)</a:t>
            </a:r>
            <a:r>
              <a:rPr lang="en-US" altLang="zh-CN" sz="1800" dirty="0"/>
              <a:t>;</a:t>
            </a:r>
            <a:endParaRPr lang="zh-CN" altLang="en-GB" sz="1800" dirty="0"/>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err="1">
                <a:cs typeface="Courier New" pitchFamily="49" charset="0"/>
              </a:rPr>
              <a:t>ostream</a:t>
            </a:r>
            <a:r>
              <a:rPr lang="en-GB" altLang="zh-CN" sz="1800" dirty="0">
                <a:cs typeface="Courier New" pitchFamily="49" charset="0"/>
              </a:rPr>
              <a:t>&amp; operator &lt;&lt; (</a:t>
            </a:r>
            <a:r>
              <a:rPr lang="en-GB" altLang="zh-CN" sz="1800" dirty="0" err="1">
                <a:cs typeface="Courier New" pitchFamily="49" charset="0"/>
              </a:rPr>
              <a:t>ostream</a:t>
            </a:r>
            <a:r>
              <a:rPr lang="en-GB" altLang="zh-CN" sz="1800" dirty="0">
                <a:cs typeface="Courier New" pitchFamily="49" charset="0"/>
              </a:rPr>
              <a:t>&amp; out, </a:t>
            </a:r>
            <a:r>
              <a:rPr lang="en-GB" altLang="zh-CN" sz="1800" dirty="0" err="1">
                <a:cs typeface="Courier New" pitchFamily="49" charset="0"/>
              </a:rPr>
              <a:t>const</a:t>
            </a:r>
            <a:r>
              <a:rPr lang="en-GB" altLang="zh-CN" sz="1800" dirty="0">
                <a:cs typeface="Courier New" pitchFamily="49" charset="0"/>
              </a:rPr>
              <a:t> A&amp;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a:t>out &lt;&lt; </a:t>
            </a:r>
            <a:r>
              <a:rPr lang="en-GB" altLang="zh-CN" sz="1800" dirty="0" err="1"/>
              <a:t>a.x</a:t>
            </a:r>
            <a:r>
              <a:rPr lang="en-GB" altLang="zh-CN" sz="1800" dirty="0"/>
              <a:t> &lt;&lt; ',' &lt;&lt; </a:t>
            </a:r>
            <a:r>
              <a:rPr lang="en-GB" altLang="zh-CN" sz="1800" dirty="0" err="1"/>
              <a:t>a.y</a:t>
            </a:r>
            <a:r>
              <a:rPr lang="en-GB" altLang="zh-CN" sz="1800" dirty="0"/>
              <a:t>;</a:t>
            </a:r>
            <a:r>
              <a:rPr lang="en-GB" altLang="zh-CN" sz="1800" dirty="0">
                <a:cs typeface="Courier New" pitchFamily="49" charset="0"/>
              </a:rPr>
              <a:t>	return out;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p>
          <a:p>
            <a:pPr defTabSz="614363" eaLnBrk="1" hangingPunct="1">
              <a:lnSpc>
                <a:spcPct val="80000"/>
              </a:lnSpc>
              <a:buFont typeface="Wingdings" panose="05000000000000000000" pitchFamily="2" charset="2"/>
              <a:buNone/>
              <a:defRPr/>
            </a:pPr>
            <a:r>
              <a:rPr lang="en-GB" altLang="zh-CN" sz="1800" dirty="0">
                <a:cs typeface="Courier New" pitchFamily="49" charset="0"/>
              </a:rPr>
              <a:t>class B: public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double z;</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US" altLang="zh-CN" sz="1800" dirty="0">
                <a:cs typeface="Courier New" pitchFamily="49" charset="0"/>
              </a:rPr>
              <a:t>	friend </a:t>
            </a:r>
            <a:r>
              <a:rPr lang="en-US" altLang="zh-CN" sz="1800" dirty="0" err="1">
                <a:cs typeface="Courier New" pitchFamily="49" charset="0"/>
              </a:rPr>
              <a:t>ostream</a:t>
            </a:r>
            <a:r>
              <a:rPr lang="en-US" altLang="zh-CN" sz="1800" dirty="0">
                <a:cs typeface="Courier New" pitchFamily="49" charset="0"/>
              </a:rPr>
              <a:t>&amp; operator &lt;&lt; (</a:t>
            </a:r>
            <a:r>
              <a:rPr lang="en-US" altLang="zh-CN" sz="1800" dirty="0" err="1">
                <a:cs typeface="Courier New" pitchFamily="49" charset="0"/>
              </a:rPr>
              <a:t>ostream</a:t>
            </a:r>
            <a:r>
              <a:rPr lang="en-US" altLang="zh-CN" sz="1800" dirty="0">
                <a:cs typeface="Courier New" pitchFamily="49" charset="0"/>
              </a:rPr>
              <a:t>&amp;,</a:t>
            </a:r>
            <a:r>
              <a:rPr lang="en-US" altLang="zh-CN" sz="1800" dirty="0" err="1">
                <a:cs typeface="Courier New" pitchFamily="49" charset="0"/>
              </a:rPr>
              <a:t>const</a:t>
            </a:r>
            <a:r>
              <a:rPr lang="en-US" altLang="zh-CN" sz="1800" dirty="0">
                <a:cs typeface="Courier New" pitchFamily="49" charset="0"/>
              </a:rPr>
              <a:t> B&amp;);</a:t>
            </a:r>
            <a:endParaRPr lang="en-GB"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ostream</a:t>
            </a:r>
            <a:r>
              <a:rPr lang="en-US" altLang="zh-CN" sz="1800" dirty="0">
                <a:cs typeface="Courier New" pitchFamily="49" charset="0"/>
              </a:rPr>
              <a:t>&amp; operator &lt;&lt; (</a:t>
            </a:r>
            <a:r>
              <a:rPr lang="en-US" altLang="zh-CN" sz="1800" dirty="0" err="1">
                <a:cs typeface="Courier New" pitchFamily="49" charset="0"/>
              </a:rPr>
              <a:t>ostream</a:t>
            </a:r>
            <a:r>
              <a:rPr lang="en-US" altLang="zh-CN" sz="1800" dirty="0">
                <a:cs typeface="Courier New" pitchFamily="49" charset="0"/>
              </a:rPr>
              <a:t>&amp; out, </a:t>
            </a:r>
            <a:r>
              <a:rPr lang="en-US" altLang="zh-CN" sz="1800" dirty="0" err="1">
                <a:cs typeface="Courier New" pitchFamily="49" charset="0"/>
              </a:rPr>
              <a:t>const</a:t>
            </a:r>
            <a:r>
              <a:rPr lang="en-US" altLang="zh-CN" sz="1800" dirty="0">
                <a:cs typeface="Courier New" pitchFamily="49" charset="0"/>
              </a:rPr>
              <a:t> </a:t>
            </a:r>
            <a:r>
              <a:rPr lang="en-US" altLang="zh-CN" sz="1800" dirty="0">
                <a:solidFill>
                  <a:srgbClr val="FFC000"/>
                </a:solidFill>
                <a:cs typeface="Courier New" pitchFamily="49" charset="0"/>
              </a:rPr>
              <a:t>B</a:t>
            </a:r>
            <a:r>
              <a:rPr lang="en-US" altLang="zh-CN" sz="1800" dirty="0">
                <a:cs typeface="Courier New" pitchFamily="49" charset="0"/>
              </a:rPr>
              <a:t>&amp; b)</a:t>
            </a:r>
          </a:p>
          <a:p>
            <a:pPr defTabSz="614363" eaLnBrk="1" hangingPunct="1">
              <a:lnSpc>
                <a:spcPct val="80000"/>
              </a:lnSpc>
              <a:buFont typeface="Wingdings" panose="05000000000000000000" pitchFamily="2" charset="2"/>
              <a:buNone/>
              <a:defRPr/>
            </a:pPr>
            <a:r>
              <a:rPr lang="en-US" altLang="zh-CN" sz="1800" dirty="0">
                <a:cs typeface="Courier New" pitchFamily="49" charset="0"/>
              </a:rPr>
              <a:t>{	out &lt;&lt; (A&amp;)b &lt;&lt; ',' &lt;&lt; </a:t>
            </a:r>
            <a:r>
              <a:rPr lang="en-US" altLang="zh-CN" sz="1800" dirty="0" err="1">
                <a:cs typeface="Courier New" pitchFamily="49" charset="0"/>
              </a:rPr>
              <a:t>b.z</a:t>
            </a:r>
            <a:r>
              <a:rPr lang="en-US" altLang="zh-CN" sz="1800" dirty="0">
                <a:cs typeface="Courier New" pitchFamily="49" charset="0"/>
              </a:rPr>
              <a:t>;	return out;</a:t>
            </a:r>
          </a:p>
          <a:p>
            <a:pPr defTabSz="614363" eaLnBrk="1" hangingPunct="1">
              <a:lnSpc>
                <a:spcPct val="80000"/>
              </a:lnSpc>
              <a:buFont typeface="Wingdings" panose="05000000000000000000" pitchFamily="2" charset="2"/>
              <a:buNone/>
              <a:defRPr/>
            </a:pPr>
            <a:r>
              <a:rPr lang="en-US" altLang="zh-CN" sz="1800" dirty="0">
                <a:cs typeface="Courier New" pitchFamily="49" charset="0"/>
              </a:rPr>
              <a:t>}</a:t>
            </a: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US" altLang="zh-CN" sz="1800" dirty="0">
                <a:cs typeface="Courier New" pitchFamily="49" charset="0"/>
              </a:rPr>
              <a:t>B </a:t>
            </a:r>
            <a:r>
              <a:rPr lang="en-US" altLang="zh-CN" sz="1800" dirty="0" err="1">
                <a:cs typeface="Courier New" pitchFamily="49" charset="0"/>
              </a:rPr>
              <a:t>b</a:t>
            </a:r>
            <a:r>
              <a:rPr lang="en-US" altLang="zh-CN" sz="1800" dirty="0">
                <a:cs typeface="Courier New" pitchFamily="49" charset="0"/>
              </a:rPr>
              <a:t>;</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cout</a:t>
            </a:r>
            <a:r>
              <a:rPr lang="en-US" altLang="zh-CN" sz="1800" dirty="0">
                <a:solidFill>
                  <a:srgbClr val="FFC000"/>
                </a:solidFill>
                <a:cs typeface="Courier New" pitchFamily="49" charset="0"/>
              </a:rPr>
              <a:t> </a:t>
            </a:r>
            <a:r>
              <a:rPr lang="en-US" altLang="zh-CN" sz="1800" dirty="0">
                <a:cs typeface="Courier New" pitchFamily="49" charset="0"/>
              </a:rPr>
              <a:t>&lt;&lt; </a:t>
            </a:r>
            <a:r>
              <a:rPr lang="en-US" altLang="zh-CN" sz="1800" dirty="0">
                <a:solidFill>
                  <a:srgbClr val="FFC000"/>
                </a:solidFill>
                <a:cs typeface="Courier New" pitchFamily="49" charset="0"/>
              </a:rPr>
              <a:t>b</a:t>
            </a:r>
            <a:r>
              <a:rPr lang="en-US" altLang="zh-CN" sz="1800" dirty="0">
                <a:cs typeface="Courier New" pitchFamily="49" charset="0"/>
              </a:rPr>
              <a:t> &lt;&lt; </a:t>
            </a:r>
            <a:r>
              <a:rPr lang="en-US" altLang="zh-CN" sz="1800" dirty="0" err="1">
                <a:cs typeface="Courier New" pitchFamily="49" charset="0"/>
              </a:rPr>
              <a:t>endl</a:t>
            </a:r>
            <a:r>
              <a:rPr lang="en-US" altLang="zh-CN" sz="1800" dirty="0">
                <a:cs typeface="Courier New" pitchFamily="49" charset="0"/>
              </a:rPr>
              <a:t>;</a:t>
            </a:r>
            <a:r>
              <a:rPr lang="zh-CN" altLang="en-US" sz="1800" dirty="0">
                <a:cs typeface="Courier New" pitchFamily="49" charset="0"/>
              </a:rPr>
              <a:t> </a:t>
            </a:r>
            <a:r>
              <a:rPr lang="en-US" altLang="zh-CN" sz="1800" dirty="0">
                <a:cs typeface="Courier New" pitchFamily="49" charset="0"/>
              </a:rPr>
              <a:t>//OK</a:t>
            </a:r>
          </a:p>
          <a:p>
            <a:pPr defTabSz="614363" eaLnBrk="1" hangingPunct="1">
              <a:lnSpc>
                <a:spcPct val="80000"/>
              </a:lnSpc>
              <a:buFont typeface="Wingdings" panose="05000000000000000000" pitchFamily="2" charset="2"/>
              <a:buNone/>
              <a:defRPr/>
            </a:pPr>
            <a:r>
              <a:rPr lang="en-US" altLang="zh-CN" sz="1800" dirty="0">
                <a:solidFill>
                  <a:srgbClr val="FFC000"/>
                </a:solidFill>
                <a:cs typeface="Courier New" pitchFamily="49" charset="0"/>
              </a:rPr>
              <a:t>A</a:t>
            </a:r>
            <a:r>
              <a:rPr lang="en-US" altLang="zh-CN" sz="1800" dirty="0">
                <a:cs typeface="Courier New" pitchFamily="49" charset="0"/>
              </a:rPr>
              <a:t> *p=&amp;b</a:t>
            </a:r>
            <a:r>
              <a:rPr lang="en-US" altLang="zh-CN" sz="1800" dirty="0">
                <a:solidFill>
                  <a:srgbClr val="FFC000"/>
                </a:solidFill>
                <a:cs typeface="Courier New" pitchFamily="49" charset="0"/>
              </a:rPr>
              <a:t>;</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cout</a:t>
            </a:r>
            <a:r>
              <a:rPr lang="en-US" altLang="zh-CN" sz="1800" dirty="0">
                <a:cs typeface="Courier New" pitchFamily="49" charset="0"/>
              </a:rPr>
              <a:t> &lt;&lt; </a:t>
            </a:r>
            <a:r>
              <a:rPr lang="en-US" altLang="zh-CN" sz="1800" dirty="0">
                <a:solidFill>
                  <a:srgbClr val="FFC000"/>
                </a:solidFill>
                <a:cs typeface="Courier New" pitchFamily="49" charset="0"/>
              </a:rPr>
              <a:t>*p</a:t>
            </a:r>
            <a:r>
              <a:rPr lang="en-US" altLang="zh-CN" sz="1800" dirty="0">
                <a:cs typeface="Courier New" pitchFamily="49" charset="0"/>
              </a:rPr>
              <a:t> &lt;&lt; </a:t>
            </a:r>
            <a:r>
              <a:rPr lang="en-US" altLang="zh-CN" sz="1800" dirty="0" err="1">
                <a:cs typeface="Courier New" pitchFamily="49" charset="0"/>
              </a:rPr>
              <a:t>endl</a:t>
            </a:r>
            <a:r>
              <a:rPr lang="en-US" altLang="zh-CN" sz="1800" dirty="0">
                <a:cs typeface="Courier New" pitchFamily="49" charset="0"/>
              </a:rPr>
              <a:t>; //</a:t>
            </a:r>
            <a:r>
              <a:rPr lang="en-US" altLang="zh-CN" sz="1800" dirty="0">
                <a:solidFill>
                  <a:srgbClr val="FFC000"/>
                </a:solidFill>
                <a:cs typeface="Courier New" pitchFamily="49" charset="0"/>
              </a:rPr>
              <a:t>?</a:t>
            </a:r>
            <a:endParaRPr lang="en-US" altLang="zh-CN" sz="1800" dirty="0">
              <a:solidFill>
                <a:srgbClr val="FFC000"/>
              </a:solidFill>
            </a:endParaRPr>
          </a:p>
        </p:txBody>
      </p:sp>
      <p:sp>
        <p:nvSpPr>
          <p:cNvPr id="5" name="TextBox 4">
            <a:extLst>
              <a:ext uri="{FF2B5EF4-FFF2-40B4-BE49-F238E27FC236}">
                <a16:creationId xmlns:a16="http://schemas.microsoft.com/office/drawing/2014/main" id="{7C2D3268-4A43-B7CA-2DAF-0D52D194060A}"/>
              </a:ext>
            </a:extLst>
          </p:cNvPr>
          <p:cNvSpPr txBox="1"/>
          <p:nvPr/>
        </p:nvSpPr>
        <p:spPr>
          <a:xfrm>
            <a:off x="3203575" y="6237288"/>
            <a:ext cx="2062163" cy="369887"/>
          </a:xfrm>
          <a:prstGeom prst="rect">
            <a:avLst/>
          </a:prstGeom>
          <a:solidFill>
            <a:schemeClr val="bg1">
              <a:lumMod val="75000"/>
            </a:schemeClr>
          </a:solidFill>
        </p:spPr>
        <p:txBody>
          <a:bodyPr wrap="none">
            <a:spAutoFit/>
          </a:bodyPr>
          <a:lstStyle/>
          <a:p>
            <a:pPr eaLnBrk="1" hangingPunct="1">
              <a:defRPr/>
            </a:pPr>
            <a:r>
              <a:rPr lang="zh-CN" altLang="en-US" dirty="0"/>
              <a:t>只输出了</a:t>
            </a:r>
            <a:r>
              <a:rPr lang="en-US" altLang="zh-CN" dirty="0" err="1"/>
              <a:t>b.x</a:t>
            </a:r>
            <a:r>
              <a:rPr lang="zh-CN" altLang="en-US" dirty="0"/>
              <a:t>和</a:t>
            </a:r>
            <a:r>
              <a:rPr lang="en-US" altLang="zh-CN" dirty="0" err="1"/>
              <a:t>b.y</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21" end="21"/>
                                            </p:txEl>
                                          </p:spTgt>
                                        </p:tgtEl>
                                        <p:attrNameLst>
                                          <p:attrName>style.visibility</p:attrName>
                                        </p:attrNameLst>
                                      </p:cBhvr>
                                      <p:to>
                                        <p:strVal val="visible"/>
                                      </p:to>
                                    </p:set>
                                    <p:anim calcmode="lin" valueType="num">
                                      <p:cBhvr additive="base">
                                        <p:cTn id="7" dur="500" fill="hold"/>
                                        <p:tgtEl>
                                          <p:spTgt spid="24579">
                                            <p:txEl>
                                              <p:pRg st="21" end="2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21" end="2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79">
                                            <p:txEl>
                                              <p:pRg st="22" end="22"/>
                                            </p:txEl>
                                          </p:spTgt>
                                        </p:tgtEl>
                                        <p:attrNameLst>
                                          <p:attrName>style.visibility</p:attrName>
                                        </p:attrNameLst>
                                      </p:cBhvr>
                                      <p:to>
                                        <p:strVal val="visible"/>
                                      </p:to>
                                    </p:set>
                                    <p:anim calcmode="lin" valueType="num">
                                      <p:cBhvr additive="base">
                                        <p:cTn id="11" dur="500" fill="hold"/>
                                        <p:tgtEl>
                                          <p:spTgt spid="24579">
                                            <p:txEl>
                                              <p:pRg st="22" end="2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9">
                                            <p:txEl>
                                              <p:pRg st="22" end="2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17ED597-4B4E-91E4-6661-BBF729664641}"/>
              </a:ext>
            </a:extLst>
          </p:cNvPr>
          <p:cNvSpPr>
            <a:spLocks noGrp="1" noChangeArrowheads="1"/>
          </p:cNvSpPr>
          <p:nvPr>
            <p:ph type="title"/>
          </p:nvPr>
        </p:nvSpPr>
        <p:spPr>
          <a:xfrm>
            <a:off x="381000" y="115888"/>
            <a:ext cx="8229600" cy="609600"/>
          </a:xfrm>
        </p:spPr>
        <p:txBody>
          <a:bodyPr/>
          <a:lstStyle/>
          <a:p>
            <a:pPr eaLnBrk="1" hangingPunct="1">
              <a:defRPr/>
            </a:pPr>
            <a:r>
              <a:rPr lang="zh-CN" altLang="en-GB" sz="3600" dirty="0">
                <a:latin typeface="Times New Roman" pitchFamily="18" charset="0"/>
              </a:rPr>
              <a:t>派生类输出操作符“&lt;&lt;”的</a:t>
            </a:r>
            <a:r>
              <a:rPr lang="zh-CN" altLang="en-US" sz="3600" dirty="0">
                <a:latin typeface="Times New Roman" pitchFamily="18" charset="0"/>
              </a:rPr>
              <a:t>实现</a:t>
            </a:r>
            <a:endParaRPr lang="zh-CN" altLang="en-US" sz="3600" dirty="0"/>
          </a:p>
        </p:txBody>
      </p:sp>
      <p:sp>
        <p:nvSpPr>
          <p:cNvPr id="24579" name="Rectangle 3">
            <a:extLst>
              <a:ext uri="{FF2B5EF4-FFF2-40B4-BE49-F238E27FC236}">
                <a16:creationId xmlns:a16="http://schemas.microsoft.com/office/drawing/2014/main" id="{AE898675-63CC-E2C8-B69A-30AB9D02F71C}"/>
              </a:ext>
            </a:extLst>
          </p:cNvPr>
          <p:cNvSpPr>
            <a:spLocks noGrp="1" noChangeArrowheads="1"/>
          </p:cNvSpPr>
          <p:nvPr>
            <p:ph type="body" idx="1"/>
          </p:nvPr>
        </p:nvSpPr>
        <p:spPr>
          <a:xfrm>
            <a:off x="381000" y="908050"/>
            <a:ext cx="8534400" cy="5661025"/>
          </a:xfrm>
        </p:spPr>
        <p:txBody>
          <a:bodyPr/>
          <a:lstStyle/>
          <a:p>
            <a:pPr defTabSz="614363" eaLnBrk="1" hangingPunct="1">
              <a:lnSpc>
                <a:spcPct val="80000"/>
              </a:lnSpc>
              <a:buFont typeface="Wingdings" panose="05000000000000000000" pitchFamily="2" charset="2"/>
              <a:buNone/>
              <a:defRPr/>
            </a:pPr>
            <a:r>
              <a:rPr lang="en-GB" altLang="zh-CN" sz="1800" dirty="0">
                <a:cs typeface="Courier New" pitchFamily="49" charset="0"/>
              </a:rPr>
              <a:t>class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err="1">
                <a:cs typeface="Courier New" pitchFamily="49" charset="0"/>
              </a:rPr>
              <a:t>int</a:t>
            </a:r>
            <a:r>
              <a:rPr lang="en-GB" altLang="zh-CN" sz="1800" dirty="0">
                <a:cs typeface="Courier New" pitchFamily="49" charset="0"/>
              </a:rPr>
              <a:t> </a:t>
            </a:r>
            <a:r>
              <a:rPr lang="en-GB" altLang="zh-CN" sz="1800" dirty="0" err="1">
                <a:cs typeface="Courier New" pitchFamily="49" charset="0"/>
              </a:rPr>
              <a:t>x,y</a:t>
            </a: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a:solidFill>
                  <a:srgbClr val="FFC000"/>
                </a:solidFill>
                <a:cs typeface="Courier New" pitchFamily="49" charset="0"/>
              </a:rPr>
              <a:t>virtual</a:t>
            </a:r>
            <a:r>
              <a:rPr lang="en-GB" altLang="zh-CN" sz="1800" dirty="0">
                <a:cs typeface="Courier New" pitchFamily="49" charset="0"/>
              </a:rPr>
              <a:t> void display(</a:t>
            </a:r>
            <a:r>
              <a:rPr lang="en-GB" altLang="zh-CN" sz="1800" dirty="0" err="1">
                <a:cs typeface="Courier New" pitchFamily="49" charset="0"/>
              </a:rPr>
              <a:t>ostream</a:t>
            </a:r>
            <a:r>
              <a:rPr lang="en-GB" altLang="zh-CN" sz="1800" dirty="0">
                <a:cs typeface="Courier New" pitchFamily="49" charset="0"/>
              </a:rPr>
              <a:t>&amp; out) </a:t>
            </a:r>
            <a:r>
              <a:rPr lang="en-GB" altLang="zh-CN" sz="1800" dirty="0" err="1">
                <a:cs typeface="Courier New" pitchFamily="49" charset="0"/>
              </a:rPr>
              <a:t>const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	out &lt;&lt; x &lt;&lt; ',' &lt;&lt; y ;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err="1">
                <a:cs typeface="Courier New" pitchFamily="49" charset="0"/>
              </a:rPr>
              <a:t>ostream</a:t>
            </a:r>
            <a:r>
              <a:rPr lang="en-GB" altLang="zh-CN" sz="1800" dirty="0">
                <a:cs typeface="Courier New" pitchFamily="49" charset="0"/>
              </a:rPr>
              <a:t>&amp; operator </a:t>
            </a:r>
            <a:r>
              <a:rPr lang="en-GB" altLang="zh-CN" sz="1800" dirty="0">
                <a:solidFill>
                  <a:srgbClr val="FFC000"/>
                </a:solidFill>
                <a:cs typeface="Courier New" pitchFamily="49" charset="0"/>
              </a:rPr>
              <a:t>&lt;&lt;</a:t>
            </a:r>
            <a:r>
              <a:rPr lang="en-GB" altLang="zh-CN" sz="1800" dirty="0">
                <a:cs typeface="Courier New" pitchFamily="49" charset="0"/>
              </a:rPr>
              <a:t> (</a:t>
            </a:r>
            <a:r>
              <a:rPr lang="en-GB" altLang="zh-CN" sz="1800" dirty="0" err="1">
                <a:cs typeface="Courier New" pitchFamily="49" charset="0"/>
              </a:rPr>
              <a:t>ostream</a:t>
            </a:r>
            <a:r>
              <a:rPr lang="en-GB" altLang="zh-CN" sz="1800" dirty="0">
                <a:cs typeface="Courier New" pitchFamily="49" charset="0"/>
              </a:rPr>
              <a:t>&amp; out, </a:t>
            </a:r>
            <a:r>
              <a:rPr lang="en-GB" altLang="zh-CN" sz="1800" dirty="0" err="1">
                <a:cs typeface="Courier New" pitchFamily="49" charset="0"/>
              </a:rPr>
              <a:t>const</a:t>
            </a:r>
            <a:r>
              <a:rPr lang="en-GB" altLang="zh-CN" sz="1800" dirty="0">
                <a:cs typeface="Courier New" pitchFamily="49" charset="0"/>
              </a:rPr>
              <a:t> </a:t>
            </a:r>
            <a:r>
              <a:rPr lang="en-GB" altLang="zh-CN" sz="1800" dirty="0">
                <a:solidFill>
                  <a:srgbClr val="FFC000"/>
                </a:solidFill>
                <a:cs typeface="Courier New" pitchFamily="49" charset="0"/>
              </a:rPr>
              <a:t>A</a:t>
            </a:r>
            <a:r>
              <a:rPr lang="en-GB" altLang="zh-CN" sz="1800" dirty="0">
                <a:cs typeface="Courier New" pitchFamily="49" charset="0"/>
              </a:rPr>
              <a:t>&amp;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r>
              <a:rPr lang="en-GB" altLang="zh-CN" sz="1800" dirty="0" err="1">
                <a:cs typeface="Courier New" pitchFamily="49" charset="0"/>
              </a:rPr>
              <a:t>a.</a:t>
            </a:r>
            <a:r>
              <a:rPr lang="en-GB" altLang="zh-CN" sz="1800" dirty="0" err="1">
                <a:solidFill>
                  <a:srgbClr val="FFC000"/>
                </a:solidFill>
                <a:cs typeface="Courier New" pitchFamily="49" charset="0"/>
              </a:rPr>
              <a:t>display</a:t>
            </a:r>
            <a:r>
              <a:rPr lang="en-GB" altLang="zh-CN" sz="1800" dirty="0">
                <a:cs typeface="Courier New" pitchFamily="49" charset="0"/>
              </a:rPr>
              <a:t>(out); //</a:t>
            </a:r>
            <a:r>
              <a:rPr lang="zh-CN" altLang="en-GB" sz="1800" dirty="0"/>
              <a:t>动态绑定到</a:t>
            </a:r>
            <a:r>
              <a:rPr lang="en-GB" altLang="zh-CN" sz="1800" dirty="0">
                <a:cs typeface="Courier New" pitchFamily="49" charset="0"/>
              </a:rPr>
              <a:t>A</a:t>
            </a:r>
            <a:r>
              <a:rPr lang="zh-CN" altLang="en-GB" sz="1800" dirty="0"/>
              <a:t>类或</a:t>
            </a:r>
            <a:r>
              <a:rPr lang="en-GB" altLang="zh-CN" sz="1800" dirty="0">
                <a:cs typeface="Courier New" pitchFamily="49" charset="0"/>
              </a:rPr>
              <a:t>B</a:t>
            </a:r>
            <a:r>
              <a:rPr lang="zh-CN" altLang="en-GB" sz="1800" dirty="0"/>
              <a:t>类对象的</a:t>
            </a:r>
            <a:r>
              <a:rPr lang="en-GB" altLang="zh-CN" sz="1800" dirty="0">
                <a:cs typeface="Courier New" pitchFamily="49" charset="0"/>
              </a:rPr>
              <a:t>display</a:t>
            </a:r>
            <a:r>
              <a:rPr lang="en-GB" altLang="zh-CN" sz="1800" dirty="0"/>
              <a:t>。</a:t>
            </a:r>
            <a:endParaRPr lang="zh-CN" altLang="en-US"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return out;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p>
          <a:p>
            <a:pPr defTabSz="614363" eaLnBrk="1" hangingPunct="1">
              <a:lnSpc>
                <a:spcPct val="80000"/>
              </a:lnSpc>
              <a:buFont typeface="Wingdings" panose="05000000000000000000" pitchFamily="2" charset="2"/>
              <a:buNone/>
              <a:defRPr/>
            </a:pPr>
            <a:r>
              <a:rPr lang="en-GB" altLang="zh-CN" sz="1800" dirty="0">
                <a:cs typeface="Courier New" pitchFamily="49" charset="0"/>
              </a:rPr>
              <a:t>class B: public A</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double z;</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public:</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void display(</a:t>
            </a:r>
            <a:r>
              <a:rPr lang="en-GB" altLang="zh-CN" sz="1800" dirty="0" err="1">
                <a:cs typeface="Courier New" pitchFamily="49" charset="0"/>
              </a:rPr>
              <a:t>ostream</a:t>
            </a:r>
            <a:r>
              <a:rPr lang="en-GB" altLang="zh-CN" sz="1800" dirty="0">
                <a:cs typeface="Courier New" pitchFamily="49" charset="0"/>
              </a:rPr>
              <a:t>&amp; out) </a:t>
            </a:r>
            <a:r>
              <a:rPr lang="en-GB" altLang="zh-CN" sz="1800" dirty="0" err="1">
                <a:cs typeface="Courier New" pitchFamily="49" charset="0"/>
              </a:rPr>
              <a:t>const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		{	A::display(out); out &lt;&lt; ',' &lt;&lt; z ;   	}</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GB" altLang="zh-CN" sz="1800" dirty="0">
                <a:cs typeface="Courier New" pitchFamily="49" charset="0"/>
              </a:rPr>
              <a:t>};</a:t>
            </a:r>
            <a:endParaRPr lang="en-US" altLang="zh-CN" sz="1800" dirty="0">
              <a:cs typeface="Courier New" pitchFamily="49" charset="0"/>
            </a:endParaRPr>
          </a:p>
          <a:p>
            <a:pPr defTabSz="614363" eaLnBrk="1" hangingPunct="1">
              <a:lnSpc>
                <a:spcPct val="80000"/>
              </a:lnSpc>
              <a:buFont typeface="Wingdings" panose="05000000000000000000" pitchFamily="2" charset="2"/>
              <a:buNone/>
              <a:defRPr/>
            </a:pPr>
            <a:r>
              <a:rPr lang="en-US" altLang="zh-CN" sz="1800" dirty="0">
                <a:cs typeface="Courier New" pitchFamily="49" charset="0"/>
              </a:rPr>
              <a:t>A </a:t>
            </a:r>
            <a:r>
              <a:rPr lang="en-US" altLang="zh-CN" sz="1800" dirty="0" err="1">
                <a:cs typeface="Courier New" pitchFamily="49" charset="0"/>
              </a:rPr>
              <a:t>a</a:t>
            </a:r>
            <a:r>
              <a:rPr lang="en-US" altLang="zh-CN" sz="1800" dirty="0">
                <a:cs typeface="Courier New" pitchFamily="49" charset="0"/>
              </a:rPr>
              <a:t>; B </a:t>
            </a:r>
            <a:r>
              <a:rPr lang="en-US" altLang="zh-CN" sz="1800" dirty="0" err="1">
                <a:cs typeface="Courier New" pitchFamily="49" charset="0"/>
              </a:rPr>
              <a:t>b</a:t>
            </a:r>
            <a:r>
              <a:rPr lang="en-US" altLang="zh-CN" sz="1800" dirty="0">
                <a:cs typeface="Courier New" pitchFamily="49" charset="0"/>
              </a:rPr>
              <a:t>; A *p=&amp;b;</a:t>
            </a:r>
          </a:p>
          <a:p>
            <a:pPr defTabSz="614363" eaLnBrk="1" hangingPunct="1">
              <a:lnSpc>
                <a:spcPct val="80000"/>
              </a:lnSpc>
              <a:buFont typeface="Wingdings" panose="05000000000000000000" pitchFamily="2" charset="2"/>
              <a:buNone/>
              <a:defRPr/>
            </a:pPr>
            <a:r>
              <a:rPr lang="en-US" altLang="zh-CN" sz="1800" dirty="0" err="1">
                <a:cs typeface="Courier New" pitchFamily="49" charset="0"/>
              </a:rPr>
              <a:t>cout</a:t>
            </a:r>
            <a:r>
              <a:rPr lang="en-US" altLang="zh-CN" sz="1800" dirty="0">
                <a:cs typeface="Courier New" pitchFamily="49" charset="0"/>
              </a:rPr>
              <a:t> </a:t>
            </a:r>
            <a:r>
              <a:rPr lang="en-US" altLang="zh-CN" sz="1800" dirty="0">
                <a:solidFill>
                  <a:srgbClr val="FFC000"/>
                </a:solidFill>
                <a:cs typeface="Courier New" pitchFamily="49" charset="0"/>
              </a:rPr>
              <a:t>&lt;&lt;</a:t>
            </a:r>
            <a:r>
              <a:rPr lang="en-US" altLang="zh-CN" sz="1800" dirty="0">
                <a:cs typeface="Courier New" pitchFamily="49" charset="0"/>
              </a:rPr>
              <a:t> a &lt;&lt; </a:t>
            </a:r>
            <a:r>
              <a:rPr lang="en-US" altLang="zh-CN" sz="1800" dirty="0" err="1">
                <a:cs typeface="Courier New" pitchFamily="49" charset="0"/>
              </a:rPr>
              <a:t>endl</a:t>
            </a:r>
            <a:r>
              <a:rPr lang="en-US" altLang="zh-CN" sz="1800" dirty="0">
                <a:cs typeface="Courier New" pitchFamily="49" charset="0"/>
              </a:rPr>
              <a:t> </a:t>
            </a:r>
            <a:r>
              <a:rPr lang="en-US" altLang="zh-CN" sz="1800" dirty="0">
                <a:solidFill>
                  <a:srgbClr val="FFC000"/>
                </a:solidFill>
                <a:cs typeface="Courier New" pitchFamily="49" charset="0"/>
              </a:rPr>
              <a:t>&lt;&lt;</a:t>
            </a:r>
            <a:r>
              <a:rPr lang="en-US" altLang="zh-CN" sz="1800" dirty="0">
                <a:cs typeface="Courier New" pitchFamily="49" charset="0"/>
              </a:rPr>
              <a:t> b &lt;&lt; </a:t>
            </a:r>
            <a:r>
              <a:rPr lang="en-US" altLang="zh-CN" sz="1800" dirty="0" err="1">
                <a:cs typeface="Courier New" pitchFamily="49" charset="0"/>
              </a:rPr>
              <a:t>endl</a:t>
            </a:r>
            <a:r>
              <a:rPr lang="en-US" altLang="zh-CN" sz="1800" dirty="0">
                <a:cs typeface="Courier New" pitchFamily="49" charset="0"/>
              </a:rPr>
              <a:t> </a:t>
            </a:r>
            <a:r>
              <a:rPr lang="en-US" altLang="zh-CN" sz="1800" dirty="0">
                <a:solidFill>
                  <a:srgbClr val="FFC000"/>
                </a:solidFill>
                <a:cs typeface="Courier New" pitchFamily="49" charset="0"/>
              </a:rPr>
              <a:t>&lt;&lt;</a:t>
            </a:r>
            <a:r>
              <a:rPr lang="en-US" altLang="zh-CN" sz="1800" dirty="0">
                <a:cs typeface="Courier New" pitchFamily="49" charset="0"/>
              </a:rPr>
              <a:t> *p &lt;&lt; </a:t>
            </a:r>
            <a:r>
              <a:rPr lang="en-US" altLang="zh-CN" sz="1800" dirty="0" err="1">
                <a:cs typeface="Courier New" pitchFamily="49" charset="0"/>
              </a:rPr>
              <a:t>endl</a:t>
            </a:r>
            <a:r>
              <a:rPr lang="en-US" altLang="zh-CN" sz="1800" dirty="0">
                <a:cs typeface="Courier New" pitchFamily="49" charset="0"/>
              </a:rPr>
              <a:t>; //OK</a:t>
            </a:r>
            <a:endParaRPr lang="en-US" altLang="zh-CN" sz="180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D1DF470-DAEC-A60E-DFE8-FDEAFFC2019B}"/>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面向文件的</a:t>
            </a:r>
            <a:r>
              <a:rPr lang="en-US" altLang="zh-CN" dirty="0"/>
              <a:t>I/O</a:t>
            </a:r>
          </a:p>
        </p:txBody>
      </p:sp>
      <p:sp>
        <p:nvSpPr>
          <p:cNvPr id="92163" name="Rectangle 3">
            <a:extLst>
              <a:ext uri="{FF2B5EF4-FFF2-40B4-BE49-F238E27FC236}">
                <a16:creationId xmlns:a16="http://schemas.microsoft.com/office/drawing/2014/main" id="{98D987FD-329A-F3B3-BC35-E292577453C0}"/>
              </a:ext>
            </a:extLst>
          </p:cNvPr>
          <p:cNvSpPr>
            <a:spLocks noGrp="1" noChangeArrowheads="1"/>
          </p:cNvSpPr>
          <p:nvPr>
            <p:ph type="body" idx="1"/>
          </p:nvPr>
        </p:nvSpPr>
        <p:spPr>
          <a:xfrm>
            <a:off x="277813" y="1268413"/>
            <a:ext cx="8686800" cy="5400675"/>
          </a:xfrm>
        </p:spPr>
        <p:txBody>
          <a:bodyPr>
            <a:normAutofit lnSpcReduction="10000"/>
          </a:bodyPr>
          <a:lstStyle/>
          <a:p>
            <a:pPr eaLnBrk="1" hangingPunct="1">
              <a:lnSpc>
                <a:spcPct val="120000"/>
              </a:lnSpc>
              <a:defRPr/>
            </a:pPr>
            <a:r>
              <a:rPr lang="zh-CN" altLang="en-US" dirty="0"/>
              <a:t>需求：</a:t>
            </a:r>
            <a:endParaRPr lang="en-US" altLang="zh-CN" dirty="0"/>
          </a:p>
          <a:p>
            <a:pPr lvl="1" eaLnBrk="1" hangingPunct="1">
              <a:lnSpc>
                <a:spcPct val="120000"/>
              </a:lnSpc>
              <a:defRPr/>
            </a:pPr>
            <a:r>
              <a:rPr lang="zh-CN" altLang="en-US" dirty="0"/>
              <a:t>程序运行结果有时需要</a:t>
            </a:r>
            <a:r>
              <a:rPr lang="zh-CN" altLang="en-US" dirty="0">
                <a:solidFill>
                  <a:srgbClr val="FFC000"/>
                </a:solidFill>
              </a:rPr>
              <a:t>永久性</a:t>
            </a:r>
            <a:r>
              <a:rPr lang="zh-CN" altLang="en-US" dirty="0"/>
              <a:t>地保存起来，以供其它程序或本程序下一次运行时使用。</a:t>
            </a:r>
            <a:endParaRPr lang="en-US" altLang="zh-CN" dirty="0"/>
          </a:p>
          <a:p>
            <a:pPr lvl="1" eaLnBrk="1" hangingPunct="1">
              <a:lnSpc>
                <a:spcPct val="120000"/>
              </a:lnSpc>
              <a:defRPr/>
            </a:pPr>
            <a:r>
              <a:rPr lang="zh-CN" altLang="en-US" dirty="0"/>
              <a:t>程序运行所需要的数据也常常要从其它程序或本程序上一次运行所保存的数据中获得。</a:t>
            </a:r>
          </a:p>
          <a:p>
            <a:pPr eaLnBrk="1" hangingPunct="1">
              <a:lnSpc>
                <a:spcPct val="120000"/>
              </a:lnSpc>
              <a:defRPr/>
            </a:pPr>
            <a:r>
              <a:rPr lang="zh-CN" altLang="en-US" dirty="0"/>
              <a:t>用于永久性保存数据的设备称为</a:t>
            </a:r>
            <a:r>
              <a:rPr lang="zh-CN" altLang="en-US" dirty="0">
                <a:solidFill>
                  <a:srgbClr val="FFC000"/>
                </a:solidFill>
              </a:rPr>
              <a:t>外部存储器</a:t>
            </a:r>
            <a:r>
              <a:rPr lang="zh-CN" altLang="en-US" dirty="0"/>
              <a:t>（简称：外存），如：</a:t>
            </a:r>
            <a:endParaRPr lang="en-US" altLang="zh-CN" dirty="0"/>
          </a:p>
          <a:p>
            <a:pPr lvl="1" eaLnBrk="1" hangingPunct="1">
              <a:lnSpc>
                <a:spcPct val="120000"/>
              </a:lnSpc>
              <a:defRPr/>
            </a:pPr>
            <a:r>
              <a:rPr lang="zh-CN" altLang="en-US" dirty="0"/>
              <a:t>光盘、磁盘、硬盘、非易失性内存等。</a:t>
            </a:r>
          </a:p>
          <a:p>
            <a:pPr eaLnBrk="1" hangingPunct="1">
              <a:lnSpc>
                <a:spcPct val="120000"/>
              </a:lnSpc>
              <a:defRPr/>
            </a:pPr>
            <a:r>
              <a:rPr lang="zh-CN" altLang="en-US" dirty="0"/>
              <a:t>本课程介绍以</a:t>
            </a:r>
            <a:r>
              <a:rPr lang="zh-CN" altLang="en-US" dirty="0">
                <a:solidFill>
                  <a:srgbClr val="FFC000"/>
                </a:solidFill>
              </a:rPr>
              <a:t>文件</a:t>
            </a:r>
            <a:r>
              <a:rPr lang="zh-CN" altLang="en-US" dirty="0"/>
              <a:t>方式来永久性地保存数据。</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30D9A1E5-915E-1504-0042-4B92788EE571}"/>
              </a:ext>
            </a:extLst>
          </p:cNvPr>
          <p:cNvSpPr>
            <a:spLocks noGrp="1" noChangeArrowheads="1"/>
          </p:cNvSpPr>
          <p:nvPr>
            <p:ph type="title"/>
          </p:nvPr>
        </p:nvSpPr>
        <p:spPr>
          <a:xfrm>
            <a:off x="457200" y="115888"/>
            <a:ext cx="8229600" cy="1139825"/>
          </a:xfrm>
        </p:spPr>
        <p:txBody>
          <a:bodyPr/>
          <a:lstStyle/>
          <a:p>
            <a:pPr eaLnBrk="1" hangingPunct="1">
              <a:defRPr/>
            </a:pPr>
            <a:r>
              <a:rPr lang="zh-CN" altLang="en-US" dirty="0"/>
              <a:t>文件的基本概念</a:t>
            </a:r>
            <a:endParaRPr lang="zh-CN" altLang="zh-CN" dirty="0"/>
          </a:p>
        </p:txBody>
      </p:sp>
      <p:sp>
        <p:nvSpPr>
          <p:cNvPr id="93187" name="Rectangle 3">
            <a:extLst>
              <a:ext uri="{FF2B5EF4-FFF2-40B4-BE49-F238E27FC236}">
                <a16:creationId xmlns:a16="http://schemas.microsoft.com/office/drawing/2014/main" id="{2CB1ACA9-BFA0-D903-4223-931CF5CD30A2}"/>
              </a:ext>
            </a:extLst>
          </p:cNvPr>
          <p:cNvSpPr>
            <a:spLocks noGrp="1" noChangeArrowheads="1"/>
          </p:cNvSpPr>
          <p:nvPr>
            <p:ph type="body" idx="1"/>
          </p:nvPr>
        </p:nvSpPr>
        <p:spPr>
          <a:xfrm>
            <a:off x="457200" y="1412875"/>
            <a:ext cx="8229600" cy="3240088"/>
          </a:xfrm>
        </p:spPr>
        <p:txBody>
          <a:bodyPr>
            <a:normAutofit fontScale="85000" lnSpcReduction="20000"/>
          </a:bodyPr>
          <a:lstStyle/>
          <a:p>
            <a:pPr eaLnBrk="1" hangingPunct="1">
              <a:lnSpc>
                <a:spcPct val="120000"/>
              </a:lnSpc>
              <a:defRPr/>
            </a:pPr>
            <a:r>
              <a:rPr lang="zh-CN" altLang="en-US" dirty="0">
                <a:latin typeface="Times New Roman" pitchFamily="18" charset="0"/>
              </a:rPr>
              <a:t>在</a:t>
            </a:r>
            <a:r>
              <a:rPr lang="en-US" altLang="zh-CN" dirty="0">
                <a:latin typeface="Times New Roman" pitchFamily="18" charset="0"/>
                <a:cs typeface="Times New Roman" pitchFamily="18" charset="0"/>
              </a:rPr>
              <a:t>C++</a:t>
            </a:r>
            <a:r>
              <a:rPr lang="zh-CN" altLang="en-US" dirty="0">
                <a:latin typeface="Times New Roman" pitchFamily="18" charset="0"/>
              </a:rPr>
              <a:t>中，把文件看成是由一系列字节所构成的</a:t>
            </a:r>
            <a:r>
              <a:rPr lang="zh-CN" altLang="en-US" dirty="0">
                <a:solidFill>
                  <a:srgbClr val="FFC000"/>
                </a:solidFill>
                <a:latin typeface="Times New Roman" pitchFamily="18" charset="0"/>
              </a:rPr>
              <a:t>字节串</a:t>
            </a:r>
            <a:r>
              <a:rPr lang="zh-CN" altLang="en-US" dirty="0">
                <a:latin typeface="Times New Roman" pitchFamily="18" charset="0"/>
              </a:rPr>
              <a:t>，对文件中数据的操作（输入</a:t>
            </a:r>
            <a:r>
              <a:rPr lang="en-US" altLang="zh-CN" dirty="0">
                <a:latin typeface="Times New Roman" pitchFamily="18" charset="0"/>
                <a:cs typeface="Times New Roman" pitchFamily="18" charset="0"/>
              </a:rPr>
              <a:t>/</a:t>
            </a:r>
            <a:r>
              <a:rPr lang="zh-CN" altLang="en-US" dirty="0">
                <a:latin typeface="Times New Roman" pitchFamily="18" charset="0"/>
              </a:rPr>
              <a:t>输出）通常是逐个字节</a:t>
            </a:r>
            <a:r>
              <a:rPr lang="zh-CN" altLang="en-US" dirty="0">
                <a:solidFill>
                  <a:schemeClr val="folHlink"/>
                </a:solidFill>
                <a:latin typeface="Times New Roman" pitchFamily="18" charset="0"/>
              </a:rPr>
              <a:t>顺序</a:t>
            </a:r>
            <a:r>
              <a:rPr lang="zh-CN" altLang="en-US" dirty="0">
                <a:latin typeface="Times New Roman" pitchFamily="18" charset="0"/>
              </a:rPr>
              <a:t>进行，因此称为</a:t>
            </a:r>
            <a:r>
              <a:rPr lang="zh-CN" altLang="en-US" dirty="0">
                <a:solidFill>
                  <a:srgbClr val="FFC000"/>
                </a:solidFill>
                <a:latin typeface="Times New Roman" pitchFamily="18" charset="0"/>
              </a:rPr>
              <a:t>流式文件</a:t>
            </a:r>
            <a:r>
              <a:rPr lang="zh-CN" altLang="en-US" dirty="0">
                <a:latin typeface="Times New Roman" pitchFamily="18" charset="0"/>
              </a:rPr>
              <a:t>。</a:t>
            </a:r>
            <a:r>
              <a:rPr lang="zh-CN" altLang="en-US" dirty="0"/>
              <a:t> </a:t>
            </a:r>
          </a:p>
          <a:p>
            <a:pPr eaLnBrk="1" hangingPunct="1">
              <a:lnSpc>
                <a:spcPct val="120000"/>
              </a:lnSpc>
              <a:defRPr/>
            </a:pPr>
            <a:r>
              <a:rPr lang="zh-CN" altLang="en-US" dirty="0">
                <a:latin typeface="Times New Roman" pitchFamily="18" charset="0"/>
              </a:rPr>
              <a:t>每个打开的文件都有一个内部（隐藏）的</a:t>
            </a:r>
            <a:r>
              <a:rPr lang="zh-CN" altLang="en-US" dirty="0">
                <a:solidFill>
                  <a:srgbClr val="FFC000"/>
                </a:solidFill>
                <a:latin typeface="Times New Roman" pitchFamily="18" charset="0"/>
              </a:rPr>
              <a:t>位置指针</a:t>
            </a:r>
            <a:r>
              <a:rPr lang="zh-CN" altLang="en-US" dirty="0">
                <a:latin typeface="Times New Roman" pitchFamily="18" charset="0"/>
              </a:rPr>
              <a:t>，它指出文件的当前读写位置。</a:t>
            </a:r>
          </a:p>
          <a:p>
            <a:pPr eaLnBrk="1" hangingPunct="1">
              <a:lnSpc>
                <a:spcPct val="120000"/>
              </a:lnSpc>
              <a:defRPr/>
            </a:pPr>
            <a:r>
              <a:rPr lang="zh-CN" altLang="en-US" dirty="0"/>
              <a:t>进行读</a:t>
            </a:r>
            <a:r>
              <a:rPr lang="en-US" altLang="zh-CN" dirty="0"/>
              <a:t>/</a:t>
            </a:r>
            <a:r>
              <a:rPr lang="zh-CN" altLang="en-US" dirty="0"/>
              <a:t>写操作时，每读入</a:t>
            </a:r>
            <a:r>
              <a:rPr lang="en-US" altLang="zh-CN" dirty="0"/>
              <a:t>/</a:t>
            </a:r>
            <a:r>
              <a:rPr lang="zh-CN" altLang="en-US" dirty="0"/>
              <a:t>写出一个字节，文件位置指针会</a:t>
            </a:r>
            <a:r>
              <a:rPr lang="zh-CN" altLang="en-US" dirty="0">
                <a:solidFill>
                  <a:srgbClr val="FFC000"/>
                </a:solidFill>
              </a:rPr>
              <a:t>自动</a:t>
            </a:r>
            <a:r>
              <a:rPr lang="zh-CN" altLang="en-US" dirty="0"/>
              <a:t>往后移动一个字节的位置。 </a:t>
            </a:r>
          </a:p>
        </p:txBody>
      </p:sp>
      <p:grpSp>
        <p:nvGrpSpPr>
          <p:cNvPr id="29700" name="Group 10">
            <a:extLst>
              <a:ext uri="{FF2B5EF4-FFF2-40B4-BE49-F238E27FC236}">
                <a16:creationId xmlns:a16="http://schemas.microsoft.com/office/drawing/2014/main" id="{25A7B372-026A-AF4B-A2AE-5D3EE57876FF}"/>
              </a:ext>
            </a:extLst>
          </p:cNvPr>
          <p:cNvGrpSpPr>
            <a:grpSpLocks/>
          </p:cNvGrpSpPr>
          <p:nvPr/>
        </p:nvGrpSpPr>
        <p:grpSpPr bwMode="auto">
          <a:xfrm>
            <a:off x="1698625" y="4911725"/>
            <a:ext cx="4818063" cy="1109663"/>
            <a:chOff x="571" y="3942"/>
            <a:chExt cx="1368" cy="278"/>
          </a:xfrm>
        </p:grpSpPr>
        <p:sp>
          <p:nvSpPr>
            <p:cNvPr id="29702" name="Rectangle 4">
              <a:extLst>
                <a:ext uri="{FF2B5EF4-FFF2-40B4-BE49-F238E27FC236}">
                  <a16:creationId xmlns:a16="http://schemas.microsoft.com/office/drawing/2014/main" id="{0F711170-A6DE-B73E-1C2D-CD68A865B9AE}"/>
                </a:ext>
              </a:extLst>
            </p:cNvPr>
            <p:cNvSpPr>
              <a:spLocks noChangeArrowheads="1"/>
            </p:cNvSpPr>
            <p:nvPr/>
          </p:nvSpPr>
          <p:spPr bwMode="auto">
            <a:xfrm>
              <a:off x="571" y="3942"/>
              <a:ext cx="1368" cy="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703" name="Line 5">
              <a:extLst>
                <a:ext uri="{FF2B5EF4-FFF2-40B4-BE49-F238E27FC236}">
                  <a16:creationId xmlns:a16="http://schemas.microsoft.com/office/drawing/2014/main" id="{CDDF7AFA-8F86-26DE-54BE-FA3B1D5D25A8}"/>
                </a:ext>
              </a:extLst>
            </p:cNvPr>
            <p:cNvSpPr>
              <a:spLocks noChangeShapeType="1"/>
            </p:cNvSpPr>
            <p:nvPr/>
          </p:nvSpPr>
          <p:spPr bwMode="auto">
            <a:xfrm>
              <a:off x="715" y="3942"/>
              <a:ext cx="0"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Line 6">
              <a:extLst>
                <a:ext uri="{FF2B5EF4-FFF2-40B4-BE49-F238E27FC236}">
                  <a16:creationId xmlns:a16="http://schemas.microsoft.com/office/drawing/2014/main" id="{0CD293E0-3C3F-73FD-7ABB-BCDB018176AB}"/>
                </a:ext>
              </a:extLst>
            </p:cNvPr>
            <p:cNvSpPr>
              <a:spLocks noChangeShapeType="1"/>
            </p:cNvSpPr>
            <p:nvPr/>
          </p:nvSpPr>
          <p:spPr bwMode="auto">
            <a:xfrm>
              <a:off x="859" y="3942"/>
              <a:ext cx="0"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Line 7">
              <a:extLst>
                <a:ext uri="{FF2B5EF4-FFF2-40B4-BE49-F238E27FC236}">
                  <a16:creationId xmlns:a16="http://schemas.microsoft.com/office/drawing/2014/main" id="{5300C2E0-E058-83C4-86C7-D9AE9255364D}"/>
                </a:ext>
              </a:extLst>
            </p:cNvPr>
            <p:cNvSpPr>
              <a:spLocks noChangeShapeType="1"/>
            </p:cNvSpPr>
            <p:nvPr/>
          </p:nvSpPr>
          <p:spPr bwMode="auto">
            <a:xfrm>
              <a:off x="1003" y="3942"/>
              <a:ext cx="0"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Line 8">
              <a:extLst>
                <a:ext uri="{FF2B5EF4-FFF2-40B4-BE49-F238E27FC236}">
                  <a16:creationId xmlns:a16="http://schemas.microsoft.com/office/drawing/2014/main" id="{4112B938-3B28-4BAF-9463-FB18E82E0E9A}"/>
                </a:ext>
              </a:extLst>
            </p:cNvPr>
            <p:cNvSpPr>
              <a:spLocks noChangeShapeType="1"/>
            </p:cNvSpPr>
            <p:nvPr/>
          </p:nvSpPr>
          <p:spPr bwMode="auto">
            <a:xfrm>
              <a:off x="1147" y="3942"/>
              <a:ext cx="0"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7" name="Line 9">
              <a:extLst>
                <a:ext uri="{FF2B5EF4-FFF2-40B4-BE49-F238E27FC236}">
                  <a16:creationId xmlns:a16="http://schemas.microsoft.com/office/drawing/2014/main" id="{0EB7DB3C-A067-D952-CE2A-89E75D9A055F}"/>
                </a:ext>
              </a:extLst>
            </p:cNvPr>
            <p:cNvSpPr>
              <a:spLocks noChangeShapeType="1"/>
            </p:cNvSpPr>
            <p:nvPr/>
          </p:nvSpPr>
          <p:spPr bwMode="auto">
            <a:xfrm flipV="1">
              <a:off x="1219" y="4096"/>
              <a:ext cx="0" cy="1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701" name="Text Box 11">
            <a:extLst>
              <a:ext uri="{FF2B5EF4-FFF2-40B4-BE49-F238E27FC236}">
                <a16:creationId xmlns:a16="http://schemas.microsoft.com/office/drawing/2014/main" id="{447762EA-4073-B88E-80E2-E4EC29681E38}"/>
              </a:ext>
            </a:extLst>
          </p:cNvPr>
          <p:cNvSpPr txBox="1">
            <a:spLocks noChangeArrowheads="1"/>
          </p:cNvSpPr>
          <p:nvPr/>
        </p:nvSpPr>
        <p:spPr bwMode="auto">
          <a:xfrm>
            <a:off x="3400425" y="6086475"/>
            <a:ext cx="11795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800"/>
              <a:t>位置指针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52F957D-6378-0585-34C7-AC29E3E2E912}"/>
              </a:ext>
            </a:extLst>
          </p:cNvPr>
          <p:cNvSpPr>
            <a:spLocks noGrp="1" noChangeArrowheads="1"/>
          </p:cNvSpPr>
          <p:nvPr>
            <p:ph type="title"/>
          </p:nvPr>
        </p:nvSpPr>
        <p:spPr>
          <a:xfrm>
            <a:off x="381000" y="152400"/>
            <a:ext cx="8229600" cy="835025"/>
          </a:xfrm>
        </p:spPr>
        <p:txBody>
          <a:bodyPr/>
          <a:lstStyle/>
          <a:p>
            <a:pPr eaLnBrk="1" hangingPunct="1">
              <a:defRPr/>
            </a:pPr>
            <a:r>
              <a:rPr lang="zh-CN" altLang="en-US" dirty="0"/>
              <a:t>文件的读写过程</a:t>
            </a:r>
          </a:p>
        </p:txBody>
      </p:sp>
      <p:sp>
        <p:nvSpPr>
          <p:cNvPr id="9219" name="Rectangle 3">
            <a:extLst>
              <a:ext uri="{FF2B5EF4-FFF2-40B4-BE49-F238E27FC236}">
                <a16:creationId xmlns:a16="http://schemas.microsoft.com/office/drawing/2014/main" id="{844375C8-3ABB-ABEE-C68D-A411EB85E766}"/>
              </a:ext>
            </a:extLst>
          </p:cNvPr>
          <p:cNvSpPr>
            <a:spLocks noGrp="1" noChangeArrowheads="1"/>
          </p:cNvSpPr>
          <p:nvPr>
            <p:ph type="body" idx="1"/>
          </p:nvPr>
        </p:nvSpPr>
        <p:spPr>
          <a:xfrm>
            <a:off x="381000" y="1570038"/>
            <a:ext cx="8229600" cy="4954587"/>
          </a:xfrm>
        </p:spPr>
        <p:txBody>
          <a:bodyPr>
            <a:normAutofit/>
          </a:bodyPr>
          <a:lstStyle/>
          <a:p>
            <a:pPr eaLnBrk="1" hangingPunct="1">
              <a:lnSpc>
                <a:spcPct val="110000"/>
              </a:lnSpc>
              <a:defRPr/>
            </a:pPr>
            <a:r>
              <a:rPr lang="zh-CN" altLang="en-US" sz="2800" dirty="0">
                <a:latin typeface="Times New Roman" pitchFamily="18" charset="0"/>
              </a:rPr>
              <a:t>在外存（如硬盘）中，每个文件都有一个名字（文件名）（操作系统一般采用树型的目录结构来管理外存中的文件）。</a:t>
            </a:r>
            <a:endParaRPr lang="en-US" altLang="zh-CN" sz="2800" dirty="0">
              <a:latin typeface="Times New Roman" pitchFamily="18" charset="0"/>
            </a:endParaRPr>
          </a:p>
          <a:p>
            <a:pPr eaLnBrk="1" hangingPunct="1">
              <a:lnSpc>
                <a:spcPct val="110000"/>
              </a:lnSpc>
              <a:defRPr/>
            </a:pPr>
            <a:r>
              <a:rPr lang="zh-CN" altLang="en-US" sz="2800" dirty="0">
                <a:latin typeface="Times New Roman" pitchFamily="18" charset="0"/>
              </a:rPr>
              <a:t>对文件数据进行读写的过程：</a:t>
            </a:r>
          </a:p>
          <a:p>
            <a:pPr lvl="1" eaLnBrk="1" hangingPunct="1">
              <a:lnSpc>
                <a:spcPct val="110000"/>
              </a:lnSpc>
              <a:defRPr/>
            </a:pPr>
            <a:r>
              <a:rPr lang="zh-CN" altLang="en-US" sz="2400" dirty="0">
                <a:solidFill>
                  <a:srgbClr val="FFC000"/>
                </a:solidFill>
                <a:latin typeface="Times New Roman" pitchFamily="18" charset="0"/>
              </a:rPr>
              <a:t>打开文件</a:t>
            </a:r>
            <a:r>
              <a:rPr lang="zh-CN" altLang="en-US" sz="2400" dirty="0">
                <a:latin typeface="Times New Roman" pitchFamily="18" charset="0"/>
              </a:rPr>
              <a:t>：把程序内部的一个表示文件的变量</a:t>
            </a:r>
            <a:r>
              <a:rPr lang="en-US" altLang="zh-CN" sz="2400" dirty="0">
                <a:latin typeface="Times New Roman" pitchFamily="18" charset="0"/>
              </a:rPr>
              <a:t>/</a:t>
            </a:r>
            <a:r>
              <a:rPr lang="zh-CN" altLang="en-US" sz="2400" dirty="0">
                <a:latin typeface="Times New Roman" pitchFamily="18" charset="0"/>
              </a:rPr>
              <a:t>对象与外部的一个具体文件关联起来，并创建内存缓冲区。</a:t>
            </a:r>
          </a:p>
          <a:p>
            <a:pPr lvl="1" eaLnBrk="1" hangingPunct="1">
              <a:lnSpc>
                <a:spcPct val="110000"/>
              </a:lnSpc>
              <a:defRPr/>
            </a:pPr>
            <a:r>
              <a:rPr lang="zh-CN" altLang="en-US" sz="2400" dirty="0">
                <a:solidFill>
                  <a:srgbClr val="FFC000"/>
                </a:solidFill>
                <a:latin typeface="Times New Roman" pitchFamily="18" charset="0"/>
              </a:rPr>
              <a:t>文件读</a:t>
            </a:r>
            <a:r>
              <a:rPr lang="en-US" altLang="zh-CN" sz="2400" dirty="0">
                <a:solidFill>
                  <a:srgbClr val="FFC000"/>
                </a:solidFill>
                <a:latin typeface="Times New Roman" pitchFamily="18" charset="0"/>
              </a:rPr>
              <a:t>/</a:t>
            </a:r>
            <a:r>
              <a:rPr lang="zh-CN" altLang="en-US" sz="2400" dirty="0">
                <a:solidFill>
                  <a:srgbClr val="FFC000"/>
                </a:solidFill>
                <a:latin typeface="Times New Roman" pitchFamily="18" charset="0"/>
              </a:rPr>
              <a:t>写</a:t>
            </a:r>
            <a:r>
              <a:rPr lang="zh-CN" altLang="en-US" sz="2400" dirty="0">
                <a:latin typeface="Times New Roman" pitchFamily="18" charset="0"/>
              </a:rPr>
              <a:t>：存取文件中的内容。</a:t>
            </a:r>
          </a:p>
          <a:p>
            <a:pPr lvl="1" eaLnBrk="1" hangingPunct="1">
              <a:lnSpc>
                <a:spcPct val="110000"/>
              </a:lnSpc>
              <a:defRPr/>
            </a:pPr>
            <a:r>
              <a:rPr lang="zh-CN" altLang="en-US" sz="2400" dirty="0">
                <a:solidFill>
                  <a:srgbClr val="FFC000"/>
                </a:solidFill>
                <a:latin typeface="Times New Roman" pitchFamily="18" charset="0"/>
              </a:rPr>
              <a:t>关闭文件</a:t>
            </a:r>
            <a:r>
              <a:rPr lang="zh-CN" altLang="en-US" sz="2400" dirty="0">
                <a:latin typeface="Times New Roman" pitchFamily="18" charset="0"/>
              </a:rPr>
              <a:t>：把暂存在内存缓冲区中的内容写入到文件中，并归还打开文件时申请的内存资源（包括内存缓冲区）。 </a:t>
            </a:r>
            <a:r>
              <a:rPr lang="zh-CN" altLang="en-US" sz="2400" dirty="0"/>
              <a:t> </a:t>
            </a:r>
          </a:p>
          <a:p>
            <a:pPr eaLnBrk="1" hangingPunct="1">
              <a:defRPr/>
            </a:pPr>
            <a:endParaRPr lang="zh-CN"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CA8C2B5-EA99-E5ED-186B-35A7000EA7B1}"/>
              </a:ext>
            </a:extLst>
          </p:cNvPr>
          <p:cNvSpPr>
            <a:spLocks noGrp="1" noChangeArrowheads="1"/>
          </p:cNvSpPr>
          <p:nvPr>
            <p:ph type="title"/>
          </p:nvPr>
        </p:nvSpPr>
        <p:spPr>
          <a:xfrm>
            <a:off x="457200" y="76200"/>
            <a:ext cx="8229600" cy="788988"/>
          </a:xfrm>
        </p:spPr>
        <p:txBody>
          <a:bodyPr/>
          <a:lstStyle/>
          <a:p>
            <a:pPr eaLnBrk="1" hangingPunct="1">
              <a:defRPr/>
            </a:pPr>
            <a:r>
              <a:rPr lang="zh-CN" altLang="en-GB">
                <a:latin typeface="Times New Roman" pitchFamily="18" charset="0"/>
              </a:rPr>
              <a:t>文件数据的存储方式</a:t>
            </a:r>
            <a:r>
              <a:rPr lang="zh-CN" altLang="en-US"/>
              <a:t> </a:t>
            </a:r>
          </a:p>
        </p:txBody>
      </p:sp>
      <p:sp>
        <p:nvSpPr>
          <p:cNvPr id="25603" name="Rectangle 3">
            <a:extLst>
              <a:ext uri="{FF2B5EF4-FFF2-40B4-BE49-F238E27FC236}">
                <a16:creationId xmlns:a16="http://schemas.microsoft.com/office/drawing/2014/main" id="{228B0C0B-88DA-62F4-33F3-40E59F2ED099}"/>
              </a:ext>
            </a:extLst>
          </p:cNvPr>
          <p:cNvSpPr>
            <a:spLocks noGrp="1" noChangeArrowheads="1"/>
          </p:cNvSpPr>
          <p:nvPr>
            <p:ph type="body" idx="1"/>
          </p:nvPr>
        </p:nvSpPr>
        <p:spPr>
          <a:xfrm>
            <a:off x="323850" y="1125538"/>
            <a:ext cx="8434388" cy="5562600"/>
          </a:xfrm>
        </p:spPr>
        <p:txBody>
          <a:bodyPr>
            <a:normAutofit fontScale="92500" lnSpcReduction="10000"/>
          </a:bodyPr>
          <a:lstStyle/>
          <a:p>
            <a:pPr eaLnBrk="1" hangingPunct="1">
              <a:lnSpc>
                <a:spcPct val="110000"/>
              </a:lnSpc>
              <a:defRPr/>
            </a:pPr>
            <a:r>
              <a:rPr lang="zh-CN" altLang="en-GB" sz="2800" dirty="0">
                <a:solidFill>
                  <a:srgbClr val="FFC000"/>
                </a:solidFill>
                <a:latin typeface="Times New Roman" pitchFamily="18" charset="0"/>
              </a:rPr>
              <a:t>文本方式</a:t>
            </a:r>
            <a:r>
              <a:rPr lang="zh-CN" altLang="en-GB" sz="2800" dirty="0">
                <a:latin typeface="Times New Roman" pitchFamily="18" charset="0"/>
              </a:rPr>
              <a:t>（</a:t>
            </a:r>
            <a:r>
              <a:rPr lang="en-US" altLang="zh-CN" sz="2800" dirty="0">
                <a:latin typeface="Times New Roman" pitchFamily="18" charset="0"/>
                <a:cs typeface="Times New Roman" pitchFamily="18" charset="0"/>
              </a:rPr>
              <a:t>text</a:t>
            </a:r>
            <a:r>
              <a:rPr lang="zh-CN" altLang="en-US" sz="2800" dirty="0">
                <a:latin typeface="Times New Roman" pitchFamily="18" charset="0"/>
              </a:rPr>
              <a:t>）</a:t>
            </a:r>
          </a:p>
          <a:p>
            <a:pPr lvl="1" eaLnBrk="1" hangingPunct="1">
              <a:lnSpc>
                <a:spcPct val="110000"/>
              </a:lnSpc>
              <a:defRPr/>
            </a:pPr>
            <a:r>
              <a:rPr lang="zh-CN" altLang="en-GB" sz="2400" dirty="0">
                <a:latin typeface="Times New Roman" pitchFamily="18" charset="0"/>
              </a:rPr>
              <a:t>只包含</a:t>
            </a:r>
            <a:r>
              <a:rPr lang="zh-CN" altLang="en-GB" sz="2400" dirty="0">
                <a:solidFill>
                  <a:srgbClr val="FFC000"/>
                </a:solidFill>
                <a:latin typeface="Times New Roman" pitchFamily="18" charset="0"/>
              </a:rPr>
              <a:t>可显示</a:t>
            </a:r>
            <a:r>
              <a:rPr lang="zh-CN" altLang="en-US" sz="2400" dirty="0">
                <a:latin typeface="Times New Roman" pitchFamily="18" charset="0"/>
              </a:rPr>
              <a:t>的</a:t>
            </a:r>
            <a:r>
              <a:rPr lang="zh-CN" altLang="en-GB" sz="2400" dirty="0">
                <a:solidFill>
                  <a:srgbClr val="FFC000"/>
                </a:solidFill>
                <a:latin typeface="Times New Roman" pitchFamily="18" charset="0"/>
              </a:rPr>
              <a:t>字符</a:t>
            </a:r>
            <a:r>
              <a:rPr lang="zh-CN" altLang="en-US" sz="2400" dirty="0">
                <a:latin typeface="Times New Roman" pitchFamily="18" charset="0"/>
              </a:rPr>
              <a:t>和有限的几个</a:t>
            </a:r>
            <a:r>
              <a:rPr lang="zh-CN" altLang="en-US" sz="2400" dirty="0">
                <a:solidFill>
                  <a:srgbClr val="FFC000"/>
                </a:solidFill>
                <a:latin typeface="Times New Roman" pitchFamily="18" charset="0"/>
              </a:rPr>
              <a:t>控制字符</a:t>
            </a:r>
            <a:r>
              <a:rPr lang="zh-CN" altLang="en-US" sz="2400" dirty="0">
                <a:latin typeface="Times New Roman" pitchFamily="18" charset="0"/>
              </a:rPr>
              <a:t>（如：‘</a:t>
            </a:r>
            <a:r>
              <a:rPr lang="en-US" altLang="zh-CN" sz="2400" dirty="0">
                <a:latin typeface="Times New Roman" pitchFamily="18" charset="0"/>
              </a:rPr>
              <a:t>\r</a:t>
            </a:r>
            <a:r>
              <a:rPr lang="zh-CN" altLang="en-US" sz="2400" dirty="0">
                <a:latin typeface="Times New Roman" pitchFamily="18" charset="0"/>
              </a:rPr>
              <a:t>’、‘</a:t>
            </a:r>
            <a:r>
              <a:rPr lang="en-US" altLang="zh-CN" sz="2400" dirty="0">
                <a:latin typeface="Times New Roman" pitchFamily="18" charset="0"/>
              </a:rPr>
              <a:t>\n</a:t>
            </a:r>
            <a:r>
              <a:rPr lang="zh-CN" altLang="en-US" sz="2400" dirty="0">
                <a:latin typeface="Times New Roman" pitchFamily="18" charset="0"/>
              </a:rPr>
              <a:t>’、‘</a:t>
            </a:r>
            <a:r>
              <a:rPr lang="en-US" altLang="zh-CN" sz="2400" dirty="0">
                <a:latin typeface="Times New Roman" pitchFamily="18" charset="0"/>
              </a:rPr>
              <a:t>\t</a:t>
            </a:r>
            <a:r>
              <a:rPr lang="zh-CN" altLang="en-US" sz="2400" dirty="0">
                <a:latin typeface="Times New Roman" pitchFamily="18" charset="0"/>
              </a:rPr>
              <a:t>’等）的</a:t>
            </a:r>
            <a:r>
              <a:rPr lang="zh-CN" altLang="en-US" sz="2400" dirty="0">
                <a:solidFill>
                  <a:srgbClr val="FFC000"/>
                </a:solidFill>
                <a:latin typeface="Times New Roman" pitchFamily="18" charset="0"/>
              </a:rPr>
              <a:t>编码</a:t>
            </a:r>
            <a:r>
              <a:rPr lang="zh-CN" altLang="en-US" sz="2400" dirty="0">
                <a:latin typeface="Times New Roman" pitchFamily="18" charset="0"/>
              </a:rPr>
              <a:t>。</a:t>
            </a:r>
          </a:p>
          <a:p>
            <a:pPr lvl="1" eaLnBrk="1" hangingPunct="1">
              <a:lnSpc>
                <a:spcPct val="110000"/>
              </a:lnSpc>
              <a:defRPr/>
            </a:pPr>
            <a:r>
              <a:rPr lang="zh-CN" altLang="en-US" sz="2400" dirty="0">
                <a:latin typeface="Times New Roman" pitchFamily="18" charset="0"/>
              </a:rPr>
              <a:t>一般用于存储具有“</a:t>
            </a:r>
            <a:r>
              <a:rPr lang="zh-CN" altLang="en-US" sz="2400" dirty="0">
                <a:solidFill>
                  <a:srgbClr val="FFC000"/>
                </a:solidFill>
                <a:latin typeface="Times New Roman" pitchFamily="18" charset="0"/>
              </a:rPr>
              <a:t>行</a:t>
            </a:r>
            <a:r>
              <a:rPr lang="zh-CN" altLang="en-US" sz="2400" dirty="0">
                <a:latin typeface="Times New Roman" pitchFamily="18" charset="0"/>
              </a:rPr>
              <a:t>”结构的</a:t>
            </a:r>
            <a:r>
              <a:rPr lang="zh-CN" altLang="en-US" sz="2400" dirty="0">
                <a:solidFill>
                  <a:srgbClr val="FFC000"/>
                </a:solidFill>
                <a:latin typeface="Times New Roman" pitchFamily="18" charset="0"/>
              </a:rPr>
              <a:t>文字</a:t>
            </a:r>
            <a:r>
              <a:rPr lang="zh-CN" altLang="en-US" sz="2400" dirty="0">
                <a:latin typeface="Times New Roman" pitchFamily="18" charset="0"/>
              </a:rPr>
              <a:t>数据，数据可用记事本等软件打开察看。</a:t>
            </a:r>
          </a:p>
          <a:p>
            <a:pPr eaLnBrk="1" hangingPunct="1">
              <a:lnSpc>
                <a:spcPct val="110000"/>
              </a:lnSpc>
              <a:defRPr/>
            </a:pPr>
            <a:r>
              <a:rPr lang="zh-CN" altLang="en-GB" sz="2800" dirty="0">
                <a:solidFill>
                  <a:srgbClr val="FFC000"/>
                </a:solidFill>
                <a:latin typeface="Times New Roman" pitchFamily="18" charset="0"/>
              </a:rPr>
              <a:t>二进制方式</a:t>
            </a:r>
            <a:r>
              <a:rPr lang="zh-CN" altLang="en-GB" sz="2800" dirty="0">
                <a:latin typeface="Times New Roman" pitchFamily="18" charset="0"/>
              </a:rPr>
              <a:t>（</a:t>
            </a:r>
            <a:r>
              <a:rPr lang="en-US" altLang="zh-CN" sz="2800" dirty="0">
                <a:latin typeface="Times New Roman" pitchFamily="18" charset="0"/>
                <a:cs typeface="Times New Roman" pitchFamily="18" charset="0"/>
              </a:rPr>
              <a:t>binary</a:t>
            </a:r>
            <a:r>
              <a:rPr lang="zh-CN" altLang="en-US" sz="2800" dirty="0">
                <a:latin typeface="Times New Roman" pitchFamily="18" charset="0"/>
              </a:rPr>
              <a:t>）</a:t>
            </a:r>
            <a:r>
              <a:rPr lang="zh-CN" altLang="en-US" sz="2800" dirty="0"/>
              <a:t> </a:t>
            </a:r>
          </a:p>
          <a:p>
            <a:pPr lvl="1" eaLnBrk="1" hangingPunct="1">
              <a:lnSpc>
                <a:spcPct val="110000"/>
              </a:lnSpc>
              <a:defRPr/>
            </a:pPr>
            <a:r>
              <a:rPr lang="zh-CN" altLang="en-US" sz="2400" dirty="0">
                <a:latin typeface="Times New Roman" pitchFamily="18" charset="0"/>
              </a:rPr>
              <a:t>包含任意的</a:t>
            </a:r>
            <a:r>
              <a:rPr lang="zh-CN" altLang="en-US" sz="2400" dirty="0">
                <a:solidFill>
                  <a:srgbClr val="FFC000"/>
                </a:solidFill>
                <a:latin typeface="Times New Roman" pitchFamily="18" charset="0"/>
              </a:rPr>
              <a:t>没有显式含义</a:t>
            </a:r>
            <a:r>
              <a:rPr lang="zh-CN" altLang="en-US" sz="2400" dirty="0">
                <a:latin typeface="Times New Roman" pitchFamily="18" charset="0"/>
              </a:rPr>
              <a:t>的</a:t>
            </a:r>
            <a:r>
              <a:rPr lang="zh-CN" altLang="en-US" sz="2400" dirty="0">
                <a:solidFill>
                  <a:srgbClr val="FFC000"/>
                </a:solidFill>
                <a:latin typeface="Times New Roman" pitchFamily="18" charset="0"/>
              </a:rPr>
              <a:t>纯二进制字节</a:t>
            </a:r>
            <a:r>
              <a:rPr lang="zh-CN" altLang="en-US" sz="2400" dirty="0"/>
              <a:t>。</a:t>
            </a:r>
          </a:p>
          <a:p>
            <a:pPr lvl="1" eaLnBrk="1" hangingPunct="1">
              <a:lnSpc>
                <a:spcPct val="110000"/>
              </a:lnSpc>
              <a:defRPr/>
            </a:pPr>
            <a:r>
              <a:rPr lang="zh-CN" altLang="en-US" sz="2400" dirty="0">
                <a:latin typeface="Times New Roman" pitchFamily="18" charset="0"/>
              </a:rPr>
              <a:t>一般用于存储</a:t>
            </a:r>
            <a:r>
              <a:rPr lang="zh-CN" altLang="en-US" sz="2400" dirty="0">
                <a:solidFill>
                  <a:srgbClr val="FFC000"/>
                </a:solidFill>
                <a:latin typeface="Times New Roman" pitchFamily="18" charset="0"/>
              </a:rPr>
              <a:t>任意结构</a:t>
            </a:r>
            <a:r>
              <a:rPr lang="zh-CN" altLang="en-US" sz="2400" dirty="0">
                <a:latin typeface="Times New Roman" pitchFamily="18" charset="0"/>
              </a:rPr>
              <a:t>的数据</a:t>
            </a:r>
            <a:r>
              <a:rPr lang="zh-CN" altLang="en-US" sz="2400" dirty="0"/>
              <a:t>，数据由使用它的应用程序来解释。</a:t>
            </a:r>
            <a:endParaRPr lang="en-US" altLang="zh-CN" sz="2400" dirty="0"/>
          </a:p>
          <a:p>
            <a:pPr eaLnBrk="1" hangingPunct="1">
              <a:lnSpc>
                <a:spcPct val="110000"/>
              </a:lnSpc>
              <a:defRPr/>
            </a:pPr>
            <a:r>
              <a:rPr lang="zh-CN" altLang="en-US" sz="2800" dirty="0"/>
              <a:t>例如，对于一个整数</a:t>
            </a:r>
            <a:r>
              <a:rPr lang="en-US" altLang="zh-CN" sz="2800" dirty="0"/>
              <a:t>1234567</a:t>
            </a:r>
          </a:p>
          <a:p>
            <a:pPr lvl="1" eaLnBrk="1" hangingPunct="1">
              <a:lnSpc>
                <a:spcPct val="110000"/>
              </a:lnSpc>
              <a:defRPr/>
            </a:pPr>
            <a:r>
              <a:rPr lang="zh-CN" altLang="en-US" sz="2400" dirty="0">
                <a:latin typeface="Times New Roman" pitchFamily="18" charset="0"/>
              </a:rPr>
              <a:t>文本方式：按字符串把字符</a:t>
            </a:r>
            <a:r>
              <a:rPr lang="en-US" altLang="zh-CN" sz="2400" dirty="0">
                <a:latin typeface="Times New Roman" pitchFamily="18" charset="0"/>
              </a:rPr>
              <a:t>1</a:t>
            </a:r>
            <a:r>
              <a:rPr lang="zh-CN" altLang="en-US" sz="2400" dirty="0">
                <a:latin typeface="Times New Roman" pitchFamily="18" charset="0"/>
              </a:rPr>
              <a:t>、</a:t>
            </a:r>
            <a:r>
              <a:rPr lang="en-US" altLang="zh-CN" sz="2400" dirty="0">
                <a:latin typeface="Times New Roman" pitchFamily="18" charset="0"/>
              </a:rPr>
              <a:t>2</a:t>
            </a:r>
            <a:r>
              <a:rPr lang="zh-CN" altLang="en-US" sz="2400" dirty="0">
                <a:latin typeface="Times New Roman" pitchFamily="18" charset="0"/>
              </a:rPr>
              <a:t>、</a:t>
            </a:r>
            <a:r>
              <a:rPr lang="en-US" altLang="zh-CN" sz="2400" dirty="0">
                <a:latin typeface="Times New Roman" pitchFamily="18" charset="0"/>
              </a:rPr>
              <a:t>3</a:t>
            </a:r>
            <a:r>
              <a:rPr lang="zh-CN" altLang="en-US" sz="2400" dirty="0">
                <a:latin typeface="Times New Roman" pitchFamily="18" charset="0"/>
              </a:rPr>
              <a:t>、</a:t>
            </a:r>
            <a:r>
              <a:rPr lang="en-US" altLang="zh-CN" sz="2400" dirty="0">
                <a:latin typeface="Times New Roman" pitchFamily="18" charset="0"/>
              </a:rPr>
              <a:t>4</a:t>
            </a:r>
            <a:r>
              <a:rPr lang="zh-CN" altLang="en-US" sz="2400" dirty="0">
                <a:latin typeface="Times New Roman" pitchFamily="18" charset="0"/>
              </a:rPr>
              <a:t>、</a:t>
            </a:r>
            <a:r>
              <a:rPr lang="en-US" altLang="zh-CN" sz="2400" dirty="0">
                <a:latin typeface="Times New Roman" pitchFamily="18" charset="0"/>
              </a:rPr>
              <a:t>5</a:t>
            </a:r>
            <a:r>
              <a:rPr lang="zh-CN" altLang="en-US" sz="2400" dirty="0">
                <a:latin typeface="Times New Roman" pitchFamily="18" charset="0"/>
              </a:rPr>
              <a:t>、</a:t>
            </a:r>
            <a:r>
              <a:rPr lang="en-US" altLang="zh-CN" sz="2400" dirty="0">
                <a:latin typeface="Times New Roman" pitchFamily="18" charset="0"/>
              </a:rPr>
              <a:t>6</a:t>
            </a:r>
            <a:r>
              <a:rPr lang="zh-CN" altLang="en-US" sz="2400" dirty="0">
                <a:latin typeface="Times New Roman" pitchFamily="18" charset="0"/>
              </a:rPr>
              <a:t>、</a:t>
            </a:r>
            <a:r>
              <a:rPr lang="en-US" altLang="zh-CN" sz="2400" dirty="0">
                <a:latin typeface="Times New Roman" pitchFamily="18" charset="0"/>
              </a:rPr>
              <a:t>7</a:t>
            </a:r>
            <a:r>
              <a:rPr lang="zh-CN" altLang="en-US" sz="2400" dirty="0">
                <a:latin typeface="Times New Roman" pitchFamily="18" charset="0"/>
              </a:rPr>
              <a:t>的</a:t>
            </a:r>
            <a:r>
              <a:rPr lang="en-US" altLang="zh-CN" sz="2400" dirty="0">
                <a:latin typeface="Times New Roman" pitchFamily="18" charset="0"/>
              </a:rPr>
              <a:t>ASCII</a:t>
            </a:r>
            <a:r>
              <a:rPr lang="zh-CN" altLang="en-US" sz="2400" dirty="0">
                <a:latin typeface="Times New Roman" pitchFamily="18" charset="0"/>
              </a:rPr>
              <a:t>码依次写入文件。（共</a:t>
            </a:r>
            <a:r>
              <a:rPr lang="en-US" altLang="zh-CN" sz="2400" dirty="0">
                <a:latin typeface="Times New Roman" pitchFamily="18" charset="0"/>
              </a:rPr>
              <a:t>7</a:t>
            </a:r>
            <a:r>
              <a:rPr lang="zh-CN" altLang="en-US" sz="2400" dirty="0">
                <a:latin typeface="Times New Roman" pitchFamily="18" charset="0"/>
              </a:rPr>
              <a:t>个字节） </a:t>
            </a:r>
            <a:endParaRPr lang="en-US" altLang="zh-CN" sz="2400" dirty="0">
              <a:latin typeface="Times New Roman" pitchFamily="18" charset="0"/>
            </a:endParaRPr>
          </a:p>
          <a:p>
            <a:pPr lvl="1" eaLnBrk="1" hangingPunct="1">
              <a:lnSpc>
                <a:spcPct val="110000"/>
              </a:lnSpc>
              <a:defRPr/>
            </a:pPr>
            <a:r>
              <a:rPr lang="zh-CN" altLang="en-US" sz="2400" dirty="0">
                <a:latin typeface="Times New Roman" pitchFamily="18" charset="0"/>
              </a:rPr>
              <a:t>二进制方式：按</a:t>
            </a:r>
            <a:r>
              <a:rPr lang="en-US" altLang="zh-CN" sz="2400" dirty="0">
                <a:latin typeface="宋体" pitchFamily="2" charset="-122"/>
              </a:rPr>
              <a:t>1234567</a:t>
            </a:r>
            <a:r>
              <a:rPr lang="zh-CN" altLang="en-US" sz="2400" dirty="0">
                <a:latin typeface="宋体" pitchFamily="2" charset="-122"/>
              </a:rPr>
              <a:t>的</a:t>
            </a:r>
            <a:r>
              <a:rPr lang="en-US" altLang="zh-CN" sz="2400" dirty="0" err="1">
                <a:latin typeface="宋体" pitchFamily="2" charset="-122"/>
              </a:rPr>
              <a:t>int</a:t>
            </a:r>
            <a:r>
              <a:rPr lang="zh-CN" altLang="en-US" sz="2400" dirty="0">
                <a:latin typeface="宋体" pitchFamily="2" charset="-122"/>
              </a:rPr>
              <a:t>型</a:t>
            </a:r>
            <a:r>
              <a:rPr lang="zh-CN" altLang="en-US" sz="2400" dirty="0">
                <a:latin typeface="Times New Roman" pitchFamily="18" charset="0"/>
              </a:rPr>
              <a:t>机内表示（</a:t>
            </a:r>
            <a:r>
              <a:rPr lang="en-US" altLang="zh-CN" sz="2400" dirty="0">
                <a:latin typeface="Times New Roman" pitchFamily="18" charset="0"/>
              </a:rPr>
              <a:t>00 12 D6 87</a:t>
            </a:r>
            <a:r>
              <a:rPr lang="zh-CN" altLang="en-US" sz="2400" dirty="0">
                <a:latin typeface="Times New Roman" pitchFamily="18" charset="0"/>
              </a:rPr>
              <a:t>）把它逐个字节依次写入文件。（共</a:t>
            </a:r>
            <a:r>
              <a:rPr lang="en-US" altLang="zh-CN" sz="2400" dirty="0">
                <a:latin typeface="宋体" pitchFamily="2" charset="-122"/>
              </a:rPr>
              <a:t>4</a:t>
            </a:r>
            <a:r>
              <a:rPr lang="zh-CN" altLang="en-US" sz="2400" dirty="0">
                <a:latin typeface="Times New Roman" pitchFamily="18" charset="0"/>
              </a:rPr>
              <a:t>个字节）</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79CB661-8B17-5263-E60F-8885993B1604}"/>
              </a:ext>
            </a:extLst>
          </p:cNvPr>
          <p:cNvSpPr>
            <a:spLocks noGrp="1" noChangeArrowheads="1"/>
          </p:cNvSpPr>
          <p:nvPr>
            <p:ph type="title"/>
          </p:nvPr>
        </p:nvSpPr>
        <p:spPr>
          <a:xfrm>
            <a:off x="381000" y="201613"/>
            <a:ext cx="8229600" cy="1139825"/>
          </a:xfrm>
        </p:spPr>
        <p:txBody>
          <a:bodyPr/>
          <a:lstStyle/>
          <a:p>
            <a:pPr eaLnBrk="1" hangingPunct="1">
              <a:defRPr/>
            </a:pPr>
            <a:r>
              <a:rPr lang="zh-CN" altLang="en-US" dirty="0">
                <a:latin typeface="Times New Roman" pitchFamily="18" charset="0"/>
                <a:cs typeface="Times New Roman" pitchFamily="18" charset="0"/>
              </a:rPr>
              <a:t> </a:t>
            </a:r>
          </a:p>
        </p:txBody>
      </p:sp>
      <p:sp>
        <p:nvSpPr>
          <p:cNvPr id="16387" name="Rectangle 3">
            <a:extLst>
              <a:ext uri="{FF2B5EF4-FFF2-40B4-BE49-F238E27FC236}">
                <a16:creationId xmlns:a16="http://schemas.microsoft.com/office/drawing/2014/main" id="{45812457-8E1B-3F6C-6157-1A7083793FD2}"/>
              </a:ext>
            </a:extLst>
          </p:cNvPr>
          <p:cNvSpPr>
            <a:spLocks noGrp="1" noChangeArrowheads="1"/>
          </p:cNvSpPr>
          <p:nvPr>
            <p:ph type="body" idx="1"/>
          </p:nvPr>
        </p:nvSpPr>
        <p:spPr>
          <a:xfrm>
            <a:off x="250825" y="1484313"/>
            <a:ext cx="8497888" cy="4703762"/>
          </a:xfrm>
        </p:spPr>
        <p:txBody>
          <a:bodyPr>
            <a:normAutofit/>
          </a:bodyPr>
          <a:lstStyle/>
          <a:p>
            <a:pPr marL="446088" indent="-446088" algn="just" eaLnBrk="1" hangingPunct="1">
              <a:defRPr/>
            </a:pPr>
            <a:r>
              <a:rPr lang="zh-CN" altLang="en-GB" dirty="0"/>
              <a:t>在利用</a:t>
            </a:r>
            <a:r>
              <a:rPr lang="en-GB" altLang="zh-CN" dirty="0"/>
              <a:t>I/O</a:t>
            </a:r>
            <a:r>
              <a:rPr lang="zh-CN" altLang="en-GB" dirty="0"/>
              <a:t>类库中的类进行文件的输入/输出时，</a:t>
            </a:r>
            <a:r>
              <a:rPr lang="zh-CN" altLang="en-US" dirty="0"/>
              <a:t>程序中需要包含下面的头文件：</a:t>
            </a:r>
            <a:r>
              <a:rPr lang="zh-CN" altLang="en-US" dirty="0">
                <a:cs typeface="Courier New" pitchFamily="49" charset="0"/>
              </a:rPr>
              <a:t>  </a:t>
            </a:r>
          </a:p>
          <a:p>
            <a:pPr marL="766763" lvl="1" eaLnBrk="1" hangingPunct="1">
              <a:buFontTx/>
              <a:buNone/>
              <a:defRPr/>
            </a:pPr>
            <a:r>
              <a:rPr lang="en-US" altLang="zh-CN" sz="2400" dirty="0">
                <a:cs typeface="Courier New" pitchFamily="49" charset="0"/>
              </a:rPr>
              <a:t>#include &lt;</a:t>
            </a:r>
            <a:r>
              <a:rPr lang="en-US" altLang="zh-CN" sz="2400" dirty="0" err="1">
                <a:cs typeface="Courier New" pitchFamily="49" charset="0"/>
              </a:rPr>
              <a:t>iostream</a:t>
            </a:r>
            <a:r>
              <a:rPr lang="en-US" altLang="zh-CN" sz="2400" dirty="0">
                <a:cs typeface="Courier New" pitchFamily="49" charset="0"/>
              </a:rPr>
              <a:t>&gt;  </a:t>
            </a:r>
          </a:p>
          <a:p>
            <a:pPr marL="766763" lvl="1" eaLnBrk="1" hangingPunct="1">
              <a:buFontTx/>
              <a:buNone/>
              <a:defRPr/>
            </a:pPr>
            <a:r>
              <a:rPr lang="en-US" altLang="zh-CN" sz="2400" dirty="0">
                <a:cs typeface="Courier New" pitchFamily="49" charset="0"/>
              </a:rPr>
              <a:t>#include &lt;</a:t>
            </a:r>
            <a:r>
              <a:rPr lang="en-US" altLang="zh-CN" sz="2400" dirty="0" err="1">
                <a:cs typeface="Courier New" pitchFamily="49" charset="0"/>
              </a:rPr>
              <a:t>fstream</a:t>
            </a:r>
            <a:r>
              <a:rPr lang="en-US" altLang="zh-CN" sz="2400" dirty="0">
                <a:cs typeface="Courier New" pitchFamily="49" charset="0"/>
              </a:rPr>
              <a:t>&gt;</a:t>
            </a:r>
          </a:p>
          <a:p>
            <a:pPr marL="0" indent="0" eaLnBrk="1" hangingPunct="1">
              <a:buFont typeface="Wingdings" panose="05000000000000000000" pitchFamily="2" charset="2"/>
              <a:buNone/>
              <a:defRPr/>
            </a:pPr>
            <a:endParaRPr lang="en-US" altLang="zh-CN" sz="2400" dirty="0">
              <a:cs typeface="Courier New"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BD53E1D-7010-5ED6-DE9A-C8E42C8C2321}"/>
              </a:ext>
            </a:extLst>
          </p:cNvPr>
          <p:cNvSpPr>
            <a:spLocks noGrp="1" noChangeArrowheads="1"/>
          </p:cNvSpPr>
          <p:nvPr>
            <p:ph type="title"/>
          </p:nvPr>
        </p:nvSpPr>
        <p:spPr>
          <a:xfrm>
            <a:off x="381000" y="44450"/>
            <a:ext cx="8229600" cy="1139825"/>
          </a:xfrm>
        </p:spPr>
        <p:txBody>
          <a:bodyPr/>
          <a:lstStyle/>
          <a:p>
            <a:pPr eaLnBrk="1" hangingPunct="1">
              <a:defRPr/>
            </a:pPr>
            <a:r>
              <a:rPr lang="zh-CN" altLang="en-US" dirty="0">
                <a:latin typeface="Times New Roman" pitchFamily="18" charset="0"/>
              </a:rPr>
              <a:t>文件的</a:t>
            </a:r>
            <a:r>
              <a:rPr lang="zh-CN" altLang="en-GB" dirty="0">
                <a:latin typeface="Times New Roman" pitchFamily="18" charset="0"/>
              </a:rPr>
              <a:t>输出</a:t>
            </a:r>
            <a:r>
              <a:rPr lang="zh-CN" altLang="en-US" dirty="0">
                <a:latin typeface="Times New Roman" pitchFamily="18" charset="0"/>
              </a:rPr>
              <a:t>操作</a:t>
            </a:r>
            <a:r>
              <a:rPr lang="zh-CN" altLang="en-US" dirty="0">
                <a:latin typeface="Times New Roman" pitchFamily="18" charset="0"/>
                <a:cs typeface="Times New Roman" pitchFamily="18" charset="0"/>
              </a:rPr>
              <a:t> </a:t>
            </a:r>
          </a:p>
        </p:txBody>
      </p:sp>
      <p:sp>
        <p:nvSpPr>
          <p:cNvPr id="16387" name="Rectangle 3">
            <a:extLst>
              <a:ext uri="{FF2B5EF4-FFF2-40B4-BE49-F238E27FC236}">
                <a16:creationId xmlns:a16="http://schemas.microsoft.com/office/drawing/2014/main" id="{A126B506-83C0-890A-DA7E-C576C773D836}"/>
              </a:ext>
            </a:extLst>
          </p:cNvPr>
          <p:cNvSpPr>
            <a:spLocks noGrp="1" noChangeArrowheads="1"/>
          </p:cNvSpPr>
          <p:nvPr>
            <p:ph type="body" idx="1"/>
          </p:nvPr>
        </p:nvSpPr>
        <p:spPr>
          <a:xfrm>
            <a:off x="304800" y="1268413"/>
            <a:ext cx="8686800" cy="5329237"/>
          </a:xfrm>
        </p:spPr>
        <p:txBody>
          <a:bodyPr>
            <a:normAutofit/>
          </a:bodyPr>
          <a:lstStyle/>
          <a:p>
            <a:pPr marL="366713" eaLnBrk="1" hangingPunct="1">
              <a:defRPr/>
            </a:pPr>
            <a:r>
              <a:rPr lang="zh-CN" altLang="en-US" dirty="0">
                <a:solidFill>
                  <a:srgbClr val="FFC000"/>
                </a:solidFill>
              </a:rPr>
              <a:t>打开文件</a:t>
            </a:r>
            <a:r>
              <a:rPr lang="zh-CN" altLang="en-US" dirty="0"/>
              <a:t>：</a:t>
            </a:r>
            <a:r>
              <a:rPr lang="zh-CN" altLang="en-GB" dirty="0"/>
              <a:t>创建一个</a:t>
            </a:r>
            <a:r>
              <a:rPr lang="en-GB" altLang="zh-CN" dirty="0" err="1">
                <a:solidFill>
                  <a:srgbClr val="FFC000"/>
                </a:solidFill>
                <a:cs typeface="Times New Roman" pitchFamily="18" charset="0"/>
              </a:rPr>
              <a:t>ofstream</a:t>
            </a:r>
            <a:r>
              <a:rPr lang="zh-CN" altLang="en-GB" dirty="0"/>
              <a:t>类的对象</a:t>
            </a:r>
            <a:r>
              <a:rPr lang="zh-CN" altLang="en-US" dirty="0"/>
              <a:t>，并建立</a:t>
            </a:r>
            <a:r>
              <a:rPr lang="zh-CN" altLang="en-GB" dirty="0"/>
              <a:t>与外部文件之间的联系</a:t>
            </a:r>
            <a:r>
              <a:rPr lang="zh-CN" altLang="en-US" dirty="0"/>
              <a:t>。</a:t>
            </a:r>
            <a:endParaRPr lang="en-US" altLang="zh-CN" dirty="0"/>
          </a:p>
          <a:p>
            <a:pPr marL="766763" lvl="1" eaLnBrk="1" hangingPunct="1">
              <a:defRPr/>
            </a:pPr>
            <a:r>
              <a:rPr lang="zh-CN" altLang="en-US" dirty="0"/>
              <a:t>直接方式</a:t>
            </a:r>
            <a:endParaRPr lang="en-US" altLang="zh-CN" dirty="0"/>
          </a:p>
          <a:p>
            <a:pPr marL="938213" lvl="2" indent="0" eaLnBrk="1" hangingPunct="1">
              <a:buFont typeface="Wingdings" panose="05000000000000000000" pitchFamily="2" charset="2"/>
              <a:buNone/>
              <a:defRPr/>
            </a:pPr>
            <a:r>
              <a:rPr lang="en-GB" altLang="zh-CN" dirty="0" err="1">
                <a:cs typeface="Courier New" pitchFamily="49" charset="0"/>
              </a:rPr>
              <a:t>ofstream</a:t>
            </a:r>
            <a:r>
              <a:rPr lang="en-GB" altLang="zh-CN" dirty="0">
                <a:cs typeface="Courier New" pitchFamily="49" charset="0"/>
              </a:rPr>
              <a:t> </a:t>
            </a:r>
            <a:r>
              <a:rPr lang="en-GB" altLang="zh-CN" dirty="0" err="1">
                <a:cs typeface="Courier New" pitchFamily="49" charset="0"/>
              </a:rPr>
              <a:t>out_file</a:t>
            </a:r>
            <a:r>
              <a:rPr lang="en-GB" altLang="zh-CN" dirty="0">
                <a:solidFill>
                  <a:srgbClr val="FFC000"/>
                </a:solidFill>
                <a:cs typeface="Courier New" pitchFamily="49" charset="0"/>
              </a:rPr>
              <a:t>(</a:t>
            </a:r>
            <a:r>
              <a:rPr lang="en-GB" altLang="zh-CN" dirty="0">
                <a:cs typeface="Courier New" pitchFamily="49" charset="0"/>
              </a:rPr>
              <a:t>&lt;</a:t>
            </a:r>
            <a:r>
              <a:rPr lang="zh-CN" altLang="en-GB" dirty="0"/>
              <a:t>文件名</a:t>
            </a:r>
            <a:r>
              <a:rPr lang="zh-CN" altLang="en-GB" dirty="0">
                <a:cs typeface="Courier New" pitchFamily="49" charset="0"/>
              </a:rPr>
              <a:t>&gt; </a:t>
            </a:r>
            <a:r>
              <a:rPr lang="en-US" altLang="zh-CN" dirty="0">
                <a:cs typeface="Courier New" pitchFamily="49" charset="0"/>
              </a:rPr>
              <a:t>[</a:t>
            </a:r>
            <a:r>
              <a:rPr lang="zh-CN" altLang="en-GB" dirty="0">
                <a:solidFill>
                  <a:srgbClr val="FFC000"/>
                </a:solidFill>
                <a:cs typeface="Courier New" pitchFamily="49" charset="0"/>
              </a:rPr>
              <a:t>,</a:t>
            </a:r>
            <a:r>
              <a:rPr lang="zh-CN" altLang="en-GB" dirty="0">
                <a:cs typeface="Courier New" pitchFamily="49" charset="0"/>
              </a:rPr>
              <a:t>&lt;</a:t>
            </a:r>
            <a:r>
              <a:rPr lang="zh-CN" altLang="en-GB" dirty="0"/>
              <a:t>打开方式</a:t>
            </a:r>
            <a:r>
              <a:rPr lang="zh-CN" altLang="en-GB" dirty="0">
                <a:cs typeface="Courier New" pitchFamily="49" charset="0"/>
              </a:rPr>
              <a:t>&gt;</a:t>
            </a:r>
            <a:r>
              <a:rPr lang="en-US" altLang="zh-CN" dirty="0">
                <a:cs typeface="Courier New" pitchFamily="49" charset="0"/>
              </a:rPr>
              <a:t>]</a:t>
            </a:r>
            <a:r>
              <a:rPr lang="zh-CN" altLang="en-GB" dirty="0">
                <a:solidFill>
                  <a:srgbClr val="FFC000"/>
                </a:solidFill>
                <a:cs typeface="Courier New" pitchFamily="49" charset="0"/>
              </a:rPr>
              <a:t>);</a:t>
            </a:r>
            <a:endParaRPr lang="en-US" altLang="zh-CN" dirty="0">
              <a:solidFill>
                <a:srgbClr val="FFC000"/>
              </a:solidFill>
              <a:cs typeface="Courier New" pitchFamily="49" charset="0"/>
            </a:endParaRPr>
          </a:p>
          <a:p>
            <a:pPr marL="938213" lvl="2" indent="0" eaLnBrk="1" hangingPunct="1">
              <a:buFont typeface="Wingdings" panose="05000000000000000000" pitchFamily="2" charset="2"/>
              <a:buNone/>
              <a:defRPr/>
            </a:pPr>
            <a:r>
              <a:rPr lang="zh-CN" altLang="en-US" dirty="0">
                <a:cs typeface="Courier New" pitchFamily="49" charset="0"/>
              </a:rPr>
              <a:t>例如：</a:t>
            </a:r>
            <a:endParaRPr lang="en-US" altLang="zh-CN" dirty="0">
              <a:cs typeface="Courier New" pitchFamily="49" charset="0"/>
            </a:endParaRPr>
          </a:p>
          <a:p>
            <a:pPr marL="938213" lvl="2" indent="0" eaLnBrk="1" hangingPunct="1">
              <a:buFont typeface="Wingdings" panose="05000000000000000000" pitchFamily="2" charset="2"/>
              <a:buNone/>
              <a:defRPr/>
            </a:pPr>
            <a:r>
              <a:rPr lang="en-GB" altLang="zh-CN" dirty="0" err="1">
                <a:cs typeface="Courier New" pitchFamily="49" charset="0"/>
              </a:rPr>
              <a:t>ofstream</a:t>
            </a:r>
            <a:r>
              <a:rPr lang="en-GB" altLang="zh-CN" dirty="0">
                <a:cs typeface="Courier New" pitchFamily="49" charset="0"/>
              </a:rPr>
              <a:t> </a:t>
            </a:r>
            <a:r>
              <a:rPr lang="en-GB" altLang="zh-CN" dirty="0" err="1">
                <a:cs typeface="Courier New" pitchFamily="49" charset="0"/>
              </a:rPr>
              <a:t>out_file</a:t>
            </a:r>
            <a:r>
              <a:rPr lang="en-GB" altLang="zh-CN" dirty="0">
                <a:cs typeface="Courier New" pitchFamily="49" charset="0"/>
              </a:rPr>
              <a:t>("d:\\myfile.txt",</a:t>
            </a:r>
            <a:r>
              <a:rPr lang="en-GB" altLang="zh-CN" dirty="0" err="1">
                <a:cs typeface="Courier New" pitchFamily="49" charset="0"/>
              </a:rPr>
              <a:t>ios</a:t>
            </a:r>
            <a:r>
              <a:rPr lang="en-GB" altLang="zh-CN" dirty="0">
                <a:cs typeface="Courier New" pitchFamily="49" charset="0"/>
              </a:rPr>
              <a:t>::out);</a:t>
            </a:r>
            <a:endParaRPr lang="en-US" altLang="zh-CN" dirty="0"/>
          </a:p>
          <a:p>
            <a:pPr marL="766763" lvl="1" eaLnBrk="1" hangingPunct="1">
              <a:defRPr/>
            </a:pPr>
            <a:r>
              <a:rPr lang="zh-CN" altLang="en-US" dirty="0"/>
              <a:t>间接方式</a:t>
            </a:r>
            <a:endParaRPr lang="en-US" altLang="zh-CN" dirty="0"/>
          </a:p>
          <a:p>
            <a:pPr marL="896938" indent="14288" eaLnBrk="1" hangingPunct="1">
              <a:buFont typeface="Wingdings" panose="05000000000000000000" pitchFamily="2" charset="2"/>
              <a:buNone/>
              <a:defRPr/>
            </a:pPr>
            <a:r>
              <a:rPr lang="en-GB" altLang="zh-CN" sz="2400" dirty="0" err="1">
                <a:cs typeface="Courier New" pitchFamily="49" charset="0"/>
              </a:rPr>
              <a:t>ofstream</a:t>
            </a:r>
            <a:r>
              <a:rPr lang="en-GB" altLang="zh-CN" sz="2400" dirty="0">
                <a:cs typeface="Courier New" pitchFamily="49" charset="0"/>
              </a:rPr>
              <a:t> </a:t>
            </a:r>
            <a:r>
              <a:rPr lang="en-GB" altLang="zh-CN" sz="2400" dirty="0" err="1">
                <a:cs typeface="Courier New" pitchFamily="49" charset="0"/>
              </a:rPr>
              <a:t>out_file</a:t>
            </a:r>
            <a:r>
              <a:rPr lang="en-GB" altLang="zh-CN" sz="2400" dirty="0">
                <a:cs typeface="Courier New" pitchFamily="49" charset="0"/>
              </a:rPr>
              <a:t>;</a:t>
            </a:r>
            <a:endParaRPr lang="en-US" altLang="zh-CN" sz="2400" dirty="0">
              <a:cs typeface="Courier New" pitchFamily="49" charset="0"/>
            </a:endParaRPr>
          </a:p>
          <a:p>
            <a:pPr marL="896938" indent="14288" eaLnBrk="1" hangingPunct="1">
              <a:buFont typeface="Wingdings" panose="05000000000000000000" pitchFamily="2" charset="2"/>
              <a:buNone/>
              <a:defRPr/>
            </a:pPr>
            <a:r>
              <a:rPr lang="en-GB" altLang="zh-CN" sz="2400" dirty="0">
                <a:cs typeface="Times New Roman" pitchFamily="18" charset="0"/>
              </a:rPr>
              <a:t>	</a:t>
            </a:r>
            <a:r>
              <a:rPr lang="en-GB" altLang="zh-CN" sz="2400" dirty="0" err="1">
                <a:cs typeface="Times New Roman" pitchFamily="18" charset="0"/>
              </a:rPr>
              <a:t>out_file.</a:t>
            </a:r>
            <a:r>
              <a:rPr lang="en-GB" altLang="zh-CN" sz="2400" dirty="0" err="1">
                <a:solidFill>
                  <a:srgbClr val="FFC000"/>
                </a:solidFill>
                <a:cs typeface="Times New Roman" pitchFamily="18" charset="0"/>
              </a:rPr>
              <a:t>open</a:t>
            </a:r>
            <a:r>
              <a:rPr lang="en-GB" altLang="zh-CN" sz="2400" dirty="0">
                <a:solidFill>
                  <a:srgbClr val="FFC000"/>
                </a:solidFill>
                <a:cs typeface="Times New Roman" pitchFamily="18" charset="0"/>
              </a:rPr>
              <a:t>(</a:t>
            </a:r>
            <a:r>
              <a:rPr lang="en-GB" altLang="zh-CN" sz="2400" dirty="0">
                <a:cs typeface="Times New Roman" pitchFamily="18" charset="0"/>
              </a:rPr>
              <a:t>&lt;</a:t>
            </a:r>
            <a:r>
              <a:rPr lang="zh-CN" altLang="en-GB" sz="2400" dirty="0"/>
              <a:t>文件名</a:t>
            </a:r>
            <a:r>
              <a:rPr lang="zh-CN" altLang="en-GB" sz="2400" dirty="0">
                <a:cs typeface="Times New Roman" pitchFamily="18" charset="0"/>
              </a:rPr>
              <a:t>&gt; </a:t>
            </a:r>
            <a:r>
              <a:rPr lang="en-US" altLang="zh-CN" sz="2400" dirty="0">
                <a:cs typeface="Times New Roman" pitchFamily="18" charset="0"/>
              </a:rPr>
              <a:t>[</a:t>
            </a:r>
            <a:r>
              <a:rPr lang="zh-CN" altLang="en-GB" sz="2400" dirty="0">
                <a:solidFill>
                  <a:srgbClr val="FFC000"/>
                </a:solidFill>
                <a:cs typeface="Times New Roman" pitchFamily="18" charset="0"/>
              </a:rPr>
              <a:t>,</a:t>
            </a:r>
            <a:r>
              <a:rPr lang="zh-CN" altLang="en-GB" sz="2400" dirty="0">
                <a:cs typeface="Times New Roman" pitchFamily="18" charset="0"/>
              </a:rPr>
              <a:t>&lt;</a:t>
            </a:r>
            <a:r>
              <a:rPr lang="zh-CN" altLang="en-GB" sz="2400" dirty="0"/>
              <a:t>打开方式</a:t>
            </a:r>
            <a:r>
              <a:rPr lang="zh-CN" altLang="en-GB" sz="2400" dirty="0">
                <a:cs typeface="Times New Roman" pitchFamily="18" charset="0"/>
              </a:rPr>
              <a:t>&gt;</a:t>
            </a:r>
            <a:r>
              <a:rPr lang="en-US" altLang="zh-CN" sz="2400" dirty="0">
                <a:cs typeface="Times New Roman" pitchFamily="18" charset="0"/>
              </a:rPr>
              <a:t>]</a:t>
            </a:r>
            <a:r>
              <a:rPr lang="zh-CN" altLang="en-GB" sz="2400" dirty="0">
                <a:solidFill>
                  <a:srgbClr val="FFC000"/>
                </a:solidFill>
                <a:cs typeface="Times New Roman" pitchFamily="18" charset="0"/>
              </a:rPr>
              <a:t>);</a:t>
            </a:r>
            <a:endParaRPr lang="en-US" altLang="zh-CN" sz="2400" dirty="0">
              <a:solidFill>
                <a:srgbClr val="FFC000"/>
              </a:solidFill>
              <a:cs typeface="Times New Roman" pitchFamily="18" charset="0"/>
            </a:endParaRPr>
          </a:p>
          <a:p>
            <a:pPr marL="809625" indent="14288" eaLnBrk="1" hangingPunct="1">
              <a:buFont typeface="Wingdings" panose="05000000000000000000" pitchFamily="2" charset="2"/>
              <a:buNone/>
              <a:defRPr/>
            </a:pPr>
            <a:r>
              <a:rPr lang="en-US" altLang="zh-CN" sz="2400" dirty="0">
                <a:cs typeface="Times New Roman" pitchFamily="18" charset="0"/>
              </a:rPr>
              <a:t>	</a:t>
            </a:r>
            <a:r>
              <a:rPr lang="zh-CN" altLang="en-US" sz="2400" dirty="0">
                <a:cs typeface="Times New Roman" pitchFamily="18" charset="0"/>
              </a:rPr>
              <a:t>例如：</a:t>
            </a:r>
            <a:endParaRPr lang="en-US" altLang="zh-CN" sz="2400" dirty="0">
              <a:cs typeface="Times New Roman" pitchFamily="18" charset="0"/>
            </a:endParaRPr>
          </a:p>
          <a:p>
            <a:pPr marL="938213" lvl="2" indent="0" eaLnBrk="1" hangingPunct="1">
              <a:buFont typeface="Wingdings" panose="05000000000000000000" pitchFamily="2" charset="2"/>
              <a:buNone/>
              <a:defRPr/>
            </a:pPr>
            <a:r>
              <a:rPr lang="en-US" altLang="zh-CN" dirty="0" err="1">
                <a:cs typeface="Courier New" pitchFamily="49" charset="0"/>
              </a:rPr>
              <a:t>out_file.open</a:t>
            </a:r>
            <a:r>
              <a:rPr lang="en-US" altLang="zh-CN" dirty="0">
                <a:cs typeface="Courier New" pitchFamily="49" charset="0"/>
              </a:rPr>
              <a:t>("d:\\myfile.txt",</a:t>
            </a:r>
            <a:r>
              <a:rPr lang="en-US" altLang="zh-CN" dirty="0" err="1">
                <a:cs typeface="Courier New" pitchFamily="49" charset="0"/>
              </a:rPr>
              <a:t>ios</a:t>
            </a:r>
            <a:r>
              <a:rPr lang="en-US" altLang="zh-CN" dirty="0">
                <a:cs typeface="Courier New" pitchFamily="49" charset="0"/>
              </a:rPr>
              <a:t>::out);</a:t>
            </a:r>
            <a:endParaRPr lang="zh-CN" altLang="en-US" dirty="0">
              <a:cs typeface="Courier New"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BE92B6E-723E-6382-3599-539A5A6216BD}"/>
              </a:ext>
            </a:extLst>
          </p:cNvPr>
          <p:cNvSpPr>
            <a:spLocks noGrp="1" noChangeArrowheads="1"/>
          </p:cNvSpPr>
          <p:nvPr>
            <p:ph type="title"/>
          </p:nvPr>
        </p:nvSpPr>
        <p:spPr>
          <a:xfrm>
            <a:off x="457200" y="44450"/>
            <a:ext cx="8229600" cy="1139825"/>
          </a:xfrm>
        </p:spPr>
        <p:txBody>
          <a:bodyPr/>
          <a:lstStyle/>
          <a:p>
            <a:pPr eaLnBrk="1" hangingPunct="1">
              <a:defRPr/>
            </a:pPr>
            <a:endParaRPr lang="zh-CN" altLang="en-US" dirty="0">
              <a:effectLst>
                <a:outerShdw blurRad="38100" dist="38100" dir="2700000" algn="tl">
                  <a:srgbClr val="000000">
                    <a:alpha val="43137"/>
                  </a:srgbClr>
                </a:outerShdw>
              </a:effectLst>
            </a:endParaRPr>
          </a:p>
        </p:txBody>
      </p:sp>
      <p:sp>
        <p:nvSpPr>
          <p:cNvPr id="38915" name="Rectangle 3">
            <a:extLst>
              <a:ext uri="{FF2B5EF4-FFF2-40B4-BE49-F238E27FC236}">
                <a16:creationId xmlns:a16="http://schemas.microsoft.com/office/drawing/2014/main" id="{8F86567E-0638-2E9F-8804-7D21F446339C}"/>
              </a:ext>
            </a:extLst>
          </p:cNvPr>
          <p:cNvSpPr>
            <a:spLocks noGrp="1" noChangeArrowheads="1"/>
          </p:cNvSpPr>
          <p:nvPr>
            <p:ph type="body" idx="1"/>
          </p:nvPr>
        </p:nvSpPr>
        <p:spPr>
          <a:xfrm>
            <a:off x="250825" y="1268413"/>
            <a:ext cx="8497888" cy="5473700"/>
          </a:xfrm>
        </p:spPr>
        <p:txBody>
          <a:bodyPr>
            <a:normAutofit/>
          </a:bodyPr>
          <a:lstStyle/>
          <a:p>
            <a:pPr eaLnBrk="1" hangingPunct="1">
              <a:defRPr/>
            </a:pPr>
            <a:r>
              <a:rPr lang="zh-CN" altLang="en-GB" dirty="0">
                <a:latin typeface="Times New Roman" pitchFamily="18" charset="0"/>
              </a:rPr>
              <a:t>打开方式</a:t>
            </a:r>
            <a:r>
              <a:rPr lang="zh-CN" altLang="en-US" dirty="0"/>
              <a:t> </a:t>
            </a:r>
          </a:p>
          <a:p>
            <a:pPr lvl="1" eaLnBrk="1" hangingPunct="1">
              <a:lnSpc>
                <a:spcPct val="110000"/>
              </a:lnSpc>
              <a:defRPr/>
            </a:pPr>
            <a:r>
              <a:rPr lang="en-GB" altLang="zh-CN" dirty="0" err="1">
                <a:latin typeface="Times New Roman" pitchFamily="18" charset="0"/>
                <a:cs typeface="Times New Roman" pitchFamily="18" charset="0"/>
              </a:rPr>
              <a:t>ios</a:t>
            </a:r>
            <a:r>
              <a:rPr lang="en-GB" altLang="zh-CN" dirty="0">
                <a:latin typeface="Times New Roman" pitchFamily="18" charset="0"/>
                <a:cs typeface="Times New Roman" pitchFamily="18" charset="0"/>
              </a:rPr>
              <a:t>::out</a:t>
            </a:r>
            <a:endParaRPr lang="en-GB" altLang="zh-CN" dirty="0">
              <a:latin typeface="Times New Roman" pitchFamily="18" charset="0"/>
            </a:endParaRPr>
          </a:p>
          <a:p>
            <a:pPr lvl="2" eaLnBrk="1" hangingPunct="1">
              <a:lnSpc>
                <a:spcPct val="110000"/>
              </a:lnSpc>
              <a:defRPr/>
            </a:pPr>
            <a:r>
              <a:rPr lang="zh-CN" altLang="en-GB" dirty="0"/>
              <a:t>打开一个外部文件用于写操作</a:t>
            </a:r>
            <a:r>
              <a:rPr lang="zh-CN" altLang="en-US" dirty="0"/>
              <a:t>。</a:t>
            </a:r>
            <a:endParaRPr lang="en-US" altLang="zh-CN" dirty="0"/>
          </a:p>
          <a:p>
            <a:pPr lvl="2" eaLnBrk="1" hangingPunct="1">
              <a:lnSpc>
                <a:spcPct val="110000"/>
              </a:lnSpc>
              <a:defRPr/>
            </a:pPr>
            <a:r>
              <a:rPr lang="zh-CN" altLang="en-GB" dirty="0"/>
              <a:t>如果外部文件已存在</a:t>
            </a:r>
            <a:r>
              <a:rPr lang="zh-CN" altLang="en-US" dirty="0"/>
              <a:t>，</a:t>
            </a:r>
            <a:r>
              <a:rPr lang="zh-CN" altLang="en-GB" dirty="0"/>
              <a:t>则首先把它的内容清除；否则，先创建该外部文件。</a:t>
            </a:r>
            <a:endParaRPr lang="en-US" altLang="zh-CN" dirty="0"/>
          </a:p>
          <a:p>
            <a:pPr lvl="2" eaLnBrk="1" hangingPunct="1">
              <a:lnSpc>
                <a:spcPct val="110000"/>
              </a:lnSpc>
              <a:defRPr/>
            </a:pPr>
            <a:r>
              <a:rPr lang="en-GB" altLang="zh-CN" dirty="0" err="1">
                <a:latin typeface="Times New Roman" pitchFamily="18" charset="0"/>
                <a:cs typeface="Times New Roman" pitchFamily="18" charset="0"/>
              </a:rPr>
              <a:t>ios</a:t>
            </a:r>
            <a:r>
              <a:rPr lang="en-GB" altLang="zh-CN" dirty="0">
                <a:latin typeface="Times New Roman" pitchFamily="18" charset="0"/>
                <a:cs typeface="Times New Roman" pitchFamily="18" charset="0"/>
              </a:rPr>
              <a:t>::out</a:t>
            </a:r>
            <a:r>
              <a:rPr lang="zh-CN" altLang="en-US" dirty="0">
                <a:latin typeface="Times New Roman" pitchFamily="18" charset="0"/>
                <a:cs typeface="Times New Roman" pitchFamily="18" charset="0"/>
              </a:rPr>
              <a:t>是默认打开方式。</a:t>
            </a:r>
            <a:endParaRPr lang="zh-CN" altLang="en-GB" dirty="0">
              <a:latin typeface="Times New Roman" pitchFamily="18" charset="0"/>
            </a:endParaRPr>
          </a:p>
          <a:p>
            <a:pPr lvl="1" eaLnBrk="1" hangingPunct="1">
              <a:lnSpc>
                <a:spcPct val="110000"/>
              </a:lnSpc>
              <a:defRPr/>
            </a:pPr>
            <a:r>
              <a:rPr lang="en-GB" altLang="zh-CN" dirty="0" err="1">
                <a:latin typeface="Times New Roman" pitchFamily="18" charset="0"/>
              </a:rPr>
              <a:t>ios</a:t>
            </a:r>
            <a:r>
              <a:rPr lang="en-GB" altLang="zh-CN" dirty="0">
                <a:latin typeface="Times New Roman" pitchFamily="18" charset="0"/>
              </a:rPr>
              <a:t>::app</a:t>
            </a:r>
          </a:p>
          <a:p>
            <a:pPr lvl="2" eaLnBrk="1" hangingPunct="1">
              <a:lnSpc>
                <a:spcPct val="110000"/>
              </a:lnSpc>
              <a:defRPr/>
            </a:pPr>
            <a:r>
              <a:rPr lang="zh-CN" altLang="en-GB" dirty="0"/>
              <a:t>打开一个外部文件用于添加操作。（</a:t>
            </a:r>
            <a:r>
              <a:rPr lang="zh-CN" altLang="en-US" dirty="0"/>
              <a:t>不清除文件内容，</a:t>
            </a:r>
            <a:r>
              <a:rPr lang="zh-CN" altLang="en-GB" dirty="0"/>
              <a:t>文件</a:t>
            </a:r>
            <a:r>
              <a:rPr lang="zh-CN" altLang="en-US" dirty="0"/>
              <a:t>位置指针在</a:t>
            </a:r>
            <a:r>
              <a:rPr lang="zh-CN" altLang="en-GB" dirty="0"/>
              <a:t>末尾）</a:t>
            </a:r>
            <a:endParaRPr lang="en-US" altLang="zh-CN" dirty="0"/>
          </a:p>
          <a:p>
            <a:pPr lvl="2" eaLnBrk="1" hangingPunct="1">
              <a:lnSpc>
                <a:spcPct val="110000"/>
              </a:lnSpc>
              <a:defRPr/>
            </a:pPr>
            <a:r>
              <a:rPr lang="zh-CN" altLang="en-GB" dirty="0"/>
              <a:t>如果外部文件不存在</a:t>
            </a:r>
            <a:r>
              <a:rPr lang="zh-CN" altLang="en-US" dirty="0"/>
              <a:t>，</a:t>
            </a:r>
            <a:r>
              <a:rPr lang="zh-CN" altLang="en-GB" dirty="0"/>
              <a:t>则先创建该外部文件。</a:t>
            </a:r>
            <a:r>
              <a:rPr lang="zh-CN" altLang="en-US" sz="2000" dirty="0"/>
              <a:t> </a:t>
            </a:r>
            <a:endParaRPr lang="zh-CN" altLang="en-US" dirty="0">
              <a:latin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7C1BE-9F02-79AE-9EB0-E066A1EBC4EE}"/>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699A672F-C7A2-4683-545C-A8C9F4E5236C}"/>
              </a:ext>
            </a:extLst>
          </p:cNvPr>
          <p:cNvSpPr>
            <a:spLocks noGrp="1"/>
          </p:cNvSpPr>
          <p:nvPr>
            <p:ph idx="1"/>
          </p:nvPr>
        </p:nvSpPr>
        <p:spPr>
          <a:xfrm>
            <a:off x="323850" y="1600200"/>
            <a:ext cx="8424863" cy="4530725"/>
          </a:xfrm>
        </p:spPr>
        <p:txBody>
          <a:bodyPr/>
          <a:lstStyle/>
          <a:p>
            <a:pPr lvl="1" eaLnBrk="1" hangingPunct="1">
              <a:lnSpc>
                <a:spcPct val="110000"/>
              </a:lnSpc>
              <a:defRPr/>
            </a:pPr>
            <a:r>
              <a:rPr lang="en-US" altLang="zh-CN" dirty="0" err="1">
                <a:latin typeface="Times New Roman" pitchFamily="18" charset="0"/>
              </a:rPr>
              <a:t>ios</a:t>
            </a:r>
            <a:r>
              <a:rPr lang="en-US" altLang="zh-CN" dirty="0">
                <a:latin typeface="Times New Roman" pitchFamily="18" charset="0"/>
              </a:rPr>
              <a:t>::out | </a:t>
            </a:r>
            <a:r>
              <a:rPr lang="en-US" altLang="zh-CN" dirty="0" err="1">
                <a:latin typeface="Times New Roman" pitchFamily="18" charset="0"/>
              </a:rPr>
              <a:t>ios</a:t>
            </a:r>
            <a:r>
              <a:rPr lang="en-US" altLang="zh-CN" dirty="0">
                <a:latin typeface="Times New Roman" pitchFamily="18" charset="0"/>
              </a:rPr>
              <a:t>::binary </a:t>
            </a:r>
            <a:r>
              <a:rPr lang="zh-CN" altLang="en-US" dirty="0">
                <a:latin typeface="Times New Roman" pitchFamily="18" charset="0"/>
              </a:rPr>
              <a:t>或 </a:t>
            </a:r>
            <a:r>
              <a:rPr lang="en-US" altLang="zh-CN" dirty="0" err="1">
                <a:latin typeface="Times New Roman" pitchFamily="18" charset="0"/>
              </a:rPr>
              <a:t>ios</a:t>
            </a:r>
            <a:r>
              <a:rPr lang="en-US" altLang="zh-CN" dirty="0">
                <a:latin typeface="Times New Roman" pitchFamily="18" charset="0"/>
              </a:rPr>
              <a:t>::app | </a:t>
            </a:r>
            <a:r>
              <a:rPr lang="en-US" altLang="zh-CN" dirty="0" err="1">
                <a:latin typeface="Times New Roman" pitchFamily="18" charset="0"/>
              </a:rPr>
              <a:t>ios</a:t>
            </a:r>
            <a:r>
              <a:rPr lang="en-US" altLang="zh-CN" dirty="0">
                <a:latin typeface="Times New Roman" pitchFamily="18" charset="0"/>
              </a:rPr>
              <a:t>::binary</a:t>
            </a:r>
          </a:p>
          <a:p>
            <a:pPr lvl="2" eaLnBrk="1" hangingPunct="1">
              <a:lnSpc>
                <a:spcPct val="110000"/>
              </a:lnSpc>
              <a:defRPr/>
            </a:pPr>
            <a:r>
              <a:rPr lang="zh-CN" altLang="en-GB" dirty="0">
                <a:latin typeface="Times New Roman" pitchFamily="18" charset="0"/>
              </a:rPr>
              <a:t>按二进制方式打开文件。</a:t>
            </a:r>
            <a:r>
              <a:rPr lang="zh-CN" altLang="en-US" dirty="0">
                <a:latin typeface="Times New Roman" pitchFamily="18" charset="0"/>
              </a:rPr>
              <a:t>（</a:t>
            </a:r>
            <a:r>
              <a:rPr lang="zh-CN" altLang="en-GB" dirty="0">
                <a:latin typeface="Times New Roman" pitchFamily="18" charset="0"/>
              </a:rPr>
              <a:t>默认的是文本方式</a:t>
            </a:r>
            <a:r>
              <a:rPr lang="zh-CN" altLang="en-US" dirty="0">
                <a:latin typeface="Times New Roman" pitchFamily="18" charset="0"/>
              </a:rPr>
              <a:t>）</a:t>
            </a:r>
          </a:p>
          <a:p>
            <a:pPr lvl="2" eaLnBrk="1" hangingPunct="1">
              <a:lnSpc>
                <a:spcPct val="110000"/>
              </a:lnSpc>
              <a:defRPr/>
            </a:pPr>
            <a:r>
              <a:rPr lang="zh-CN" altLang="en-US" dirty="0"/>
              <a:t>文本方式与二进制方式的区别：</a:t>
            </a:r>
            <a:endParaRPr lang="en-US" altLang="zh-CN" dirty="0"/>
          </a:p>
          <a:p>
            <a:pPr lvl="3" eaLnBrk="1" hangingPunct="1">
              <a:lnSpc>
                <a:spcPct val="110000"/>
              </a:lnSpc>
              <a:defRPr/>
            </a:pPr>
            <a:r>
              <a:rPr lang="zh-CN" altLang="en-US" dirty="0"/>
              <a:t>对以文本方式打开的文件，当输出的字符为</a:t>
            </a:r>
            <a:r>
              <a:rPr lang="en-US" altLang="zh-CN" dirty="0">
                <a:solidFill>
                  <a:srgbClr val="FFC000"/>
                </a:solidFill>
              </a:rPr>
              <a:t>'\n'</a:t>
            </a:r>
            <a:r>
              <a:rPr lang="zh-CN" altLang="en-US" dirty="0"/>
              <a:t>时，在某些平台上（如：</a:t>
            </a:r>
            <a:r>
              <a:rPr lang="en-US" altLang="zh-CN" dirty="0"/>
              <a:t>DOS</a:t>
            </a:r>
            <a:r>
              <a:rPr lang="zh-CN" altLang="en-US" dirty="0"/>
              <a:t>和</a:t>
            </a:r>
            <a:r>
              <a:rPr lang="en-US" altLang="zh-CN" dirty="0"/>
              <a:t>Windows</a:t>
            </a:r>
            <a:r>
              <a:rPr lang="zh-CN" altLang="en-US" dirty="0"/>
              <a:t>平台）将自动把它转换成</a:t>
            </a:r>
            <a:r>
              <a:rPr lang="en-US" altLang="zh-CN" dirty="0"/>
              <a:t>'\r'</a:t>
            </a:r>
            <a:r>
              <a:rPr lang="zh-CN" altLang="en-US" dirty="0"/>
              <a:t>和</a:t>
            </a:r>
            <a:r>
              <a:rPr lang="en-US" altLang="zh-CN" dirty="0"/>
              <a:t>'\n'</a:t>
            </a:r>
            <a:r>
              <a:rPr lang="zh-CN" altLang="en-US" dirty="0">
                <a:solidFill>
                  <a:srgbClr val="FFC000"/>
                </a:solidFill>
              </a:rPr>
              <a:t>两个字符</a:t>
            </a:r>
            <a:r>
              <a:rPr lang="zh-CN" altLang="en-US" dirty="0"/>
              <a:t>写入外部文件。 </a:t>
            </a:r>
            <a:endParaRPr lang="en-US" altLang="zh-CN" dirty="0"/>
          </a:p>
          <a:p>
            <a:pPr lvl="3" eaLnBrk="1" hangingPunct="1">
              <a:lnSpc>
                <a:spcPct val="110000"/>
              </a:lnSpc>
              <a:defRPr/>
            </a:pPr>
            <a:r>
              <a:rPr lang="zh-CN" altLang="en-US" dirty="0"/>
              <a:t>对以二进制方式打开的文件，对输出的字节不做任何转换，原样输出。</a:t>
            </a:r>
            <a:endParaRPr lang="zh-CN" altLang="en-US" dirty="0">
              <a:latin typeface="宋体" pitchFamily="2" charset="-122"/>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DAFBE05-5DCB-F6E0-20DB-CD6BAD49162E}"/>
              </a:ext>
            </a:extLst>
          </p:cNvPr>
          <p:cNvSpPr>
            <a:spLocks noGrp="1" noChangeArrowheads="1"/>
          </p:cNvSpPr>
          <p:nvPr>
            <p:ph type="title"/>
          </p:nvPr>
        </p:nvSpPr>
        <p:spPr/>
        <p:txBody>
          <a:bodyPr/>
          <a:lstStyle/>
          <a:p>
            <a:pPr eaLnBrk="1" hangingPunct="1">
              <a:defRPr/>
            </a:pPr>
            <a:r>
              <a:rPr lang="zh-CN" altLang="en-US" dirty="0"/>
              <a:t>判断打开操作是否成功</a:t>
            </a:r>
            <a:endParaRPr lang="zh-CN" altLang="zh-CN" dirty="0"/>
          </a:p>
        </p:txBody>
      </p:sp>
      <p:sp>
        <p:nvSpPr>
          <p:cNvPr id="94211" name="Rectangle 3">
            <a:extLst>
              <a:ext uri="{FF2B5EF4-FFF2-40B4-BE49-F238E27FC236}">
                <a16:creationId xmlns:a16="http://schemas.microsoft.com/office/drawing/2014/main" id="{694E1F30-8A79-65DD-7C3E-5599A6823B48}"/>
              </a:ext>
            </a:extLst>
          </p:cNvPr>
          <p:cNvSpPr>
            <a:spLocks noGrp="1" noChangeArrowheads="1"/>
          </p:cNvSpPr>
          <p:nvPr>
            <p:ph type="body" idx="1"/>
          </p:nvPr>
        </p:nvSpPr>
        <p:spPr/>
        <p:txBody>
          <a:bodyPr/>
          <a:lstStyle/>
          <a:p>
            <a:pPr eaLnBrk="1" hangingPunct="1">
              <a:defRPr/>
            </a:pPr>
            <a:r>
              <a:rPr lang="zh-CN" altLang="en-GB" sz="2800" dirty="0">
                <a:latin typeface="Times New Roman" pitchFamily="18" charset="0"/>
              </a:rPr>
              <a:t>打开文件时，必须要对文件打开操作的成功与否进行判断。</a:t>
            </a:r>
            <a:endParaRPr lang="en-US" altLang="zh-CN" sz="2800" dirty="0">
              <a:latin typeface="Times New Roman" pitchFamily="18" charset="0"/>
            </a:endParaRPr>
          </a:p>
          <a:p>
            <a:pPr eaLnBrk="1" hangingPunct="1">
              <a:defRPr/>
            </a:pPr>
            <a:r>
              <a:rPr lang="zh-CN" altLang="en-GB" sz="2800" dirty="0">
                <a:latin typeface="Times New Roman" pitchFamily="18" charset="0"/>
              </a:rPr>
              <a:t>判断文件是否成功打开可以采用以下方式</a:t>
            </a:r>
            <a:r>
              <a:rPr lang="zh-CN" altLang="en-US" sz="2800" dirty="0">
                <a:latin typeface="Times New Roman" pitchFamily="18" charset="0"/>
              </a:rPr>
              <a:t>：</a:t>
            </a:r>
            <a:r>
              <a:rPr lang="zh-CN" altLang="en-US" sz="2800" dirty="0"/>
              <a:t> </a:t>
            </a:r>
          </a:p>
          <a:p>
            <a:pPr lvl="1" eaLnBrk="1" hangingPunct="1">
              <a:lnSpc>
                <a:spcPct val="170000"/>
              </a:lnSpc>
              <a:buFontTx/>
              <a:buNone/>
              <a:defRPr/>
            </a:pPr>
            <a:r>
              <a:rPr lang="en-US" altLang="zh-CN" sz="2400" dirty="0">
                <a:cs typeface="Courier New" pitchFamily="49" charset="0"/>
              </a:rPr>
              <a:t>if (!</a:t>
            </a:r>
            <a:r>
              <a:rPr lang="en-US" altLang="zh-CN" sz="2400" dirty="0" err="1">
                <a:cs typeface="Courier New" pitchFamily="49" charset="0"/>
              </a:rPr>
              <a:t>out_file.is_open</a:t>
            </a:r>
            <a:r>
              <a:rPr lang="en-US" altLang="zh-CN" sz="2400" dirty="0">
                <a:cs typeface="Courier New" pitchFamily="49" charset="0"/>
              </a:rPr>
              <a:t>())  //</a:t>
            </a:r>
            <a:r>
              <a:rPr lang="zh-CN" altLang="en-US" sz="2400" dirty="0"/>
              <a:t>或</a:t>
            </a:r>
            <a:r>
              <a:rPr lang="zh-CN" altLang="en-GB" sz="2400" dirty="0"/>
              <a:t>：</a:t>
            </a:r>
            <a:r>
              <a:rPr lang="en-US" altLang="zh-CN" sz="2400" dirty="0" err="1">
                <a:cs typeface="Courier New" pitchFamily="49" charset="0"/>
              </a:rPr>
              <a:t>out_file.fail</a:t>
            </a:r>
            <a:r>
              <a:rPr lang="en-US" altLang="zh-CN" sz="2400" dirty="0">
                <a:cs typeface="Courier New" pitchFamily="49" charset="0"/>
              </a:rPr>
              <a:t>() </a:t>
            </a:r>
          </a:p>
          <a:p>
            <a:pPr lvl="1" eaLnBrk="1" hangingPunct="1">
              <a:buFontTx/>
              <a:buNone/>
              <a:defRPr/>
            </a:pPr>
            <a:r>
              <a:rPr lang="en-GB" altLang="zh-CN" sz="2400" dirty="0"/>
              <a:t>				            //</a:t>
            </a:r>
            <a:r>
              <a:rPr lang="zh-CN" altLang="en-GB" sz="2400" dirty="0"/>
              <a:t>或：</a:t>
            </a:r>
            <a:r>
              <a:rPr lang="en-US" altLang="zh-CN" sz="2400" dirty="0">
                <a:solidFill>
                  <a:srgbClr val="FFC000"/>
                </a:solidFill>
                <a:cs typeface="Courier New" pitchFamily="49" charset="0"/>
              </a:rPr>
              <a:t>!</a:t>
            </a:r>
            <a:r>
              <a:rPr lang="en-US" altLang="zh-CN" sz="2400" dirty="0" err="1">
                <a:solidFill>
                  <a:srgbClr val="FFC000"/>
                </a:solidFill>
                <a:cs typeface="Courier New" pitchFamily="49" charset="0"/>
              </a:rPr>
              <a:t>out_file</a:t>
            </a:r>
            <a:endParaRPr lang="en-US" altLang="zh-CN" sz="2400" dirty="0">
              <a:solidFill>
                <a:srgbClr val="FFC000"/>
              </a:solidFill>
              <a:cs typeface="Courier New" pitchFamily="49" charset="0"/>
            </a:endParaRPr>
          </a:p>
          <a:p>
            <a:pPr lvl="1" eaLnBrk="1" hangingPunct="1">
              <a:buFontTx/>
              <a:buNone/>
              <a:defRPr/>
            </a:pPr>
            <a:r>
              <a:rPr lang="en-US" altLang="zh-CN" sz="2400" dirty="0">
                <a:cs typeface="Courier New" pitchFamily="49" charset="0"/>
              </a:rPr>
              <a:t>{ ...... //</a:t>
            </a:r>
            <a:r>
              <a:rPr lang="zh-CN" altLang="en-US" sz="2400" dirty="0"/>
              <a:t>失败处理</a:t>
            </a:r>
            <a:endParaRPr lang="zh-CN" altLang="en-US" sz="2400" dirty="0">
              <a:cs typeface="Courier New" pitchFamily="49" charset="0"/>
            </a:endParaRPr>
          </a:p>
          <a:p>
            <a:pPr lvl="1" eaLnBrk="1" hangingPunct="1">
              <a:buFontTx/>
              <a:buNone/>
              <a:defRPr/>
            </a:pPr>
            <a:r>
              <a:rPr lang="en-US" altLang="zh-CN" sz="2400" dirty="0">
                <a:cs typeface="Times New Roman" pitchFamily="18" charset="0"/>
              </a:rPr>
              <a:t>}</a:t>
            </a:r>
            <a:r>
              <a:rPr lang="en-US" altLang="zh-CN" sz="2400" dirty="0"/>
              <a:t> </a:t>
            </a:r>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a:extLst>
              <a:ext uri="{FF2B5EF4-FFF2-40B4-BE49-F238E27FC236}">
                <a16:creationId xmlns:a16="http://schemas.microsoft.com/office/drawing/2014/main" id="{F5D66941-840F-92CB-858A-B5771993185A}"/>
              </a:ext>
            </a:extLst>
          </p:cNvPr>
          <p:cNvSpPr>
            <a:spLocks noGrp="1" noChangeArrowheads="1"/>
          </p:cNvSpPr>
          <p:nvPr>
            <p:ph type="body" idx="1"/>
          </p:nvPr>
        </p:nvSpPr>
        <p:spPr>
          <a:xfrm>
            <a:off x="250825" y="1052513"/>
            <a:ext cx="8686800" cy="5616575"/>
          </a:xfrm>
        </p:spPr>
        <p:txBody>
          <a:bodyPr>
            <a:normAutofit fontScale="85000" lnSpcReduction="20000"/>
          </a:bodyPr>
          <a:lstStyle/>
          <a:p>
            <a:pPr eaLnBrk="1" hangingPunct="1">
              <a:lnSpc>
                <a:spcPct val="120000"/>
              </a:lnSpc>
              <a:defRPr/>
            </a:pPr>
            <a:r>
              <a:rPr lang="zh-CN" altLang="en-GB" sz="2800" dirty="0"/>
              <a:t>文件成功打开后</a:t>
            </a:r>
            <a:r>
              <a:rPr lang="zh-CN" altLang="en-US" sz="2800" dirty="0"/>
              <a:t>，</a:t>
            </a:r>
            <a:r>
              <a:rPr lang="zh-CN" altLang="en-GB" sz="2800" dirty="0"/>
              <a:t>可以使用插入操作符</a:t>
            </a:r>
            <a:r>
              <a:rPr lang="zh-CN" altLang="en-GB" sz="2800" dirty="0">
                <a:latin typeface="Arial"/>
              </a:rPr>
              <a:t>“</a:t>
            </a:r>
            <a:r>
              <a:rPr lang="zh-CN" altLang="en-GB" sz="2800" dirty="0"/>
              <a:t>&lt;&lt;</a:t>
            </a:r>
            <a:r>
              <a:rPr lang="zh-CN" altLang="en-GB" sz="2800" dirty="0">
                <a:latin typeface="Arial"/>
              </a:rPr>
              <a:t>”</a:t>
            </a:r>
            <a:r>
              <a:rPr lang="zh-CN" altLang="en-GB" sz="2800" dirty="0"/>
              <a:t>或</a:t>
            </a:r>
            <a:r>
              <a:rPr lang="en-GB" altLang="zh-CN" sz="2800" dirty="0" err="1"/>
              <a:t>ofstream</a:t>
            </a:r>
            <a:r>
              <a:rPr lang="zh-CN" altLang="en-GB" sz="2800" dirty="0"/>
              <a:t>类的一些成员函数来进行文件</a:t>
            </a:r>
            <a:r>
              <a:rPr lang="zh-CN" altLang="en-US" sz="2800" dirty="0"/>
              <a:t>数据的</a:t>
            </a:r>
            <a:r>
              <a:rPr lang="zh-CN" altLang="en-GB" sz="2800" dirty="0"/>
              <a:t>输出操作</a:t>
            </a:r>
            <a:r>
              <a:rPr lang="zh-CN" altLang="en-US" sz="2800" dirty="0"/>
              <a:t>，例如：</a:t>
            </a:r>
            <a:r>
              <a:rPr lang="zh-CN" altLang="en-GB" sz="2800" dirty="0">
                <a:latin typeface="Arial"/>
              </a:rPr>
              <a:t> </a:t>
            </a:r>
            <a:endParaRPr lang="zh-CN" altLang="en-US" sz="2800" dirty="0"/>
          </a:p>
          <a:p>
            <a:pPr lvl="1" eaLnBrk="1" hangingPunct="1">
              <a:buFontTx/>
              <a:buNone/>
              <a:defRPr/>
            </a:pPr>
            <a:r>
              <a:rPr lang="en-GB" altLang="zh-CN" sz="2600" dirty="0" err="1"/>
              <a:t>int</a:t>
            </a:r>
            <a:r>
              <a:rPr lang="en-GB" altLang="zh-CN" sz="2600" dirty="0"/>
              <a:t> x</a:t>
            </a:r>
            <a:r>
              <a:rPr lang="en-US" altLang="zh-CN" sz="2600" dirty="0"/>
              <a:t>=12</a:t>
            </a:r>
            <a:r>
              <a:rPr lang="en-GB" altLang="zh-CN" sz="2600" dirty="0"/>
              <a:t>;</a:t>
            </a:r>
            <a:endParaRPr lang="zh-CN" altLang="zh-CN" sz="2600" dirty="0"/>
          </a:p>
          <a:p>
            <a:pPr lvl="1" eaLnBrk="1" hangingPunct="1">
              <a:buFontTx/>
              <a:buNone/>
              <a:defRPr/>
            </a:pPr>
            <a:r>
              <a:rPr lang="en-GB" altLang="zh-CN" sz="2600" dirty="0"/>
              <a:t>double y</a:t>
            </a:r>
            <a:r>
              <a:rPr lang="en-US" altLang="zh-CN" sz="2600" dirty="0"/>
              <a:t>=12.3</a:t>
            </a:r>
            <a:r>
              <a:rPr lang="en-GB" altLang="zh-CN" sz="2600" dirty="0"/>
              <a:t>;</a:t>
            </a:r>
            <a:endParaRPr lang="zh-CN" altLang="zh-CN" sz="2600" dirty="0"/>
          </a:p>
          <a:p>
            <a:pPr lvl="1" eaLnBrk="1" hangingPunct="1">
              <a:buFontTx/>
              <a:buNone/>
              <a:defRPr/>
            </a:pPr>
            <a:r>
              <a:rPr lang="en-GB" altLang="zh-CN" sz="2600" dirty="0"/>
              <a:t>......</a:t>
            </a:r>
            <a:endParaRPr lang="zh-CN" altLang="zh-CN" sz="2600" dirty="0"/>
          </a:p>
          <a:p>
            <a:pPr lvl="1" eaLnBrk="1" hangingPunct="1">
              <a:buFontTx/>
              <a:buNone/>
              <a:defRPr/>
            </a:pPr>
            <a:r>
              <a:rPr lang="en-GB" altLang="zh-CN" sz="2600" dirty="0"/>
              <a:t>//</a:t>
            </a:r>
            <a:r>
              <a:rPr lang="zh-CN" altLang="zh-CN" sz="2600" dirty="0">
                <a:solidFill>
                  <a:srgbClr val="FFC000"/>
                </a:solidFill>
              </a:rPr>
              <a:t>以文本方式输出数据</a:t>
            </a:r>
            <a:endParaRPr lang="en-US" altLang="zh-CN" sz="2600" dirty="0">
              <a:solidFill>
                <a:srgbClr val="FFC000"/>
              </a:solidFill>
            </a:endParaRPr>
          </a:p>
          <a:p>
            <a:pPr lvl="1" eaLnBrk="1" hangingPunct="1">
              <a:buFontTx/>
              <a:buNone/>
              <a:defRPr/>
            </a:pPr>
            <a:r>
              <a:rPr lang="en-GB" altLang="zh-CN" sz="2600" dirty="0" err="1"/>
              <a:t>ofstream</a:t>
            </a:r>
            <a:r>
              <a:rPr lang="en-GB" altLang="zh-CN" sz="2600" dirty="0"/>
              <a:t> </a:t>
            </a:r>
            <a:r>
              <a:rPr lang="en-GB" altLang="zh-CN" sz="2600" dirty="0" err="1"/>
              <a:t>out_file</a:t>
            </a:r>
            <a:r>
              <a:rPr lang="en-GB" altLang="zh-CN" sz="2600" dirty="0"/>
              <a:t>("d:\\myfile.txt",</a:t>
            </a:r>
            <a:r>
              <a:rPr lang="en-GB" altLang="zh-CN" sz="2600" dirty="0" err="1"/>
              <a:t>ios</a:t>
            </a:r>
            <a:r>
              <a:rPr lang="en-GB" altLang="zh-CN" sz="2600" dirty="0"/>
              <a:t>::out);</a:t>
            </a:r>
            <a:endParaRPr lang="zh-CN" altLang="zh-CN" sz="2600" dirty="0"/>
          </a:p>
          <a:p>
            <a:pPr lvl="1" eaLnBrk="1" hangingPunct="1">
              <a:buFontTx/>
              <a:buNone/>
              <a:defRPr/>
            </a:pPr>
            <a:r>
              <a:rPr lang="en-US" altLang="zh-CN" sz="2600" dirty="0"/>
              <a:t>if (!</a:t>
            </a:r>
            <a:r>
              <a:rPr lang="en-US" altLang="zh-CN" sz="2600" dirty="0" err="1"/>
              <a:t>out_file</a:t>
            </a:r>
            <a:r>
              <a:rPr lang="en-US" altLang="zh-CN" sz="2600" dirty="0"/>
              <a:t>) exit(-1);</a:t>
            </a:r>
            <a:endParaRPr lang="zh-CN" altLang="zh-CN" sz="2600" dirty="0"/>
          </a:p>
          <a:p>
            <a:pPr lvl="1" eaLnBrk="1" hangingPunct="1">
              <a:buFontTx/>
              <a:buNone/>
              <a:defRPr/>
            </a:pPr>
            <a:r>
              <a:rPr lang="en-GB" altLang="zh-CN" sz="2600" dirty="0" err="1"/>
              <a:t>out_file</a:t>
            </a:r>
            <a:r>
              <a:rPr lang="en-GB" altLang="zh-CN" sz="2600" dirty="0"/>
              <a:t> &lt;&lt; x &lt;&lt; ' ' &lt;&lt; y &lt;&lt; </a:t>
            </a:r>
            <a:r>
              <a:rPr lang="en-GB" altLang="zh-CN" sz="2600" dirty="0" err="1"/>
              <a:t>endl</a:t>
            </a:r>
            <a:r>
              <a:rPr lang="en-GB" altLang="zh-CN" sz="2600" dirty="0"/>
              <a:t>; </a:t>
            </a:r>
            <a:r>
              <a:rPr lang="en-US" altLang="zh-CN" sz="2600" dirty="0"/>
              <a:t>//</a:t>
            </a:r>
            <a:r>
              <a:rPr lang="zh-CN" altLang="en-US" sz="2600" dirty="0"/>
              <a:t>输出：</a:t>
            </a:r>
            <a:r>
              <a:rPr lang="en-US" altLang="zh-CN" sz="2600" dirty="0"/>
              <a:t>12 12.3</a:t>
            </a:r>
          </a:p>
          <a:p>
            <a:pPr marL="285750" lvl="1" eaLnBrk="1" hangingPunct="1">
              <a:buFontTx/>
              <a:buNone/>
              <a:defRPr/>
            </a:pPr>
            <a:r>
              <a:rPr lang="zh-CN" altLang="zh-CN" dirty="0"/>
              <a:t>或</a:t>
            </a:r>
          </a:p>
          <a:p>
            <a:pPr lvl="1" eaLnBrk="1" hangingPunct="1">
              <a:buFontTx/>
              <a:buNone/>
              <a:defRPr/>
            </a:pPr>
            <a:r>
              <a:rPr lang="en-GB" altLang="zh-CN" sz="2600" dirty="0"/>
              <a:t>//</a:t>
            </a:r>
            <a:r>
              <a:rPr lang="zh-CN" altLang="zh-CN" sz="2600" dirty="0">
                <a:solidFill>
                  <a:srgbClr val="FFC000"/>
                </a:solidFill>
              </a:rPr>
              <a:t>以二进制方式输出数据</a:t>
            </a:r>
            <a:endParaRPr lang="en-US" altLang="zh-CN" sz="2600" dirty="0">
              <a:solidFill>
                <a:srgbClr val="FFC000"/>
              </a:solidFill>
            </a:endParaRPr>
          </a:p>
          <a:p>
            <a:pPr lvl="1" eaLnBrk="1" hangingPunct="1">
              <a:buFontTx/>
              <a:buNone/>
              <a:defRPr/>
            </a:pPr>
            <a:r>
              <a:rPr lang="en-GB" altLang="zh-CN" sz="2600" dirty="0" err="1"/>
              <a:t>ofstream</a:t>
            </a:r>
            <a:r>
              <a:rPr lang="en-GB" altLang="zh-CN" sz="2600" dirty="0"/>
              <a:t> </a:t>
            </a:r>
            <a:r>
              <a:rPr lang="en-GB" altLang="zh-CN" sz="2600" dirty="0" err="1"/>
              <a:t>out_file</a:t>
            </a:r>
            <a:r>
              <a:rPr lang="en-GB" altLang="zh-CN" sz="2600" dirty="0"/>
              <a:t>("d:\\myfile.</a:t>
            </a:r>
            <a:r>
              <a:rPr lang="en-GB" altLang="zh-CN" sz="2600" dirty="0" err="1"/>
              <a:t>dat</a:t>
            </a:r>
            <a:r>
              <a:rPr lang="en-GB" altLang="zh-CN" sz="2600" dirty="0"/>
              <a:t>",</a:t>
            </a:r>
            <a:r>
              <a:rPr lang="en-GB" altLang="zh-CN" sz="2600" dirty="0" err="1"/>
              <a:t>ios</a:t>
            </a:r>
            <a:r>
              <a:rPr lang="en-GB" altLang="zh-CN" sz="2600" dirty="0"/>
              <a:t>::</a:t>
            </a:r>
            <a:r>
              <a:rPr lang="en-GB" altLang="zh-CN" sz="2600" dirty="0" err="1"/>
              <a:t>out|</a:t>
            </a:r>
            <a:r>
              <a:rPr lang="en-GB" altLang="zh-CN" sz="2600" dirty="0" err="1">
                <a:solidFill>
                  <a:srgbClr val="FFC000"/>
                </a:solidFill>
              </a:rPr>
              <a:t>ios</a:t>
            </a:r>
            <a:r>
              <a:rPr lang="en-GB" altLang="zh-CN" sz="2600" dirty="0">
                <a:solidFill>
                  <a:srgbClr val="FFC000"/>
                </a:solidFill>
              </a:rPr>
              <a:t>::binary</a:t>
            </a:r>
            <a:r>
              <a:rPr lang="en-GB" altLang="zh-CN" sz="2600" dirty="0"/>
              <a:t>);</a:t>
            </a:r>
            <a:endParaRPr lang="zh-CN" altLang="zh-CN" sz="2600" dirty="0"/>
          </a:p>
          <a:p>
            <a:pPr lvl="1" eaLnBrk="1" hangingPunct="1">
              <a:buFontTx/>
              <a:buNone/>
              <a:defRPr/>
            </a:pPr>
            <a:r>
              <a:rPr lang="en-US" altLang="zh-CN" sz="2600" dirty="0"/>
              <a:t>if (!</a:t>
            </a:r>
            <a:r>
              <a:rPr lang="en-US" altLang="zh-CN" sz="2600" dirty="0" err="1"/>
              <a:t>out_file</a:t>
            </a:r>
            <a:r>
              <a:rPr lang="en-US" altLang="zh-CN" sz="2600" dirty="0"/>
              <a:t>) exit(-1);</a:t>
            </a:r>
            <a:endParaRPr lang="zh-CN" altLang="zh-CN" sz="2600" dirty="0"/>
          </a:p>
          <a:p>
            <a:pPr lvl="1" eaLnBrk="1" hangingPunct="1">
              <a:buFontTx/>
              <a:buNone/>
              <a:defRPr/>
            </a:pPr>
            <a:r>
              <a:rPr lang="en-GB" altLang="zh-CN" sz="2600" dirty="0" err="1"/>
              <a:t>out_file.write</a:t>
            </a:r>
            <a:r>
              <a:rPr lang="en-GB" altLang="zh-CN" sz="2600" dirty="0"/>
              <a:t>((char *)&amp;</a:t>
            </a:r>
            <a:r>
              <a:rPr lang="en-GB" altLang="zh-CN" sz="2600" dirty="0" err="1"/>
              <a:t>x,sizeof</a:t>
            </a:r>
            <a:r>
              <a:rPr lang="en-GB" altLang="zh-CN" sz="2600" dirty="0"/>
              <a:t>(x)); </a:t>
            </a:r>
            <a:r>
              <a:rPr lang="en-US" altLang="zh-CN" sz="2600" dirty="0"/>
              <a:t>//</a:t>
            </a:r>
            <a:r>
              <a:rPr lang="zh-CN" altLang="en-US" sz="2600" dirty="0"/>
              <a:t>输出：</a:t>
            </a:r>
            <a:r>
              <a:rPr lang="en-US" altLang="zh-CN" sz="2600" dirty="0"/>
              <a:t>4</a:t>
            </a:r>
            <a:r>
              <a:rPr lang="zh-CN" altLang="en-US" sz="2600" dirty="0"/>
              <a:t>个字节</a:t>
            </a:r>
            <a:endParaRPr lang="zh-CN" altLang="zh-CN" sz="2600" dirty="0"/>
          </a:p>
          <a:p>
            <a:pPr lvl="1" eaLnBrk="1" hangingPunct="1">
              <a:buFontTx/>
              <a:buNone/>
              <a:defRPr/>
            </a:pPr>
            <a:r>
              <a:rPr lang="en-GB" altLang="zh-CN" sz="2600" dirty="0" err="1"/>
              <a:t>out_file.write</a:t>
            </a:r>
            <a:r>
              <a:rPr lang="en-GB" altLang="zh-CN" sz="2600" dirty="0"/>
              <a:t>((char *)&amp;</a:t>
            </a:r>
            <a:r>
              <a:rPr lang="en-GB" altLang="zh-CN" sz="2600" dirty="0" err="1"/>
              <a:t>y,sizeof</a:t>
            </a:r>
            <a:r>
              <a:rPr lang="en-GB" altLang="zh-CN" sz="2600" dirty="0"/>
              <a:t>(y)); //</a:t>
            </a:r>
            <a:r>
              <a:rPr lang="zh-CN" altLang="en-US" sz="2600" dirty="0"/>
              <a:t>输出：</a:t>
            </a:r>
            <a:r>
              <a:rPr lang="en-GB" altLang="zh-CN" sz="2600" dirty="0"/>
              <a:t>8</a:t>
            </a:r>
            <a:r>
              <a:rPr lang="zh-CN" altLang="en-US" sz="2600" dirty="0"/>
              <a:t>个字节</a:t>
            </a:r>
            <a:endParaRPr lang="zh-CN" altLang="zh-CN" sz="2600" dirty="0"/>
          </a:p>
        </p:txBody>
      </p:sp>
      <p:sp>
        <p:nvSpPr>
          <p:cNvPr id="3" name="Rectangle 2">
            <a:extLst>
              <a:ext uri="{FF2B5EF4-FFF2-40B4-BE49-F238E27FC236}">
                <a16:creationId xmlns:a16="http://schemas.microsoft.com/office/drawing/2014/main" id="{E2C71932-8734-05C7-89B7-A48F3DAF26E1}"/>
              </a:ext>
            </a:extLst>
          </p:cNvPr>
          <p:cNvSpPr>
            <a:spLocks noGrp="1" noChangeArrowheads="1"/>
          </p:cNvSpPr>
          <p:nvPr>
            <p:ph type="title"/>
          </p:nvPr>
        </p:nvSpPr>
        <p:spPr>
          <a:xfrm>
            <a:off x="457200" y="57150"/>
            <a:ext cx="8229600" cy="1139825"/>
          </a:xfrm>
        </p:spPr>
        <p:txBody>
          <a:bodyPr/>
          <a:lstStyle/>
          <a:p>
            <a:pPr eaLnBrk="1" hangingPunct="1">
              <a:defRPr/>
            </a:pPr>
            <a:r>
              <a:rPr lang="zh-CN" altLang="en-US" dirty="0"/>
              <a:t>输出数据</a:t>
            </a:r>
            <a:endParaRPr lang="zh-CN"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6B314A9-0264-F8DB-12CF-64959A145BD8}"/>
              </a:ext>
            </a:extLst>
          </p:cNvPr>
          <p:cNvSpPr>
            <a:spLocks noGrp="1"/>
          </p:cNvSpPr>
          <p:nvPr>
            <p:ph idx="1"/>
          </p:nvPr>
        </p:nvSpPr>
        <p:spPr>
          <a:xfrm>
            <a:off x="323850" y="260350"/>
            <a:ext cx="8434388" cy="6553200"/>
          </a:xfrm>
        </p:spPr>
        <p:txBody>
          <a:bodyPr>
            <a:normAutofit fontScale="70000" lnSpcReduction="20000"/>
          </a:bodyPr>
          <a:lstStyle/>
          <a:p>
            <a:pPr marL="0" indent="0">
              <a:lnSpc>
                <a:spcPct val="120000"/>
              </a:lnSpc>
              <a:buFont typeface="Wingdings" panose="05000000000000000000" pitchFamily="2" charset="2"/>
              <a:buNone/>
              <a:defRPr/>
            </a:pPr>
            <a:r>
              <a:rPr lang="en-US" altLang="zh-CN" dirty="0" err="1"/>
              <a:t>struct</a:t>
            </a:r>
            <a:r>
              <a:rPr lang="en-US" altLang="zh-CN" dirty="0"/>
              <a:t> Student</a:t>
            </a:r>
          </a:p>
          <a:p>
            <a:pPr marL="0" indent="0">
              <a:lnSpc>
                <a:spcPct val="120000"/>
              </a:lnSpc>
              <a:buFont typeface="Wingdings" panose="05000000000000000000" pitchFamily="2" charset="2"/>
              <a:buNone/>
              <a:defRPr/>
            </a:pPr>
            <a:r>
              <a:rPr lang="en-US" altLang="zh-CN" dirty="0"/>
              <a:t>{ </a:t>
            </a:r>
            <a:r>
              <a:rPr lang="en-US" altLang="zh-CN" dirty="0" err="1"/>
              <a:t>int</a:t>
            </a:r>
            <a:r>
              <a:rPr lang="en-US" altLang="zh-CN" dirty="0"/>
              <a:t> no;</a:t>
            </a:r>
          </a:p>
          <a:p>
            <a:pPr marL="0" indent="0">
              <a:lnSpc>
                <a:spcPct val="120000"/>
              </a:lnSpc>
              <a:buFont typeface="Wingdings" panose="05000000000000000000" pitchFamily="2" charset="2"/>
              <a:buNone/>
              <a:defRPr/>
            </a:pPr>
            <a:r>
              <a:rPr lang="en-US" altLang="zh-CN" dirty="0"/>
              <a:t>   char name[10];</a:t>
            </a:r>
          </a:p>
          <a:p>
            <a:pPr marL="0" indent="0">
              <a:lnSpc>
                <a:spcPct val="120000"/>
              </a:lnSpc>
              <a:buFont typeface="Wingdings" panose="05000000000000000000" pitchFamily="2" charset="2"/>
              <a:buNone/>
              <a:defRPr/>
            </a:pPr>
            <a:r>
              <a:rPr lang="en-US" altLang="zh-CN" dirty="0"/>
              <a:t>   </a:t>
            </a:r>
            <a:r>
              <a:rPr lang="en-US" altLang="zh-CN" dirty="0" err="1"/>
              <a:t>int</a:t>
            </a:r>
            <a:r>
              <a:rPr lang="en-US" altLang="zh-CN" dirty="0"/>
              <a:t> scores[5];</a:t>
            </a:r>
          </a:p>
          <a:p>
            <a:pPr marL="0" indent="0">
              <a:lnSpc>
                <a:spcPct val="120000"/>
              </a:lnSpc>
              <a:buFont typeface="Wingdings" panose="05000000000000000000" pitchFamily="2" charset="2"/>
              <a:buNone/>
              <a:defRPr/>
            </a:pPr>
            <a:r>
              <a:rPr lang="en-US" altLang="zh-CN" dirty="0"/>
              <a:t>} s1={161220042,"</a:t>
            </a:r>
            <a:r>
              <a:rPr lang="zh-CN" altLang="en-US" dirty="0"/>
              <a:t>张三</a:t>
            </a:r>
            <a:r>
              <a:rPr lang="en-US" altLang="zh-CN" dirty="0"/>
              <a:t>",{90,95,85,75,95}};</a:t>
            </a:r>
          </a:p>
          <a:p>
            <a:pPr marL="0" indent="0">
              <a:lnSpc>
                <a:spcPct val="120000"/>
              </a:lnSpc>
              <a:buFont typeface="Wingdings" panose="05000000000000000000" pitchFamily="2" charset="2"/>
              <a:buNone/>
              <a:defRPr/>
            </a:pPr>
            <a:r>
              <a:rPr lang="en-US" altLang="zh-CN" dirty="0"/>
              <a:t>//</a:t>
            </a:r>
            <a:r>
              <a:rPr lang="zh-CN" altLang="en-US" dirty="0">
                <a:solidFill>
                  <a:srgbClr val="FFC000"/>
                </a:solidFill>
              </a:rPr>
              <a:t>以文本方式输出数据</a:t>
            </a:r>
          </a:p>
          <a:p>
            <a:pPr marL="0" indent="0">
              <a:lnSpc>
                <a:spcPct val="120000"/>
              </a:lnSpc>
              <a:buFont typeface="Wingdings" panose="05000000000000000000" pitchFamily="2" charset="2"/>
              <a:buNone/>
              <a:defRPr/>
            </a:pPr>
            <a:r>
              <a:rPr lang="en-US" altLang="zh-CN" dirty="0" err="1"/>
              <a:t>ofstream</a:t>
            </a:r>
            <a:r>
              <a:rPr lang="en-US" altLang="zh-CN" dirty="0"/>
              <a:t> </a:t>
            </a:r>
            <a:r>
              <a:rPr lang="en-US" altLang="zh-CN" dirty="0" err="1"/>
              <a:t>out_file</a:t>
            </a:r>
            <a:r>
              <a:rPr lang="en-US" altLang="zh-CN" dirty="0"/>
              <a:t>("d:\\students.txt",</a:t>
            </a:r>
            <a:r>
              <a:rPr lang="en-US" altLang="zh-CN" dirty="0" err="1"/>
              <a:t>ios</a:t>
            </a:r>
            <a:r>
              <a:rPr lang="en-US" altLang="zh-CN" dirty="0"/>
              <a:t>::out);</a:t>
            </a:r>
          </a:p>
          <a:p>
            <a:pPr marL="0" indent="0">
              <a:lnSpc>
                <a:spcPct val="120000"/>
              </a:lnSpc>
              <a:buFont typeface="Wingdings" panose="05000000000000000000" pitchFamily="2" charset="2"/>
              <a:buNone/>
              <a:defRPr/>
            </a:pPr>
            <a:r>
              <a:rPr lang="en-US" altLang="zh-CN" dirty="0"/>
              <a:t>if (!</a:t>
            </a:r>
            <a:r>
              <a:rPr lang="en-US" altLang="zh-CN" dirty="0" err="1"/>
              <a:t>out_file</a:t>
            </a:r>
            <a:r>
              <a:rPr lang="en-US" altLang="zh-CN" dirty="0"/>
              <a:t>) exit(-1);</a:t>
            </a:r>
          </a:p>
          <a:p>
            <a:pPr marL="0" indent="0">
              <a:lnSpc>
                <a:spcPct val="120000"/>
              </a:lnSpc>
              <a:buFont typeface="Wingdings" panose="05000000000000000000" pitchFamily="2" charset="2"/>
              <a:buNone/>
              <a:defRPr/>
            </a:pPr>
            <a:r>
              <a:rPr lang="en-US" altLang="zh-CN" dirty="0" err="1"/>
              <a:t>out_file</a:t>
            </a:r>
            <a:r>
              <a:rPr lang="en-US" altLang="zh-CN" dirty="0"/>
              <a:t> &lt;&lt; s1.no &lt;&lt; ' ' &lt;&lt; s1.name;</a:t>
            </a:r>
          </a:p>
          <a:p>
            <a:pPr marL="0" indent="0">
              <a:lnSpc>
                <a:spcPct val="120000"/>
              </a:lnSpc>
              <a:buFont typeface="Wingdings" panose="05000000000000000000" pitchFamily="2" charset="2"/>
              <a:buNone/>
              <a:defRPr/>
            </a:pPr>
            <a:r>
              <a:rPr lang="en-US" altLang="zh-CN" dirty="0"/>
              <a:t>for (</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&lt;5; </a:t>
            </a:r>
            <a:r>
              <a:rPr lang="en-US" altLang="zh-CN" dirty="0" err="1"/>
              <a:t>i</a:t>
            </a:r>
            <a:r>
              <a:rPr lang="en-US" altLang="zh-CN" dirty="0"/>
              <a:t>++)  </a:t>
            </a:r>
          </a:p>
          <a:p>
            <a:pPr marL="0" indent="0">
              <a:lnSpc>
                <a:spcPct val="120000"/>
              </a:lnSpc>
              <a:buFont typeface="Wingdings" panose="05000000000000000000" pitchFamily="2" charset="2"/>
              <a:buNone/>
              <a:defRPr/>
            </a:pPr>
            <a:r>
              <a:rPr lang="en-US" altLang="zh-CN" dirty="0"/>
              <a:t>   </a:t>
            </a:r>
            <a:r>
              <a:rPr lang="en-US" altLang="zh-CN" dirty="0" err="1"/>
              <a:t>out_file</a:t>
            </a:r>
            <a:r>
              <a:rPr lang="en-US" altLang="zh-CN" dirty="0"/>
              <a:t> &lt;&lt; ' '&lt;&lt; s1.scores[</a:t>
            </a:r>
            <a:r>
              <a:rPr lang="en-US" altLang="zh-CN" dirty="0" err="1"/>
              <a:t>i</a:t>
            </a:r>
            <a:r>
              <a:rPr lang="en-US" altLang="zh-CN" dirty="0"/>
              <a:t>];</a:t>
            </a:r>
          </a:p>
          <a:p>
            <a:pPr marL="0" indent="0">
              <a:lnSpc>
                <a:spcPct val="120000"/>
              </a:lnSpc>
              <a:buFont typeface="Wingdings" panose="05000000000000000000" pitchFamily="2" charset="2"/>
              <a:buNone/>
              <a:defRPr/>
            </a:pPr>
            <a:r>
              <a:rPr lang="en-US" altLang="zh-CN" dirty="0" err="1"/>
              <a:t>out_file</a:t>
            </a:r>
            <a:r>
              <a:rPr lang="en-US" altLang="zh-CN" dirty="0"/>
              <a:t> &lt;&lt; </a:t>
            </a:r>
            <a:r>
              <a:rPr lang="en-US" altLang="zh-CN" dirty="0" err="1"/>
              <a:t>endl</a:t>
            </a:r>
            <a:r>
              <a:rPr lang="en-US" altLang="zh-CN" dirty="0"/>
              <a:t>; </a:t>
            </a:r>
          </a:p>
          <a:p>
            <a:pPr marL="0" indent="0">
              <a:lnSpc>
                <a:spcPct val="120000"/>
              </a:lnSpc>
              <a:buFont typeface="Wingdings" panose="05000000000000000000" pitchFamily="2" charset="2"/>
              <a:buNone/>
              <a:defRPr/>
            </a:pPr>
            <a:r>
              <a:rPr lang="en-US" altLang="zh-CN" dirty="0"/>
              <a:t>//</a:t>
            </a:r>
            <a:r>
              <a:rPr lang="zh-CN" altLang="en-US" dirty="0">
                <a:solidFill>
                  <a:srgbClr val="FFC000"/>
                </a:solidFill>
              </a:rPr>
              <a:t>以二进制方式输出数据</a:t>
            </a:r>
            <a:endParaRPr lang="en-US" altLang="zh-CN" dirty="0">
              <a:solidFill>
                <a:srgbClr val="FFC000"/>
              </a:solidFill>
            </a:endParaRPr>
          </a:p>
          <a:p>
            <a:pPr marL="0" indent="0">
              <a:lnSpc>
                <a:spcPct val="120000"/>
              </a:lnSpc>
              <a:buFont typeface="Wingdings" panose="05000000000000000000" pitchFamily="2" charset="2"/>
              <a:buNone/>
              <a:defRPr/>
            </a:pPr>
            <a:r>
              <a:rPr lang="en-US" altLang="zh-CN" dirty="0" err="1"/>
              <a:t>ofstream</a:t>
            </a:r>
            <a:r>
              <a:rPr lang="en-US" altLang="zh-CN" dirty="0"/>
              <a:t> </a:t>
            </a:r>
            <a:r>
              <a:rPr lang="en-US" altLang="zh-CN" sz="3100" dirty="0" err="1"/>
              <a:t>out_file</a:t>
            </a:r>
            <a:r>
              <a:rPr lang="en-US" altLang="zh-CN" sz="3100" dirty="0"/>
              <a:t>("d:\\students.</a:t>
            </a:r>
            <a:r>
              <a:rPr lang="en-US" altLang="zh-CN" sz="3100" dirty="0" err="1"/>
              <a:t>dat</a:t>
            </a:r>
            <a:r>
              <a:rPr lang="en-US" altLang="zh-CN" sz="3100" dirty="0"/>
              <a:t>",</a:t>
            </a:r>
            <a:r>
              <a:rPr lang="en-US" altLang="zh-CN" sz="3100" dirty="0" err="1"/>
              <a:t>ios</a:t>
            </a:r>
            <a:r>
              <a:rPr lang="en-US" altLang="zh-CN" sz="3100" dirty="0"/>
              <a:t>::</a:t>
            </a:r>
            <a:r>
              <a:rPr lang="en-US" altLang="zh-CN" sz="3100" dirty="0" err="1"/>
              <a:t>out|</a:t>
            </a:r>
            <a:r>
              <a:rPr lang="en-US" altLang="zh-CN" sz="3100" dirty="0" err="1">
                <a:solidFill>
                  <a:srgbClr val="FFC000"/>
                </a:solidFill>
              </a:rPr>
              <a:t>ios</a:t>
            </a:r>
            <a:r>
              <a:rPr lang="en-US" altLang="zh-CN" sz="3100" dirty="0">
                <a:solidFill>
                  <a:srgbClr val="FFC000"/>
                </a:solidFill>
              </a:rPr>
              <a:t>::binary</a:t>
            </a:r>
            <a:r>
              <a:rPr lang="en-US" altLang="zh-CN" sz="3100" dirty="0"/>
              <a:t>);</a:t>
            </a:r>
          </a:p>
          <a:p>
            <a:pPr marL="0" indent="0">
              <a:lnSpc>
                <a:spcPct val="120000"/>
              </a:lnSpc>
              <a:buFont typeface="Wingdings" panose="05000000000000000000" pitchFamily="2" charset="2"/>
              <a:buNone/>
              <a:defRPr/>
            </a:pPr>
            <a:r>
              <a:rPr lang="en-US" altLang="zh-CN" dirty="0"/>
              <a:t>if (!</a:t>
            </a:r>
            <a:r>
              <a:rPr lang="en-US" altLang="zh-CN" dirty="0" err="1"/>
              <a:t>out_file</a:t>
            </a:r>
            <a:r>
              <a:rPr lang="en-US" altLang="zh-CN" dirty="0"/>
              <a:t>) exit(-1);</a:t>
            </a:r>
          </a:p>
          <a:p>
            <a:pPr marL="0" indent="0">
              <a:lnSpc>
                <a:spcPct val="120000"/>
              </a:lnSpc>
              <a:buFont typeface="Wingdings" panose="05000000000000000000" pitchFamily="2" charset="2"/>
              <a:buNone/>
              <a:defRPr/>
            </a:pPr>
            <a:r>
              <a:rPr lang="en-GB" altLang="zh-CN" dirty="0" err="1"/>
              <a:t>out_file.write</a:t>
            </a:r>
            <a:r>
              <a:rPr lang="en-GB" altLang="zh-CN" dirty="0"/>
              <a:t>((char *)</a:t>
            </a:r>
            <a:r>
              <a:rPr lang="en-US" altLang="zh-CN" dirty="0"/>
              <a:t>&amp;s1</a:t>
            </a:r>
            <a:r>
              <a:rPr lang="en-GB" altLang="zh-CN" dirty="0"/>
              <a:t>,</a:t>
            </a:r>
            <a:r>
              <a:rPr lang="en-GB" altLang="zh-CN" dirty="0" err="1"/>
              <a:t>sizeof</a:t>
            </a:r>
            <a:r>
              <a:rPr lang="en-GB" altLang="zh-CN" dirty="0"/>
              <a:t>(s1));</a:t>
            </a:r>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A4990B-E531-1752-4DDE-90AE225EB235}"/>
              </a:ext>
            </a:extLst>
          </p:cNvPr>
          <p:cNvSpPr>
            <a:spLocks noGrp="1"/>
          </p:cNvSpPr>
          <p:nvPr>
            <p:ph type="title"/>
          </p:nvPr>
        </p:nvSpPr>
        <p:spPr/>
        <p:txBody>
          <a:bodyPr/>
          <a:lstStyle/>
          <a:p>
            <a:pPr eaLnBrk="1" hangingPunct="1">
              <a:defRPr/>
            </a:pPr>
            <a:endParaRPr lang="zh-CN" altLang="en-US"/>
          </a:p>
        </p:txBody>
      </p:sp>
      <p:sp>
        <p:nvSpPr>
          <p:cNvPr id="3" name="内容占位符 2">
            <a:extLst>
              <a:ext uri="{FF2B5EF4-FFF2-40B4-BE49-F238E27FC236}">
                <a16:creationId xmlns:a16="http://schemas.microsoft.com/office/drawing/2014/main" id="{8AF19D24-8DD9-AC3E-CF4A-AAC9F6D63709}"/>
              </a:ext>
            </a:extLst>
          </p:cNvPr>
          <p:cNvSpPr>
            <a:spLocks noGrp="1"/>
          </p:cNvSpPr>
          <p:nvPr>
            <p:ph idx="1"/>
          </p:nvPr>
        </p:nvSpPr>
        <p:spPr/>
        <p:txBody>
          <a:bodyPr/>
          <a:lstStyle/>
          <a:p>
            <a:pPr eaLnBrk="1" hangingPunct="1">
              <a:defRPr/>
            </a:pPr>
            <a:r>
              <a:rPr lang="zh-CN" altLang="en-GB" dirty="0"/>
              <a:t>文件输出操作结束时，要使用</a:t>
            </a:r>
            <a:r>
              <a:rPr lang="en-GB" altLang="zh-CN" dirty="0" err="1"/>
              <a:t>ofstream</a:t>
            </a:r>
            <a:r>
              <a:rPr lang="zh-CN" altLang="en-GB" dirty="0"/>
              <a:t>的成员函数</a:t>
            </a:r>
            <a:r>
              <a:rPr lang="en-GB" altLang="zh-CN" dirty="0"/>
              <a:t>close</a:t>
            </a:r>
            <a:r>
              <a:rPr lang="zh-CN" altLang="en-GB" dirty="0"/>
              <a:t>关闭文件：</a:t>
            </a:r>
            <a:endParaRPr lang="zh-CN" altLang="en-US" dirty="0"/>
          </a:p>
          <a:p>
            <a:pPr lvl="1" eaLnBrk="1" hangingPunct="1">
              <a:buFontTx/>
              <a:buNone/>
              <a:defRPr/>
            </a:pPr>
            <a:r>
              <a:rPr lang="en-GB" altLang="zh-CN" sz="2400" dirty="0" err="1"/>
              <a:t>out_file.close</a:t>
            </a:r>
            <a:r>
              <a:rPr lang="en-GB" altLang="zh-CN" sz="2400" dirty="0"/>
              <a:t>();</a:t>
            </a:r>
            <a:r>
              <a:rPr lang="en-US" altLang="zh-CN" sz="2400" dirty="0"/>
              <a:t> </a:t>
            </a:r>
          </a:p>
          <a:p>
            <a:pPr eaLnBrk="1" hangingPunct="1">
              <a:defRPr/>
            </a:pPr>
            <a:r>
              <a:rPr lang="zh-CN" altLang="en-US" dirty="0"/>
              <a:t>关闭文件的目的：</a:t>
            </a:r>
            <a:endParaRPr lang="en-US" altLang="zh-CN" dirty="0"/>
          </a:p>
          <a:p>
            <a:pPr lvl="1" eaLnBrk="1" hangingPunct="1">
              <a:defRPr/>
            </a:pPr>
            <a:r>
              <a:rPr lang="zh-CN" altLang="en-US" dirty="0"/>
              <a:t>把文件内存缓冲区的内容写到磁盘文件中！</a:t>
            </a:r>
            <a:endParaRPr lang="en-US" altLang="zh-CN" dirty="0"/>
          </a:p>
          <a:p>
            <a:pPr eaLnBrk="1" hangingPunct="1">
              <a:defRPr/>
            </a:pPr>
            <a:r>
              <a:rPr lang="zh-CN" altLang="en-US" dirty="0"/>
              <a:t>程序正常结束时，系统也会自动关闭打开的文件。</a:t>
            </a:r>
            <a:endParaRPr lang="en-US" altLang="zh-CN" dirty="0"/>
          </a:p>
          <a:p>
            <a:pPr lvl="1" eaLnBrk="1" hangingPunct="1">
              <a:defRPr/>
            </a:pPr>
            <a:r>
              <a:rPr lang="zh-CN" altLang="en-US" dirty="0">
                <a:solidFill>
                  <a:srgbClr val="FFC000"/>
                </a:solidFill>
              </a:rPr>
              <a:t>程序中为什么要显式关闭文件？</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4D1CDE7-DD2F-6C3C-5ED2-ED604C338214}"/>
              </a:ext>
            </a:extLst>
          </p:cNvPr>
          <p:cNvSpPr>
            <a:spLocks noGrp="1" noChangeArrowheads="1"/>
          </p:cNvSpPr>
          <p:nvPr>
            <p:ph type="title"/>
          </p:nvPr>
        </p:nvSpPr>
        <p:spPr>
          <a:xfrm>
            <a:off x="381000" y="152400"/>
            <a:ext cx="8229600" cy="685800"/>
          </a:xfrm>
        </p:spPr>
        <p:txBody>
          <a:bodyPr/>
          <a:lstStyle/>
          <a:p>
            <a:pPr eaLnBrk="1" hangingPunct="1">
              <a:defRPr/>
            </a:pPr>
            <a:r>
              <a:rPr lang="zh-CN" altLang="en-US" dirty="0">
                <a:latin typeface="Times New Roman" pitchFamily="18" charset="0"/>
              </a:rPr>
              <a:t>文件的</a:t>
            </a:r>
            <a:r>
              <a:rPr lang="zh-CN" altLang="en-GB" dirty="0">
                <a:latin typeface="Times New Roman" pitchFamily="18" charset="0"/>
              </a:rPr>
              <a:t>输入</a:t>
            </a:r>
            <a:r>
              <a:rPr lang="zh-CN" altLang="en-US" dirty="0">
                <a:latin typeface="Times New Roman" pitchFamily="18" charset="0"/>
              </a:rPr>
              <a:t>操作</a:t>
            </a:r>
            <a:endParaRPr lang="zh-CN" altLang="en-US" dirty="0"/>
          </a:p>
        </p:txBody>
      </p:sp>
      <p:sp>
        <p:nvSpPr>
          <p:cNvPr id="44035" name="Rectangle 3">
            <a:extLst>
              <a:ext uri="{FF2B5EF4-FFF2-40B4-BE49-F238E27FC236}">
                <a16:creationId xmlns:a16="http://schemas.microsoft.com/office/drawing/2014/main" id="{0B4EEB7F-5CAE-2F4B-5F95-7C799EFF512B}"/>
              </a:ext>
            </a:extLst>
          </p:cNvPr>
          <p:cNvSpPr>
            <a:spLocks noGrp="1" noChangeArrowheads="1"/>
          </p:cNvSpPr>
          <p:nvPr>
            <p:ph type="body" idx="1"/>
          </p:nvPr>
        </p:nvSpPr>
        <p:spPr>
          <a:xfrm>
            <a:off x="228600" y="1341438"/>
            <a:ext cx="8763000" cy="5156200"/>
          </a:xfrm>
        </p:spPr>
        <p:txBody>
          <a:bodyPr/>
          <a:lstStyle/>
          <a:p>
            <a:pPr marL="441325" indent="-441325" eaLnBrk="1" hangingPunct="1">
              <a:defRPr/>
            </a:pPr>
            <a:r>
              <a:rPr lang="zh-CN" altLang="en-US" dirty="0">
                <a:solidFill>
                  <a:srgbClr val="FFC000"/>
                </a:solidFill>
              </a:rPr>
              <a:t>打开文件</a:t>
            </a:r>
            <a:r>
              <a:rPr lang="zh-CN" altLang="en-US" dirty="0"/>
              <a:t>：</a:t>
            </a:r>
            <a:r>
              <a:rPr lang="zh-CN" altLang="en-GB" dirty="0"/>
              <a:t>创建一个</a:t>
            </a:r>
            <a:r>
              <a:rPr lang="en-GB" altLang="zh-CN" dirty="0" err="1">
                <a:solidFill>
                  <a:srgbClr val="FFC000"/>
                </a:solidFill>
                <a:cs typeface="Times New Roman" pitchFamily="18" charset="0"/>
              </a:rPr>
              <a:t>ifstream</a:t>
            </a:r>
            <a:r>
              <a:rPr lang="zh-CN" altLang="en-GB" dirty="0"/>
              <a:t>类的对象</a:t>
            </a:r>
            <a:r>
              <a:rPr lang="zh-CN" altLang="en-US" dirty="0"/>
              <a:t>，</a:t>
            </a:r>
            <a:r>
              <a:rPr lang="zh-CN" altLang="en-GB" dirty="0"/>
              <a:t>并与外部文件建立联系。</a:t>
            </a:r>
            <a:endParaRPr lang="en-US" altLang="zh-CN" dirty="0"/>
          </a:p>
          <a:p>
            <a:pPr marL="841375" lvl="1" indent="-441325" eaLnBrk="1" hangingPunct="1">
              <a:defRPr/>
            </a:pPr>
            <a:r>
              <a:rPr lang="zh-CN" altLang="en-US" dirty="0"/>
              <a:t>直接方式</a:t>
            </a:r>
            <a:endParaRPr lang="en-US" altLang="zh-CN" dirty="0"/>
          </a:p>
          <a:p>
            <a:pPr marL="627063" lvl="1" indent="0" eaLnBrk="1" hangingPunct="1">
              <a:buFontTx/>
              <a:buNone/>
              <a:defRPr/>
            </a:pPr>
            <a:r>
              <a:rPr lang="en-GB" altLang="zh-CN" dirty="0">
                <a:cs typeface="Times New Roman" pitchFamily="18" charset="0"/>
              </a:rPr>
              <a:t> </a:t>
            </a:r>
            <a:r>
              <a:rPr lang="en-GB" altLang="zh-CN" dirty="0" err="1">
                <a:cs typeface="Times New Roman" pitchFamily="18" charset="0"/>
              </a:rPr>
              <a:t>ifstream</a:t>
            </a:r>
            <a:r>
              <a:rPr lang="en-GB" altLang="zh-CN" dirty="0">
                <a:cs typeface="Times New Roman" pitchFamily="18" charset="0"/>
              </a:rPr>
              <a:t> </a:t>
            </a:r>
            <a:r>
              <a:rPr lang="en-GB" altLang="zh-CN" dirty="0" err="1">
                <a:cs typeface="Times New Roman" pitchFamily="18" charset="0"/>
              </a:rPr>
              <a:t>in_file</a:t>
            </a:r>
            <a:r>
              <a:rPr lang="en-GB" altLang="zh-CN" dirty="0">
                <a:solidFill>
                  <a:srgbClr val="FFC000"/>
                </a:solidFill>
                <a:cs typeface="Times New Roman" pitchFamily="18" charset="0"/>
              </a:rPr>
              <a:t>(</a:t>
            </a:r>
            <a:r>
              <a:rPr lang="en-GB" altLang="zh-CN" dirty="0">
                <a:cs typeface="Times New Roman" pitchFamily="18" charset="0"/>
              </a:rPr>
              <a:t>&lt;</a:t>
            </a:r>
            <a:r>
              <a:rPr lang="zh-CN" altLang="en-GB" dirty="0"/>
              <a:t>文件名</a:t>
            </a:r>
            <a:r>
              <a:rPr lang="zh-CN" altLang="en-GB" dirty="0">
                <a:cs typeface="Times New Roman" pitchFamily="18" charset="0"/>
              </a:rPr>
              <a:t>&gt; </a:t>
            </a:r>
            <a:r>
              <a:rPr lang="en-US" altLang="zh-CN" dirty="0">
                <a:cs typeface="Times New Roman" pitchFamily="18" charset="0"/>
              </a:rPr>
              <a:t>[</a:t>
            </a:r>
            <a:r>
              <a:rPr lang="zh-CN" altLang="en-GB" dirty="0">
                <a:solidFill>
                  <a:srgbClr val="FFC000"/>
                </a:solidFill>
                <a:cs typeface="Times New Roman" pitchFamily="18" charset="0"/>
              </a:rPr>
              <a:t>,</a:t>
            </a:r>
            <a:r>
              <a:rPr lang="zh-CN" altLang="en-GB" dirty="0">
                <a:cs typeface="Times New Roman" pitchFamily="18" charset="0"/>
              </a:rPr>
              <a:t>&lt;</a:t>
            </a:r>
            <a:r>
              <a:rPr lang="zh-CN" altLang="en-GB" dirty="0"/>
              <a:t>打开方式</a:t>
            </a:r>
            <a:r>
              <a:rPr lang="zh-CN" altLang="en-GB" dirty="0">
                <a:cs typeface="Times New Roman" pitchFamily="18" charset="0"/>
              </a:rPr>
              <a:t>&gt;</a:t>
            </a:r>
            <a:r>
              <a:rPr lang="en-US" altLang="zh-CN" dirty="0">
                <a:cs typeface="Times New Roman" pitchFamily="18" charset="0"/>
              </a:rPr>
              <a:t>]</a:t>
            </a:r>
            <a:r>
              <a:rPr lang="zh-CN" altLang="en-GB" dirty="0">
                <a:solidFill>
                  <a:srgbClr val="FFC000"/>
                </a:solidFill>
                <a:cs typeface="Times New Roman" pitchFamily="18" charset="0"/>
              </a:rPr>
              <a:t>);</a:t>
            </a:r>
            <a:endParaRPr lang="en-US" altLang="zh-CN" dirty="0"/>
          </a:p>
          <a:p>
            <a:pPr marL="841375" lvl="1" indent="-441325" eaLnBrk="1" hangingPunct="1">
              <a:defRPr/>
            </a:pPr>
            <a:r>
              <a:rPr lang="zh-CN" altLang="en-US" dirty="0"/>
              <a:t>间接方式</a:t>
            </a:r>
            <a:endParaRPr lang="zh-CN" altLang="en-GB" dirty="0"/>
          </a:p>
          <a:p>
            <a:pPr marL="1071563" lvl="1" indent="-355600" eaLnBrk="1" hangingPunct="1">
              <a:buFontTx/>
              <a:buNone/>
              <a:defRPr/>
            </a:pPr>
            <a:r>
              <a:rPr lang="en-GB" altLang="zh-CN" dirty="0" err="1">
                <a:cs typeface="Courier New" pitchFamily="49" charset="0"/>
              </a:rPr>
              <a:t>ifstream</a:t>
            </a:r>
            <a:r>
              <a:rPr lang="en-GB" altLang="zh-CN" dirty="0">
                <a:cs typeface="Courier New" pitchFamily="49" charset="0"/>
              </a:rPr>
              <a:t> </a:t>
            </a:r>
            <a:r>
              <a:rPr lang="en-GB" altLang="zh-CN" dirty="0" err="1">
                <a:cs typeface="Courier New" pitchFamily="49" charset="0"/>
              </a:rPr>
              <a:t>in_file</a:t>
            </a:r>
            <a:r>
              <a:rPr lang="en-GB" altLang="zh-CN" dirty="0">
                <a:cs typeface="Courier New" pitchFamily="49" charset="0"/>
              </a:rPr>
              <a:t>;</a:t>
            </a:r>
            <a:endParaRPr lang="zh-CN" altLang="en-US" dirty="0">
              <a:cs typeface="Courier New" pitchFamily="49" charset="0"/>
            </a:endParaRPr>
          </a:p>
          <a:p>
            <a:pPr marL="1071563" lvl="1" indent="-355600" eaLnBrk="1" hangingPunct="1">
              <a:buFontTx/>
              <a:buNone/>
              <a:defRPr/>
            </a:pPr>
            <a:r>
              <a:rPr lang="en-GB" altLang="zh-CN" dirty="0" err="1"/>
              <a:t>in_file.</a:t>
            </a:r>
            <a:r>
              <a:rPr lang="en-GB" altLang="zh-CN" dirty="0" err="1">
                <a:solidFill>
                  <a:srgbClr val="FFC000"/>
                </a:solidFill>
              </a:rPr>
              <a:t>open</a:t>
            </a:r>
            <a:r>
              <a:rPr lang="en-GB" altLang="zh-CN" dirty="0">
                <a:solidFill>
                  <a:srgbClr val="FFC000"/>
                </a:solidFill>
              </a:rPr>
              <a:t>(</a:t>
            </a:r>
            <a:r>
              <a:rPr lang="en-GB" altLang="zh-CN" dirty="0"/>
              <a:t>&lt;</a:t>
            </a:r>
            <a:r>
              <a:rPr lang="zh-CN" altLang="en-GB" dirty="0"/>
              <a:t>文件名&gt; </a:t>
            </a:r>
            <a:r>
              <a:rPr lang="en-US" altLang="zh-CN" dirty="0"/>
              <a:t>[</a:t>
            </a:r>
            <a:r>
              <a:rPr lang="zh-CN" altLang="en-GB" dirty="0">
                <a:solidFill>
                  <a:srgbClr val="FFC000"/>
                </a:solidFill>
              </a:rPr>
              <a:t>,</a:t>
            </a:r>
            <a:r>
              <a:rPr lang="zh-CN" altLang="en-GB" dirty="0"/>
              <a:t>&lt;打开方式&gt;</a:t>
            </a:r>
            <a:r>
              <a:rPr lang="en-US" altLang="zh-CN" dirty="0"/>
              <a:t>]</a:t>
            </a:r>
            <a:r>
              <a:rPr lang="zh-CN" altLang="en-GB" dirty="0">
                <a:solidFill>
                  <a:srgbClr val="FFC000"/>
                </a:solidFill>
              </a:rPr>
              <a:t>);</a:t>
            </a:r>
            <a:r>
              <a:rPr lang="zh-CN" altLang="en-GB"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898CF-7F0C-9A07-475C-1F2C0AA3DFCF}"/>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425E3DA3-8720-AAAA-C743-74EF559FF1D7}"/>
              </a:ext>
            </a:extLst>
          </p:cNvPr>
          <p:cNvSpPr>
            <a:spLocks noGrp="1"/>
          </p:cNvSpPr>
          <p:nvPr>
            <p:ph idx="1"/>
          </p:nvPr>
        </p:nvSpPr>
        <p:spPr>
          <a:xfrm>
            <a:off x="457200" y="1600200"/>
            <a:ext cx="8229600" cy="4997450"/>
          </a:xfrm>
        </p:spPr>
        <p:txBody>
          <a:bodyPr>
            <a:normAutofit/>
          </a:bodyPr>
          <a:lstStyle/>
          <a:p>
            <a:pPr>
              <a:defRPr/>
            </a:pPr>
            <a:r>
              <a:rPr lang="zh-CN" altLang="en-US" dirty="0"/>
              <a:t>打开方式</a:t>
            </a:r>
          </a:p>
          <a:p>
            <a:pPr lvl="1" eaLnBrk="1" hangingPunct="1">
              <a:defRPr/>
            </a:pPr>
            <a:r>
              <a:rPr lang="en-US" altLang="zh-CN" dirty="0" err="1"/>
              <a:t>ios</a:t>
            </a:r>
            <a:r>
              <a:rPr lang="en-US" altLang="zh-CN" dirty="0"/>
              <a:t>::in</a:t>
            </a:r>
          </a:p>
          <a:p>
            <a:pPr lvl="2" eaLnBrk="1" hangingPunct="1">
              <a:defRPr/>
            </a:pPr>
            <a:r>
              <a:rPr lang="zh-CN" altLang="en-US" dirty="0"/>
              <a:t>打开一个外部文件用于读操作。（默认）</a:t>
            </a:r>
          </a:p>
          <a:p>
            <a:pPr lvl="1" eaLnBrk="1" hangingPunct="1">
              <a:defRPr/>
            </a:pPr>
            <a:r>
              <a:rPr lang="en-US" altLang="zh-CN" dirty="0" err="1"/>
              <a:t>ios</a:t>
            </a:r>
            <a:r>
              <a:rPr lang="en-US" altLang="zh-CN" dirty="0"/>
              <a:t>::in | </a:t>
            </a:r>
            <a:r>
              <a:rPr lang="en-US" altLang="zh-CN" dirty="0" err="1"/>
              <a:t>ios</a:t>
            </a:r>
            <a:r>
              <a:rPr lang="en-US" altLang="zh-CN" dirty="0"/>
              <a:t>::binary</a:t>
            </a:r>
          </a:p>
          <a:p>
            <a:pPr lvl="2" eaLnBrk="1" hangingPunct="1">
              <a:lnSpc>
                <a:spcPct val="110000"/>
              </a:lnSpc>
              <a:defRPr/>
            </a:pPr>
            <a:r>
              <a:rPr lang="zh-CN" altLang="en-US" dirty="0"/>
              <a:t>按二进制方式打开文件。（默认为文本方式）</a:t>
            </a:r>
          </a:p>
          <a:p>
            <a:pPr>
              <a:defRPr/>
            </a:pPr>
            <a:r>
              <a:rPr lang="zh-CN" altLang="en-US" dirty="0">
                <a:latin typeface="Times New Roman" pitchFamily="18" charset="0"/>
              </a:rPr>
              <a:t>打开文件时要判断打开是否成功。</a:t>
            </a:r>
            <a:endParaRPr lang="en-US" altLang="zh-CN" dirty="0">
              <a:latin typeface="Times New Roman" pitchFamily="18" charset="0"/>
            </a:endParaRPr>
          </a:p>
          <a:p>
            <a:pPr lvl="1">
              <a:defRPr/>
            </a:pPr>
            <a:r>
              <a:rPr lang="zh-CN" altLang="en-US" dirty="0">
                <a:latin typeface="Times New Roman" pitchFamily="18" charset="0"/>
              </a:rPr>
              <a:t>判断方式与文件输出打开操作的判断一样。</a:t>
            </a:r>
            <a:endParaRPr lang="zh-CN" altLang="en-US" dirty="0"/>
          </a:p>
          <a:p>
            <a:pPr>
              <a:defRPr/>
            </a:pP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a:extLst>
              <a:ext uri="{FF2B5EF4-FFF2-40B4-BE49-F238E27FC236}">
                <a16:creationId xmlns:a16="http://schemas.microsoft.com/office/drawing/2014/main" id="{B1423672-3CB6-F620-9CC7-3121D88B24C5}"/>
              </a:ext>
            </a:extLst>
          </p:cNvPr>
          <p:cNvSpPr>
            <a:spLocks noGrp="1" noChangeArrowheads="1"/>
          </p:cNvSpPr>
          <p:nvPr>
            <p:ph type="body" idx="1"/>
          </p:nvPr>
        </p:nvSpPr>
        <p:spPr>
          <a:xfrm>
            <a:off x="457200" y="260350"/>
            <a:ext cx="8229600" cy="6337300"/>
          </a:xfrm>
        </p:spPr>
        <p:txBody>
          <a:bodyPr>
            <a:normAutofit fontScale="92500" lnSpcReduction="10000"/>
          </a:bodyPr>
          <a:lstStyle/>
          <a:p>
            <a:pPr eaLnBrk="1" hangingPunct="1">
              <a:lnSpc>
                <a:spcPct val="120000"/>
              </a:lnSpc>
              <a:defRPr/>
            </a:pPr>
            <a:r>
              <a:rPr lang="zh-CN" altLang="en-GB" sz="2800" dirty="0"/>
              <a:t>文件成功打开后</a:t>
            </a:r>
            <a:r>
              <a:rPr lang="zh-CN" altLang="en-US" sz="2800" dirty="0"/>
              <a:t>，</a:t>
            </a:r>
            <a:r>
              <a:rPr lang="zh-CN" altLang="en-GB" sz="2800" dirty="0"/>
              <a:t>可以使用抽取操作符</a:t>
            </a:r>
            <a:r>
              <a:rPr lang="zh-CN" altLang="en-GB" sz="2800" dirty="0">
                <a:latin typeface="Arial"/>
              </a:rPr>
              <a:t>“</a:t>
            </a:r>
            <a:r>
              <a:rPr lang="en-GB" altLang="zh-CN" sz="2800" dirty="0"/>
              <a:t>&gt;&gt;</a:t>
            </a:r>
            <a:r>
              <a:rPr lang="en-GB" altLang="zh-CN" sz="2800" dirty="0">
                <a:latin typeface="Arial"/>
              </a:rPr>
              <a:t>”</a:t>
            </a:r>
            <a:r>
              <a:rPr lang="zh-CN" altLang="en-GB" sz="2800" dirty="0"/>
              <a:t>或</a:t>
            </a:r>
            <a:r>
              <a:rPr lang="en-GB" altLang="zh-CN" sz="2800" dirty="0" err="1"/>
              <a:t>ifstream</a:t>
            </a:r>
            <a:r>
              <a:rPr lang="zh-CN" altLang="en-GB" sz="2800" dirty="0"/>
              <a:t>类的一些成员函数来进行文件</a:t>
            </a:r>
            <a:r>
              <a:rPr lang="zh-CN" altLang="en-US" sz="2800" dirty="0"/>
              <a:t>的</a:t>
            </a:r>
            <a:r>
              <a:rPr lang="zh-CN" altLang="en-GB" sz="2800" dirty="0"/>
              <a:t>输</a:t>
            </a:r>
            <a:r>
              <a:rPr lang="zh-CN" altLang="en-US" sz="2800" dirty="0"/>
              <a:t>入</a:t>
            </a:r>
            <a:r>
              <a:rPr lang="zh-CN" altLang="en-GB" sz="2800" dirty="0"/>
              <a:t>操作</a:t>
            </a:r>
            <a:r>
              <a:rPr lang="zh-CN" altLang="en-US" sz="2800" dirty="0"/>
              <a:t>，例如：</a:t>
            </a:r>
            <a:r>
              <a:rPr lang="zh-CN" altLang="en-GB" sz="2800" dirty="0">
                <a:latin typeface="Arial"/>
              </a:rPr>
              <a:t> </a:t>
            </a:r>
            <a:endParaRPr lang="zh-CN" altLang="en-US" sz="2800" dirty="0"/>
          </a:p>
          <a:p>
            <a:pPr lvl="1" eaLnBrk="1" hangingPunct="1">
              <a:buFontTx/>
              <a:buNone/>
              <a:defRPr/>
            </a:pPr>
            <a:r>
              <a:rPr lang="fr-FR" altLang="zh-CN" sz="2400" dirty="0"/>
              <a:t>int x;</a:t>
            </a:r>
            <a:endParaRPr lang="zh-CN" altLang="zh-CN" sz="2400" dirty="0"/>
          </a:p>
          <a:p>
            <a:pPr lvl="1" eaLnBrk="1" hangingPunct="1">
              <a:buFontTx/>
              <a:buNone/>
              <a:defRPr/>
            </a:pPr>
            <a:r>
              <a:rPr lang="fr-FR" altLang="zh-CN" sz="2400" dirty="0"/>
              <a:t>double y;</a:t>
            </a:r>
            <a:endParaRPr lang="zh-CN" altLang="zh-CN" sz="2400" dirty="0"/>
          </a:p>
          <a:p>
            <a:pPr lvl="1" eaLnBrk="1" hangingPunct="1">
              <a:buFontTx/>
              <a:buNone/>
              <a:defRPr/>
            </a:pPr>
            <a:r>
              <a:rPr lang="en-US" altLang="zh-CN" sz="2400" dirty="0"/>
              <a:t>......</a:t>
            </a:r>
            <a:endParaRPr lang="zh-CN" altLang="zh-CN" sz="2400" dirty="0"/>
          </a:p>
          <a:p>
            <a:pPr lvl="1" eaLnBrk="1" hangingPunct="1">
              <a:buFontTx/>
              <a:buNone/>
              <a:defRPr/>
            </a:pPr>
            <a:r>
              <a:rPr lang="en-GB" altLang="zh-CN" sz="2400" dirty="0"/>
              <a:t>//</a:t>
            </a:r>
            <a:r>
              <a:rPr lang="zh-CN" altLang="zh-CN" sz="2400" dirty="0">
                <a:solidFill>
                  <a:srgbClr val="FFC000"/>
                </a:solidFill>
              </a:rPr>
              <a:t>以文本方式输入数据</a:t>
            </a:r>
          </a:p>
          <a:p>
            <a:pPr lvl="1" eaLnBrk="1" hangingPunct="1">
              <a:buFontTx/>
              <a:buNone/>
              <a:defRPr/>
            </a:pPr>
            <a:r>
              <a:rPr lang="en-US" altLang="zh-CN" sz="2400" dirty="0" err="1"/>
              <a:t>ifstream</a:t>
            </a:r>
            <a:r>
              <a:rPr lang="en-US" altLang="zh-CN" sz="2400" dirty="0"/>
              <a:t> </a:t>
            </a:r>
            <a:r>
              <a:rPr lang="en-US" altLang="zh-CN" sz="2400" dirty="0" err="1"/>
              <a:t>in_file</a:t>
            </a:r>
            <a:r>
              <a:rPr lang="en-US" altLang="zh-CN" sz="2400" dirty="0"/>
              <a:t>("D:\\myfile.txt",</a:t>
            </a:r>
            <a:r>
              <a:rPr lang="en-US" altLang="zh-CN" sz="2400" dirty="0" err="1"/>
              <a:t>ios</a:t>
            </a:r>
            <a:r>
              <a:rPr lang="en-US" altLang="zh-CN" sz="2400" dirty="0"/>
              <a:t>::in);</a:t>
            </a:r>
            <a:endParaRPr lang="zh-CN" altLang="zh-CN" sz="2400" dirty="0"/>
          </a:p>
          <a:p>
            <a:pPr lvl="1" eaLnBrk="1" hangingPunct="1">
              <a:buFontTx/>
              <a:buNone/>
              <a:defRPr/>
            </a:pPr>
            <a:r>
              <a:rPr lang="en-US" altLang="zh-CN" sz="2400" dirty="0"/>
              <a:t>if (!</a:t>
            </a:r>
            <a:r>
              <a:rPr lang="en-US" altLang="zh-CN" sz="2400" dirty="0" err="1"/>
              <a:t>in_file</a:t>
            </a:r>
            <a:r>
              <a:rPr lang="en-US" altLang="zh-CN" sz="2400" dirty="0"/>
              <a:t>) exit(-1);</a:t>
            </a:r>
            <a:endParaRPr lang="zh-CN" altLang="zh-CN" sz="2400" dirty="0"/>
          </a:p>
          <a:p>
            <a:pPr lvl="1" eaLnBrk="1" hangingPunct="1">
              <a:buFontTx/>
              <a:buNone/>
              <a:defRPr/>
            </a:pPr>
            <a:r>
              <a:rPr lang="en-US" altLang="zh-CN" sz="2400" dirty="0" err="1"/>
              <a:t>in_file</a:t>
            </a:r>
            <a:r>
              <a:rPr lang="en-US" altLang="zh-CN" sz="2400" dirty="0"/>
              <a:t> &gt;&gt; x &gt;&gt; y; </a:t>
            </a:r>
          </a:p>
          <a:p>
            <a:pPr lvl="1" eaLnBrk="1" hangingPunct="1">
              <a:buFontTx/>
              <a:buNone/>
              <a:defRPr/>
            </a:pPr>
            <a:endParaRPr lang="en-GB" altLang="zh-CN" sz="2400" dirty="0"/>
          </a:p>
          <a:p>
            <a:pPr lvl="1" eaLnBrk="1" hangingPunct="1">
              <a:buFontTx/>
              <a:buNone/>
              <a:defRPr/>
            </a:pPr>
            <a:r>
              <a:rPr lang="en-GB" altLang="zh-CN" sz="2400" dirty="0"/>
              <a:t>//</a:t>
            </a:r>
            <a:r>
              <a:rPr lang="zh-CN" altLang="zh-CN" sz="2400" dirty="0">
                <a:solidFill>
                  <a:srgbClr val="FFC000"/>
                </a:solidFill>
              </a:rPr>
              <a:t>以二进制方式输入数据</a:t>
            </a:r>
            <a:endParaRPr lang="en-US" altLang="zh-CN" sz="2400" dirty="0">
              <a:solidFill>
                <a:srgbClr val="FFC000"/>
              </a:solidFill>
            </a:endParaRPr>
          </a:p>
          <a:p>
            <a:pPr lvl="1" eaLnBrk="1" hangingPunct="1">
              <a:buFontTx/>
              <a:buNone/>
              <a:defRPr/>
            </a:pPr>
            <a:r>
              <a:rPr lang="en-US" altLang="zh-CN" sz="2400" dirty="0" err="1"/>
              <a:t>ifstream</a:t>
            </a:r>
            <a:r>
              <a:rPr lang="en-US" altLang="zh-CN" sz="2400" dirty="0"/>
              <a:t> </a:t>
            </a:r>
            <a:r>
              <a:rPr lang="en-US" altLang="zh-CN" sz="2400" dirty="0" err="1"/>
              <a:t>in_file</a:t>
            </a:r>
            <a:r>
              <a:rPr lang="en-US" altLang="zh-CN" sz="2400" dirty="0"/>
              <a:t>("D:\\myfile.</a:t>
            </a:r>
            <a:r>
              <a:rPr lang="en-US" altLang="zh-CN" sz="2400" dirty="0" err="1"/>
              <a:t>dat</a:t>
            </a:r>
            <a:r>
              <a:rPr lang="en-US" altLang="zh-CN" sz="2400" dirty="0"/>
              <a:t>",</a:t>
            </a:r>
            <a:r>
              <a:rPr lang="en-US" altLang="zh-CN" sz="2400" dirty="0" err="1"/>
              <a:t>ios</a:t>
            </a:r>
            <a:r>
              <a:rPr lang="en-US" altLang="zh-CN" sz="2400" dirty="0"/>
              <a:t>::</a:t>
            </a:r>
            <a:r>
              <a:rPr lang="en-US" altLang="zh-CN" sz="2400" dirty="0" err="1"/>
              <a:t>in|</a:t>
            </a:r>
            <a:r>
              <a:rPr lang="en-US" altLang="zh-CN" sz="2400" dirty="0" err="1">
                <a:solidFill>
                  <a:srgbClr val="FFC000"/>
                </a:solidFill>
              </a:rPr>
              <a:t>ios</a:t>
            </a:r>
            <a:r>
              <a:rPr lang="en-US" altLang="zh-CN" sz="2400" dirty="0">
                <a:solidFill>
                  <a:srgbClr val="FFC000"/>
                </a:solidFill>
              </a:rPr>
              <a:t>::binary</a:t>
            </a:r>
            <a:r>
              <a:rPr lang="en-US" altLang="zh-CN" sz="2400" dirty="0"/>
              <a:t>);</a:t>
            </a:r>
            <a:endParaRPr lang="zh-CN" altLang="zh-CN" sz="2400" dirty="0"/>
          </a:p>
          <a:p>
            <a:pPr lvl="1" eaLnBrk="1" hangingPunct="1">
              <a:buFontTx/>
              <a:buNone/>
              <a:defRPr/>
            </a:pPr>
            <a:r>
              <a:rPr lang="en-US" altLang="zh-CN" sz="2400" dirty="0"/>
              <a:t>if (!</a:t>
            </a:r>
            <a:r>
              <a:rPr lang="en-US" altLang="zh-CN" sz="2400" dirty="0" err="1"/>
              <a:t>in_file</a:t>
            </a:r>
            <a:r>
              <a:rPr lang="en-US" altLang="zh-CN" sz="2400" dirty="0"/>
              <a:t>) exit(-1);</a:t>
            </a:r>
            <a:endParaRPr lang="zh-CN" altLang="zh-CN" sz="2400" dirty="0"/>
          </a:p>
          <a:p>
            <a:pPr lvl="1" eaLnBrk="1" hangingPunct="1">
              <a:buFontTx/>
              <a:buNone/>
              <a:defRPr/>
            </a:pPr>
            <a:r>
              <a:rPr lang="en-GB" altLang="zh-CN" sz="2400" dirty="0" err="1"/>
              <a:t>in_file.read</a:t>
            </a:r>
            <a:r>
              <a:rPr lang="en-GB" altLang="zh-CN" sz="2400" dirty="0"/>
              <a:t>((char *)&amp;</a:t>
            </a:r>
            <a:r>
              <a:rPr lang="en-GB" altLang="zh-CN" sz="2400" dirty="0" err="1"/>
              <a:t>x,sizeof</a:t>
            </a:r>
            <a:r>
              <a:rPr lang="en-GB" altLang="zh-CN" sz="2400" dirty="0"/>
              <a:t>(x)); </a:t>
            </a:r>
            <a:endParaRPr lang="zh-CN" altLang="zh-CN" sz="2400" dirty="0"/>
          </a:p>
          <a:p>
            <a:pPr lvl="1" eaLnBrk="1" hangingPunct="1">
              <a:buFontTx/>
              <a:buNone/>
              <a:defRPr/>
            </a:pPr>
            <a:r>
              <a:rPr lang="en-GB" altLang="zh-CN" sz="2400" dirty="0" err="1"/>
              <a:t>in_file.read</a:t>
            </a:r>
            <a:r>
              <a:rPr lang="en-GB" altLang="zh-CN" sz="2400" dirty="0"/>
              <a:t>((char *)&amp;</a:t>
            </a:r>
            <a:r>
              <a:rPr lang="en-GB" altLang="zh-CN" sz="2400" dirty="0" err="1"/>
              <a:t>y,sizeof</a:t>
            </a:r>
            <a:r>
              <a:rPr lang="en-GB" altLang="zh-CN" sz="2400" dirty="0"/>
              <a:t>(y)); </a:t>
            </a:r>
            <a:endParaRPr lang="zh-CN" altLang="zh-CN" sz="2400" dirty="0"/>
          </a:p>
        </p:txBody>
      </p:sp>
      <p:sp>
        <p:nvSpPr>
          <p:cNvPr id="2" name="TextBox 1">
            <a:extLst>
              <a:ext uri="{FF2B5EF4-FFF2-40B4-BE49-F238E27FC236}">
                <a16:creationId xmlns:a16="http://schemas.microsoft.com/office/drawing/2014/main" id="{85CC0EFB-9B57-D71D-BD35-8A1BF74EF9A2}"/>
              </a:ext>
            </a:extLst>
          </p:cNvPr>
          <p:cNvSpPr txBox="1"/>
          <p:nvPr/>
        </p:nvSpPr>
        <p:spPr>
          <a:xfrm>
            <a:off x="5795963" y="1557338"/>
            <a:ext cx="3097212" cy="1476375"/>
          </a:xfrm>
          <a:prstGeom prst="rect">
            <a:avLst/>
          </a:prstGeom>
          <a:solidFill>
            <a:schemeClr val="bg1">
              <a:lumMod val="50000"/>
            </a:schemeClr>
          </a:solidFill>
        </p:spPr>
        <p:txBody>
          <a:bodyPr>
            <a:spAutoFit/>
          </a:bodyPr>
          <a:lstStyle/>
          <a:p>
            <a:pPr eaLnBrk="1" hangingPunct="1">
              <a:defRPr/>
            </a:pPr>
            <a:r>
              <a:rPr lang="zh-CN" altLang="en-US" sz="2400" dirty="0">
                <a:solidFill>
                  <a:srgbClr val="FFC000"/>
                </a:solidFill>
                <a:effectLst>
                  <a:outerShdw blurRad="38100" dist="38100" dir="2700000" algn="tl">
                    <a:srgbClr val="000000">
                      <a:alpha val="43137"/>
                    </a:srgbClr>
                  </a:outerShdw>
                </a:effectLst>
              </a:rPr>
              <a:t>注意</a:t>
            </a:r>
            <a:r>
              <a:rPr lang="zh-CN" altLang="en-US" sz="2400" dirty="0">
                <a:effectLst>
                  <a:outerShdw blurRad="38100" dist="38100" dir="2700000" algn="tl">
                    <a:srgbClr val="000000">
                      <a:alpha val="43137"/>
                    </a:srgbClr>
                  </a:outerShdw>
                </a:effectLst>
              </a:rPr>
              <a:t>：从文件输入必须要知道文件中数据的存储方式和格式！</a:t>
            </a:r>
          </a:p>
          <a:p>
            <a:pPr eaLnBrk="1" hangingPunct="1">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9C11FBC-D542-3CA7-6663-7E46F599A69C}"/>
              </a:ext>
            </a:extLst>
          </p:cNvPr>
          <p:cNvSpPr>
            <a:spLocks noGrp="1"/>
          </p:cNvSpPr>
          <p:nvPr>
            <p:ph idx="1"/>
          </p:nvPr>
        </p:nvSpPr>
        <p:spPr>
          <a:xfrm>
            <a:off x="457200" y="260350"/>
            <a:ext cx="8229600" cy="6481763"/>
          </a:xfrm>
        </p:spPr>
        <p:txBody>
          <a:bodyPr>
            <a:normAutofit fontScale="70000" lnSpcReduction="20000"/>
          </a:bodyPr>
          <a:lstStyle/>
          <a:p>
            <a:pPr marL="0" indent="0">
              <a:lnSpc>
                <a:spcPct val="120000"/>
              </a:lnSpc>
              <a:buFont typeface="Wingdings" panose="05000000000000000000" pitchFamily="2" charset="2"/>
              <a:buNone/>
              <a:defRPr/>
            </a:pPr>
            <a:r>
              <a:rPr lang="en-US" altLang="zh-CN" dirty="0" err="1"/>
              <a:t>struct</a:t>
            </a:r>
            <a:r>
              <a:rPr lang="en-US" altLang="zh-CN" dirty="0"/>
              <a:t> Student</a:t>
            </a:r>
          </a:p>
          <a:p>
            <a:pPr marL="0" indent="0">
              <a:lnSpc>
                <a:spcPct val="120000"/>
              </a:lnSpc>
              <a:buFont typeface="Wingdings" panose="05000000000000000000" pitchFamily="2" charset="2"/>
              <a:buNone/>
              <a:defRPr/>
            </a:pPr>
            <a:r>
              <a:rPr lang="en-US" altLang="zh-CN" dirty="0"/>
              <a:t>{ </a:t>
            </a:r>
            <a:r>
              <a:rPr lang="en-US" altLang="zh-CN" dirty="0" err="1"/>
              <a:t>int</a:t>
            </a:r>
            <a:r>
              <a:rPr lang="en-US" altLang="zh-CN" dirty="0"/>
              <a:t> no;</a:t>
            </a:r>
          </a:p>
          <a:p>
            <a:pPr marL="0" indent="0">
              <a:lnSpc>
                <a:spcPct val="120000"/>
              </a:lnSpc>
              <a:buFont typeface="Wingdings" panose="05000000000000000000" pitchFamily="2" charset="2"/>
              <a:buNone/>
              <a:defRPr/>
            </a:pPr>
            <a:r>
              <a:rPr lang="en-US" altLang="zh-CN" dirty="0"/>
              <a:t>   char name[10];</a:t>
            </a:r>
          </a:p>
          <a:p>
            <a:pPr marL="0" indent="0">
              <a:lnSpc>
                <a:spcPct val="120000"/>
              </a:lnSpc>
              <a:buFont typeface="Wingdings" panose="05000000000000000000" pitchFamily="2" charset="2"/>
              <a:buNone/>
              <a:defRPr/>
            </a:pPr>
            <a:r>
              <a:rPr lang="en-US" altLang="zh-CN" dirty="0"/>
              <a:t>   </a:t>
            </a:r>
            <a:r>
              <a:rPr lang="en-US" altLang="zh-CN" dirty="0" err="1"/>
              <a:t>int</a:t>
            </a:r>
            <a:r>
              <a:rPr lang="en-US" altLang="zh-CN" dirty="0"/>
              <a:t> scores[5];</a:t>
            </a:r>
          </a:p>
          <a:p>
            <a:pPr marL="0" indent="0">
              <a:lnSpc>
                <a:spcPct val="120000"/>
              </a:lnSpc>
              <a:buFont typeface="Wingdings" panose="05000000000000000000" pitchFamily="2" charset="2"/>
              <a:buNone/>
              <a:defRPr/>
            </a:pPr>
            <a:r>
              <a:rPr lang="en-US" altLang="zh-CN" dirty="0"/>
              <a:t>} s1;</a:t>
            </a:r>
          </a:p>
          <a:p>
            <a:pPr marL="0" indent="0">
              <a:lnSpc>
                <a:spcPct val="120000"/>
              </a:lnSpc>
              <a:buFont typeface="Wingdings" panose="05000000000000000000" pitchFamily="2" charset="2"/>
              <a:buNone/>
              <a:defRPr/>
            </a:pPr>
            <a:r>
              <a:rPr lang="en-US" altLang="zh-CN" dirty="0"/>
              <a:t>//</a:t>
            </a:r>
            <a:r>
              <a:rPr lang="zh-CN" altLang="en-US" dirty="0">
                <a:solidFill>
                  <a:srgbClr val="FFC000"/>
                </a:solidFill>
              </a:rPr>
              <a:t>以文本方式输入数据</a:t>
            </a:r>
          </a:p>
          <a:p>
            <a:pPr marL="0" indent="0">
              <a:lnSpc>
                <a:spcPct val="120000"/>
              </a:lnSpc>
              <a:buFont typeface="Wingdings" panose="05000000000000000000" pitchFamily="2" charset="2"/>
              <a:buNone/>
              <a:defRPr/>
            </a:pPr>
            <a:r>
              <a:rPr lang="en-US" altLang="zh-CN" dirty="0" err="1"/>
              <a:t>ifstream</a:t>
            </a:r>
            <a:r>
              <a:rPr lang="en-US" altLang="zh-CN" dirty="0"/>
              <a:t> </a:t>
            </a:r>
            <a:r>
              <a:rPr lang="en-US" altLang="zh-CN" dirty="0" err="1"/>
              <a:t>in_file</a:t>
            </a:r>
            <a:r>
              <a:rPr lang="en-US" altLang="zh-CN" dirty="0"/>
              <a:t>("d:\\students.txt",</a:t>
            </a:r>
            <a:r>
              <a:rPr lang="en-US" altLang="zh-CN" dirty="0" err="1"/>
              <a:t>ios</a:t>
            </a:r>
            <a:r>
              <a:rPr lang="en-US" altLang="zh-CN" dirty="0"/>
              <a:t>::in);</a:t>
            </a:r>
          </a:p>
          <a:p>
            <a:pPr marL="0" indent="0">
              <a:lnSpc>
                <a:spcPct val="120000"/>
              </a:lnSpc>
              <a:buFont typeface="Wingdings" panose="05000000000000000000" pitchFamily="2" charset="2"/>
              <a:buNone/>
              <a:defRPr/>
            </a:pPr>
            <a:r>
              <a:rPr lang="en-US" altLang="zh-CN" dirty="0"/>
              <a:t>if (!</a:t>
            </a:r>
            <a:r>
              <a:rPr lang="en-US" altLang="zh-CN" dirty="0" err="1"/>
              <a:t>in_file</a:t>
            </a:r>
            <a:r>
              <a:rPr lang="en-US" altLang="zh-CN" dirty="0"/>
              <a:t>) exit(-1);</a:t>
            </a:r>
          </a:p>
          <a:p>
            <a:pPr marL="0" indent="0">
              <a:lnSpc>
                <a:spcPct val="120000"/>
              </a:lnSpc>
              <a:buFont typeface="Wingdings" panose="05000000000000000000" pitchFamily="2" charset="2"/>
              <a:buNone/>
              <a:defRPr/>
            </a:pPr>
            <a:r>
              <a:rPr lang="en-US" altLang="zh-CN" dirty="0" err="1"/>
              <a:t>in_file</a:t>
            </a:r>
            <a:r>
              <a:rPr lang="en-US" altLang="zh-CN" dirty="0"/>
              <a:t> &gt;&gt; s1.no &gt;&gt; s1.name;</a:t>
            </a:r>
          </a:p>
          <a:p>
            <a:pPr marL="0" indent="0">
              <a:lnSpc>
                <a:spcPct val="120000"/>
              </a:lnSpc>
              <a:buFont typeface="Wingdings" panose="05000000000000000000" pitchFamily="2" charset="2"/>
              <a:buNone/>
              <a:defRPr/>
            </a:pPr>
            <a:r>
              <a:rPr lang="en-US" altLang="zh-CN" dirty="0"/>
              <a:t>for (</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&lt;5; </a:t>
            </a:r>
            <a:r>
              <a:rPr lang="en-US" altLang="zh-CN" dirty="0" err="1"/>
              <a:t>i</a:t>
            </a:r>
            <a:r>
              <a:rPr lang="en-US" altLang="zh-CN" dirty="0"/>
              <a:t>++)</a:t>
            </a:r>
          </a:p>
          <a:p>
            <a:pPr marL="0" indent="0">
              <a:lnSpc>
                <a:spcPct val="120000"/>
              </a:lnSpc>
              <a:buFont typeface="Wingdings" panose="05000000000000000000" pitchFamily="2" charset="2"/>
              <a:buNone/>
              <a:defRPr/>
            </a:pPr>
            <a:r>
              <a:rPr lang="en-US" altLang="zh-CN" dirty="0"/>
              <a:t>   </a:t>
            </a:r>
            <a:r>
              <a:rPr lang="en-US" altLang="zh-CN" dirty="0" err="1"/>
              <a:t>in_file</a:t>
            </a:r>
            <a:r>
              <a:rPr lang="en-US" altLang="zh-CN" dirty="0"/>
              <a:t> &gt;&gt; s1.scores[</a:t>
            </a:r>
            <a:r>
              <a:rPr lang="en-US" altLang="zh-CN" dirty="0" err="1"/>
              <a:t>i</a:t>
            </a:r>
            <a:r>
              <a:rPr lang="en-US" altLang="zh-CN" dirty="0"/>
              <a:t>];</a:t>
            </a:r>
          </a:p>
          <a:p>
            <a:pPr marL="0" indent="0">
              <a:lnSpc>
                <a:spcPct val="120000"/>
              </a:lnSpc>
              <a:buFont typeface="Wingdings" panose="05000000000000000000" pitchFamily="2" charset="2"/>
              <a:buNone/>
              <a:defRPr/>
            </a:pPr>
            <a:r>
              <a:rPr lang="en-US" altLang="zh-CN" dirty="0"/>
              <a:t>//</a:t>
            </a:r>
            <a:r>
              <a:rPr lang="zh-CN" altLang="en-US" dirty="0">
                <a:solidFill>
                  <a:srgbClr val="FFC000"/>
                </a:solidFill>
              </a:rPr>
              <a:t>以二进制方式输入数据</a:t>
            </a:r>
            <a:endParaRPr lang="en-US" altLang="zh-CN" dirty="0">
              <a:solidFill>
                <a:srgbClr val="FFC000"/>
              </a:solidFill>
            </a:endParaRPr>
          </a:p>
          <a:p>
            <a:pPr marL="0" indent="0">
              <a:lnSpc>
                <a:spcPct val="120000"/>
              </a:lnSpc>
              <a:buFont typeface="Wingdings" panose="05000000000000000000" pitchFamily="2" charset="2"/>
              <a:buNone/>
              <a:defRPr/>
            </a:pPr>
            <a:r>
              <a:rPr lang="en-US" altLang="zh-CN" dirty="0" err="1"/>
              <a:t>ifstream</a:t>
            </a:r>
            <a:r>
              <a:rPr lang="en-US" altLang="zh-CN" dirty="0"/>
              <a:t> </a:t>
            </a:r>
            <a:r>
              <a:rPr lang="en-US" altLang="zh-CN" dirty="0" err="1"/>
              <a:t>in_file</a:t>
            </a:r>
            <a:r>
              <a:rPr lang="en-US" altLang="zh-CN" dirty="0"/>
              <a:t>("d:\\students.</a:t>
            </a:r>
            <a:r>
              <a:rPr lang="en-US" altLang="zh-CN" dirty="0" err="1"/>
              <a:t>dat</a:t>
            </a:r>
            <a:r>
              <a:rPr lang="en-US" altLang="zh-CN" dirty="0"/>
              <a:t>",</a:t>
            </a:r>
            <a:r>
              <a:rPr lang="en-US" altLang="zh-CN" dirty="0" err="1"/>
              <a:t>ios</a:t>
            </a:r>
            <a:r>
              <a:rPr lang="en-US" altLang="zh-CN" dirty="0"/>
              <a:t>::</a:t>
            </a:r>
            <a:r>
              <a:rPr lang="en-US" altLang="zh-CN" dirty="0" err="1"/>
              <a:t>in|</a:t>
            </a:r>
            <a:r>
              <a:rPr lang="en-US" altLang="zh-CN" dirty="0" err="1">
                <a:solidFill>
                  <a:srgbClr val="FFC000"/>
                </a:solidFill>
              </a:rPr>
              <a:t>ios</a:t>
            </a:r>
            <a:r>
              <a:rPr lang="en-US" altLang="zh-CN" dirty="0">
                <a:solidFill>
                  <a:srgbClr val="FFC000"/>
                </a:solidFill>
              </a:rPr>
              <a:t>::binary</a:t>
            </a:r>
            <a:r>
              <a:rPr lang="en-US" altLang="zh-CN" dirty="0"/>
              <a:t>);</a:t>
            </a:r>
          </a:p>
          <a:p>
            <a:pPr marL="0" indent="0">
              <a:lnSpc>
                <a:spcPct val="120000"/>
              </a:lnSpc>
              <a:buFont typeface="Wingdings" panose="05000000000000000000" pitchFamily="2" charset="2"/>
              <a:buNone/>
              <a:defRPr/>
            </a:pPr>
            <a:r>
              <a:rPr lang="en-US" altLang="zh-CN" dirty="0"/>
              <a:t>if (!</a:t>
            </a:r>
            <a:r>
              <a:rPr lang="en-US" altLang="zh-CN" dirty="0" err="1"/>
              <a:t>in_file</a:t>
            </a:r>
            <a:r>
              <a:rPr lang="en-US" altLang="zh-CN" dirty="0"/>
              <a:t>) exit(-1);</a:t>
            </a:r>
            <a:endParaRPr lang="en-GB" altLang="zh-CN" dirty="0"/>
          </a:p>
          <a:p>
            <a:pPr marL="0" indent="0">
              <a:lnSpc>
                <a:spcPct val="120000"/>
              </a:lnSpc>
              <a:buFont typeface="Wingdings" panose="05000000000000000000" pitchFamily="2" charset="2"/>
              <a:buNone/>
              <a:defRPr/>
            </a:pPr>
            <a:r>
              <a:rPr lang="en-GB" altLang="zh-CN" dirty="0" err="1"/>
              <a:t>in_file.read</a:t>
            </a:r>
            <a:r>
              <a:rPr lang="en-GB" altLang="zh-CN" dirty="0"/>
              <a:t>((char *)</a:t>
            </a:r>
            <a:r>
              <a:rPr lang="en-US" altLang="zh-CN" dirty="0"/>
              <a:t>&amp;s1</a:t>
            </a:r>
            <a:r>
              <a:rPr lang="en-GB" altLang="zh-CN" dirty="0"/>
              <a:t>,</a:t>
            </a:r>
            <a:r>
              <a:rPr lang="en-GB" altLang="zh-CN" dirty="0" err="1"/>
              <a:t>sizeof</a:t>
            </a:r>
            <a:r>
              <a:rPr lang="en-GB" altLang="zh-CN" dirty="0"/>
              <a:t>(s1));</a:t>
            </a:r>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C0596C4C-1593-34D4-B05E-A02942C30598}"/>
              </a:ext>
            </a:extLst>
          </p:cNvPr>
          <p:cNvSpPr>
            <a:spLocks noGrp="1" noChangeArrowheads="1"/>
          </p:cNvSpPr>
          <p:nvPr>
            <p:ph type="body" idx="1"/>
          </p:nvPr>
        </p:nvSpPr>
        <p:spPr>
          <a:xfrm>
            <a:off x="457200" y="1412875"/>
            <a:ext cx="8229600" cy="5111750"/>
          </a:xfrm>
        </p:spPr>
        <p:txBody>
          <a:bodyPr>
            <a:normAutofit/>
          </a:bodyPr>
          <a:lstStyle/>
          <a:p>
            <a:pPr eaLnBrk="1" hangingPunct="1">
              <a:defRPr/>
            </a:pPr>
            <a:r>
              <a:rPr lang="zh-CN" altLang="en-US" dirty="0"/>
              <a:t>读取数据过程中有时需要判断是否正确读入了数据（尤其是在文件末尾处）。</a:t>
            </a:r>
            <a:endParaRPr lang="en-US" altLang="zh-CN" dirty="0"/>
          </a:p>
          <a:p>
            <a:pPr eaLnBrk="1" hangingPunct="1">
              <a:defRPr/>
            </a:pPr>
            <a:r>
              <a:rPr lang="zh-CN" altLang="en-GB" dirty="0"/>
              <a:t>判断</a:t>
            </a:r>
            <a:r>
              <a:rPr lang="zh-CN" altLang="en-US" dirty="0"/>
              <a:t>是否正确读入了数据，</a:t>
            </a:r>
            <a:r>
              <a:rPr lang="zh-CN" altLang="en-GB" dirty="0"/>
              <a:t>可以调用</a:t>
            </a:r>
            <a:r>
              <a:rPr lang="en-GB" altLang="zh-CN" dirty="0" err="1"/>
              <a:t>ios</a:t>
            </a:r>
            <a:r>
              <a:rPr lang="zh-CN" altLang="en-GB" dirty="0"/>
              <a:t>类的成员函数</a:t>
            </a:r>
            <a:r>
              <a:rPr lang="en-GB" altLang="zh-CN" dirty="0"/>
              <a:t>fail</a:t>
            </a:r>
            <a:r>
              <a:rPr lang="zh-CN" altLang="en-GB" dirty="0"/>
              <a:t>来实现：</a:t>
            </a:r>
            <a:endParaRPr lang="zh-CN" altLang="en-US" dirty="0"/>
          </a:p>
          <a:p>
            <a:pPr lvl="1" eaLnBrk="1" hangingPunct="1">
              <a:buFontTx/>
              <a:buNone/>
              <a:defRPr/>
            </a:pPr>
            <a:r>
              <a:rPr lang="en-US" altLang="zh-CN" dirty="0"/>
              <a:t>bool </a:t>
            </a:r>
            <a:r>
              <a:rPr lang="en-US" altLang="zh-CN" dirty="0" err="1"/>
              <a:t>ios</a:t>
            </a:r>
            <a:r>
              <a:rPr lang="en-US" altLang="zh-CN" dirty="0"/>
              <a:t>::fail() </a:t>
            </a:r>
            <a:r>
              <a:rPr lang="en-US" altLang="zh-CN" dirty="0" err="1"/>
              <a:t>const</a:t>
            </a:r>
            <a:r>
              <a:rPr lang="en-US" altLang="zh-CN" dirty="0"/>
              <a:t>;</a:t>
            </a:r>
          </a:p>
          <a:p>
            <a:pPr lvl="1" eaLnBrk="1" hangingPunct="1">
              <a:defRPr/>
            </a:pPr>
            <a:r>
              <a:rPr lang="zh-CN" altLang="en-US" dirty="0"/>
              <a:t>该函数返回</a:t>
            </a:r>
            <a:r>
              <a:rPr lang="en-US" altLang="zh-CN" dirty="0">
                <a:solidFill>
                  <a:srgbClr val="FFC000"/>
                </a:solidFill>
              </a:rPr>
              <a:t>true</a:t>
            </a:r>
            <a:r>
              <a:rPr lang="zh-CN" altLang="en-US" dirty="0"/>
              <a:t>表示文件操作失败；返回</a:t>
            </a:r>
            <a:r>
              <a:rPr lang="en-US" altLang="zh-CN" dirty="0">
                <a:solidFill>
                  <a:srgbClr val="FFC000"/>
                </a:solidFill>
              </a:rPr>
              <a:t>false</a:t>
            </a:r>
            <a:r>
              <a:rPr lang="zh-CN" altLang="en-US" dirty="0"/>
              <a:t>表示操作成功。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DBD29F-38AA-36AE-A473-87D4BDBE504F}"/>
              </a:ext>
            </a:extLst>
          </p:cNvPr>
          <p:cNvSpPr>
            <a:spLocks noGrp="1"/>
          </p:cNvSpPr>
          <p:nvPr>
            <p:ph type="title"/>
          </p:nvPr>
        </p:nvSpPr>
        <p:spPr>
          <a:xfrm>
            <a:off x="457200" y="115888"/>
            <a:ext cx="8229600" cy="1139825"/>
          </a:xfrm>
        </p:spPr>
        <p:txBody>
          <a:bodyPr/>
          <a:lstStyle/>
          <a:p>
            <a:pPr>
              <a:defRPr/>
            </a:pPr>
            <a:r>
              <a:rPr lang="zh-CN" altLang="en-US" dirty="0"/>
              <a:t>例：从文件读入一系列整型数</a:t>
            </a:r>
          </a:p>
        </p:txBody>
      </p:sp>
      <p:sp>
        <p:nvSpPr>
          <p:cNvPr id="6" name="内容占位符 5">
            <a:extLst>
              <a:ext uri="{FF2B5EF4-FFF2-40B4-BE49-F238E27FC236}">
                <a16:creationId xmlns:a16="http://schemas.microsoft.com/office/drawing/2014/main" id="{7662E06F-893F-420F-76D8-40E4D93740A7}"/>
              </a:ext>
            </a:extLst>
          </p:cNvPr>
          <p:cNvSpPr>
            <a:spLocks noGrp="1"/>
          </p:cNvSpPr>
          <p:nvPr>
            <p:ph idx="1"/>
          </p:nvPr>
        </p:nvSpPr>
        <p:spPr>
          <a:xfrm>
            <a:off x="468313" y="1412875"/>
            <a:ext cx="8229600" cy="4968875"/>
          </a:xfrm>
        </p:spPr>
        <p:txBody>
          <a:bodyPr>
            <a:normAutofit fontScale="85000" lnSpcReduction="20000"/>
          </a:bodyPr>
          <a:lstStyle/>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err="1"/>
              <a:t>ifstream</a:t>
            </a:r>
            <a:r>
              <a:rPr lang="en-US" altLang="zh-CN" dirty="0"/>
              <a:t> </a:t>
            </a:r>
            <a:r>
              <a:rPr lang="en-US" altLang="zh-CN" dirty="0" err="1"/>
              <a:t>in_file</a:t>
            </a:r>
            <a:r>
              <a:rPr lang="en-US" altLang="zh-CN" dirty="0"/>
              <a:t>("d:\\myfile.txt",</a:t>
            </a:r>
            <a:r>
              <a:rPr lang="en-US" altLang="zh-CN" dirty="0" err="1"/>
              <a:t>ios</a:t>
            </a:r>
            <a:r>
              <a:rPr lang="en-US" altLang="zh-CN" dirty="0"/>
              <a:t>::in);</a:t>
            </a:r>
          </a:p>
          <a:p>
            <a:pPr marL="0" indent="0">
              <a:lnSpc>
                <a:spcPct val="120000"/>
              </a:lnSpc>
              <a:buFont typeface="Wingdings" panose="05000000000000000000" pitchFamily="2" charset="2"/>
              <a:buNone/>
              <a:defRPr/>
            </a:pPr>
            <a:r>
              <a:rPr lang="en-US" altLang="zh-CN" dirty="0"/>
              <a:t>if (!</a:t>
            </a:r>
            <a:r>
              <a:rPr lang="en-US" altLang="zh-CN" dirty="0" err="1"/>
              <a:t>in_file</a:t>
            </a:r>
            <a:r>
              <a:rPr lang="en-US" altLang="zh-CN" dirty="0"/>
              <a:t>) exit(-1);</a:t>
            </a:r>
          </a:p>
          <a:p>
            <a:pPr marL="0" indent="0">
              <a:lnSpc>
                <a:spcPct val="120000"/>
              </a:lnSpc>
              <a:buFont typeface="Wingdings" panose="05000000000000000000" pitchFamily="2" charset="2"/>
              <a:buNone/>
              <a:defRPr/>
            </a:pPr>
            <a:r>
              <a:rPr lang="en-US" altLang="zh-CN" dirty="0" err="1"/>
              <a:t>int</a:t>
            </a:r>
            <a:r>
              <a:rPr lang="en-US" altLang="zh-CN" dirty="0"/>
              <a:t> x; </a:t>
            </a:r>
          </a:p>
          <a:p>
            <a:pPr marL="0" indent="0">
              <a:lnSpc>
                <a:spcPct val="120000"/>
              </a:lnSpc>
              <a:buFont typeface="Wingdings" panose="05000000000000000000" pitchFamily="2" charset="2"/>
              <a:buNone/>
              <a:defRPr/>
            </a:pPr>
            <a:r>
              <a:rPr lang="en-US" altLang="zh-CN" dirty="0" err="1"/>
              <a:t>in_file</a:t>
            </a:r>
            <a:r>
              <a:rPr lang="en-US" altLang="zh-CN" dirty="0"/>
              <a:t> &gt;&gt; x; //</a:t>
            </a:r>
            <a:r>
              <a:rPr lang="zh-CN" altLang="en-US" dirty="0"/>
              <a:t>读入第一个整型数</a:t>
            </a:r>
            <a:br>
              <a:rPr lang="en-US" altLang="zh-CN" dirty="0"/>
            </a:br>
            <a:r>
              <a:rPr lang="en-US" altLang="zh-CN" dirty="0"/>
              <a:t>while (!</a:t>
            </a:r>
            <a:r>
              <a:rPr lang="en-US" altLang="zh-CN" dirty="0" err="1"/>
              <a:t>in_file.fail</a:t>
            </a:r>
            <a:r>
              <a:rPr lang="en-US" altLang="zh-CN" dirty="0"/>
              <a:t>())</a:t>
            </a:r>
            <a:br>
              <a:rPr lang="en-US" altLang="zh-CN" dirty="0"/>
            </a:br>
            <a:r>
              <a:rPr lang="en-US" altLang="zh-CN" dirty="0"/>
              <a:t>{ ...... //</a:t>
            </a:r>
            <a:r>
              <a:rPr lang="zh-CN" altLang="en-US" dirty="0"/>
              <a:t>使用</a:t>
            </a:r>
            <a:r>
              <a:rPr lang="en-US" altLang="zh-CN" dirty="0"/>
              <a:t>x</a:t>
            </a:r>
            <a:r>
              <a:rPr lang="zh-CN" altLang="en-US" dirty="0"/>
              <a:t>的值</a:t>
            </a:r>
            <a:br>
              <a:rPr lang="zh-CN" altLang="en-US" dirty="0"/>
            </a:br>
            <a:r>
              <a:rPr lang="zh-CN" altLang="en-US" dirty="0"/>
              <a:t>   </a:t>
            </a:r>
            <a:r>
              <a:rPr lang="en-US" altLang="zh-CN" dirty="0" err="1"/>
              <a:t>in_file</a:t>
            </a:r>
            <a:r>
              <a:rPr lang="en-US" altLang="zh-CN" dirty="0"/>
              <a:t> &gt;&gt; x; //</a:t>
            </a:r>
            <a:r>
              <a:rPr lang="zh-CN" altLang="en-US" dirty="0"/>
              <a:t>读入下一个整型数</a:t>
            </a:r>
            <a:br>
              <a:rPr lang="en-US" altLang="zh-CN" dirty="0"/>
            </a:br>
            <a:r>
              <a:rPr lang="en-US" altLang="zh-CN" dirty="0"/>
              <a:t>}</a:t>
            </a:r>
          </a:p>
          <a:p>
            <a:pPr marL="0" indent="0">
              <a:lnSpc>
                <a:spcPct val="120000"/>
              </a:lnSpc>
              <a:buFont typeface="Wingdings" panose="05000000000000000000" pitchFamily="2" charset="2"/>
              <a:buNone/>
              <a:defRPr/>
            </a:pPr>
            <a:r>
              <a:rPr lang="en-US" altLang="zh-CN" dirty="0" err="1"/>
              <a:t>in_file.close</a:t>
            </a:r>
            <a:r>
              <a:rPr lang="en-US" altLang="zh-CN" dirty="0"/>
              <a:t>();</a:t>
            </a:r>
          </a:p>
          <a:p>
            <a:pPr marL="0" indent="0">
              <a:lnSpc>
                <a:spcPct val="120000"/>
              </a:lnSpc>
              <a:buFont typeface="Wingdings" panose="05000000000000000000" pitchFamily="2" charset="2"/>
              <a:buNone/>
              <a:defRPr/>
            </a:pPr>
            <a:r>
              <a:rPr lang="en-US" altLang="zh-CN" dirty="0"/>
              <a:t>......</a:t>
            </a:r>
          </a:p>
        </p:txBody>
      </p:sp>
      <p:sp>
        <p:nvSpPr>
          <p:cNvPr id="4" name="内容占位符 2">
            <a:extLst>
              <a:ext uri="{FF2B5EF4-FFF2-40B4-BE49-F238E27FC236}">
                <a16:creationId xmlns:a16="http://schemas.microsoft.com/office/drawing/2014/main" id="{18852BC0-EEA5-C558-B610-FDC0DB70D658}"/>
              </a:ext>
            </a:extLst>
          </p:cNvPr>
          <p:cNvSpPr txBox="1">
            <a:spLocks/>
          </p:cNvSpPr>
          <p:nvPr/>
        </p:nvSpPr>
        <p:spPr bwMode="auto">
          <a:xfrm>
            <a:off x="6588125" y="2924175"/>
            <a:ext cx="2520950" cy="3744913"/>
          </a:xfrm>
          <a:prstGeom prst="rect">
            <a:avLst/>
          </a:prstGeom>
          <a:solidFill>
            <a:schemeClr val="bg1"/>
          </a:solidFill>
          <a:ln w="9525">
            <a:noFill/>
            <a:miter lim="800000"/>
            <a:headEnd/>
            <a:tailEnd/>
          </a:ln>
          <a:effectLst/>
        </p:spPr>
        <p:txBody>
          <a:bodyPr>
            <a:normAutofit fontScale="55000" lnSpcReduction="20000"/>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marL="180975" indent="-180975">
              <a:defRPr/>
            </a:pPr>
            <a:r>
              <a:rPr lang="zh-CN" altLang="en-US" kern="0" dirty="0"/>
              <a:t>文件中的数据形式</a:t>
            </a:r>
            <a:endParaRPr lang="en-US" altLang="zh-CN" kern="0" dirty="0"/>
          </a:p>
          <a:p>
            <a:pPr marL="0" indent="0">
              <a:buFont typeface="Wingdings" pitchFamily="2" charset="2"/>
              <a:buNone/>
              <a:defRPr/>
            </a:pPr>
            <a:endParaRPr lang="pt-BR" altLang="zh-CN" kern="0" dirty="0"/>
          </a:p>
          <a:p>
            <a:pPr marL="0" indent="0">
              <a:buFont typeface="Wingdings" pitchFamily="2" charset="2"/>
              <a:buNone/>
              <a:defRPr/>
            </a:pPr>
            <a:r>
              <a:rPr lang="pt-BR" altLang="zh-CN" kern="0" dirty="0"/>
              <a:t>1 2 3 4\n</a:t>
            </a:r>
            <a:br>
              <a:rPr lang="pt-BR" altLang="zh-CN" kern="0" dirty="0"/>
            </a:br>
            <a:r>
              <a:rPr lang="pt-BR" altLang="zh-CN" kern="0" dirty="0"/>
              <a:t>------------------</a:t>
            </a:r>
          </a:p>
          <a:p>
            <a:pPr marL="0" indent="0">
              <a:buFont typeface="Wingdings" pitchFamily="2" charset="2"/>
              <a:buNone/>
              <a:defRPr/>
            </a:pPr>
            <a:r>
              <a:rPr lang="pt-BR" altLang="zh-CN" kern="0" dirty="0"/>
              <a:t>1\n</a:t>
            </a:r>
            <a:br>
              <a:rPr lang="pt-BR" altLang="zh-CN" kern="0" dirty="0"/>
            </a:br>
            <a:r>
              <a:rPr lang="pt-BR" altLang="zh-CN" kern="0" dirty="0"/>
              <a:t>2\n</a:t>
            </a:r>
            <a:br>
              <a:rPr lang="pt-BR" altLang="zh-CN" kern="0" dirty="0"/>
            </a:br>
            <a:r>
              <a:rPr lang="pt-BR" altLang="zh-CN" kern="0" dirty="0"/>
              <a:t>3\n</a:t>
            </a:r>
            <a:br>
              <a:rPr lang="pt-BR" altLang="zh-CN" kern="0" dirty="0"/>
            </a:br>
            <a:r>
              <a:rPr lang="pt-BR" altLang="zh-CN" kern="0" dirty="0"/>
              <a:t>4\n</a:t>
            </a:r>
            <a:br>
              <a:rPr lang="pt-BR" altLang="zh-CN" kern="0" dirty="0"/>
            </a:br>
            <a:r>
              <a:rPr lang="pt-BR" altLang="zh-CN" kern="0" dirty="0"/>
              <a:t>------------------</a:t>
            </a:r>
            <a:br>
              <a:rPr lang="pt-BR" altLang="zh-CN" kern="0" dirty="0"/>
            </a:br>
            <a:r>
              <a:rPr lang="pt-BR" altLang="zh-CN" kern="0" dirty="0"/>
              <a:t>1 2 3 4</a:t>
            </a:r>
            <a:br>
              <a:rPr lang="pt-BR" altLang="zh-CN" kern="0" dirty="0"/>
            </a:br>
            <a:r>
              <a:rPr lang="pt-BR" altLang="zh-CN" kern="0" dirty="0"/>
              <a:t>------------------</a:t>
            </a:r>
          </a:p>
          <a:p>
            <a:pPr marL="0" indent="0">
              <a:buFont typeface="Wingdings" pitchFamily="2" charset="2"/>
              <a:buNone/>
              <a:defRPr/>
            </a:pPr>
            <a:r>
              <a:rPr lang="pt-BR" altLang="zh-CN" kern="0" dirty="0"/>
              <a:t>1\n</a:t>
            </a:r>
            <a:br>
              <a:rPr lang="pt-BR" altLang="zh-CN" kern="0" dirty="0"/>
            </a:br>
            <a:r>
              <a:rPr lang="pt-BR" altLang="zh-CN" kern="0" dirty="0"/>
              <a:t>2\n</a:t>
            </a:r>
            <a:br>
              <a:rPr lang="pt-BR" altLang="zh-CN" kern="0" dirty="0"/>
            </a:br>
            <a:r>
              <a:rPr lang="pt-BR" altLang="zh-CN" kern="0" dirty="0"/>
              <a:t>3\n</a:t>
            </a:r>
            <a:br>
              <a:rPr lang="pt-BR" altLang="zh-CN" kern="0" dirty="0"/>
            </a:br>
            <a:r>
              <a:rPr lang="pt-BR" altLang="zh-CN" kern="0" dirty="0"/>
              <a:t>4</a:t>
            </a:r>
            <a:endParaRPr lang="zh-CN" altLang="en-US" kern="0" dirty="0"/>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F56BC0F-9092-E446-7914-3CA4374965C9}"/>
              </a:ext>
            </a:extLst>
          </p:cNvPr>
          <p:cNvSpPr>
            <a:spLocks noGrp="1"/>
          </p:cNvSpPr>
          <p:nvPr>
            <p:ph idx="1"/>
          </p:nvPr>
        </p:nvSpPr>
        <p:spPr>
          <a:xfrm>
            <a:off x="457200" y="1471613"/>
            <a:ext cx="8229600" cy="5197475"/>
          </a:xfrm>
        </p:spPr>
        <p:txBody>
          <a:bodyPr>
            <a:normAutofit fontScale="62500" lnSpcReduction="20000"/>
          </a:bodyPr>
          <a:lstStyle/>
          <a:p>
            <a:pPr marL="0" indent="0">
              <a:buFont typeface="Wingdings" panose="05000000000000000000" pitchFamily="2" charset="2"/>
              <a:buNone/>
              <a:defRPr/>
            </a:pPr>
            <a:r>
              <a:rPr lang="en-US" altLang="zh-CN" dirty="0" err="1"/>
              <a:t>struct</a:t>
            </a:r>
            <a:r>
              <a:rPr lang="en-US" altLang="zh-CN" dirty="0"/>
              <a:t> Student</a:t>
            </a:r>
          </a:p>
          <a:p>
            <a:pPr marL="0" indent="0">
              <a:buFont typeface="Wingdings" panose="05000000000000000000" pitchFamily="2" charset="2"/>
              <a:buNone/>
              <a:defRPr/>
            </a:pPr>
            <a:r>
              <a:rPr lang="en-US" altLang="zh-CN" dirty="0"/>
              <a:t>{ </a:t>
            </a:r>
            <a:r>
              <a:rPr lang="en-US" altLang="zh-CN" dirty="0" err="1"/>
              <a:t>int</a:t>
            </a:r>
            <a:r>
              <a:rPr lang="en-US" altLang="zh-CN" dirty="0"/>
              <a:t> no;</a:t>
            </a:r>
          </a:p>
          <a:p>
            <a:pPr marL="0" indent="0">
              <a:buFont typeface="Wingdings" panose="05000000000000000000" pitchFamily="2" charset="2"/>
              <a:buNone/>
              <a:defRPr/>
            </a:pPr>
            <a:r>
              <a:rPr lang="en-US" altLang="zh-CN" dirty="0"/>
              <a:t>   char name[10];</a:t>
            </a:r>
          </a:p>
          <a:p>
            <a:pPr marL="0" indent="0">
              <a:buFont typeface="Wingdings" panose="05000000000000000000" pitchFamily="2" charset="2"/>
              <a:buNone/>
              <a:defRPr/>
            </a:pPr>
            <a:r>
              <a:rPr lang="en-US" altLang="zh-CN" dirty="0"/>
              <a:t>   </a:t>
            </a:r>
            <a:r>
              <a:rPr lang="en-US" altLang="zh-CN" dirty="0" err="1"/>
              <a:t>int</a:t>
            </a:r>
            <a:r>
              <a:rPr lang="en-US" altLang="zh-CN" dirty="0"/>
              <a:t> scores[5];</a:t>
            </a:r>
          </a:p>
          <a:p>
            <a:pPr marL="0" indent="0">
              <a:buFont typeface="Wingdings" panose="05000000000000000000" pitchFamily="2" charset="2"/>
              <a:buNone/>
              <a:defRPr/>
            </a:pPr>
            <a:r>
              <a:rPr lang="en-US" altLang="zh-CN" dirty="0"/>
              <a:t>} s1;</a:t>
            </a:r>
          </a:p>
          <a:p>
            <a:pPr marL="0" indent="0">
              <a:buFont typeface="Wingdings" panose="05000000000000000000" pitchFamily="2" charset="2"/>
              <a:buNone/>
              <a:defRPr/>
            </a:pPr>
            <a:r>
              <a:rPr lang="en-US" altLang="zh-CN" dirty="0" err="1"/>
              <a:t>ifstream</a:t>
            </a:r>
            <a:r>
              <a:rPr lang="en-US" altLang="zh-CN" dirty="0"/>
              <a:t> </a:t>
            </a:r>
            <a:r>
              <a:rPr lang="en-US" altLang="zh-CN" dirty="0" err="1"/>
              <a:t>in_file</a:t>
            </a:r>
            <a:r>
              <a:rPr lang="en-US" altLang="zh-CN" dirty="0"/>
              <a:t>("d:\\students.txt",</a:t>
            </a:r>
            <a:r>
              <a:rPr lang="en-US" altLang="zh-CN" dirty="0" err="1"/>
              <a:t>ios</a:t>
            </a:r>
            <a:r>
              <a:rPr lang="en-US" altLang="zh-CN" dirty="0"/>
              <a:t>::in);</a:t>
            </a:r>
          </a:p>
          <a:p>
            <a:pPr marL="0" indent="0">
              <a:buFont typeface="Wingdings" panose="05000000000000000000" pitchFamily="2" charset="2"/>
              <a:buNone/>
              <a:defRPr/>
            </a:pPr>
            <a:r>
              <a:rPr lang="en-US" altLang="zh-CN" dirty="0"/>
              <a:t>if (!</a:t>
            </a:r>
            <a:r>
              <a:rPr lang="en-US" altLang="zh-CN" dirty="0" err="1"/>
              <a:t>in_file</a:t>
            </a:r>
            <a:r>
              <a:rPr lang="en-US" altLang="zh-CN" dirty="0"/>
              <a:t>) exit(-1);</a:t>
            </a:r>
          </a:p>
          <a:p>
            <a:pPr marL="0" indent="0">
              <a:buFont typeface="Wingdings" panose="05000000000000000000" pitchFamily="2" charset="2"/>
              <a:buNone/>
              <a:defRPr/>
            </a:pPr>
            <a:r>
              <a:rPr lang="en-US" altLang="zh-CN" dirty="0" err="1"/>
              <a:t>in_file</a:t>
            </a:r>
            <a:r>
              <a:rPr lang="en-US" altLang="zh-CN" dirty="0"/>
              <a:t> &gt;&gt; s1.no; //</a:t>
            </a:r>
            <a:r>
              <a:rPr lang="zh-CN" altLang="en-US" dirty="0"/>
              <a:t>读入第一个学号</a:t>
            </a:r>
            <a:endParaRPr lang="en-US" altLang="zh-CN" dirty="0"/>
          </a:p>
          <a:p>
            <a:pPr marL="0" indent="0">
              <a:buFont typeface="Wingdings" panose="05000000000000000000" pitchFamily="2" charset="2"/>
              <a:buNone/>
              <a:defRPr/>
            </a:pPr>
            <a:r>
              <a:rPr lang="en-US" altLang="zh-CN" dirty="0"/>
              <a:t>while (!</a:t>
            </a:r>
            <a:r>
              <a:rPr lang="en-US" altLang="zh-CN" dirty="0" err="1"/>
              <a:t>in_file.fail</a:t>
            </a:r>
            <a:r>
              <a:rPr lang="en-US" altLang="zh-CN" dirty="0"/>
              <a:t>())</a:t>
            </a:r>
          </a:p>
          <a:p>
            <a:pPr marL="0" indent="0">
              <a:buFont typeface="Wingdings" panose="05000000000000000000" pitchFamily="2" charset="2"/>
              <a:buNone/>
              <a:defRPr/>
            </a:pPr>
            <a:r>
              <a:rPr lang="en-US" altLang="zh-CN" dirty="0"/>
              <a:t>{ </a:t>
            </a:r>
            <a:r>
              <a:rPr lang="en-US" altLang="zh-CN" dirty="0" err="1"/>
              <a:t>in_file</a:t>
            </a:r>
            <a:r>
              <a:rPr lang="en-US" altLang="zh-CN" dirty="0"/>
              <a:t> &gt;&gt; s1.name;</a:t>
            </a:r>
          </a:p>
          <a:p>
            <a:pPr marL="0" indent="0">
              <a:buFont typeface="Wingdings" panose="05000000000000000000" pitchFamily="2" charset="2"/>
              <a:buNone/>
              <a:defRPr/>
            </a:pPr>
            <a:r>
              <a:rPr lang="en-US" altLang="zh-CN" dirty="0"/>
              <a:t>   for (</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&lt;5; </a:t>
            </a:r>
            <a:r>
              <a:rPr lang="en-US" altLang="zh-CN" dirty="0" err="1"/>
              <a:t>i</a:t>
            </a:r>
            <a:r>
              <a:rPr lang="en-US" altLang="zh-CN" dirty="0"/>
              <a:t>++)</a:t>
            </a:r>
          </a:p>
          <a:p>
            <a:pPr marL="0" indent="0">
              <a:buFont typeface="Wingdings" panose="05000000000000000000" pitchFamily="2" charset="2"/>
              <a:buNone/>
              <a:defRPr/>
            </a:pPr>
            <a:r>
              <a:rPr lang="en-US" altLang="zh-CN" dirty="0"/>
              <a:t>     </a:t>
            </a:r>
            <a:r>
              <a:rPr lang="en-US" altLang="zh-CN" dirty="0" err="1"/>
              <a:t>in_file</a:t>
            </a:r>
            <a:r>
              <a:rPr lang="en-US" altLang="zh-CN" dirty="0"/>
              <a:t> &gt;&gt; s1.scores[</a:t>
            </a:r>
            <a:r>
              <a:rPr lang="en-US" altLang="zh-CN" dirty="0" err="1"/>
              <a:t>i</a:t>
            </a:r>
            <a:r>
              <a:rPr lang="en-US" altLang="zh-CN" dirty="0"/>
              <a:t>];</a:t>
            </a:r>
          </a:p>
          <a:p>
            <a:pPr marL="0" indent="0">
              <a:buFont typeface="Wingdings" panose="05000000000000000000" pitchFamily="2" charset="2"/>
              <a:buNone/>
              <a:defRPr/>
            </a:pPr>
            <a:r>
              <a:rPr lang="en-US" altLang="zh-CN" dirty="0"/>
              <a:t>   ...... //</a:t>
            </a:r>
            <a:r>
              <a:rPr lang="zh-CN" altLang="en-US" dirty="0"/>
              <a:t>使用</a:t>
            </a:r>
            <a:r>
              <a:rPr lang="en-US" altLang="zh-CN" dirty="0"/>
              <a:t>s1</a:t>
            </a:r>
            <a:r>
              <a:rPr lang="zh-CN" altLang="en-US" dirty="0"/>
              <a:t>中读入的当前学生数据</a:t>
            </a:r>
            <a:endParaRPr lang="en-US" altLang="zh-CN" dirty="0"/>
          </a:p>
          <a:p>
            <a:pPr marL="0" indent="0">
              <a:buFont typeface="Wingdings" panose="05000000000000000000" pitchFamily="2" charset="2"/>
              <a:buNone/>
              <a:defRPr/>
            </a:pPr>
            <a:r>
              <a:rPr lang="en-US" altLang="zh-CN" dirty="0"/>
              <a:t>   </a:t>
            </a:r>
            <a:r>
              <a:rPr lang="en-US" altLang="zh-CN" dirty="0" err="1"/>
              <a:t>in_file</a:t>
            </a:r>
            <a:r>
              <a:rPr lang="en-US" altLang="zh-CN" dirty="0"/>
              <a:t> &gt;&gt; s1.no; //</a:t>
            </a:r>
            <a:r>
              <a:rPr lang="zh-CN" altLang="en-US" dirty="0"/>
              <a:t>读入下一个学号</a:t>
            </a:r>
            <a:endParaRPr lang="en-US" altLang="zh-CN" dirty="0"/>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err="1"/>
              <a:t>in_file.close</a:t>
            </a:r>
            <a:r>
              <a:rPr lang="en-US" altLang="zh-CN" dirty="0"/>
              <a:t>();</a:t>
            </a:r>
          </a:p>
          <a:p>
            <a:pPr>
              <a:defRPr/>
            </a:pPr>
            <a:endParaRPr lang="zh-CN" altLang="en-US" dirty="0"/>
          </a:p>
        </p:txBody>
      </p:sp>
      <p:sp>
        <p:nvSpPr>
          <p:cNvPr id="4" name="标题 1">
            <a:extLst>
              <a:ext uri="{FF2B5EF4-FFF2-40B4-BE49-F238E27FC236}">
                <a16:creationId xmlns:a16="http://schemas.microsoft.com/office/drawing/2014/main" id="{DC7D294B-DD72-E91A-F822-8AC84C4AEAE7}"/>
              </a:ext>
            </a:extLst>
          </p:cNvPr>
          <p:cNvSpPr>
            <a:spLocks noGrp="1"/>
          </p:cNvSpPr>
          <p:nvPr>
            <p:ph type="title"/>
          </p:nvPr>
        </p:nvSpPr>
        <p:spPr>
          <a:xfrm>
            <a:off x="457200" y="115888"/>
            <a:ext cx="8229600" cy="1139825"/>
          </a:xfrm>
        </p:spPr>
        <p:txBody>
          <a:bodyPr/>
          <a:lstStyle/>
          <a:p>
            <a:pPr>
              <a:defRPr/>
            </a:pPr>
            <a:r>
              <a:rPr lang="zh-CN" altLang="en-US" dirty="0"/>
              <a:t>例：从文件读入一系列学生数据</a:t>
            </a:r>
          </a:p>
        </p:txBody>
      </p:sp>
      <p:sp>
        <p:nvSpPr>
          <p:cNvPr id="5" name="内容占位符 2">
            <a:extLst>
              <a:ext uri="{FF2B5EF4-FFF2-40B4-BE49-F238E27FC236}">
                <a16:creationId xmlns:a16="http://schemas.microsoft.com/office/drawing/2014/main" id="{38A753AC-A161-A8EA-8AE5-818F529684C7}"/>
              </a:ext>
            </a:extLst>
          </p:cNvPr>
          <p:cNvSpPr txBox="1">
            <a:spLocks/>
          </p:cNvSpPr>
          <p:nvPr/>
        </p:nvSpPr>
        <p:spPr bwMode="auto">
          <a:xfrm>
            <a:off x="5651500" y="3500438"/>
            <a:ext cx="3457575" cy="2016125"/>
          </a:xfrm>
          <a:prstGeom prst="rect">
            <a:avLst/>
          </a:prstGeom>
          <a:solidFill>
            <a:schemeClr val="bg1"/>
          </a:solidFill>
          <a:ln w="9525">
            <a:noFill/>
            <a:miter lim="800000"/>
            <a:headEnd/>
            <a:tailEnd/>
          </a:ln>
          <a:effectLst/>
        </p:spPr>
        <p:txBody>
          <a:bodyPr>
            <a:normAutofit fontScale="55000" lnSpcReduction="20000"/>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marL="180975" indent="-180975">
              <a:defRPr/>
            </a:pPr>
            <a:r>
              <a:rPr lang="zh-CN" altLang="en-US" kern="0" dirty="0"/>
              <a:t>文件中的数据形式</a:t>
            </a:r>
            <a:endParaRPr lang="en-US" altLang="zh-CN" kern="0" dirty="0"/>
          </a:p>
          <a:p>
            <a:pPr marL="0" indent="0">
              <a:buFont typeface="Wingdings" pitchFamily="2" charset="2"/>
              <a:buNone/>
              <a:defRPr/>
            </a:pPr>
            <a:endParaRPr lang="pt-BR" altLang="zh-CN" kern="0" dirty="0"/>
          </a:p>
          <a:p>
            <a:pPr marL="0" indent="0">
              <a:buFont typeface="Wingdings" pitchFamily="2" charset="2"/>
              <a:buNone/>
              <a:defRPr/>
            </a:pPr>
            <a:r>
              <a:rPr lang="pt-BR" altLang="zh-CN" kern="0" dirty="0"/>
              <a:t>1001 </a:t>
            </a:r>
            <a:r>
              <a:rPr lang="zh-CN" altLang="en-US" kern="0" dirty="0"/>
              <a:t>张三 </a:t>
            </a:r>
            <a:r>
              <a:rPr lang="en-US" altLang="zh-CN" kern="0" dirty="0"/>
              <a:t>92 88 70 90 85</a:t>
            </a:r>
            <a:r>
              <a:rPr lang="pt-BR" altLang="zh-CN" kern="0" dirty="0"/>
              <a:t>\n</a:t>
            </a:r>
            <a:br>
              <a:rPr lang="pt-BR" altLang="zh-CN" kern="0" dirty="0"/>
            </a:br>
            <a:r>
              <a:rPr lang="pt-BR" altLang="zh-CN" kern="0" dirty="0"/>
              <a:t>1002 </a:t>
            </a:r>
            <a:r>
              <a:rPr lang="zh-CN" altLang="en-US" kern="0" dirty="0"/>
              <a:t>李四 </a:t>
            </a:r>
            <a:r>
              <a:rPr lang="en-US" altLang="zh-CN" kern="0" dirty="0"/>
              <a:t>90 80 90 95 88</a:t>
            </a:r>
            <a:r>
              <a:rPr lang="pt-BR" altLang="zh-CN" kern="0" dirty="0"/>
              <a:t>\n</a:t>
            </a:r>
          </a:p>
          <a:p>
            <a:pPr marL="0" indent="0">
              <a:buFont typeface="Wingdings" pitchFamily="2" charset="2"/>
              <a:buNone/>
              <a:defRPr/>
            </a:pPr>
            <a:r>
              <a:rPr lang="pt-BR" altLang="zh-CN" kern="0" dirty="0"/>
              <a:t>1003 </a:t>
            </a:r>
            <a:r>
              <a:rPr lang="zh-CN" altLang="en-US" kern="0" dirty="0"/>
              <a:t>王五 </a:t>
            </a:r>
            <a:r>
              <a:rPr lang="en-US" altLang="zh-CN" kern="0" dirty="0"/>
              <a:t>95 85 80 92 80</a:t>
            </a:r>
            <a:r>
              <a:rPr lang="pt-BR" altLang="zh-CN" kern="0" dirty="0"/>
              <a:t>\n</a:t>
            </a:r>
          </a:p>
          <a:p>
            <a:pPr marL="0" indent="0">
              <a:buFont typeface="Wingdings" pitchFamily="2" charset="2"/>
              <a:buNone/>
              <a:defRPr/>
            </a:pPr>
            <a:r>
              <a:rPr lang="pt-BR" altLang="zh-CN" kern="0" dirty="0"/>
              <a:t>......</a:t>
            </a:r>
            <a:endParaRPr lang="zh-CN" altLang="en-US" kern="0"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04CB1406-1195-8A61-953D-0009AB72814D}"/>
              </a:ext>
            </a:extLst>
          </p:cNvPr>
          <p:cNvSpPr>
            <a:spLocks noGrp="1" noChangeArrowheads="1"/>
          </p:cNvSpPr>
          <p:nvPr>
            <p:ph type="body" idx="1"/>
          </p:nvPr>
        </p:nvSpPr>
        <p:spPr>
          <a:xfrm>
            <a:off x="457200" y="765175"/>
            <a:ext cx="8229600" cy="5759450"/>
          </a:xfrm>
        </p:spPr>
        <p:txBody>
          <a:bodyPr>
            <a:normAutofit/>
          </a:bodyPr>
          <a:lstStyle/>
          <a:p>
            <a:pPr marL="0" indent="0" eaLnBrk="1" hangingPunct="1">
              <a:buFont typeface="Wingdings" panose="05000000000000000000" pitchFamily="2" charset="2"/>
              <a:buNone/>
              <a:defRPr/>
            </a:pPr>
            <a:endParaRPr lang="zh-CN" altLang="en-US" dirty="0"/>
          </a:p>
          <a:p>
            <a:pPr eaLnBrk="1" hangingPunct="1">
              <a:defRPr/>
            </a:pPr>
            <a:r>
              <a:rPr lang="zh-CN" altLang="en-GB" dirty="0"/>
              <a:t>文件输</a:t>
            </a:r>
            <a:r>
              <a:rPr lang="zh-CN" altLang="en-US" dirty="0"/>
              <a:t>入</a:t>
            </a:r>
            <a:r>
              <a:rPr lang="zh-CN" altLang="en-GB" dirty="0"/>
              <a:t>操作结束</a:t>
            </a:r>
            <a:r>
              <a:rPr lang="zh-CN" altLang="en-US" dirty="0"/>
              <a:t>后</a:t>
            </a:r>
            <a:r>
              <a:rPr lang="zh-CN" altLang="en-GB" dirty="0"/>
              <a:t>，要使用</a:t>
            </a:r>
            <a:r>
              <a:rPr lang="en-GB" altLang="zh-CN" dirty="0" err="1"/>
              <a:t>ifstream</a:t>
            </a:r>
            <a:r>
              <a:rPr lang="zh-CN" altLang="en-GB" dirty="0"/>
              <a:t>的一个成员函数</a:t>
            </a:r>
            <a:r>
              <a:rPr lang="en-GB" altLang="zh-CN" dirty="0"/>
              <a:t>close</a:t>
            </a:r>
            <a:r>
              <a:rPr lang="zh-CN" altLang="en-GB" dirty="0"/>
              <a:t>关闭文件：</a:t>
            </a:r>
            <a:endParaRPr lang="zh-CN" altLang="en-US" dirty="0"/>
          </a:p>
          <a:p>
            <a:pPr lvl="1" eaLnBrk="1" hangingPunct="1">
              <a:buFontTx/>
              <a:buNone/>
              <a:defRPr/>
            </a:pPr>
            <a:r>
              <a:rPr lang="en-GB" altLang="zh-CN" dirty="0" err="1"/>
              <a:t>in_file.close</a:t>
            </a:r>
            <a:r>
              <a:rPr lang="en-GB" altLang="zh-CN" dirty="0"/>
              <a:t>();</a:t>
            </a:r>
            <a:r>
              <a:rPr lang="en-US" altLang="zh-CN"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D96F9-2C00-9D2A-0464-D0A04B9F2047}"/>
              </a:ext>
            </a:extLst>
          </p:cNvPr>
          <p:cNvSpPr>
            <a:spLocks noGrp="1"/>
          </p:cNvSpPr>
          <p:nvPr>
            <p:ph type="title"/>
          </p:nvPr>
        </p:nvSpPr>
        <p:spPr>
          <a:xfrm>
            <a:off x="457200" y="115888"/>
            <a:ext cx="8229600" cy="1139825"/>
          </a:xfrm>
        </p:spPr>
        <p:txBody>
          <a:bodyPr/>
          <a:lstStyle/>
          <a:p>
            <a:pPr>
              <a:defRPr/>
            </a:pPr>
            <a:r>
              <a:rPr lang="zh-CN" altLang="en-US" dirty="0"/>
              <a:t>有关文件读写的几点注意</a:t>
            </a:r>
          </a:p>
        </p:txBody>
      </p:sp>
      <p:sp>
        <p:nvSpPr>
          <p:cNvPr id="3" name="内容占位符 2">
            <a:extLst>
              <a:ext uri="{FF2B5EF4-FFF2-40B4-BE49-F238E27FC236}">
                <a16:creationId xmlns:a16="http://schemas.microsoft.com/office/drawing/2014/main" id="{20A1F1A8-4C7D-2EBE-ADA4-26DB6F6858C5}"/>
              </a:ext>
            </a:extLst>
          </p:cNvPr>
          <p:cNvSpPr>
            <a:spLocks noGrp="1"/>
          </p:cNvSpPr>
          <p:nvPr>
            <p:ph idx="1"/>
          </p:nvPr>
        </p:nvSpPr>
        <p:spPr>
          <a:xfrm>
            <a:off x="457200" y="1412875"/>
            <a:ext cx="8229600" cy="3960813"/>
          </a:xfrm>
        </p:spPr>
        <p:txBody>
          <a:bodyPr>
            <a:normAutofit fontScale="92500" lnSpcReduction="10000"/>
          </a:bodyPr>
          <a:lstStyle/>
          <a:p>
            <a:pPr>
              <a:lnSpc>
                <a:spcPct val="120000"/>
              </a:lnSpc>
              <a:defRPr/>
            </a:pPr>
            <a:r>
              <a:rPr lang="zh-CN" altLang="en-US" sz="4000" dirty="0"/>
              <a:t>以文本方式输出的文件要以文本方式输入；以二进制方式输出的文件要以二进制方式输入！</a:t>
            </a:r>
            <a:endParaRPr lang="en-US" altLang="zh-CN" sz="4000" dirty="0"/>
          </a:p>
          <a:p>
            <a:pPr>
              <a:lnSpc>
                <a:spcPct val="120000"/>
              </a:lnSpc>
              <a:defRPr/>
            </a:pPr>
            <a:r>
              <a:rPr lang="zh-CN" altLang="en-US" sz="4000" dirty="0"/>
              <a:t>以文本方式读写的文件要以文本方式打开；以二进制方式读写的文件要以二进制方式打开！</a:t>
            </a:r>
            <a:endParaRPr lang="en-US" altLang="zh-CN" sz="4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68F1ED-F5F7-4D3F-B27F-07F6761FF947}"/>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7F9685C3-FDC5-C712-5DD1-639867966AA5}"/>
              </a:ext>
            </a:extLst>
          </p:cNvPr>
          <p:cNvSpPr>
            <a:spLocks noGrp="1"/>
          </p:cNvSpPr>
          <p:nvPr>
            <p:ph idx="1"/>
          </p:nvPr>
        </p:nvSpPr>
        <p:spPr>
          <a:xfrm>
            <a:off x="457200" y="1600200"/>
            <a:ext cx="8229600" cy="3916363"/>
          </a:xfrm>
        </p:spPr>
        <p:txBody>
          <a:bodyPr>
            <a:normAutofit fontScale="70000" lnSpcReduction="20000"/>
          </a:bodyPr>
          <a:lstStyle/>
          <a:p>
            <a:pPr eaLnBrk="1" hangingPunct="1">
              <a:lnSpc>
                <a:spcPct val="120000"/>
              </a:lnSpc>
              <a:defRPr/>
            </a:pPr>
            <a:r>
              <a:rPr lang="zh-CN" altLang="en-US" sz="4000" dirty="0"/>
              <a:t>以二进制方式存取文件不利于程序的兼容性和可移植性。例如，</a:t>
            </a:r>
            <a:endParaRPr lang="en-US" altLang="zh-CN" sz="4000" dirty="0"/>
          </a:p>
          <a:p>
            <a:pPr lvl="1">
              <a:lnSpc>
                <a:spcPct val="120000"/>
              </a:lnSpc>
              <a:defRPr/>
            </a:pPr>
            <a:r>
              <a:rPr lang="zh-CN" altLang="en-US" sz="3600" dirty="0"/>
              <a:t>在不同计算机平台上，整型数的各字节在内存中的存储次序可能不一样。</a:t>
            </a:r>
            <a:endParaRPr lang="en-US" altLang="zh-CN" sz="3600" dirty="0"/>
          </a:p>
          <a:p>
            <a:pPr lvl="1" eaLnBrk="1" hangingPunct="1">
              <a:lnSpc>
                <a:spcPct val="120000"/>
              </a:lnSpc>
              <a:defRPr/>
            </a:pPr>
            <a:r>
              <a:rPr lang="zh-CN" altLang="en-US" sz="3600" dirty="0"/>
              <a:t>在不同的编译环境下，同样的结构类型数据的尺寸（字节数）可能不一样。</a:t>
            </a:r>
            <a:endParaRPr lang="en-US" altLang="zh-CN" sz="3600" dirty="0"/>
          </a:p>
          <a:p>
            <a:pPr lvl="1">
              <a:lnSpc>
                <a:spcPct val="120000"/>
              </a:lnSpc>
              <a:defRPr/>
            </a:pPr>
            <a:r>
              <a:rPr lang="en-US" altLang="zh-CN" sz="3600" dirty="0"/>
              <a:t>......</a:t>
            </a:r>
          </a:p>
          <a:p>
            <a:pPr>
              <a:lnSpc>
                <a:spcPct val="120000"/>
              </a:lnSpc>
              <a:defRPr/>
            </a:pPr>
            <a:r>
              <a:rPr lang="zh-CN" altLang="en-US" sz="4000" dirty="0"/>
              <a:t>具有性能优势</a:t>
            </a:r>
            <a:endParaRPr lang="en-US" altLang="zh-CN" sz="4000" dirty="0"/>
          </a:p>
          <a:p>
            <a:pPr>
              <a:defRPr/>
            </a:pP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B6E5C61-D959-C453-BBD3-03FABB9DE750}"/>
              </a:ext>
            </a:extLst>
          </p:cNvPr>
          <p:cNvSpPr>
            <a:spLocks noGrp="1" noChangeArrowheads="1"/>
          </p:cNvSpPr>
          <p:nvPr>
            <p:ph type="title"/>
          </p:nvPr>
        </p:nvSpPr>
        <p:spPr/>
        <p:txBody>
          <a:bodyPr/>
          <a:lstStyle/>
          <a:p>
            <a:pPr eaLnBrk="1" hangingPunct="1">
              <a:defRPr/>
            </a:pPr>
            <a:r>
              <a:rPr lang="zh-CN" altLang="en-US" dirty="0">
                <a:latin typeface="Times New Roman" pitchFamily="18" charset="0"/>
              </a:rPr>
              <a:t>既能输入、又能输出的文件</a:t>
            </a:r>
            <a:r>
              <a:rPr lang="zh-CN" altLang="en-US" dirty="0"/>
              <a:t> </a:t>
            </a:r>
          </a:p>
        </p:txBody>
      </p:sp>
      <p:sp>
        <p:nvSpPr>
          <p:cNvPr id="47107" name="Rectangle 3">
            <a:extLst>
              <a:ext uri="{FF2B5EF4-FFF2-40B4-BE49-F238E27FC236}">
                <a16:creationId xmlns:a16="http://schemas.microsoft.com/office/drawing/2014/main" id="{FA6A2B94-81FD-472A-B2F0-043977423E81}"/>
              </a:ext>
            </a:extLst>
          </p:cNvPr>
          <p:cNvSpPr>
            <a:spLocks noGrp="1" noChangeArrowheads="1"/>
          </p:cNvSpPr>
          <p:nvPr>
            <p:ph type="body" idx="1"/>
          </p:nvPr>
        </p:nvSpPr>
        <p:spPr>
          <a:xfrm>
            <a:off x="457200" y="1600200"/>
            <a:ext cx="8229600" cy="4852988"/>
          </a:xfrm>
        </p:spPr>
        <p:txBody>
          <a:bodyPr>
            <a:normAutofit/>
          </a:bodyPr>
          <a:lstStyle/>
          <a:p>
            <a:pPr eaLnBrk="1" hangingPunct="1">
              <a:defRPr/>
            </a:pPr>
            <a:r>
              <a:rPr lang="zh-CN" altLang="en-US" dirty="0">
                <a:latin typeface="宋体" pitchFamily="2" charset="-122"/>
              </a:rPr>
              <a:t>如果需要打开一个既能读入数据、也能输出数据的文件，则需要创建一个</a:t>
            </a:r>
            <a:r>
              <a:rPr lang="en-US" altLang="zh-CN" dirty="0" err="1">
                <a:solidFill>
                  <a:srgbClr val="FFC000"/>
                </a:solidFill>
                <a:latin typeface="Times New Roman" pitchFamily="18" charset="0"/>
                <a:cs typeface="Times New Roman" pitchFamily="18" charset="0"/>
              </a:rPr>
              <a:t>fstream</a:t>
            </a:r>
            <a:r>
              <a:rPr lang="zh-CN" altLang="en-US" dirty="0">
                <a:latin typeface="宋体" pitchFamily="2" charset="-122"/>
              </a:rPr>
              <a:t>类的对象。</a:t>
            </a:r>
            <a:r>
              <a:rPr lang="zh-CN" altLang="en-US" dirty="0"/>
              <a:t> </a:t>
            </a:r>
          </a:p>
          <a:p>
            <a:pPr eaLnBrk="1" hangingPunct="1">
              <a:defRPr/>
            </a:pPr>
            <a:r>
              <a:rPr lang="zh-CN" altLang="en-US" dirty="0"/>
              <a:t>文件内部有两个位置指针，一个用于读，另一个用于写。</a:t>
            </a:r>
          </a:p>
          <a:p>
            <a:pPr eaLnBrk="1" hangingPunct="1">
              <a:defRPr/>
            </a:pPr>
            <a:r>
              <a:rPr lang="zh-CN" altLang="en-US" dirty="0">
                <a:latin typeface="宋体" pitchFamily="2" charset="-122"/>
              </a:rPr>
              <a:t>在创建</a:t>
            </a:r>
            <a:r>
              <a:rPr lang="en-US" altLang="zh-CN" dirty="0" err="1">
                <a:latin typeface="Times New Roman" pitchFamily="18" charset="0"/>
                <a:cs typeface="Times New Roman" pitchFamily="18" charset="0"/>
              </a:rPr>
              <a:t>fstream</a:t>
            </a:r>
            <a:r>
              <a:rPr lang="zh-CN" altLang="en-US" dirty="0">
                <a:latin typeface="宋体" pitchFamily="2" charset="-122"/>
              </a:rPr>
              <a:t>类的对象并建立与外部文件的联系时，文件打开方式应为下面之一：</a:t>
            </a:r>
            <a:endParaRPr lang="en-US" altLang="zh-CN" dirty="0">
              <a:latin typeface="宋体" pitchFamily="2" charset="-122"/>
            </a:endParaRPr>
          </a:p>
          <a:p>
            <a:pPr lvl="1" eaLnBrk="1" hangingPunct="1">
              <a:defRPr/>
            </a:pPr>
            <a:r>
              <a:rPr lang="en-US" altLang="zh-CN" dirty="0" err="1">
                <a:latin typeface="Times New Roman" pitchFamily="18" charset="0"/>
                <a:cs typeface="Times New Roman" pitchFamily="18" charset="0"/>
              </a:rPr>
              <a:t>ios</a:t>
            </a:r>
            <a:r>
              <a:rPr lang="en-US" altLang="zh-CN" dirty="0">
                <a:latin typeface="Times New Roman" pitchFamily="18" charset="0"/>
                <a:cs typeface="Times New Roman" pitchFamily="18" charset="0"/>
              </a:rPr>
              <a:t>::</a:t>
            </a:r>
            <a:r>
              <a:rPr lang="en-US" altLang="zh-CN" dirty="0" err="1">
                <a:latin typeface="Times New Roman" pitchFamily="18" charset="0"/>
                <a:cs typeface="Times New Roman" pitchFamily="18" charset="0"/>
              </a:rPr>
              <a:t>in|ios</a:t>
            </a:r>
            <a:r>
              <a:rPr lang="en-US" altLang="zh-CN" dirty="0">
                <a:latin typeface="Times New Roman" pitchFamily="18" charset="0"/>
                <a:cs typeface="Times New Roman" pitchFamily="18" charset="0"/>
              </a:rPr>
              <a:t>::out</a:t>
            </a:r>
            <a:r>
              <a:rPr lang="zh-CN" altLang="en-US" dirty="0">
                <a:latin typeface="宋体" pitchFamily="2" charset="-122"/>
              </a:rPr>
              <a:t>（可在文件任意位置写）</a:t>
            </a:r>
            <a:endParaRPr lang="en-US" altLang="zh-CN" dirty="0">
              <a:latin typeface="宋体" pitchFamily="2" charset="-122"/>
            </a:endParaRPr>
          </a:p>
          <a:p>
            <a:pPr lvl="1" eaLnBrk="1" hangingPunct="1">
              <a:defRPr/>
            </a:pPr>
            <a:r>
              <a:rPr lang="en-US" altLang="zh-CN" dirty="0" err="1">
                <a:latin typeface="Times New Roman" pitchFamily="18" charset="0"/>
                <a:cs typeface="Times New Roman" pitchFamily="18" charset="0"/>
              </a:rPr>
              <a:t>ios</a:t>
            </a:r>
            <a:r>
              <a:rPr lang="en-US" altLang="zh-CN" dirty="0">
                <a:latin typeface="Times New Roman" pitchFamily="18" charset="0"/>
                <a:cs typeface="Times New Roman" pitchFamily="18" charset="0"/>
              </a:rPr>
              <a:t>::</a:t>
            </a:r>
            <a:r>
              <a:rPr lang="en-US" altLang="zh-CN" dirty="0" err="1">
                <a:latin typeface="Times New Roman" pitchFamily="18" charset="0"/>
                <a:cs typeface="Times New Roman" pitchFamily="18" charset="0"/>
              </a:rPr>
              <a:t>in|ios</a:t>
            </a:r>
            <a:r>
              <a:rPr lang="en-US" altLang="zh-CN" dirty="0">
                <a:latin typeface="Times New Roman" pitchFamily="18" charset="0"/>
                <a:cs typeface="Times New Roman" pitchFamily="18" charset="0"/>
              </a:rPr>
              <a:t>::app</a:t>
            </a:r>
            <a:r>
              <a:rPr lang="zh-CN" altLang="en-US" dirty="0">
                <a:latin typeface="宋体" pitchFamily="2" charset="-122"/>
              </a:rPr>
              <a:t>（只能在文件末尾写）</a:t>
            </a:r>
            <a:r>
              <a:rPr lang="zh-CN" altLang="en-US" dirty="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237B46D7-9362-EC02-C965-ABD0E7E610E5}"/>
              </a:ext>
            </a:extLst>
          </p:cNvPr>
          <p:cNvSpPr>
            <a:spLocks noGrp="1" noChangeArrowheads="1"/>
          </p:cNvSpPr>
          <p:nvPr>
            <p:ph type="title"/>
          </p:nvPr>
        </p:nvSpPr>
        <p:spPr>
          <a:xfrm>
            <a:off x="457200" y="44450"/>
            <a:ext cx="8229600" cy="1139825"/>
          </a:xfrm>
        </p:spPr>
        <p:txBody>
          <a:bodyPr/>
          <a:lstStyle/>
          <a:p>
            <a:pPr eaLnBrk="1" hangingPunct="1">
              <a:defRPr/>
            </a:pPr>
            <a:r>
              <a:rPr lang="zh-CN" altLang="en-GB" dirty="0">
                <a:latin typeface="Times New Roman" pitchFamily="18" charset="0"/>
              </a:rPr>
              <a:t>文件</a:t>
            </a:r>
            <a:r>
              <a:rPr lang="zh-CN" altLang="en-US" dirty="0">
                <a:latin typeface="Times New Roman" pitchFamily="18" charset="0"/>
              </a:rPr>
              <a:t>的</a:t>
            </a:r>
            <a:r>
              <a:rPr lang="zh-CN" altLang="en-GB" dirty="0">
                <a:latin typeface="Times New Roman" pitchFamily="18" charset="0"/>
              </a:rPr>
              <a:t>随机存取</a:t>
            </a:r>
            <a:endParaRPr lang="zh-CN" altLang="en-US" dirty="0">
              <a:latin typeface="Times New Roman" pitchFamily="18" charset="0"/>
            </a:endParaRPr>
          </a:p>
        </p:txBody>
      </p:sp>
      <p:sp>
        <p:nvSpPr>
          <p:cNvPr id="101379" name="Rectangle 3">
            <a:extLst>
              <a:ext uri="{FF2B5EF4-FFF2-40B4-BE49-F238E27FC236}">
                <a16:creationId xmlns:a16="http://schemas.microsoft.com/office/drawing/2014/main" id="{012ABE95-82B1-950E-BF4E-8D6C11883A1E}"/>
              </a:ext>
            </a:extLst>
          </p:cNvPr>
          <p:cNvSpPr>
            <a:spLocks noGrp="1" noChangeArrowheads="1"/>
          </p:cNvSpPr>
          <p:nvPr>
            <p:ph type="body" idx="1"/>
          </p:nvPr>
        </p:nvSpPr>
        <p:spPr>
          <a:xfrm>
            <a:off x="142875" y="1341438"/>
            <a:ext cx="8893175" cy="5327650"/>
          </a:xfrm>
        </p:spPr>
        <p:txBody>
          <a:bodyPr/>
          <a:lstStyle/>
          <a:p>
            <a:pPr eaLnBrk="1" hangingPunct="1">
              <a:defRPr/>
            </a:pPr>
            <a:r>
              <a:rPr lang="zh-CN" altLang="en-US" sz="2400" dirty="0"/>
              <a:t>为了能够随机读写文件中的数据，可以显示地指出读写的位置。</a:t>
            </a:r>
          </a:p>
          <a:p>
            <a:pPr eaLnBrk="1" hangingPunct="1">
              <a:defRPr/>
            </a:pPr>
            <a:r>
              <a:rPr lang="zh-CN" altLang="en-US" sz="2400" dirty="0"/>
              <a:t>下面的操作用来指定文件内部</a:t>
            </a:r>
            <a:r>
              <a:rPr lang="zh-CN" altLang="en-US" sz="2400" dirty="0">
                <a:solidFill>
                  <a:srgbClr val="FFC000"/>
                </a:solidFill>
              </a:rPr>
              <a:t>读指针</a:t>
            </a:r>
            <a:r>
              <a:rPr lang="zh-CN" altLang="en-US" sz="2400" dirty="0"/>
              <a:t>的位置： </a:t>
            </a:r>
          </a:p>
          <a:p>
            <a:pPr lvl="1" eaLnBrk="1" hangingPunct="1">
              <a:buFontTx/>
              <a:buNone/>
              <a:defRPr/>
            </a:pPr>
            <a:r>
              <a:rPr lang="en-US" altLang="zh-CN" sz="2000" dirty="0" err="1"/>
              <a:t>istream</a:t>
            </a:r>
            <a:r>
              <a:rPr lang="en-US" altLang="zh-CN" sz="2000" dirty="0"/>
              <a:t>&amp; </a:t>
            </a:r>
            <a:r>
              <a:rPr lang="en-US" altLang="zh-CN" sz="2000" dirty="0" err="1"/>
              <a:t>istream</a:t>
            </a:r>
            <a:r>
              <a:rPr lang="en-US" altLang="zh-CN" sz="2000" dirty="0"/>
              <a:t>::</a:t>
            </a:r>
            <a:r>
              <a:rPr lang="en-US" altLang="zh-CN" sz="2000" dirty="0" err="1"/>
              <a:t>seekg</a:t>
            </a:r>
            <a:r>
              <a:rPr lang="en-US" altLang="zh-CN" sz="2000" dirty="0"/>
              <a:t>(&lt;</a:t>
            </a:r>
            <a:r>
              <a:rPr lang="zh-CN" altLang="en-US" sz="2000" dirty="0"/>
              <a:t>位置</a:t>
            </a:r>
            <a:r>
              <a:rPr lang="en-US" altLang="zh-CN" sz="2000" dirty="0"/>
              <a:t>&gt;)</a:t>
            </a:r>
            <a:r>
              <a:rPr lang="zh-CN" altLang="en-US" sz="2000" dirty="0"/>
              <a:t>；</a:t>
            </a:r>
            <a:r>
              <a:rPr lang="en-US" altLang="zh-CN" sz="2000" dirty="0"/>
              <a:t>//</a:t>
            </a:r>
            <a:r>
              <a:rPr lang="zh-CN" altLang="en-US" sz="2000" dirty="0"/>
              <a:t>指定绝对位置</a:t>
            </a:r>
          </a:p>
          <a:p>
            <a:pPr lvl="1" eaLnBrk="1" hangingPunct="1">
              <a:buFontTx/>
              <a:buNone/>
              <a:defRPr/>
            </a:pPr>
            <a:r>
              <a:rPr lang="en-US" altLang="zh-CN" sz="2000" dirty="0" err="1"/>
              <a:t>istream</a:t>
            </a:r>
            <a:r>
              <a:rPr lang="en-US" altLang="zh-CN" sz="2000" dirty="0"/>
              <a:t>&amp; </a:t>
            </a:r>
            <a:r>
              <a:rPr lang="en-US" altLang="zh-CN" sz="2000" dirty="0" err="1"/>
              <a:t>istream</a:t>
            </a:r>
            <a:r>
              <a:rPr lang="en-US" altLang="zh-CN" sz="2000" dirty="0"/>
              <a:t>::</a:t>
            </a:r>
            <a:r>
              <a:rPr lang="en-US" altLang="zh-CN" sz="2000" dirty="0" err="1"/>
              <a:t>seekg</a:t>
            </a:r>
            <a:r>
              <a:rPr lang="en-US" altLang="zh-CN" sz="2000" dirty="0"/>
              <a:t>(&lt;</a:t>
            </a:r>
            <a:r>
              <a:rPr lang="zh-CN" altLang="en-US" sz="2000" dirty="0"/>
              <a:t>偏移量</a:t>
            </a:r>
            <a:r>
              <a:rPr lang="en-US" altLang="zh-CN" sz="2000" dirty="0"/>
              <a:t>&gt;,&lt;</a:t>
            </a:r>
            <a:r>
              <a:rPr lang="zh-CN" altLang="en-US" sz="2000" dirty="0"/>
              <a:t>参照位置</a:t>
            </a:r>
            <a:r>
              <a:rPr lang="en-US" altLang="zh-CN" sz="2000" dirty="0"/>
              <a:t>&gt;);  //</a:t>
            </a:r>
            <a:r>
              <a:rPr lang="zh-CN" altLang="en-US" sz="2000" dirty="0"/>
              <a:t>指定相对位置</a:t>
            </a:r>
          </a:p>
          <a:p>
            <a:pPr lvl="1" eaLnBrk="1" hangingPunct="1">
              <a:buFontTx/>
              <a:buNone/>
              <a:defRPr/>
            </a:pPr>
            <a:r>
              <a:rPr lang="en-US" altLang="zh-CN" sz="2000" dirty="0" err="1"/>
              <a:t>streampos</a:t>
            </a:r>
            <a:r>
              <a:rPr lang="en-US" altLang="zh-CN" sz="2000" dirty="0"/>
              <a:t> </a:t>
            </a:r>
            <a:r>
              <a:rPr lang="en-US" altLang="zh-CN" sz="2000" dirty="0" err="1"/>
              <a:t>istream</a:t>
            </a:r>
            <a:r>
              <a:rPr lang="en-US" altLang="zh-CN" sz="2000" dirty="0"/>
              <a:t>::</a:t>
            </a:r>
            <a:r>
              <a:rPr lang="en-US" altLang="zh-CN" sz="2000" dirty="0" err="1"/>
              <a:t>tellg</a:t>
            </a:r>
            <a:r>
              <a:rPr lang="en-US" altLang="zh-CN" sz="2000" dirty="0"/>
              <a:t>();  //</a:t>
            </a:r>
            <a:r>
              <a:rPr lang="zh-CN" altLang="en-US" sz="2000" dirty="0"/>
              <a:t>获得指针位置</a:t>
            </a:r>
          </a:p>
          <a:p>
            <a:pPr eaLnBrk="1" hangingPunct="1">
              <a:defRPr/>
            </a:pPr>
            <a:r>
              <a:rPr lang="zh-CN" altLang="en-US" sz="2400" dirty="0"/>
              <a:t>下面的操作来指定文件内部</a:t>
            </a:r>
            <a:r>
              <a:rPr lang="zh-CN" altLang="en-US" sz="2400" dirty="0">
                <a:solidFill>
                  <a:srgbClr val="FFC000"/>
                </a:solidFill>
              </a:rPr>
              <a:t>写指针</a:t>
            </a:r>
            <a:r>
              <a:rPr lang="zh-CN" altLang="en-US" sz="2400" dirty="0"/>
              <a:t>的位置： </a:t>
            </a:r>
          </a:p>
          <a:p>
            <a:pPr lvl="1" eaLnBrk="1" hangingPunct="1">
              <a:buFontTx/>
              <a:buNone/>
              <a:defRPr/>
            </a:pPr>
            <a:r>
              <a:rPr lang="en-US" altLang="zh-CN" sz="2000" dirty="0" err="1"/>
              <a:t>ostream</a:t>
            </a:r>
            <a:r>
              <a:rPr lang="en-US" altLang="zh-CN" sz="2000" dirty="0"/>
              <a:t>&amp; </a:t>
            </a:r>
            <a:r>
              <a:rPr lang="en-US" altLang="zh-CN" sz="2000" dirty="0" err="1"/>
              <a:t>ostream</a:t>
            </a:r>
            <a:r>
              <a:rPr lang="en-US" altLang="zh-CN" sz="2000" dirty="0"/>
              <a:t>::</a:t>
            </a:r>
            <a:r>
              <a:rPr lang="en-US" altLang="zh-CN" sz="2000" dirty="0" err="1"/>
              <a:t>seekp</a:t>
            </a:r>
            <a:r>
              <a:rPr lang="en-US" altLang="zh-CN" sz="2000" dirty="0"/>
              <a:t>(&lt;</a:t>
            </a:r>
            <a:r>
              <a:rPr lang="zh-CN" altLang="en-US" sz="2000" dirty="0"/>
              <a:t>位置</a:t>
            </a:r>
            <a:r>
              <a:rPr lang="en-US" altLang="zh-CN" sz="2000" dirty="0"/>
              <a:t>&gt;)</a:t>
            </a:r>
            <a:r>
              <a:rPr lang="zh-CN" altLang="en-US" sz="2000" dirty="0"/>
              <a:t>；</a:t>
            </a:r>
            <a:r>
              <a:rPr lang="en-US" altLang="zh-CN" sz="2000" dirty="0"/>
              <a:t>//</a:t>
            </a:r>
            <a:r>
              <a:rPr lang="zh-CN" altLang="en-US" sz="2000" dirty="0"/>
              <a:t>指定绝对位置</a:t>
            </a:r>
          </a:p>
          <a:p>
            <a:pPr lvl="1" eaLnBrk="1" hangingPunct="1">
              <a:buFontTx/>
              <a:buNone/>
              <a:defRPr/>
            </a:pPr>
            <a:r>
              <a:rPr lang="en-US" altLang="zh-CN" sz="2000" dirty="0" err="1"/>
              <a:t>ostream</a:t>
            </a:r>
            <a:r>
              <a:rPr lang="en-US" altLang="zh-CN" sz="2000" dirty="0"/>
              <a:t>&amp; </a:t>
            </a:r>
            <a:r>
              <a:rPr lang="en-US" altLang="zh-CN" sz="2000" dirty="0" err="1"/>
              <a:t>ostream</a:t>
            </a:r>
            <a:r>
              <a:rPr lang="en-US" altLang="zh-CN" sz="2000" dirty="0"/>
              <a:t>::</a:t>
            </a:r>
            <a:r>
              <a:rPr lang="en-US" altLang="zh-CN" sz="2000" dirty="0" err="1"/>
              <a:t>seekp</a:t>
            </a:r>
            <a:r>
              <a:rPr lang="en-US" altLang="zh-CN" sz="2000" dirty="0"/>
              <a:t>(&lt;</a:t>
            </a:r>
            <a:r>
              <a:rPr lang="zh-CN" altLang="en-US" sz="2000" dirty="0"/>
              <a:t>偏移量</a:t>
            </a:r>
            <a:r>
              <a:rPr lang="en-US" altLang="zh-CN" sz="2000" dirty="0"/>
              <a:t>&gt;,&lt;</a:t>
            </a:r>
            <a:r>
              <a:rPr lang="zh-CN" altLang="en-US" sz="2000" dirty="0"/>
              <a:t>参照位置</a:t>
            </a:r>
            <a:r>
              <a:rPr lang="en-US" altLang="zh-CN" sz="2000" dirty="0"/>
              <a:t>&gt;); //</a:t>
            </a:r>
            <a:r>
              <a:rPr lang="zh-CN" altLang="en-US" sz="2000" dirty="0"/>
              <a:t>指定相对位置</a:t>
            </a:r>
          </a:p>
          <a:p>
            <a:pPr lvl="1" eaLnBrk="1" hangingPunct="1">
              <a:buFontTx/>
              <a:buNone/>
              <a:defRPr/>
            </a:pPr>
            <a:r>
              <a:rPr lang="en-US" altLang="zh-CN" sz="2000" dirty="0" err="1"/>
              <a:t>streampos</a:t>
            </a:r>
            <a:r>
              <a:rPr lang="en-US" altLang="zh-CN" sz="2000" dirty="0"/>
              <a:t> </a:t>
            </a:r>
            <a:r>
              <a:rPr lang="en-US" altLang="zh-CN" sz="2000" dirty="0" err="1"/>
              <a:t>ostream</a:t>
            </a:r>
            <a:r>
              <a:rPr lang="en-US" altLang="zh-CN" sz="2000" dirty="0"/>
              <a:t>::</a:t>
            </a:r>
            <a:r>
              <a:rPr lang="en-US" altLang="zh-CN" sz="2000" dirty="0" err="1"/>
              <a:t>tellp</a:t>
            </a:r>
            <a:r>
              <a:rPr lang="en-US" altLang="zh-CN" sz="2000" dirty="0"/>
              <a:t>();  //</a:t>
            </a:r>
            <a:r>
              <a:rPr lang="zh-CN" altLang="en-US" sz="2000" dirty="0"/>
              <a:t>获得指针位置 </a:t>
            </a:r>
          </a:p>
          <a:p>
            <a:pPr eaLnBrk="1" hangingPunct="1">
              <a:defRPr/>
            </a:pPr>
            <a:r>
              <a:rPr lang="en-US" altLang="zh-CN" sz="2400" dirty="0"/>
              <a:t>&lt;</a:t>
            </a:r>
            <a:r>
              <a:rPr lang="zh-CN" altLang="en-US" sz="2400" dirty="0"/>
              <a:t>参照位置</a:t>
            </a:r>
            <a:r>
              <a:rPr lang="en-US" altLang="zh-CN" sz="2400" dirty="0"/>
              <a:t>&gt;</a:t>
            </a:r>
            <a:r>
              <a:rPr lang="zh-CN" altLang="en-US" sz="2400" dirty="0"/>
              <a:t>可以是：</a:t>
            </a:r>
            <a:r>
              <a:rPr lang="en-US" altLang="zh-CN" sz="2400" dirty="0" err="1"/>
              <a:t>ios</a:t>
            </a:r>
            <a:r>
              <a:rPr lang="en-US" altLang="zh-CN" sz="2400" dirty="0"/>
              <a:t>::beg</a:t>
            </a:r>
            <a:r>
              <a:rPr lang="zh-CN" altLang="en-US" sz="2400" dirty="0"/>
              <a:t>（文件头），</a:t>
            </a:r>
            <a:r>
              <a:rPr lang="en-US" altLang="zh-CN" sz="2400" dirty="0" err="1"/>
              <a:t>ios</a:t>
            </a:r>
            <a:r>
              <a:rPr lang="en-US" altLang="zh-CN" sz="2400" dirty="0"/>
              <a:t>::cur</a:t>
            </a:r>
            <a:r>
              <a:rPr lang="zh-CN" altLang="en-US" sz="2400" dirty="0"/>
              <a:t>（当前位置）和</a:t>
            </a:r>
            <a:r>
              <a:rPr lang="en-US" altLang="zh-CN" sz="2400" dirty="0" err="1"/>
              <a:t>ios</a:t>
            </a:r>
            <a:r>
              <a:rPr lang="en-US" altLang="zh-CN" sz="2400" dirty="0"/>
              <a:t>::end</a:t>
            </a:r>
            <a:r>
              <a:rPr lang="zh-CN" altLang="en-US" sz="2400" dirty="0"/>
              <a:t>（文件尾）。</a:t>
            </a:r>
            <a:endParaRPr lang="zh-CN" altLang="en-US" sz="1400" dirty="0"/>
          </a:p>
        </p:txBody>
      </p:sp>
    </p:spTree>
  </p:cSld>
  <p:clrMapOvr>
    <a:masterClrMapping/>
  </p:clrMapOvr>
  <p:transition spd="slow"/>
</p:sld>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D72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1_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themeOverride>
</file>

<file path=docProps/app.xml><?xml version="1.0" encoding="utf-8"?>
<Properties xmlns="http://schemas.openxmlformats.org/officeDocument/2006/extended-properties" xmlns:vt="http://schemas.openxmlformats.org/officeDocument/2006/docPropsVTypes">
  <Template>Globe</Template>
  <TotalTime>10747</TotalTime>
  <Words>5008</Words>
  <Application>Microsoft Office PowerPoint</Application>
  <PresentationFormat>全屏显示(4:3)</PresentationFormat>
  <Paragraphs>492</Paragraphs>
  <Slides>49</Slides>
  <Notes>0</Notes>
  <HiddenSlides>7</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49</vt:i4>
      </vt:variant>
    </vt:vector>
  </HeadingPairs>
  <TitlesOfParts>
    <vt:vector size="58" baseType="lpstr">
      <vt:lpstr>Verdana</vt:lpstr>
      <vt:lpstr>宋体</vt:lpstr>
      <vt:lpstr>Arial</vt:lpstr>
      <vt:lpstr>Wingdings</vt:lpstr>
      <vt:lpstr>等线</vt:lpstr>
      <vt:lpstr>Times New Roman</vt:lpstr>
      <vt:lpstr>Courier New</vt:lpstr>
      <vt:lpstr>黑体</vt:lpstr>
      <vt:lpstr>Globe</vt:lpstr>
      <vt:lpstr>输入/输出</vt:lpstr>
      <vt:lpstr>主要内容</vt:lpstr>
      <vt:lpstr>输入/输出（I/O）概述</vt:lpstr>
      <vt:lpstr>PowerPoint 演示文稿</vt:lpstr>
      <vt:lpstr>C++输入输出的实现途径</vt:lpstr>
      <vt:lpstr>printf、scanf的缺陷</vt:lpstr>
      <vt:lpstr>cout、cin的优势</vt:lpstr>
      <vt:lpstr>I/O的分类</vt:lpstr>
      <vt:lpstr>C++的I/O类库中基本的类</vt:lpstr>
      <vt:lpstr>PowerPoint 演示文稿</vt:lpstr>
      <vt:lpstr>PowerPoint 演示文稿</vt:lpstr>
      <vt:lpstr>面向控制台的I/O </vt:lpstr>
      <vt:lpstr>控制台输出操作</vt:lpstr>
      <vt:lpstr>输出格式控制</vt:lpstr>
      <vt:lpstr>PowerPoint 演示文稿</vt:lpstr>
      <vt:lpstr>PowerPoint 演示文稿</vt:lpstr>
      <vt:lpstr>PowerPoint 演示文稿</vt:lpstr>
      <vt:lpstr>控制台输入操作</vt:lpstr>
      <vt:lpstr>PowerPoint 演示文稿</vt:lpstr>
      <vt:lpstr>PowerPoint 演示文稿</vt:lpstr>
      <vt:lpstr>操作符“&gt;&gt;”和“&lt;&lt;”的重载 </vt:lpstr>
      <vt:lpstr>例：“&lt;&lt;”操作符的重载 </vt:lpstr>
      <vt:lpstr>派生类输出操作符“&lt;&lt;”的实现</vt:lpstr>
      <vt:lpstr>派生类输出操作符“&lt;&lt;”的实现</vt:lpstr>
      <vt:lpstr>派生类输出操作符“&lt;&lt;”的实现</vt:lpstr>
      <vt:lpstr>面向文件的I/O</vt:lpstr>
      <vt:lpstr>文件的基本概念</vt:lpstr>
      <vt:lpstr>文件的读写过程</vt:lpstr>
      <vt:lpstr>文件数据的存储方式 </vt:lpstr>
      <vt:lpstr> </vt:lpstr>
      <vt:lpstr>文件的输出操作 </vt:lpstr>
      <vt:lpstr>PowerPoint 演示文稿</vt:lpstr>
      <vt:lpstr>PowerPoint 演示文稿</vt:lpstr>
      <vt:lpstr>判断打开操作是否成功</vt:lpstr>
      <vt:lpstr>输出数据</vt:lpstr>
      <vt:lpstr>PowerPoint 演示文稿</vt:lpstr>
      <vt:lpstr>PowerPoint 演示文稿</vt:lpstr>
      <vt:lpstr>文件的输入操作</vt:lpstr>
      <vt:lpstr>PowerPoint 演示文稿</vt:lpstr>
      <vt:lpstr>PowerPoint 演示文稿</vt:lpstr>
      <vt:lpstr>PowerPoint 演示文稿</vt:lpstr>
      <vt:lpstr>PowerPoint 演示文稿</vt:lpstr>
      <vt:lpstr>例：从文件读入一系列整型数</vt:lpstr>
      <vt:lpstr>例：从文件读入一系列学生数据</vt:lpstr>
      <vt:lpstr>PowerPoint 演示文稿</vt:lpstr>
      <vt:lpstr>有关文件读写的几点注意</vt:lpstr>
      <vt:lpstr>PowerPoint 演示文稿</vt:lpstr>
      <vt:lpstr>既能输入、又能输出的文件 </vt:lpstr>
      <vt:lpstr>文件的随机存取</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输入/输出</dc:title>
  <dc:creator>chenjiajun</dc:creator>
  <cp:lastModifiedBy>润泽 颜</cp:lastModifiedBy>
  <cp:revision>412</cp:revision>
  <dcterms:created xsi:type="dcterms:W3CDTF">2005-01-07T00:34:06Z</dcterms:created>
  <dcterms:modified xsi:type="dcterms:W3CDTF">2026-06-18T00:20:45Z</dcterms:modified>
</cp:coreProperties>
</file>