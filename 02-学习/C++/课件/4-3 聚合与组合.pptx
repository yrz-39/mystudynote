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9"/>
  </p:notesMasterIdLst>
  <p:sldIdLst>
    <p:sldId id="573" r:id="rId2"/>
    <p:sldId id="686" r:id="rId3"/>
    <p:sldId id="715" r:id="rId4"/>
    <p:sldId id="716" r:id="rId5"/>
    <p:sldId id="717" r:id="rId6"/>
    <p:sldId id="720" r:id="rId7"/>
    <p:sldId id="721" r:id="rId8"/>
    <p:sldId id="722" r:id="rId9"/>
    <p:sldId id="718" r:id="rId10"/>
    <p:sldId id="687" r:id="rId11"/>
    <p:sldId id="719" r:id="rId12"/>
    <p:sldId id="688" r:id="rId13"/>
    <p:sldId id="689" r:id="rId14"/>
    <p:sldId id="690" r:id="rId15"/>
    <p:sldId id="691" r:id="rId16"/>
    <p:sldId id="692" r:id="rId17"/>
    <p:sldId id="693" r:id="rId1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 autoAdjust="0"/>
    <p:restoredTop sz="94719" autoAdjust="0"/>
  </p:normalViewPr>
  <p:slideViewPr>
    <p:cSldViewPr>
      <p:cViewPr varScale="1">
        <p:scale>
          <a:sx n="163" d="100"/>
          <a:sy n="163" d="100"/>
        </p:scale>
        <p:origin x="4290" y="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75" d="100"/>
          <a:sy n="75" d="100"/>
        </p:scale>
        <p:origin x="-173" y="14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3F3A55F-E0E2-1A0F-D188-1AD4E067746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986749B-77F9-13E5-6E16-F62212C4B24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83806D2-8949-7D67-8C02-F1596A938884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0C5F9D4C-BA26-9A6F-AD92-69698409386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DBC8311F-6021-0E55-4841-36A08868FF9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FFCA0CE4-614F-EE12-BF79-61D4C325E1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fld id="{6F5D3EA9-4B07-4ECE-9D16-A7030CAB483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0B566C1-F67A-1711-E040-4BEFEFCF316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2F0D44B-9C9C-AAAB-FF4E-9F4EAEDE380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B48BA2C-3076-B6FC-D97E-34F3751AC4E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0DA9E0A-B8D9-410D-3647-6DB1C914193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FC0399F1-2BCF-2866-1014-34C67F246D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7F538AC0-E4E1-902B-0507-9C0B185CE37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96A0A29B-E6A4-B677-C78E-2C0777C2286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EAD43196-3F66-2BC9-038C-027AEFF333C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A040AFA9-37CB-9A00-4A9C-0CB8F328838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F0FBDF9D-823C-CA47-8FB4-CD5A444BAAB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2D0F0C8B-1F6A-D58D-09F7-F562AD788F0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78F1C780-99B0-E6F6-AF76-73DFC94CC66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A6C06773-3410-EFE3-09BA-2809EA1A50E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30F2372F-599B-3433-6C17-F181B4E9ABB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5" name="Freeform 16">
                <a:extLst>
                  <a:ext uri="{FF2B5EF4-FFF2-40B4-BE49-F238E27FC236}">
                    <a16:creationId xmlns:a16="http://schemas.microsoft.com/office/drawing/2014/main" id="{4FAA0885-A40F-073E-A959-3831DC0EB63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E547272B-E555-628C-9574-6154D138A65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26D6F6AB-EF3B-AAB7-EAD6-4F62AA582A1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8D02CD72-C91A-71FC-D055-C258FDAEE50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Freeform 20">
              <a:extLst>
                <a:ext uri="{FF2B5EF4-FFF2-40B4-BE49-F238E27FC236}">
                  <a16:creationId xmlns:a16="http://schemas.microsoft.com/office/drawing/2014/main" id="{0C2B5D13-29CF-F759-7517-2339F18CC8D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Freeform 21">
              <a:extLst>
                <a:ext uri="{FF2B5EF4-FFF2-40B4-BE49-F238E27FC236}">
                  <a16:creationId xmlns:a16="http://schemas.microsoft.com/office/drawing/2014/main" id="{42C5E666-FE49-7D85-2702-5B16116B4A4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Freeform 22">
              <a:extLst>
                <a:ext uri="{FF2B5EF4-FFF2-40B4-BE49-F238E27FC236}">
                  <a16:creationId xmlns:a16="http://schemas.microsoft.com/office/drawing/2014/main" id="{2B0537ED-578B-E875-ABCD-9674FE5DE1F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D7BFA126-ADBE-2ADE-5C3A-E0F2307BC1A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936 w 717"/>
                <a:gd name="T1" fmla="*/ 845 h 845"/>
                <a:gd name="T2" fmla="*/ 936 w 717"/>
                <a:gd name="T3" fmla="*/ 821 h 845"/>
                <a:gd name="T4" fmla="*/ 780 w 717"/>
                <a:gd name="T5" fmla="*/ 605 h 845"/>
                <a:gd name="T6" fmla="*/ 509 w 717"/>
                <a:gd name="T7" fmla="*/ 396 h 845"/>
                <a:gd name="T8" fmla="*/ 324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312 w 717"/>
                <a:gd name="T15" fmla="*/ 198 h 845"/>
                <a:gd name="T16" fmla="*/ 503 w 717"/>
                <a:gd name="T17" fmla="*/ 408 h 845"/>
                <a:gd name="T18" fmla="*/ 774 w 717"/>
                <a:gd name="T19" fmla="*/ 623 h 845"/>
                <a:gd name="T20" fmla="*/ 936 w 717"/>
                <a:gd name="T21" fmla="*/ 845 h 845"/>
                <a:gd name="T22" fmla="*/ 936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24">
              <a:extLst>
                <a:ext uri="{FF2B5EF4-FFF2-40B4-BE49-F238E27FC236}">
                  <a16:creationId xmlns:a16="http://schemas.microsoft.com/office/drawing/2014/main" id="{D4D09584-D25A-1D55-0A9E-9B83471C0ED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510 w 407"/>
                <a:gd name="T1" fmla="*/ 414 h 414"/>
                <a:gd name="T2" fmla="*/ 510 w 407"/>
                <a:gd name="T3" fmla="*/ 396 h 414"/>
                <a:gd name="T4" fmla="*/ 325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319 w 407"/>
                <a:gd name="T13" fmla="*/ 204 h 414"/>
                <a:gd name="T14" fmla="*/ 510 w 407"/>
                <a:gd name="T15" fmla="*/ 414 h 414"/>
                <a:gd name="T16" fmla="*/ 510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25">
              <a:extLst>
                <a:ext uri="{FF2B5EF4-FFF2-40B4-BE49-F238E27FC236}">
                  <a16:creationId xmlns:a16="http://schemas.microsoft.com/office/drawing/2014/main" id="{29B9A56E-C411-A491-8B6F-EA81D2F86C1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3" name="Freeform 26">
              <a:extLst>
                <a:ext uri="{FF2B5EF4-FFF2-40B4-BE49-F238E27FC236}">
                  <a16:creationId xmlns:a16="http://schemas.microsoft.com/office/drawing/2014/main" id="{3EEC3582-64DE-F088-DDB7-8065E4FB04F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821 w 586"/>
                <a:gd name="T1" fmla="*/ 0 h 599"/>
                <a:gd name="T2" fmla="*/ 794 w 586"/>
                <a:gd name="T3" fmla="*/ 0 h 599"/>
                <a:gd name="T4" fmla="*/ 580 w 586"/>
                <a:gd name="T5" fmla="*/ 132 h 599"/>
                <a:gd name="T6" fmla="*/ 360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360 w 586"/>
                <a:gd name="T17" fmla="*/ 282 h 599"/>
                <a:gd name="T18" fmla="*/ 592 w 586"/>
                <a:gd name="T19" fmla="*/ 138 h 599"/>
                <a:gd name="T20" fmla="*/ 821 w 586"/>
                <a:gd name="T21" fmla="*/ 0 h 599"/>
                <a:gd name="T22" fmla="*/ 821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7">
              <a:extLst>
                <a:ext uri="{FF2B5EF4-FFF2-40B4-BE49-F238E27FC236}">
                  <a16:creationId xmlns:a16="http://schemas.microsoft.com/office/drawing/2014/main" id="{E694C84D-C347-E553-77DE-496AABCB4C7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372 w 269"/>
                <a:gd name="T1" fmla="*/ 0 h 252"/>
                <a:gd name="T2" fmla="*/ 354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372 w 269"/>
                <a:gd name="T15" fmla="*/ 0 h 252"/>
                <a:gd name="T16" fmla="*/ 372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28">
              <a:extLst>
                <a:ext uri="{FF2B5EF4-FFF2-40B4-BE49-F238E27FC236}">
                  <a16:creationId xmlns:a16="http://schemas.microsoft.com/office/drawing/2014/main" id="{DC605015-EC3A-6B06-ADB9-D5DAE47D2C4B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29">
              <a:extLst>
                <a:ext uri="{FF2B5EF4-FFF2-40B4-BE49-F238E27FC236}">
                  <a16:creationId xmlns:a16="http://schemas.microsoft.com/office/drawing/2014/main" id="{38E96A8D-E2B5-328B-1315-9F3CDE5CBD59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30">
              <a:extLst>
                <a:ext uri="{FF2B5EF4-FFF2-40B4-BE49-F238E27FC236}">
                  <a16:creationId xmlns:a16="http://schemas.microsoft.com/office/drawing/2014/main" id="{E2EE8071-9983-55BF-C5FB-8A868087C061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" name="Group 31">
              <a:extLst>
                <a:ext uri="{FF2B5EF4-FFF2-40B4-BE49-F238E27FC236}">
                  <a16:creationId xmlns:a16="http://schemas.microsoft.com/office/drawing/2014/main" id="{08C6ADF8-0794-9FFC-C908-C2483EEB2B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1" name="Line 32">
                <a:extLst>
                  <a:ext uri="{FF2B5EF4-FFF2-40B4-BE49-F238E27FC236}">
                    <a16:creationId xmlns:a16="http://schemas.microsoft.com/office/drawing/2014/main" id="{289F7A45-EE6A-AFE0-A5D8-A999DC596C8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33">
                <a:extLst>
                  <a:ext uri="{FF2B5EF4-FFF2-40B4-BE49-F238E27FC236}">
                    <a16:creationId xmlns:a16="http://schemas.microsoft.com/office/drawing/2014/main" id="{49D421AC-A4DB-FC30-63C7-642BFF42C7A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34">
                <a:extLst>
                  <a:ext uri="{FF2B5EF4-FFF2-40B4-BE49-F238E27FC236}">
                    <a16:creationId xmlns:a16="http://schemas.microsoft.com/office/drawing/2014/main" id="{174A12DD-F8D7-64FE-C53A-CC23CD9610C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5">
                <a:extLst>
                  <a:ext uri="{FF2B5EF4-FFF2-40B4-BE49-F238E27FC236}">
                    <a16:creationId xmlns:a16="http://schemas.microsoft.com/office/drawing/2014/main" id="{4FB8F561-BC6C-A7F2-1503-4CBAC5F1BFA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6">
                <a:extLst>
                  <a:ext uri="{FF2B5EF4-FFF2-40B4-BE49-F238E27FC236}">
                    <a16:creationId xmlns:a16="http://schemas.microsoft.com/office/drawing/2014/main" id="{D9F00026-C528-9B3E-0C48-A621B07DE16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" name="Line 37">
              <a:extLst>
                <a:ext uri="{FF2B5EF4-FFF2-40B4-BE49-F238E27FC236}">
                  <a16:creationId xmlns:a16="http://schemas.microsoft.com/office/drawing/2014/main" id="{C0B94756-84B4-4DAD-CBF8-6E9D2946DA41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38">
              <a:extLst>
                <a:ext uri="{FF2B5EF4-FFF2-40B4-BE49-F238E27FC236}">
                  <a16:creationId xmlns:a16="http://schemas.microsoft.com/office/drawing/2014/main" id="{66513925-DF93-2BDC-16D8-CAC81CFC1958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00423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00424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9" name="Rectangle 41">
            <a:extLst>
              <a:ext uri="{FF2B5EF4-FFF2-40B4-BE49-F238E27FC236}">
                <a16:creationId xmlns:a16="http://schemas.microsoft.com/office/drawing/2014/main" id="{13E58DF2-22DE-27C0-AD07-20CD30AFEDCC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" name="Rectangle 42">
            <a:extLst>
              <a:ext uri="{FF2B5EF4-FFF2-40B4-BE49-F238E27FC236}">
                <a16:creationId xmlns:a16="http://schemas.microsoft.com/office/drawing/2014/main" id="{56DC7EA1-6B09-98D1-93AC-5444F09066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9632E7D3-3AE3-4AEA-074D-2C37A00C0D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51ED3C-6725-4755-87BF-4F5E4D28C57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4704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C26EC4D1-EEDE-4AE4-981F-E425736D6A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1D1F0C6E-7EF2-F551-470B-EF0989C441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8CFA1DEE-C269-07B9-A1C4-30844FA901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DBD493-E9F7-471C-A8FC-7E94E181212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5316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9497F04E-38CF-6FCD-95F2-F258716D4B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B9770E29-1F88-04E9-2C28-C050D490B4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F998330A-87EE-C063-B7BD-E8901D22CB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E12FB3-C2D9-446F-8864-5D6A01B1BF2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5213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C93D2D70-2391-0AC1-5BE3-A2884F15B2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6181539F-ACB4-F037-062C-3F230DBF98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351AA078-031C-FEA6-AB1A-F7A03FBAF7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EE0FEC-CFC5-4043-B858-95E66B8B369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0892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0">
            <a:extLst>
              <a:ext uri="{FF2B5EF4-FFF2-40B4-BE49-F238E27FC236}">
                <a16:creationId xmlns:a16="http://schemas.microsoft.com/office/drawing/2014/main" id="{473167DD-466C-AE9E-C41B-ABF88F1748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651E035E-2BED-3006-75B6-A3C5E21920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>
            <a:extLst>
              <a:ext uri="{FF2B5EF4-FFF2-40B4-BE49-F238E27FC236}">
                <a16:creationId xmlns:a16="http://schemas.microsoft.com/office/drawing/2014/main" id="{FA588C50-91BB-34DD-D6C4-56E29C421D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F20B0A-2C3B-4CC7-BA4C-4EDAF2E506E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5195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0">
            <a:extLst>
              <a:ext uri="{FF2B5EF4-FFF2-40B4-BE49-F238E27FC236}">
                <a16:creationId xmlns:a16="http://schemas.microsoft.com/office/drawing/2014/main" id="{F349556E-8670-5E96-4703-A876135888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>
            <a:extLst>
              <a:ext uri="{FF2B5EF4-FFF2-40B4-BE49-F238E27FC236}">
                <a16:creationId xmlns:a16="http://schemas.microsoft.com/office/drawing/2014/main" id="{03C758D0-B09B-4CA6-8B10-CC43DADB4A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>
            <a:extLst>
              <a:ext uri="{FF2B5EF4-FFF2-40B4-BE49-F238E27FC236}">
                <a16:creationId xmlns:a16="http://schemas.microsoft.com/office/drawing/2014/main" id="{474BBB92-6A7F-9746-134F-8E7754A286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3B5BCF-9B29-40DF-8162-1404C04D65F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0306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>
            <a:extLst>
              <a:ext uri="{FF2B5EF4-FFF2-40B4-BE49-F238E27FC236}">
                <a16:creationId xmlns:a16="http://schemas.microsoft.com/office/drawing/2014/main" id="{2EAE7743-BF17-A5CF-FE32-5075FBB8F1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>
            <a:extLst>
              <a:ext uri="{FF2B5EF4-FFF2-40B4-BE49-F238E27FC236}">
                <a16:creationId xmlns:a16="http://schemas.microsoft.com/office/drawing/2014/main" id="{D7D9EED0-5CBD-F716-4F28-A77BC3D628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>
            <a:extLst>
              <a:ext uri="{FF2B5EF4-FFF2-40B4-BE49-F238E27FC236}">
                <a16:creationId xmlns:a16="http://schemas.microsoft.com/office/drawing/2014/main" id="{3EC4C491-F811-ADC6-2C0A-A72E8EDB82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579F33-73A4-4A1C-9B0B-D39DB1B243C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0804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1E216612-8E86-C196-91F5-E810EDBD46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11B66247-12B9-7D09-B899-4FCFC85FDB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7FAC28C8-93E5-7811-42A0-DF192A6A5F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C364A3-820C-45D1-9DD9-CEEC9E62A36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787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4281750D-8F9D-2961-D245-9FD0B214AD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E5990A13-E631-EE12-B498-C96D43DF96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36FF9973-A546-2D0C-82B3-97CE2BA225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7D210A-DC9E-4107-ABD7-93C48E27638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0408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CA897C38-13F1-C8DE-D75D-77CEAC99D4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66EEBF0B-4192-6EEB-9785-0BA6BEE4C6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EC2ADD68-5E14-22CA-DA02-9073964F95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AC0933-A897-41BB-AD24-D26A25012A6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7218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9C3DD561-2AFE-4C7F-9781-0CAC3866D0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374DD239-1460-B2A6-20FB-7AB3C040B4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6DCA1354-6624-3EB9-BD1F-4FFF86BD8E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3E2DB-7BA6-41D6-90BE-7E6C4D567F5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6860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0605125D-C09F-956A-237A-EAD57CAFFD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BF76B8D0-4866-097F-DA31-BD79850D69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498071B6-1A8C-8DCF-B299-03D78913A4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1C9B59-36CD-4455-88C8-40A0070351F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18814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BB2DDD46-F3D9-D9AF-B745-83EB85B4D3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2299A642-1B66-9FF9-9064-F3270680AA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0D4610A2-92ED-D885-3017-B44FF72FBE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8E9C74-9CAC-44D6-8062-D71C5F1D63E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4761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4D99"/>
            </a:gs>
            <a:gs pos="89999">
              <a:srgbClr val="002D5A"/>
            </a:gs>
            <a:gs pos="100000">
              <a:srgbClr val="00285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5E2B3CF0-3DB0-1B5A-992A-50964DB0925E}"/>
              </a:ext>
            </a:extLst>
          </p:cNvPr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399363" name="Freeform 3">
              <a:extLst>
                <a:ext uri="{FF2B5EF4-FFF2-40B4-BE49-F238E27FC236}">
                  <a16:creationId xmlns:a16="http://schemas.microsoft.com/office/drawing/2014/main" id="{A39CBAD4-43B5-46F5-EA40-34E13FA82ED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99364" name="Freeform 4">
              <a:extLst>
                <a:ext uri="{FF2B5EF4-FFF2-40B4-BE49-F238E27FC236}">
                  <a16:creationId xmlns:a16="http://schemas.microsoft.com/office/drawing/2014/main" id="{75F3539A-76BC-F98F-9172-C4DF0E6822A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99365" name="Freeform 5">
              <a:extLst>
                <a:ext uri="{FF2B5EF4-FFF2-40B4-BE49-F238E27FC236}">
                  <a16:creationId xmlns:a16="http://schemas.microsoft.com/office/drawing/2014/main" id="{A72223F9-9EE6-D8DC-EB55-E6F88313E3E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1035" name="Group 6">
              <a:extLst>
                <a:ext uri="{FF2B5EF4-FFF2-40B4-BE49-F238E27FC236}">
                  <a16:creationId xmlns:a16="http://schemas.microsoft.com/office/drawing/2014/main" id="{F46A5379-B34E-C55B-C5BF-85F39B5FA4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399367" name="Freeform 7">
                <a:extLst>
                  <a:ext uri="{FF2B5EF4-FFF2-40B4-BE49-F238E27FC236}">
                    <a16:creationId xmlns:a16="http://schemas.microsoft.com/office/drawing/2014/main" id="{EC28A47F-2BC8-70EC-0A1A-FAD5039C5FA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68" name="Freeform 8">
                <a:extLst>
                  <a:ext uri="{FF2B5EF4-FFF2-40B4-BE49-F238E27FC236}">
                    <a16:creationId xmlns:a16="http://schemas.microsoft.com/office/drawing/2014/main" id="{CAA130C7-8D13-EE67-2E1E-A6E52C9A980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69" name="Freeform 9">
                <a:extLst>
                  <a:ext uri="{FF2B5EF4-FFF2-40B4-BE49-F238E27FC236}">
                    <a16:creationId xmlns:a16="http://schemas.microsoft.com/office/drawing/2014/main" id="{5C7F6E5F-F4BF-B638-8722-6E48F6B7DAB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70" name="Freeform 10">
                <a:extLst>
                  <a:ext uri="{FF2B5EF4-FFF2-40B4-BE49-F238E27FC236}">
                    <a16:creationId xmlns:a16="http://schemas.microsoft.com/office/drawing/2014/main" id="{DBD76D98-CFA0-E1AF-015E-8DC62B02849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71" name="Freeform 11">
                <a:extLst>
                  <a:ext uri="{FF2B5EF4-FFF2-40B4-BE49-F238E27FC236}">
                    <a16:creationId xmlns:a16="http://schemas.microsoft.com/office/drawing/2014/main" id="{36F2FA0B-F605-E72B-751C-26FC74B6BAB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72" name="Freeform 12">
                <a:extLst>
                  <a:ext uri="{FF2B5EF4-FFF2-40B4-BE49-F238E27FC236}">
                    <a16:creationId xmlns:a16="http://schemas.microsoft.com/office/drawing/2014/main" id="{80345BB9-FAC8-DF01-C319-7CE5BBA060B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73" name="Freeform 13">
                <a:extLst>
                  <a:ext uri="{FF2B5EF4-FFF2-40B4-BE49-F238E27FC236}">
                    <a16:creationId xmlns:a16="http://schemas.microsoft.com/office/drawing/2014/main" id="{388D5907-8923-0B00-7D91-DD54BB0635E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74" name="Freeform 14">
                <a:extLst>
                  <a:ext uri="{FF2B5EF4-FFF2-40B4-BE49-F238E27FC236}">
                    <a16:creationId xmlns:a16="http://schemas.microsoft.com/office/drawing/2014/main" id="{097A6E71-3A21-54BB-8A6C-2DA15E6CCB6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75" name="Freeform 15">
                <a:extLst>
                  <a:ext uri="{FF2B5EF4-FFF2-40B4-BE49-F238E27FC236}">
                    <a16:creationId xmlns:a16="http://schemas.microsoft.com/office/drawing/2014/main" id="{D40E425E-47E2-A6B3-CEF3-BBD1FC86135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76" name="Freeform 16">
                <a:extLst>
                  <a:ext uri="{FF2B5EF4-FFF2-40B4-BE49-F238E27FC236}">
                    <a16:creationId xmlns:a16="http://schemas.microsoft.com/office/drawing/2014/main" id="{BEDB1099-5127-B1E2-DBD0-B35B15D16CF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77" name="Freeform 17">
                <a:extLst>
                  <a:ext uri="{FF2B5EF4-FFF2-40B4-BE49-F238E27FC236}">
                    <a16:creationId xmlns:a16="http://schemas.microsoft.com/office/drawing/2014/main" id="{A98B4C31-69D6-64F1-391A-9C10AA1EB21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78" name="Freeform 18">
                <a:extLst>
                  <a:ext uri="{FF2B5EF4-FFF2-40B4-BE49-F238E27FC236}">
                    <a16:creationId xmlns:a16="http://schemas.microsoft.com/office/drawing/2014/main" id="{3838E624-05E3-FA20-747C-F1C00C5D469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79" name="Freeform 19">
                <a:extLst>
                  <a:ext uri="{FF2B5EF4-FFF2-40B4-BE49-F238E27FC236}">
                    <a16:creationId xmlns:a16="http://schemas.microsoft.com/office/drawing/2014/main" id="{DDC21065-B233-7294-7AB5-0BBC4C87997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399380" name="Freeform 20">
              <a:extLst>
                <a:ext uri="{FF2B5EF4-FFF2-40B4-BE49-F238E27FC236}">
                  <a16:creationId xmlns:a16="http://schemas.microsoft.com/office/drawing/2014/main" id="{0E0935E8-A301-A2DE-75A4-1B215C77CFD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99381" name="Freeform 21">
              <a:extLst>
                <a:ext uri="{FF2B5EF4-FFF2-40B4-BE49-F238E27FC236}">
                  <a16:creationId xmlns:a16="http://schemas.microsoft.com/office/drawing/2014/main" id="{C072E78D-ABAF-0462-50B5-AD95801BD47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99382" name="Freeform 22">
              <a:extLst>
                <a:ext uri="{FF2B5EF4-FFF2-40B4-BE49-F238E27FC236}">
                  <a16:creationId xmlns:a16="http://schemas.microsoft.com/office/drawing/2014/main" id="{D64ACBED-A51B-5B3B-F108-F51DB5F5936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39" name="Freeform 23">
              <a:extLst>
                <a:ext uri="{FF2B5EF4-FFF2-40B4-BE49-F238E27FC236}">
                  <a16:creationId xmlns:a16="http://schemas.microsoft.com/office/drawing/2014/main" id="{9099CC49-5A9F-410A-E53A-227FD0F0A99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936 w 717"/>
                <a:gd name="T1" fmla="*/ 845 h 845"/>
                <a:gd name="T2" fmla="*/ 936 w 717"/>
                <a:gd name="T3" fmla="*/ 821 h 845"/>
                <a:gd name="T4" fmla="*/ 780 w 717"/>
                <a:gd name="T5" fmla="*/ 605 h 845"/>
                <a:gd name="T6" fmla="*/ 509 w 717"/>
                <a:gd name="T7" fmla="*/ 396 h 845"/>
                <a:gd name="T8" fmla="*/ 324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312 w 717"/>
                <a:gd name="T15" fmla="*/ 198 h 845"/>
                <a:gd name="T16" fmla="*/ 503 w 717"/>
                <a:gd name="T17" fmla="*/ 408 h 845"/>
                <a:gd name="T18" fmla="*/ 774 w 717"/>
                <a:gd name="T19" fmla="*/ 623 h 845"/>
                <a:gd name="T20" fmla="*/ 936 w 717"/>
                <a:gd name="T21" fmla="*/ 845 h 845"/>
                <a:gd name="T22" fmla="*/ 936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24">
              <a:extLst>
                <a:ext uri="{FF2B5EF4-FFF2-40B4-BE49-F238E27FC236}">
                  <a16:creationId xmlns:a16="http://schemas.microsoft.com/office/drawing/2014/main" id="{45A2E289-62F2-1082-03EA-B22978BF242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510 w 407"/>
                <a:gd name="T1" fmla="*/ 414 h 414"/>
                <a:gd name="T2" fmla="*/ 510 w 407"/>
                <a:gd name="T3" fmla="*/ 396 h 414"/>
                <a:gd name="T4" fmla="*/ 325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319 w 407"/>
                <a:gd name="T13" fmla="*/ 204 h 414"/>
                <a:gd name="T14" fmla="*/ 510 w 407"/>
                <a:gd name="T15" fmla="*/ 414 h 414"/>
                <a:gd name="T16" fmla="*/ 510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385" name="Freeform 25">
              <a:extLst>
                <a:ext uri="{FF2B5EF4-FFF2-40B4-BE49-F238E27FC236}">
                  <a16:creationId xmlns:a16="http://schemas.microsoft.com/office/drawing/2014/main" id="{90677DBC-7D5B-D954-A7A2-F68C4E6F519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42" name="Freeform 26">
              <a:extLst>
                <a:ext uri="{FF2B5EF4-FFF2-40B4-BE49-F238E27FC236}">
                  <a16:creationId xmlns:a16="http://schemas.microsoft.com/office/drawing/2014/main" id="{C175EF31-1B7B-754F-CC5F-EB69145097D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821 w 586"/>
                <a:gd name="T1" fmla="*/ 0 h 599"/>
                <a:gd name="T2" fmla="*/ 794 w 586"/>
                <a:gd name="T3" fmla="*/ 0 h 599"/>
                <a:gd name="T4" fmla="*/ 580 w 586"/>
                <a:gd name="T5" fmla="*/ 132 h 599"/>
                <a:gd name="T6" fmla="*/ 360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360 w 586"/>
                <a:gd name="T17" fmla="*/ 282 h 599"/>
                <a:gd name="T18" fmla="*/ 592 w 586"/>
                <a:gd name="T19" fmla="*/ 138 h 599"/>
                <a:gd name="T20" fmla="*/ 821 w 586"/>
                <a:gd name="T21" fmla="*/ 0 h 599"/>
                <a:gd name="T22" fmla="*/ 821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27">
              <a:extLst>
                <a:ext uri="{FF2B5EF4-FFF2-40B4-BE49-F238E27FC236}">
                  <a16:creationId xmlns:a16="http://schemas.microsoft.com/office/drawing/2014/main" id="{AAA1B1EE-6EAF-41BC-C66C-1B512DB1837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372 w 269"/>
                <a:gd name="T1" fmla="*/ 0 h 252"/>
                <a:gd name="T2" fmla="*/ 354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372 w 269"/>
                <a:gd name="T15" fmla="*/ 0 h 252"/>
                <a:gd name="T16" fmla="*/ 372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28">
              <a:extLst>
                <a:ext uri="{FF2B5EF4-FFF2-40B4-BE49-F238E27FC236}">
                  <a16:creationId xmlns:a16="http://schemas.microsoft.com/office/drawing/2014/main" id="{E7432A10-9DB2-517F-5D3B-55BB3601BBB7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29">
              <a:extLst>
                <a:ext uri="{FF2B5EF4-FFF2-40B4-BE49-F238E27FC236}">
                  <a16:creationId xmlns:a16="http://schemas.microsoft.com/office/drawing/2014/main" id="{2744FEFE-8D34-4FD6-26E7-925B4420FE72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30">
              <a:extLst>
                <a:ext uri="{FF2B5EF4-FFF2-40B4-BE49-F238E27FC236}">
                  <a16:creationId xmlns:a16="http://schemas.microsoft.com/office/drawing/2014/main" id="{B12F3D3C-078D-5571-B2CC-E27F6507E996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7" name="Group 31">
              <a:extLst>
                <a:ext uri="{FF2B5EF4-FFF2-40B4-BE49-F238E27FC236}">
                  <a16:creationId xmlns:a16="http://schemas.microsoft.com/office/drawing/2014/main" id="{960085DE-6187-DACE-936B-14FBCCDA0C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>
                <a:extLst>
                  <a:ext uri="{FF2B5EF4-FFF2-40B4-BE49-F238E27FC236}">
                    <a16:creationId xmlns:a16="http://schemas.microsoft.com/office/drawing/2014/main" id="{2EC094ED-617F-C0D9-23CB-E7C715D301B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Line 33">
                <a:extLst>
                  <a:ext uri="{FF2B5EF4-FFF2-40B4-BE49-F238E27FC236}">
                    <a16:creationId xmlns:a16="http://schemas.microsoft.com/office/drawing/2014/main" id="{2AA64EE5-7BF7-F0DE-5B45-7F6FFBDA89B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34">
                <a:extLst>
                  <a:ext uri="{FF2B5EF4-FFF2-40B4-BE49-F238E27FC236}">
                    <a16:creationId xmlns:a16="http://schemas.microsoft.com/office/drawing/2014/main" id="{BCACA137-3708-1D81-36FD-1D68557F0B8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5">
                <a:extLst>
                  <a:ext uri="{FF2B5EF4-FFF2-40B4-BE49-F238E27FC236}">
                    <a16:creationId xmlns:a16="http://schemas.microsoft.com/office/drawing/2014/main" id="{79847C54-1F2B-F69A-E655-E03C713580F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6">
                <a:extLst>
                  <a:ext uri="{FF2B5EF4-FFF2-40B4-BE49-F238E27FC236}">
                    <a16:creationId xmlns:a16="http://schemas.microsoft.com/office/drawing/2014/main" id="{F70A7F81-1D70-8B2B-CDA9-1CE82E4EB8B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8" name="Line 37">
              <a:extLst>
                <a:ext uri="{FF2B5EF4-FFF2-40B4-BE49-F238E27FC236}">
                  <a16:creationId xmlns:a16="http://schemas.microsoft.com/office/drawing/2014/main" id="{97EB54AE-53CC-1171-A414-E7589D0EFC26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38">
              <a:extLst>
                <a:ext uri="{FF2B5EF4-FFF2-40B4-BE49-F238E27FC236}">
                  <a16:creationId xmlns:a16="http://schemas.microsoft.com/office/drawing/2014/main" id="{8D1FFC42-B33C-A768-E2D7-58931AB2DBAC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99399" name="Rectangle 39">
            <a:extLst>
              <a:ext uri="{FF2B5EF4-FFF2-40B4-BE49-F238E27FC236}">
                <a16:creationId xmlns:a16="http://schemas.microsoft.com/office/drawing/2014/main" id="{D5DE3627-7023-C499-7A73-975DC55054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99400" name="Rectangle 40">
            <a:extLst>
              <a:ext uri="{FF2B5EF4-FFF2-40B4-BE49-F238E27FC236}">
                <a16:creationId xmlns:a16="http://schemas.microsoft.com/office/drawing/2014/main" id="{49482CF0-D3BE-D01C-B26C-6F7308E7D68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01" name="Rectangle 41">
            <a:extLst>
              <a:ext uri="{FF2B5EF4-FFF2-40B4-BE49-F238E27FC236}">
                <a16:creationId xmlns:a16="http://schemas.microsoft.com/office/drawing/2014/main" id="{9ECCBB70-0607-F4B4-EC68-2A3FD089000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02" name="Rectangle 42">
            <a:extLst>
              <a:ext uri="{FF2B5EF4-FFF2-40B4-BE49-F238E27FC236}">
                <a16:creationId xmlns:a16="http://schemas.microsoft.com/office/drawing/2014/main" id="{46D7627E-4D25-9F02-9848-60952A483A4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EABCDE64-1C76-4E12-9314-B56D656AE4FD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399403" name="Rectangle 43">
            <a:extLst>
              <a:ext uri="{FF2B5EF4-FFF2-40B4-BE49-F238E27FC236}">
                <a16:creationId xmlns:a16="http://schemas.microsoft.com/office/drawing/2014/main" id="{14E761F1-9FC8-F0B9-D40A-1B2A57CEA8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5214" r:id="rId1"/>
    <p:sldLayoutId id="2147485202" r:id="rId2"/>
    <p:sldLayoutId id="2147485203" r:id="rId3"/>
    <p:sldLayoutId id="2147485204" r:id="rId4"/>
    <p:sldLayoutId id="2147485205" r:id="rId5"/>
    <p:sldLayoutId id="2147485206" r:id="rId6"/>
    <p:sldLayoutId id="2147485207" r:id="rId7"/>
    <p:sldLayoutId id="2147485208" r:id="rId8"/>
    <p:sldLayoutId id="2147485209" r:id="rId9"/>
    <p:sldLayoutId id="2147485210" r:id="rId10"/>
    <p:sldLayoutId id="2147485211" r:id="rId11"/>
    <p:sldLayoutId id="2147485212" r:id="rId12"/>
    <p:sldLayoutId id="2147485213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>
            <a:extLst>
              <a:ext uri="{FF2B5EF4-FFF2-40B4-BE49-F238E27FC236}">
                <a16:creationId xmlns:a16="http://schemas.microsoft.com/office/drawing/2014/main" id="{2120167D-C849-C51B-9655-CD2FD10E253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聚合</a:t>
            </a:r>
            <a:r>
              <a:rPr lang="en-US" altLang="zh-CN"/>
              <a:t>/</a:t>
            </a:r>
            <a:r>
              <a:rPr lang="zh-CN" altLang="en-US"/>
              <a:t>组合</a:t>
            </a:r>
          </a:p>
        </p:txBody>
      </p:sp>
      <p:sp>
        <p:nvSpPr>
          <p:cNvPr id="402435" name="Rectangle 3">
            <a:extLst>
              <a:ext uri="{FF2B5EF4-FFF2-40B4-BE49-F238E27FC236}">
                <a16:creationId xmlns:a16="http://schemas.microsoft.com/office/drawing/2014/main" id="{8DF48981-EED4-6B5E-A3B8-0B528C68794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714" name="Rectangle 2">
            <a:extLst>
              <a:ext uri="{FF2B5EF4-FFF2-40B4-BE49-F238E27FC236}">
                <a16:creationId xmlns:a16="http://schemas.microsoft.com/office/drawing/2014/main" id="{60046D41-A237-4FA2-3F79-89F7AA3068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413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继承不是类代码复用的唯一方式</a:t>
            </a:r>
          </a:p>
        </p:txBody>
      </p:sp>
      <p:sp>
        <p:nvSpPr>
          <p:cNvPr id="627715" name="Rectangle 3">
            <a:extLst>
              <a:ext uri="{FF2B5EF4-FFF2-40B4-BE49-F238E27FC236}">
                <a16:creationId xmlns:a16="http://schemas.microsoft.com/office/drawing/2014/main" id="{8E76BDF7-B3A3-06F8-BB6A-16B344CD84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00213"/>
            <a:ext cx="8291513" cy="4681537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/>
              <a:t>在面向对象程序设计中，有些代码复用不宜用继承来实现：</a:t>
            </a:r>
            <a:endParaRPr lang="en-US" altLang="zh-CN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/>
              <a:t>继承体现了类之间在概念上的</a:t>
            </a:r>
            <a:r>
              <a:rPr lang="zh-CN" altLang="en-US" dirty="0">
                <a:solidFill>
                  <a:srgbClr val="FFC000"/>
                </a:solidFill>
              </a:rPr>
              <a:t>一般与特殊关系</a:t>
            </a:r>
            <a:r>
              <a:rPr lang="zh-CN" altLang="en-US" dirty="0"/>
              <a:t>（</a:t>
            </a:r>
            <a:r>
              <a:rPr lang="en-US" altLang="zh-CN" dirty="0"/>
              <a:t>is-a-kind-of</a:t>
            </a:r>
            <a:r>
              <a:rPr lang="zh-CN" altLang="en-US" dirty="0"/>
              <a:t>）。如果两个类之间没有这个关系，纯粹是为了代码复用而用继承把它们关联起来，这样会造成概念上的混乱。</a:t>
            </a:r>
            <a:endParaRPr lang="en-US" altLang="zh-CN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/>
              <a:t>例如：“飞机”类复用“发动机”类的功能就不宜用继承来实现。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F3599-BA06-1249-9DE5-954FA9DF0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类之间的整体与部分关系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ABACEE-F097-3FA0-F093-F896F508E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989388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3000"/>
              <a:t>类之间除了继承关系外，还存在一种</a:t>
            </a:r>
            <a:r>
              <a:rPr lang="zh-CN" altLang="en-US" sz="3000">
                <a:solidFill>
                  <a:srgbClr val="FFC000"/>
                </a:solidFill>
              </a:rPr>
              <a:t>整体与部分</a:t>
            </a:r>
            <a:r>
              <a:rPr lang="zh-CN" altLang="en-US" sz="3000"/>
              <a:t>的关系（</a:t>
            </a:r>
            <a:r>
              <a:rPr lang="en-US" altLang="zh-CN" sz="3000"/>
              <a:t>is-a-part-of</a:t>
            </a:r>
            <a:r>
              <a:rPr lang="zh-CN" altLang="en-US" sz="3000"/>
              <a:t>），即一个类的对象包含了另一个类的对象。例如，“飞机”类与“发动机”类之间就是整体与部分的关系。</a:t>
            </a:r>
            <a:endParaRPr lang="en-US" altLang="zh-CN" sz="300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3000"/>
              <a:t>类之间的整体与部分的关系可以是</a:t>
            </a:r>
            <a:endParaRPr lang="en-US" altLang="zh-CN" sz="300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600"/>
              <a:t>聚合（</a:t>
            </a:r>
            <a:r>
              <a:rPr lang="en-US" altLang="zh-CN" sz="2600"/>
              <a:t>aggregation</a:t>
            </a:r>
            <a:r>
              <a:rPr lang="zh-CN" altLang="en-US" sz="2600"/>
              <a:t>）关系</a:t>
            </a:r>
            <a:endParaRPr lang="en-US" altLang="zh-CN" sz="260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600"/>
              <a:t>组合（</a:t>
            </a:r>
            <a:r>
              <a:rPr lang="en-US" altLang="zh-CN" sz="2600"/>
              <a:t>composition</a:t>
            </a:r>
            <a:r>
              <a:rPr lang="zh-CN" altLang="en-US" sz="2600"/>
              <a:t>）关系</a:t>
            </a:r>
            <a:endParaRPr lang="en-US" altLang="zh-CN"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734BB1-00BF-EFA3-1BB5-526D204F8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聚合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9B2C8F-4615-A877-EE39-42E166626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916363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3000" dirty="0"/>
              <a:t>在聚合关系中，被包含的对象与包含它的对象</a:t>
            </a:r>
            <a:r>
              <a:rPr lang="zh-CN" altLang="en-US" sz="3000" dirty="0">
                <a:solidFill>
                  <a:srgbClr val="FFC000"/>
                </a:solidFill>
              </a:rPr>
              <a:t>独立</a:t>
            </a:r>
            <a:r>
              <a:rPr lang="zh-CN" altLang="en-US" sz="3000" dirty="0"/>
              <a:t>创建和消亡，被包含的对象可以脱离包含它的对象独立存在。例如，</a:t>
            </a:r>
            <a:endParaRPr lang="en-US" altLang="zh-CN" sz="3000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600" dirty="0"/>
              <a:t>一个公司与它的员工之间是聚合关系。</a:t>
            </a:r>
            <a:endParaRPr lang="en-US" altLang="zh-CN" sz="2600" dirty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3000" dirty="0"/>
              <a:t>聚合类的成员对象一般是采用</a:t>
            </a:r>
            <a:r>
              <a:rPr lang="zh-CN" altLang="en-US" sz="3000" dirty="0">
                <a:solidFill>
                  <a:srgbClr val="FFC000"/>
                </a:solidFill>
              </a:rPr>
              <a:t>对象指针</a:t>
            </a:r>
            <a:r>
              <a:rPr lang="zh-CN" altLang="en-US" sz="3000" dirty="0"/>
              <a:t>表示，用于指向被包含的成员对象，被包含的</a:t>
            </a:r>
            <a:r>
              <a:rPr lang="zh-CN" altLang="en-US" sz="3000" dirty="0">
                <a:solidFill>
                  <a:srgbClr val="FFC000"/>
                </a:solidFill>
              </a:rPr>
              <a:t>成员对象在外部创建</a:t>
            </a:r>
            <a:r>
              <a:rPr lang="zh-CN" altLang="en-US" sz="3000" dirty="0"/>
              <a:t>，然后加入进来的。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B26204-A150-1DF9-1DAF-B038570F5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88913"/>
            <a:ext cx="8686800" cy="6381750"/>
          </a:xfrm>
        </p:spPr>
        <p:txBody>
          <a:bodyPr>
            <a:normAutofit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000"/>
              <a:t>class A { ...... };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000"/>
              <a:t>class B //</a:t>
            </a:r>
            <a:r>
              <a:rPr lang="en-US" altLang="zh-CN" sz="2000">
                <a:solidFill>
                  <a:srgbClr val="FFC000"/>
                </a:solidFill>
              </a:rPr>
              <a:t>B</a:t>
            </a:r>
            <a:r>
              <a:rPr lang="zh-CN" altLang="en-US" sz="2000">
                <a:solidFill>
                  <a:srgbClr val="FFC000"/>
                </a:solidFill>
              </a:rPr>
              <a:t>与</a:t>
            </a:r>
            <a:r>
              <a:rPr lang="en-US" altLang="zh-CN" sz="2000">
                <a:solidFill>
                  <a:srgbClr val="FFC000"/>
                </a:solidFill>
              </a:rPr>
              <a:t>A</a:t>
            </a:r>
            <a:r>
              <a:rPr lang="zh-CN" altLang="en-US" sz="2000">
                <a:solidFill>
                  <a:srgbClr val="FFC000"/>
                </a:solidFill>
              </a:rPr>
              <a:t>是聚合关系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000"/>
              <a:t>{ A</a:t>
            </a:r>
            <a:r>
              <a:rPr lang="en-US" altLang="zh-CN" sz="2000">
                <a:solidFill>
                  <a:srgbClr val="FFC000"/>
                </a:solidFill>
              </a:rPr>
              <a:t> *pm</a:t>
            </a:r>
            <a:r>
              <a:rPr lang="en-US" altLang="zh-CN" sz="2000"/>
              <a:t>; //</a:t>
            </a:r>
            <a:r>
              <a:rPr lang="zh-CN" altLang="en-US" sz="2000"/>
              <a:t>指向成员对象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000"/>
              <a:t>public: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000"/>
              <a:t>   B(A </a:t>
            </a:r>
            <a:r>
              <a:rPr lang="en-US" altLang="zh-CN" sz="2000">
                <a:solidFill>
                  <a:srgbClr val="FFC000"/>
                </a:solidFill>
              </a:rPr>
              <a:t>*p</a:t>
            </a:r>
            <a:r>
              <a:rPr lang="en-US" altLang="zh-CN" sz="2000"/>
              <a:t>) { </a:t>
            </a:r>
            <a:r>
              <a:rPr lang="en-US" altLang="zh-CN" sz="2000">
                <a:solidFill>
                  <a:srgbClr val="FFC000"/>
                </a:solidFill>
              </a:rPr>
              <a:t>pm</a:t>
            </a:r>
            <a:r>
              <a:rPr lang="en-US" altLang="zh-CN" sz="2000"/>
              <a:t> = </a:t>
            </a:r>
            <a:r>
              <a:rPr lang="en-US" altLang="zh-CN" sz="2000">
                <a:solidFill>
                  <a:srgbClr val="FFC000"/>
                </a:solidFill>
              </a:rPr>
              <a:t>p</a:t>
            </a:r>
            <a:r>
              <a:rPr lang="en-US" altLang="zh-CN" sz="2000"/>
              <a:t>; } //</a:t>
            </a:r>
            <a:r>
              <a:rPr lang="zh-CN" altLang="en-US" sz="2000"/>
              <a:t>成员对象在聚合类对象外部创建，然后传入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000"/>
              <a:t>   </a:t>
            </a:r>
            <a:r>
              <a:rPr lang="en-US" altLang="zh-CN" sz="2000"/>
              <a:t>~B() { </a:t>
            </a:r>
            <a:r>
              <a:rPr lang="en-US" altLang="zh-CN" sz="2000">
                <a:solidFill>
                  <a:srgbClr val="FFC000"/>
                </a:solidFill>
              </a:rPr>
              <a:t>pm</a:t>
            </a:r>
            <a:r>
              <a:rPr lang="en-US" altLang="zh-CN" sz="2000"/>
              <a:t> = NULL; } //</a:t>
            </a:r>
            <a:r>
              <a:rPr lang="zh-CN" altLang="en-US" sz="2000"/>
              <a:t>传进来的成员对象不再是聚合类对象的成员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000"/>
              <a:t>   </a:t>
            </a:r>
            <a:r>
              <a:rPr lang="en-US" altLang="zh-CN" sz="2000"/>
              <a:t>......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000"/>
              <a:t>};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000"/>
              <a:t>......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000"/>
              <a:t>A *pa=new A; //</a:t>
            </a:r>
            <a:r>
              <a:rPr lang="zh-CN" altLang="en-US" sz="2000"/>
              <a:t>创建一个</a:t>
            </a:r>
            <a:r>
              <a:rPr lang="en-US" altLang="zh-CN" sz="2000"/>
              <a:t>A</a:t>
            </a:r>
            <a:r>
              <a:rPr lang="zh-CN" altLang="en-US" sz="2000"/>
              <a:t>类对象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000"/>
              <a:t>B *pb=new B(</a:t>
            </a:r>
            <a:r>
              <a:rPr lang="en-US" altLang="zh-CN" sz="2000">
                <a:solidFill>
                  <a:srgbClr val="FFC000"/>
                </a:solidFill>
              </a:rPr>
              <a:t>pa</a:t>
            </a:r>
            <a:r>
              <a:rPr lang="en-US" altLang="zh-CN" sz="2000"/>
              <a:t>); //</a:t>
            </a:r>
            <a:r>
              <a:rPr lang="zh-CN" altLang="en-US" sz="2000"/>
              <a:t>创建一个聚合类对象，其成员对象是</a:t>
            </a:r>
            <a:r>
              <a:rPr lang="en-US" altLang="zh-CN" sz="2000"/>
              <a:t>pa</a:t>
            </a:r>
            <a:r>
              <a:rPr lang="zh-CN" altLang="en-US" sz="2000"/>
              <a:t>指向的对象</a:t>
            </a:r>
            <a:endParaRPr lang="en-US" altLang="zh-CN" sz="200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000"/>
              <a:t>......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000"/>
              <a:t>delete pb; //</a:t>
            </a:r>
            <a:r>
              <a:rPr lang="zh-CN" altLang="en-US" sz="2000"/>
              <a:t>聚合类对象消亡了，其成员对象并没有消亡</a:t>
            </a:r>
            <a:endParaRPr lang="en-US" altLang="zh-CN" sz="200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000"/>
              <a:t>...... // pa</a:t>
            </a:r>
            <a:r>
              <a:rPr lang="zh-CN" altLang="en-US" sz="2000"/>
              <a:t>指向的对象还可以用在其它地方</a:t>
            </a:r>
            <a:endParaRPr lang="en-US" altLang="zh-CN" sz="200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000"/>
              <a:t>delete pa; //</a:t>
            </a:r>
            <a:r>
              <a:rPr lang="zh-CN" altLang="en-US" sz="2000"/>
              <a:t>聚合类对象原来的成员对象消亡</a:t>
            </a:r>
            <a:endParaRPr lang="en-US" altLang="zh-CN" sz="200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zh-CN" altLang="en-US" sz="200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zh-CN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8BD1A9-2503-BD70-BC31-2926588B8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例：公司由一批员工组成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816E34-2019-E84C-6C43-9E7822572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class Employee //</a:t>
            </a:r>
            <a:r>
              <a:rPr lang="zh-CN" altLang="en-US" dirty="0"/>
              <a:t>职员类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string name; </a:t>
            </a:r>
            <a:endParaRPr lang="zh-CN" alt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</a:t>
            </a:r>
            <a:r>
              <a:rPr lang="en-US" altLang="zh-CN" dirty="0" err="1"/>
              <a:t>int</a:t>
            </a:r>
            <a:r>
              <a:rPr lang="en-US" altLang="zh-CN" dirty="0"/>
              <a:t> salary;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public: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Employee(</a:t>
            </a:r>
            <a:r>
              <a:rPr lang="en-US" altLang="zh-CN" dirty="0" err="1"/>
              <a:t>const</a:t>
            </a:r>
            <a:r>
              <a:rPr lang="en-US" altLang="zh-CN" dirty="0"/>
              <a:t> char *s, </a:t>
            </a:r>
            <a:r>
              <a:rPr lang="en-US" altLang="zh-CN" dirty="0" err="1"/>
              <a:t>int</a:t>
            </a:r>
            <a:r>
              <a:rPr lang="en-US" altLang="zh-CN" dirty="0"/>
              <a:t> n=0):name(s)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{	salary = n; }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void </a:t>
            </a:r>
            <a:r>
              <a:rPr lang="en-US" altLang="zh-CN" dirty="0" err="1"/>
              <a:t>set_salary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n) { salary = n; }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get_salary</a:t>
            </a:r>
            <a:r>
              <a:rPr lang="en-US" altLang="zh-CN" dirty="0"/>
              <a:t>() </a:t>
            </a:r>
            <a:r>
              <a:rPr lang="en-US" altLang="zh-CN" dirty="0" err="1"/>
              <a:t>const</a:t>
            </a:r>
            <a:r>
              <a:rPr lang="en-US" altLang="zh-CN" dirty="0"/>
              <a:t> { return salary; }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......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9886E2-1433-D2AD-7E56-D96328C3B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350"/>
            <a:ext cx="8229600" cy="6408738"/>
          </a:xfrm>
        </p:spPr>
        <p:txBody>
          <a:bodyPr>
            <a:normAutofit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200"/>
              <a:t>const int MAX_NUM_OF_EMPS=1000;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200"/>
              <a:t>class Company //</a:t>
            </a:r>
            <a:r>
              <a:rPr lang="zh-CN" altLang="en-US" sz="2200"/>
              <a:t>公司类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200"/>
              <a:t>{ String name;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200"/>
              <a:t>   Employee *group[MAX_NUM_OF_EMPS]; //</a:t>
            </a:r>
            <a:r>
              <a:rPr lang="zh-CN" altLang="en-US" sz="2200"/>
              <a:t>职员数组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200"/>
              <a:t>   </a:t>
            </a:r>
            <a:r>
              <a:rPr lang="en-US" altLang="zh-CN" sz="2200"/>
              <a:t>int num_of_emps; //</a:t>
            </a:r>
            <a:r>
              <a:rPr lang="zh-CN" altLang="en-US" sz="2200"/>
              <a:t>职员人数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200"/>
              <a:t> </a:t>
            </a:r>
            <a:r>
              <a:rPr lang="en-US" altLang="zh-CN" sz="2200"/>
              <a:t>public: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200"/>
              <a:t>   Company(const char *s):name(s)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200"/>
              <a:t>   { num_of_emps = 0; }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200"/>
              <a:t>   ~Company() { num_of_emps = 0; }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200"/>
              <a:t>   bool add_employee(Employee *e);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200"/>
              <a:t>   bool remove_employee(Employee *e);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200"/>
              <a:t>   int get_num_of_emps() { return num_of_emps; }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200"/>
              <a:t>   ......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200"/>
              <a:t>};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55D7CC-3F08-FB15-8322-ADCE590CE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8913"/>
            <a:ext cx="8229600" cy="6480175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500"/>
              <a:t>//</a:t>
            </a:r>
            <a:r>
              <a:rPr lang="zh-CN" altLang="en-US" sz="2500"/>
              <a:t>创建两个公司类对象</a:t>
            </a:r>
            <a:endParaRPr lang="en-US" altLang="zh-CN" sz="250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500"/>
              <a:t>Company c1("Company_1"),c2("Company_2");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500"/>
              <a:t>//</a:t>
            </a:r>
            <a:r>
              <a:rPr lang="zh-CN" altLang="en-US" sz="2500"/>
              <a:t>创建两个职员对象</a:t>
            </a:r>
            <a:endParaRPr lang="en-US" altLang="zh-CN" sz="250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500"/>
              <a:t>Employee e1("Jack",1000),e2("Jane",2000);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zh-CN" sz="250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500"/>
              <a:t>//</a:t>
            </a:r>
            <a:r>
              <a:rPr lang="zh-CN" altLang="en-US" sz="2500"/>
              <a:t>职员</a:t>
            </a:r>
            <a:r>
              <a:rPr lang="en-US" altLang="zh-CN" sz="2500"/>
              <a:t>Jack</a:t>
            </a:r>
            <a:r>
              <a:rPr lang="zh-CN" altLang="en-US" sz="2500"/>
              <a:t>加入公司</a:t>
            </a:r>
            <a:r>
              <a:rPr lang="en-US" altLang="zh-CN" sz="2500"/>
              <a:t>Company_1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500"/>
              <a:t>c1.add_employee(&amp;e1); 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500"/>
              <a:t>//</a:t>
            </a:r>
            <a:r>
              <a:rPr lang="zh-CN" altLang="en-US" sz="2500"/>
              <a:t>职员</a:t>
            </a:r>
            <a:r>
              <a:rPr lang="en-US" altLang="zh-CN" sz="2500"/>
              <a:t>Jane</a:t>
            </a:r>
            <a:r>
              <a:rPr lang="zh-CN" altLang="en-US" sz="2500"/>
              <a:t>加入公司</a:t>
            </a:r>
            <a:r>
              <a:rPr lang="en-US" altLang="zh-CN" sz="2500"/>
              <a:t>Company_1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500"/>
              <a:t>c1.add_employee(&amp;e2); 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zh-CN" sz="250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500"/>
              <a:t>//</a:t>
            </a:r>
            <a:r>
              <a:rPr lang="zh-CN" altLang="en-US" sz="2500"/>
              <a:t>职员</a:t>
            </a:r>
            <a:r>
              <a:rPr lang="en-US" altLang="zh-CN" sz="2500"/>
              <a:t>Jack</a:t>
            </a:r>
            <a:r>
              <a:rPr lang="zh-CN" altLang="en-US" sz="2500"/>
              <a:t>从公司</a:t>
            </a:r>
            <a:r>
              <a:rPr lang="en-US" altLang="zh-CN" sz="2500"/>
              <a:t>Company_1</a:t>
            </a:r>
            <a:r>
              <a:rPr lang="zh-CN" altLang="en-US" sz="2500"/>
              <a:t>离职</a:t>
            </a:r>
            <a:endParaRPr lang="en-US" altLang="zh-CN" sz="250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500"/>
              <a:t>c1.remove_employee(&amp;e1);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zh-CN" sz="250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500"/>
              <a:t>//</a:t>
            </a:r>
            <a:r>
              <a:rPr lang="zh-CN" altLang="en-US" sz="2500"/>
              <a:t>职员</a:t>
            </a:r>
            <a:r>
              <a:rPr lang="en-US" altLang="zh-CN" sz="2500"/>
              <a:t>Jack</a:t>
            </a:r>
            <a:r>
              <a:rPr lang="zh-CN" altLang="en-US" sz="2500"/>
              <a:t>加入公司</a:t>
            </a:r>
            <a:r>
              <a:rPr lang="en-US" altLang="zh-CN" sz="2500"/>
              <a:t>Company_2</a:t>
            </a:r>
            <a:endParaRPr lang="zh-CN" altLang="en-US" sz="250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500"/>
              <a:t>c2.add_employee(&amp;e1); 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500"/>
              <a:t>......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CB3A65-5EE5-6131-020E-52E5CEDEF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组合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AFE3DB-1A4B-4D44-268F-960C4D1EE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088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/>
              <a:t>在组合关系中，被包含的对象</a:t>
            </a:r>
            <a:r>
              <a:rPr lang="zh-CN" altLang="en-US" dirty="0">
                <a:solidFill>
                  <a:srgbClr val="FFC000"/>
                </a:solidFill>
              </a:rPr>
              <a:t>随</a:t>
            </a:r>
            <a:r>
              <a:rPr lang="zh-CN" altLang="en-US" dirty="0"/>
              <a:t>包含它的对象</a:t>
            </a:r>
            <a:r>
              <a:rPr lang="zh-CN" altLang="en-US" dirty="0">
                <a:solidFill>
                  <a:srgbClr val="FFC000"/>
                </a:solidFill>
              </a:rPr>
              <a:t>创建和消亡</a:t>
            </a:r>
            <a:r>
              <a:rPr lang="zh-CN" altLang="en-US" dirty="0"/>
              <a:t>，被包含的对象不能脱离包含它的对象独立存在。例如，</a:t>
            </a:r>
            <a:endParaRPr lang="en-US" altLang="zh-CN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/>
              <a:t>一个人与他的头、手和脚之间则是组合关系。</a:t>
            </a:r>
            <a:endParaRPr lang="en-US" altLang="zh-CN" dirty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/>
              <a:t>组合类的成员对象一般直接是对象，有时也可以采用对象指针表示，但不管是什么表示形式，</a:t>
            </a:r>
            <a:r>
              <a:rPr lang="zh-CN" altLang="en-US" dirty="0">
                <a:solidFill>
                  <a:srgbClr val="FFC000"/>
                </a:solidFill>
              </a:rPr>
              <a:t>成员对象一定是在组合类对象内部创建并随着组合类对象消亡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738" name="Rectangle 2">
            <a:extLst>
              <a:ext uri="{FF2B5EF4-FFF2-40B4-BE49-F238E27FC236}">
                <a16:creationId xmlns:a16="http://schemas.microsoft.com/office/drawing/2014/main" id="{E7E57B7C-1C5D-8794-3540-6F007C0363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404813"/>
            <a:ext cx="8229600" cy="5726112"/>
          </a:xfrm>
        </p:spPr>
        <p:txBody>
          <a:bodyPr/>
          <a:lstStyle/>
          <a:p>
            <a:pPr marL="457200" indent="-4572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class A</a:t>
            </a:r>
          </a:p>
          <a:p>
            <a:pPr marL="457200" indent="-4572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{ ......</a:t>
            </a:r>
          </a:p>
          <a:p>
            <a:pPr marL="457200" indent="-4572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};</a:t>
            </a:r>
          </a:p>
          <a:p>
            <a:pPr marL="457200" indent="-4572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class C //C</a:t>
            </a:r>
            <a:r>
              <a:rPr lang="zh-CN" altLang="en-US" sz="2400" dirty="0"/>
              <a:t>与</a:t>
            </a:r>
            <a:r>
              <a:rPr lang="en-US" altLang="zh-CN" sz="2400" dirty="0"/>
              <a:t>A</a:t>
            </a:r>
            <a:r>
              <a:rPr lang="zh-CN" altLang="en-US" sz="2400" dirty="0"/>
              <a:t>是组合关系</a:t>
            </a:r>
            <a:endParaRPr lang="en-US" altLang="zh-CN" sz="2400" dirty="0"/>
          </a:p>
          <a:p>
            <a:pPr marL="457200" indent="-4572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{ A </a:t>
            </a:r>
            <a:r>
              <a:rPr lang="en-US" altLang="zh-CN" sz="2400" dirty="0" err="1">
                <a:solidFill>
                  <a:srgbClr val="FFC000"/>
                </a:solidFill>
              </a:rPr>
              <a:t>a</a:t>
            </a:r>
            <a:r>
              <a:rPr lang="en-US" altLang="zh-CN" sz="2400" dirty="0"/>
              <a:t>;</a:t>
            </a:r>
          </a:p>
          <a:p>
            <a:pPr marL="457200" indent="-4572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public:</a:t>
            </a:r>
          </a:p>
          <a:p>
            <a:pPr marL="457200" indent="-4572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 ......</a:t>
            </a:r>
          </a:p>
          <a:p>
            <a:pPr marL="457200" indent="-4572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};</a:t>
            </a:r>
          </a:p>
          <a:p>
            <a:pPr marL="457200" indent="-4572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......</a:t>
            </a: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C *pc=new C; //</a:t>
            </a:r>
            <a:r>
              <a:rPr lang="zh-CN" altLang="en-US" sz="2400" dirty="0"/>
              <a:t>创建一个组合类对象，其成员对象在组合类对象内部创建</a:t>
            </a: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.....</a:t>
            </a: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delete pc; //</a:t>
            </a:r>
            <a:r>
              <a:rPr lang="zh-CN" altLang="en-US" sz="2400" dirty="0"/>
              <a:t>组合类对象与其成员对象都消亡了</a:t>
            </a:r>
            <a:endParaRPr lang="en-US" altLang="zh-CN" sz="2400" dirty="0"/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C </a:t>
            </a:r>
            <a:r>
              <a:rPr lang="en-US" altLang="zh-CN" sz="2400" dirty="0" err="1"/>
              <a:t>c</a:t>
            </a:r>
            <a:r>
              <a:rPr lang="en-US" altLang="zh-CN" sz="2400" dirty="0"/>
              <a:t>;</a:t>
            </a: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…</a:t>
            </a:r>
            <a:endParaRPr lang="zh-CN" altLang="en-US" sz="2400" dirty="0"/>
          </a:p>
          <a:p>
            <a:pPr marL="457200" indent="-4572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zh-CN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76C1B-54E5-8886-593E-AECA08264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350"/>
            <a:ext cx="8229600" cy="6408738"/>
          </a:xfrm>
        </p:spPr>
        <p:txBody>
          <a:bodyPr>
            <a:normAutofit lnSpcReduction="10000"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class A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{ ......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};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class C //</a:t>
            </a:r>
            <a:r>
              <a:rPr lang="en-US" altLang="zh-CN" sz="2200" dirty="0">
                <a:solidFill>
                  <a:srgbClr val="FFC000"/>
                </a:solidFill>
              </a:rPr>
              <a:t>C</a:t>
            </a:r>
            <a:r>
              <a:rPr lang="zh-CN" altLang="en-US" sz="2200" dirty="0">
                <a:solidFill>
                  <a:srgbClr val="FFC000"/>
                </a:solidFill>
              </a:rPr>
              <a:t>与</a:t>
            </a:r>
            <a:r>
              <a:rPr lang="en-US" altLang="zh-CN" sz="2200" dirty="0">
                <a:solidFill>
                  <a:srgbClr val="FFC000"/>
                </a:solidFill>
              </a:rPr>
              <a:t>A</a:t>
            </a:r>
            <a:r>
              <a:rPr lang="zh-CN" altLang="en-US" sz="2200" dirty="0">
                <a:solidFill>
                  <a:srgbClr val="FFC000"/>
                </a:solidFill>
              </a:rPr>
              <a:t>是组合关系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{ A</a:t>
            </a:r>
            <a:r>
              <a:rPr lang="en-US" altLang="zh-CN" sz="2200" dirty="0">
                <a:solidFill>
                  <a:srgbClr val="FFC000"/>
                </a:solidFill>
              </a:rPr>
              <a:t> </a:t>
            </a:r>
            <a:r>
              <a:rPr lang="zh-CN" altLang="en-US" sz="2200" dirty="0">
                <a:solidFill>
                  <a:srgbClr val="FFC000"/>
                </a:solidFill>
              </a:rPr>
              <a:t>*</a:t>
            </a:r>
            <a:r>
              <a:rPr lang="en-US" altLang="zh-CN" sz="2200" dirty="0">
                <a:solidFill>
                  <a:srgbClr val="FFC000"/>
                </a:solidFill>
              </a:rPr>
              <a:t>pm</a:t>
            </a:r>
            <a:r>
              <a:rPr lang="en-US" altLang="zh-CN" sz="2200" dirty="0"/>
              <a:t>; //</a:t>
            </a:r>
            <a:r>
              <a:rPr lang="zh-CN" altLang="en-US" sz="2200" dirty="0"/>
              <a:t>指向成员对象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public: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  C() { </a:t>
            </a:r>
            <a:r>
              <a:rPr lang="en-US" altLang="zh-CN" sz="2200" dirty="0">
                <a:solidFill>
                  <a:srgbClr val="FFC000"/>
                </a:solidFill>
              </a:rPr>
              <a:t>pm</a:t>
            </a:r>
            <a:r>
              <a:rPr lang="en-US" altLang="zh-CN" sz="2200" dirty="0"/>
              <a:t> = </a:t>
            </a:r>
            <a:r>
              <a:rPr lang="en-US" altLang="zh-CN" sz="2200" dirty="0">
                <a:solidFill>
                  <a:srgbClr val="FFC000"/>
                </a:solidFill>
              </a:rPr>
              <a:t>new A</a:t>
            </a:r>
            <a:r>
              <a:rPr lang="en-US" altLang="zh-CN" sz="2200" dirty="0"/>
              <a:t>; } //</a:t>
            </a:r>
            <a:r>
              <a:rPr lang="zh-CN" altLang="en-US" sz="2200" dirty="0"/>
              <a:t>成员对象随组合类对象在内部创建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200" dirty="0"/>
              <a:t>  </a:t>
            </a:r>
            <a:r>
              <a:rPr lang="en-US" altLang="zh-CN" sz="2200" dirty="0"/>
              <a:t>~C() { </a:t>
            </a:r>
            <a:r>
              <a:rPr lang="en-US" altLang="zh-CN" sz="2200" dirty="0">
                <a:solidFill>
                  <a:srgbClr val="FFC000"/>
                </a:solidFill>
              </a:rPr>
              <a:t>delete pm</a:t>
            </a:r>
            <a:r>
              <a:rPr lang="en-US" altLang="zh-CN" sz="2200" dirty="0"/>
              <a:t>; } //</a:t>
            </a:r>
            <a:r>
              <a:rPr lang="zh-CN" altLang="en-US" sz="2200" dirty="0"/>
              <a:t>成员对象随组合类对象消亡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200" dirty="0"/>
              <a:t>  </a:t>
            </a:r>
            <a:r>
              <a:rPr lang="en-US" altLang="zh-CN" sz="2200" dirty="0"/>
              <a:t>......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};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......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C *pc=new C; //</a:t>
            </a:r>
            <a:r>
              <a:rPr lang="zh-CN" altLang="en-US" sz="2200" dirty="0"/>
              <a:t>创建一个组合类对象，其成员对象在组合类对象内部创建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.....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delete pc; //</a:t>
            </a:r>
            <a:r>
              <a:rPr lang="zh-CN" altLang="en-US" sz="2200" dirty="0"/>
              <a:t>组合类对象与其成员对象都消亡了</a:t>
            </a:r>
            <a:endParaRPr lang="en-US" altLang="zh-CN" sz="22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C </a:t>
            </a:r>
            <a:r>
              <a:rPr lang="en-US" altLang="zh-CN" sz="2200" dirty="0" err="1"/>
              <a:t>c</a:t>
            </a:r>
            <a:r>
              <a:rPr lang="en-US" altLang="zh-CN" sz="2200" dirty="0"/>
              <a:t>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.....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762" name="Rectangle 2">
            <a:extLst>
              <a:ext uri="{FF2B5EF4-FFF2-40B4-BE49-F238E27FC236}">
                <a16:creationId xmlns:a16="http://schemas.microsoft.com/office/drawing/2014/main" id="{83044619-A83B-09EF-4337-E3ADE8C43B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114425"/>
            <a:ext cx="8001000" cy="5410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>
                <a:solidFill>
                  <a:schemeClr val="folHlink"/>
                </a:solidFill>
              </a:rPr>
              <a:t>线性表</a:t>
            </a:r>
            <a:r>
              <a:rPr lang="zh-CN" altLang="en-US"/>
              <a:t>由若干元素构成，元素之间有</a:t>
            </a:r>
            <a:r>
              <a:rPr lang="zh-CN" altLang="en-US">
                <a:solidFill>
                  <a:schemeClr val="folHlink"/>
                </a:solidFill>
              </a:rPr>
              <a:t>线性</a:t>
            </a:r>
            <a:r>
              <a:rPr lang="zh-CN" altLang="en-US"/>
              <a:t>的次序关系。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>
                <a:ea typeface="隶书" panose="02010509060101010101" pitchFamily="49" charset="-122"/>
              </a:rPr>
              <a:t>class LinearList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>
                <a:ea typeface="隶书" panose="02010509060101010101" pitchFamily="49" charset="-122"/>
              </a:rPr>
              <a:t>{		......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>
                <a:ea typeface="隶书" panose="02010509060101010101" pitchFamily="49" charset="-122"/>
              </a:rPr>
              <a:t>	public: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>
                <a:ea typeface="隶书" panose="02010509060101010101" pitchFamily="49" charset="-122"/>
              </a:rPr>
              <a:t>		bool insert( int x, int pos ); 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>
                <a:ea typeface="隶书" panose="02010509060101010101" pitchFamily="49" charset="-122"/>
              </a:rPr>
              <a:t>		bool remove( int &amp;x,  int pos ); 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>
                <a:ea typeface="隶书" panose="02010509060101010101" pitchFamily="49" charset="-122"/>
              </a:rPr>
              <a:t>		int element( int pos ) const; 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GB">
                <a:ea typeface="隶书" panose="02010509060101010101" pitchFamily="49" charset="-122"/>
              </a:rPr>
              <a:t>		</a:t>
            </a:r>
            <a:r>
              <a:rPr lang="en-GB" altLang="zh-CN">
                <a:ea typeface="隶书" panose="02010509060101010101" pitchFamily="49" charset="-122"/>
              </a:rPr>
              <a:t>int search( int x ) const; </a:t>
            </a:r>
            <a:endParaRPr lang="en-US" altLang="zh-CN">
              <a:ea typeface="隶书" panose="02010509060101010101" pitchFamily="49" charset="-122"/>
            </a:endParaRP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GB">
                <a:ea typeface="隶书" panose="02010509060101010101" pitchFamily="49" charset="-122"/>
              </a:rPr>
              <a:t>		</a:t>
            </a:r>
            <a:r>
              <a:rPr lang="en-GB" altLang="zh-CN">
                <a:ea typeface="隶书" panose="02010509060101010101" pitchFamily="49" charset="-122"/>
              </a:rPr>
              <a:t>int length( ) const;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>
                <a:ea typeface="隶书" panose="02010509060101010101" pitchFamily="49" charset="-122"/>
              </a:rPr>
              <a:t>};</a:t>
            </a:r>
          </a:p>
        </p:txBody>
      </p:sp>
      <p:sp>
        <p:nvSpPr>
          <p:cNvPr id="629763" name="Rectangle 3">
            <a:extLst>
              <a:ext uri="{FF2B5EF4-FFF2-40B4-BE49-F238E27FC236}">
                <a16:creationId xmlns:a16="http://schemas.microsoft.com/office/drawing/2014/main" id="{342A5908-AFC8-59B9-C673-AFF5D266AD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77813"/>
            <a:ext cx="8686800" cy="70326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GB" sz="3600"/>
              <a:t>例：</a:t>
            </a:r>
            <a:r>
              <a:rPr lang="zh-CN" altLang="en-US" sz="3600"/>
              <a:t>利用一个线性表类实现一个队列类。</a:t>
            </a:r>
            <a:endParaRPr lang="zh-CN" altLang="en-US" sz="4000"/>
          </a:p>
        </p:txBody>
      </p:sp>
      <p:sp>
        <p:nvSpPr>
          <p:cNvPr id="629764" name="AutoShape 4">
            <a:extLst>
              <a:ext uri="{FF2B5EF4-FFF2-40B4-BE49-F238E27FC236}">
                <a16:creationId xmlns:a16="http://schemas.microsoft.com/office/drawing/2014/main" id="{491259E7-3DF1-3819-358E-F1B6741F9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1989138"/>
            <a:ext cx="4319587" cy="4392612"/>
          </a:xfrm>
          <a:prstGeom prst="wedgeRectCallout">
            <a:avLst>
              <a:gd name="adj1" fmla="val 25597"/>
              <a:gd name="adj2" fmla="val -59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</a:pPr>
            <a:r>
              <a:rPr lang="zh-CN" altLang="en-US" sz="2800"/>
              <a:t>除了两个元素外，每个元素都有且仅有一个直接前驱元素和一个直接后继元素；</a:t>
            </a:r>
            <a:endParaRPr lang="en-US" altLang="zh-CN" sz="2800"/>
          </a:p>
          <a:p>
            <a:pPr eaLnBrk="1" hangingPunct="1">
              <a:spcBef>
                <a:spcPct val="0"/>
              </a:spcBef>
              <a:buClrTx/>
              <a:buSzTx/>
            </a:pPr>
            <a:r>
              <a:rPr lang="zh-CN" altLang="en-US" sz="2800"/>
              <a:t>在除外的两个元素中，一个只有一个直接前驱元素，另一个只有一个直接后继元素。</a:t>
            </a:r>
            <a:endParaRPr lang="en-US" altLang="zh-CN" sz="2800"/>
          </a:p>
          <a:p>
            <a:pPr eaLnBrk="1" hangingPunct="1">
              <a:spcBef>
                <a:spcPct val="0"/>
              </a:spcBef>
              <a:buClrTx/>
              <a:buSzTx/>
            </a:pPr>
            <a:r>
              <a:rPr lang="zh-CN" altLang="en-US" sz="2800"/>
              <a:t>可以在任意位置插入、删除元素。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9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9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29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29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297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297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297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297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297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297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297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297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297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297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297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297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297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297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297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297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297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297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9764" grpId="0" animBg="1"/>
      <p:bldP spid="629764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786" name="Rectangle 2">
            <a:extLst>
              <a:ext uri="{FF2B5EF4-FFF2-40B4-BE49-F238E27FC236}">
                <a16:creationId xmlns:a16="http://schemas.microsoft.com/office/drawing/2014/main" id="{F640CA0D-4CE0-8779-584D-F003EB612E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549275"/>
            <a:ext cx="7975600" cy="5975350"/>
          </a:xfrm>
        </p:spPr>
        <p:txBody>
          <a:bodyPr lIns="92075" tIns="46038" rIns="92075" bIns="46038">
            <a:normAutofit/>
          </a:bodyPr>
          <a:lstStyle/>
          <a:p>
            <a:pPr defTabSz="1069975" eaLnBrk="1" hangingPunct="1">
              <a:defRPr/>
            </a:pPr>
            <a:r>
              <a:rPr lang="zh-CN" altLang="en-US" sz="2700">
                <a:solidFill>
                  <a:schemeClr val="folHlink"/>
                </a:solidFill>
                <a:cs typeface="Courier New" panose="02070309020205020404" pitchFamily="49" charset="0"/>
              </a:rPr>
              <a:t>队列</a:t>
            </a:r>
            <a:r>
              <a:rPr lang="zh-CN" altLang="en-US" sz="2700">
                <a:cs typeface="Courier New" panose="02070309020205020404" pitchFamily="49" charset="0"/>
              </a:rPr>
              <a:t>（</a:t>
            </a:r>
            <a:r>
              <a:rPr lang="en-US" altLang="zh-CN" sz="2700">
                <a:cs typeface="Courier New" panose="02070309020205020404" pitchFamily="49" charset="0"/>
              </a:rPr>
              <a:t>Queue</a:t>
            </a:r>
            <a:r>
              <a:rPr lang="zh-CN" altLang="en-US" sz="2700">
                <a:cs typeface="Courier New" panose="02070309020205020404" pitchFamily="49" charset="0"/>
              </a:rPr>
              <a:t>）是一种特殊的线性表，插入操作在一端，删除操作在另一端。又称</a:t>
            </a:r>
            <a:r>
              <a:rPr lang="zh-CN" altLang="en-US" sz="2700">
                <a:solidFill>
                  <a:schemeClr val="folHlink"/>
                </a:solidFill>
                <a:cs typeface="Courier New" panose="02070309020205020404" pitchFamily="49" charset="0"/>
              </a:rPr>
              <a:t>先进先出</a:t>
            </a:r>
            <a:r>
              <a:rPr lang="zh-CN" altLang="en-US" sz="2700">
                <a:cs typeface="Courier New" panose="02070309020205020404" pitchFamily="49" charset="0"/>
              </a:rPr>
              <a:t>表（</a:t>
            </a:r>
            <a:r>
              <a:rPr lang="en-US" altLang="zh-CN" sz="2700">
                <a:cs typeface="Courier New" panose="02070309020205020404" pitchFamily="49" charset="0"/>
              </a:rPr>
              <a:t>First In First Out</a:t>
            </a:r>
            <a:r>
              <a:rPr lang="zh-CN" altLang="en-US" sz="2700">
                <a:cs typeface="Courier New" panose="02070309020205020404" pitchFamily="49" charset="0"/>
              </a:rPr>
              <a:t>，</a:t>
            </a:r>
            <a:r>
              <a:rPr lang="en-US" altLang="zh-CN" sz="2700">
                <a:cs typeface="Courier New" panose="02070309020205020404" pitchFamily="49" charset="0"/>
              </a:rPr>
              <a:t>FIFO</a:t>
            </a:r>
            <a:r>
              <a:rPr lang="zh-CN" altLang="en-US" sz="2700">
                <a:cs typeface="Courier New" panose="02070309020205020404" pitchFamily="49" charset="0"/>
              </a:rPr>
              <a:t>）</a:t>
            </a:r>
          </a:p>
          <a:p>
            <a:pPr defTabSz="1069975" eaLnBrk="1" hangingPunct="1">
              <a:defRPr/>
            </a:pPr>
            <a:r>
              <a:rPr lang="en-US" altLang="zh-CN" sz="2700">
                <a:cs typeface="Courier New" panose="02070309020205020404" pitchFamily="49" charset="0"/>
              </a:rPr>
              <a:t>Queue</a:t>
            </a:r>
            <a:r>
              <a:rPr lang="zh-CN" altLang="en-US" sz="2700">
                <a:cs typeface="Courier New" panose="02070309020205020404" pitchFamily="49" charset="0"/>
              </a:rPr>
              <a:t>的实现</a:t>
            </a:r>
            <a:r>
              <a:rPr lang="en-US" altLang="zh-CN" sz="2700">
                <a:cs typeface="Courier New" panose="02070309020205020404" pitchFamily="49" charset="0"/>
              </a:rPr>
              <a:t>1</a:t>
            </a:r>
            <a:r>
              <a:rPr lang="zh-CN" altLang="en-US" sz="2700">
                <a:cs typeface="Courier New" panose="02070309020205020404" pitchFamily="49" charset="0"/>
              </a:rPr>
              <a:t>（组合）：</a:t>
            </a:r>
          </a:p>
          <a:p>
            <a:pPr lvl="1" defTabSz="1069975" eaLnBrk="1" hangingPunct="1">
              <a:buFontTx/>
              <a:buNone/>
              <a:defRPr/>
            </a:pPr>
            <a:r>
              <a:rPr lang="en-US" altLang="zh-CN" sz="2200"/>
              <a:t>class Queue</a:t>
            </a:r>
          </a:p>
          <a:p>
            <a:pPr lvl="1" defTabSz="1069975" eaLnBrk="1" hangingPunct="1">
              <a:buFontTx/>
              <a:buNone/>
              <a:defRPr/>
            </a:pPr>
            <a:r>
              <a:rPr lang="en-US" altLang="zh-CN" sz="2200"/>
              <a:t>{		</a:t>
            </a:r>
            <a:r>
              <a:rPr lang="en-US" altLang="zh-CN" sz="2200">
                <a:solidFill>
                  <a:srgbClr val="FFC000"/>
                </a:solidFill>
              </a:rPr>
              <a:t>LinearList</a:t>
            </a:r>
            <a:r>
              <a:rPr lang="en-US" altLang="zh-CN" sz="2200"/>
              <a:t> list;</a:t>
            </a:r>
          </a:p>
          <a:p>
            <a:pPr lvl="1" defTabSz="1069975" eaLnBrk="1" hangingPunct="1">
              <a:buFontTx/>
              <a:buNone/>
              <a:defRPr/>
            </a:pPr>
            <a:r>
              <a:rPr lang="en-US" altLang="zh-CN" sz="2200"/>
              <a:t>	public:</a:t>
            </a:r>
          </a:p>
          <a:p>
            <a:pPr lvl="1" defTabSz="1069975" eaLnBrk="1" hangingPunct="1">
              <a:buFontTx/>
              <a:buNone/>
              <a:defRPr/>
            </a:pPr>
            <a:r>
              <a:rPr lang="en-US" altLang="zh-CN" sz="2200"/>
              <a:t>		</a:t>
            </a:r>
            <a:r>
              <a:rPr lang="fr-FR" altLang="zh-CN" sz="2200"/>
              <a:t>bool en_queue(int i) </a:t>
            </a:r>
          </a:p>
          <a:p>
            <a:pPr lvl="1" defTabSz="1069975" eaLnBrk="1" hangingPunct="1">
              <a:buFontTx/>
              <a:buNone/>
              <a:defRPr/>
            </a:pPr>
            <a:r>
              <a:rPr lang="fr-FR" altLang="zh-CN" sz="2200"/>
              <a:t>		</a:t>
            </a:r>
            <a:r>
              <a:rPr lang="en-US" altLang="zh-CN" sz="2200"/>
              <a:t>{ return list.insert(i,list.length());</a:t>
            </a:r>
          </a:p>
          <a:p>
            <a:pPr lvl="1" defTabSz="1069975" eaLnBrk="1" hangingPunct="1">
              <a:buFontTx/>
              <a:buNone/>
              <a:defRPr/>
            </a:pPr>
            <a:r>
              <a:rPr lang="en-US" altLang="zh-CN" sz="2200"/>
              <a:t>		</a:t>
            </a:r>
            <a:r>
              <a:rPr lang="fr-FR" altLang="zh-CN" sz="2200"/>
              <a:t>}</a:t>
            </a:r>
          </a:p>
          <a:p>
            <a:pPr lvl="1" defTabSz="1069975" eaLnBrk="1" hangingPunct="1">
              <a:buFontTx/>
              <a:buNone/>
              <a:defRPr/>
            </a:pPr>
            <a:r>
              <a:rPr lang="fr-FR" altLang="zh-CN" sz="2200"/>
              <a:t>		bool de_queue(int &amp;i) </a:t>
            </a:r>
          </a:p>
          <a:p>
            <a:pPr lvl="1" defTabSz="1069975" eaLnBrk="1" hangingPunct="1">
              <a:buFontTx/>
              <a:buNone/>
              <a:defRPr/>
            </a:pPr>
            <a:r>
              <a:rPr lang="fr-FR" altLang="zh-CN" sz="2200"/>
              <a:t>		</a:t>
            </a:r>
            <a:r>
              <a:rPr lang="en-US" altLang="zh-CN" sz="2200"/>
              <a:t>{ return list.remove(i,1);</a:t>
            </a:r>
          </a:p>
          <a:p>
            <a:pPr lvl="1" defTabSz="1069975" eaLnBrk="1" hangingPunct="1">
              <a:buFontTx/>
              <a:buNone/>
              <a:defRPr/>
            </a:pPr>
            <a:r>
              <a:rPr lang="en-US" altLang="zh-CN" sz="2200"/>
              <a:t>		}</a:t>
            </a:r>
          </a:p>
          <a:p>
            <a:pPr lvl="1" defTabSz="1069975" eaLnBrk="1" hangingPunct="1">
              <a:buFontTx/>
              <a:buNone/>
              <a:defRPr/>
            </a:pPr>
            <a:r>
              <a:rPr lang="en-US" altLang="zh-CN" sz="2200"/>
              <a:t>};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0" name="Rectangle 2">
            <a:extLst>
              <a:ext uri="{FF2B5EF4-FFF2-40B4-BE49-F238E27FC236}">
                <a16:creationId xmlns:a16="http://schemas.microsoft.com/office/drawing/2014/main" id="{22C41CB1-5E03-43E7-4058-E1B58E8D28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476250"/>
            <a:ext cx="8507413" cy="5654675"/>
          </a:xfrm>
        </p:spPr>
        <p:txBody>
          <a:bodyPr/>
          <a:lstStyle/>
          <a:p>
            <a:pPr defTabSz="1069975" eaLnBrk="1" hangingPunct="1">
              <a:lnSpc>
                <a:spcPct val="80000"/>
              </a:lnSpc>
              <a:defRPr/>
            </a:pPr>
            <a:r>
              <a:rPr lang="en-US" altLang="zh-CN">
                <a:cs typeface="Courier New" panose="02070309020205020404" pitchFamily="49" charset="0"/>
              </a:rPr>
              <a:t>Queue</a:t>
            </a:r>
            <a:r>
              <a:rPr lang="zh-CN" altLang="en-US">
                <a:cs typeface="Courier New" panose="02070309020205020404" pitchFamily="49" charset="0"/>
              </a:rPr>
              <a:t>的实现</a:t>
            </a:r>
            <a:r>
              <a:rPr lang="en-US" altLang="zh-CN">
                <a:cs typeface="Courier New" panose="02070309020205020404" pitchFamily="49" charset="0"/>
              </a:rPr>
              <a:t>2</a:t>
            </a:r>
            <a:r>
              <a:rPr lang="zh-CN" altLang="en-US">
                <a:cs typeface="Courier New" panose="02070309020205020404" pitchFamily="49" charset="0"/>
              </a:rPr>
              <a:t>（继承）：</a:t>
            </a:r>
          </a:p>
          <a:p>
            <a:pPr lvl="1" defTabSz="1069975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>
                <a:cs typeface="Courier New" panose="02070309020205020404" pitchFamily="49" charset="0"/>
              </a:rPr>
              <a:t>class Queue: </a:t>
            </a:r>
            <a:r>
              <a:rPr lang="en-US" altLang="zh-CN">
                <a:solidFill>
                  <a:srgbClr val="99FF66"/>
                </a:solidFill>
                <a:cs typeface="Courier New" panose="02070309020205020404" pitchFamily="49" charset="0"/>
              </a:rPr>
              <a:t>private</a:t>
            </a:r>
            <a:r>
              <a:rPr lang="en-US" altLang="zh-CN">
                <a:cs typeface="Courier New" panose="02070309020205020404" pitchFamily="49" charset="0"/>
              </a:rPr>
              <a:t> </a:t>
            </a:r>
            <a:r>
              <a:rPr lang="en-US" altLang="zh-CN">
                <a:solidFill>
                  <a:srgbClr val="FFC000"/>
                </a:solidFill>
                <a:cs typeface="Courier New" panose="02070309020205020404" pitchFamily="49" charset="0"/>
              </a:rPr>
              <a:t>LinearList</a:t>
            </a:r>
            <a:r>
              <a:rPr lang="en-US" altLang="zh-CN" sz="2400">
                <a:solidFill>
                  <a:srgbClr val="FFC000"/>
                </a:solidFill>
                <a:cs typeface="Courier New" panose="02070309020205020404" pitchFamily="49" charset="0"/>
              </a:rPr>
              <a:t> </a:t>
            </a:r>
          </a:p>
          <a:p>
            <a:pPr lvl="1" defTabSz="1069975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>
                <a:cs typeface="Courier New" panose="02070309020205020404" pitchFamily="49" charset="0"/>
              </a:rPr>
              <a:t>{	public:</a:t>
            </a:r>
          </a:p>
          <a:p>
            <a:pPr lvl="1" defTabSz="1069975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>
                <a:cs typeface="Courier New" panose="02070309020205020404" pitchFamily="49" charset="0"/>
              </a:rPr>
              <a:t>		bool en_queue(int x)</a:t>
            </a:r>
          </a:p>
          <a:p>
            <a:pPr lvl="1" defTabSz="1069975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>
                <a:cs typeface="Courier New" panose="02070309020205020404" pitchFamily="49" charset="0"/>
              </a:rPr>
              <a:t>		{  return insert(x,length());</a:t>
            </a:r>
          </a:p>
          <a:p>
            <a:pPr lvl="1" defTabSz="1069975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>
                <a:cs typeface="Courier New" panose="02070309020205020404" pitchFamily="49" charset="0"/>
              </a:rPr>
              <a:t>		}</a:t>
            </a:r>
          </a:p>
          <a:p>
            <a:pPr lvl="1" defTabSz="1069975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>
                <a:cs typeface="Courier New" panose="02070309020205020404" pitchFamily="49" charset="0"/>
              </a:rPr>
              <a:t>		bool de_queue(int &amp;x)</a:t>
            </a:r>
          </a:p>
          <a:p>
            <a:pPr lvl="1" defTabSz="1069975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>
                <a:cs typeface="Courier New" panose="02070309020205020404" pitchFamily="49" charset="0"/>
              </a:rPr>
              <a:t>		{  return remove(x,1);</a:t>
            </a:r>
          </a:p>
          <a:p>
            <a:pPr lvl="1" defTabSz="1069975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>
                <a:cs typeface="Courier New" panose="02070309020205020404" pitchFamily="49" charset="0"/>
              </a:rPr>
              <a:t>		}</a:t>
            </a:r>
          </a:p>
          <a:p>
            <a:pPr lvl="1" defTabSz="1069975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>
                <a:cs typeface="Courier New" panose="02070309020205020404" pitchFamily="49" charset="0"/>
              </a:rPr>
              <a:t>};</a:t>
            </a:r>
          </a:p>
          <a:p>
            <a:pPr defTabSz="1069975" eaLnBrk="1" hangingPunct="1">
              <a:lnSpc>
                <a:spcPct val="80000"/>
              </a:lnSpc>
              <a:defRPr/>
            </a:pPr>
            <a:r>
              <a:rPr lang="zh-CN" altLang="en-US">
                <a:solidFill>
                  <a:schemeClr val="folHlink"/>
                </a:solidFill>
                <a:cs typeface="Courier New" panose="02070309020205020404" pitchFamily="49" charset="0"/>
              </a:rPr>
              <a:t>这里为什么不用</a:t>
            </a:r>
            <a:r>
              <a:rPr lang="en-US" altLang="zh-CN">
                <a:solidFill>
                  <a:schemeClr val="folHlink"/>
                </a:solidFill>
                <a:cs typeface="Courier New" panose="02070309020205020404" pitchFamily="49" charset="0"/>
              </a:rPr>
              <a:t>public</a:t>
            </a:r>
            <a:r>
              <a:rPr lang="zh-CN" altLang="en-US">
                <a:solidFill>
                  <a:schemeClr val="folHlink"/>
                </a:solidFill>
                <a:cs typeface="Courier New" panose="02070309020205020404" pitchFamily="49" charset="0"/>
              </a:rPr>
              <a:t>继承？</a:t>
            </a:r>
          </a:p>
          <a:p>
            <a:pPr defTabSz="1069975" eaLnBrk="1" hangingPunct="1">
              <a:lnSpc>
                <a:spcPct val="90000"/>
              </a:lnSpc>
              <a:defRPr/>
            </a:pPr>
            <a:r>
              <a:rPr lang="zh-CN" altLang="en-US"/>
              <a:t>实际上，</a:t>
            </a:r>
            <a:r>
              <a:rPr lang="en-US" altLang="zh-CN"/>
              <a:t>private</a:t>
            </a:r>
            <a:r>
              <a:rPr lang="zh-CN" altLang="en-US"/>
              <a:t>继承已经退化成组合了！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18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18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18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18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34" name="Rectangle 2">
            <a:extLst>
              <a:ext uri="{FF2B5EF4-FFF2-40B4-BE49-F238E27FC236}">
                <a16:creationId xmlns:a16="http://schemas.microsoft.com/office/drawing/2014/main" id="{BA5A9BA8-6503-07E4-0FCE-00A5D907F7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44450"/>
            <a:ext cx="86868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/>
              <a:t>继承与聚合</a:t>
            </a:r>
            <a:r>
              <a:rPr lang="en-US" altLang="zh-CN" sz="4000"/>
              <a:t>/</a:t>
            </a:r>
            <a:r>
              <a:rPr lang="zh-CN" altLang="en-US" sz="4000"/>
              <a:t>组合的比较</a:t>
            </a:r>
          </a:p>
        </p:txBody>
      </p:sp>
      <p:sp>
        <p:nvSpPr>
          <p:cNvPr id="632835" name="Rectangle 3">
            <a:extLst>
              <a:ext uri="{FF2B5EF4-FFF2-40B4-BE49-F238E27FC236}">
                <a16:creationId xmlns:a16="http://schemas.microsoft.com/office/drawing/2014/main" id="{347E6D69-FD64-5871-9584-14E889757F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229600" cy="5184775"/>
          </a:xfrm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/>
              <a:t>在基于继承的代码复用中，一个类通过</a:t>
            </a:r>
            <a:r>
              <a:rPr lang="en-US" altLang="zh-CN" dirty="0"/>
              <a:t>protected</a:t>
            </a:r>
            <a:r>
              <a:rPr lang="zh-CN" altLang="en-US" dirty="0"/>
              <a:t>访问控制，向外界提供两种接口：</a:t>
            </a:r>
          </a:p>
          <a:p>
            <a:pPr lvl="2" eaLnBrk="1" hangingPunct="1">
              <a:defRPr/>
            </a:pPr>
            <a:r>
              <a:rPr lang="en-US" altLang="zh-CN" dirty="0"/>
              <a:t>public</a:t>
            </a:r>
            <a:r>
              <a:rPr lang="zh-CN" altLang="en-US" dirty="0"/>
              <a:t>：对象（实例）用户</a:t>
            </a:r>
          </a:p>
          <a:p>
            <a:pPr lvl="2" eaLnBrk="1" hangingPunct="1">
              <a:defRPr/>
            </a:pPr>
            <a:r>
              <a:rPr lang="en-US" altLang="zh-CN" dirty="0" err="1"/>
              <a:t>public+protected</a:t>
            </a:r>
            <a:r>
              <a:rPr lang="zh-CN" altLang="en-US" dirty="0"/>
              <a:t>：派生类用户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/>
              <a:t>在基于聚合</a:t>
            </a:r>
            <a:r>
              <a:rPr lang="en-US" altLang="zh-CN" dirty="0"/>
              <a:t>/</a:t>
            </a:r>
            <a:r>
              <a:rPr lang="zh-CN" altLang="en-US" dirty="0"/>
              <a:t>组合的代码复用中，一个类对外只需一个接口：</a:t>
            </a:r>
            <a:r>
              <a:rPr lang="en-US" altLang="zh-CN" dirty="0"/>
              <a:t>public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88910D-201C-3310-CF0E-126B1CEBB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8913"/>
            <a:ext cx="8229600" cy="1223962"/>
          </a:xfrm>
        </p:spPr>
        <p:txBody>
          <a:bodyPr/>
          <a:lstStyle/>
          <a:p>
            <a:pPr>
              <a:defRPr/>
            </a:pPr>
            <a:r>
              <a:rPr lang="zh-CN" altLang="zh-CN"/>
              <a:t>继承的代码复用功能常常可以用</a:t>
            </a:r>
            <a:r>
              <a:rPr lang="zh-CN" altLang="en-US"/>
              <a:t>组合</a:t>
            </a:r>
            <a:r>
              <a:rPr lang="zh-CN" altLang="zh-CN"/>
              <a:t>来实现。</a:t>
            </a:r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5B4B23-35EA-2375-E23D-874747A94D64}"/>
              </a:ext>
            </a:extLst>
          </p:cNvPr>
          <p:cNvSpPr txBox="1"/>
          <p:nvPr/>
        </p:nvSpPr>
        <p:spPr>
          <a:xfrm>
            <a:off x="911225" y="1341438"/>
            <a:ext cx="2797175" cy="243522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>
            <a:spAutoFit/>
          </a:bodyPr>
          <a:lstStyle/>
          <a:p>
            <a:pPr marL="266700" eaLnBrk="1" hangingPunct="1">
              <a:spcBef>
                <a:spcPts val="120"/>
              </a:spcBef>
              <a:spcAft>
                <a:spcPts val="120"/>
              </a:spcAft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/>
            </a:pPr>
            <a:r>
              <a:rPr lang="en-GB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/>
                <a:cs typeface="宋体"/>
              </a:rPr>
              <a:t>class A</a:t>
            </a:r>
            <a:endParaRPr lang="zh-CN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/>
              <a:cs typeface="宋体"/>
            </a:endParaRPr>
          </a:p>
          <a:p>
            <a:pPr marL="266700" eaLnBrk="1" hangingPunct="1">
              <a:spcBef>
                <a:spcPts val="120"/>
              </a:spcBef>
              <a:spcAft>
                <a:spcPts val="120"/>
              </a:spcAft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/>
            </a:pPr>
            <a:r>
              <a:rPr lang="en-GB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/>
                <a:cs typeface="宋体"/>
              </a:rPr>
              <a:t>{		......</a:t>
            </a:r>
            <a:endParaRPr lang="zh-CN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/>
              <a:cs typeface="宋体"/>
            </a:endParaRPr>
          </a:p>
          <a:p>
            <a:pPr marL="266700" eaLnBrk="1" hangingPunct="1">
              <a:spcBef>
                <a:spcPts val="120"/>
              </a:spcBef>
              <a:spcAft>
                <a:spcPts val="120"/>
              </a:spcAft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/>
            </a:pPr>
            <a:r>
              <a:rPr lang="en-GB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/>
                <a:cs typeface="宋体"/>
              </a:rPr>
              <a:t>	public:</a:t>
            </a:r>
            <a:endParaRPr lang="zh-CN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/>
              <a:cs typeface="宋体"/>
            </a:endParaRPr>
          </a:p>
          <a:p>
            <a:pPr marL="266700" eaLnBrk="1" hangingPunct="1">
              <a:spcBef>
                <a:spcPts val="120"/>
              </a:spcBef>
              <a:spcAft>
                <a:spcPts val="120"/>
              </a:spcAft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/>
            </a:pPr>
            <a:r>
              <a:rPr lang="en-GB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/>
                <a:cs typeface="宋体"/>
              </a:rPr>
              <a:t>		void f();</a:t>
            </a:r>
            <a:endParaRPr lang="zh-CN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/>
              <a:cs typeface="宋体"/>
            </a:endParaRPr>
          </a:p>
          <a:p>
            <a:pPr marL="266700" eaLnBrk="1" hangingPunct="1">
              <a:spcBef>
                <a:spcPts val="120"/>
              </a:spcBef>
              <a:spcAft>
                <a:spcPts val="120"/>
              </a:spcAft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/>
            </a:pPr>
            <a:r>
              <a:rPr lang="en-GB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/>
                <a:cs typeface="宋体"/>
              </a:rPr>
              <a:t>		void g();</a:t>
            </a:r>
            <a:endParaRPr lang="zh-CN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/>
              <a:cs typeface="宋体"/>
            </a:endParaRPr>
          </a:p>
          <a:p>
            <a:pPr marL="266700" eaLnBrk="1" hangingPunct="1">
              <a:spcBef>
                <a:spcPts val="120"/>
              </a:spcBef>
              <a:spcAft>
                <a:spcPts val="120"/>
              </a:spcAft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/>
            </a:pPr>
            <a:r>
              <a:rPr lang="en-GB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/>
                <a:cs typeface="宋体"/>
              </a:rPr>
              <a:t>};</a:t>
            </a:r>
            <a:endParaRPr lang="zh-CN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/>
              <a:cs typeface="宋体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851142-FD7D-31A9-BCE1-BA54C43C7904}"/>
              </a:ext>
            </a:extLst>
          </p:cNvPr>
          <p:cNvSpPr txBox="1"/>
          <p:nvPr/>
        </p:nvSpPr>
        <p:spPr>
          <a:xfrm>
            <a:off x="4776788" y="2652713"/>
            <a:ext cx="3683000" cy="40163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>
            <a:spAutoFit/>
          </a:bodyPr>
          <a:lstStyle>
            <a:lvl1pPr marL="2667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25"/>
              </a:spcBef>
              <a:spcAft>
                <a:spcPts val="125"/>
              </a:spcAft>
              <a:buClrTx/>
              <a:buSzTx/>
              <a:buFontTx/>
              <a:buNone/>
              <a:defRPr/>
            </a:pPr>
            <a:r>
              <a:rPr lang="en-GB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//</a:t>
            </a:r>
            <a:r>
              <a:rPr lang="zh-CN" altLang="en-US" sz="240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组合</a:t>
            </a:r>
            <a:endParaRPr lang="en-GB" altLang="zh-CN" sz="240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ts val="125"/>
              </a:spcBef>
              <a:spcAft>
                <a:spcPts val="125"/>
              </a:spcAft>
              <a:buClrTx/>
              <a:buSzTx/>
              <a:buFontTx/>
              <a:buNone/>
              <a:defRPr/>
            </a:pPr>
            <a:r>
              <a:rPr lang="en-GB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class B</a:t>
            </a:r>
            <a:endParaRPr lang="zh-CN" altLang="zh-CN" sz="24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ts val="125"/>
              </a:spcBef>
              <a:spcAft>
                <a:spcPts val="125"/>
              </a:spcAft>
              <a:buClrTx/>
              <a:buSzTx/>
              <a:buFontTx/>
              <a:buNone/>
              <a:defRPr/>
            </a:pPr>
            <a:r>
              <a:rPr lang="en-GB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{</a:t>
            </a:r>
            <a:r>
              <a:rPr lang="en-GB" altLang="zh-CN" sz="2400"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		</a:t>
            </a:r>
            <a:r>
              <a:rPr lang="en-GB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......</a:t>
            </a:r>
            <a:endParaRPr lang="zh-CN" altLang="zh-CN" sz="24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ts val="125"/>
              </a:spcBef>
              <a:spcAft>
                <a:spcPts val="125"/>
              </a:spcAft>
              <a:buClrTx/>
              <a:buSzTx/>
              <a:buFontTx/>
              <a:buNone/>
              <a:defRPr/>
            </a:pPr>
            <a:r>
              <a:rPr lang="en-GB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		  A a;  </a:t>
            </a:r>
            <a:endParaRPr lang="zh-CN" altLang="zh-CN" sz="24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ts val="125"/>
              </a:spcBef>
              <a:spcAft>
                <a:spcPts val="125"/>
              </a:spcAft>
              <a:buClrTx/>
              <a:buSzTx/>
              <a:buFontTx/>
              <a:buNone/>
              <a:defRPr/>
            </a:pPr>
            <a:r>
              <a:rPr lang="en-GB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  public:</a:t>
            </a:r>
            <a:endParaRPr lang="zh-CN" altLang="zh-CN" sz="24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ts val="125"/>
              </a:spcBef>
              <a:spcAft>
                <a:spcPts val="125"/>
              </a:spcAft>
              <a:buClrTx/>
              <a:buSzTx/>
              <a:buFontTx/>
              <a:buNone/>
              <a:defRPr/>
            </a:pPr>
            <a:r>
              <a:rPr lang="en-GB" altLang="zh-CN" sz="2400"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		 </a:t>
            </a:r>
            <a:r>
              <a:rPr lang="en-GB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void f() { a.f(); }</a:t>
            </a:r>
            <a:endParaRPr lang="zh-CN" altLang="zh-CN" sz="24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ts val="125"/>
              </a:spcBef>
              <a:spcAft>
                <a:spcPts val="125"/>
              </a:spcAft>
              <a:buClrTx/>
              <a:buSzTx/>
              <a:buFontTx/>
              <a:buNone/>
              <a:defRPr/>
            </a:pPr>
            <a:r>
              <a:rPr lang="en-GB" altLang="zh-CN" sz="2400"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		 </a:t>
            </a:r>
            <a:r>
              <a:rPr lang="en-GB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void g() { a.g(); }</a:t>
            </a:r>
            <a:endParaRPr lang="zh-CN" altLang="zh-CN" sz="24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ts val="125"/>
              </a:spcBef>
              <a:spcAft>
                <a:spcPts val="125"/>
              </a:spcAft>
              <a:buClrTx/>
              <a:buSzTx/>
              <a:buFontTx/>
              <a:buNone/>
              <a:defRPr/>
            </a:pPr>
            <a:r>
              <a:rPr lang="en-GB" altLang="zh-CN" sz="2400"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		 </a:t>
            </a:r>
            <a:r>
              <a:rPr lang="en-GB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void h();</a:t>
            </a:r>
            <a:endParaRPr lang="zh-CN" altLang="zh-CN" sz="24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ts val="125"/>
              </a:spcBef>
              <a:spcAft>
                <a:spcPts val="125"/>
              </a:spcAft>
              <a:buClrTx/>
              <a:buSzTx/>
              <a:buFontTx/>
              <a:buNone/>
              <a:defRPr/>
            </a:pPr>
            <a:r>
              <a:rPr lang="en-GB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		......</a:t>
            </a:r>
            <a:endParaRPr lang="zh-CN" altLang="zh-CN" sz="24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ts val="125"/>
              </a:spcBef>
              <a:spcAft>
                <a:spcPts val="125"/>
              </a:spcAft>
              <a:buClrTx/>
              <a:buSzTx/>
              <a:buFontTx/>
              <a:buNone/>
              <a:defRPr/>
            </a:pPr>
            <a:r>
              <a:rPr lang="en-GB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};</a:t>
            </a:r>
            <a:endParaRPr lang="zh-CN" alt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24FE01-122F-C976-24D6-C9189C36AFAF}"/>
              </a:ext>
            </a:extLst>
          </p:cNvPr>
          <p:cNvSpPr txBox="1"/>
          <p:nvPr/>
        </p:nvSpPr>
        <p:spPr>
          <a:xfrm>
            <a:off x="900113" y="3838575"/>
            <a:ext cx="3157537" cy="283051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>
            <a:spAutoFit/>
          </a:bodyPr>
          <a:lstStyle>
            <a:lvl1pPr marL="2667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25"/>
              </a:spcBef>
              <a:spcAft>
                <a:spcPts val="125"/>
              </a:spcAft>
              <a:buClrTx/>
              <a:buSzTx/>
              <a:buFontTx/>
              <a:buNone/>
              <a:defRPr/>
            </a:pPr>
            <a:r>
              <a:rPr lang="en-GB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//</a:t>
            </a:r>
            <a:r>
              <a:rPr lang="zh-CN" altLang="en-US" sz="240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继承</a:t>
            </a:r>
            <a:endParaRPr lang="en-GB" altLang="zh-CN" sz="240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ts val="125"/>
              </a:spcBef>
              <a:spcAft>
                <a:spcPts val="125"/>
              </a:spcAft>
              <a:buClrTx/>
              <a:buSzTx/>
              <a:buFontTx/>
              <a:buNone/>
              <a:defRPr/>
            </a:pPr>
            <a:r>
              <a:rPr lang="en-GB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class B: public A</a:t>
            </a:r>
            <a:endParaRPr lang="zh-CN" altLang="zh-CN" sz="24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ts val="125"/>
              </a:spcBef>
              <a:spcAft>
                <a:spcPts val="125"/>
              </a:spcAft>
              <a:buClrTx/>
              <a:buSzTx/>
              <a:buFontTx/>
              <a:buNone/>
              <a:defRPr/>
            </a:pPr>
            <a:r>
              <a:rPr lang="en-GB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{		......</a:t>
            </a:r>
            <a:endParaRPr lang="zh-CN" altLang="zh-CN" sz="24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ts val="125"/>
              </a:spcBef>
              <a:spcAft>
                <a:spcPts val="125"/>
              </a:spcAft>
              <a:buClrTx/>
              <a:buSzTx/>
              <a:buFontTx/>
              <a:buNone/>
              <a:defRPr/>
            </a:pPr>
            <a:r>
              <a:rPr lang="en-GB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  public:</a:t>
            </a:r>
            <a:endParaRPr lang="zh-CN" altLang="zh-CN" sz="24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ts val="125"/>
              </a:spcBef>
              <a:spcAft>
                <a:spcPts val="125"/>
              </a:spcAft>
              <a:buClrTx/>
              <a:buSzTx/>
              <a:buFontTx/>
              <a:buNone/>
              <a:defRPr/>
            </a:pPr>
            <a:r>
              <a:rPr lang="en-GB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		 void h();</a:t>
            </a:r>
            <a:endParaRPr lang="zh-CN" altLang="zh-CN" sz="24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ts val="125"/>
              </a:spcBef>
              <a:spcAft>
                <a:spcPts val="125"/>
              </a:spcAft>
              <a:buClrTx/>
              <a:buSzTx/>
              <a:buFontTx/>
              <a:buNone/>
              <a:defRPr/>
            </a:pPr>
            <a:r>
              <a:rPr lang="en-GB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		......</a:t>
            </a:r>
            <a:endParaRPr lang="zh-CN" altLang="zh-CN" sz="24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ts val="125"/>
              </a:spcBef>
              <a:spcAft>
                <a:spcPts val="125"/>
              </a:spcAft>
              <a:buClrTx/>
              <a:buSzTx/>
              <a:buFontTx/>
              <a:buNone/>
              <a:defRPr/>
            </a:pPr>
            <a:r>
              <a:rPr lang="en-GB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};</a:t>
            </a:r>
            <a:endParaRPr lang="zh-CN" altLang="en-US" sz="2400"/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Rectangle 2">
            <a:extLst>
              <a:ext uri="{FF2B5EF4-FFF2-40B4-BE49-F238E27FC236}">
                <a16:creationId xmlns:a16="http://schemas.microsoft.com/office/drawing/2014/main" id="{46C2091E-2394-2B1E-EFFB-BA5C8D51B7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zh-CN"/>
          </a:p>
        </p:txBody>
      </p:sp>
      <p:sp>
        <p:nvSpPr>
          <p:cNvPr id="633859" name="Rectangle 3">
            <a:extLst>
              <a:ext uri="{FF2B5EF4-FFF2-40B4-BE49-F238E27FC236}">
                <a16:creationId xmlns:a16="http://schemas.microsoft.com/office/drawing/2014/main" id="{56CEA73D-6DA4-EC99-284A-000DB66C7A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600200"/>
            <a:ext cx="8686800" cy="5257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GB"/>
              <a:t>继承更容易实现子类型</a:t>
            </a:r>
            <a:r>
              <a:rPr lang="zh-CN" altLang="en-US"/>
              <a:t>：</a:t>
            </a:r>
          </a:p>
          <a:p>
            <a:pPr lvl="1" eaLnBrk="1" hangingPunct="1">
              <a:defRPr/>
            </a:pPr>
            <a:r>
              <a:rPr lang="zh-CN" altLang="en-GB"/>
              <a:t>在</a:t>
            </a:r>
            <a:r>
              <a:rPr lang="en-GB" altLang="zh-CN"/>
              <a:t>C++</a:t>
            </a:r>
            <a:r>
              <a:rPr lang="zh-CN" altLang="en-GB"/>
              <a:t>中，</a:t>
            </a:r>
            <a:r>
              <a:rPr lang="en-GB" altLang="zh-CN"/>
              <a:t>public</a:t>
            </a:r>
            <a:r>
              <a:rPr lang="zh-CN" altLang="en-GB"/>
              <a:t>继承的派生类往往可以看成是基类的子类型</a:t>
            </a:r>
            <a:r>
              <a:rPr lang="zh-CN" altLang="en-US"/>
              <a:t>。</a:t>
            </a:r>
          </a:p>
          <a:p>
            <a:pPr lvl="1" eaLnBrk="1" hangingPunct="1">
              <a:defRPr/>
            </a:pPr>
            <a:r>
              <a:rPr lang="zh-CN" altLang="en-GB"/>
              <a:t>在需要基类对象的地方可以用派生类对象去替代</a:t>
            </a:r>
            <a:r>
              <a:rPr lang="zh-CN" altLang="en-US"/>
              <a:t>。</a:t>
            </a:r>
          </a:p>
          <a:p>
            <a:pPr lvl="1" eaLnBrk="1" hangingPunct="1">
              <a:defRPr/>
            </a:pPr>
            <a:r>
              <a:rPr lang="zh-CN" altLang="en-GB"/>
              <a:t>发给基类对象的消息也能发给派生类对象</a:t>
            </a:r>
            <a:r>
              <a:rPr lang="zh-CN" altLang="en-US"/>
              <a:t>。</a:t>
            </a:r>
            <a:endParaRPr lang="en-US" altLang="zh-CN"/>
          </a:p>
          <a:p>
            <a:pPr eaLnBrk="1" hangingPunct="1">
              <a:defRPr/>
            </a:pPr>
            <a:r>
              <a:rPr lang="zh-CN" altLang="en-US"/>
              <a:t>具有聚合</a:t>
            </a:r>
            <a:r>
              <a:rPr lang="en-US" altLang="zh-CN"/>
              <a:t>/</a:t>
            </a:r>
            <a:r>
              <a:rPr lang="zh-CN" altLang="en-US"/>
              <a:t>组合关系的两个类不具有子类型关系！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66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66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21165</TotalTime>
  <Words>1553</Words>
  <Application>Microsoft Office PowerPoint</Application>
  <PresentationFormat>全屏显示(4:3)</PresentationFormat>
  <Paragraphs>176</Paragraphs>
  <Slides>17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Verdana</vt:lpstr>
      <vt:lpstr>宋体</vt:lpstr>
      <vt:lpstr>Arial</vt:lpstr>
      <vt:lpstr>Wingdings</vt:lpstr>
      <vt:lpstr>Times New Roman</vt:lpstr>
      <vt:lpstr>隶书</vt:lpstr>
      <vt:lpstr>Courier New</vt:lpstr>
      <vt:lpstr>Globe</vt:lpstr>
      <vt:lpstr>聚合/组合</vt:lpstr>
      <vt:lpstr>继承不是类代码复用的唯一方式</vt:lpstr>
      <vt:lpstr>类之间的整体与部分关系</vt:lpstr>
      <vt:lpstr>聚合</vt:lpstr>
      <vt:lpstr>PowerPoint 演示文稿</vt:lpstr>
      <vt:lpstr>例：公司由一批员工组成</vt:lpstr>
      <vt:lpstr>PowerPoint 演示文稿</vt:lpstr>
      <vt:lpstr>PowerPoint 演示文稿</vt:lpstr>
      <vt:lpstr>组合</vt:lpstr>
      <vt:lpstr>PowerPoint 演示文稿</vt:lpstr>
      <vt:lpstr>PowerPoint 演示文稿</vt:lpstr>
      <vt:lpstr>例：利用一个线性表类实现一个队列类。</vt:lpstr>
      <vt:lpstr>PowerPoint 演示文稿</vt:lpstr>
      <vt:lpstr>PowerPoint 演示文稿</vt:lpstr>
      <vt:lpstr>继承与聚合/组合的比较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Chapter12   Derived Classes</dc:title>
  <dc:creator>chenjj</dc:creator>
  <cp:lastModifiedBy>润泽 颜</cp:lastModifiedBy>
  <cp:revision>792</cp:revision>
  <dcterms:created xsi:type="dcterms:W3CDTF">1999-06-07T07:18:19Z</dcterms:created>
  <dcterms:modified xsi:type="dcterms:W3CDTF">2026-06-18T00:20:42Z</dcterms:modified>
</cp:coreProperties>
</file>