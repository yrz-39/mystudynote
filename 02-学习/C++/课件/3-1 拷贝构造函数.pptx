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3"/>
  </p:notesMasterIdLst>
  <p:handoutMasterIdLst>
    <p:handoutMasterId r:id="rId14"/>
  </p:handoutMasterIdLst>
  <p:sldIdLst>
    <p:sldId id="931" r:id="rId2"/>
    <p:sldId id="957" r:id="rId3"/>
    <p:sldId id="958" r:id="rId4"/>
    <p:sldId id="825" r:id="rId5"/>
    <p:sldId id="959" r:id="rId6"/>
    <p:sldId id="829" r:id="rId7"/>
    <p:sldId id="1034" r:id="rId8"/>
    <p:sldId id="831" r:id="rId9"/>
    <p:sldId id="1035" r:id="rId10"/>
    <p:sldId id="974" r:id="rId11"/>
    <p:sldId id="1036" r:id="rId1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000000"/>
    <a:srgbClr val="00FFFF"/>
    <a:srgbClr val="85EDA0"/>
    <a:srgbClr val="00CCFF"/>
    <a:srgbClr val="FFFF99"/>
    <a:srgbClr val="FDAFB5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3" autoAdjust="0"/>
    <p:restoredTop sz="88874" autoAdjust="0"/>
  </p:normalViewPr>
  <p:slideViewPr>
    <p:cSldViewPr>
      <p:cViewPr varScale="1">
        <p:scale>
          <a:sx n="159" d="100"/>
          <a:sy n="159" d="100"/>
        </p:scale>
        <p:origin x="4428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1348"/>
    </p:cViewPr>
  </p:sorterViewPr>
  <p:notesViewPr>
    <p:cSldViewPr>
      <p:cViewPr>
        <p:scale>
          <a:sx n="75" d="100"/>
          <a:sy n="75" d="100"/>
        </p:scale>
        <p:origin x="-726" y="63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513D7C39-DBD5-545B-B36E-95F846A7ED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4D01C45E-1E23-1966-18C0-9C900488618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4018A534-13A4-D9F7-9F75-3EBA170F9F7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43A4E7D9-BAEB-C9ED-6C19-91F71C97DC2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97D12BA-3367-484F-92F8-F9058E7884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2DCA00A-897F-C3FD-FC4C-51EBC6E8884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F154B810-413F-4EE4-7988-6DA9B683293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3199B25-DD82-6388-885F-1C3727A5591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B63051A2-277C-4DD9-4000-FE00E155803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9BE61948-CFF9-3689-7DD1-0B5BF998390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FE3A0CB0-F3B4-0A0A-F11E-519FD91F36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72376D9-3064-4397-9F1B-69B9CBE77A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84C61A6-2FD6-1F78-F1F4-D44D42B498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B2DEF51-551E-4E28-9AF6-76665D03E808}" type="slidenum">
              <a:rPr lang="en-US" altLang="zh-CN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0CAF85B9-22A6-87B1-66CC-252B54C45F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61457CAA-1687-05B0-F632-69D2E66981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674DE57-65CC-A268-F723-3A820E45660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7B3F088-C670-50E8-5950-1EDC733D46C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D4433AC-327E-DED2-DD4B-5A20558E236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B14FAB4-1A9B-5D65-EE77-2C419AE972A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3E93CB85-CD49-4899-2BEA-ADC6D478E1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892C968E-9533-0BCE-B7D3-BDE472D2F9D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9A86EAD-636B-3B8D-91C7-D62CE789F58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1E2CC181-1AA8-5309-763A-3D81D6E4B04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3ED7D871-E826-FD0B-C6AF-6DC92093455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FEC59595-0869-2E7A-A067-0EF6DD6A38A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BFBB3DDD-C93D-230F-0E36-B56ED9B4575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3930721A-3D2D-FD63-EC5A-84B615D832E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A7F9FB2E-B6B5-4251-49A0-466E20C7984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F5108618-B9BC-59B0-85D0-F6141F2458A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1662D2FF-0FD4-FFD0-1803-A02DA2AD8FC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9D92DD70-FF70-71EA-1197-8A2CACD49A1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631140A0-50D5-A584-9AF4-660D810A593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BC812443-106A-4064-2F92-5C4F27CEAB9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</p:grp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EC56E786-379C-51B8-F179-5FDBDA82446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E6E56801-D526-3BEB-E4B2-9A817B6B973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4A8B65FF-BE6F-37D5-12F2-B12C1344ED5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1EF308B1-CF6E-310B-4371-D40E7B9D77F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1011 w 717"/>
                <a:gd name="T1" fmla="*/ 845 h 845"/>
                <a:gd name="T2" fmla="*/ 1011 w 717"/>
                <a:gd name="T3" fmla="*/ 821 h 845"/>
                <a:gd name="T4" fmla="*/ 830 w 717"/>
                <a:gd name="T5" fmla="*/ 605 h 845"/>
                <a:gd name="T6" fmla="*/ 534 w 717"/>
                <a:gd name="T7" fmla="*/ 396 h 845"/>
                <a:gd name="T8" fmla="*/ 349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37 w 717"/>
                <a:gd name="T15" fmla="*/ 198 h 845"/>
                <a:gd name="T16" fmla="*/ 528 w 717"/>
                <a:gd name="T17" fmla="*/ 408 h 845"/>
                <a:gd name="T18" fmla="*/ 824 w 717"/>
                <a:gd name="T19" fmla="*/ 623 h 845"/>
                <a:gd name="T20" fmla="*/ 1011 w 717"/>
                <a:gd name="T21" fmla="*/ 845 h 845"/>
                <a:gd name="T22" fmla="*/ 1011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736CE9B4-2793-FB35-347B-5F2CCEA5D06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35 w 407"/>
                <a:gd name="T1" fmla="*/ 414 h 414"/>
                <a:gd name="T2" fmla="*/ 535 w 407"/>
                <a:gd name="T3" fmla="*/ 396 h 414"/>
                <a:gd name="T4" fmla="*/ 350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44 w 407"/>
                <a:gd name="T13" fmla="*/ 204 h 414"/>
                <a:gd name="T14" fmla="*/ 535 w 407"/>
                <a:gd name="T15" fmla="*/ 414 h 414"/>
                <a:gd name="T16" fmla="*/ 535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F8390DD3-B2A7-8238-F64B-195EDC592C7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B9890DF0-39FD-7E11-7960-0CBD1C713A3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896 w 586"/>
                <a:gd name="T1" fmla="*/ 0 h 599"/>
                <a:gd name="T2" fmla="*/ 869 w 586"/>
                <a:gd name="T3" fmla="*/ 0 h 599"/>
                <a:gd name="T4" fmla="*/ 630 w 586"/>
                <a:gd name="T5" fmla="*/ 132 h 599"/>
                <a:gd name="T6" fmla="*/ 385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85 w 586"/>
                <a:gd name="T17" fmla="*/ 282 h 599"/>
                <a:gd name="T18" fmla="*/ 642 w 586"/>
                <a:gd name="T19" fmla="*/ 138 h 599"/>
                <a:gd name="T20" fmla="*/ 896 w 586"/>
                <a:gd name="T21" fmla="*/ 0 h 599"/>
                <a:gd name="T22" fmla="*/ 896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4E3D441F-CDDD-4995-66EE-9CED0D6A857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97 w 269"/>
                <a:gd name="T1" fmla="*/ 0 h 252"/>
                <a:gd name="T2" fmla="*/ 379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97 w 269"/>
                <a:gd name="T15" fmla="*/ 0 h 252"/>
                <a:gd name="T16" fmla="*/ 397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32EE1551-00F6-7DE6-0954-B8AB2344A4FD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C94B446D-17A6-07CC-7019-1159FAA42741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2CEB65A9-0684-6A94-19ED-DDC8B9214019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31">
              <a:extLst>
                <a:ext uri="{FF2B5EF4-FFF2-40B4-BE49-F238E27FC236}">
                  <a16:creationId xmlns:a16="http://schemas.microsoft.com/office/drawing/2014/main" id="{991FEB11-7737-790C-3746-75442B1577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1" name="Line 32">
                <a:extLst>
                  <a:ext uri="{FF2B5EF4-FFF2-40B4-BE49-F238E27FC236}">
                    <a16:creationId xmlns:a16="http://schemas.microsoft.com/office/drawing/2014/main" id="{B8B5079D-F9C7-9704-C6C8-335F91E0B7A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C6D2812D-6395-98A7-F9AA-8E42D5B18CC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BDCBE7C2-AE61-759F-7EB6-B47BF277799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6A6A1F83-499A-FBB9-A469-30AEA99CC8A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6">
                <a:extLst>
                  <a:ext uri="{FF2B5EF4-FFF2-40B4-BE49-F238E27FC236}">
                    <a16:creationId xmlns:a16="http://schemas.microsoft.com/office/drawing/2014/main" id="{903C1F24-FE30-819F-B764-82B0C60AD42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48A41006-32C0-F83B-F929-5AD557922F23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8">
              <a:extLst>
                <a:ext uri="{FF2B5EF4-FFF2-40B4-BE49-F238E27FC236}">
                  <a16:creationId xmlns:a16="http://schemas.microsoft.com/office/drawing/2014/main" id="{3D79CADD-FFFF-E5B2-32DA-311751102B08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570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26570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818956DF-834A-A9FD-DA4A-924B4F5FC12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06F712E5-A310-834E-E722-51A7703CBC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E8B9445E-7EE4-DA40-82ED-D506A3E5C0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0D73D17-D0D5-46EE-9F34-4F72DA466F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1562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3B7E8BBD-AB4E-90C4-BBD7-117ADADEA0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6454628B-6117-1021-C2BB-A2CAC2682B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75C4699A-CD8E-F922-590A-F209BF1F52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8A5662-4971-4BE9-B9B6-7D5EDB483F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8970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13B4986F-6944-4920-78EF-E8A87F2C3B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8BCC53F0-DD04-9051-C6DB-7C5C06F731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791ECEDE-CA4F-5753-475F-A29869E79E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9D19F0-AB68-4B42-A23D-DC93EDFCDE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038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07645BC5-662E-BE94-9BDC-8A3F8600BD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7928CB4C-077D-0AE0-50D1-58F195CB8F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C69B7AB1-59D5-DEE9-3A2F-915297E407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29085-F704-4248-A378-336F8AA533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0023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FFE8B1AC-CFCF-FE98-F1FA-DADFF32568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B2C21174-FA59-8A10-23DE-DD79734CA3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0DB09650-14E6-435A-418D-8D8006839B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8BC0C3-1CC3-4389-A2F5-B75192CEDE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0440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099E07FC-542E-BA22-6A95-9717C35C31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26E68795-B9F8-303D-D2C3-5A2A89441B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58531F9E-E514-A4E3-ACF2-A6B0EA8B4C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ED30B0-B815-4D65-AE2C-43016FBA06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570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33CC746B-FCF3-01B0-20C3-3E6E3E8713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F224E8FD-0290-D904-961C-F042DD2CDC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E653FE28-6119-298D-CE3B-2670A7362C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89C9F6-C27B-4308-8ABA-74E39E6462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7230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AAB96674-75DA-1668-3CE8-E5C1F205B9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E83C2997-830F-6A62-46EC-F97AC413D4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82C0B7EA-822B-315B-4EA8-75B080A1CE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073401-6D46-4D02-A24E-7928130FC1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5901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85FC059D-72CD-4AD4-F76C-C9A9AAFE32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9BA9A4AC-56EE-B759-FA59-BE5D20E8F9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6905C8B3-9AB5-D01F-7CE5-9830E4F55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1B539C-74ED-4B38-8782-5D2482058B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2286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2A398E73-A5B2-652A-EB39-C36B6E6763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B515C2E0-1DEB-0AA0-4E6E-5B51CD6A18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99310C12-B881-19FE-E814-57662ABE69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C22770-3CEC-4893-BF33-27C536D36E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799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5A64A95B-FC15-A5AB-B1FC-E7E0443C09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F38A6957-D263-87B7-25EA-6EF2AD8CB4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8AC8CE3C-35F8-EB8D-A770-172200B277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A235F-E138-406C-BC87-B46161B9AF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1749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4D99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10C4A218-F7BF-7AE3-A24C-1C76384BFC78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264643" name="Freeform 3">
              <a:extLst>
                <a:ext uri="{FF2B5EF4-FFF2-40B4-BE49-F238E27FC236}">
                  <a16:creationId xmlns:a16="http://schemas.microsoft.com/office/drawing/2014/main" id="{F86CB99B-3BC9-4600-32A8-4E32C70A71E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44" name="Freeform 4">
              <a:extLst>
                <a:ext uri="{FF2B5EF4-FFF2-40B4-BE49-F238E27FC236}">
                  <a16:creationId xmlns:a16="http://schemas.microsoft.com/office/drawing/2014/main" id="{36B79BA4-7CB7-FDCC-0B04-957AC802BE2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45" name="Freeform 5">
              <a:extLst>
                <a:ext uri="{FF2B5EF4-FFF2-40B4-BE49-F238E27FC236}">
                  <a16:creationId xmlns:a16="http://schemas.microsoft.com/office/drawing/2014/main" id="{46B24111-DF0E-A2DC-303A-B73034E21D6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grpSp>
          <p:nvGrpSpPr>
            <p:cNvPr id="1035" name="Group 6">
              <a:extLst>
                <a:ext uri="{FF2B5EF4-FFF2-40B4-BE49-F238E27FC236}">
                  <a16:creationId xmlns:a16="http://schemas.microsoft.com/office/drawing/2014/main" id="{1C000FBA-D6AE-5879-A07B-AAF94656E8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264647" name="Freeform 7">
                <a:extLst>
                  <a:ext uri="{FF2B5EF4-FFF2-40B4-BE49-F238E27FC236}">
                    <a16:creationId xmlns:a16="http://schemas.microsoft.com/office/drawing/2014/main" id="{3E70C102-610B-C4F1-7B4E-0678FC373EB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48" name="Freeform 8">
                <a:extLst>
                  <a:ext uri="{FF2B5EF4-FFF2-40B4-BE49-F238E27FC236}">
                    <a16:creationId xmlns:a16="http://schemas.microsoft.com/office/drawing/2014/main" id="{187D2458-D6F4-0EC0-90C2-CFAD472C3D5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49" name="Freeform 9">
                <a:extLst>
                  <a:ext uri="{FF2B5EF4-FFF2-40B4-BE49-F238E27FC236}">
                    <a16:creationId xmlns:a16="http://schemas.microsoft.com/office/drawing/2014/main" id="{2B157C80-A0B2-113E-8CF6-3C088B259C6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0" name="Freeform 10">
                <a:extLst>
                  <a:ext uri="{FF2B5EF4-FFF2-40B4-BE49-F238E27FC236}">
                    <a16:creationId xmlns:a16="http://schemas.microsoft.com/office/drawing/2014/main" id="{1915EE75-C30E-72E8-7049-A3200134CB0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1" name="Freeform 11">
                <a:extLst>
                  <a:ext uri="{FF2B5EF4-FFF2-40B4-BE49-F238E27FC236}">
                    <a16:creationId xmlns:a16="http://schemas.microsoft.com/office/drawing/2014/main" id="{63EDB25F-E3D8-9FE6-9BF9-EA910D932B5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2" name="Freeform 12">
                <a:extLst>
                  <a:ext uri="{FF2B5EF4-FFF2-40B4-BE49-F238E27FC236}">
                    <a16:creationId xmlns:a16="http://schemas.microsoft.com/office/drawing/2014/main" id="{3C9128C6-237C-4FF0-A36C-B670D81178B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3" name="Freeform 13">
                <a:extLst>
                  <a:ext uri="{FF2B5EF4-FFF2-40B4-BE49-F238E27FC236}">
                    <a16:creationId xmlns:a16="http://schemas.microsoft.com/office/drawing/2014/main" id="{6845B5C8-B4A9-B9F3-D418-AF67C27537D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4" name="Freeform 14">
                <a:extLst>
                  <a:ext uri="{FF2B5EF4-FFF2-40B4-BE49-F238E27FC236}">
                    <a16:creationId xmlns:a16="http://schemas.microsoft.com/office/drawing/2014/main" id="{EE500A59-91AE-A651-41B0-1580175A44E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5" name="Freeform 15">
                <a:extLst>
                  <a:ext uri="{FF2B5EF4-FFF2-40B4-BE49-F238E27FC236}">
                    <a16:creationId xmlns:a16="http://schemas.microsoft.com/office/drawing/2014/main" id="{C10ACB18-E1C6-AE96-D271-FD5358C987D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6" name="Freeform 16">
                <a:extLst>
                  <a:ext uri="{FF2B5EF4-FFF2-40B4-BE49-F238E27FC236}">
                    <a16:creationId xmlns:a16="http://schemas.microsoft.com/office/drawing/2014/main" id="{79ACF9B0-5F3D-EA2C-6390-DB03F36CBE5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7" name="Freeform 17">
                <a:extLst>
                  <a:ext uri="{FF2B5EF4-FFF2-40B4-BE49-F238E27FC236}">
                    <a16:creationId xmlns:a16="http://schemas.microsoft.com/office/drawing/2014/main" id="{6DC88637-2C0F-B735-D82D-8313E101E64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8" name="Freeform 18">
                <a:extLst>
                  <a:ext uri="{FF2B5EF4-FFF2-40B4-BE49-F238E27FC236}">
                    <a16:creationId xmlns:a16="http://schemas.microsoft.com/office/drawing/2014/main" id="{E255C336-43E3-EE9C-423B-F862728437E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9" name="Freeform 19">
                <a:extLst>
                  <a:ext uri="{FF2B5EF4-FFF2-40B4-BE49-F238E27FC236}">
                    <a16:creationId xmlns:a16="http://schemas.microsoft.com/office/drawing/2014/main" id="{E7D34688-E9D9-5E8F-69A8-482300994D3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</p:grpSp>
        <p:sp>
          <p:nvSpPr>
            <p:cNvPr id="1264660" name="Freeform 20">
              <a:extLst>
                <a:ext uri="{FF2B5EF4-FFF2-40B4-BE49-F238E27FC236}">
                  <a16:creationId xmlns:a16="http://schemas.microsoft.com/office/drawing/2014/main" id="{6B17839A-193C-7447-A537-1BB9AC2F1B5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61" name="Freeform 21">
              <a:extLst>
                <a:ext uri="{FF2B5EF4-FFF2-40B4-BE49-F238E27FC236}">
                  <a16:creationId xmlns:a16="http://schemas.microsoft.com/office/drawing/2014/main" id="{94D29888-85A3-ABC1-704C-EF190B986F9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62" name="Freeform 22">
              <a:extLst>
                <a:ext uri="{FF2B5EF4-FFF2-40B4-BE49-F238E27FC236}">
                  <a16:creationId xmlns:a16="http://schemas.microsoft.com/office/drawing/2014/main" id="{B4112897-8711-10B5-3FB2-A4F0365F674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039" name="Freeform 23">
              <a:extLst>
                <a:ext uri="{FF2B5EF4-FFF2-40B4-BE49-F238E27FC236}">
                  <a16:creationId xmlns:a16="http://schemas.microsoft.com/office/drawing/2014/main" id="{2324673B-E4DA-DEF8-0562-6D6F45CA70B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1011 w 717"/>
                <a:gd name="T1" fmla="*/ 845 h 845"/>
                <a:gd name="T2" fmla="*/ 1011 w 717"/>
                <a:gd name="T3" fmla="*/ 821 h 845"/>
                <a:gd name="T4" fmla="*/ 830 w 717"/>
                <a:gd name="T5" fmla="*/ 605 h 845"/>
                <a:gd name="T6" fmla="*/ 534 w 717"/>
                <a:gd name="T7" fmla="*/ 396 h 845"/>
                <a:gd name="T8" fmla="*/ 349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37 w 717"/>
                <a:gd name="T15" fmla="*/ 198 h 845"/>
                <a:gd name="T16" fmla="*/ 528 w 717"/>
                <a:gd name="T17" fmla="*/ 408 h 845"/>
                <a:gd name="T18" fmla="*/ 824 w 717"/>
                <a:gd name="T19" fmla="*/ 623 h 845"/>
                <a:gd name="T20" fmla="*/ 1011 w 717"/>
                <a:gd name="T21" fmla="*/ 845 h 845"/>
                <a:gd name="T22" fmla="*/ 1011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>
              <a:extLst>
                <a:ext uri="{FF2B5EF4-FFF2-40B4-BE49-F238E27FC236}">
                  <a16:creationId xmlns:a16="http://schemas.microsoft.com/office/drawing/2014/main" id="{7574D317-11BA-6E12-77A3-2EA37ECFB8F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35 w 407"/>
                <a:gd name="T1" fmla="*/ 414 h 414"/>
                <a:gd name="T2" fmla="*/ 535 w 407"/>
                <a:gd name="T3" fmla="*/ 396 h 414"/>
                <a:gd name="T4" fmla="*/ 350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44 w 407"/>
                <a:gd name="T13" fmla="*/ 204 h 414"/>
                <a:gd name="T14" fmla="*/ 535 w 407"/>
                <a:gd name="T15" fmla="*/ 414 h 414"/>
                <a:gd name="T16" fmla="*/ 535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4665" name="Freeform 25">
              <a:extLst>
                <a:ext uri="{FF2B5EF4-FFF2-40B4-BE49-F238E27FC236}">
                  <a16:creationId xmlns:a16="http://schemas.microsoft.com/office/drawing/2014/main" id="{E6FACAB8-23D9-9C49-7F06-93BFE7C5D4C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042" name="Freeform 26">
              <a:extLst>
                <a:ext uri="{FF2B5EF4-FFF2-40B4-BE49-F238E27FC236}">
                  <a16:creationId xmlns:a16="http://schemas.microsoft.com/office/drawing/2014/main" id="{E52A063E-2879-5134-A994-757DAA8772C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896 w 586"/>
                <a:gd name="T1" fmla="*/ 0 h 599"/>
                <a:gd name="T2" fmla="*/ 869 w 586"/>
                <a:gd name="T3" fmla="*/ 0 h 599"/>
                <a:gd name="T4" fmla="*/ 630 w 586"/>
                <a:gd name="T5" fmla="*/ 132 h 599"/>
                <a:gd name="T6" fmla="*/ 385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85 w 586"/>
                <a:gd name="T17" fmla="*/ 282 h 599"/>
                <a:gd name="T18" fmla="*/ 642 w 586"/>
                <a:gd name="T19" fmla="*/ 138 h 599"/>
                <a:gd name="T20" fmla="*/ 896 w 586"/>
                <a:gd name="T21" fmla="*/ 0 h 599"/>
                <a:gd name="T22" fmla="*/ 896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>
              <a:extLst>
                <a:ext uri="{FF2B5EF4-FFF2-40B4-BE49-F238E27FC236}">
                  <a16:creationId xmlns:a16="http://schemas.microsoft.com/office/drawing/2014/main" id="{E29826B9-BEB8-5FF4-1DE1-88E3AFCB1A3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97 w 269"/>
                <a:gd name="T1" fmla="*/ 0 h 252"/>
                <a:gd name="T2" fmla="*/ 379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97 w 269"/>
                <a:gd name="T15" fmla="*/ 0 h 252"/>
                <a:gd name="T16" fmla="*/ 397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>
              <a:extLst>
                <a:ext uri="{FF2B5EF4-FFF2-40B4-BE49-F238E27FC236}">
                  <a16:creationId xmlns:a16="http://schemas.microsoft.com/office/drawing/2014/main" id="{CBF4D300-0A71-7E95-0924-7373D99AAA6B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>
              <a:extLst>
                <a:ext uri="{FF2B5EF4-FFF2-40B4-BE49-F238E27FC236}">
                  <a16:creationId xmlns:a16="http://schemas.microsoft.com/office/drawing/2014/main" id="{690E18AE-5DFA-45CE-3A59-7A2FD0FB55CE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>
              <a:extLst>
                <a:ext uri="{FF2B5EF4-FFF2-40B4-BE49-F238E27FC236}">
                  <a16:creationId xmlns:a16="http://schemas.microsoft.com/office/drawing/2014/main" id="{66EFD568-D908-C915-7A9D-6A55752F5C5D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>
              <a:extLst>
                <a:ext uri="{FF2B5EF4-FFF2-40B4-BE49-F238E27FC236}">
                  <a16:creationId xmlns:a16="http://schemas.microsoft.com/office/drawing/2014/main" id="{393C3D97-9C05-6684-310C-70F31054FF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>
                <a:extLst>
                  <a:ext uri="{FF2B5EF4-FFF2-40B4-BE49-F238E27FC236}">
                    <a16:creationId xmlns:a16="http://schemas.microsoft.com/office/drawing/2014/main" id="{5D5F597D-B5D4-F954-94B6-CE8FE3E1340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>
                <a:extLst>
                  <a:ext uri="{FF2B5EF4-FFF2-40B4-BE49-F238E27FC236}">
                    <a16:creationId xmlns:a16="http://schemas.microsoft.com/office/drawing/2014/main" id="{A1A40F3D-74D5-3D87-44A6-AA558EA280D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>
                <a:extLst>
                  <a:ext uri="{FF2B5EF4-FFF2-40B4-BE49-F238E27FC236}">
                    <a16:creationId xmlns:a16="http://schemas.microsoft.com/office/drawing/2014/main" id="{E60D4AE9-9ADC-0651-D9EE-B3D44D1E43F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>
                <a:extLst>
                  <a:ext uri="{FF2B5EF4-FFF2-40B4-BE49-F238E27FC236}">
                    <a16:creationId xmlns:a16="http://schemas.microsoft.com/office/drawing/2014/main" id="{85BDA413-8AAC-B832-60A2-1B8F7D62125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>
                <a:extLst>
                  <a:ext uri="{FF2B5EF4-FFF2-40B4-BE49-F238E27FC236}">
                    <a16:creationId xmlns:a16="http://schemas.microsoft.com/office/drawing/2014/main" id="{52810634-1804-CD03-1457-CCA269B993E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>
              <a:extLst>
                <a:ext uri="{FF2B5EF4-FFF2-40B4-BE49-F238E27FC236}">
                  <a16:creationId xmlns:a16="http://schemas.microsoft.com/office/drawing/2014/main" id="{722EC986-455E-E586-79E4-0BE7BB904159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>
              <a:extLst>
                <a:ext uri="{FF2B5EF4-FFF2-40B4-BE49-F238E27FC236}">
                  <a16:creationId xmlns:a16="http://schemas.microsoft.com/office/drawing/2014/main" id="{BD16FE13-DB9B-2D08-EEB4-F14283800AB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4679" name="Rectangle 39">
            <a:extLst>
              <a:ext uri="{FF2B5EF4-FFF2-40B4-BE49-F238E27FC236}">
                <a16:creationId xmlns:a16="http://schemas.microsoft.com/office/drawing/2014/main" id="{0B6F3CAC-EEDD-9D5C-7E82-8CFBF94CCA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264680" name="Rectangle 40">
            <a:extLst>
              <a:ext uri="{FF2B5EF4-FFF2-40B4-BE49-F238E27FC236}">
                <a16:creationId xmlns:a16="http://schemas.microsoft.com/office/drawing/2014/main" id="{2DD14613-D5A5-7A51-E299-7880AA9971E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64681" name="Rectangle 41">
            <a:extLst>
              <a:ext uri="{FF2B5EF4-FFF2-40B4-BE49-F238E27FC236}">
                <a16:creationId xmlns:a16="http://schemas.microsoft.com/office/drawing/2014/main" id="{7E065004-5FC6-2579-F0BD-F96EA3A8DF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64682" name="Rectangle 42">
            <a:extLst>
              <a:ext uri="{FF2B5EF4-FFF2-40B4-BE49-F238E27FC236}">
                <a16:creationId xmlns:a16="http://schemas.microsoft.com/office/drawing/2014/main" id="{DAA47D1E-4055-A0A5-2947-4960DAACA01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43FFA0FA-C965-47DC-8971-93129DF5A8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264683" name="Rectangle 43">
            <a:extLst>
              <a:ext uri="{FF2B5EF4-FFF2-40B4-BE49-F238E27FC236}">
                <a16:creationId xmlns:a16="http://schemas.microsoft.com/office/drawing/2014/main" id="{C054C604-9AB0-3056-0132-0E9BFC9029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5344" r:id="rId1"/>
    <p:sldLayoutId id="2147485334" r:id="rId2"/>
    <p:sldLayoutId id="2147485335" r:id="rId3"/>
    <p:sldLayoutId id="2147485336" r:id="rId4"/>
    <p:sldLayoutId id="2147485337" r:id="rId5"/>
    <p:sldLayoutId id="2147485338" r:id="rId6"/>
    <p:sldLayoutId id="2147485339" r:id="rId7"/>
    <p:sldLayoutId id="2147485340" r:id="rId8"/>
    <p:sldLayoutId id="2147485341" r:id="rId9"/>
    <p:sldLayoutId id="2147485342" r:id="rId10"/>
    <p:sldLayoutId id="214748534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714" name="Rectangle 2">
            <a:extLst>
              <a:ext uri="{FF2B5EF4-FFF2-40B4-BE49-F238E27FC236}">
                <a16:creationId xmlns:a16="http://schemas.microsoft.com/office/drawing/2014/main" id="{47EEFC8E-8AF9-9DC0-B361-8496B4179D3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拷贝构造函数</a:t>
            </a:r>
          </a:p>
        </p:txBody>
      </p:sp>
      <p:sp>
        <p:nvSpPr>
          <p:cNvPr id="1267715" name="Rectangle 3">
            <a:extLst>
              <a:ext uri="{FF2B5EF4-FFF2-40B4-BE49-F238E27FC236}">
                <a16:creationId xmlns:a16="http://schemas.microsoft.com/office/drawing/2014/main" id="{BA69143B-2C8A-6288-3D25-3F991723B6E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363" name="Rectangle 3">
            <a:extLst>
              <a:ext uri="{FF2B5EF4-FFF2-40B4-BE49-F238E27FC236}">
                <a16:creationId xmlns:a16="http://schemas.microsoft.com/office/drawing/2014/main" id="{685ACBDA-170F-688D-DB93-CC8BD669C4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692150"/>
            <a:ext cx="8229600" cy="59055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/>
              <a:t>若一个构造函数的参数类型为</a:t>
            </a:r>
            <a:r>
              <a:rPr lang="zh-CN" altLang="en-US" dirty="0">
                <a:solidFill>
                  <a:srgbClr val="FFC000"/>
                </a:solidFill>
              </a:rPr>
              <a:t>本类的引用</a:t>
            </a:r>
            <a:r>
              <a:rPr lang="zh-CN" altLang="en-US" dirty="0"/>
              <a:t>，则称它为</a:t>
            </a:r>
            <a:r>
              <a:rPr lang="zh-CN" altLang="en-US" dirty="0">
                <a:solidFill>
                  <a:srgbClr val="FFC000"/>
                </a:solidFill>
              </a:rPr>
              <a:t>拷贝构造函数</a:t>
            </a:r>
            <a:r>
              <a:rPr lang="zh-CN" altLang="en-US" dirty="0"/>
              <a:t>。例如：</a:t>
            </a:r>
          </a:p>
          <a:p>
            <a:pPr lvl="1" eaLnBrk="1" hangingPunct="1">
              <a:lnSpc>
                <a:spcPct val="130000"/>
              </a:lnSpc>
              <a:buFontTx/>
              <a:buNone/>
              <a:defRPr/>
            </a:pPr>
            <a:r>
              <a:rPr lang="en-GB" altLang="zh-CN" dirty="0"/>
              <a:t>class A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dirty="0"/>
              <a:t>{	......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dirty="0"/>
              <a:t>	public: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dirty="0"/>
              <a:t>		A();  //</a:t>
            </a:r>
            <a:r>
              <a:rPr lang="zh-CN" altLang="en-GB" dirty="0"/>
              <a:t>默认构造函数</a:t>
            </a:r>
          </a:p>
          <a:p>
            <a:pPr lvl="1" eaLnBrk="1" hangingPunct="1">
              <a:buFontTx/>
              <a:buNone/>
              <a:defRPr/>
            </a:pPr>
            <a:r>
              <a:rPr lang="zh-CN" altLang="en-GB" dirty="0"/>
              <a:t>		</a:t>
            </a:r>
            <a:r>
              <a:rPr lang="en-GB" altLang="zh-CN" dirty="0"/>
              <a:t>A(</a:t>
            </a:r>
            <a:r>
              <a:rPr lang="en-GB" altLang="zh-CN" dirty="0" err="1"/>
              <a:t>const</a:t>
            </a:r>
            <a:r>
              <a:rPr lang="en-GB" altLang="zh-CN" dirty="0"/>
              <a:t> A</a:t>
            </a:r>
            <a:r>
              <a:rPr lang="en-GB" altLang="zh-CN" dirty="0">
                <a:solidFill>
                  <a:schemeClr val="folHlink"/>
                </a:solidFill>
              </a:rPr>
              <a:t>&amp;</a:t>
            </a:r>
            <a:r>
              <a:rPr lang="en-GB" altLang="zh-CN" dirty="0"/>
              <a:t> a);  //</a:t>
            </a:r>
            <a:r>
              <a:rPr lang="zh-CN" altLang="en-GB" dirty="0">
                <a:solidFill>
                  <a:schemeClr val="folHlink"/>
                </a:solidFill>
              </a:rPr>
              <a:t>拷贝构造函数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dirty="0"/>
              <a:t>};</a:t>
            </a:r>
            <a:r>
              <a:rPr lang="en-US" altLang="zh-CN" dirty="0"/>
              <a:t> </a:t>
            </a:r>
          </a:p>
          <a:p>
            <a:pPr eaLnBrk="1" hangingPunct="1">
              <a:defRPr/>
            </a:pPr>
            <a:r>
              <a:rPr lang="zh-CN" altLang="en-US" dirty="0"/>
              <a:t>在创建一个对象时，若用另一个同类型的对象对其初始化，将会调用对象类中的拷贝构造函数。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387" name="Rectangle 3">
            <a:extLst>
              <a:ext uri="{FF2B5EF4-FFF2-40B4-BE49-F238E27FC236}">
                <a16:creationId xmlns:a16="http://schemas.microsoft.com/office/drawing/2014/main" id="{AEA57A81-206D-0E4C-3737-ECC85B110A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442913" indent="-442913" eaLnBrk="1" hangingPunct="1">
              <a:defRPr/>
            </a:pPr>
            <a:r>
              <a:rPr kumimoji="1" lang="zh-CN" altLang="en-US" dirty="0"/>
              <a:t>在</a:t>
            </a:r>
            <a:r>
              <a:rPr kumimoji="1" lang="zh-CN" altLang="en-US" dirty="0">
                <a:solidFill>
                  <a:schemeClr val="folHlink"/>
                </a:solidFill>
              </a:rPr>
              <a:t>三种情况</a:t>
            </a:r>
            <a:r>
              <a:rPr kumimoji="1" lang="zh-CN" altLang="en-US" dirty="0"/>
              <a:t>下，会调用类的拷贝构造函数：</a:t>
            </a:r>
          </a:p>
          <a:p>
            <a:pPr marL="1081088" lvl="1" indent="-457200" eaLnBrk="1" hangingPunct="1">
              <a:spcBef>
                <a:spcPts val="76"/>
              </a:spcBef>
              <a:defRPr/>
            </a:pPr>
            <a:r>
              <a:rPr kumimoji="1" lang="zh-CN" altLang="en-US" dirty="0"/>
              <a:t>创建</a:t>
            </a:r>
            <a:r>
              <a:rPr kumimoji="1" lang="zh-CN" altLang="en-GB" dirty="0"/>
              <a:t>对象</a:t>
            </a:r>
            <a:r>
              <a:rPr kumimoji="1" lang="zh-CN" altLang="en-US" dirty="0"/>
              <a:t>时显式指出。</a:t>
            </a:r>
            <a:r>
              <a:rPr kumimoji="1" lang="zh-CN" altLang="en-GB" dirty="0"/>
              <a:t>例如：</a:t>
            </a:r>
            <a:endParaRPr kumimoji="1" lang="zh-CN" altLang="en-US" dirty="0"/>
          </a:p>
          <a:p>
            <a:pPr marL="1703388" lvl="2" indent="-442913" eaLnBrk="1" hangingPunct="1">
              <a:spcBef>
                <a:spcPts val="76"/>
              </a:spcBef>
              <a:buFont typeface="Wingdings" panose="05000000000000000000" pitchFamily="2" charset="2"/>
              <a:buNone/>
              <a:defRPr/>
            </a:pPr>
            <a:r>
              <a:rPr kumimoji="1" lang="en-GB" altLang="zh-CN" dirty="0"/>
              <a:t>A a1; </a:t>
            </a:r>
          </a:p>
          <a:p>
            <a:pPr marL="1703388" lvl="2" indent="-442913" eaLnBrk="1" hangingPunct="1">
              <a:spcBef>
                <a:spcPts val="76"/>
              </a:spcBef>
              <a:buFont typeface="Wingdings" panose="05000000000000000000" pitchFamily="2" charset="2"/>
              <a:buNone/>
              <a:defRPr/>
            </a:pPr>
            <a:r>
              <a:rPr kumimoji="1" lang="en-GB" altLang="zh-CN" dirty="0"/>
              <a:t>A a2(</a:t>
            </a:r>
            <a:r>
              <a:rPr kumimoji="1" lang="en-GB" altLang="zh-CN" dirty="0">
                <a:solidFill>
                  <a:srgbClr val="FFC000"/>
                </a:solidFill>
              </a:rPr>
              <a:t>a1</a:t>
            </a:r>
            <a:r>
              <a:rPr kumimoji="1" lang="en-GB" altLang="zh-CN" dirty="0"/>
              <a:t>);  //</a:t>
            </a:r>
            <a:r>
              <a:rPr kumimoji="1" lang="zh-CN" altLang="en-US" dirty="0"/>
              <a:t>创建对象</a:t>
            </a:r>
            <a:r>
              <a:rPr kumimoji="1" lang="en-US" altLang="zh-CN" dirty="0"/>
              <a:t>a2</a:t>
            </a:r>
            <a:r>
              <a:rPr kumimoji="1" lang="zh-CN" altLang="en-GB" dirty="0"/>
              <a:t>，用对象</a:t>
            </a:r>
            <a:r>
              <a:rPr kumimoji="1" lang="en-GB" altLang="zh-CN" dirty="0"/>
              <a:t>a1</a:t>
            </a:r>
            <a:r>
              <a:rPr kumimoji="1" lang="zh-CN" altLang="en-GB" dirty="0"/>
              <a:t>初始化对象</a:t>
            </a:r>
            <a:r>
              <a:rPr kumimoji="1" lang="en-GB" altLang="zh-CN" dirty="0"/>
              <a:t>a2</a:t>
            </a:r>
            <a:endParaRPr kumimoji="1" lang="zh-CN" altLang="en-GB" dirty="0"/>
          </a:p>
          <a:p>
            <a:pPr marL="1081088" lvl="1" indent="-457200" eaLnBrk="1" hangingPunct="1">
              <a:spcBef>
                <a:spcPts val="76"/>
              </a:spcBef>
              <a:defRPr/>
            </a:pPr>
            <a:r>
              <a:rPr kumimoji="1" lang="zh-CN" altLang="en-GB" dirty="0"/>
              <a:t>把对象作为</a:t>
            </a:r>
            <a:r>
              <a:rPr kumimoji="1" lang="zh-CN" altLang="en-GB" dirty="0">
                <a:solidFill>
                  <a:schemeClr val="folHlink"/>
                </a:solidFill>
              </a:rPr>
              <a:t>值参数</a:t>
            </a:r>
            <a:r>
              <a:rPr kumimoji="1" lang="zh-CN" altLang="en-GB" dirty="0"/>
              <a:t>传给函数时</a:t>
            </a:r>
            <a:r>
              <a:rPr kumimoji="1" lang="zh-CN" altLang="en-US" dirty="0"/>
              <a:t>。</a:t>
            </a:r>
            <a:r>
              <a:rPr kumimoji="1" lang="zh-CN" altLang="en-GB" dirty="0"/>
              <a:t>例如：</a:t>
            </a:r>
            <a:endParaRPr kumimoji="1" lang="zh-CN" altLang="en-US" dirty="0"/>
          </a:p>
          <a:p>
            <a:pPr marL="1703388" lvl="2" indent="-442913" eaLnBrk="1" hangingPunct="1">
              <a:spcBef>
                <a:spcPts val="76"/>
              </a:spcBef>
              <a:buFont typeface="Wingdings" panose="05000000000000000000" pitchFamily="2" charset="2"/>
              <a:buNone/>
              <a:defRPr/>
            </a:pPr>
            <a:r>
              <a:rPr kumimoji="1" lang="en-GB" altLang="zh-CN" dirty="0"/>
              <a:t>void f(</a:t>
            </a:r>
            <a:r>
              <a:rPr kumimoji="1" lang="en-GB" altLang="zh-CN" dirty="0">
                <a:solidFill>
                  <a:schemeClr val="folHlink"/>
                </a:solidFill>
              </a:rPr>
              <a:t>A</a:t>
            </a:r>
            <a:r>
              <a:rPr kumimoji="1" lang="en-GB" altLang="zh-CN" dirty="0"/>
              <a:t> x) </a:t>
            </a:r>
            <a:r>
              <a:rPr kumimoji="1" lang="en-US" altLang="zh-CN" dirty="0"/>
              <a:t>{ ...... }</a:t>
            </a:r>
            <a:r>
              <a:rPr kumimoji="1" lang="en-GB" altLang="zh-CN" dirty="0"/>
              <a:t>;</a:t>
            </a:r>
          </a:p>
          <a:p>
            <a:pPr marL="1703388" lvl="2" indent="-442913" eaLnBrk="1" hangingPunct="1">
              <a:spcBef>
                <a:spcPts val="76"/>
              </a:spcBef>
              <a:buFont typeface="Wingdings" panose="05000000000000000000" pitchFamily="2" charset="2"/>
              <a:buNone/>
              <a:defRPr/>
            </a:pPr>
            <a:r>
              <a:rPr kumimoji="1" lang="en-GB" altLang="zh-CN" dirty="0"/>
              <a:t>......</a:t>
            </a:r>
          </a:p>
          <a:p>
            <a:pPr marL="1703388" lvl="2" indent="-442913" eaLnBrk="1" hangingPunct="1">
              <a:spcBef>
                <a:spcPts val="76"/>
              </a:spcBef>
              <a:buFont typeface="Wingdings" panose="05000000000000000000" pitchFamily="2" charset="2"/>
              <a:buNone/>
              <a:defRPr/>
            </a:pPr>
            <a:r>
              <a:rPr kumimoji="1" lang="en-GB" altLang="zh-CN" dirty="0"/>
              <a:t>A </a:t>
            </a:r>
            <a:r>
              <a:rPr kumimoji="1" lang="en-GB" altLang="zh-CN" dirty="0" err="1"/>
              <a:t>a</a:t>
            </a:r>
            <a:r>
              <a:rPr kumimoji="1" lang="en-GB" altLang="zh-CN" dirty="0"/>
              <a:t>;</a:t>
            </a:r>
          </a:p>
          <a:p>
            <a:pPr marL="1703388" lvl="2" indent="-442913" eaLnBrk="1" hangingPunct="1">
              <a:spcBef>
                <a:spcPts val="76"/>
              </a:spcBef>
              <a:buFont typeface="Wingdings" panose="05000000000000000000" pitchFamily="2" charset="2"/>
              <a:buNone/>
              <a:defRPr/>
            </a:pPr>
            <a:r>
              <a:rPr kumimoji="1" lang="en-GB" altLang="zh-CN" dirty="0"/>
              <a:t>f(a);  //</a:t>
            </a:r>
            <a:r>
              <a:rPr kumimoji="1" lang="zh-CN" altLang="en-GB" dirty="0"/>
              <a:t>创建形参对象</a:t>
            </a:r>
            <a:r>
              <a:rPr kumimoji="1" lang="en-GB" altLang="zh-CN" dirty="0"/>
              <a:t>x</a:t>
            </a:r>
            <a:r>
              <a:rPr kumimoji="1" lang="zh-CN" altLang="en-GB" dirty="0"/>
              <a:t>，用对象</a:t>
            </a:r>
            <a:r>
              <a:rPr kumimoji="1" lang="en-GB" altLang="zh-CN" dirty="0"/>
              <a:t>a</a:t>
            </a:r>
            <a:r>
              <a:rPr kumimoji="1" lang="zh-CN" altLang="en-GB" dirty="0"/>
              <a:t>对</a:t>
            </a:r>
            <a:r>
              <a:rPr kumimoji="1" lang="en-US" altLang="zh-CN" dirty="0"/>
              <a:t>x</a:t>
            </a:r>
            <a:r>
              <a:rPr kumimoji="1" lang="zh-CN" altLang="en-US" dirty="0"/>
              <a:t>进行</a:t>
            </a:r>
            <a:r>
              <a:rPr kumimoji="1" lang="zh-CN" altLang="en-GB" dirty="0"/>
              <a:t>初始化。</a:t>
            </a:r>
          </a:p>
          <a:p>
            <a:pPr marL="1081088" lvl="1" indent="-457200" eaLnBrk="1" hangingPunct="1">
              <a:lnSpc>
                <a:spcPct val="130000"/>
              </a:lnSpc>
              <a:spcBef>
                <a:spcPts val="76"/>
              </a:spcBef>
              <a:defRPr/>
            </a:pPr>
            <a:r>
              <a:rPr kumimoji="1" lang="zh-CN" altLang="en-GB" dirty="0"/>
              <a:t>把对象作为函数的</a:t>
            </a:r>
            <a:r>
              <a:rPr kumimoji="1" lang="zh-CN" altLang="en-GB" dirty="0">
                <a:solidFill>
                  <a:schemeClr val="folHlink"/>
                </a:solidFill>
              </a:rPr>
              <a:t>返回值</a:t>
            </a:r>
            <a:r>
              <a:rPr kumimoji="1" lang="zh-CN" altLang="en-GB" dirty="0"/>
              <a:t>时</a:t>
            </a:r>
            <a:r>
              <a:rPr kumimoji="1" lang="zh-CN" altLang="en-US" dirty="0"/>
              <a:t>。</a:t>
            </a:r>
            <a:r>
              <a:rPr kumimoji="1" lang="zh-CN" altLang="en-GB" dirty="0"/>
              <a:t>例如：</a:t>
            </a:r>
            <a:endParaRPr kumimoji="1" lang="zh-CN" altLang="en-US" dirty="0"/>
          </a:p>
          <a:p>
            <a:pPr marL="1703388" lvl="2" indent="-442913" eaLnBrk="1" hangingPunct="1">
              <a:spcBef>
                <a:spcPts val="76"/>
              </a:spcBef>
              <a:buFont typeface="Wingdings" panose="05000000000000000000" pitchFamily="2" charset="2"/>
              <a:buNone/>
              <a:defRPr/>
            </a:pPr>
            <a:r>
              <a:rPr kumimoji="1" lang="en-GB" altLang="zh-CN" dirty="0">
                <a:solidFill>
                  <a:schemeClr val="folHlink"/>
                </a:solidFill>
              </a:rPr>
              <a:t>A</a:t>
            </a:r>
            <a:r>
              <a:rPr kumimoji="1" lang="en-GB" altLang="zh-CN" dirty="0"/>
              <a:t> f() </a:t>
            </a:r>
          </a:p>
          <a:p>
            <a:pPr marL="1703388" lvl="2" indent="-442913" eaLnBrk="1" hangingPunct="1">
              <a:spcBef>
                <a:spcPts val="76"/>
              </a:spcBef>
              <a:buFont typeface="Wingdings" panose="05000000000000000000" pitchFamily="2" charset="2"/>
              <a:buNone/>
              <a:defRPr/>
            </a:pPr>
            <a:r>
              <a:rPr kumimoji="1" lang="en-GB" altLang="zh-CN" dirty="0"/>
              <a:t>{	A </a:t>
            </a:r>
            <a:r>
              <a:rPr kumimoji="1" lang="en-GB" altLang="zh-CN" dirty="0" err="1"/>
              <a:t>a</a:t>
            </a:r>
            <a:r>
              <a:rPr kumimoji="1" lang="en-GB" altLang="zh-CN" dirty="0"/>
              <a:t>;</a:t>
            </a:r>
          </a:p>
          <a:p>
            <a:pPr marL="1703388" lvl="2" indent="-442913" eaLnBrk="1" hangingPunct="1">
              <a:spcBef>
                <a:spcPts val="76"/>
              </a:spcBef>
              <a:buFont typeface="Wingdings" panose="05000000000000000000" pitchFamily="2" charset="2"/>
              <a:buNone/>
              <a:defRPr/>
            </a:pPr>
            <a:r>
              <a:rPr kumimoji="1" lang="en-GB" altLang="zh-CN" dirty="0"/>
              <a:t>	......</a:t>
            </a:r>
          </a:p>
          <a:p>
            <a:pPr marL="1703388" lvl="2" indent="-442913" eaLnBrk="1" hangingPunct="1">
              <a:spcBef>
                <a:spcPts val="76"/>
              </a:spcBef>
              <a:buFont typeface="Wingdings" panose="05000000000000000000" pitchFamily="2" charset="2"/>
              <a:buNone/>
              <a:defRPr/>
            </a:pPr>
            <a:r>
              <a:rPr kumimoji="1" lang="en-GB" altLang="zh-CN" dirty="0"/>
              <a:t>	return a; //</a:t>
            </a:r>
            <a:r>
              <a:rPr kumimoji="1" lang="zh-CN" altLang="en-GB" dirty="0"/>
              <a:t>创建一个临时对象，用对象</a:t>
            </a:r>
            <a:r>
              <a:rPr kumimoji="1" lang="en-GB" altLang="zh-CN" dirty="0"/>
              <a:t>a</a:t>
            </a:r>
            <a:r>
              <a:rPr kumimoji="1" lang="zh-CN" altLang="en-GB" dirty="0"/>
              <a:t>对</a:t>
            </a:r>
            <a:r>
              <a:rPr kumimoji="1" lang="zh-CN" altLang="en-US" dirty="0"/>
              <a:t>创建的临时对象进行</a:t>
            </a:r>
            <a:r>
              <a:rPr kumimoji="1" lang="zh-CN" altLang="en-GB" dirty="0"/>
              <a:t>初始化。</a:t>
            </a:r>
          </a:p>
          <a:p>
            <a:pPr marL="1703388" lvl="2" indent="-442913" eaLnBrk="1" hangingPunct="1">
              <a:spcBef>
                <a:spcPts val="76"/>
              </a:spcBef>
              <a:buFont typeface="Wingdings" panose="05000000000000000000" pitchFamily="2" charset="2"/>
              <a:buNone/>
              <a:defRPr/>
            </a:pPr>
            <a:r>
              <a:rPr kumimoji="1" lang="en-GB" altLang="zh-CN" dirty="0"/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858" name="Rectangle 2">
            <a:extLst>
              <a:ext uri="{FF2B5EF4-FFF2-40B4-BE49-F238E27FC236}">
                <a16:creationId xmlns:a16="http://schemas.microsoft.com/office/drawing/2014/main" id="{25FF19B5-94E4-58E9-B3AF-0C8E9D2B4B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0" y="188913"/>
            <a:ext cx="7162800" cy="10985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>
                <a:solidFill>
                  <a:schemeClr val="folHlink"/>
                </a:solidFill>
              </a:rPr>
              <a:t>隐式</a:t>
            </a:r>
            <a:r>
              <a:rPr lang="zh-CN" altLang="en-US" sz="4000"/>
              <a:t>拷贝构造函数</a:t>
            </a:r>
          </a:p>
        </p:txBody>
      </p:sp>
      <p:sp>
        <p:nvSpPr>
          <p:cNvPr id="1145859" name="Rectangle 3">
            <a:extLst>
              <a:ext uri="{FF2B5EF4-FFF2-40B4-BE49-F238E27FC236}">
                <a16:creationId xmlns:a16="http://schemas.microsoft.com/office/drawing/2014/main" id="{A2272075-8217-B78F-5784-561F06E8A2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628775"/>
            <a:ext cx="8785225" cy="4679950"/>
          </a:xfrm>
        </p:spPr>
        <p:txBody>
          <a:bodyPr/>
          <a:lstStyle/>
          <a:p>
            <a:pPr marL="442913" indent="-442913" eaLnBrk="1" hangingPunct="1">
              <a:lnSpc>
                <a:spcPct val="105000"/>
              </a:lnSpc>
              <a:defRPr/>
            </a:pPr>
            <a:r>
              <a:rPr lang="zh-CN" altLang="en-US" dirty="0"/>
              <a:t>在程序中，如果没有为某个类提供拷贝构造函数，则编译器将会为其生成一个</a:t>
            </a:r>
            <a:r>
              <a:rPr lang="zh-CN" altLang="en-US" dirty="0">
                <a:solidFill>
                  <a:schemeClr val="folHlink"/>
                </a:solidFill>
              </a:rPr>
              <a:t>隐式拷贝构造函数</a:t>
            </a:r>
            <a:r>
              <a:rPr lang="zh-CN" altLang="en-US" dirty="0"/>
              <a:t>。</a:t>
            </a:r>
          </a:p>
          <a:p>
            <a:pPr marL="442913" indent="-442913" eaLnBrk="1" hangingPunct="1">
              <a:lnSpc>
                <a:spcPct val="105000"/>
              </a:lnSpc>
              <a:defRPr/>
            </a:pPr>
            <a:r>
              <a:rPr lang="zh-CN" altLang="en-US" dirty="0"/>
              <a:t>隐式拷贝构造函数将</a:t>
            </a:r>
            <a:r>
              <a:rPr lang="zh-CN" altLang="en-GB" dirty="0">
                <a:solidFill>
                  <a:schemeClr val="folHlink"/>
                </a:solidFill>
              </a:rPr>
              <a:t>逐个成员</a:t>
            </a:r>
            <a:r>
              <a:rPr lang="zh-CN" altLang="en-US" dirty="0"/>
              <a:t>进行拷贝</a:t>
            </a:r>
            <a:r>
              <a:rPr lang="zh-CN" altLang="en-GB" dirty="0"/>
              <a:t>初始化</a:t>
            </a:r>
          </a:p>
          <a:p>
            <a:pPr marL="1089025" lvl="1" indent="-368300" eaLnBrk="1" hangingPunct="1">
              <a:lnSpc>
                <a:spcPct val="105000"/>
              </a:lnSpc>
              <a:defRPr/>
            </a:pPr>
            <a:r>
              <a:rPr lang="zh-CN" altLang="en-GB" dirty="0"/>
              <a:t>对于</a:t>
            </a:r>
            <a:r>
              <a:rPr lang="zh-CN" altLang="en-US" dirty="0"/>
              <a:t>非对象</a:t>
            </a:r>
            <a:r>
              <a:rPr lang="zh-CN" altLang="en-GB" dirty="0"/>
              <a:t>成员：它采用通常的</a:t>
            </a:r>
            <a:r>
              <a:rPr lang="zh-CN" altLang="en-US" dirty="0"/>
              <a:t>拷贝</a:t>
            </a:r>
            <a:r>
              <a:rPr lang="zh-CN" altLang="en-GB" dirty="0"/>
              <a:t>操作；</a:t>
            </a:r>
          </a:p>
          <a:p>
            <a:pPr marL="1089025" lvl="1" indent="-368300" eaLnBrk="1" hangingPunct="1">
              <a:lnSpc>
                <a:spcPct val="105000"/>
              </a:lnSpc>
              <a:defRPr/>
            </a:pPr>
            <a:r>
              <a:rPr lang="zh-CN" altLang="en-GB" dirty="0"/>
              <a:t>对于成员对象：则调用成员对象类的</a:t>
            </a:r>
            <a:r>
              <a:rPr lang="zh-CN" altLang="en-GB" dirty="0">
                <a:solidFill>
                  <a:srgbClr val="FFC000"/>
                </a:solidFill>
              </a:rPr>
              <a:t>拷贝构造函数</a:t>
            </a:r>
            <a:r>
              <a:rPr lang="zh-CN" altLang="en-GB" dirty="0"/>
              <a:t>来</a:t>
            </a:r>
            <a:r>
              <a:rPr lang="zh-CN" altLang="en-US" dirty="0"/>
              <a:t>对成员对象进行</a:t>
            </a:r>
            <a:r>
              <a:rPr lang="zh-CN" altLang="en-GB" dirty="0"/>
              <a:t>初始化。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C000"/>
                </a:solidFill>
              </a:rPr>
              <a:t>递归定义！</a:t>
            </a:r>
            <a:r>
              <a:rPr lang="zh-CN" altLang="en-US" dirty="0"/>
              <a:t>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411" name="Rectangle 3">
            <a:extLst>
              <a:ext uri="{FF2B5EF4-FFF2-40B4-BE49-F238E27FC236}">
                <a16:creationId xmlns:a16="http://schemas.microsoft.com/office/drawing/2014/main" id="{EF70096B-E560-D7F3-CBBA-53F18A513F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5888"/>
            <a:ext cx="8229600" cy="6192837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class 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	  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 </a:t>
            </a:r>
            <a:r>
              <a:rPr lang="en-GB" altLang="zh-CN" sz="2400" dirty="0" err="1"/>
              <a:t>x,y</a:t>
            </a:r>
            <a:r>
              <a:rPr lang="en-GB" altLang="zh-CN" sz="2400" dirty="0"/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public: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  A() { x = y = 0;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  ......</a:t>
            </a:r>
            <a:endParaRPr lang="zh-CN" altLang="en-GB" sz="2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};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class B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	  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 z;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  A </a:t>
            </a:r>
            <a:r>
              <a:rPr lang="en-GB" altLang="zh-CN" sz="2400" dirty="0" err="1">
                <a:solidFill>
                  <a:srgbClr val="FFC000"/>
                </a:solidFill>
              </a:rPr>
              <a:t>a</a:t>
            </a:r>
            <a:r>
              <a:rPr lang="en-GB" altLang="zh-CN" sz="2400" dirty="0"/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   public: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  B() { z = 0;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  ...... //</a:t>
            </a:r>
            <a:r>
              <a:rPr lang="zh-CN" altLang="en-GB" sz="2400" dirty="0"/>
              <a:t>其中没有定义拷贝构造函数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};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B b1; //b1.z</a:t>
            </a:r>
            <a:r>
              <a:rPr lang="zh-CN" altLang="en-US" sz="2400" dirty="0"/>
              <a:t>以及</a:t>
            </a:r>
            <a:r>
              <a:rPr lang="en-GB" altLang="zh-CN" sz="2400" dirty="0"/>
              <a:t>b1.a.x</a:t>
            </a:r>
            <a:r>
              <a:rPr lang="zh-CN" altLang="en-US" sz="2400" dirty="0"/>
              <a:t>和</a:t>
            </a:r>
            <a:r>
              <a:rPr lang="en-GB" altLang="zh-CN" sz="2400" dirty="0"/>
              <a:t>b1.a.y</a:t>
            </a:r>
            <a:r>
              <a:rPr lang="zh-CN" altLang="en-GB" sz="2400" dirty="0"/>
              <a:t>均为</a:t>
            </a:r>
            <a:r>
              <a:rPr lang="en-GB" altLang="zh-CN" sz="2400" dirty="0"/>
              <a:t>0</a:t>
            </a:r>
            <a:r>
              <a:rPr lang="zh-CN" altLang="en-GB" sz="2400" dirty="0"/>
              <a:t>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B b2(b1);</a:t>
            </a:r>
            <a:r>
              <a:rPr lang="en-US" altLang="zh-CN" sz="2400" dirty="0"/>
              <a:t> //b2.z</a:t>
            </a:r>
            <a:r>
              <a:rPr lang="zh-CN" altLang="en-US" sz="2400" dirty="0"/>
              <a:t>初始化成</a:t>
            </a:r>
            <a:r>
              <a:rPr lang="en-US" altLang="zh-CN" sz="2400" dirty="0"/>
              <a:t>b1.z</a:t>
            </a:r>
            <a:r>
              <a:rPr lang="zh-CN" altLang="en-US" sz="2400" dirty="0"/>
              <a:t>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		      </a:t>
            </a:r>
            <a:r>
              <a:rPr lang="en-US" altLang="zh-CN" sz="2400" dirty="0"/>
              <a:t>//</a:t>
            </a:r>
            <a:r>
              <a:rPr lang="zh-CN" altLang="en-US" sz="2400" dirty="0"/>
              <a:t>调用</a:t>
            </a:r>
            <a:r>
              <a:rPr lang="en-US" altLang="zh-CN" sz="2400" dirty="0"/>
              <a:t>A</a:t>
            </a:r>
            <a:r>
              <a:rPr lang="zh-CN" altLang="en-US" sz="2400" dirty="0"/>
              <a:t>的拷贝构造函数用</a:t>
            </a:r>
            <a:r>
              <a:rPr lang="en-US" altLang="zh-CN" sz="2400" dirty="0"/>
              <a:t>b1.a</a:t>
            </a:r>
            <a:r>
              <a:rPr lang="zh-CN" altLang="en-US" sz="2400" dirty="0"/>
              <a:t>对</a:t>
            </a:r>
            <a:r>
              <a:rPr lang="en-US" altLang="zh-CN" sz="2400" dirty="0"/>
              <a:t>b2.a</a:t>
            </a:r>
            <a:r>
              <a:rPr lang="zh-CN" altLang="en-US" sz="2400" dirty="0"/>
              <a:t>初始化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050" name="Rectangle 2">
            <a:extLst>
              <a:ext uri="{FF2B5EF4-FFF2-40B4-BE49-F238E27FC236}">
                <a16:creationId xmlns:a16="http://schemas.microsoft.com/office/drawing/2014/main" id="{2F2302E5-A789-711F-2966-E4F44BEB66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自定义拷贝构造函数</a:t>
            </a:r>
          </a:p>
        </p:txBody>
      </p:sp>
      <p:sp>
        <p:nvSpPr>
          <p:cNvPr id="1154051" name="Rectangle 3">
            <a:extLst>
              <a:ext uri="{FF2B5EF4-FFF2-40B4-BE49-F238E27FC236}">
                <a16:creationId xmlns:a16="http://schemas.microsoft.com/office/drawing/2014/main" id="{574D9848-5BC2-E4FB-D679-B916B357C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339850"/>
            <a:ext cx="8424863" cy="4681538"/>
          </a:xfrm>
        </p:spPr>
        <p:txBody>
          <a:bodyPr/>
          <a:lstStyle/>
          <a:p>
            <a:pPr eaLnBrk="1" hangingPunct="1">
              <a:spcBef>
                <a:spcPct val="55000"/>
              </a:spcBef>
              <a:defRPr/>
            </a:pPr>
            <a:r>
              <a:rPr lang="zh-CN" altLang="en-US" dirty="0"/>
              <a:t>一般情况下，编译程序提供的隐式</a:t>
            </a:r>
            <a:r>
              <a:rPr lang="zh-CN" altLang="en-GB" dirty="0"/>
              <a:t>拷贝构造函数的行为足以满足要求，</a:t>
            </a:r>
            <a:r>
              <a:rPr lang="zh-CN" altLang="en-US" dirty="0"/>
              <a:t>类中不需要自定义拷贝构造函数。</a:t>
            </a:r>
            <a:endParaRPr lang="en-US" altLang="zh-CN" dirty="0"/>
          </a:p>
          <a:p>
            <a:pPr eaLnBrk="1" hangingPunct="1">
              <a:spcBef>
                <a:spcPct val="55000"/>
              </a:spcBef>
              <a:defRPr/>
            </a:pPr>
            <a:r>
              <a:rPr lang="zh-CN" altLang="en-US" dirty="0"/>
              <a:t>但在</a:t>
            </a:r>
            <a:r>
              <a:rPr lang="zh-CN" altLang="en-US" dirty="0">
                <a:solidFill>
                  <a:schemeClr val="tx2"/>
                </a:solidFill>
              </a:rPr>
              <a:t>某些情况</a:t>
            </a:r>
            <a:r>
              <a:rPr lang="zh-CN" altLang="en-US" dirty="0"/>
              <a:t>下，必须要自定义拷贝构造函数，否则，将会产生设计者未意识到的严重的程序错误。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075" name="Rectangle 3">
            <a:extLst>
              <a:ext uri="{FF2B5EF4-FFF2-40B4-BE49-F238E27FC236}">
                <a16:creationId xmlns:a16="http://schemas.microsoft.com/office/drawing/2014/main" id="{EAE0FCAE-9E82-D073-ECBB-018326F266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44450"/>
            <a:ext cx="7991475" cy="511333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5000"/>
              </a:spcBef>
              <a:defRPr/>
            </a:pPr>
            <a:r>
              <a:rPr lang="zh-CN" altLang="en-US" sz="3000" dirty="0"/>
              <a:t>例如，在下面的类中没有自定义拷贝构造函数：</a:t>
            </a:r>
            <a:endParaRPr lang="en-GB" altLang="zh-CN" sz="3000" dirty="0"/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class </a:t>
            </a:r>
            <a:r>
              <a:rPr lang="en-US" altLang="zh-CN" sz="2400" dirty="0"/>
              <a:t>String</a:t>
            </a:r>
            <a:endParaRPr lang="en-GB" altLang="zh-CN" sz="2400" dirty="0"/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	   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 </a:t>
            </a:r>
            <a:r>
              <a:rPr lang="en-GB" altLang="zh-CN" sz="2400" dirty="0" err="1"/>
              <a:t>len</a:t>
            </a:r>
            <a:r>
              <a:rPr lang="en-GB" altLang="zh-CN" sz="2400" dirty="0"/>
              <a:t>;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   char *</a:t>
            </a:r>
            <a:r>
              <a:rPr lang="en-GB" altLang="zh-CN" sz="2400" dirty="0" err="1"/>
              <a:t>str</a:t>
            </a:r>
            <a:r>
              <a:rPr lang="en-GB" altLang="zh-CN" sz="2400" dirty="0"/>
              <a:t>;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public: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String(char *s) 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{ </a:t>
            </a:r>
            <a:r>
              <a:rPr lang="en-GB" altLang="zh-CN" sz="2400" dirty="0" err="1"/>
              <a:t>len</a:t>
            </a:r>
            <a:r>
              <a:rPr lang="en-GB" altLang="zh-CN" sz="2400" dirty="0"/>
              <a:t> = </a:t>
            </a:r>
            <a:r>
              <a:rPr lang="en-GB" altLang="zh-CN" sz="2400" dirty="0" err="1"/>
              <a:t>strlen</a:t>
            </a:r>
            <a:r>
              <a:rPr lang="en-GB" altLang="zh-CN" sz="2400" dirty="0"/>
              <a:t>(s); 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   </a:t>
            </a:r>
            <a:r>
              <a:rPr lang="en-GB" altLang="zh-CN" sz="2400" dirty="0" err="1"/>
              <a:t>str</a:t>
            </a:r>
            <a:r>
              <a:rPr lang="en-GB" altLang="zh-CN" sz="2400" dirty="0"/>
              <a:t> = new char[len+1]; 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   </a:t>
            </a:r>
            <a:r>
              <a:rPr lang="en-GB" altLang="zh-CN" sz="2400" dirty="0" err="1"/>
              <a:t>strcpy</a:t>
            </a:r>
            <a:r>
              <a:rPr lang="en-GB" altLang="zh-CN" sz="2400" dirty="0"/>
              <a:t>(</a:t>
            </a:r>
            <a:r>
              <a:rPr lang="en-GB" altLang="zh-CN" sz="2400" dirty="0" err="1"/>
              <a:t>str,s</a:t>
            </a:r>
            <a:r>
              <a:rPr lang="en-GB" altLang="zh-CN" sz="2400" dirty="0"/>
              <a:t>); 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}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~String() { delete []</a:t>
            </a:r>
            <a:r>
              <a:rPr lang="en-GB" altLang="zh-CN" sz="2400" dirty="0" err="1"/>
              <a:t>str</a:t>
            </a:r>
            <a:r>
              <a:rPr lang="en-GB" altLang="zh-CN" sz="2400" dirty="0"/>
              <a:t>; </a:t>
            </a:r>
            <a:r>
              <a:rPr lang="en-US" altLang="zh-CN" sz="2400" dirty="0" err="1"/>
              <a:t>len</a:t>
            </a:r>
            <a:r>
              <a:rPr lang="en-US" altLang="zh-CN" sz="2400" dirty="0"/>
              <a:t>=0; </a:t>
            </a:r>
            <a:r>
              <a:rPr lang="en-US" altLang="zh-CN" sz="2400" dirty="0" err="1"/>
              <a:t>str</a:t>
            </a:r>
            <a:r>
              <a:rPr lang="en-US" altLang="zh-CN" sz="2400" dirty="0"/>
              <a:t>=NULL; </a:t>
            </a:r>
            <a:r>
              <a:rPr lang="en-GB" altLang="zh-CN" sz="2400" dirty="0"/>
              <a:t>}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};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......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kumimoji="1" lang="it-IT" altLang="zh-CN" sz="2400" dirty="0">
                <a:effectLst/>
              </a:rPr>
              <a:t>String s1("abcd");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kumimoji="1" lang="it-IT" altLang="zh-CN" sz="2400" dirty="0">
                <a:effectLst/>
              </a:rPr>
              <a:t>String s2(s1);</a:t>
            </a:r>
            <a:endParaRPr lang="en-US" altLang="zh-CN" sz="2400" dirty="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185101D1-ACCB-3FE6-82D3-AD7993DB5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438" y="4652963"/>
            <a:ext cx="795337" cy="1228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2292" name="Line 4">
            <a:extLst>
              <a:ext uri="{FF2B5EF4-FFF2-40B4-BE49-F238E27FC236}">
                <a16:creationId xmlns:a16="http://schemas.microsoft.com/office/drawing/2014/main" id="{0F8FB44F-D56A-B5B6-3EEB-D98A896E3C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5300663"/>
            <a:ext cx="795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6" name="Rectangle 5">
            <a:extLst>
              <a:ext uri="{FF2B5EF4-FFF2-40B4-BE49-F238E27FC236}">
                <a16:creationId xmlns:a16="http://schemas.microsoft.com/office/drawing/2014/main" id="{AB7B7973-5A87-0195-E188-AF5D65D0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0713" y="4652963"/>
            <a:ext cx="795337" cy="11985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1688" name="Line 7">
            <a:extLst>
              <a:ext uri="{FF2B5EF4-FFF2-40B4-BE49-F238E27FC236}">
                <a16:creationId xmlns:a16="http://schemas.microsoft.com/office/drawing/2014/main" id="{6664C134-6A22-C26A-48A9-D17F7C1C0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40713" y="5300663"/>
            <a:ext cx="795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5" name="Rectangle 8">
            <a:extLst>
              <a:ext uri="{FF2B5EF4-FFF2-40B4-BE49-F238E27FC236}">
                <a16:creationId xmlns:a16="http://schemas.microsoft.com/office/drawing/2014/main" id="{7F33D307-AD7D-8B65-D248-CB3106420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8525" y="5210175"/>
            <a:ext cx="898525" cy="611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2296" name="Line 9">
            <a:extLst>
              <a:ext uri="{FF2B5EF4-FFF2-40B4-BE49-F238E27FC236}">
                <a16:creationId xmlns:a16="http://schemas.microsoft.com/office/drawing/2014/main" id="{BFBD71FE-444C-5AF0-3ABC-6952B9D10A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9663" y="5516563"/>
            <a:ext cx="1058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1" name="Line 10">
            <a:extLst>
              <a:ext uri="{FF2B5EF4-FFF2-40B4-BE49-F238E27FC236}">
                <a16:creationId xmlns:a16="http://schemas.microsoft.com/office/drawing/2014/main" id="{BDB04F19-78B6-4FA0-7627-5C6B4648E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6950" y="5516563"/>
            <a:ext cx="0" cy="922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2" name="Line 11">
            <a:extLst>
              <a:ext uri="{FF2B5EF4-FFF2-40B4-BE49-F238E27FC236}">
                <a16:creationId xmlns:a16="http://schemas.microsoft.com/office/drawing/2014/main" id="{D944D276-ABAB-C2CF-D1E4-1477B5911F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43663" y="6438900"/>
            <a:ext cx="2160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3" name="Line 12">
            <a:extLst>
              <a:ext uri="{FF2B5EF4-FFF2-40B4-BE49-F238E27FC236}">
                <a16:creationId xmlns:a16="http://schemas.microsoft.com/office/drawing/2014/main" id="{5968053E-E562-5E89-DB0C-263A52C150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43663" y="5821363"/>
            <a:ext cx="0" cy="617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0" name="Text Box 14">
            <a:extLst>
              <a:ext uri="{FF2B5EF4-FFF2-40B4-BE49-F238E27FC236}">
                <a16:creationId xmlns:a16="http://schemas.microsoft.com/office/drawing/2014/main" id="{F19EDE79-8E58-E3CA-E005-6E7889760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75" y="4724400"/>
            <a:ext cx="531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len</a:t>
            </a:r>
          </a:p>
        </p:txBody>
      </p:sp>
      <p:sp>
        <p:nvSpPr>
          <p:cNvPr id="12301" name="Text Box 15">
            <a:extLst>
              <a:ext uri="{FF2B5EF4-FFF2-40B4-BE49-F238E27FC236}">
                <a16:creationId xmlns:a16="http://schemas.microsoft.com/office/drawing/2014/main" id="{16315F9B-C02B-DDEE-97A2-68AA68304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3488" y="5373688"/>
            <a:ext cx="493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str</a:t>
            </a:r>
          </a:p>
        </p:txBody>
      </p:sp>
      <p:sp>
        <p:nvSpPr>
          <p:cNvPr id="71698" name="Text Box 17">
            <a:extLst>
              <a:ext uri="{FF2B5EF4-FFF2-40B4-BE49-F238E27FC236}">
                <a16:creationId xmlns:a16="http://schemas.microsoft.com/office/drawing/2014/main" id="{B9BB9C71-750B-0DB8-E0E1-1193FAFF9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4710113"/>
            <a:ext cx="5318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len</a:t>
            </a:r>
          </a:p>
        </p:txBody>
      </p:sp>
      <p:sp>
        <p:nvSpPr>
          <p:cNvPr id="71699" name="Text Box 18">
            <a:extLst>
              <a:ext uri="{FF2B5EF4-FFF2-40B4-BE49-F238E27FC236}">
                <a16:creationId xmlns:a16="http://schemas.microsoft.com/office/drawing/2014/main" id="{36C849D1-8353-8CAF-F01D-8947D4684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0963" y="5359400"/>
            <a:ext cx="4937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str</a:t>
            </a:r>
          </a:p>
        </p:txBody>
      </p:sp>
      <p:sp>
        <p:nvSpPr>
          <p:cNvPr id="12304" name="Text Box 19">
            <a:extLst>
              <a:ext uri="{FF2B5EF4-FFF2-40B4-BE49-F238E27FC236}">
                <a16:creationId xmlns:a16="http://schemas.microsoft.com/office/drawing/2014/main" id="{FCAE6B4B-5285-3612-3C22-A75D7E07C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25" y="4070350"/>
            <a:ext cx="466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s1</a:t>
            </a:r>
          </a:p>
        </p:txBody>
      </p:sp>
      <p:sp>
        <p:nvSpPr>
          <p:cNvPr id="71701" name="Text Box 20">
            <a:extLst>
              <a:ext uri="{FF2B5EF4-FFF2-40B4-BE49-F238E27FC236}">
                <a16:creationId xmlns:a16="http://schemas.microsoft.com/office/drawing/2014/main" id="{B9897E51-BC2D-E812-75B8-E561EBB1F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4688" y="4070350"/>
            <a:ext cx="466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s2</a:t>
            </a:r>
          </a:p>
        </p:txBody>
      </p:sp>
      <p:sp>
        <p:nvSpPr>
          <p:cNvPr id="12306" name="Text Box 21">
            <a:extLst>
              <a:ext uri="{FF2B5EF4-FFF2-40B4-BE49-F238E27FC236}">
                <a16:creationId xmlns:a16="http://schemas.microsoft.com/office/drawing/2014/main" id="{A0E99781-949E-DE1A-07F5-13D58ADB0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25" y="5351463"/>
            <a:ext cx="7254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abcd</a:t>
            </a:r>
          </a:p>
        </p:txBody>
      </p:sp>
      <p:sp>
        <p:nvSpPr>
          <p:cNvPr id="12307" name="Text Box 23">
            <a:extLst>
              <a:ext uri="{FF2B5EF4-FFF2-40B4-BE49-F238E27FC236}">
                <a16:creationId xmlns:a16="http://schemas.microsoft.com/office/drawing/2014/main" id="{6D8CC405-6EB6-6BC0-B441-0EC3CB240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2163" y="4791075"/>
            <a:ext cx="33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4</a:t>
            </a:r>
          </a:p>
        </p:txBody>
      </p:sp>
      <p:sp>
        <p:nvSpPr>
          <p:cNvPr id="71706" name="Text Box 25">
            <a:extLst>
              <a:ext uri="{FF2B5EF4-FFF2-40B4-BE49-F238E27FC236}">
                <a16:creationId xmlns:a16="http://schemas.microsoft.com/office/drawing/2014/main" id="{D3751921-2711-FE4C-F111-104251368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9950" y="4724400"/>
            <a:ext cx="33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4</a:t>
            </a:r>
          </a:p>
        </p:txBody>
      </p:sp>
      <p:sp>
        <p:nvSpPr>
          <p:cNvPr id="71707" name="TextBox 26">
            <a:extLst>
              <a:ext uri="{FF2B5EF4-FFF2-40B4-BE49-F238E27FC236}">
                <a16:creationId xmlns:a16="http://schemas.microsoft.com/office/drawing/2014/main" id="{008AA351-28CC-01C3-C291-EE50876D9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5172075"/>
            <a:ext cx="3563937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0975" indent="-180975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GB" sz="2400"/>
              <a:t>系统提供的隐式拷贝构造函数将会使得</a:t>
            </a:r>
            <a:r>
              <a:rPr lang="en-GB" altLang="zh-CN" sz="2400"/>
              <a:t>s1</a:t>
            </a:r>
            <a:r>
              <a:rPr lang="zh-CN" altLang="en-GB" sz="2400"/>
              <a:t>和</a:t>
            </a:r>
            <a:r>
              <a:rPr lang="en-GB" altLang="zh-CN" sz="2400"/>
              <a:t>s2</a:t>
            </a:r>
            <a:r>
              <a:rPr lang="zh-CN" altLang="en-GB" sz="2400"/>
              <a:t>的成员指针</a:t>
            </a:r>
            <a:r>
              <a:rPr lang="en-GB" altLang="zh-CN" sz="2400"/>
              <a:t>str</a:t>
            </a:r>
            <a:r>
              <a:rPr lang="zh-CN" altLang="en-GB" sz="2400">
                <a:solidFill>
                  <a:srgbClr val="FFC000"/>
                </a:solidFill>
              </a:rPr>
              <a:t>指向同一块内存区域</a:t>
            </a:r>
            <a:r>
              <a:rPr lang="zh-CN" altLang="en-US" sz="2400">
                <a:solidFill>
                  <a:srgbClr val="FFC000"/>
                </a:solidFill>
              </a:rPr>
              <a:t>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50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50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1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1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1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1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1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1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1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1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1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1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6" grpId="0" animBg="1"/>
      <p:bldP spid="71698" grpId="0"/>
      <p:bldP spid="71699" grpId="0"/>
      <p:bldP spid="71701" grpId="0"/>
      <p:bldP spid="71706" grpId="0"/>
      <p:bldP spid="7170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099" name="Rectangle 3">
            <a:extLst>
              <a:ext uri="{FF2B5EF4-FFF2-40B4-BE49-F238E27FC236}">
                <a16:creationId xmlns:a16="http://schemas.microsoft.com/office/drawing/2014/main" id="{AC7DCF8B-03DC-F8EF-1147-CB22F568C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549275"/>
            <a:ext cx="8229600" cy="5903913"/>
          </a:xfrm>
        </p:spPr>
        <p:txBody>
          <a:bodyPr/>
          <a:lstStyle/>
          <a:p>
            <a:pPr eaLnBrk="1" hangingPunct="1">
              <a:spcBef>
                <a:spcPct val="30000"/>
              </a:spcBef>
              <a:defRPr/>
            </a:pPr>
            <a:r>
              <a:rPr lang="zh-CN" altLang="en-GB" dirty="0"/>
              <a:t>它带来的问题是：</a:t>
            </a:r>
          </a:p>
          <a:p>
            <a:pPr lvl="1" eaLnBrk="1" hangingPunct="1">
              <a:spcBef>
                <a:spcPct val="30000"/>
              </a:spcBef>
              <a:defRPr/>
            </a:pPr>
            <a:r>
              <a:rPr lang="zh-CN" altLang="en-GB" dirty="0"/>
              <a:t>如果对一个对象</a:t>
            </a:r>
            <a:r>
              <a:rPr lang="zh-CN" altLang="en-US" dirty="0"/>
              <a:t>（</a:t>
            </a:r>
            <a:r>
              <a:rPr lang="en-US" altLang="zh-CN" dirty="0"/>
              <a:t>s1</a:t>
            </a:r>
            <a:r>
              <a:rPr lang="zh-CN" altLang="en-US" dirty="0"/>
              <a:t>或</a:t>
            </a:r>
            <a:r>
              <a:rPr lang="en-US" altLang="zh-CN" dirty="0"/>
              <a:t>s2</a:t>
            </a:r>
            <a:r>
              <a:rPr lang="zh-CN" altLang="en-US" dirty="0"/>
              <a:t>）</a:t>
            </a:r>
            <a:r>
              <a:rPr lang="zh-CN" altLang="en-GB" dirty="0"/>
              <a:t>操作之后修改了这块空间的内容，则另一个对象将会受到影响。如果不是设计者特意所为，这将是一个隐藏的错误。</a:t>
            </a:r>
          </a:p>
          <a:p>
            <a:pPr lvl="1" eaLnBrk="1" hangingPunct="1">
              <a:spcBef>
                <a:spcPct val="30000"/>
              </a:spcBef>
              <a:defRPr/>
            </a:pPr>
            <a:r>
              <a:rPr lang="zh-CN" altLang="en-GB" dirty="0"/>
              <a:t>当对象</a:t>
            </a:r>
            <a:r>
              <a:rPr lang="en-GB" altLang="zh-CN" dirty="0"/>
              <a:t>s1</a:t>
            </a:r>
            <a:r>
              <a:rPr lang="zh-CN" altLang="en-GB" dirty="0"/>
              <a:t>和</a:t>
            </a:r>
            <a:r>
              <a:rPr lang="en-GB" altLang="zh-CN" dirty="0"/>
              <a:t>s2</a:t>
            </a:r>
            <a:r>
              <a:rPr lang="zh-CN" altLang="en-GB" dirty="0"/>
              <a:t>消亡时，将会分别去调用它们的析构函数，这会使得同一块内存区域将被归还两次，从而导致程序运行</a:t>
            </a:r>
            <a:r>
              <a:rPr lang="zh-CN" altLang="en-US" dirty="0"/>
              <a:t>错误</a:t>
            </a:r>
            <a:r>
              <a:rPr lang="zh-CN" altLang="en-GB" dirty="0"/>
              <a:t>。</a:t>
            </a:r>
            <a:endParaRPr lang="en-US" altLang="zh-CN" dirty="0"/>
          </a:p>
          <a:p>
            <a:pPr lvl="1" eaLnBrk="1" hangingPunct="1">
              <a:spcBef>
                <a:spcPct val="30000"/>
              </a:spcBef>
              <a:defRPr/>
            </a:pPr>
            <a:r>
              <a:rPr lang="zh-CN" altLang="en-US" dirty="0"/>
              <a:t>当对象</a:t>
            </a:r>
            <a:r>
              <a:rPr lang="en-US" altLang="zh-CN" dirty="0"/>
              <a:t>s1</a:t>
            </a:r>
            <a:r>
              <a:rPr lang="zh-CN" altLang="en-US" dirty="0"/>
              <a:t>和</a:t>
            </a:r>
            <a:r>
              <a:rPr lang="en-US" altLang="zh-CN" dirty="0"/>
              <a:t>s2</a:t>
            </a:r>
            <a:r>
              <a:rPr lang="zh-CN" altLang="en-US" dirty="0"/>
              <a:t>中有一个消亡，另一个还没消亡时，则会出现使用已被归还的空间问题！</a:t>
            </a:r>
            <a:endParaRPr lang="en-US" altLang="zh-CN" dirty="0"/>
          </a:p>
          <a:p>
            <a:pPr lvl="1" eaLnBrk="1" hangingPunct="1">
              <a:spcBef>
                <a:spcPct val="30000"/>
              </a:spcBef>
              <a:defRPr/>
            </a:pPr>
            <a:endParaRPr lang="zh-CN" alt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23" name="Rectangle 3">
            <a:extLst>
              <a:ext uri="{FF2B5EF4-FFF2-40B4-BE49-F238E27FC236}">
                <a16:creationId xmlns:a16="http://schemas.microsoft.com/office/drawing/2014/main" id="{735C3166-67DB-AA45-0EAD-DF80275D32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333375"/>
            <a:ext cx="8470900" cy="3497263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spcBef>
                <a:spcPct val="30000"/>
              </a:spcBef>
              <a:defRPr/>
            </a:pPr>
            <a:r>
              <a:rPr lang="zh-CN" altLang="en-US" dirty="0"/>
              <a:t>隐式拷贝构造函数实现的是一种</a:t>
            </a:r>
            <a:r>
              <a:rPr lang="zh-CN" altLang="en-US" dirty="0">
                <a:solidFill>
                  <a:srgbClr val="FFC000"/>
                </a:solidFill>
              </a:rPr>
              <a:t>浅拷贝</a:t>
            </a:r>
            <a:r>
              <a:rPr lang="zh-CN" altLang="en-US" dirty="0"/>
              <a:t>（</a:t>
            </a:r>
            <a:r>
              <a:rPr lang="en-US" altLang="zh-CN" dirty="0"/>
              <a:t>shallow copy</a:t>
            </a:r>
            <a:r>
              <a:rPr lang="zh-CN" altLang="en-US" dirty="0"/>
              <a:t>），为了</a:t>
            </a:r>
            <a:r>
              <a:rPr lang="zh-CN" altLang="en-GB" dirty="0"/>
              <a:t>解决上面</a:t>
            </a:r>
            <a:r>
              <a:rPr lang="zh-CN" altLang="en-US" dirty="0"/>
              <a:t>的</a:t>
            </a:r>
            <a:r>
              <a:rPr lang="zh-CN" altLang="en-GB" dirty="0"/>
              <a:t>问题</a:t>
            </a:r>
            <a:r>
              <a:rPr lang="zh-CN" altLang="en-US" dirty="0"/>
              <a:t>，可以在</a:t>
            </a:r>
            <a:r>
              <a:rPr lang="zh-CN" altLang="en-GB" dirty="0"/>
              <a:t>类</a:t>
            </a:r>
            <a:r>
              <a:rPr lang="en-GB" altLang="zh-CN" dirty="0"/>
              <a:t>String</a:t>
            </a:r>
            <a:r>
              <a:rPr lang="zh-CN" altLang="en-GB" dirty="0"/>
              <a:t>中显式定义一个拷贝构造函数</a:t>
            </a:r>
            <a:r>
              <a:rPr lang="zh-CN" altLang="en-US" dirty="0"/>
              <a:t>来实现</a:t>
            </a:r>
            <a:r>
              <a:rPr lang="zh-CN" altLang="en-US" dirty="0">
                <a:solidFill>
                  <a:srgbClr val="FFC000"/>
                </a:solidFill>
              </a:rPr>
              <a:t>深拷贝</a:t>
            </a:r>
            <a:r>
              <a:rPr lang="zh-CN" altLang="en-US" dirty="0"/>
              <a:t>（</a:t>
            </a:r>
            <a:r>
              <a:rPr lang="en-US" altLang="zh-CN" dirty="0"/>
              <a:t>deep copy</a:t>
            </a:r>
            <a:r>
              <a:rPr lang="zh-CN" altLang="en-US" dirty="0"/>
              <a:t>）</a:t>
            </a:r>
          </a:p>
          <a:p>
            <a:pPr lvl="1" eaLnBrk="1" hangingPunct="1">
              <a:lnSpc>
                <a:spcPct val="140000"/>
              </a:lnSpc>
              <a:buFontTx/>
              <a:buNone/>
              <a:defRPr/>
            </a:pPr>
            <a:r>
              <a:rPr lang="en-GB" altLang="zh-CN" dirty="0"/>
              <a:t>String::String(</a:t>
            </a:r>
            <a:r>
              <a:rPr lang="en-GB" altLang="zh-CN" dirty="0" err="1"/>
              <a:t>const</a:t>
            </a:r>
            <a:r>
              <a:rPr lang="en-GB" altLang="zh-CN" dirty="0"/>
              <a:t> String&amp; s)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dirty="0"/>
              <a:t>{	</a:t>
            </a:r>
            <a:r>
              <a:rPr lang="en-GB" altLang="zh-CN" dirty="0" err="1"/>
              <a:t>len</a:t>
            </a:r>
            <a:r>
              <a:rPr lang="en-GB" altLang="zh-CN" dirty="0"/>
              <a:t> = </a:t>
            </a:r>
            <a:r>
              <a:rPr lang="en-GB" altLang="zh-CN" dirty="0" err="1"/>
              <a:t>s.len</a:t>
            </a:r>
            <a:r>
              <a:rPr lang="en-GB" altLang="zh-CN" dirty="0"/>
              <a:t>;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dirty="0"/>
              <a:t>	</a:t>
            </a:r>
            <a:r>
              <a:rPr lang="en-GB" altLang="zh-CN" dirty="0" err="1"/>
              <a:t>str</a:t>
            </a:r>
            <a:r>
              <a:rPr lang="en-GB" altLang="zh-CN" dirty="0"/>
              <a:t> = new char[len+1];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dirty="0"/>
              <a:t>	</a:t>
            </a:r>
            <a:r>
              <a:rPr lang="en-GB" altLang="zh-CN" dirty="0" err="1"/>
              <a:t>strcpy</a:t>
            </a:r>
            <a:r>
              <a:rPr lang="en-GB" altLang="zh-CN" dirty="0"/>
              <a:t>(</a:t>
            </a:r>
            <a:r>
              <a:rPr lang="en-GB" altLang="zh-CN" dirty="0" err="1"/>
              <a:t>str,s.str</a:t>
            </a:r>
            <a:r>
              <a:rPr lang="en-GB" altLang="zh-CN" dirty="0"/>
              <a:t>);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dirty="0"/>
              <a:t>}</a:t>
            </a:r>
            <a:endParaRPr lang="en-US" altLang="zh-CN" dirty="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07557D9-62D6-0D2E-5986-BED5ECB44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6313" y="4937125"/>
            <a:ext cx="795337" cy="13192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4340" name="Line 4">
            <a:extLst>
              <a:ext uri="{FF2B5EF4-FFF2-40B4-BE49-F238E27FC236}">
                <a16:creationId xmlns:a16="http://schemas.microsoft.com/office/drawing/2014/main" id="{B47B9425-5FD4-23B1-AB4C-F1EF6AA93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6313" y="5584825"/>
            <a:ext cx="795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FF5BF6E4-50A4-8AE0-DE46-EDC3A656B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7588" y="4937125"/>
            <a:ext cx="795337" cy="1289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4342" name="Line 7">
            <a:extLst>
              <a:ext uri="{FF2B5EF4-FFF2-40B4-BE49-F238E27FC236}">
                <a16:creationId xmlns:a16="http://schemas.microsoft.com/office/drawing/2014/main" id="{7E2985D5-88DB-3F71-2EE4-91E9E25692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7588" y="5554663"/>
            <a:ext cx="795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3" name="Rectangle 8">
            <a:extLst>
              <a:ext uri="{FF2B5EF4-FFF2-40B4-BE49-F238E27FC236}">
                <a16:creationId xmlns:a16="http://schemas.microsoft.com/office/drawing/2014/main" id="{CA791909-A898-BB36-4D9B-B3F7E257F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5400" y="5584825"/>
            <a:ext cx="898525" cy="611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4344" name="Line 9">
            <a:extLst>
              <a:ext uri="{FF2B5EF4-FFF2-40B4-BE49-F238E27FC236}">
                <a16:creationId xmlns:a16="http://schemas.microsoft.com/office/drawing/2014/main" id="{F0760105-65AB-1A57-9773-2B53C6DA8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6538" y="5891213"/>
            <a:ext cx="1058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5" name="Line 12">
            <a:extLst>
              <a:ext uri="{FF2B5EF4-FFF2-40B4-BE49-F238E27FC236}">
                <a16:creationId xmlns:a16="http://schemas.microsoft.com/office/drawing/2014/main" id="{23E2D725-2A8B-791F-A487-3B74CD25F2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8125" y="5876925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6" name="Text Box 14">
            <a:extLst>
              <a:ext uri="{FF2B5EF4-FFF2-40B4-BE49-F238E27FC236}">
                <a16:creationId xmlns:a16="http://schemas.microsoft.com/office/drawing/2014/main" id="{849BC2D5-1456-FD73-2D58-3CD9352BC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5099050"/>
            <a:ext cx="531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len</a:t>
            </a:r>
          </a:p>
        </p:txBody>
      </p:sp>
      <p:sp>
        <p:nvSpPr>
          <p:cNvPr id="14347" name="Text Box 15">
            <a:extLst>
              <a:ext uri="{FF2B5EF4-FFF2-40B4-BE49-F238E27FC236}">
                <a16:creationId xmlns:a16="http://schemas.microsoft.com/office/drawing/2014/main" id="{93B698AD-76B5-826E-5929-41114BD77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363" y="5748338"/>
            <a:ext cx="493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str</a:t>
            </a:r>
          </a:p>
        </p:txBody>
      </p:sp>
      <p:sp>
        <p:nvSpPr>
          <p:cNvPr id="14348" name="Text Box 17">
            <a:extLst>
              <a:ext uri="{FF2B5EF4-FFF2-40B4-BE49-F238E27FC236}">
                <a16:creationId xmlns:a16="http://schemas.microsoft.com/office/drawing/2014/main" id="{53593073-3C32-A6F4-2AE8-3C207D24E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25" y="5084763"/>
            <a:ext cx="5318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len</a:t>
            </a:r>
          </a:p>
        </p:txBody>
      </p:sp>
      <p:sp>
        <p:nvSpPr>
          <p:cNvPr id="14349" name="Text Box 18">
            <a:extLst>
              <a:ext uri="{FF2B5EF4-FFF2-40B4-BE49-F238E27FC236}">
                <a16:creationId xmlns:a16="http://schemas.microsoft.com/office/drawing/2014/main" id="{8F269153-642A-D316-959A-D948174CD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7838" y="5734050"/>
            <a:ext cx="4937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str</a:t>
            </a:r>
          </a:p>
        </p:txBody>
      </p:sp>
      <p:sp>
        <p:nvSpPr>
          <p:cNvPr id="14350" name="Text Box 19">
            <a:extLst>
              <a:ext uri="{FF2B5EF4-FFF2-40B4-BE49-F238E27FC236}">
                <a16:creationId xmlns:a16="http://schemas.microsoft.com/office/drawing/2014/main" id="{F7D65371-FBAB-0AB7-CE55-ED4C36884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500" y="4430713"/>
            <a:ext cx="466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s1</a:t>
            </a:r>
          </a:p>
        </p:txBody>
      </p:sp>
      <p:sp>
        <p:nvSpPr>
          <p:cNvPr id="14351" name="Text Box 20">
            <a:extLst>
              <a:ext uri="{FF2B5EF4-FFF2-40B4-BE49-F238E27FC236}">
                <a16:creationId xmlns:a16="http://schemas.microsoft.com/office/drawing/2014/main" id="{009145EF-0922-03F0-5549-2DC5C5CC1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1563" y="4430713"/>
            <a:ext cx="466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s2</a:t>
            </a:r>
          </a:p>
        </p:txBody>
      </p:sp>
      <p:sp>
        <p:nvSpPr>
          <p:cNvPr id="14352" name="Text Box 21">
            <a:extLst>
              <a:ext uri="{FF2B5EF4-FFF2-40B4-BE49-F238E27FC236}">
                <a16:creationId xmlns:a16="http://schemas.microsoft.com/office/drawing/2014/main" id="{24F6E89D-A228-BCA8-C921-D68FD496E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5726113"/>
            <a:ext cx="7254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abcd</a:t>
            </a:r>
          </a:p>
        </p:txBody>
      </p:sp>
      <p:sp>
        <p:nvSpPr>
          <p:cNvPr id="14353" name="Text Box 23">
            <a:extLst>
              <a:ext uri="{FF2B5EF4-FFF2-40B4-BE49-F238E27FC236}">
                <a16:creationId xmlns:a16="http://schemas.microsoft.com/office/drawing/2014/main" id="{E89954FD-4186-4779-4D92-A1BEF1615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5078413"/>
            <a:ext cx="33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4</a:t>
            </a:r>
          </a:p>
        </p:txBody>
      </p:sp>
      <p:sp>
        <p:nvSpPr>
          <p:cNvPr id="14354" name="Text Box 25">
            <a:extLst>
              <a:ext uri="{FF2B5EF4-FFF2-40B4-BE49-F238E27FC236}">
                <a16:creationId xmlns:a16="http://schemas.microsoft.com/office/drawing/2014/main" id="{625FF3BB-E019-E9E1-0D09-002E37956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7925" y="5084763"/>
            <a:ext cx="331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4</a:t>
            </a:r>
          </a:p>
        </p:txBody>
      </p:sp>
      <p:sp>
        <p:nvSpPr>
          <p:cNvPr id="14355" name="Rectangle 8">
            <a:extLst>
              <a:ext uri="{FF2B5EF4-FFF2-40B4-BE49-F238E27FC236}">
                <a16:creationId xmlns:a16="http://schemas.microsoft.com/office/drawing/2014/main" id="{BDC99C4E-2B33-D85B-8930-675C66D9D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5589588"/>
            <a:ext cx="898525" cy="611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4356" name="TextBox 28">
            <a:extLst>
              <a:ext uri="{FF2B5EF4-FFF2-40B4-BE49-F238E27FC236}">
                <a16:creationId xmlns:a16="http://schemas.microsoft.com/office/drawing/2014/main" id="{75E7D5D8-EA8E-A39A-65CD-37148ADD8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5661025"/>
            <a:ext cx="792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abcd</a:t>
            </a:r>
            <a:endParaRPr lang="zh-CN" altLang="en-US" sz="2000"/>
          </a:p>
        </p:txBody>
      </p:sp>
      <p:sp>
        <p:nvSpPr>
          <p:cNvPr id="14357" name="Text Box 20">
            <a:extLst>
              <a:ext uri="{FF2B5EF4-FFF2-40B4-BE49-F238E27FC236}">
                <a16:creationId xmlns:a16="http://schemas.microsoft.com/office/drawing/2014/main" id="{27E9DB7C-5B48-3196-238B-4E0EE092C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3830638"/>
            <a:ext cx="1682750" cy="46196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A s2(s1);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970" name="Rectangle 2">
            <a:extLst>
              <a:ext uri="{FF2B5EF4-FFF2-40B4-BE49-F238E27FC236}">
                <a16:creationId xmlns:a16="http://schemas.microsoft.com/office/drawing/2014/main" id="{C13DBB86-F21A-DE8C-55C3-C9A4156D2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5888"/>
            <a:ext cx="8229600" cy="66262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>
                <a:solidFill>
                  <a:srgbClr val="FFC000"/>
                </a:solidFill>
              </a:rPr>
              <a:t>注意：</a:t>
            </a:r>
            <a:r>
              <a:rPr lang="zh-CN" altLang="en-GB" sz="2800" dirty="0"/>
              <a:t>自定义的拷贝构造函数</a:t>
            </a:r>
            <a:r>
              <a:rPr lang="zh-CN" altLang="en-US" sz="2800" dirty="0"/>
              <a:t>默认</a:t>
            </a:r>
            <a:r>
              <a:rPr lang="zh-CN" altLang="en-GB" sz="2800" dirty="0"/>
              <a:t>调用</a:t>
            </a:r>
            <a:r>
              <a:rPr lang="zh-CN" altLang="en-US" sz="2800" dirty="0"/>
              <a:t>的是</a:t>
            </a:r>
            <a:r>
              <a:rPr lang="zh-CN" altLang="en-GB" sz="2800" dirty="0"/>
              <a:t>成员对象类的</a:t>
            </a:r>
            <a:r>
              <a:rPr lang="zh-CN" altLang="en-GB" sz="2800" dirty="0">
                <a:solidFill>
                  <a:schemeClr val="folHlink"/>
                </a:solidFill>
              </a:rPr>
              <a:t>默认构造函数</a:t>
            </a:r>
            <a:r>
              <a:rPr lang="zh-CN" altLang="en-US" sz="2800" dirty="0"/>
              <a:t>来</a:t>
            </a:r>
            <a:r>
              <a:rPr lang="zh-CN" altLang="en-GB" sz="2800" dirty="0"/>
              <a:t>对成员对象初始化！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1800" dirty="0"/>
              <a:t>class A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1800" dirty="0"/>
              <a:t>{		</a:t>
            </a:r>
            <a:r>
              <a:rPr lang="en-GB" altLang="zh-CN" sz="1800" dirty="0" err="1"/>
              <a:t>int</a:t>
            </a:r>
            <a:r>
              <a:rPr lang="en-GB" altLang="zh-CN" sz="1800" dirty="0"/>
              <a:t> </a:t>
            </a:r>
            <a:r>
              <a:rPr lang="en-GB" altLang="zh-CN" sz="1800" dirty="0" err="1"/>
              <a:t>x,y</a:t>
            </a:r>
            <a:r>
              <a:rPr lang="en-GB" altLang="zh-CN" sz="1800" dirty="0"/>
              <a:t>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1800" dirty="0"/>
              <a:t>	public: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1800" dirty="0"/>
              <a:t>		A() { x = y = 0; }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1800" dirty="0"/>
              <a:t>		void </a:t>
            </a:r>
            <a:r>
              <a:rPr lang="en-GB" altLang="zh-CN" sz="1800" dirty="0" err="1"/>
              <a:t>inc</a:t>
            </a:r>
            <a:r>
              <a:rPr lang="en-GB" altLang="zh-CN" sz="1800" dirty="0"/>
              <a:t>() { x++; y++; }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1800" dirty="0"/>
              <a:t>};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1800" dirty="0"/>
              <a:t>class B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1800" dirty="0"/>
              <a:t>{    </a:t>
            </a:r>
            <a:r>
              <a:rPr lang="en-GB" altLang="zh-CN" sz="1800" dirty="0" err="1"/>
              <a:t>int</a:t>
            </a:r>
            <a:r>
              <a:rPr lang="en-GB" altLang="zh-CN" sz="1800" dirty="0"/>
              <a:t> z;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1800" dirty="0"/>
              <a:t>	  A </a:t>
            </a:r>
            <a:r>
              <a:rPr lang="en-GB" altLang="zh-CN" sz="1800" dirty="0" err="1">
                <a:solidFill>
                  <a:srgbClr val="FFC000"/>
                </a:solidFill>
              </a:rPr>
              <a:t>a</a:t>
            </a:r>
            <a:r>
              <a:rPr lang="en-GB" altLang="zh-CN" sz="1800" dirty="0"/>
              <a:t>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1800" dirty="0"/>
              <a:t>   public: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1800" dirty="0"/>
              <a:t>	  B() { z = 0; }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1800" dirty="0"/>
              <a:t>	  B(</a:t>
            </a:r>
            <a:r>
              <a:rPr lang="en-GB" altLang="zh-CN" sz="1800" dirty="0" err="1"/>
              <a:t>const</a:t>
            </a:r>
            <a:r>
              <a:rPr lang="en-GB" altLang="zh-CN" sz="1800" dirty="0"/>
              <a:t> B&amp; b)            { z = </a:t>
            </a:r>
            <a:r>
              <a:rPr lang="en-GB" altLang="zh-CN" sz="1800" dirty="0" err="1"/>
              <a:t>b.z</a:t>
            </a:r>
            <a:r>
              <a:rPr lang="en-GB" altLang="zh-CN" sz="1800" dirty="0"/>
              <a:t>; }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1800" dirty="0"/>
              <a:t>	  void </a:t>
            </a:r>
            <a:r>
              <a:rPr lang="en-GB" altLang="zh-CN" sz="1800" dirty="0" err="1"/>
              <a:t>inc</a:t>
            </a:r>
            <a:r>
              <a:rPr lang="en-GB" altLang="zh-CN" sz="1800" dirty="0"/>
              <a:t>() { z++; a.inc(); }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1800" dirty="0"/>
              <a:t>};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1800" dirty="0"/>
              <a:t>...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1800" dirty="0"/>
              <a:t>B b1;  /b1.z</a:t>
            </a:r>
            <a:r>
              <a:rPr lang="zh-CN" altLang="en-GB" sz="1800" dirty="0"/>
              <a:t>、</a:t>
            </a:r>
            <a:r>
              <a:rPr lang="en-GB" altLang="zh-CN" sz="1800" dirty="0"/>
              <a:t>b1.a.x</a:t>
            </a:r>
            <a:r>
              <a:rPr lang="zh-CN" altLang="en-US" sz="1800" dirty="0"/>
              <a:t>和</a:t>
            </a:r>
            <a:r>
              <a:rPr lang="en-GB" altLang="zh-CN" sz="1800" dirty="0"/>
              <a:t>b1.a.y</a:t>
            </a:r>
            <a:r>
              <a:rPr lang="zh-CN" altLang="en-GB" sz="1800" dirty="0"/>
              <a:t>均为</a:t>
            </a:r>
            <a:r>
              <a:rPr lang="en-GB" altLang="zh-CN" sz="1800" dirty="0"/>
              <a:t>0</a:t>
            </a:r>
            <a:endParaRPr lang="zh-CN" altLang="en-GB" sz="1800" dirty="0"/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1800" dirty="0"/>
              <a:t>b1.inc();  //b1.z</a:t>
            </a:r>
            <a:r>
              <a:rPr lang="zh-CN" altLang="en-GB" sz="1800" dirty="0"/>
              <a:t>、</a:t>
            </a:r>
            <a:r>
              <a:rPr lang="en-GB" altLang="zh-CN" sz="1800" dirty="0"/>
              <a:t>b1.a.x</a:t>
            </a:r>
            <a:r>
              <a:rPr lang="zh-CN" altLang="en-GB" sz="1800" dirty="0"/>
              <a:t>和</a:t>
            </a:r>
            <a:r>
              <a:rPr lang="en-GB" altLang="zh-CN" sz="1800" dirty="0"/>
              <a:t>b1.a.y</a:t>
            </a:r>
            <a:r>
              <a:rPr lang="zh-CN" altLang="en-US" sz="1800" dirty="0"/>
              <a:t>均变成了</a:t>
            </a:r>
            <a:r>
              <a:rPr lang="en-GB" altLang="zh-CN" sz="1800" dirty="0"/>
              <a:t>1</a:t>
            </a:r>
            <a:endParaRPr lang="zh-CN" altLang="en-GB" sz="1800" dirty="0"/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1800" dirty="0"/>
              <a:t>B b2(b1);</a:t>
            </a:r>
            <a:r>
              <a:rPr lang="en-US" altLang="zh-CN" sz="1800" dirty="0"/>
              <a:t> //b2.z</a:t>
            </a:r>
            <a:r>
              <a:rPr lang="zh-CN" altLang="en-US" sz="1800" dirty="0"/>
              <a:t>为</a:t>
            </a:r>
            <a:r>
              <a:rPr lang="en-US" altLang="zh-CN" sz="1800" dirty="0"/>
              <a:t>1</a:t>
            </a:r>
            <a:r>
              <a:rPr lang="zh-CN" altLang="en-US" sz="1800" dirty="0"/>
              <a:t>，</a:t>
            </a:r>
            <a:r>
              <a:rPr lang="en-US" altLang="zh-CN" sz="1800" dirty="0"/>
              <a:t>b2.a.x</a:t>
            </a:r>
            <a:r>
              <a:rPr lang="zh-CN" altLang="en-US" sz="1800" dirty="0"/>
              <a:t>和</a:t>
            </a:r>
            <a:r>
              <a:rPr lang="en-US" altLang="zh-CN" sz="1800" dirty="0"/>
              <a:t>b2.a.y</a:t>
            </a:r>
            <a:r>
              <a:rPr lang="zh-CN" altLang="en-US" sz="1800" dirty="0"/>
              <a:t>均为</a:t>
            </a:r>
            <a:r>
              <a:rPr lang="en-US" altLang="zh-CN" sz="1800" dirty="0">
                <a:solidFill>
                  <a:srgbClr val="FFC000"/>
                </a:solidFill>
              </a:rPr>
              <a:t>0</a:t>
            </a:r>
            <a:endParaRPr lang="zh-CN" altLang="en-US" sz="1800" dirty="0"/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800" dirty="0"/>
              <a:t>如何能让</a:t>
            </a:r>
            <a:r>
              <a:rPr lang="en-US" altLang="zh-CN" sz="2800" dirty="0"/>
              <a:t>b2</a:t>
            </a:r>
            <a:r>
              <a:rPr lang="zh-CN" altLang="en-US" sz="2800" dirty="0"/>
              <a:t>与</a:t>
            </a:r>
            <a:r>
              <a:rPr lang="en-US" altLang="zh-CN" sz="2800" dirty="0"/>
              <a:t>b1</a:t>
            </a:r>
            <a:r>
              <a:rPr lang="zh-CN" altLang="en-US" sz="2800" dirty="0"/>
              <a:t>一致呢？</a:t>
            </a:r>
            <a:endParaRPr lang="en-US" altLang="zh-CN" sz="28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zh-CN" altLang="en-US" sz="2400" dirty="0"/>
              <a:t>在</a:t>
            </a:r>
            <a:r>
              <a:rPr lang="en-US" altLang="zh-CN" sz="2400" dirty="0"/>
              <a:t>B</a:t>
            </a:r>
            <a:r>
              <a:rPr lang="zh-CN" altLang="en-US" sz="2400" dirty="0"/>
              <a:t>类的拷贝构造函数的成员初始化表中显式指出！</a:t>
            </a:r>
          </a:p>
        </p:txBody>
      </p:sp>
      <p:sp>
        <p:nvSpPr>
          <p:cNvPr id="1367041" name="Text Box 1">
            <a:extLst>
              <a:ext uri="{FF2B5EF4-FFF2-40B4-BE49-F238E27FC236}">
                <a16:creationId xmlns:a16="http://schemas.microsoft.com/office/drawing/2014/main" id="{1E204C32-D040-74F7-03AE-560FA8BA1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3894138"/>
            <a:ext cx="1073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: a(b.a)</a:t>
            </a:r>
          </a:p>
        </p:txBody>
      </p:sp>
      <p:sp>
        <p:nvSpPr>
          <p:cNvPr id="1367042" name="Text Box 2">
            <a:extLst>
              <a:ext uri="{FF2B5EF4-FFF2-40B4-BE49-F238E27FC236}">
                <a16:creationId xmlns:a16="http://schemas.microsoft.com/office/drawing/2014/main" id="{C7C43EA0-05CA-401F-EA2B-7501FD44D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5" y="5567363"/>
            <a:ext cx="2489200" cy="368300"/>
          </a:xfrm>
          <a:prstGeom prst="rect">
            <a:avLst/>
          </a:prstGeom>
          <a:solidFill>
            <a:schemeClr val="bg2"/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b2.a.x</a:t>
            </a:r>
            <a:r>
              <a:rPr lang="zh-CN" alt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b2.a.y</a:t>
            </a:r>
            <a:r>
              <a:rPr lang="zh-CN" alt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均为</a:t>
            </a:r>
            <a:r>
              <a:rPr lang="en-US" altLang="zh-CN" sz="18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endParaRPr lang="zh-CN" altLang="en-US" sz="1800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7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7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67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67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7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6397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6397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7041" grpId="0"/>
      <p:bldP spid="13670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1D4F86-5849-3CFE-99D9-4807108A1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250"/>
            <a:ext cx="8229600" cy="6121400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zh-CN" altLang="en-US" sz="3600" dirty="0"/>
              <a:t>下面对</a:t>
            </a:r>
            <a:r>
              <a:rPr lang="en-US" altLang="zh-CN" sz="3600" dirty="0"/>
              <a:t>b2.a</a:t>
            </a:r>
            <a:r>
              <a:rPr lang="zh-CN" altLang="en-US" sz="3600" dirty="0"/>
              <a:t>进行赋值初始化与拷贝构造的区别是什么？</a:t>
            </a:r>
            <a:endParaRPr lang="en-US" altLang="zh-CN" sz="36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36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class A { ...... };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class B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z;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A </a:t>
            </a:r>
            <a:r>
              <a:rPr lang="en-US" altLang="zh-CN" dirty="0" err="1"/>
              <a:t>a</a:t>
            </a:r>
            <a:r>
              <a:rPr lang="en-US" altLang="zh-CN" dirty="0"/>
              <a:t>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public: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B() { ...... 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B(</a:t>
            </a:r>
            <a:r>
              <a:rPr lang="en-US" altLang="zh-CN" dirty="0" err="1"/>
              <a:t>const</a:t>
            </a:r>
            <a:r>
              <a:rPr lang="en-US" altLang="zh-CN" dirty="0"/>
              <a:t> B&amp; b)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{ z = </a:t>
            </a:r>
            <a:r>
              <a:rPr lang="en-US" altLang="zh-CN" dirty="0" err="1"/>
              <a:t>b.z</a:t>
            </a:r>
            <a:r>
              <a:rPr lang="en-US" altLang="zh-CN" dirty="0"/>
              <a:t>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      a = </a:t>
            </a:r>
            <a:r>
              <a:rPr lang="en-US" altLang="zh-CN" dirty="0" err="1">
                <a:solidFill>
                  <a:srgbClr val="FFC000"/>
                </a:solidFill>
              </a:rPr>
              <a:t>b.a</a:t>
            </a:r>
            <a:r>
              <a:rPr lang="en-US" altLang="zh-CN" dirty="0">
                <a:solidFill>
                  <a:srgbClr val="FFC000"/>
                </a:solidFill>
              </a:rPr>
              <a:t>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......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B b1;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B b2(b1);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BC0BAE-F4B8-43B2-6E77-D1D6A8170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3173413"/>
            <a:ext cx="5632450" cy="4000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//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这里还要调用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的默认构造函数对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初始化！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F594B6-0866-FBF6-4DD2-9F93B3315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5" y="3860800"/>
            <a:ext cx="4081463" cy="4000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这里是调用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的赋值操作给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赋值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theme1.xml><?xml version="1.0" encoding="utf-8"?>
<a:theme xmlns:a="http://schemas.openxmlformats.org/drawingml/2006/main" name="Globe">
  <a:themeElements>
    <a:clrScheme name="Globe 11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CC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0">
        <a:dk1>
          <a:srgbClr val="003B76"/>
        </a:dk1>
        <a:lt1>
          <a:srgbClr val="FFFFFF"/>
        </a:lt1>
        <a:dk2>
          <a:srgbClr val="0066CC"/>
        </a:dk2>
        <a:lt2>
          <a:srgbClr val="FFCC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1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32775</TotalTime>
  <Words>1163</Words>
  <Application>Microsoft Office PowerPoint</Application>
  <PresentationFormat>全屏显示(4:3)</PresentationFormat>
  <Paragraphs>137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Verdana</vt:lpstr>
      <vt:lpstr>宋体</vt:lpstr>
      <vt:lpstr>Arial</vt:lpstr>
      <vt:lpstr>Wingdings</vt:lpstr>
      <vt:lpstr>Times New Roman</vt:lpstr>
      <vt:lpstr>Globe</vt:lpstr>
      <vt:lpstr>拷贝构造函数</vt:lpstr>
      <vt:lpstr>PowerPoint 演示文稿</vt:lpstr>
      <vt:lpstr>PowerPoint 演示文稿</vt:lpstr>
      <vt:lpstr>隐式拷贝构造函数</vt:lpstr>
      <vt:lpstr>PowerPoint 演示文稿</vt:lpstr>
      <vt:lpstr>自定义拷贝构造函数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chenjj</dc:creator>
  <cp:lastModifiedBy>润泽 颜</cp:lastModifiedBy>
  <cp:revision>585</cp:revision>
  <dcterms:created xsi:type="dcterms:W3CDTF">1999-05-22T12:40:20Z</dcterms:created>
  <dcterms:modified xsi:type="dcterms:W3CDTF">2026-06-18T00:20:39Z</dcterms:modified>
</cp:coreProperties>
</file>