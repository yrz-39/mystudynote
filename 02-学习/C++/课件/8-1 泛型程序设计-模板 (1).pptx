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sldIdLst>
    <p:sldId id="282" r:id="rId2"/>
    <p:sldId id="283" r:id="rId3"/>
    <p:sldId id="257" r:id="rId4"/>
    <p:sldId id="258" r:id="rId5"/>
    <p:sldId id="259" r:id="rId6"/>
    <p:sldId id="348" r:id="rId7"/>
    <p:sldId id="260" r:id="rId8"/>
    <p:sldId id="261" r:id="rId9"/>
    <p:sldId id="262" r:id="rId10"/>
    <p:sldId id="342" r:id="rId11"/>
    <p:sldId id="263" r:id="rId12"/>
    <p:sldId id="343" r:id="rId13"/>
    <p:sldId id="286" r:id="rId14"/>
    <p:sldId id="266" r:id="rId15"/>
    <p:sldId id="289" r:id="rId16"/>
    <p:sldId id="264" r:id="rId17"/>
    <p:sldId id="267" r:id="rId18"/>
    <p:sldId id="347" r:id="rId19"/>
    <p:sldId id="298" r:id="rId20"/>
    <p:sldId id="269" r:id="rId21"/>
    <p:sldId id="272" r:id="rId22"/>
    <p:sldId id="274" r:id="rId23"/>
    <p:sldId id="273" r:id="rId24"/>
    <p:sldId id="276" r:id="rId25"/>
    <p:sldId id="275" r:id="rId26"/>
    <p:sldId id="277" r:id="rId27"/>
    <p:sldId id="278" r:id="rId28"/>
    <p:sldId id="326" r:id="rId29"/>
    <p:sldId id="279" r:id="rId30"/>
    <p:sldId id="344" r:id="rId31"/>
    <p:sldId id="337" r:id="rId32"/>
    <p:sldId id="280" r:id="rId33"/>
    <p:sldId id="284" r:id="rId34"/>
    <p:sldId id="339" r:id="rId35"/>
    <p:sldId id="345" r:id="rId36"/>
    <p:sldId id="346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02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85878" autoAdjust="0"/>
  </p:normalViewPr>
  <p:slideViewPr>
    <p:cSldViewPr>
      <p:cViewPr varScale="1">
        <p:scale>
          <a:sx n="136" d="100"/>
          <a:sy n="136" d="100"/>
        </p:scale>
        <p:origin x="247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2DA21CC-ECD2-5F59-7DFA-35B1E347CD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BA5C44-FFA2-CED6-4120-4C0E8CCA2E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5A7C3D1-AECD-4D48-A16F-F00EC9BA2196}" type="datetimeFigureOut">
              <a:rPr lang="zh-CN" altLang="en-US"/>
              <a:pPr>
                <a:defRPr/>
              </a:pPr>
              <a:t>2026/6/18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4109A4B-7E3B-0D4F-B2AE-2A8C693BE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FB62EF9-CA35-AF94-C203-4E2B0FE3A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6AD576-F632-96A2-C2F9-4C8B466833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EA55-37B9-E484-3A94-9C5B19C31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76D8196-98A6-4DBF-A1EF-86BB8E04EF6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5A944B-A9C2-3226-6B3C-68BE284B1ED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DA4A71-C73B-A397-80F1-6600F9CDC2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771CFA4-E8C6-BCAA-DAA5-EB5E7135AE0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3D338F4-6564-771D-3707-18CADEA2D0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85CCD86-E899-CCD4-CAEA-25D7B140BE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87E6DA0C-EB1D-C31D-137B-340FD5CEBBD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89C212C1-FE4D-D6A8-8112-B731B3E9CC6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E5B7DD44-5790-FA48-CE3F-F3375FD9875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9E12A693-E556-D507-08E1-6AE5F7140B6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D4CC64F3-5702-84AD-8461-8B7EADD205A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61F6ACFD-E137-EF4A-C48A-971BDDE466A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30511576-E493-F5C7-D658-6F48ACB7D8A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BD3CAA20-E92E-7E85-8895-0A21087EB65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F0EB66E7-FC8A-E873-9A23-79A4CA7AEDA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AE21C3D1-D5E6-0AE5-E292-998434544AA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0378AB0F-408B-7D07-FACE-CC8182DC909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AA5ED1EE-86C4-FC10-DF8A-FEFD52702C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DC9A4A3-934D-9507-224E-F6EF58305EA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702A50BA-3EC3-4F40-46E3-0DB6C9C78D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5D2F5039-088E-128F-2BF3-0229564892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0681E829-C9A6-BFE6-C35A-B494ABA4D9D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83D6479D-6B34-D0D6-C518-6EAAF796281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81 w 717"/>
                <a:gd name="T1" fmla="*/ 845 h 845"/>
                <a:gd name="T2" fmla="*/ 981 w 717"/>
                <a:gd name="T3" fmla="*/ 821 h 845"/>
                <a:gd name="T4" fmla="*/ 810 w 717"/>
                <a:gd name="T5" fmla="*/ 605 h 845"/>
                <a:gd name="T6" fmla="*/ 524 w 717"/>
                <a:gd name="T7" fmla="*/ 396 h 845"/>
                <a:gd name="T8" fmla="*/ 339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27 w 717"/>
                <a:gd name="T15" fmla="*/ 198 h 845"/>
                <a:gd name="T16" fmla="*/ 518 w 717"/>
                <a:gd name="T17" fmla="*/ 408 h 845"/>
                <a:gd name="T18" fmla="*/ 804 w 717"/>
                <a:gd name="T19" fmla="*/ 623 h 845"/>
                <a:gd name="T20" fmla="*/ 981 w 717"/>
                <a:gd name="T21" fmla="*/ 845 h 845"/>
                <a:gd name="T22" fmla="*/ 98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455BC5E2-00F5-A57C-ECBC-89A8A3950A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25 w 407"/>
                <a:gd name="T1" fmla="*/ 414 h 414"/>
                <a:gd name="T2" fmla="*/ 525 w 407"/>
                <a:gd name="T3" fmla="*/ 396 h 414"/>
                <a:gd name="T4" fmla="*/ 340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34 w 407"/>
                <a:gd name="T13" fmla="*/ 204 h 414"/>
                <a:gd name="T14" fmla="*/ 525 w 407"/>
                <a:gd name="T15" fmla="*/ 414 h 414"/>
                <a:gd name="T16" fmla="*/ 525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1B06B4B3-A94C-558F-3598-3F98A6B5B5F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0F2AECBB-F3C7-7BAE-D682-EC8D9622BD6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66 w 586"/>
                <a:gd name="T1" fmla="*/ 0 h 599"/>
                <a:gd name="T2" fmla="*/ 839 w 586"/>
                <a:gd name="T3" fmla="*/ 0 h 599"/>
                <a:gd name="T4" fmla="*/ 610 w 586"/>
                <a:gd name="T5" fmla="*/ 132 h 599"/>
                <a:gd name="T6" fmla="*/ 375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75 w 586"/>
                <a:gd name="T17" fmla="*/ 282 h 599"/>
                <a:gd name="T18" fmla="*/ 622 w 586"/>
                <a:gd name="T19" fmla="*/ 138 h 599"/>
                <a:gd name="T20" fmla="*/ 866 w 586"/>
                <a:gd name="T21" fmla="*/ 0 h 599"/>
                <a:gd name="T22" fmla="*/ 86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04B0EAEA-6317-B879-F10E-E6DB75D6014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87 w 269"/>
                <a:gd name="T1" fmla="*/ 0 h 252"/>
                <a:gd name="T2" fmla="*/ 369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87 w 269"/>
                <a:gd name="T15" fmla="*/ 0 h 252"/>
                <a:gd name="T16" fmla="*/ 387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5FFFA1D6-70C7-01E9-1E7F-10F795EF09F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E5E3FE2E-573F-9856-F91E-78E270C7D21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F7EA74A6-0091-9B98-C4A4-673DFED5609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A969D9AE-C751-3699-B7C0-6FCEBF3F93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46CDD912-186B-A602-BFF1-B0309D8A598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EA812224-7947-5F69-F413-54C2DEDAD0F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79069972-2243-25C7-4F7C-C476B6EB50A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025F0755-F069-5B4D-F516-E9677E1C24A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4BEEDED6-9446-E87E-894D-43C866EFCBB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AA21A92E-6AC2-ABD2-3E14-88235EF2EAF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FCB1568E-0609-187F-0C98-1B2A8EA2C3D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5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16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51D46DBB-6E3B-CB92-AB10-E73E1F592A2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A205DCFB-181E-396C-C256-609EF2EB37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22A2FBFA-A5BA-F931-6B89-FCEDF59BC8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3F5-7916-41B0-B797-191095AC00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454625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F9A77061-DB95-101F-D160-A3A48B8C0F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FB1911FC-50B9-6757-2662-C779F2E784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BA1FA06-A3CC-0FE3-692E-9BD10D9F6A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9DDAA7-F9D7-4298-B272-108B46E81B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94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88AA02D-0878-8275-A0C3-7DE8350BFF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0255F85-D72C-9443-2228-041A00FF28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35B3D54-E914-F9DD-1564-DB75A66600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285CD4-9A86-493F-9EED-383DC22093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32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D7A5FDC-8178-C701-AE28-747B133FB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1429F68-66ED-8CA8-C5F2-0F9116B1D0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ED9B5E0-EFFB-E2CA-4F03-1D630C61D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601782-295C-4168-84A2-CAAC1E0AE8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5233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B04AFD07-E815-27D7-9D60-82DA558C9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D13D6428-4DC0-372C-B032-A4B3B43AD9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77880AAE-3F5A-6703-BC4D-9C8F471646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7AC751-60FA-44E1-82AD-1249CC13418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35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BF3A2FCD-A5BF-0F52-A1C1-8BBBD547E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18478FD7-7DDA-EC17-EC24-E787D73953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03A5CB17-222A-28D4-602D-FB8EC8CDC3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5B6DD8-7244-4561-9A3F-FF73CA55F4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90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231491E6-DEEB-525C-C285-71A7E2D957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E2AE1CBE-8806-29F2-011A-6E6541C37E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D4FCB669-304D-368B-2A27-59CAE53686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A3B0BC-E775-4745-AE15-67966A4DA1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836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FCE8E660-2BC5-4061-4A86-18D2518EB1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529CD76D-A1EB-0DA7-F9C6-EDB3ED86F8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8334195-F429-ABA9-2855-1A18F223B5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DD9AC-56EA-4732-B574-D7F34838CB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014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F8A842F-CDF0-5EC6-6178-1E058FC772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BAB6CCE-1DB9-A710-AC9B-FD7900A3C0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382D2A50-7164-8FB7-72FC-D7A011700B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C6650C-2C1D-4276-9D2E-231E531150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789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9A2F37A-A2CE-158D-04CE-7335F8D32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CF359C2-D17F-34D1-422F-E3B61B962B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6883BA51-AC3D-2A77-DB0F-4C391B54D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13106-FBE3-445E-BBBB-5E24A58EF8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605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DBF0235C-42AD-F4A4-7007-399B8E349B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49B70A1E-363D-5735-58CB-5AA56AC34A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C16B4287-FA7F-ABD0-5133-7281B8FA7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04B5B9-41C5-4520-82C9-9EC5DC1FB7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835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999">
              <a:srgbClr val="002D59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3056AA8-CE9C-FE33-7835-D89329B7115C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DDCEB3CA-9486-34CB-0F0C-CE822535FE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6A354F29-40EA-4F15-F706-CADAFFFBCE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01" name="Freeform 5">
              <a:extLst>
                <a:ext uri="{FF2B5EF4-FFF2-40B4-BE49-F238E27FC236}">
                  <a16:creationId xmlns:a16="http://schemas.microsoft.com/office/drawing/2014/main" id="{C7D70FA3-D121-89BE-3697-8329B40CAE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371D6294-F45A-C9BC-9961-37783B3A41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4103" name="Freeform 7">
                <a:extLst>
                  <a:ext uri="{FF2B5EF4-FFF2-40B4-BE49-F238E27FC236}">
                    <a16:creationId xmlns:a16="http://schemas.microsoft.com/office/drawing/2014/main" id="{AFFC33C2-FE25-D356-6308-19910065285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4" name="Freeform 8">
                <a:extLst>
                  <a:ext uri="{FF2B5EF4-FFF2-40B4-BE49-F238E27FC236}">
                    <a16:creationId xmlns:a16="http://schemas.microsoft.com/office/drawing/2014/main" id="{8FE92B8A-41C7-F1A1-6D4B-862F7778FF2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5" name="Freeform 9">
                <a:extLst>
                  <a:ext uri="{FF2B5EF4-FFF2-40B4-BE49-F238E27FC236}">
                    <a16:creationId xmlns:a16="http://schemas.microsoft.com/office/drawing/2014/main" id="{C20292C5-D79D-81EB-E369-FA0180B1FF7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6" name="Freeform 10">
                <a:extLst>
                  <a:ext uri="{FF2B5EF4-FFF2-40B4-BE49-F238E27FC236}">
                    <a16:creationId xmlns:a16="http://schemas.microsoft.com/office/drawing/2014/main" id="{EA3135BC-9C09-9209-85CC-8E7DE610733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7" name="Freeform 11">
                <a:extLst>
                  <a:ext uri="{FF2B5EF4-FFF2-40B4-BE49-F238E27FC236}">
                    <a16:creationId xmlns:a16="http://schemas.microsoft.com/office/drawing/2014/main" id="{851A04B4-60E9-E09D-3100-7205B5ED322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8" name="Freeform 12">
                <a:extLst>
                  <a:ext uri="{FF2B5EF4-FFF2-40B4-BE49-F238E27FC236}">
                    <a16:creationId xmlns:a16="http://schemas.microsoft.com/office/drawing/2014/main" id="{CDA66267-E261-3BA6-15B4-A1FD41EDA63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09" name="Freeform 13">
                <a:extLst>
                  <a:ext uri="{FF2B5EF4-FFF2-40B4-BE49-F238E27FC236}">
                    <a16:creationId xmlns:a16="http://schemas.microsoft.com/office/drawing/2014/main" id="{44BDAF1B-A3D5-5BB8-933A-C7112F09256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0" name="Freeform 14">
                <a:extLst>
                  <a:ext uri="{FF2B5EF4-FFF2-40B4-BE49-F238E27FC236}">
                    <a16:creationId xmlns:a16="http://schemas.microsoft.com/office/drawing/2014/main" id="{A51C7750-7452-263D-CC26-1A6EDF8460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1" name="Freeform 15">
                <a:extLst>
                  <a:ext uri="{FF2B5EF4-FFF2-40B4-BE49-F238E27FC236}">
                    <a16:creationId xmlns:a16="http://schemas.microsoft.com/office/drawing/2014/main" id="{0DB072A3-4313-456B-AD46-D9EBD9A1AA2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2" name="Freeform 16">
                <a:extLst>
                  <a:ext uri="{FF2B5EF4-FFF2-40B4-BE49-F238E27FC236}">
                    <a16:creationId xmlns:a16="http://schemas.microsoft.com/office/drawing/2014/main" id="{360182C8-A67F-E351-4E7A-1E22B1DCE7F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3" name="Freeform 17">
                <a:extLst>
                  <a:ext uri="{FF2B5EF4-FFF2-40B4-BE49-F238E27FC236}">
                    <a16:creationId xmlns:a16="http://schemas.microsoft.com/office/drawing/2014/main" id="{91DB2831-A7CC-7658-13E3-5269D2A57FD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4" name="Freeform 18">
                <a:extLst>
                  <a:ext uri="{FF2B5EF4-FFF2-40B4-BE49-F238E27FC236}">
                    <a16:creationId xmlns:a16="http://schemas.microsoft.com/office/drawing/2014/main" id="{A69A1939-AFE2-2369-9E67-530E82D8421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115" name="Freeform 19">
                <a:extLst>
                  <a:ext uri="{FF2B5EF4-FFF2-40B4-BE49-F238E27FC236}">
                    <a16:creationId xmlns:a16="http://schemas.microsoft.com/office/drawing/2014/main" id="{2727C7B1-15F6-1006-55BA-54BBED4607B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4116" name="Freeform 20">
              <a:extLst>
                <a:ext uri="{FF2B5EF4-FFF2-40B4-BE49-F238E27FC236}">
                  <a16:creationId xmlns:a16="http://schemas.microsoft.com/office/drawing/2014/main" id="{49EB32AD-54A2-EB64-5E51-9992DF4AF6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17" name="Freeform 21">
              <a:extLst>
                <a:ext uri="{FF2B5EF4-FFF2-40B4-BE49-F238E27FC236}">
                  <a16:creationId xmlns:a16="http://schemas.microsoft.com/office/drawing/2014/main" id="{F32984F1-9D96-C91E-9239-C14854F739C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118" name="Freeform 22">
              <a:extLst>
                <a:ext uri="{FF2B5EF4-FFF2-40B4-BE49-F238E27FC236}">
                  <a16:creationId xmlns:a16="http://schemas.microsoft.com/office/drawing/2014/main" id="{55DCB996-1D0A-FA50-B3C6-3DC09698029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60945EA8-CC41-5E25-76B7-FA9D68E07C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81 w 717"/>
                <a:gd name="T1" fmla="*/ 845 h 845"/>
                <a:gd name="T2" fmla="*/ 981 w 717"/>
                <a:gd name="T3" fmla="*/ 821 h 845"/>
                <a:gd name="T4" fmla="*/ 810 w 717"/>
                <a:gd name="T5" fmla="*/ 605 h 845"/>
                <a:gd name="T6" fmla="*/ 524 w 717"/>
                <a:gd name="T7" fmla="*/ 396 h 845"/>
                <a:gd name="T8" fmla="*/ 339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27 w 717"/>
                <a:gd name="T15" fmla="*/ 198 h 845"/>
                <a:gd name="T16" fmla="*/ 518 w 717"/>
                <a:gd name="T17" fmla="*/ 408 h 845"/>
                <a:gd name="T18" fmla="*/ 804 w 717"/>
                <a:gd name="T19" fmla="*/ 623 h 845"/>
                <a:gd name="T20" fmla="*/ 981 w 717"/>
                <a:gd name="T21" fmla="*/ 845 h 845"/>
                <a:gd name="T22" fmla="*/ 98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6D913596-9788-8747-5A58-EA6F8C1789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25 w 407"/>
                <a:gd name="T1" fmla="*/ 414 h 414"/>
                <a:gd name="T2" fmla="*/ 525 w 407"/>
                <a:gd name="T3" fmla="*/ 396 h 414"/>
                <a:gd name="T4" fmla="*/ 340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34 w 407"/>
                <a:gd name="T13" fmla="*/ 204 h 414"/>
                <a:gd name="T14" fmla="*/ 525 w 407"/>
                <a:gd name="T15" fmla="*/ 414 h 414"/>
                <a:gd name="T16" fmla="*/ 525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1" name="Freeform 25">
              <a:extLst>
                <a:ext uri="{FF2B5EF4-FFF2-40B4-BE49-F238E27FC236}">
                  <a16:creationId xmlns:a16="http://schemas.microsoft.com/office/drawing/2014/main" id="{C9289E47-A242-3955-A530-BF11B16374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D7ECC343-E547-AFC5-71DC-F1468492134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66 w 586"/>
                <a:gd name="T1" fmla="*/ 0 h 599"/>
                <a:gd name="T2" fmla="*/ 839 w 586"/>
                <a:gd name="T3" fmla="*/ 0 h 599"/>
                <a:gd name="T4" fmla="*/ 610 w 586"/>
                <a:gd name="T5" fmla="*/ 132 h 599"/>
                <a:gd name="T6" fmla="*/ 375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75 w 586"/>
                <a:gd name="T17" fmla="*/ 282 h 599"/>
                <a:gd name="T18" fmla="*/ 622 w 586"/>
                <a:gd name="T19" fmla="*/ 138 h 599"/>
                <a:gd name="T20" fmla="*/ 866 w 586"/>
                <a:gd name="T21" fmla="*/ 0 h 599"/>
                <a:gd name="T22" fmla="*/ 86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4A84715F-9D10-524C-A7EA-6030D10B57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87 w 269"/>
                <a:gd name="T1" fmla="*/ 0 h 252"/>
                <a:gd name="T2" fmla="*/ 369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87 w 269"/>
                <a:gd name="T15" fmla="*/ 0 h 252"/>
                <a:gd name="T16" fmla="*/ 387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C90A1AB6-A30E-96B4-2945-2800B2CC07B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440614DE-04F8-6613-0C57-82B780593F5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3237AAA5-FBE6-B8ED-1E64-D66CBD00BB3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27238982-08B3-98E3-29AA-223479A50C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2D9A0292-133B-7074-D30B-474353E08B8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6A903698-B5F6-971B-2776-29987EF3DC6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27A3F83C-0E88-136A-37D7-6FC860DC58B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3B5034FF-611C-3AEC-F047-AF245777B5B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0D5B611A-6F13-932E-CB7A-982430B7621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C20BF367-F95E-500E-8F49-06DDD146746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5CACB2E6-F229-2E2E-D9A7-B979590B605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35" name="Rectangle 39">
            <a:extLst>
              <a:ext uri="{FF2B5EF4-FFF2-40B4-BE49-F238E27FC236}">
                <a16:creationId xmlns:a16="http://schemas.microsoft.com/office/drawing/2014/main" id="{174BC92F-F5A5-C1BA-3951-08F5626A6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38C53AEC-A542-21BF-1BA9-1DC9525A47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37" name="Rectangle 41">
            <a:extLst>
              <a:ext uri="{FF2B5EF4-FFF2-40B4-BE49-F238E27FC236}">
                <a16:creationId xmlns:a16="http://schemas.microsoft.com/office/drawing/2014/main" id="{CA8384EF-D51C-984E-0E0A-1EDAE6640E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38" name="Rectangle 42">
            <a:extLst>
              <a:ext uri="{FF2B5EF4-FFF2-40B4-BE49-F238E27FC236}">
                <a16:creationId xmlns:a16="http://schemas.microsoft.com/office/drawing/2014/main" id="{A36942F5-0B1C-455A-DE39-6D04CD91F1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280053C5-71E4-4950-9748-0EB00675AC0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139" name="Rectangle 43">
            <a:extLst>
              <a:ext uri="{FF2B5EF4-FFF2-40B4-BE49-F238E27FC236}">
                <a16:creationId xmlns:a16="http://schemas.microsoft.com/office/drawing/2014/main" id="{07F5D937-865B-E672-A3EA-24178BD95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100" r:id="rId1"/>
    <p:sldLayoutId id="2147485090" r:id="rId2"/>
    <p:sldLayoutId id="2147485091" r:id="rId3"/>
    <p:sldLayoutId id="2147485092" r:id="rId4"/>
    <p:sldLayoutId id="2147485093" r:id="rId5"/>
    <p:sldLayoutId id="2147485094" r:id="rId6"/>
    <p:sldLayoutId id="2147485095" r:id="rId7"/>
    <p:sldLayoutId id="2147485096" r:id="rId8"/>
    <p:sldLayoutId id="2147485097" r:id="rId9"/>
    <p:sldLayoutId id="2147485098" r:id="rId10"/>
    <p:sldLayoutId id="21474850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2DCBDA9-B280-6FFE-1C52-10C5CB0BE3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2775" y="1692275"/>
            <a:ext cx="8062913" cy="1736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泛型（类属）程序设计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C1B238E-7CC1-11F2-B4EF-1476D3A3ACD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模 板</a:t>
            </a: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3568ED5-EED0-9725-686F-277C01283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主要内容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DF442CA-52E3-7690-B4C4-AEB4A2A92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泛型（类属）的基本概念</a:t>
            </a:r>
          </a:p>
          <a:p>
            <a:pPr eaLnBrk="1" hangingPunct="1">
              <a:defRPr/>
            </a:pPr>
            <a:r>
              <a:rPr lang="zh-CN" altLang="en-US" dirty="0"/>
              <a:t>函数模板</a:t>
            </a:r>
          </a:p>
          <a:p>
            <a:pPr eaLnBrk="1" hangingPunct="1">
              <a:defRPr/>
            </a:pPr>
            <a:r>
              <a:rPr lang="zh-CN" altLang="en-US" dirty="0"/>
              <a:t>类模板</a:t>
            </a:r>
          </a:p>
          <a:p>
            <a:pPr eaLnBrk="1" hangingPunct="1">
              <a:defRPr/>
            </a:pPr>
            <a:r>
              <a:rPr lang="zh-CN" altLang="en-US" dirty="0"/>
              <a:t>模板的复用问题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D724B47-8484-7CC7-942F-1F6AD64C4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应用场景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ED761F1-B7EC-DC84-DB2D-F4E8E4F30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435975" cy="5257800"/>
          </a:xfrm>
        </p:spPr>
        <p:txBody>
          <a:bodyPr/>
          <a:lstStyle/>
          <a:p>
            <a:pPr marL="269875" indent="-269875" eaLnBrk="1" hangingPunct="1">
              <a:defRPr/>
            </a:pPr>
            <a:r>
              <a:rPr lang="zh-CN" altLang="en-US" sz="2800" dirty="0"/>
              <a:t>在程序设计中，经常需要用到一些</a:t>
            </a:r>
            <a:r>
              <a:rPr lang="zh-CN" altLang="en-US" sz="2800" dirty="0">
                <a:solidFill>
                  <a:srgbClr val="FFC000"/>
                </a:solidFill>
              </a:rPr>
              <a:t>功能完全相同</a:t>
            </a:r>
            <a:r>
              <a:rPr lang="zh-CN" altLang="en-US" sz="2800" dirty="0"/>
              <a:t>的程序实体，但它们所涉及的</a:t>
            </a:r>
            <a:r>
              <a:rPr lang="zh-CN" altLang="en-US" sz="2800" dirty="0">
                <a:solidFill>
                  <a:srgbClr val="FFC000"/>
                </a:solidFill>
              </a:rPr>
              <a:t>数据类型不同</a:t>
            </a:r>
            <a:r>
              <a:rPr lang="zh-CN" altLang="en-US" sz="2800" dirty="0"/>
              <a:t>。</a:t>
            </a:r>
          </a:p>
          <a:p>
            <a:pPr marL="269875" indent="-269875"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  <a:p>
            <a:pPr marL="269875" indent="-269875" eaLnBrk="1" hangingPunct="1">
              <a:defRPr/>
            </a:pPr>
            <a:r>
              <a:rPr lang="zh-CN" altLang="en-US" sz="2800" dirty="0"/>
              <a:t>例如，对不同元素类型的数组进行排序的函数：</a:t>
            </a:r>
          </a:p>
          <a:p>
            <a:pPr marL="828675" lvl="1" eaLnBrk="1" hangingPunct="1">
              <a:buFontTx/>
              <a:buNone/>
              <a:defRPr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int_sort</a:t>
            </a:r>
            <a:r>
              <a:rPr lang="en-US" altLang="zh-CN" sz="2400" dirty="0"/>
              <a:t>(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/>
              <a:t> x[],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);</a:t>
            </a:r>
          </a:p>
          <a:p>
            <a:pPr marL="828675" lvl="1" eaLnBrk="1" hangingPunct="1">
              <a:buFontTx/>
              <a:buNone/>
              <a:defRPr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double_sort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C000"/>
                </a:solidFill>
              </a:rPr>
              <a:t>double</a:t>
            </a:r>
            <a:r>
              <a:rPr lang="en-US" altLang="zh-CN" sz="2400" dirty="0"/>
              <a:t> x[],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);</a:t>
            </a:r>
          </a:p>
          <a:p>
            <a:pPr marL="828675" lvl="1" eaLnBrk="1" hangingPunct="1">
              <a:buFontTx/>
              <a:buNone/>
              <a:defRPr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A_sort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C000"/>
                </a:solidFill>
              </a:rPr>
              <a:t>A</a:t>
            </a:r>
            <a:r>
              <a:rPr lang="en-US" altLang="zh-CN" sz="2400" dirty="0"/>
              <a:t> x[],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);</a:t>
            </a:r>
          </a:p>
          <a:p>
            <a:pPr marL="269875" indent="-269875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这三个函数的实现是一样的（如都采用快速排序算法由小到大排序）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E1D7A95-469F-C2ED-EF38-60E90E28B041}"/>
              </a:ext>
            </a:extLst>
          </p:cNvPr>
          <p:cNvSpPr txBox="1">
            <a:spLocks/>
          </p:cNvSpPr>
          <p:nvPr/>
        </p:nvSpPr>
        <p:spPr bwMode="auto">
          <a:xfrm>
            <a:off x="296863" y="115888"/>
            <a:ext cx="8389937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kern="0" dirty="0"/>
              <a:t>再例如，元素类型不同的栈类：</a:t>
            </a: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 eaLnBrk="1" hangingPunct="1">
              <a:defRPr/>
            </a:pPr>
            <a:r>
              <a:rPr lang="zh-CN" altLang="en-US" kern="0" dirty="0"/>
              <a:t>这三个类的实现是一样的（用数组表示元素）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553497A4-6D48-3E76-8022-55CC1CDD8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2738" y="696913"/>
            <a:ext cx="3827462" cy="2349500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IntStack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		</a:t>
            </a:r>
            <a:r>
              <a:rPr lang="en-US" altLang="zh-CN" sz="24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[100];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void push(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void pop(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};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0623E31F-84C5-FD4E-997F-CEE5F55C3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3213100"/>
            <a:ext cx="4113212" cy="23082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class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DoubleStack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{	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double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buf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[100];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   public: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void push(double);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void pop(double&amp;);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};</a:t>
            </a: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73F4591E-279C-EE43-2EA6-6CCA2E237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692150"/>
            <a:ext cx="3960812" cy="23082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+mn-lt"/>
                <a:ea typeface="+mn-ea"/>
              </a:rPr>
              <a:t>class </a:t>
            </a:r>
            <a:r>
              <a:rPr lang="en-US" altLang="zh-CN" sz="2400" dirty="0" err="1">
                <a:latin typeface="+mn-lt"/>
                <a:ea typeface="+mn-ea"/>
              </a:rPr>
              <a:t>AStack</a:t>
            </a:r>
            <a:endParaRPr lang="en-US" altLang="zh-CN" sz="2400" dirty="0">
              <a:latin typeface="+mn-lt"/>
              <a:ea typeface="+mn-ea"/>
            </a:endParaRPr>
          </a:p>
          <a:p>
            <a:pPr eaLnBrk="1" hangingPunct="1">
              <a:defRPr/>
            </a:pPr>
            <a:r>
              <a:rPr lang="en-US" altLang="zh-CN" sz="2400" dirty="0">
                <a:latin typeface="+mn-lt"/>
                <a:ea typeface="+mn-ea"/>
              </a:rPr>
              <a:t>{	</a:t>
            </a:r>
            <a:r>
              <a:rPr lang="en-US" altLang="zh-CN" sz="2400" dirty="0">
                <a:solidFill>
                  <a:srgbClr val="FFC000"/>
                </a:solidFill>
                <a:latin typeface="+mn-lt"/>
                <a:ea typeface="+mn-ea"/>
              </a:rPr>
              <a:t>A</a:t>
            </a:r>
            <a:r>
              <a:rPr lang="en-US" altLang="zh-CN" sz="2400" dirty="0">
                <a:latin typeface="+mn-lt"/>
                <a:ea typeface="+mn-ea"/>
              </a:rPr>
              <a:t> </a:t>
            </a:r>
            <a:r>
              <a:rPr lang="en-US" altLang="zh-CN" sz="2400" dirty="0" err="1">
                <a:latin typeface="+mn-lt"/>
                <a:ea typeface="+mn-ea"/>
              </a:rPr>
              <a:t>buf</a:t>
            </a:r>
            <a:r>
              <a:rPr lang="en-US" altLang="zh-CN" sz="2400" dirty="0">
                <a:latin typeface="+mn-lt"/>
                <a:ea typeface="+mn-ea"/>
              </a:rPr>
              <a:t>[100];</a:t>
            </a:r>
          </a:p>
          <a:p>
            <a:pPr eaLnBrk="1" hangingPunct="1">
              <a:defRPr/>
            </a:pPr>
            <a:r>
              <a:rPr lang="en-US" altLang="zh-CN" sz="2400" dirty="0">
                <a:latin typeface="+mn-lt"/>
                <a:ea typeface="+mn-ea"/>
              </a:rPr>
              <a:t>   public:</a:t>
            </a:r>
          </a:p>
          <a:p>
            <a:pPr eaLnBrk="1" hangingPunct="1">
              <a:defRPr/>
            </a:pPr>
            <a:r>
              <a:rPr lang="en-US" altLang="zh-CN" sz="2400" dirty="0">
                <a:latin typeface="+mn-lt"/>
                <a:ea typeface="+mn-ea"/>
              </a:rPr>
              <a:t>	void push(A);</a:t>
            </a:r>
          </a:p>
          <a:p>
            <a:pPr eaLnBrk="1" hangingPunct="1">
              <a:defRPr/>
            </a:pPr>
            <a:r>
              <a:rPr lang="en-US" altLang="zh-CN" sz="2400" dirty="0">
                <a:latin typeface="+mn-lt"/>
                <a:ea typeface="+mn-ea"/>
              </a:rPr>
              <a:t>	void pop(A&amp;);</a:t>
            </a:r>
          </a:p>
          <a:p>
            <a:pPr eaLnBrk="1" hangingPunct="1">
              <a:defRPr/>
            </a:pPr>
            <a:r>
              <a:rPr lang="en-US" altLang="zh-CN" sz="2400" dirty="0">
                <a:latin typeface="+mn-lt"/>
                <a:ea typeface="+mn-ea"/>
              </a:rP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661ADBF-CE97-0BE3-CE37-7A7747C53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目标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9F50149-154B-567E-DB07-CDDEAAA6C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42350" cy="5327650"/>
          </a:xfrm>
        </p:spPr>
        <p:txBody>
          <a:bodyPr>
            <a:normAutofit/>
          </a:bodyPr>
          <a:lstStyle/>
          <a:p>
            <a:pPr marL="363538" indent="-363538" eaLnBrk="1" hangingPunct="1">
              <a:lnSpc>
                <a:spcPct val="120000"/>
              </a:lnSpc>
              <a:defRPr/>
            </a:pPr>
            <a:r>
              <a:rPr lang="zh-CN" altLang="en-US" dirty="0"/>
              <a:t>一个函数（或一个类）来描述三个功能相同数据类型不同的排序函数（或三个栈类）。</a:t>
            </a:r>
          </a:p>
          <a:p>
            <a:pPr marL="363538" indent="-363538" eaLnBrk="1" hangingPunct="1">
              <a:lnSpc>
                <a:spcPct val="120000"/>
              </a:lnSpc>
              <a:defRPr/>
            </a:pPr>
            <a:r>
              <a:rPr lang="zh-CN" altLang="en-US" dirty="0"/>
              <a:t>实现</a:t>
            </a:r>
            <a:r>
              <a:rPr lang="zh-CN" altLang="en-US" dirty="0">
                <a:solidFill>
                  <a:srgbClr val="FFC000"/>
                </a:solidFill>
              </a:rPr>
              <a:t>软件复用</a:t>
            </a:r>
            <a:r>
              <a:rPr lang="zh-CN" altLang="en-US" dirty="0"/>
              <a:t>，有利于减少代码量，从而降低开发与维护成本，提升软件生产力。</a:t>
            </a:r>
          </a:p>
          <a:p>
            <a:pPr marL="363538" indent="-363538" eaLnBrk="1" hangingPunct="1">
              <a:lnSpc>
                <a:spcPct val="120000"/>
              </a:lnSpc>
              <a:defRPr/>
            </a:pPr>
            <a:r>
              <a:rPr lang="zh-CN" altLang="en-US" dirty="0"/>
              <a:t>以上软件复用可以通过“泛型程序设计”实现。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D63542F-1611-D281-7654-BF4336437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泛型（类属）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D9B5421-6C4C-3343-425D-3F928FF36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42350" cy="5327650"/>
          </a:xfrm>
        </p:spPr>
        <p:txBody>
          <a:bodyPr>
            <a:normAutofit lnSpcReduction="10000"/>
          </a:bodyPr>
          <a:lstStyle/>
          <a:p>
            <a:pPr marL="363538" indent="-363538" eaLnBrk="1" hangingPunct="1">
              <a:lnSpc>
                <a:spcPct val="120000"/>
              </a:lnSpc>
              <a:defRPr/>
            </a:pPr>
            <a:r>
              <a:rPr lang="zh-CN" altLang="en-US" dirty="0"/>
              <a:t>一个程序实体能对多种类型的数据进行操作或描述的特性称为</a:t>
            </a:r>
            <a:r>
              <a:rPr lang="zh-CN" altLang="en-US" dirty="0">
                <a:solidFill>
                  <a:schemeClr val="folHlink"/>
                </a:solidFill>
              </a:rPr>
              <a:t>类属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chemeClr val="folHlink"/>
                </a:solidFill>
              </a:rPr>
              <a:t>泛型</a:t>
            </a:r>
            <a:r>
              <a:rPr lang="zh-CN" altLang="en-US" dirty="0"/>
              <a:t>（</a:t>
            </a:r>
            <a:r>
              <a:rPr lang="en-US" altLang="zh-CN" dirty="0"/>
              <a:t>Generics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363538" indent="-363538" eaLnBrk="1" hangingPunct="1">
              <a:lnSpc>
                <a:spcPct val="120000"/>
              </a:lnSpc>
              <a:defRPr/>
            </a:pPr>
            <a:r>
              <a:rPr lang="zh-CN" altLang="en-US" dirty="0"/>
              <a:t>具有类属特性的程序实体通常有：</a:t>
            </a:r>
          </a:p>
          <a:p>
            <a:pPr marL="828675"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类属函数</a:t>
            </a:r>
            <a:r>
              <a:rPr lang="zh-CN" altLang="en-US" dirty="0"/>
              <a:t>：</a:t>
            </a:r>
            <a:r>
              <a:rPr lang="zh-CN" altLang="en-GB" dirty="0"/>
              <a:t>一个能对不同类型的</a:t>
            </a:r>
            <a:r>
              <a:rPr lang="zh-CN" altLang="en-US" dirty="0"/>
              <a:t>数据</a:t>
            </a:r>
            <a:r>
              <a:rPr lang="zh-CN" altLang="en-GB" dirty="0"/>
              <a:t>完成相同操作的函数</a:t>
            </a:r>
            <a:r>
              <a:rPr lang="zh-CN" altLang="en-US" dirty="0"/>
              <a:t>。</a:t>
            </a:r>
          </a:p>
          <a:p>
            <a:pPr marL="828675"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类属类</a:t>
            </a:r>
            <a:r>
              <a:rPr lang="zh-CN" altLang="en-US" dirty="0"/>
              <a:t>：</a:t>
            </a:r>
            <a:r>
              <a:rPr lang="zh-CN" altLang="en-GB" dirty="0"/>
              <a:t>一个成员类型可变</a:t>
            </a:r>
            <a:r>
              <a:rPr lang="zh-CN" altLang="en-US" dirty="0"/>
              <a:t>、但功能不变</a:t>
            </a:r>
            <a:r>
              <a:rPr lang="zh-CN" altLang="en-GB" dirty="0"/>
              <a:t>的类</a:t>
            </a:r>
            <a:r>
              <a:rPr lang="zh-CN" altLang="en-US" dirty="0"/>
              <a:t>。</a:t>
            </a:r>
          </a:p>
          <a:p>
            <a:pPr marL="363538" indent="-363538" eaLnBrk="1" hangingPunct="1">
              <a:lnSpc>
                <a:spcPct val="120000"/>
              </a:lnSpc>
              <a:defRPr/>
            </a:pPr>
            <a:r>
              <a:rPr lang="zh-CN" altLang="en-US" dirty="0"/>
              <a:t>基于具有类属特性的程序实体进行程序设计的技术称为：</a:t>
            </a:r>
            <a:r>
              <a:rPr lang="zh-CN" altLang="en-US" dirty="0">
                <a:solidFill>
                  <a:schemeClr val="folHlink"/>
                </a:solidFill>
              </a:rPr>
              <a:t>泛型程序设计</a:t>
            </a:r>
            <a:r>
              <a:rPr lang="zh-CN" altLang="en-US" dirty="0"/>
              <a:t>（</a:t>
            </a:r>
            <a:r>
              <a:rPr lang="en-US" altLang="zh-CN" dirty="0"/>
              <a:t>Generic Programming</a:t>
            </a:r>
            <a:r>
              <a:rPr lang="zh-CN" altLang="en-US" dirty="0"/>
              <a:t>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B12A8C5-27D2-7C98-3430-3C766262B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类属函数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2CADCC1-BA05-AD7A-129B-BFD92DAC0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642350" cy="4897437"/>
          </a:xfrm>
        </p:spPr>
        <p:txBody>
          <a:bodyPr/>
          <a:lstStyle/>
          <a:p>
            <a:pPr marL="363538" indent="-363538" eaLnBrk="1" hangingPunct="1">
              <a:defRPr/>
            </a:pPr>
            <a:r>
              <a:rPr lang="zh-CN" altLang="en-GB" dirty="0"/>
              <a:t>类属函数是指一个函数能对不同类型的参数完成相同的操作。</a:t>
            </a:r>
          </a:p>
          <a:p>
            <a:pPr marL="363538" indent="-363538" eaLnBrk="1" hangingPunct="1">
              <a:defRPr/>
            </a:pPr>
            <a:endParaRPr lang="en-GB" altLang="zh-CN" dirty="0"/>
          </a:p>
          <a:p>
            <a:pPr marL="363538" indent="-363538" eaLnBrk="1" hangingPunct="1">
              <a:defRPr/>
            </a:pPr>
            <a:r>
              <a:rPr lang="en-GB" altLang="zh-CN" dirty="0"/>
              <a:t>C++</a:t>
            </a:r>
            <a:r>
              <a:rPr lang="zh-CN" altLang="en-GB" dirty="0"/>
              <a:t>提供了两种实现类属函数的机制：</a:t>
            </a:r>
          </a:p>
          <a:p>
            <a:pPr marL="828675" lvl="1" eaLnBrk="1" hangingPunct="1">
              <a:defRPr/>
            </a:pPr>
            <a:r>
              <a:rPr lang="zh-CN" altLang="en-US" dirty="0"/>
              <a:t>采用通用指针类型的参数（</a:t>
            </a:r>
            <a:r>
              <a:rPr lang="en-US" altLang="zh-CN" dirty="0"/>
              <a:t>C</a:t>
            </a:r>
            <a:r>
              <a:rPr lang="zh-CN" altLang="en-US" dirty="0"/>
              <a:t>语言的做法）</a:t>
            </a:r>
          </a:p>
          <a:p>
            <a:pPr marL="828675" lvl="1" eaLnBrk="1" hangingPunct="1">
              <a:defRPr/>
            </a:pPr>
            <a:r>
              <a:rPr lang="zh-CN" altLang="en-US" dirty="0"/>
              <a:t>函数模板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6570E91-C8D8-7139-920C-40B9EFBED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723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用</a:t>
            </a:r>
            <a:r>
              <a:rPr lang="zh-CN" altLang="en-US" sz="4000" dirty="0">
                <a:solidFill>
                  <a:srgbClr val="FFC000"/>
                </a:solidFill>
              </a:rPr>
              <a:t>通用指针参数</a:t>
            </a:r>
            <a:r>
              <a:rPr lang="zh-CN" altLang="en-US" sz="4000" dirty="0"/>
              <a:t>实现类属排序函数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0F72B68-F3DA-8211-055D-881AC0FDD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3950"/>
            <a:ext cx="9144000" cy="5761038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defRPr/>
            </a:pPr>
            <a:r>
              <a:rPr lang="en-GB" altLang="zh-CN" sz="2000" dirty="0"/>
              <a:t> </a:t>
            </a:r>
            <a:r>
              <a:rPr lang="zh-CN" altLang="en-GB" sz="2400" dirty="0"/>
              <a:t>函数定义：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unsigned char</a:t>
            </a:r>
            <a:r>
              <a:rPr lang="en-US" altLang="zh-CN" sz="2000" dirty="0">
                <a:solidFill>
                  <a:srgbClr val="FFC000"/>
                </a:solidFill>
              </a:rPr>
              <a:t> byte</a:t>
            </a:r>
            <a:r>
              <a:rPr lang="en-US" altLang="zh-CN" sz="2000" dirty="0"/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void sort(void *</a:t>
            </a:r>
            <a:r>
              <a:rPr lang="en-GB" altLang="zh-CN" sz="2000" dirty="0">
                <a:solidFill>
                  <a:srgbClr val="FFC000"/>
                </a:solidFill>
              </a:rPr>
              <a:t>base</a:t>
            </a:r>
            <a:r>
              <a:rPr lang="en-GB" altLang="zh-CN" sz="2000" dirty="0"/>
              <a:t>, //</a:t>
            </a:r>
            <a:r>
              <a:rPr lang="zh-CN" altLang="en-GB" sz="2000" dirty="0"/>
              <a:t>需排序的数据</a:t>
            </a:r>
            <a:r>
              <a:rPr lang="zh-CN" altLang="en-US" sz="2000" dirty="0"/>
              <a:t>（数组）内存</a:t>
            </a:r>
            <a:r>
              <a:rPr lang="zh-CN" altLang="en-GB" sz="2000" dirty="0"/>
              <a:t>首地址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unsigned 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>
                <a:solidFill>
                  <a:srgbClr val="FFC000"/>
                </a:solidFill>
              </a:rPr>
              <a:t>num</a:t>
            </a:r>
            <a:r>
              <a:rPr lang="en-GB" altLang="zh-CN" sz="2000" dirty="0"/>
              <a:t>, //</a:t>
            </a:r>
            <a:r>
              <a:rPr lang="zh-CN" altLang="en-GB" sz="2000" dirty="0"/>
              <a:t>数据元素的个数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unsigned 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>
                <a:solidFill>
                  <a:srgbClr val="FFC000"/>
                </a:solidFill>
              </a:rPr>
              <a:t>element_size</a:t>
            </a:r>
            <a:r>
              <a:rPr lang="en-GB" altLang="zh-CN" sz="2000" dirty="0"/>
              <a:t>, //</a:t>
            </a:r>
            <a:r>
              <a:rPr lang="zh-CN" altLang="en-US" sz="2000" dirty="0"/>
              <a:t>一个</a:t>
            </a:r>
            <a:r>
              <a:rPr lang="zh-CN" altLang="en-GB" sz="2000" dirty="0"/>
              <a:t>数据元素</a:t>
            </a:r>
            <a:r>
              <a:rPr lang="zh-CN" altLang="en-US" sz="2000" dirty="0"/>
              <a:t>所占内存大小（字节数）</a:t>
            </a:r>
            <a:endParaRPr lang="zh-CN" altLang="en-GB" sz="20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	</a:t>
            </a:r>
            <a:r>
              <a:rPr lang="en-US" altLang="zh-CN" sz="2000" dirty="0"/>
              <a:t>bool</a:t>
            </a:r>
            <a:r>
              <a:rPr lang="en-GB" altLang="zh-CN" sz="2000" dirty="0"/>
              <a:t> (*</a:t>
            </a:r>
            <a:r>
              <a:rPr lang="en-GB" altLang="zh-CN" sz="2000" dirty="0" err="1">
                <a:solidFill>
                  <a:srgbClr val="FFC000"/>
                </a:solidFill>
              </a:rPr>
              <a:t>cmp</a:t>
            </a:r>
            <a:r>
              <a:rPr lang="en-GB" altLang="zh-CN" sz="2000" dirty="0"/>
              <a:t>)(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void *, 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void *) ) //</a:t>
            </a:r>
            <a:r>
              <a:rPr lang="zh-CN" altLang="en-GB" sz="2000" dirty="0"/>
              <a:t>比较两个元素的函数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{   </a:t>
            </a:r>
            <a:r>
              <a:rPr lang="en-US" altLang="zh-CN" sz="2000" dirty="0"/>
              <a:t>//</a:t>
            </a:r>
            <a:r>
              <a:rPr lang="zh-CN" altLang="en-GB" sz="2000" dirty="0"/>
              <a:t>不论采用何种排序算法，一般都需要对数组进行以下操作：</a:t>
            </a:r>
            <a:r>
              <a:rPr lang="zh-CN" altLang="en-GB" sz="2200" dirty="0"/>
              <a:t>	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//</a:t>
            </a:r>
            <a:r>
              <a:rPr lang="zh-CN" altLang="en-GB" sz="2000" dirty="0">
                <a:solidFill>
                  <a:srgbClr val="FFC000"/>
                </a:solidFill>
              </a:rPr>
              <a:t>取第</a:t>
            </a:r>
            <a:r>
              <a:rPr lang="en-GB" altLang="zh-CN" sz="2000" dirty="0" err="1">
                <a:solidFill>
                  <a:srgbClr val="FFC000"/>
                </a:solidFill>
              </a:rPr>
              <a:t>i</a:t>
            </a:r>
            <a:r>
              <a:rPr lang="zh-CN" altLang="en-GB" sz="2000" dirty="0">
                <a:solidFill>
                  <a:srgbClr val="FFC000"/>
                </a:solidFill>
              </a:rPr>
              <a:t>个元素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   (byte *)</a:t>
            </a:r>
            <a:r>
              <a:rPr lang="en-GB" altLang="zh-CN" sz="2000" dirty="0" err="1"/>
              <a:t>base+i</a:t>
            </a:r>
            <a:r>
              <a:rPr lang="en-GB" altLang="zh-CN" sz="2000" dirty="0"/>
              <a:t>*</a:t>
            </a:r>
            <a:r>
              <a:rPr lang="en-GB" altLang="zh-CN" sz="2000" dirty="0" err="1"/>
              <a:t>element_size</a:t>
            </a:r>
            <a:endParaRPr lang="en-GB" altLang="zh-CN" sz="20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//</a:t>
            </a:r>
            <a:r>
              <a:rPr lang="zh-CN" altLang="en-GB" sz="2000" dirty="0">
                <a:solidFill>
                  <a:srgbClr val="FFC000"/>
                </a:solidFill>
              </a:rPr>
              <a:t>比较第</a:t>
            </a:r>
            <a:r>
              <a:rPr lang="en-GB" altLang="zh-CN" sz="2000" dirty="0" err="1">
                <a:solidFill>
                  <a:srgbClr val="FFC000"/>
                </a:solidFill>
              </a:rPr>
              <a:t>i</a:t>
            </a:r>
            <a:r>
              <a:rPr lang="zh-CN" altLang="en-GB" sz="2000" dirty="0">
                <a:solidFill>
                  <a:srgbClr val="FFC000"/>
                </a:solidFill>
              </a:rPr>
              <a:t>个和第</a:t>
            </a:r>
            <a:r>
              <a:rPr lang="en-GB" altLang="zh-CN" sz="2000" dirty="0">
                <a:solidFill>
                  <a:srgbClr val="FFC000"/>
                </a:solidFill>
              </a:rPr>
              <a:t>j</a:t>
            </a:r>
            <a:r>
              <a:rPr lang="zh-CN" altLang="en-GB" sz="2000" dirty="0">
                <a:solidFill>
                  <a:srgbClr val="FFC000"/>
                </a:solidFill>
              </a:rPr>
              <a:t>个元素的大小 </a:t>
            </a:r>
            <a:r>
              <a:rPr lang="zh-CN" altLang="en-US" sz="2000" dirty="0"/>
              <a:t>（利用调用者提供的</a:t>
            </a:r>
            <a:r>
              <a:rPr lang="zh-CN" altLang="en-US" sz="2000" dirty="0">
                <a:solidFill>
                  <a:srgbClr val="FFC000"/>
                </a:solidFill>
              </a:rPr>
              <a:t>回调函数</a:t>
            </a:r>
            <a:r>
              <a:rPr lang="en-US" altLang="zh-CN" sz="2000" dirty="0" err="1"/>
              <a:t>cmp</a:t>
            </a:r>
            <a:r>
              <a:rPr lang="zh-CN" altLang="en-US" sz="2000" dirty="0"/>
              <a:t>实现）</a:t>
            </a:r>
            <a:endParaRPr lang="zh-CN" altLang="en-GB" sz="20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   </a:t>
            </a:r>
            <a:r>
              <a:rPr lang="en-GB" altLang="zh-CN" sz="1800" dirty="0" err="1"/>
              <a:t>cmp</a:t>
            </a:r>
            <a:r>
              <a:rPr lang="en-GB" altLang="zh-CN" sz="1800" dirty="0"/>
              <a:t>((byte *)</a:t>
            </a:r>
            <a:r>
              <a:rPr lang="en-GB" altLang="zh-CN" sz="1800" dirty="0" err="1"/>
              <a:t>base+i</a:t>
            </a:r>
            <a:r>
              <a:rPr lang="en-GB" altLang="zh-CN" sz="1800" dirty="0"/>
              <a:t>*</a:t>
            </a:r>
            <a:r>
              <a:rPr lang="en-GB" altLang="zh-CN" sz="1800" dirty="0" err="1"/>
              <a:t>element_size</a:t>
            </a:r>
            <a:r>
              <a:rPr lang="en-GB" altLang="zh-CN" sz="1800" dirty="0"/>
              <a:t>,(byte *)</a:t>
            </a:r>
            <a:r>
              <a:rPr lang="en-GB" altLang="zh-CN" sz="1800" dirty="0" err="1"/>
              <a:t>base+j</a:t>
            </a:r>
            <a:r>
              <a:rPr lang="en-GB" altLang="zh-CN" sz="1800" dirty="0"/>
              <a:t>*</a:t>
            </a:r>
            <a:r>
              <a:rPr lang="en-GB" altLang="zh-CN" sz="1800" dirty="0" err="1"/>
              <a:t>element_size</a:t>
            </a:r>
            <a:r>
              <a:rPr lang="en-GB" altLang="zh-CN" sz="1800" dirty="0"/>
              <a:t>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//</a:t>
            </a:r>
            <a:r>
              <a:rPr lang="zh-CN" altLang="en-GB" sz="2000" dirty="0">
                <a:solidFill>
                  <a:srgbClr val="FFC000"/>
                </a:solidFill>
              </a:rPr>
              <a:t>交换第</a:t>
            </a:r>
            <a:r>
              <a:rPr lang="en-GB" altLang="zh-CN" sz="2000" dirty="0" err="1">
                <a:solidFill>
                  <a:srgbClr val="FFC000"/>
                </a:solidFill>
              </a:rPr>
              <a:t>i</a:t>
            </a:r>
            <a:r>
              <a:rPr lang="zh-CN" altLang="en-GB" sz="2000" dirty="0">
                <a:solidFill>
                  <a:srgbClr val="FFC000"/>
                </a:solidFill>
              </a:rPr>
              <a:t>个和第</a:t>
            </a:r>
            <a:r>
              <a:rPr lang="en-GB" altLang="zh-CN" sz="2000" dirty="0">
                <a:solidFill>
                  <a:srgbClr val="FFC000"/>
                </a:solidFill>
              </a:rPr>
              <a:t>j</a:t>
            </a:r>
            <a:r>
              <a:rPr lang="zh-CN" altLang="en-GB" sz="2000" dirty="0">
                <a:solidFill>
                  <a:srgbClr val="FFC000"/>
                </a:solidFill>
              </a:rPr>
              <a:t>个元素</a:t>
            </a:r>
            <a:r>
              <a:rPr lang="zh-CN" altLang="en-US" sz="2000" dirty="0">
                <a:solidFill>
                  <a:srgbClr val="FFC000"/>
                </a:solidFill>
              </a:rPr>
              <a:t>的位置</a:t>
            </a:r>
            <a:endParaRPr lang="zh-CN" altLang="en-GB" sz="2000" dirty="0">
              <a:solidFill>
                <a:srgbClr val="FFC000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   byte *p1=(byte *)</a:t>
            </a:r>
            <a:r>
              <a:rPr lang="en-GB" altLang="zh-CN" sz="2000" dirty="0" err="1"/>
              <a:t>base+i</a:t>
            </a:r>
            <a:r>
              <a:rPr lang="en-GB" altLang="zh-CN" sz="2000" dirty="0"/>
              <a:t>*</a:t>
            </a:r>
            <a:r>
              <a:rPr lang="en-GB" altLang="zh-CN" sz="2000" dirty="0" err="1"/>
              <a:t>element_size</a:t>
            </a:r>
            <a:r>
              <a:rPr lang="en-GB" altLang="zh-CN" sz="2000" dirty="0"/>
              <a:t>,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     *p2=(byte *)</a:t>
            </a:r>
            <a:r>
              <a:rPr lang="en-GB" altLang="zh-CN" sz="2000" dirty="0" err="1"/>
              <a:t>base+j</a:t>
            </a:r>
            <a:r>
              <a:rPr lang="en-GB" altLang="zh-CN" sz="2000" dirty="0"/>
              <a:t>*</a:t>
            </a:r>
            <a:r>
              <a:rPr lang="en-GB" altLang="zh-CN" sz="2000" dirty="0" err="1"/>
              <a:t>element_size</a:t>
            </a:r>
            <a:r>
              <a:rPr lang="en-GB" altLang="zh-CN" sz="2000" dirty="0"/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   for (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k=0; k&lt;</a:t>
            </a:r>
            <a:r>
              <a:rPr lang="en-GB" altLang="zh-CN" sz="2000" dirty="0" err="1"/>
              <a:t>element_size</a:t>
            </a:r>
            <a:r>
              <a:rPr lang="en-GB" altLang="zh-CN" sz="2000" dirty="0"/>
              <a:t>; k++)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   {	 byte temp=p1[k]; p1[k] = p2[k]; p2[k] = temp;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   }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}</a:t>
            </a:r>
            <a:endParaRPr lang="en-US" altLang="zh-CN" sz="2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E6D98426-0FC7-9DEB-93CD-CB768ABF1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893175" cy="6192838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defRPr/>
            </a:pPr>
            <a:r>
              <a:rPr lang="zh-CN" altLang="en-US" sz="2800" dirty="0"/>
              <a:t> 函数的使用</a:t>
            </a:r>
            <a:endParaRPr lang="en-US" altLang="zh-CN" sz="2800" dirty="0"/>
          </a:p>
          <a:p>
            <a:pPr marL="400050" lvl="1" indent="0" eaLnBrk="1" hangingPunct="1">
              <a:lnSpc>
                <a:spcPct val="80000"/>
              </a:lnSpc>
              <a:defRPr/>
            </a:pP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型数组排序</a:t>
            </a:r>
            <a:endParaRPr lang="zh-CN" altLang="en-GB" sz="24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bool</a:t>
            </a:r>
            <a:r>
              <a:rPr lang="en-GB" altLang="zh-CN" sz="2400" dirty="0"/>
              <a:t> </a:t>
            </a:r>
            <a:r>
              <a:rPr lang="en-GB" altLang="zh-CN" sz="2400" dirty="0" err="1"/>
              <a:t>int_compare</a:t>
            </a:r>
            <a:r>
              <a:rPr lang="en-GB" altLang="zh-CN" sz="2400" dirty="0"/>
              <a:t>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void *p1, 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void *p2) 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//</a:t>
            </a:r>
            <a:r>
              <a:rPr lang="zh-CN" altLang="en-GB" sz="2400" dirty="0"/>
              <a:t>比较</a:t>
            </a:r>
            <a:r>
              <a:rPr lang="en-GB" altLang="zh-CN" sz="2400" dirty="0" err="1"/>
              <a:t>int</a:t>
            </a:r>
            <a:r>
              <a:rPr lang="zh-CN" altLang="en-GB" sz="2400" dirty="0"/>
              <a:t>类型元素大小。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if (*(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*)p1 &lt; *(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*)p2)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return </a:t>
            </a:r>
            <a:r>
              <a:rPr lang="en-GB" altLang="zh-CN" sz="2400" dirty="0">
                <a:latin typeface="Arial"/>
              </a:rPr>
              <a:t>true</a:t>
            </a:r>
            <a:r>
              <a:rPr lang="en-GB" altLang="zh-CN" sz="2400" dirty="0"/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else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return false;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int</a:t>
            </a:r>
            <a:r>
              <a:rPr lang="en-GB" altLang="zh-CN" sz="2400" dirty="0"/>
              <a:t> a[100];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sort(a,100,sizeof(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),</a:t>
            </a:r>
            <a:r>
              <a:rPr lang="en-GB" altLang="zh-CN" sz="2400" dirty="0" err="1"/>
              <a:t>int_compare</a:t>
            </a:r>
            <a:r>
              <a:rPr lang="en-GB" altLang="zh-CN" sz="2400" dirty="0"/>
              <a:t>);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zh-CN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EB4F83-01CC-F4EB-31D0-DA20F0BE6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38" y="404813"/>
            <a:ext cx="8507412" cy="6048375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400" dirty="0"/>
              <a:t>double</a:t>
            </a:r>
            <a:r>
              <a:rPr lang="zh-CN" altLang="en-US" sz="2400" dirty="0"/>
              <a:t>型数组排序</a:t>
            </a:r>
            <a:endParaRPr lang="en-GB" altLang="zh-CN" sz="2400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bool </a:t>
            </a:r>
            <a:r>
              <a:rPr lang="en-GB" altLang="zh-CN" sz="2400" dirty="0" err="1"/>
              <a:t>double_compare</a:t>
            </a:r>
            <a:r>
              <a:rPr lang="en-GB" altLang="zh-CN" sz="2400" dirty="0"/>
              <a:t>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void *p1, 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void *p2)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//</a:t>
            </a:r>
            <a:r>
              <a:rPr lang="zh-CN" altLang="en-GB" sz="2400" dirty="0"/>
              <a:t>比较</a:t>
            </a:r>
            <a:r>
              <a:rPr lang="en-GB" altLang="zh-CN" sz="2400" dirty="0"/>
              <a:t>double</a:t>
            </a:r>
            <a:r>
              <a:rPr lang="zh-CN" altLang="en-GB" sz="2400" dirty="0"/>
              <a:t>类型元素大小。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if (*(double *)p1 &lt; *(double *)p2)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return </a:t>
            </a:r>
            <a:r>
              <a:rPr lang="en-GB" altLang="zh-CN" sz="2400" dirty="0">
                <a:latin typeface="Arial" charset="0"/>
              </a:rPr>
              <a:t>true</a:t>
            </a:r>
            <a:r>
              <a:rPr lang="en-GB" altLang="zh-CN" sz="2400" dirty="0"/>
              <a:t>;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else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return false;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double b[200];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sort(b,200,sizeof(double),</a:t>
            </a:r>
            <a:r>
              <a:rPr lang="en-GB" altLang="zh-CN" sz="2400" dirty="0" err="1"/>
              <a:t>double_compare</a:t>
            </a:r>
            <a:r>
              <a:rPr lang="en-GB" altLang="zh-CN" sz="2400" dirty="0"/>
              <a:t>);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defRPr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EF7D882A-9075-DB6E-13D4-7CDC55264D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692150"/>
            <a:ext cx="8893175" cy="5400675"/>
          </a:xfrm>
        </p:spPr>
        <p:txBody>
          <a:bodyPr/>
          <a:lstStyle/>
          <a:p>
            <a:pPr lvl="1" defTabSz="633413" eaLnBrk="1" hangingPunct="1">
              <a:lnSpc>
                <a:spcPct val="80000"/>
              </a:lnSpc>
              <a:defRPr/>
            </a:pPr>
            <a:r>
              <a:rPr lang="en-US" altLang="zh-CN" sz="2400" dirty="0"/>
              <a:t>A</a:t>
            </a:r>
            <a:r>
              <a:rPr lang="zh-CN" altLang="en-US" sz="2400" dirty="0"/>
              <a:t>类型数组排序</a:t>
            </a:r>
            <a:endParaRPr lang="en-US" altLang="zh-CN" sz="2400" dirty="0"/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bool </a:t>
            </a:r>
            <a:r>
              <a:rPr lang="en-US" altLang="zh-CN" sz="2400" dirty="0" err="1"/>
              <a:t>A_compare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const</a:t>
            </a:r>
            <a:r>
              <a:rPr lang="en-US" altLang="zh-CN" sz="2400" dirty="0"/>
              <a:t> void *p1, </a:t>
            </a:r>
            <a:r>
              <a:rPr lang="en-US" altLang="zh-CN" sz="2400" dirty="0" err="1"/>
              <a:t>const</a:t>
            </a:r>
            <a:r>
              <a:rPr lang="en-US" altLang="zh-CN" sz="2400" dirty="0"/>
              <a:t> void *p2) 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//</a:t>
            </a:r>
            <a:r>
              <a:rPr lang="zh-CN" altLang="en-US" sz="2400" dirty="0"/>
              <a:t>比较</a:t>
            </a:r>
            <a:r>
              <a:rPr lang="en-US" altLang="zh-CN" sz="2400" dirty="0"/>
              <a:t>A</a:t>
            </a:r>
            <a:r>
              <a:rPr lang="zh-CN" altLang="en-US" sz="2400" dirty="0"/>
              <a:t>类元素大小。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</a:t>
            </a:r>
            <a:r>
              <a:rPr lang="en-GB" altLang="zh-CN" sz="2400" dirty="0"/>
              <a:t>if (*(A *)p1 &lt; *(A *)p2)  //</a:t>
            </a:r>
            <a:r>
              <a:rPr lang="zh-CN" altLang="en-GB" sz="2400" dirty="0"/>
              <a:t>类</a:t>
            </a:r>
            <a:r>
              <a:rPr lang="en-US" altLang="zh-CN" sz="2400" dirty="0"/>
              <a:t>A</a:t>
            </a:r>
            <a:r>
              <a:rPr lang="zh-CN" altLang="en-US" sz="2400" dirty="0"/>
              <a:t>需重载操作符：</a:t>
            </a:r>
            <a:r>
              <a:rPr lang="en-US" altLang="zh-CN" sz="2400" dirty="0"/>
              <a:t>&lt;</a:t>
            </a:r>
            <a:endParaRPr lang="en-GB" altLang="zh-CN" sz="2400" dirty="0"/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 return </a:t>
            </a:r>
            <a:r>
              <a:rPr lang="en-GB" altLang="zh-CN" sz="2400" dirty="0">
                <a:latin typeface="Arial"/>
              </a:rPr>
              <a:t>true</a:t>
            </a:r>
            <a:r>
              <a:rPr lang="en-GB" altLang="zh-CN" sz="2400" dirty="0"/>
              <a:t>;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else 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 return false;</a:t>
            </a:r>
            <a:endParaRPr lang="en-US" altLang="zh-CN" sz="2400" dirty="0"/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A c[300];</a:t>
            </a:r>
            <a:r>
              <a:rPr lang="en-GB" altLang="zh-CN" sz="2400" dirty="0"/>
              <a:t> 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......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sort(c,300,sizeof(A),</a:t>
            </a:r>
            <a:r>
              <a:rPr lang="en-GB" altLang="zh-CN" sz="2400" dirty="0" err="1"/>
              <a:t>A_compare</a:t>
            </a:r>
            <a:r>
              <a:rPr lang="en-GB" altLang="zh-CN" sz="2400" dirty="0"/>
              <a:t>);</a:t>
            </a:r>
          </a:p>
          <a:p>
            <a:pPr marL="0" indent="0" defTabSz="63341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zh-CN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59AF8-C0D7-479D-56ED-314561DD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面临的问题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8038DE-6A17-455E-90F1-1828E8D25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基于底层逻辑实现</a:t>
            </a:r>
          </a:p>
          <a:p>
            <a:pPr lvl="1">
              <a:defRPr/>
            </a:pPr>
            <a:r>
              <a:rPr lang="zh-CN" altLang="en-US" dirty="0"/>
              <a:t>抽象层次低，实现繁琐、难度大</a:t>
            </a:r>
            <a:endParaRPr lang="en-US" altLang="zh-CN" dirty="0"/>
          </a:p>
          <a:p>
            <a:pPr lvl="1">
              <a:defRPr/>
            </a:pPr>
            <a:endParaRPr lang="zh-CN" altLang="en-US" dirty="0"/>
          </a:p>
          <a:p>
            <a:pPr>
              <a:defRPr/>
            </a:pPr>
            <a:r>
              <a:rPr lang="zh-CN" altLang="en-US" dirty="0"/>
              <a:t>需要大量的指针操作</a:t>
            </a:r>
          </a:p>
          <a:p>
            <a:pPr lvl="1">
              <a:defRPr/>
            </a:pPr>
            <a:r>
              <a:rPr lang="zh-CN" altLang="en-US" dirty="0"/>
              <a:t>程序容易出错，或产生安全漏洞</a:t>
            </a:r>
          </a:p>
          <a:p>
            <a:pPr lvl="1">
              <a:defRPr/>
            </a:pPr>
            <a:r>
              <a:rPr lang="zh-CN" altLang="en-US" dirty="0"/>
              <a:t>编译器很难进行类型检查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>
            <a:extLst>
              <a:ext uri="{FF2B5EF4-FFF2-40B4-BE49-F238E27FC236}">
                <a16:creationId xmlns:a16="http://schemas.microsoft.com/office/drawing/2014/main" id="{5E732522-61F6-5EF8-2069-1E11D25F1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713788" cy="55451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GB" sz="3000" dirty="0">
                <a:solidFill>
                  <a:srgbClr val="FFC000"/>
                </a:solidFill>
              </a:rPr>
              <a:t>函数模板</a:t>
            </a:r>
            <a:r>
              <a:rPr lang="zh-CN" altLang="en-GB" sz="3000" dirty="0"/>
              <a:t>是指带有</a:t>
            </a:r>
            <a:r>
              <a:rPr lang="zh-CN" altLang="en-GB" sz="3000" dirty="0">
                <a:solidFill>
                  <a:srgbClr val="FFC000"/>
                </a:solidFill>
              </a:rPr>
              <a:t>类型</a:t>
            </a:r>
            <a:r>
              <a:rPr lang="zh-CN" altLang="en-GB" sz="3000" dirty="0"/>
              <a:t>参数的函数定义，格式如下：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template</a:t>
            </a:r>
            <a:r>
              <a:rPr lang="en-GB" altLang="zh-CN" sz="2400" dirty="0"/>
              <a:t> &lt;class </a:t>
            </a:r>
            <a:r>
              <a:rPr lang="en-GB" altLang="zh-CN" sz="2400" dirty="0">
                <a:solidFill>
                  <a:srgbClr val="FFC000"/>
                </a:solidFill>
              </a:rPr>
              <a:t>T1</a:t>
            </a:r>
            <a:r>
              <a:rPr lang="en-GB" altLang="zh-CN" sz="2400" dirty="0"/>
              <a:t>, class </a:t>
            </a:r>
            <a:r>
              <a:rPr lang="en-GB" altLang="zh-CN" sz="2400" dirty="0">
                <a:solidFill>
                  <a:srgbClr val="FFC000"/>
                </a:solidFill>
              </a:rPr>
              <a:t>T2</a:t>
            </a:r>
            <a:r>
              <a:rPr lang="en-GB" altLang="zh-CN" sz="2400" dirty="0"/>
              <a:t>, ...&gt; //</a:t>
            </a:r>
            <a:r>
              <a:rPr lang="en-US" altLang="zh-CN" sz="2400" dirty="0"/>
              <a:t>class</a:t>
            </a:r>
            <a:r>
              <a:rPr lang="zh-CN" altLang="en-US" sz="2400" dirty="0"/>
              <a:t>也可以写成</a:t>
            </a:r>
            <a:r>
              <a:rPr lang="en-US" altLang="zh-CN" sz="2400" dirty="0" err="1"/>
              <a:t>typename</a:t>
            </a:r>
            <a:endParaRPr lang="en-GB" altLang="zh-CN" sz="2400" dirty="0"/>
          </a:p>
          <a:p>
            <a:pPr lvl="1" eaLnBrk="1" hangingPunct="1">
              <a:buFontTx/>
              <a:buNone/>
              <a:defRPr/>
            </a:pPr>
            <a:r>
              <a:rPr lang="en-GB" altLang="zh-CN" sz="2400" dirty="0"/>
              <a:t>&lt;</a:t>
            </a:r>
            <a:r>
              <a:rPr lang="zh-CN" altLang="en-GB" sz="2400" dirty="0"/>
              <a:t>返回值类型</a:t>
            </a:r>
            <a:r>
              <a:rPr lang="en-GB" altLang="zh-CN" sz="2400" dirty="0"/>
              <a:t>&gt; &lt;</a:t>
            </a:r>
            <a:r>
              <a:rPr lang="zh-CN" altLang="en-GB" sz="2400" dirty="0"/>
              <a:t>函数名</a:t>
            </a:r>
            <a:r>
              <a:rPr lang="en-GB" altLang="zh-CN" sz="2400" dirty="0"/>
              <a:t>&gt;(&lt;</a:t>
            </a:r>
            <a:r>
              <a:rPr lang="zh-CN" altLang="en-GB" sz="2400" dirty="0"/>
              <a:t>参数表</a:t>
            </a:r>
            <a:r>
              <a:rPr lang="en-GB" altLang="zh-CN" sz="2400" dirty="0"/>
              <a:t>&gt;)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400" dirty="0"/>
              <a:t>{	......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400" dirty="0"/>
              <a:t>}</a:t>
            </a:r>
          </a:p>
          <a:p>
            <a:pPr lvl="1" eaLnBrk="1" hangingPunct="1">
              <a:defRPr/>
            </a:pPr>
            <a:r>
              <a:rPr lang="en-GB" altLang="zh-CN" sz="2600" dirty="0"/>
              <a:t>T1</a:t>
            </a:r>
            <a:r>
              <a:rPr lang="zh-CN" altLang="en-GB" sz="2600" dirty="0"/>
              <a:t>、</a:t>
            </a:r>
            <a:r>
              <a:rPr lang="en-GB" altLang="zh-CN" sz="2600" dirty="0"/>
              <a:t>T2</a:t>
            </a:r>
            <a:r>
              <a:rPr lang="zh-CN" altLang="en-GB" sz="2600" dirty="0"/>
              <a:t>等是函数模板的参数</a:t>
            </a:r>
            <a:r>
              <a:rPr lang="zh-CN" altLang="en-US" sz="2600" dirty="0"/>
              <a:t>，它们的取值是某个类型。</a:t>
            </a:r>
            <a:endParaRPr lang="zh-CN" altLang="en-GB" sz="26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 dirty="0"/>
              <a:t>函数的</a:t>
            </a:r>
            <a:r>
              <a:rPr lang="en-GB" altLang="zh-CN" sz="2600" dirty="0"/>
              <a:t>&lt;</a:t>
            </a:r>
            <a:r>
              <a:rPr lang="zh-CN" altLang="en-GB" sz="2600" dirty="0"/>
              <a:t>返回值类型</a:t>
            </a:r>
            <a:r>
              <a:rPr lang="en-GB" altLang="zh-CN" sz="2600" dirty="0"/>
              <a:t>&gt;</a:t>
            </a:r>
            <a:r>
              <a:rPr lang="en-US" altLang="zh-CN" sz="2600" dirty="0"/>
              <a:t> </a:t>
            </a:r>
            <a:r>
              <a:rPr lang="zh-CN" altLang="en-US" sz="2600" dirty="0"/>
              <a:t>、</a:t>
            </a:r>
            <a:r>
              <a:rPr lang="en-GB" altLang="zh-CN" sz="2600" dirty="0"/>
              <a:t>&lt;</a:t>
            </a:r>
            <a:r>
              <a:rPr lang="zh-CN" altLang="en-GB" sz="2600" dirty="0"/>
              <a:t>参数表</a:t>
            </a:r>
            <a:r>
              <a:rPr lang="en-GB" altLang="zh-CN" sz="2600" dirty="0"/>
              <a:t>&gt;</a:t>
            </a:r>
            <a:r>
              <a:rPr lang="zh-CN" altLang="en-GB" sz="2600" dirty="0"/>
              <a:t>中的参数类型以及函数体中的局部变量的类型可以是：</a:t>
            </a:r>
            <a:r>
              <a:rPr lang="en-GB" altLang="zh-CN" sz="2600" dirty="0"/>
              <a:t>T1</a:t>
            </a:r>
            <a:r>
              <a:rPr lang="zh-CN" altLang="en-GB" sz="2600" dirty="0"/>
              <a:t>、</a:t>
            </a:r>
            <a:r>
              <a:rPr lang="en-GB" altLang="zh-CN" sz="2600" dirty="0"/>
              <a:t>T2</a:t>
            </a:r>
            <a:r>
              <a:rPr lang="zh-CN" altLang="en-GB" sz="2600" dirty="0"/>
              <a:t>等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>
              <a:defRPr/>
            </a:pPr>
            <a:r>
              <a:rPr lang="zh-CN" altLang="en-US" sz="3000" dirty="0"/>
              <a:t>例如，下面是求最大值的函数模板：</a:t>
            </a:r>
            <a:endParaRPr lang="en-US" altLang="zh-CN" sz="3000" dirty="0"/>
          </a:p>
          <a:p>
            <a:pPr marL="828675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/>
              <a:t>template &lt;class T&gt; </a:t>
            </a:r>
          </a:p>
          <a:p>
            <a:pPr marL="828675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/>
              <a:t>T max(T a, T b)</a:t>
            </a:r>
          </a:p>
          <a:p>
            <a:pPr marL="828675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/>
              <a:t>{ return a&gt;b ? </a:t>
            </a:r>
            <a:r>
              <a:rPr lang="en-US" altLang="zh-CN" sz="2400" dirty="0"/>
              <a:t>a</a:t>
            </a:r>
            <a:r>
              <a:rPr lang="en-GB" altLang="zh-CN" sz="2400" dirty="0"/>
              <a:t> : b;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F4078-FB80-7D33-F3FE-F4CD85C6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函数模板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DEBA74A-2245-5717-CC71-4AD8DB976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用</a:t>
            </a:r>
            <a:r>
              <a:rPr lang="zh-CN" altLang="en-US" sz="4000" dirty="0">
                <a:solidFill>
                  <a:schemeClr val="tx1"/>
                </a:solidFill>
              </a:rPr>
              <a:t>函数模板</a:t>
            </a:r>
            <a:r>
              <a:rPr lang="zh-CN" altLang="en-US" sz="4000" dirty="0"/>
              <a:t>实现类属排序函数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DAAC343-A886-BF17-849F-8FD01A837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23950"/>
            <a:ext cx="8820150" cy="5545138"/>
          </a:xfrm>
        </p:spPr>
        <p:txBody>
          <a:bodyPr/>
          <a:lstStyle/>
          <a:p>
            <a:pPr marL="269875" indent="-269875" eaLnBrk="1" hangingPunct="1">
              <a:defRPr/>
            </a:pPr>
            <a:r>
              <a:rPr lang="zh-CN" altLang="en-US" sz="2800" dirty="0"/>
              <a:t>排序</a:t>
            </a:r>
            <a:r>
              <a:rPr lang="zh-CN" altLang="en-GB" sz="2800" dirty="0"/>
              <a:t>函数模板</a:t>
            </a:r>
            <a:r>
              <a:rPr lang="zh-CN" altLang="en-US" sz="2800" dirty="0"/>
              <a:t>的定义：</a:t>
            </a:r>
            <a:endParaRPr lang="zh-CN" altLang="en-GB" sz="2400" dirty="0"/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template &lt;class </a:t>
            </a:r>
            <a:r>
              <a:rPr lang="en-GB" altLang="zh-CN" sz="2400" dirty="0">
                <a:solidFill>
                  <a:schemeClr val="folHlink"/>
                </a:solidFill>
              </a:rPr>
              <a:t>T</a:t>
            </a:r>
            <a:r>
              <a:rPr lang="en-GB" altLang="zh-CN" sz="2400" dirty="0"/>
              <a:t>&gt; 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void sort(</a:t>
            </a:r>
            <a:r>
              <a:rPr lang="en-GB" altLang="zh-CN" sz="2400" dirty="0">
                <a:solidFill>
                  <a:schemeClr val="folHlink"/>
                </a:solidFill>
              </a:rPr>
              <a:t>T</a:t>
            </a:r>
            <a:r>
              <a:rPr lang="en-GB" altLang="zh-CN" sz="2400" dirty="0"/>
              <a:t> elements[], unsigned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count)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US" altLang="zh-CN" sz="2400" dirty="0"/>
              <a:t>//</a:t>
            </a:r>
            <a:r>
              <a:rPr lang="zh-CN" altLang="en-GB" sz="2400" dirty="0"/>
              <a:t>取第</a:t>
            </a:r>
            <a:r>
              <a:rPr lang="en-GB" altLang="zh-CN" sz="2400" dirty="0" err="1"/>
              <a:t>i</a:t>
            </a:r>
            <a:r>
              <a:rPr lang="zh-CN" altLang="en-GB" sz="2400" dirty="0"/>
              <a:t>个元素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/>
              <a:t>	</a:t>
            </a:r>
            <a:r>
              <a:rPr lang="en-GB" altLang="zh-CN" sz="2400" dirty="0"/>
              <a:t>elements[</a:t>
            </a:r>
            <a:r>
              <a:rPr lang="en-GB" altLang="zh-CN" sz="2400" dirty="0" err="1"/>
              <a:t>i</a:t>
            </a:r>
            <a:r>
              <a:rPr lang="en-GB" altLang="zh-CN" sz="2400" dirty="0"/>
              <a:t>] </a:t>
            </a:r>
          </a:p>
          <a:p>
            <a:pPr marL="269875" indent="-269875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US" altLang="zh-CN" sz="2400" dirty="0"/>
              <a:t>//</a:t>
            </a:r>
            <a:r>
              <a:rPr lang="zh-CN" altLang="en-GB" sz="2400" dirty="0"/>
              <a:t>比较第</a:t>
            </a:r>
            <a:r>
              <a:rPr lang="en-GB" altLang="zh-CN" sz="2400" dirty="0" err="1"/>
              <a:t>i</a:t>
            </a:r>
            <a:r>
              <a:rPr lang="zh-CN" altLang="en-GB" sz="2400" dirty="0"/>
              <a:t>个和第</a:t>
            </a:r>
            <a:r>
              <a:rPr lang="en-GB" altLang="zh-CN" sz="2400" dirty="0"/>
              <a:t>j</a:t>
            </a:r>
            <a:r>
              <a:rPr lang="zh-CN" altLang="en-GB" sz="2400" dirty="0"/>
              <a:t>个元素的大小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/>
              <a:t>	</a:t>
            </a:r>
            <a:r>
              <a:rPr lang="en-GB" altLang="zh-CN" sz="2400" dirty="0"/>
              <a:t>elements[</a:t>
            </a:r>
            <a:r>
              <a:rPr lang="en-GB" altLang="zh-CN" sz="2400" dirty="0" err="1"/>
              <a:t>i</a:t>
            </a:r>
            <a:r>
              <a:rPr lang="en-GB" altLang="zh-CN" sz="2400" dirty="0"/>
              <a:t>] &lt; elements [j] </a:t>
            </a:r>
          </a:p>
          <a:p>
            <a:pPr marL="269875" indent="-269875"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US" altLang="zh-CN" sz="2400" dirty="0"/>
              <a:t>//</a:t>
            </a:r>
            <a:r>
              <a:rPr lang="zh-CN" altLang="en-GB" sz="2400" dirty="0"/>
              <a:t>交换第</a:t>
            </a:r>
            <a:r>
              <a:rPr lang="en-GB" altLang="zh-CN" sz="2400" dirty="0" err="1"/>
              <a:t>i</a:t>
            </a:r>
            <a:r>
              <a:rPr lang="zh-CN" altLang="en-GB" sz="2400" dirty="0"/>
              <a:t>个和第</a:t>
            </a:r>
            <a:r>
              <a:rPr lang="en-GB" altLang="zh-CN" sz="2400" dirty="0"/>
              <a:t>j</a:t>
            </a:r>
            <a:r>
              <a:rPr lang="zh-CN" altLang="en-GB" sz="2400" dirty="0"/>
              <a:t>个元素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/>
              <a:t>	</a:t>
            </a:r>
            <a:r>
              <a:rPr lang="en-GB" altLang="zh-CN" sz="2400" dirty="0">
                <a:solidFill>
                  <a:schemeClr val="folHlink"/>
                </a:solidFill>
              </a:rPr>
              <a:t>T</a:t>
            </a:r>
            <a:r>
              <a:rPr lang="en-GB" altLang="zh-CN" sz="2400" dirty="0"/>
              <a:t> temp=elements [</a:t>
            </a:r>
            <a:r>
              <a:rPr lang="en-GB" altLang="zh-CN" sz="2400" dirty="0" err="1"/>
              <a:t>i</a:t>
            </a:r>
            <a:r>
              <a:rPr lang="en-GB" altLang="zh-CN" sz="2400" dirty="0"/>
              <a:t>];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elements[</a:t>
            </a:r>
            <a:r>
              <a:rPr lang="en-GB" altLang="zh-CN" sz="2400" dirty="0" err="1"/>
              <a:t>i</a:t>
            </a:r>
            <a:r>
              <a:rPr lang="en-GB" altLang="zh-CN" sz="2400" dirty="0"/>
              <a:t>] = elements [j];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elements[j] = temp;</a:t>
            </a:r>
          </a:p>
          <a:p>
            <a:pPr marL="269875" indent="-26987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5D9F2-5413-3642-BEB0-78C22DEE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E07E8-F75D-E5A5-357A-071405C41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088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zh-CN" altLang="en-US" dirty="0"/>
              <a:t>排序函数模板的使用：</a:t>
            </a:r>
            <a:endParaRPr lang="en-GB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 err="1"/>
              <a:t>int</a:t>
            </a:r>
            <a:r>
              <a:rPr lang="en-GB" altLang="zh-CN" dirty="0"/>
              <a:t> a[100];</a:t>
            </a:r>
            <a:endParaRPr lang="zh-CN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sort(a,100);  //</a:t>
            </a:r>
            <a:r>
              <a:rPr lang="zh-CN" altLang="zh-CN" dirty="0"/>
              <a:t>对</a:t>
            </a:r>
            <a:r>
              <a:rPr lang="en-GB" altLang="zh-CN" dirty="0" err="1"/>
              <a:t>int</a:t>
            </a:r>
            <a:r>
              <a:rPr lang="zh-CN" altLang="zh-CN" dirty="0"/>
              <a:t>类型数组进行排序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double b[200]; </a:t>
            </a:r>
            <a:endParaRPr lang="zh-CN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dirty="0"/>
              <a:t>sort(b,200);  //</a:t>
            </a:r>
            <a:r>
              <a:rPr lang="zh-CN" altLang="zh-CN" dirty="0"/>
              <a:t>对</a:t>
            </a:r>
            <a:r>
              <a:rPr lang="en-GB" altLang="zh-CN" dirty="0"/>
              <a:t>double</a:t>
            </a:r>
            <a:r>
              <a:rPr lang="zh-CN" altLang="zh-CN" dirty="0"/>
              <a:t>类型数组进行排序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A c[300];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sort(c,300);  </a:t>
            </a:r>
            <a:r>
              <a:rPr lang="en-GB" altLang="zh-CN" dirty="0"/>
              <a:t>//</a:t>
            </a:r>
            <a:r>
              <a:rPr lang="zh-CN" altLang="zh-CN" dirty="0"/>
              <a:t>对</a:t>
            </a:r>
            <a:r>
              <a:rPr lang="en-GB" altLang="zh-CN" dirty="0"/>
              <a:t>A</a:t>
            </a:r>
            <a:r>
              <a:rPr lang="zh-CN" altLang="zh-CN" dirty="0"/>
              <a:t>类型数组进行排序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//</a:t>
            </a:r>
            <a:r>
              <a:rPr lang="zh-CN" altLang="en-US" dirty="0"/>
              <a:t>在</a:t>
            </a:r>
            <a:r>
              <a:rPr lang="zh-CN" altLang="zh-CN" dirty="0"/>
              <a:t>类</a:t>
            </a:r>
            <a:r>
              <a:rPr lang="en-US" altLang="zh-CN" dirty="0"/>
              <a:t>A</a:t>
            </a:r>
            <a:r>
              <a:rPr lang="zh-CN" altLang="zh-CN" dirty="0"/>
              <a:t>中</a:t>
            </a:r>
            <a:r>
              <a:rPr lang="zh-CN" altLang="en-US" dirty="0"/>
              <a:t>，</a:t>
            </a:r>
            <a:r>
              <a:rPr lang="zh-CN" altLang="zh-CN" dirty="0"/>
              <a:t>需重载操作符：</a:t>
            </a:r>
            <a:r>
              <a:rPr lang="en-US" altLang="zh-CN" dirty="0"/>
              <a:t>&lt;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//</a:t>
            </a:r>
            <a:r>
              <a:rPr lang="zh-CN" altLang="en-US" dirty="0"/>
              <a:t>可能还需要</a:t>
            </a:r>
            <a:r>
              <a:rPr lang="zh-CN" altLang="zh-CN" dirty="0"/>
              <a:t>自定义拷贝构造函数和重载操作符</a:t>
            </a:r>
            <a:r>
              <a:rPr lang="en-US" altLang="zh-CN" dirty="0"/>
              <a:t>=</a:t>
            </a:r>
            <a:endParaRPr lang="zh-CN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2EF92EE-4524-1903-3DDA-5308A4995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10112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函数模板的实例化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DE00C43-AAF8-4611-69DB-F612673713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263" y="1557338"/>
            <a:ext cx="8497887" cy="5111750"/>
          </a:xfrm>
        </p:spPr>
        <p:txBody>
          <a:bodyPr>
            <a:normAutofit/>
          </a:bodyPr>
          <a:lstStyle/>
          <a:p>
            <a:pPr marL="363538" indent="-363538" eaLnBrk="1" hangingPunct="1">
              <a:defRPr/>
            </a:pPr>
            <a:r>
              <a:rPr lang="zh-CN" altLang="en-GB" sz="2800" dirty="0"/>
              <a:t>要使用函数模板所定义的函数</a:t>
            </a:r>
            <a:r>
              <a:rPr lang="zh-CN" altLang="en-US" sz="2800" dirty="0"/>
              <a:t>，首先必须要对函数模板进行</a:t>
            </a:r>
            <a:r>
              <a:rPr lang="zh-CN" altLang="en-US" sz="2800" dirty="0">
                <a:solidFill>
                  <a:schemeClr val="folHlink"/>
                </a:solidFill>
              </a:rPr>
              <a:t>实例化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763588" lvl="1" indent="-363538" eaLnBrk="1" hangingPunct="1">
              <a:defRPr/>
            </a:pPr>
            <a:r>
              <a:rPr lang="zh-CN" altLang="en-US" sz="2400" dirty="0"/>
              <a:t>给模板参数提供一个具体的类型，从而生成具体的函数。</a:t>
            </a:r>
            <a:endParaRPr lang="en-US" altLang="zh-CN" sz="2400" dirty="0"/>
          </a:p>
          <a:p>
            <a:pPr marL="763588" lvl="1" indent="-363538" eaLnBrk="1" hangingPunct="1">
              <a:defRPr/>
            </a:pPr>
            <a:endParaRPr lang="zh-CN" altLang="en-US" sz="2400" dirty="0"/>
          </a:p>
          <a:p>
            <a:pPr marL="363538" indent="-363538" eaLnBrk="1" hangingPunct="1">
              <a:defRPr/>
            </a:pPr>
            <a:r>
              <a:rPr lang="zh-CN" altLang="en-GB" sz="2800" dirty="0"/>
              <a:t>函数模板的实例化通常是</a:t>
            </a:r>
            <a:r>
              <a:rPr lang="zh-CN" altLang="en-GB" sz="2800" dirty="0">
                <a:solidFill>
                  <a:srgbClr val="FFC000"/>
                </a:solidFill>
              </a:rPr>
              <a:t>隐式</a:t>
            </a:r>
            <a:r>
              <a:rPr lang="zh-CN" altLang="en-GB" sz="2800" dirty="0"/>
              <a:t>的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763588" lvl="1" indent="-363538" eaLnBrk="1" hangingPunct="1">
              <a:defRPr/>
            </a:pPr>
            <a:r>
              <a:rPr lang="zh-CN" altLang="en-GB" sz="2400" dirty="0"/>
              <a:t>由编译程序根据</a:t>
            </a:r>
            <a:r>
              <a:rPr lang="zh-CN" altLang="en-US" sz="2400" dirty="0"/>
              <a:t>函数调用的</a:t>
            </a:r>
            <a:r>
              <a:rPr lang="zh-CN" altLang="en-GB" sz="2400" dirty="0"/>
              <a:t>实参类型自动地把函数模板实例化为具体的函数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763588" lvl="1" indent="-363538" eaLnBrk="1" hangingPunct="1">
              <a:defRPr/>
            </a:pPr>
            <a:r>
              <a:rPr lang="zh-CN" altLang="en-GB" sz="2400" dirty="0"/>
              <a:t>这种确定函数模板实例的过程叫做</a:t>
            </a:r>
            <a:r>
              <a:rPr lang="zh-CN" altLang="en-GB" sz="2400" dirty="0">
                <a:solidFill>
                  <a:srgbClr val="FFC000"/>
                </a:solidFill>
              </a:rPr>
              <a:t>模板实参推</a:t>
            </a:r>
            <a:r>
              <a:rPr lang="zh-CN" altLang="en-US" sz="2400" dirty="0">
                <a:solidFill>
                  <a:srgbClr val="FFC000"/>
                </a:solidFill>
              </a:rPr>
              <a:t>导</a:t>
            </a:r>
            <a:r>
              <a:rPr lang="zh-CN" altLang="en-GB" sz="2400" dirty="0"/>
              <a:t>（</a:t>
            </a:r>
            <a:r>
              <a:rPr lang="en-GB" altLang="zh-CN" sz="2400" dirty="0"/>
              <a:t>template argument deduction</a:t>
            </a:r>
            <a:r>
              <a:rPr lang="zh-CN" altLang="en-GB" sz="2400" dirty="0"/>
              <a:t>）。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EBC662DA-5437-6DE1-E480-2A063E6EFF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549275"/>
            <a:ext cx="8785225" cy="6048375"/>
          </a:xfrm>
        </p:spPr>
        <p:txBody>
          <a:bodyPr/>
          <a:lstStyle/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>
                <a:solidFill>
                  <a:srgbClr val="FFC000"/>
                </a:solidFill>
              </a:rPr>
              <a:t>int</a:t>
            </a:r>
            <a:r>
              <a:rPr lang="en-GB" altLang="zh-CN" sz="2400" dirty="0"/>
              <a:t> a[100];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sort (a,100);  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实例化：</a:t>
            </a:r>
            <a:endParaRPr lang="en-US" altLang="zh-CN" sz="2400" dirty="0"/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void sort(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/>
              <a:t> elements[], unsigned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count) { ...... }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zh-CN" sz="2400" dirty="0"/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double</a:t>
            </a:r>
            <a:r>
              <a:rPr lang="en-GB" altLang="zh-CN" sz="2400" dirty="0"/>
              <a:t> b[200]; 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sort (b,200);  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实例化：</a:t>
            </a:r>
            <a:endParaRPr lang="en-US" altLang="zh-CN" sz="2400" dirty="0"/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void sort(</a:t>
            </a:r>
            <a:r>
              <a:rPr lang="en-US" altLang="zh-CN" sz="2400" dirty="0">
                <a:solidFill>
                  <a:srgbClr val="FFC000"/>
                </a:solidFill>
              </a:rPr>
              <a:t>double</a:t>
            </a:r>
            <a:r>
              <a:rPr lang="en-US" altLang="zh-CN" sz="2400" dirty="0"/>
              <a:t> elements[], unsigned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count) </a:t>
            </a:r>
            <a:r>
              <a:rPr lang="en-US" altLang="zh-CN" sz="2000" dirty="0"/>
              <a:t>{ ...... }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zh-CN" sz="2400" dirty="0"/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FFC000"/>
                </a:solidFill>
              </a:rPr>
              <a:t>A</a:t>
            </a:r>
            <a:r>
              <a:rPr lang="en-US" altLang="zh-CN" sz="2400" dirty="0"/>
              <a:t> c[300]; 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sort(c,300); 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实例化：</a:t>
            </a:r>
            <a:endParaRPr lang="en-US" altLang="zh-CN" sz="2400" dirty="0"/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void sort(</a:t>
            </a:r>
            <a:r>
              <a:rPr lang="en-US" altLang="zh-CN" sz="2400" dirty="0">
                <a:solidFill>
                  <a:srgbClr val="FFC000"/>
                </a:solidFill>
              </a:rPr>
              <a:t>A</a:t>
            </a:r>
            <a:r>
              <a:rPr lang="en-US" altLang="zh-CN" sz="2400" dirty="0"/>
              <a:t> elements[], unsigned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count) { ...... }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E384D-77E4-E7DD-62E2-E92B5B847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511175"/>
            <a:ext cx="8507413" cy="5942013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400" dirty="0"/>
              <a:t>带比较函数的排序模板</a:t>
            </a:r>
            <a:endParaRPr lang="en-GB" altLang="zh-CN" sz="3400" dirty="0"/>
          </a:p>
          <a:p>
            <a:pPr marL="269875" indent="-269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template &lt;class </a:t>
            </a:r>
            <a:r>
              <a:rPr lang="en-GB" altLang="zh-CN" dirty="0">
                <a:solidFill>
                  <a:schemeClr val="folHlink"/>
                </a:solidFill>
              </a:rPr>
              <a:t>T1</a:t>
            </a:r>
            <a:r>
              <a:rPr lang="en-US" altLang="zh-CN" dirty="0"/>
              <a:t>, class</a:t>
            </a:r>
            <a:r>
              <a:rPr lang="en-US" altLang="zh-CN" dirty="0">
                <a:solidFill>
                  <a:schemeClr val="folHlink"/>
                </a:solidFill>
              </a:rPr>
              <a:t> T2</a:t>
            </a:r>
            <a:r>
              <a:rPr lang="en-GB" altLang="zh-CN" dirty="0"/>
              <a:t>&gt; </a:t>
            </a:r>
          </a:p>
          <a:p>
            <a:pPr marL="269875" indent="-269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void sort(</a:t>
            </a:r>
            <a:r>
              <a:rPr lang="en-GB" altLang="zh-CN" dirty="0">
                <a:solidFill>
                  <a:schemeClr val="folHlink"/>
                </a:solidFill>
              </a:rPr>
              <a:t>T1</a:t>
            </a:r>
            <a:r>
              <a:rPr lang="en-GB" altLang="zh-CN" dirty="0"/>
              <a:t> elements[], unsigned </a:t>
            </a:r>
            <a:r>
              <a:rPr lang="en-GB" altLang="zh-CN" dirty="0" err="1"/>
              <a:t>int</a:t>
            </a:r>
            <a:r>
              <a:rPr lang="en-GB" altLang="zh-CN" dirty="0"/>
              <a:t> count, </a:t>
            </a:r>
            <a:r>
              <a:rPr lang="en-GB" altLang="zh-CN" dirty="0">
                <a:solidFill>
                  <a:srgbClr val="FFC000"/>
                </a:solidFill>
              </a:rPr>
              <a:t>T2</a:t>
            </a:r>
            <a:r>
              <a:rPr lang="en-GB" altLang="zh-CN" dirty="0"/>
              <a:t> </a:t>
            </a:r>
            <a:r>
              <a:rPr lang="en-GB" altLang="zh-CN" dirty="0" err="1"/>
              <a:t>cmp</a:t>
            </a:r>
            <a:r>
              <a:rPr lang="en-GB" altLang="zh-CN" dirty="0"/>
              <a:t>)</a:t>
            </a:r>
          </a:p>
          <a:p>
            <a:pPr marL="269875" indent="-269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{	</a:t>
            </a:r>
            <a:r>
              <a:rPr lang="en-US" altLang="zh-CN" dirty="0"/>
              <a:t>......</a:t>
            </a:r>
            <a:endParaRPr lang="en-GB" altLang="zh-CN" dirty="0"/>
          </a:p>
          <a:p>
            <a:pPr marL="269875" indent="-269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	</a:t>
            </a:r>
            <a:r>
              <a:rPr lang="en-US" altLang="zh-CN" dirty="0"/>
              <a:t>//</a:t>
            </a:r>
            <a:r>
              <a:rPr lang="zh-CN" altLang="en-GB" dirty="0"/>
              <a:t>比较第</a:t>
            </a:r>
            <a:r>
              <a:rPr lang="en-GB" altLang="zh-CN" dirty="0" err="1"/>
              <a:t>i</a:t>
            </a:r>
            <a:r>
              <a:rPr lang="zh-CN" altLang="en-GB" dirty="0"/>
              <a:t>个和第</a:t>
            </a:r>
            <a:r>
              <a:rPr lang="en-GB" altLang="zh-CN" dirty="0"/>
              <a:t>j</a:t>
            </a:r>
            <a:r>
              <a:rPr lang="zh-CN" altLang="en-GB" dirty="0"/>
              <a:t>个元素的大小</a:t>
            </a:r>
          </a:p>
          <a:p>
            <a:pPr marL="269875" indent="-269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GB" dirty="0"/>
              <a:t>	</a:t>
            </a:r>
            <a:r>
              <a:rPr lang="en-US" altLang="zh-CN" dirty="0" err="1"/>
              <a:t>cmp</a:t>
            </a:r>
            <a:r>
              <a:rPr lang="en-US" altLang="zh-CN" dirty="0"/>
              <a:t>(</a:t>
            </a:r>
            <a:r>
              <a:rPr lang="en-GB" altLang="zh-CN" dirty="0"/>
              <a:t>elements[</a:t>
            </a:r>
            <a:r>
              <a:rPr lang="en-GB" altLang="zh-CN" dirty="0" err="1"/>
              <a:t>i</a:t>
            </a:r>
            <a:r>
              <a:rPr lang="en-GB" altLang="zh-CN" dirty="0"/>
              <a:t>],elements[j]) </a:t>
            </a:r>
          </a:p>
          <a:p>
            <a:pPr marL="269875" indent="-269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	</a:t>
            </a:r>
            <a:r>
              <a:rPr lang="en-US" altLang="zh-CN" dirty="0"/>
              <a:t>......</a:t>
            </a:r>
            <a:endParaRPr lang="en-GB" altLang="zh-CN" dirty="0"/>
          </a:p>
          <a:p>
            <a:pPr marL="269875" indent="-26987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}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 err="1">
                <a:solidFill>
                  <a:srgbClr val="FFC000"/>
                </a:solidFill>
              </a:rPr>
              <a:t>int</a:t>
            </a:r>
            <a:r>
              <a:rPr lang="en-GB" altLang="zh-CN" dirty="0"/>
              <a:t> a[100];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sort (a,100,[](</a:t>
            </a:r>
            <a:r>
              <a:rPr lang="en-GB" altLang="zh-CN" dirty="0" err="1"/>
              <a:t>int</a:t>
            </a:r>
            <a:r>
              <a:rPr lang="en-GB" altLang="zh-CN" dirty="0"/>
              <a:t> &amp;x1,int &amp;x2) { return x1&lt;x2;});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>
                <a:solidFill>
                  <a:srgbClr val="FFC000"/>
                </a:solidFill>
              </a:rPr>
              <a:t>double</a:t>
            </a:r>
            <a:r>
              <a:rPr lang="en-GB" altLang="zh-CN" dirty="0"/>
              <a:t> b[200]; 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sort (b,200,[](double &amp;x1,double &amp;x2) { return x1&lt;x2;});  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A</a:t>
            </a:r>
            <a:r>
              <a:rPr lang="en-US" altLang="zh-CN" dirty="0"/>
              <a:t> c[300]; 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sort(c,300</a:t>
            </a:r>
            <a:r>
              <a:rPr lang="en-GB" altLang="zh-CN" dirty="0"/>
              <a:t>,[](A &amp;x1,A &amp;x2) { return x1&lt;x2;}</a:t>
            </a:r>
            <a:r>
              <a:rPr lang="en-US" altLang="zh-CN" dirty="0"/>
              <a:t>); </a:t>
            </a: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A96F284-A69E-1E76-7A6C-0FCB68C471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8785225" cy="619283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有时，编译程序无法根据调用时的实参类型来确定所调用的模板实例函数。例如： </a:t>
            </a:r>
            <a:endParaRPr lang="en-US" altLang="zh-CN" sz="2800" dirty="0"/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template &lt;class T&gt; </a:t>
            </a:r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T max(T a, T b)</a:t>
            </a:r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{ return a&gt;b ? a : b; }</a:t>
            </a:r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......</a:t>
            </a:r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 err="1"/>
              <a:t>int</a:t>
            </a:r>
            <a:r>
              <a:rPr lang="en-GB" altLang="zh-CN" sz="2400" dirty="0"/>
              <a:t> x;</a:t>
            </a:r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double m;</a:t>
            </a:r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400" dirty="0"/>
              <a:t>max(x,</a:t>
            </a:r>
            <a:r>
              <a:rPr lang="en-US" altLang="zh-CN" sz="2400" dirty="0"/>
              <a:t>m</a:t>
            </a:r>
            <a:r>
              <a:rPr lang="en-GB" altLang="zh-CN" sz="2400" dirty="0"/>
              <a:t>); //</a:t>
            </a:r>
            <a:r>
              <a:rPr lang="zh-CN" altLang="en-US" sz="2400" dirty="0"/>
              <a:t>如何实例化？</a:t>
            </a:r>
            <a:endParaRPr lang="en-US" altLang="zh-CN" sz="2400" dirty="0"/>
          </a:p>
          <a:p>
            <a:pPr marL="627063" lvl="1" eaLnBrk="1" hangingPunct="1">
              <a:lnSpc>
                <a:spcPct val="90000"/>
              </a:lnSpc>
              <a:buFontTx/>
              <a:buNone/>
              <a:defRPr/>
            </a:pPr>
            <a:endParaRPr lang="en-GB" altLang="zh-CN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sz="2800" dirty="0"/>
              <a:t>解决办法：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GB" sz="2400" dirty="0"/>
              <a:t>显式类型转换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   max((double)</a:t>
            </a:r>
            <a:r>
              <a:rPr lang="en-GB" altLang="zh-CN" sz="2000" dirty="0" err="1"/>
              <a:t>x,m</a:t>
            </a:r>
            <a:r>
              <a:rPr lang="en-GB" altLang="zh-CN" sz="2000" dirty="0"/>
              <a:t>);</a:t>
            </a:r>
            <a:r>
              <a:rPr lang="zh-CN" altLang="en-US" sz="2000" dirty="0"/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调用：</a:t>
            </a:r>
            <a:r>
              <a:rPr lang="en-GB" altLang="zh-CN" sz="2000" dirty="0"/>
              <a:t>double max(double </a:t>
            </a:r>
            <a:r>
              <a:rPr lang="en-GB" altLang="zh-CN" sz="2000" dirty="0" err="1"/>
              <a:t>a,double</a:t>
            </a:r>
            <a:r>
              <a:rPr lang="en-GB" altLang="zh-CN" sz="2000" dirty="0"/>
              <a:t> b)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   或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   max(x,(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)m);</a:t>
            </a:r>
            <a:r>
              <a:rPr lang="en-GB" altLang="zh-CN" sz="2400" dirty="0"/>
              <a:t> //</a:t>
            </a:r>
            <a:r>
              <a:rPr lang="zh-CN" altLang="en-GB" sz="2400" dirty="0"/>
              <a:t>调用：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max(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/>
              <a:t>a,int</a:t>
            </a:r>
            <a:r>
              <a:rPr lang="en-GB" altLang="zh-CN" sz="2000" dirty="0"/>
              <a:t> b)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GB" altLang="zh-CN" sz="20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GB" sz="2400" dirty="0">
                <a:solidFill>
                  <a:srgbClr val="FFC000"/>
                </a:solidFill>
              </a:rPr>
              <a:t>显式实例化</a:t>
            </a:r>
            <a:endParaRPr lang="en-GB" altLang="zh-CN" sz="2400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max</a:t>
            </a:r>
            <a:r>
              <a:rPr lang="en-GB" altLang="zh-CN" sz="2000" dirty="0">
                <a:solidFill>
                  <a:srgbClr val="FFC000"/>
                </a:solidFill>
              </a:rPr>
              <a:t>&lt;double&gt;</a:t>
            </a:r>
            <a:r>
              <a:rPr lang="en-GB" altLang="zh-CN" sz="2000" dirty="0"/>
              <a:t>(</a:t>
            </a:r>
            <a:r>
              <a:rPr lang="en-GB" altLang="zh-CN" sz="2000" dirty="0" err="1"/>
              <a:t>x,m</a:t>
            </a:r>
            <a:r>
              <a:rPr lang="en-GB" altLang="zh-CN" sz="2000" dirty="0"/>
              <a:t>);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   或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max</a:t>
            </a:r>
            <a:r>
              <a:rPr lang="en-GB" altLang="zh-CN" sz="2000" dirty="0">
                <a:solidFill>
                  <a:srgbClr val="FFC000"/>
                </a:solidFill>
              </a:rPr>
              <a:t>&lt;</a:t>
            </a:r>
            <a:r>
              <a:rPr lang="en-GB" altLang="zh-CN" sz="2000" dirty="0" err="1">
                <a:solidFill>
                  <a:srgbClr val="FFC000"/>
                </a:solidFill>
              </a:rPr>
              <a:t>int</a:t>
            </a:r>
            <a:r>
              <a:rPr lang="en-GB" altLang="zh-CN" sz="2000" dirty="0">
                <a:solidFill>
                  <a:srgbClr val="FFC000"/>
                </a:solidFill>
              </a:rPr>
              <a:t>&gt;</a:t>
            </a:r>
            <a:r>
              <a:rPr lang="en-GB" altLang="zh-CN" sz="2000" dirty="0"/>
              <a:t>(</a:t>
            </a:r>
            <a:r>
              <a:rPr lang="en-GB" altLang="zh-CN" sz="2000" dirty="0" err="1"/>
              <a:t>x,m</a:t>
            </a:r>
            <a:r>
              <a:rPr lang="en-GB" altLang="zh-CN" sz="2000" dirty="0"/>
              <a:t>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5EDE584-8AB8-378A-031A-71F60530E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713788" cy="4968875"/>
          </a:xfrm>
        </p:spPr>
        <p:txBody>
          <a:bodyPr>
            <a:normAutofit fontScale="92500" lnSpcReduction="20000"/>
          </a:bodyPr>
          <a:lstStyle/>
          <a:p>
            <a:pPr marL="363538" indent="-363538" eaLnBrk="1" hangingPunct="1">
              <a:lnSpc>
                <a:spcPct val="110000"/>
              </a:lnSpc>
              <a:defRPr/>
            </a:pPr>
            <a:r>
              <a:rPr lang="zh-CN" altLang="en-GB" dirty="0"/>
              <a:t>除了类型参数外，函数模板</a:t>
            </a:r>
            <a:r>
              <a:rPr lang="zh-CN" altLang="en-US" dirty="0"/>
              <a:t>还</a:t>
            </a:r>
            <a:r>
              <a:rPr lang="zh-CN" altLang="en-GB" dirty="0"/>
              <a:t>可以带有非类型参数</a:t>
            </a:r>
            <a:r>
              <a:rPr lang="zh-CN" altLang="en-US" dirty="0"/>
              <a:t>。例如，</a:t>
            </a:r>
            <a:endParaRPr lang="en-US" altLang="zh-CN" dirty="0"/>
          </a:p>
          <a:p>
            <a:pPr marL="363538" indent="-363538" eaLnBrk="1" hangingPunct="1">
              <a:lnSpc>
                <a:spcPct val="110000"/>
              </a:lnSpc>
              <a:defRPr/>
            </a:pPr>
            <a:endParaRPr lang="en-US" altLang="zh-CN" dirty="0"/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template &lt;class T,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</a:t>
            </a:r>
            <a:r>
              <a:rPr lang="en-GB" altLang="zh-CN" sz="2400" dirty="0">
                <a:solidFill>
                  <a:schemeClr val="folHlink"/>
                </a:solidFill>
              </a:rPr>
              <a:t>size</a:t>
            </a:r>
            <a:r>
              <a:rPr lang="en-GB" altLang="zh-CN" sz="2400" dirty="0"/>
              <a:t>&gt; //size</a:t>
            </a:r>
            <a:r>
              <a:rPr lang="zh-CN" altLang="en-GB" sz="2400" dirty="0"/>
              <a:t>为一个</a:t>
            </a:r>
            <a:r>
              <a:rPr lang="en-GB" altLang="zh-CN" sz="2400" dirty="0" err="1"/>
              <a:t>int</a:t>
            </a:r>
            <a:r>
              <a:rPr lang="zh-CN" altLang="en-GB" sz="2400" dirty="0"/>
              <a:t>型的普通参数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void f(T a)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T temp[</a:t>
            </a:r>
            <a:r>
              <a:rPr lang="en-GB" altLang="zh-CN" sz="2400" dirty="0">
                <a:solidFill>
                  <a:schemeClr val="folHlink"/>
                </a:solidFill>
              </a:rPr>
              <a:t>size</a:t>
            </a:r>
            <a:r>
              <a:rPr lang="en-GB" altLang="zh-CN" sz="2400" dirty="0"/>
              <a:t>];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US" altLang="zh-CN" sz="2400" dirty="0"/>
              <a:t>......</a:t>
            </a:r>
            <a:r>
              <a:rPr lang="en-GB" altLang="zh-CN" sz="2400" dirty="0"/>
              <a:t>  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GB" altLang="zh-CN" sz="2400" dirty="0"/>
          </a:p>
          <a:p>
            <a:pPr marL="363538" indent="-363538" eaLnBrk="1" hangingPunct="1">
              <a:lnSpc>
                <a:spcPct val="110000"/>
              </a:lnSpc>
              <a:defRPr/>
            </a:pPr>
            <a:r>
              <a:rPr lang="zh-CN" altLang="en-US" dirty="0"/>
              <a:t>这样的函数模板在使用时需要显式实例化</a:t>
            </a:r>
            <a:r>
              <a:rPr lang="zh-CN" altLang="en-GB" dirty="0"/>
              <a:t>。例如</a:t>
            </a:r>
            <a:r>
              <a:rPr lang="zh-CN" altLang="en-US" dirty="0"/>
              <a:t>，</a:t>
            </a:r>
            <a:endParaRPr lang="zh-CN" altLang="en-GB" dirty="0"/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GB" altLang="zh-CN" sz="2400" dirty="0"/>
          </a:p>
          <a:p>
            <a:pPr marL="363538" indent="-363538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f&lt;int,</a:t>
            </a:r>
            <a:r>
              <a:rPr lang="en-GB" altLang="zh-CN" sz="2400" dirty="0">
                <a:solidFill>
                  <a:schemeClr val="folHlink"/>
                </a:solidFill>
              </a:rPr>
              <a:t>10</a:t>
            </a:r>
            <a:r>
              <a:rPr lang="en-GB" altLang="zh-CN" sz="2400" dirty="0"/>
              <a:t>&gt;(1);  //</a:t>
            </a:r>
            <a:r>
              <a:rPr lang="zh-CN" altLang="en-GB" sz="2400" dirty="0"/>
              <a:t>调用模板函数</a:t>
            </a:r>
            <a:r>
              <a:rPr lang="en-GB" altLang="zh-CN" sz="2400" dirty="0"/>
              <a:t>f(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a)</a:t>
            </a:r>
            <a:r>
              <a:rPr lang="zh-CN" altLang="en-GB" sz="2400" dirty="0"/>
              <a:t>，</a:t>
            </a:r>
            <a:r>
              <a:rPr lang="zh-CN" altLang="en-US" sz="2400" dirty="0"/>
              <a:t>其中的</a:t>
            </a:r>
            <a:r>
              <a:rPr lang="en-GB" altLang="zh-CN" sz="2400" dirty="0"/>
              <a:t>size</a:t>
            </a:r>
            <a:r>
              <a:rPr lang="zh-CN" altLang="en-GB" sz="2400" dirty="0"/>
              <a:t>为</a:t>
            </a:r>
            <a:r>
              <a:rPr lang="en-GB" altLang="zh-CN" sz="2400" dirty="0"/>
              <a:t>10</a:t>
            </a:r>
            <a:r>
              <a:rPr lang="zh-CN" altLang="en-US" sz="24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F183A-3A3C-AF9C-D0EC-F52EBEED1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10112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带非类型参数的函数模板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243C1FD-A672-E9B2-1F32-43E42122F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类模板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8FBE22B-5715-1542-EC3D-940A9E2DE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12863"/>
            <a:ext cx="8459788" cy="4564062"/>
          </a:xfrm>
        </p:spPr>
        <p:txBody>
          <a:bodyPr>
            <a:normAutofit fontScale="85000" lnSpcReduction="20000"/>
          </a:bodyPr>
          <a:lstStyle/>
          <a:p>
            <a:pPr marL="365125" indent="-365125" eaLnBrk="1" hangingPunct="1">
              <a:lnSpc>
                <a:spcPct val="120000"/>
              </a:lnSpc>
              <a:defRPr/>
            </a:pPr>
            <a:r>
              <a:rPr lang="zh-CN" altLang="en-GB" sz="3300" dirty="0"/>
              <a:t>如果一个类</a:t>
            </a:r>
            <a:r>
              <a:rPr lang="zh-CN" altLang="en-US" sz="3300" dirty="0"/>
              <a:t>定义中用到</a:t>
            </a:r>
            <a:r>
              <a:rPr lang="zh-CN" altLang="en-GB" sz="3300" dirty="0"/>
              <a:t>的类型可变</a:t>
            </a:r>
            <a:r>
              <a:rPr lang="zh-CN" altLang="en-US" sz="3300" dirty="0"/>
              <a:t>、但操作不变，</a:t>
            </a:r>
            <a:r>
              <a:rPr lang="zh-CN" altLang="en-GB" sz="3300" dirty="0"/>
              <a:t>则该类称为</a:t>
            </a:r>
            <a:r>
              <a:rPr lang="zh-CN" altLang="en-GB" sz="3300" dirty="0">
                <a:solidFill>
                  <a:schemeClr val="folHlink"/>
                </a:solidFill>
              </a:rPr>
              <a:t>类属类</a:t>
            </a:r>
            <a:r>
              <a:rPr lang="zh-CN" altLang="en-GB" sz="3300" dirty="0"/>
              <a:t>。</a:t>
            </a:r>
            <a:endParaRPr lang="en-US" altLang="zh-CN" sz="3300" dirty="0"/>
          </a:p>
          <a:p>
            <a:pPr marL="365125" indent="-365125" eaLnBrk="1" hangingPunct="1">
              <a:lnSpc>
                <a:spcPct val="120000"/>
              </a:lnSpc>
              <a:defRPr/>
            </a:pPr>
            <a:r>
              <a:rPr lang="zh-CN" altLang="en-GB" sz="3300" dirty="0"/>
              <a:t>在</a:t>
            </a:r>
            <a:r>
              <a:rPr lang="en-GB" altLang="zh-CN" sz="3300" dirty="0"/>
              <a:t>C++</a:t>
            </a:r>
            <a:r>
              <a:rPr lang="zh-CN" altLang="en-GB" sz="3300" dirty="0"/>
              <a:t>中，类属类用</a:t>
            </a:r>
            <a:r>
              <a:rPr lang="zh-CN" altLang="en-GB" sz="3300" dirty="0">
                <a:solidFill>
                  <a:schemeClr val="folHlink"/>
                </a:solidFill>
              </a:rPr>
              <a:t>类模板</a:t>
            </a:r>
            <a:r>
              <a:rPr lang="zh-CN" altLang="en-GB" sz="3300" dirty="0"/>
              <a:t>实现。</a:t>
            </a:r>
          </a:p>
          <a:p>
            <a:pPr marL="365125" indent="-365125" eaLnBrk="1" hangingPunct="1">
              <a:lnSpc>
                <a:spcPct val="120000"/>
              </a:lnSpc>
              <a:defRPr/>
            </a:pPr>
            <a:r>
              <a:rPr lang="zh-CN" altLang="en-GB" dirty="0"/>
              <a:t>类模板的格式为：</a:t>
            </a:r>
          </a:p>
          <a:p>
            <a:pPr marL="830263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template</a:t>
            </a:r>
            <a:r>
              <a:rPr lang="en-GB" altLang="zh-CN" sz="2400" dirty="0"/>
              <a:t> &lt;class </a:t>
            </a:r>
            <a:r>
              <a:rPr lang="en-GB" altLang="zh-CN" sz="2400" dirty="0">
                <a:solidFill>
                  <a:srgbClr val="FFC000"/>
                </a:solidFill>
              </a:rPr>
              <a:t>T1</a:t>
            </a:r>
            <a:r>
              <a:rPr lang="en-GB" altLang="zh-CN" sz="2400" dirty="0"/>
              <a:t>,class </a:t>
            </a:r>
            <a:r>
              <a:rPr lang="en-GB" altLang="zh-CN" sz="2400" dirty="0">
                <a:solidFill>
                  <a:srgbClr val="FFC000"/>
                </a:solidFill>
              </a:rPr>
              <a:t>T2</a:t>
            </a:r>
            <a:r>
              <a:rPr lang="en-GB" altLang="zh-CN" sz="2400" dirty="0"/>
              <a:t>,...&gt; </a:t>
            </a:r>
            <a:r>
              <a:rPr lang="en-US" altLang="zh-CN" sz="2400" dirty="0"/>
              <a:t>//class</a:t>
            </a:r>
            <a:r>
              <a:rPr lang="zh-CN" altLang="en-US" sz="2400" dirty="0"/>
              <a:t>也可以写成</a:t>
            </a:r>
            <a:r>
              <a:rPr lang="en-US" altLang="zh-CN" sz="2400" dirty="0" err="1"/>
              <a:t>typename</a:t>
            </a:r>
            <a:endParaRPr lang="en-GB" altLang="zh-CN" sz="2400" dirty="0"/>
          </a:p>
          <a:p>
            <a:pPr marL="830263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/>
              <a:t>class &lt;</a:t>
            </a:r>
            <a:r>
              <a:rPr lang="zh-CN" altLang="en-GB" sz="2400" dirty="0"/>
              <a:t>类名</a:t>
            </a:r>
            <a:r>
              <a:rPr lang="en-GB" altLang="zh-CN" sz="2400" dirty="0"/>
              <a:t>&gt;</a:t>
            </a:r>
          </a:p>
          <a:p>
            <a:pPr marL="830263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/>
              <a:t>{	&lt;</a:t>
            </a:r>
            <a:r>
              <a:rPr lang="zh-CN" altLang="en-GB" sz="2400" dirty="0"/>
              <a:t>类成员说明</a:t>
            </a:r>
            <a:r>
              <a:rPr lang="en-GB" altLang="zh-CN" sz="2400" dirty="0"/>
              <a:t>&gt;</a:t>
            </a:r>
          </a:p>
          <a:p>
            <a:pPr marL="830263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400" dirty="0"/>
              <a:t>}</a:t>
            </a:r>
          </a:p>
          <a:p>
            <a:pPr marL="830263" lvl="1" eaLnBrk="1" hangingPunct="1">
              <a:lnSpc>
                <a:spcPct val="120000"/>
              </a:lnSpc>
              <a:defRPr/>
            </a:pPr>
            <a:r>
              <a:rPr lang="en-GB" altLang="zh-CN" dirty="0"/>
              <a:t>T1</a:t>
            </a:r>
            <a:r>
              <a:rPr lang="zh-CN" altLang="en-GB" dirty="0"/>
              <a:t>、</a:t>
            </a:r>
            <a:r>
              <a:rPr lang="en-GB" altLang="zh-CN" dirty="0"/>
              <a:t>T2</a:t>
            </a:r>
            <a:r>
              <a:rPr lang="zh-CN" altLang="en-GB" dirty="0"/>
              <a:t>等为类模板的类型参数，在类成员的说明中可以用</a:t>
            </a:r>
            <a:r>
              <a:rPr lang="en-GB" altLang="zh-CN" dirty="0"/>
              <a:t>T1</a:t>
            </a:r>
            <a:r>
              <a:rPr lang="zh-CN" altLang="en-GB" dirty="0"/>
              <a:t>、</a:t>
            </a:r>
            <a:r>
              <a:rPr lang="en-GB" altLang="zh-CN" dirty="0"/>
              <a:t>T2</a:t>
            </a:r>
            <a:r>
              <a:rPr lang="zh-CN" altLang="en-GB" dirty="0"/>
              <a:t>等来</a:t>
            </a:r>
            <a:r>
              <a:rPr lang="zh-CN" altLang="en-US" dirty="0"/>
              <a:t>作为</a:t>
            </a:r>
            <a:r>
              <a:rPr lang="zh-CN" altLang="en-GB" dirty="0"/>
              <a:t>它们的类型。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0BCFED53-24CD-90D7-F3BA-3A9A7E0C5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950" y="836613"/>
            <a:ext cx="8893175" cy="5591175"/>
          </a:xfrm>
        </p:spPr>
        <p:txBody>
          <a:bodyPr>
            <a:normAutofit fontScale="92500" lnSpcReduction="20000"/>
          </a:bodyPr>
          <a:lstStyle/>
          <a:p>
            <a:pPr marL="365125" indent="-365125" eaLnBrk="1" hangingPunct="1">
              <a:defRPr/>
            </a:pPr>
            <a:r>
              <a:rPr lang="zh-CN" altLang="en-US" dirty="0"/>
              <a:t>例如，用类</a:t>
            </a:r>
            <a:r>
              <a:rPr lang="zh-CN" altLang="en-GB" dirty="0"/>
              <a:t>模板</a:t>
            </a:r>
            <a:r>
              <a:rPr lang="zh-CN" altLang="en-US" dirty="0"/>
              <a:t>实现类属的栈类</a:t>
            </a:r>
            <a:r>
              <a:rPr lang="zh-CN" altLang="en-GB" dirty="0"/>
              <a:t>：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template &lt;class 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&gt; 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class Stack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{		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 buffer[100];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	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top;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public: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	Stack() { top = -1; }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	void push(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 &amp;x);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	void pop(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 &amp;x);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};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template &lt;class 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&gt; 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void Stack &lt;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&gt;::push(</a:t>
            </a:r>
            <a:r>
              <a:rPr lang="en-GB" altLang="zh-CN" sz="2400" dirty="0" err="1"/>
              <a:t>const</a:t>
            </a:r>
            <a:r>
              <a:rPr lang="en-GB" altLang="zh-CN" sz="2400" dirty="0"/>
              <a:t> 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 &amp;x) { ...... }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template &lt;class 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&gt; 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void Stack &lt;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&gt;::pop(</a:t>
            </a:r>
            <a:r>
              <a:rPr lang="en-GB" altLang="zh-CN" sz="2400" dirty="0">
                <a:solidFill>
                  <a:srgbClr val="FFC000"/>
                </a:solidFill>
              </a:rPr>
              <a:t>T</a:t>
            </a:r>
            <a:r>
              <a:rPr lang="en-GB" altLang="zh-CN" sz="2400" dirty="0"/>
              <a:t> &amp;x) { ...... }</a:t>
            </a:r>
            <a:endParaRPr lang="zh-CN" altLang="en-GB" sz="2400" dirty="0"/>
          </a:p>
          <a:p>
            <a:pPr marL="830263" lvl="1" eaLnBrk="1" hangingPunct="1"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37441FB-CDB4-C5F2-DDC9-B1EEE9755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723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类模板的实例化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1210FE7-6A89-50A0-73FB-E264AEEDC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2413" y="1168400"/>
            <a:ext cx="8640762" cy="5573713"/>
          </a:xfrm>
        </p:spPr>
        <p:txBody>
          <a:bodyPr/>
          <a:lstStyle/>
          <a:p>
            <a:pPr marL="365125" indent="-365125" eaLnBrk="1" hangingPunct="1">
              <a:defRPr/>
            </a:pPr>
            <a:r>
              <a:rPr lang="zh-CN" altLang="en-GB" sz="2800" dirty="0"/>
              <a:t>类模板定义了若干个类，在使用这些类之前，编译程序将会对类模板进行</a:t>
            </a:r>
            <a:r>
              <a:rPr lang="zh-CN" altLang="en-GB" sz="2800" dirty="0">
                <a:solidFill>
                  <a:schemeClr val="folHlink"/>
                </a:solidFill>
              </a:rPr>
              <a:t>实例化</a:t>
            </a:r>
            <a:r>
              <a:rPr lang="zh-CN" altLang="en-GB" sz="2800" dirty="0"/>
              <a:t>。</a:t>
            </a:r>
            <a:endParaRPr lang="en-US" altLang="zh-CN" sz="2800" dirty="0"/>
          </a:p>
          <a:p>
            <a:pPr marL="365125" indent="-365125" eaLnBrk="1" hangingPunct="1">
              <a:defRPr/>
            </a:pPr>
            <a:r>
              <a:rPr lang="zh-CN" altLang="en-GB" sz="2800" dirty="0"/>
              <a:t>类模板的实例化需要在程序中</a:t>
            </a:r>
            <a:r>
              <a:rPr lang="zh-CN" altLang="en-GB" sz="2800" dirty="0">
                <a:solidFill>
                  <a:schemeClr val="folHlink"/>
                </a:solidFill>
              </a:rPr>
              <a:t>显式地</a:t>
            </a:r>
            <a:r>
              <a:rPr lang="zh-CN" altLang="en-GB" sz="2800" dirty="0"/>
              <a:t>指出。例如：</a:t>
            </a:r>
            <a:endParaRPr lang="en-US" altLang="zh-CN" sz="28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GB" sz="1200" dirty="0"/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Stack&lt;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&gt; st1; //</a:t>
            </a:r>
            <a:r>
              <a:rPr lang="zh-CN" altLang="en-US" sz="2000" dirty="0"/>
              <a:t>实例化</a:t>
            </a:r>
            <a:r>
              <a:rPr lang="en-US" altLang="zh-CN" sz="2000" dirty="0" err="1">
                <a:solidFill>
                  <a:srgbClr val="FFC000"/>
                </a:solidFill>
              </a:rPr>
              <a:t>int</a:t>
            </a:r>
            <a:r>
              <a:rPr lang="zh-CN" altLang="en-US" sz="2000" dirty="0">
                <a:solidFill>
                  <a:srgbClr val="FFC000"/>
                </a:solidFill>
              </a:rPr>
              <a:t>型栈类</a:t>
            </a:r>
            <a:r>
              <a:rPr lang="zh-CN" altLang="en-US" sz="2000" dirty="0"/>
              <a:t>并</a:t>
            </a:r>
            <a:r>
              <a:rPr lang="zh-CN" altLang="en-GB" sz="2000" dirty="0"/>
              <a:t>创建</a:t>
            </a:r>
            <a:r>
              <a:rPr lang="zh-CN" altLang="en-US" sz="2000" dirty="0"/>
              <a:t>一个相应类</a:t>
            </a:r>
            <a:r>
              <a:rPr lang="zh-CN" altLang="en-GB" sz="2000" dirty="0"/>
              <a:t>的对象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 err="1"/>
              <a:t>int</a:t>
            </a:r>
            <a:r>
              <a:rPr lang="en-GB" altLang="zh-CN" sz="2000" dirty="0"/>
              <a:t> x;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st1.push(10); st1.pop(x);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endParaRPr lang="en-GB" altLang="zh-CN" sz="2000" dirty="0"/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Stack&lt;double&gt; st2; //</a:t>
            </a:r>
            <a:r>
              <a:rPr lang="zh-CN" altLang="en-US" sz="2000" dirty="0"/>
              <a:t>实例化</a:t>
            </a:r>
            <a:r>
              <a:rPr lang="en-US" altLang="zh-CN" sz="2000" dirty="0">
                <a:solidFill>
                  <a:srgbClr val="FFC000"/>
                </a:solidFill>
              </a:rPr>
              <a:t>double</a:t>
            </a:r>
            <a:r>
              <a:rPr lang="zh-CN" altLang="en-US" sz="2000" dirty="0">
                <a:solidFill>
                  <a:srgbClr val="FFC000"/>
                </a:solidFill>
              </a:rPr>
              <a:t>型栈类</a:t>
            </a:r>
            <a:r>
              <a:rPr lang="zh-CN" altLang="en-US" sz="2000" dirty="0"/>
              <a:t>并</a:t>
            </a:r>
            <a:r>
              <a:rPr lang="zh-CN" altLang="en-GB" sz="2000" dirty="0"/>
              <a:t>创建一个</a:t>
            </a:r>
            <a:r>
              <a:rPr lang="zh-CN" altLang="en-US" sz="2000" dirty="0"/>
              <a:t>相应类</a:t>
            </a:r>
            <a:r>
              <a:rPr lang="zh-CN" altLang="en-GB" sz="2000" dirty="0"/>
              <a:t>的对象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double y;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st2.push(1.2); st2.pop(y);</a:t>
            </a:r>
            <a:r>
              <a:rPr lang="en-US" altLang="zh-CN" sz="2000" dirty="0"/>
              <a:t> 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000" dirty="0"/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Stack&lt;A&gt; st3; </a:t>
            </a:r>
            <a:r>
              <a:rPr lang="en-GB" altLang="zh-CN" sz="1800" dirty="0"/>
              <a:t>//</a:t>
            </a:r>
            <a:r>
              <a:rPr lang="zh-CN" altLang="en-US" sz="2000" dirty="0"/>
              <a:t>实例化</a:t>
            </a:r>
            <a:r>
              <a:rPr lang="en-US" altLang="zh-CN" sz="2000" dirty="0">
                <a:solidFill>
                  <a:srgbClr val="FFC000"/>
                </a:solidFill>
              </a:rPr>
              <a:t>A</a:t>
            </a:r>
            <a:r>
              <a:rPr lang="zh-CN" altLang="en-US" sz="2000" dirty="0">
                <a:solidFill>
                  <a:srgbClr val="FFC000"/>
                </a:solidFill>
              </a:rPr>
              <a:t>类型栈类</a:t>
            </a:r>
            <a:r>
              <a:rPr lang="zh-CN" altLang="en-US" sz="2000" dirty="0"/>
              <a:t>并</a:t>
            </a:r>
            <a:r>
              <a:rPr lang="zh-CN" altLang="en-GB" sz="2000" dirty="0"/>
              <a:t>创建一个</a:t>
            </a:r>
            <a:r>
              <a:rPr lang="zh-CN" altLang="en-US" sz="2000" dirty="0"/>
              <a:t>相应类</a:t>
            </a:r>
            <a:r>
              <a:rPr lang="zh-CN" altLang="en-GB" sz="2000" dirty="0"/>
              <a:t>的对象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A </a:t>
            </a:r>
            <a:r>
              <a:rPr lang="en-GB" altLang="zh-CN" sz="2000" dirty="0" err="1"/>
              <a:t>a,b</a:t>
            </a:r>
            <a:r>
              <a:rPr lang="en-GB" altLang="zh-CN" sz="2000" dirty="0"/>
              <a:t>;</a:t>
            </a:r>
          </a:p>
          <a:p>
            <a:pPr marL="447675"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st3.push(a); st3.pop(b); //</a:t>
            </a:r>
            <a:r>
              <a:rPr lang="en-US" altLang="zh-CN" sz="2000" dirty="0">
                <a:solidFill>
                  <a:srgbClr val="FFC000"/>
                </a:solidFill>
              </a:rPr>
              <a:t>A</a:t>
            </a:r>
            <a:r>
              <a:rPr lang="zh-CN" altLang="en-US" sz="2000" dirty="0">
                <a:solidFill>
                  <a:srgbClr val="FFC000"/>
                </a:solidFill>
              </a:rPr>
              <a:t>中可能要重载赋值操作符！为什么？</a:t>
            </a:r>
            <a:endParaRPr lang="en-US" altLang="zh-CN" sz="2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6135031-4D61-248E-C22C-BE1579200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893175" cy="5329237"/>
          </a:xfrm>
        </p:spPr>
        <p:txBody>
          <a:bodyPr>
            <a:normAutofit fontScale="92500" lnSpcReduction="10000"/>
          </a:bodyPr>
          <a:lstStyle/>
          <a:p>
            <a:pPr marL="450850" indent="-450850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注意：</a:t>
            </a:r>
            <a:r>
              <a:rPr lang="zh-CN" altLang="en-GB" dirty="0"/>
              <a:t>不同类模板实例之间不共享类模板中的静态成员。例如：</a:t>
            </a:r>
            <a:endParaRPr lang="en-US" altLang="zh-CN" dirty="0"/>
          </a:p>
          <a:p>
            <a:pPr marL="450850" indent="-450850" eaLnBrk="1" hangingPunct="1">
              <a:lnSpc>
                <a:spcPct val="110000"/>
              </a:lnSpc>
              <a:defRPr/>
            </a:pPr>
            <a:endParaRPr lang="zh-CN" altLang="en-GB" dirty="0"/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template &lt;class T&gt;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class A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{		</a:t>
            </a:r>
            <a:r>
              <a:rPr lang="en-GB" altLang="zh-CN" sz="2400" dirty="0">
                <a:solidFill>
                  <a:schemeClr val="folHlink"/>
                </a:solidFill>
              </a:rPr>
              <a:t>static </a:t>
            </a:r>
            <a:r>
              <a:rPr lang="en-GB" altLang="zh-CN" sz="2400" dirty="0" err="1">
                <a:solidFill>
                  <a:schemeClr val="folHlink"/>
                </a:solidFill>
              </a:rPr>
              <a:t>int</a:t>
            </a:r>
            <a:r>
              <a:rPr lang="en-GB" altLang="zh-CN" sz="2400" dirty="0">
                <a:solidFill>
                  <a:schemeClr val="folHlink"/>
                </a:solidFill>
              </a:rPr>
              <a:t> x</a:t>
            </a:r>
            <a:r>
              <a:rPr lang="en-GB" altLang="zh-CN" sz="2400" dirty="0"/>
              <a:t>;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		T y;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		......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};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template &lt;class T&gt;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A&lt;T&gt;::x=0;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......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A&lt;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&gt; a1,a2; //a1</a:t>
            </a:r>
            <a:r>
              <a:rPr lang="zh-CN" altLang="en-GB" sz="2400" dirty="0"/>
              <a:t>和</a:t>
            </a:r>
            <a:r>
              <a:rPr lang="en-GB" altLang="zh-CN" sz="2400" dirty="0"/>
              <a:t>a2</a:t>
            </a:r>
            <a:r>
              <a:rPr lang="zh-CN" altLang="en-GB" sz="2400" dirty="0"/>
              <a:t>共享一个</a:t>
            </a:r>
            <a:r>
              <a:rPr lang="en-GB" altLang="zh-CN" sz="2400" dirty="0"/>
              <a:t>x</a:t>
            </a:r>
            <a:r>
              <a:rPr lang="zh-CN" altLang="en-GB" sz="2400" dirty="0"/>
              <a:t>。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A&lt;double&gt; a3,a4; //a3</a:t>
            </a:r>
            <a:r>
              <a:rPr lang="zh-CN" altLang="en-GB" sz="2400" dirty="0"/>
              <a:t>和</a:t>
            </a:r>
            <a:r>
              <a:rPr lang="en-GB" altLang="zh-CN" sz="2400" dirty="0"/>
              <a:t>a4</a:t>
            </a:r>
            <a:r>
              <a:rPr lang="zh-CN" altLang="en-GB" sz="2400" dirty="0"/>
              <a:t>共享</a:t>
            </a:r>
            <a:r>
              <a:rPr lang="zh-CN" altLang="en-GB" sz="2400" dirty="0">
                <a:solidFill>
                  <a:srgbClr val="FFC000"/>
                </a:solidFill>
              </a:rPr>
              <a:t>另一个</a:t>
            </a:r>
            <a:r>
              <a:rPr lang="en-GB" altLang="zh-CN" sz="2400" dirty="0"/>
              <a:t>x</a:t>
            </a:r>
            <a:r>
              <a:rPr lang="zh-CN" altLang="en-GB" sz="2400" dirty="0"/>
              <a:t>。</a:t>
            </a:r>
            <a:r>
              <a:rPr lang="zh-CN" altLang="en-US" sz="2400" dirty="0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8007CA6-1694-BFB3-9D8D-6ED8E3E7A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820150" cy="5589588"/>
          </a:xfrm>
        </p:spPr>
        <p:txBody>
          <a:bodyPr/>
          <a:lstStyle/>
          <a:p>
            <a:pPr marL="365125" indent="-365125" eaLnBrk="1" hangingPunct="1">
              <a:lnSpc>
                <a:spcPct val="80000"/>
              </a:lnSpc>
              <a:defRPr/>
            </a:pPr>
            <a:r>
              <a:rPr lang="zh-CN" altLang="en-GB" sz="2400" dirty="0"/>
              <a:t>除了类型参数外，类模板也可以</a:t>
            </a:r>
            <a:r>
              <a:rPr lang="zh-CN" altLang="en-US" sz="2400" dirty="0"/>
              <a:t>带</a:t>
            </a:r>
            <a:r>
              <a:rPr lang="zh-CN" altLang="en-GB" sz="2400" dirty="0"/>
              <a:t>非类型参数。</a:t>
            </a:r>
            <a:r>
              <a:rPr lang="zh-CN" altLang="en-US" sz="2400" dirty="0"/>
              <a:t> 例如：</a:t>
            </a:r>
          </a:p>
          <a:p>
            <a:pPr marL="365125" indent="-3651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  template &lt;class T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folHlink"/>
                </a:solidFill>
              </a:rPr>
              <a:t>size</a:t>
            </a:r>
            <a:r>
              <a:rPr lang="en-GB" altLang="zh-CN" sz="2400" dirty="0"/>
              <a:t>&gt; 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class Stack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{		T buffer[</a:t>
            </a:r>
            <a:r>
              <a:rPr lang="en-GB" altLang="zh-CN" sz="2000" dirty="0">
                <a:solidFill>
                  <a:schemeClr val="folHlink"/>
                </a:solidFill>
              </a:rPr>
              <a:t>size</a:t>
            </a:r>
            <a:r>
              <a:rPr lang="en-GB" altLang="zh-CN" sz="2000" dirty="0"/>
              <a:t>];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top;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public: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Stack() { top = -1; }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push(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T &amp;x);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pop(T &amp;x);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};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template &lt;class </a:t>
            </a:r>
            <a:r>
              <a:rPr lang="en-GB" altLang="zh-CN" sz="2000" dirty="0" err="1"/>
              <a:t>T,int</a:t>
            </a:r>
            <a:r>
              <a:rPr lang="en-GB" altLang="zh-CN" sz="2000" dirty="0"/>
              <a:t> </a:t>
            </a:r>
            <a:r>
              <a:rPr lang="en-GB" altLang="zh-CN" sz="2000" dirty="0">
                <a:solidFill>
                  <a:schemeClr val="folHlink"/>
                </a:solidFill>
              </a:rPr>
              <a:t>size</a:t>
            </a:r>
            <a:r>
              <a:rPr lang="en-GB" altLang="zh-CN" sz="2000" dirty="0"/>
              <a:t>&gt; 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void Stack &lt;</a:t>
            </a:r>
            <a:r>
              <a:rPr lang="en-GB" altLang="zh-CN" sz="2000" dirty="0" err="1"/>
              <a:t>T,</a:t>
            </a:r>
            <a:r>
              <a:rPr lang="en-GB" altLang="zh-CN" sz="2000" dirty="0" err="1">
                <a:solidFill>
                  <a:schemeClr val="folHlink"/>
                </a:solidFill>
              </a:rPr>
              <a:t>size</a:t>
            </a:r>
            <a:r>
              <a:rPr lang="en-GB" altLang="zh-CN" sz="2000" dirty="0"/>
              <a:t>&gt;::push(</a:t>
            </a:r>
            <a:r>
              <a:rPr lang="en-GB" altLang="zh-CN" sz="2000" dirty="0" err="1"/>
              <a:t>const</a:t>
            </a:r>
            <a:r>
              <a:rPr lang="en-GB" altLang="zh-CN" sz="2000" dirty="0"/>
              <a:t> T &amp;x) { ...... }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template &lt;class T, 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>
                <a:solidFill>
                  <a:schemeClr val="folHlink"/>
                </a:solidFill>
              </a:rPr>
              <a:t>size</a:t>
            </a:r>
            <a:r>
              <a:rPr lang="en-GB" altLang="zh-CN" sz="2000" dirty="0"/>
              <a:t>&gt; 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void Stack &lt;</a:t>
            </a:r>
            <a:r>
              <a:rPr lang="en-GB" altLang="zh-CN" sz="2000" dirty="0" err="1"/>
              <a:t>T,</a:t>
            </a:r>
            <a:r>
              <a:rPr lang="en-GB" altLang="zh-CN" sz="2000" dirty="0" err="1">
                <a:solidFill>
                  <a:schemeClr val="folHlink"/>
                </a:solidFill>
              </a:rPr>
              <a:t>size</a:t>
            </a:r>
            <a:r>
              <a:rPr lang="en-GB" altLang="zh-CN" sz="2000" dirty="0"/>
              <a:t>&gt;::pop(T &amp;x) { ...... }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......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Stack&lt;int,</a:t>
            </a:r>
            <a:r>
              <a:rPr lang="en-US" altLang="zh-CN" sz="2000" dirty="0">
                <a:solidFill>
                  <a:schemeClr val="folHlink"/>
                </a:solidFill>
              </a:rPr>
              <a:t>100</a:t>
            </a:r>
            <a:r>
              <a:rPr lang="en-US" altLang="zh-CN" sz="2000" dirty="0"/>
              <a:t>&gt; st1; //st1</a:t>
            </a:r>
            <a:r>
              <a:rPr lang="zh-CN" altLang="en-US" sz="2000" dirty="0"/>
              <a:t>为元素个数最多为</a:t>
            </a:r>
            <a:r>
              <a:rPr lang="en-US" altLang="zh-CN" sz="2000" dirty="0"/>
              <a:t>100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型栈</a:t>
            </a:r>
          </a:p>
          <a:p>
            <a:pPr marL="915988"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Stack&lt;int,</a:t>
            </a:r>
            <a:r>
              <a:rPr lang="en-US" altLang="zh-CN" sz="2000" dirty="0">
                <a:solidFill>
                  <a:schemeClr val="folHlink"/>
                </a:solidFill>
              </a:rPr>
              <a:t>200</a:t>
            </a:r>
            <a:r>
              <a:rPr lang="en-US" altLang="zh-CN" sz="2000" dirty="0"/>
              <a:t>&gt; st2; //st2</a:t>
            </a:r>
            <a:r>
              <a:rPr lang="zh-CN" altLang="en-US" sz="2000" dirty="0"/>
              <a:t>为元素个数最多为</a:t>
            </a:r>
            <a:r>
              <a:rPr lang="en-US" altLang="zh-CN" sz="2000" dirty="0"/>
              <a:t>200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型栈</a:t>
            </a:r>
          </a:p>
        </p:txBody>
      </p:sp>
      <p:sp>
        <p:nvSpPr>
          <p:cNvPr id="28672" name="Rectangle 0">
            <a:extLst>
              <a:ext uri="{FF2B5EF4-FFF2-40B4-BE49-F238E27FC236}">
                <a16:creationId xmlns:a16="http://schemas.microsoft.com/office/drawing/2014/main" id="{69026D80-AFD8-D057-E50A-A7440BCAD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4150"/>
            <a:ext cx="8229600" cy="723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4000"/>
              <a:t>带非类型参数的类模板</a:t>
            </a:r>
            <a:endParaRPr lang="zh-CN" altLang="en-US" sz="400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F5FC794-B748-00C3-8393-CF43D0054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7175"/>
            <a:ext cx="8229600" cy="723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模板的复用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17A03F1-414B-8272-21BB-D0C09F92C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569325" cy="4032250"/>
          </a:xfrm>
        </p:spPr>
        <p:txBody>
          <a:bodyPr>
            <a:normAutofit fontScale="92500" lnSpcReduction="20000"/>
          </a:bodyPr>
          <a:lstStyle/>
          <a:p>
            <a:pPr marL="266700" indent="-266700" eaLnBrk="1" hangingPunct="1">
              <a:lnSpc>
                <a:spcPct val="120000"/>
              </a:lnSpc>
              <a:defRPr/>
            </a:pPr>
            <a:r>
              <a:rPr lang="zh-CN" altLang="en-US" dirty="0"/>
              <a:t>模板也属于一种多态：</a:t>
            </a:r>
            <a:endParaRPr lang="en-US" altLang="zh-CN" dirty="0"/>
          </a:p>
          <a:p>
            <a:pPr marL="666750" lvl="1" indent="-266700" eaLnBrk="1" hangingPunct="1">
              <a:lnSpc>
                <a:spcPct val="120000"/>
              </a:lnSpc>
              <a:defRPr/>
            </a:pPr>
            <a:r>
              <a:rPr lang="zh-CN" altLang="en-US" dirty="0"/>
              <a:t>一段带有类型参数的代码，给该参数提供不同的类型就能得到多个不同的代码，即，一段代码有多种解释。</a:t>
            </a:r>
            <a:endParaRPr lang="en-US" altLang="zh-CN" dirty="0"/>
          </a:p>
          <a:p>
            <a:pPr marL="266700" indent="-266700" eaLnBrk="1" hangingPunct="1">
              <a:lnSpc>
                <a:spcPct val="120000"/>
              </a:lnSpc>
              <a:defRPr/>
            </a:pPr>
            <a:r>
              <a:rPr lang="zh-CN" altLang="en-US" dirty="0"/>
              <a:t>使用一个模板之前首先要对其实例化（用一个具体的类型去替代模板的类型参数），</a:t>
            </a:r>
            <a:r>
              <a:rPr lang="zh-CN" altLang="en-US" dirty="0">
                <a:solidFill>
                  <a:srgbClr val="FFC000"/>
                </a:solidFill>
              </a:rPr>
              <a:t>实例化是在（预）编译时刻进行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66700" indent="-266700" eaLnBrk="1" hangingPunct="1">
              <a:lnSpc>
                <a:spcPct val="120000"/>
              </a:lnSpc>
              <a:defRPr/>
            </a:pPr>
            <a:r>
              <a:rPr lang="zh-CN" altLang="en-US" dirty="0"/>
              <a:t>模板实例化一定要见到相应的源代码，否则无法实例化！</a:t>
            </a:r>
            <a:endParaRPr lang="en-US" altLang="zh-CN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GB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8994417E-F64D-2BB2-A954-3875987F37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260350"/>
            <a:ext cx="8893175" cy="6453188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// file1.h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template &lt;class T&gt;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class </a:t>
            </a:r>
            <a:r>
              <a:rPr lang="en-GB" altLang="zh-CN" sz="2200" dirty="0">
                <a:solidFill>
                  <a:srgbClr val="FFC000"/>
                </a:solidFill>
              </a:rPr>
              <a:t>S</a:t>
            </a:r>
            <a:r>
              <a:rPr lang="en-GB" altLang="zh-CN" sz="2200" dirty="0"/>
              <a:t> //</a:t>
            </a:r>
            <a:r>
              <a:rPr lang="zh-CN" altLang="en-GB" sz="2200" dirty="0"/>
              <a:t>类模板</a:t>
            </a:r>
            <a:r>
              <a:rPr lang="en-US" altLang="zh-CN" sz="2200" dirty="0"/>
              <a:t>S</a:t>
            </a:r>
            <a:r>
              <a:rPr lang="zh-CN" altLang="en-GB" sz="2200" dirty="0"/>
              <a:t>的定义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{    T a;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  public: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      void f();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};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extern void </a:t>
            </a:r>
            <a:r>
              <a:rPr lang="en-US" altLang="zh-CN" sz="2200" dirty="0" err="1"/>
              <a:t>func</a:t>
            </a:r>
            <a:r>
              <a:rPr lang="en-GB" altLang="zh-CN" sz="2200" dirty="0"/>
              <a:t>();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zh-CN" sz="22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// file1.cpp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#include "file1.h"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template &lt;class T&gt;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void S&lt;T&gt;::</a:t>
            </a:r>
            <a:r>
              <a:rPr lang="en-GB" altLang="zh-CN" sz="2200" dirty="0">
                <a:solidFill>
                  <a:srgbClr val="FFC000"/>
                </a:solidFill>
              </a:rPr>
              <a:t>f</a:t>
            </a:r>
            <a:r>
              <a:rPr lang="en-GB" altLang="zh-CN" sz="2200" dirty="0"/>
              <a:t>() //</a:t>
            </a:r>
            <a:r>
              <a:rPr lang="zh-CN" altLang="en-GB" sz="2200" dirty="0"/>
              <a:t>类模板</a:t>
            </a:r>
            <a:r>
              <a:rPr lang="en-US" altLang="zh-CN" sz="2200" dirty="0"/>
              <a:t>S</a:t>
            </a:r>
            <a:r>
              <a:rPr lang="zh-CN" altLang="en-US" sz="2200" dirty="0"/>
              <a:t>中</a:t>
            </a:r>
            <a:r>
              <a:rPr lang="en-US" altLang="zh-CN" sz="2200" dirty="0"/>
              <a:t>f</a:t>
            </a:r>
            <a:r>
              <a:rPr lang="zh-CN" altLang="en-GB" sz="2200" dirty="0"/>
              <a:t>的实现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{ ......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}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void </a:t>
            </a:r>
            <a:r>
              <a:rPr lang="en-US" altLang="zh-CN" sz="2200" dirty="0" err="1"/>
              <a:t>func</a:t>
            </a:r>
            <a:r>
              <a:rPr lang="en-GB" altLang="zh-CN" sz="2200" dirty="0"/>
              <a:t>()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{ S&lt;float&gt; x; //</a:t>
            </a:r>
            <a:r>
              <a:rPr lang="zh-CN" altLang="en-GB" sz="2200" dirty="0"/>
              <a:t>实例化</a:t>
            </a:r>
            <a:r>
              <a:rPr lang="zh-CN" altLang="en-GB" sz="2200" dirty="0">
                <a:latin typeface="Arial"/>
              </a:rPr>
              <a:t>“</a:t>
            </a:r>
            <a:r>
              <a:rPr lang="en-GB" altLang="zh-CN" sz="2200" dirty="0">
                <a:solidFill>
                  <a:srgbClr val="FFC000"/>
                </a:solidFill>
              </a:rPr>
              <a:t>S&lt;float&gt;</a:t>
            </a:r>
            <a:r>
              <a:rPr lang="zh-CN" altLang="en-US" sz="2200" dirty="0">
                <a:latin typeface="Arial"/>
              </a:rPr>
              <a:t>”</a:t>
            </a:r>
            <a:r>
              <a:rPr lang="zh-CN" altLang="en-GB" sz="2200" dirty="0"/>
              <a:t>并创建该类的一个对象</a:t>
            </a:r>
            <a:r>
              <a:rPr lang="en-GB" altLang="zh-CN" sz="2200" dirty="0"/>
              <a:t>x</a:t>
            </a:r>
            <a:endParaRPr lang="zh-CN" altLang="en-GB" sz="22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   </a:t>
            </a:r>
            <a:r>
              <a:rPr lang="en-GB" altLang="zh-CN" sz="2200" dirty="0" err="1"/>
              <a:t>x.f</a:t>
            </a:r>
            <a:r>
              <a:rPr lang="en-GB" altLang="zh-CN" sz="2200" dirty="0"/>
              <a:t>(); //</a:t>
            </a:r>
            <a:r>
              <a:rPr lang="zh-CN" altLang="en-GB" sz="2200" dirty="0"/>
              <a:t>实例化</a:t>
            </a:r>
            <a:r>
              <a:rPr lang="zh-CN" altLang="en-US" sz="2200" dirty="0"/>
              <a:t>“</a:t>
            </a:r>
            <a:r>
              <a:rPr lang="en-GB" altLang="zh-CN" sz="2200" dirty="0">
                <a:solidFill>
                  <a:srgbClr val="FFC000"/>
                </a:solidFill>
              </a:rPr>
              <a:t>void S&lt;float&gt;::f()</a:t>
            </a:r>
            <a:r>
              <a:rPr lang="zh-CN" altLang="en-US" sz="2200" dirty="0"/>
              <a:t>”</a:t>
            </a:r>
            <a:r>
              <a:rPr lang="zh-CN" altLang="en-GB" sz="2200" dirty="0"/>
              <a:t>并调用之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200" dirty="0"/>
              <a:t>}</a:t>
            </a:r>
            <a:r>
              <a:rPr lang="en-US" altLang="zh-CN" sz="2200" dirty="0"/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580385-A45D-6C82-DF1F-E5949BC5A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620713"/>
            <a:ext cx="8497887" cy="5545137"/>
          </a:xfrm>
        </p:spPr>
        <p:txBody>
          <a:bodyPr>
            <a:normAutofit fontScale="70000" lnSpcReduction="20000"/>
          </a:bodyPr>
          <a:lstStyle/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// file2.cpp</a:t>
            </a: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#include "file1.h"</a:t>
            </a: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 err="1"/>
              <a:t>int</a:t>
            </a:r>
            <a:r>
              <a:rPr lang="en-GB" altLang="zh-CN" dirty="0"/>
              <a:t> main()</a:t>
            </a: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{ S&lt;float&gt; s1;</a:t>
            </a:r>
            <a:r>
              <a:rPr lang="en-GB" altLang="zh-CN" sz="3100" dirty="0"/>
              <a:t> //</a:t>
            </a:r>
            <a:r>
              <a:rPr lang="zh-CN" altLang="en-GB" sz="3100" dirty="0"/>
              <a:t>实例化</a:t>
            </a:r>
            <a:r>
              <a:rPr lang="zh-CN" altLang="en-GB" sz="3100" dirty="0">
                <a:latin typeface="Arial"/>
              </a:rPr>
              <a:t>“</a:t>
            </a:r>
            <a:r>
              <a:rPr lang="en-GB" altLang="zh-CN" sz="3100" dirty="0">
                <a:solidFill>
                  <a:srgbClr val="FFC000"/>
                </a:solidFill>
              </a:rPr>
              <a:t>S&lt;float&gt;</a:t>
            </a:r>
            <a:r>
              <a:rPr lang="zh-CN" altLang="en-US" sz="3100" dirty="0">
                <a:latin typeface="Arial"/>
              </a:rPr>
              <a:t>”</a:t>
            </a:r>
            <a:r>
              <a:rPr lang="zh-CN" altLang="en-GB" sz="3100" dirty="0"/>
              <a:t>并创建该类的一个对象</a:t>
            </a:r>
            <a:r>
              <a:rPr lang="en-GB" altLang="zh-CN" sz="3100" dirty="0"/>
              <a:t>s1</a:t>
            </a: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   s1.f(); //</a:t>
            </a:r>
            <a:r>
              <a:rPr lang="zh-CN" altLang="en-US" dirty="0">
                <a:solidFill>
                  <a:srgbClr val="FFC000"/>
                </a:solidFill>
              </a:rPr>
              <a:t>没有</a:t>
            </a:r>
            <a:r>
              <a:rPr lang="zh-CN" altLang="en-US" dirty="0"/>
              <a:t>实例化“</a:t>
            </a:r>
            <a:r>
              <a:rPr lang="en-GB" altLang="zh-CN" dirty="0">
                <a:solidFill>
                  <a:srgbClr val="FFC000"/>
                </a:solidFill>
              </a:rPr>
              <a:t>void S&lt;float&gt;::f()</a:t>
            </a:r>
            <a:r>
              <a:rPr lang="zh-CN" altLang="en-US" dirty="0"/>
              <a:t>”，但</a:t>
            </a:r>
            <a:r>
              <a:rPr lang="zh-CN" altLang="en-GB" dirty="0"/>
              <a:t>调用</a:t>
            </a:r>
            <a:r>
              <a:rPr lang="zh-CN" altLang="en-US" dirty="0"/>
              <a:t>之</a:t>
            </a:r>
            <a:endParaRPr lang="zh-CN" altLang="en-GB" dirty="0">
              <a:solidFill>
                <a:srgbClr val="FFC000"/>
              </a:solidFill>
            </a:endParaRP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   S&lt;</a:t>
            </a:r>
            <a:r>
              <a:rPr lang="en-GB" altLang="zh-CN" dirty="0" err="1"/>
              <a:t>int</a:t>
            </a:r>
            <a:r>
              <a:rPr lang="en-GB" altLang="zh-CN" dirty="0"/>
              <a:t>&gt; s2; </a:t>
            </a:r>
            <a:r>
              <a:rPr lang="en-GB" altLang="zh-CN" sz="3100" dirty="0"/>
              <a:t>//</a:t>
            </a:r>
            <a:r>
              <a:rPr lang="zh-CN" altLang="en-GB" sz="3100" dirty="0"/>
              <a:t>实例化</a:t>
            </a:r>
            <a:r>
              <a:rPr lang="zh-CN" altLang="en-GB" sz="3100" dirty="0">
                <a:latin typeface="Arial"/>
              </a:rPr>
              <a:t>“</a:t>
            </a:r>
            <a:r>
              <a:rPr lang="en-GB" altLang="zh-CN" sz="3100" dirty="0">
                <a:solidFill>
                  <a:srgbClr val="FFC000"/>
                </a:solidFill>
              </a:rPr>
              <a:t>S&lt;</a:t>
            </a:r>
            <a:r>
              <a:rPr lang="en-GB" altLang="zh-CN" sz="3100" dirty="0" err="1">
                <a:solidFill>
                  <a:srgbClr val="FFC000"/>
                </a:solidFill>
              </a:rPr>
              <a:t>int</a:t>
            </a:r>
            <a:r>
              <a:rPr lang="en-GB" altLang="zh-CN" sz="3100" dirty="0">
                <a:solidFill>
                  <a:srgbClr val="FFC000"/>
                </a:solidFill>
              </a:rPr>
              <a:t>&gt;</a:t>
            </a:r>
            <a:r>
              <a:rPr lang="zh-CN" altLang="en-US" sz="3100" dirty="0">
                <a:latin typeface="Arial"/>
              </a:rPr>
              <a:t>”</a:t>
            </a:r>
            <a:r>
              <a:rPr lang="zh-CN" altLang="en-GB" sz="3100" dirty="0"/>
              <a:t>并创建该类的一个对象</a:t>
            </a:r>
            <a:r>
              <a:rPr lang="en-GB" altLang="zh-CN" sz="3100" dirty="0"/>
              <a:t>s2 </a:t>
            </a: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   s2.f(); </a:t>
            </a:r>
            <a:r>
              <a:rPr lang="en-GB" altLang="zh-CN" sz="3100" dirty="0"/>
              <a:t>//</a:t>
            </a:r>
            <a:r>
              <a:rPr lang="zh-CN" altLang="en-US" sz="3100" dirty="0">
                <a:solidFill>
                  <a:srgbClr val="FFC000"/>
                </a:solidFill>
              </a:rPr>
              <a:t>没有</a:t>
            </a:r>
            <a:r>
              <a:rPr lang="zh-CN" altLang="en-US" sz="3100" dirty="0"/>
              <a:t>实例化</a:t>
            </a:r>
            <a:r>
              <a:rPr lang="zh-CN" altLang="en-GB" sz="3100" dirty="0">
                <a:latin typeface="Arial"/>
              </a:rPr>
              <a:t>“</a:t>
            </a:r>
            <a:r>
              <a:rPr lang="en-GB" altLang="zh-CN" sz="3100" dirty="0">
                <a:solidFill>
                  <a:schemeClr val="folHlink"/>
                </a:solidFill>
              </a:rPr>
              <a:t>void S&lt;</a:t>
            </a:r>
            <a:r>
              <a:rPr lang="en-GB" altLang="zh-CN" sz="3100" dirty="0" err="1">
                <a:solidFill>
                  <a:schemeClr val="folHlink"/>
                </a:solidFill>
              </a:rPr>
              <a:t>int</a:t>
            </a:r>
            <a:r>
              <a:rPr lang="en-GB" altLang="zh-CN" sz="3100" dirty="0">
                <a:solidFill>
                  <a:schemeClr val="folHlink"/>
                </a:solidFill>
              </a:rPr>
              <a:t>&gt;::f()</a:t>
            </a:r>
            <a:r>
              <a:rPr lang="zh-CN" altLang="en-US" sz="3100" dirty="0">
                <a:latin typeface="Arial"/>
              </a:rPr>
              <a:t>”，但调用之</a:t>
            </a:r>
            <a:endParaRPr lang="en-US" altLang="zh-CN" sz="3100" dirty="0">
              <a:latin typeface="Arial"/>
            </a:endParaRP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func</a:t>
            </a:r>
            <a:r>
              <a:rPr lang="en-GB" altLang="zh-CN" dirty="0"/>
              <a:t>();</a:t>
            </a: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   return 0;</a:t>
            </a:r>
          </a:p>
          <a:p>
            <a:pPr marL="266700" indent="-2667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dirty="0"/>
              <a:t>}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3400" dirty="0"/>
              <a:t>两个模块都能通过编译，但在链接时出错，链接</a:t>
            </a:r>
            <a:r>
              <a:rPr lang="zh-CN" altLang="en-GB" sz="3400" dirty="0"/>
              <a:t>程序指出</a:t>
            </a:r>
            <a:r>
              <a:rPr lang="zh-CN" altLang="en-US" sz="3400" dirty="0"/>
              <a:t>：</a:t>
            </a:r>
            <a:endParaRPr lang="en-US" altLang="zh-CN" sz="3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3100" dirty="0">
                <a:latin typeface="Arial"/>
              </a:rPr>
              <a:t>file2</a:t>
            </a:r>
            <a:r>
              <a:rPr lang="zh-CN" altLang="en-US" sz="3100" dirty="0">
                <a:latin typeface="Arial"/>
              </a:rPr>
              <a:t>中调用的</a:t>
            </a:r>
            <a:r>
              <a:rPr lang="zh-CN" altLang="en-GB" sz="3100" dirty="0">
                <a:latin typeface="Arial"/>
              </a:rPr>
              <a:t>“</a:t>
            </a:r>
            <a:r>
              <a:rPr lang="en-GB" altLang="zh-CN" sz="3100" dirty="0">
                <a:solidFill>
                  <a:schemeClr val="folHlink"/>
                </a:solidFill>
              </a:rPr>
              <a:t>void S&lt;</a:t>
            </a:r>
            <a:r>
              <a:rPr lang="en-GB" altLang="zh-CN" sz="3100" dirty="0" err="1">
                <a:solidFill>
                  <a:schemeClr val="folHlink"/>
                </a:solidFill>
              </a:rPr>
              <a:t>int</a:t>
            </a:r>
            <a:r>
              <a:rPr lang="en-GB" altLang="zh-CN" sz="3100" dirty="0">
                <a:solidFill>
                  <a:schemeClr val="folHlink"/>
                </a:solidFill>
              </a:rPr>
              <a:t>&gt;::f()</a:t>
            </a:r>
            <a:r>
              <a:rPr lang="zh-CN" altLang="en-US" sz="3100" dirty="0">
                <a:latin typeface="Arial"/>
              </a:rPr>
              <a:t>”不存在！</a:t>
            </a:r>
            <a:endParaRPr lang="en-US" altLang="zh-CN" sz="31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328E4C99-4FE2-F634-20A9-215AACE93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404813"/>
            <a:ext cx="8351838" cy="6337300"/>
          </a:xfrm>
        </p:spPr>
        <p:txBody>
          <a:bodyPr>
            <a:normAutofit fontScale="92500" lnSpcReduction="20000"/>
          </a:bodyPr>
          <a:lstStyle/>
          <a:p>
            <a:pPr marL="365125" indent="-365125" eaLnBrk="1" hangingPunct="1">
              <a:lnSpc>
                <a:spcPct val="120000"/>
              </a:lnSpc>
              <a:defRPr/>
            </a:pPr>
            <a:r>
              <a:rPr lang="zh-CN" altLang="en-GB" sz="3000" dirty="0"/>
              <a:t>解决上述问题的通常做法是把模板的定义和实现都放在头文件中。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// file1.h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template &lt;class T&gt; 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class S //</a:t>
            </a:r>
            <a:r>
              <a:rPr lang="zh-CN" altLang="en-GB" sz="2400" dirty="0"/>
              <a:t>类模板</a:t>
            </a:r>
            <a:r>
              <a:rPr lang="en-US" altLang="zh-CN" sz="2400" dirty="0"/>
              <a:t>S</a:t>
            </a:r>
            <a:r>
              <a:rPr lang="zh-CN" altLang="en-GB" sz="2400" dirty="0"/>
              <a:t>的定义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{  T a;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  public: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    void f();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};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template &lt;class T&gt; 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void S&lt;T&gt;::f() //</a:t>
            </a:r>
            <a:r>
              <a:rPr lang="zh-CN" altLang="en-GB" sz="2400" dirty="0"/>
              <a:t>类模板</a:t>
            </a:r>
            <a:r>
              <a:rPr lang="en-US" altLang="zh-CN" sz="2400" dirty="0"/>
              <a:t>S</a:t>
            </a:r>
            <a:r>
              <a:rPr lang="zh-CN" altLang="en-US" sz="2400" dirty="0"/>
              <a:t>中</a:t>
            </a:r>
            <a:r>
              <a:rPr lang="en-US" altLang="zh-CN" sz="2400" dirty="0"/>
              <a:t>f</a:t>
            </a:r>
            <a:r>
              <a:rPr lang="zh-CN" altLang="en-GB" sz="2400" dirty="0"/>
              <a:t>的实现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{ ......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marL="765175" lvl="1" indent="-365125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extern void </a:t>
            </a:r>
            <a:r>
              <a:rPr lang="en-US" altLang="zh-CN" sz="2400" dirty="0" err="1"/>
              <a:t>func</a:t>
            </a:r>
            <a:r>
              <a:rPr lang="en-GB" altLang="zh-CN" sz="2400" dirty="0"/>
              <a:t>();</a:t>
            </a:r>
          </a:p>
          <a:p>
            <a:pPr marL="266700" indent="-266700" eaLnBrk="1" hangingPunct="1">
              <a:lnSpc>
                <a:spcPct val="120000"/>
              </a:lnSpc>
              <a:buClr>
                <a:srgbClr val="FFFFCC"/>
              </a:buClr>
              <a:defRPr/>
            </a:pPr>
            <a:r>
              <a:rPr lang="zh-CN" altLang="en-US" sz="2800" dirty="0">
                <a:solidFill>
                  <a:srgbClr val="FFFFFF"/>
                </a:solidFill>
              </a:rPr>
              <a:t>使用者通过包含这个头文件，把模板的源代码全包含进来，以备实例化所需。</a:t>
            </a:r>
            <a:endParaRPr lang="en-US" altLang="zh-CN" sz="2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CDE01EAC-043C-B51D-ABE3-8FD626A2BF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242888"/>
            <a:ext cx="9036050" cy="6264275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// file1.cpp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#include "file1.h"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void </a:t>
            </a:r>
            <a:r>
              <a:rPr lang="en-US" altLang="zh-CN" sz="2400" dirty="0" err="1"/>
              <a:t>func</a:t>
            </a:r>
            <a:r>
              <a:rPr lang="en-GB" altLang="zh-CN" sz="2400" dirty="0"/>
              <a:t>()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 S&lt;float&gt; x; //</a:t>
            </a:r>
            <a:r>
              <a:rPr lang="zh-CN" altLang="en-GB" sz="2400" dirty="0"/>
              <a:t>实例化</a:t>
            </a:r>
            <a:r>
              <a:rPr lang="zh-CN" altLang="en-GB" sz="2400" dirty="0">
                <a:latin typeface="Arial"/>
              </a:rPr>
              <a:t>“</a:t>
            </a:r>
            <a:r>
              <a:rPr lang="en-GB" altLang="zh-CN" sz="2400" dirty="0"/>
              <a:t>S&lt;float&gt;</a:t>
            </a:r>
            <a:r>
              <a:rPr lang="zh-CN" altLang="en-US" sz="2400" dirty="0"/>
              <a:t>”</a:t>
            </a:r>
            <a:r>
              <a:rPr lang="zh-CN" altLang="en-GB" sz="2400" dirty="0"/>
              <a:t>并创建该类的一个对象</a:t>
            </a:r>
            <a:r>
              <a:rPr lang="en-GB" altLang="zh-CN" sz="2400" dirty="0"/>
              <a:t>x</a:t>
            </a:r>
            <a:r>
              <a:rPr lang="zh-CN" altLang="en-GB" sz="2400" dirty="0"/>
              <a:t>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</a:t>
            </a:r>
            <a:r>
              <a:rPr lang="en-GB" altLang="zh-CN" sz="2400" dirty="0" err="1"/>
              <a:t>x.f</a:t>
            </a:r>
            <a:r>
              <a:rPr lang="en-GB" altLang="zh-CN" sz="2400" dirty="0"/>
              <a:t>(); //</a:t>
            </a:r>
            <a:r>
              <a:rPr lang="zh-CN" altLang="en-GB" sz="2400" dirty="0"/>
              <a:t>实例化</a:t>
            </a:r>
            <a:r>
              <a:rPr lang="zh-CN" altLang="en-US" sz="2400" dirty="0"/>
              <a:t>“</a:t>
            </a:r>
            <a:r>
              <a:rPr lang="en-GB" altLang="zh-CN" sz="2400" dirty="0"/>
              <a:t>void S&lt;float&gt;::f()</a:t>
            </a:r>
            <a:r>
              <a:rPr lang="zh-CN" altLang="en-US" sz="2400" dirty="0"/>
              <a:t>”</a:t>
            </a:r>
            <a:r>
              <a:rPr lang="zh-CN" altLang="en-GB" sz="2400" dirty="0"/>
              <a:t>并调用之。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// file2.cpp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#include "file1.h"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int</a:t>
            </a:r>
            <a:r>
              <a:rPr lang="en-GB" altLang="zh-CN" sz="2400" dirty="0"/>
              <a:t> main()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 S&lt;float&gt; s1; //</a:t>
            </a:r>
            <a:r>
              <a:rPr lang="zh-CN" altLang="en-GB" sz="2400" dirty="0"/>
              <a:t>实例化</a:t>
            </a:r>
            <a:r>
              <a:rPr lang="zh-CN" altLang="en-GB" sz="2400" dirty="0">
                <a:latin typeface="Arial"/>
              </a:rPr>
              <a:t>“</a:t>
            </a:r>
            <a:r>
              <a:rPr lang="en-GB" altLang="zh-CN" sz="2400" dirty="0"/>
              <a:t>S&lt;float&gt;</a:t>
            </a:r>
            <a:r>
              <a:rPr lang="en-GB" altLang="zh-CN" sz="2400" dirty="0">
                <a:latin typeface="Arial"/>
              </a:rPr>
              <a:t>”</a:t>
            </a:r>
            <a:r>
              <a:rPr lang="zh-CN" altLang="en-GB" sz="2400" dirty="0"/>
              <a:t>并创建该类的一个对象</a:t>
            </a:r>
            <a:r>
              <a:rPr lang="en-GB" altLang="zh-CN" sz="2400" dirty="0"/>
              <a:t>s1</a:t>
            </a:r>
            <a:r>
              <a:rPr lang="zh-CN" altLang="en-GB" sz="2400" dirty="0"/>
              <a:t>。</a:t>
            </a:r>
            <a:endParaRPr lang="en-GB" altLang="zh-CN" sz="240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s1.f(); //</a:t>
            </a:r>
            <a:r>
              <a:rPr lang="zh-CN" altLang="en-GB" sz="2400" dirty="0"/>
              <a:t>实例化</a:t>
            </a:r>
            <a:r>
              <a:rPr lang="zh-CN" altLang="en-US" sz="2400" dirty="0"/>
              <a:t>“</a:t>
            </a:r>
            <a:r>
              <a:rPr lang="en-GB" altLang="zh-CN" sz="2400" dirty="0"/>
              <a:t>void S&lt;float&gt;::f()</a:t>
            </a:r>
            <a:r>
              <a:rPr lang="zh-CN" altLang="en-US" sz="2400" dirty="0"/>
              <a:t>”</a:t>
            </a:r>
            <a:r>
              <a:rPr lang="zh-CN" altLang="en-GB" sz="2400" dirty="0"/>
              <a:t>并调用之。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S&lt;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&gt; s2; //</a:t>
            </a:r>
            <a:r>
              <a:rPr lang="zh-CN" altLang="en-GB" sz="2400" dirty="0"/>
              <a:t>实例化</a:t>
            </a:r>
            <a:r>
              <a:rPr lang="zh-CN" altLang="en-GB" sz="2400" dirty="0">
                <a:latin typeface="Arial"/>
              </a:rPr>
              <a:t>“</a:t>
            </a:r>
            <a:r>
              <a:rPr lang="en-GB" altLang="zh-CN" sz="2400" dirty="0"/>
              <a:t>S&lt;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&gt;</a:t>
            </a:r>
            <a:r>
              <a:rPr lang="zh-CN" altLang="en-US" sz="2400" dirty="0"/>
              <a:t>”</a:t>
            </a:r>
            <a:r>
              <a:rPr lang="zh-CN" altLang="en-GB" sz="2400" dirty="0"/>
              <a:t>并创建该类的一个对象</a:t>
            </a:r>
            <a:r>
              <a:rPr lang="en-GB" altLang="zh-CN" sz="2400" dirty="0"/>
              <a:t>s2</a:t>
            </a:r>
            <a:r>
              <a:rPr lang="zh-CN" altLang="en-GB" sz="2400" dirty="0"/>
              <a:t>。</a:t>
            </a:r>
            <a:r>
              <a:rPr lang="en-GB" altLang="zh-CN" sz="2400" dirty="0"/>
              <a:t>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s2.f(); //</a:t>
            </a:r>
            <a:r>
              <a:rPr lang="zh-CN" altLang="en-GB" sz="2400" dirty="0"/>
              <a:t>实例化</a:t>
            </a:r>
            <a:r>
              <a:rPr lang="zh-CN" altLang="en-US" sz="2400" dirty="0"/>
              <a:t>“</a:t>
            </a:r>
            <a:r>
              <a:rPr lang="en-GB" altLang="zh-CN" sz="2400" dirty="0"/>
              <a:t>void S&lt;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&gt;::f()</a:t>
            </a:r>
            <a:r>
              <a:rPr lang="zh-CN" altLang="en-US" sz="2400" dirty="0"/>
              <a:t>”</a:t>
            </a:r>
            <a:r>
              <a:rPr lang="zh-CN" altLang="en-GB" sz="2400" dirty="0"/>
              <a:t>并调用之。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</a:t>
            </a:r>
            <a:r>
              <a:rPr lang="en-US" altLang="zh-CN" sz="2400" dirty="0" err="1"/>
              <a:t>func</a:t>
            </a:r>
            <a:r>
              <a:rPr lang="en-GB" altLang="zh-CN" sz="2400" dirty="0"/>
              <a:t>();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return 0;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  <a:r>
              <a:rPr lang="en-US" altLang="zh-CN" sz="2400" dirty="0"/>
              <a:t> </a:t>
            </a:r>
          </a:p>
          <a:p>
            <a:pPr marL="266700" indent="-266700" eaLnBrk="1" hangingPunct="1">
              <a:lnSpc>
                <a:spcPct val="120000"/>
              </a:lnSpc>
              <a:buClr>
                <a:srgbClr val="FFFFCC"/>
              </a:buClr>
              <a:defRPr/>
            </a:pPr>
            <a:r>
              <a:rPr lang="zh-CN" altLang="en-US" sz="2400" dirty="0">
                <a:solidFill>
                  <a:srgbClr val="FFFFFF"/>
                </a:solidFill>
              </a:rPr>
              <a:t>因此，模板是基于</a:t>
            </a:r>
            <a:r>
              <a:rPr lang="zh-CN" altLang="en-US" sz="2400" dirty="0">
                <a:solidFill>
                  <a:srgbClr val="FFC000"/>
                </a:solidFill>
              </a:rPr>
              <a:t>源代码</a:t>
            </a:r>
            <a:r>
              <a:rPr lang="zh-CN" altLang="en-US" sz="2400" dirty="0">
                <a:solidFill>
                  <a:srgbClr val="FFFFFF"/>
                </a:solidFill>
              </a:rPr>
              <a:t>的复用！</a:t>
            </a:r>
            <a:endParaRPr lang="en-US" altLang="zh-CN" sz="2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E5B6F8-5D44-BB0D-C0C4-83BA70C1D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2950" cy="45307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在由多模块构成的程序中，由于每个模块是单独编译的，因此，会导致一个模板的某个实例存在于多个模块的编译结果中：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相同的函数模板实例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相同的类模板成员函数实例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相同代码的存在会造成目标代码庞大！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AC2F05-94CC-0FA4-F854-760456C38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重复实例的处理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97BA6540-EF8E-6F23-84D5-7FF27D526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260350"/>
            <a:ext cx="9036050" cy="6264275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// file1.cpp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#include "file1.h"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void </a:t>
            </a:r>
            <a:r>
              <a:rPr lang="en-US" altLang="zh-CN" sz="2400" dirty="0" err="1"/>
              <a:t>func</a:t>
            </a:r>
            <a:r>
              <a:rPr lang="en-GB" altLang="zh-CN" sz="2400" dirty="0"/>
              <a:t>()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 S&lt;float&gt; x; //</a:t>
            </a:r>
            <a:r>
              <a:rPr lang="zh-CN" altLang="en-GB" sz="2400" dirty="0"/>
              <a:t>实例化</a:t>
            </a:r>
            <a:r>
              <a:rPr lang="zh-CN" altLang="en-GB" sz="2400" dirty="0">
                <a:latin typeface="Arial"/>
              </a:rPr>
              <a:t>“</a:t>
            </a:r>
            <a:r>
              <a:rPr lang="en-GB" altLang="zh-CN" sz="2400" dirty="0"/>
              <a:t>S&lt;float&gt;</a:t>
            </a:r>
            <a:r>
              <a:rPr lang="zh-CN" altLang="en-US" sz="2400" dirty="0"/>
              <a:t>”</a:t>
            </a:r>
            <a:r>
              <a:rPr lang="zh-CN" altLang="en-GB" sz="2400" dirty="0"/>
              <a:t>并创建该类的一个对象</a:t>
            </a:r>
            <a:r>
              <a:rPr lang="en-GB" altLang="zh-CN" sz="2400" dirty="0"/>
              <a:t>x</a:t>
            </a:r>
            <a:r>
              <a:rPr lang="zh-CN" altLang="en-GB" sz="2400" dirty="0"/>
              <a:t>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</a:t>
            </a:r>
            <a:r>
              <a:rPr lang="en-GB" altLang="zh-CN" sz="2400" dirty="0" err="1"/>
              <a:t>x.f</a:t>
            </a:r>
            <a:r>
              <a:rPr lang="en-GB" altLang="zh-CN" sz="2400" dirty="0"/>
              <a:t>(); //</a:t>
            </a:r>
            <a:r>
              <a:rPr lang="zh-CN" altLang="en-GB" sz="2400" dirty="0"/>
              <a:t>实例化</a:t>
            </a:r>
            <a:r>
              <a:rPr lang="zh-CN" altLang="en-US" sz="2400" dirty="0"/>
              <a:t>“</a:t>
            </a:r>
            <a:r>
              <a:rPr lang="en-GB" altLang="zh-CN" sz="2400" dirty="0">
                <a:solidFill>
                  <a:srgbClr val="FFC000"/>
                </a:solidFill>
              </a:rPr>
              <a:t>void S&lt;float&gt;::f()</a:t>
            </a:r>
            <a:r>
              <a:rPr lang="zh-CN" altLang="en-US" sz="2400" dirty="0"/>
              <a:t>”</a:t>
            </a:r>
            <a:r>
              <a:rPr lang="zh-CN" altLang="en-GB" sz="2400" dirty="0"/>
              <a:t>并调用之。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// file2.cpp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#include "file1.h"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int</a:t>
            </a:r>
            <a:r>
              <a:rPr lang="en-GB" altLang="zh-CN" sz="2400" dirty="0"/>
              <a:t> main()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 S&lt;float&gt; s1; //</a:t>
            </a:r>
            <a:r>
              <a:rPr lang="zh-CN" altLang="en-GB" sz="2400" dirty="0"/>
              <a:t>实例化</a:t>
            </a:r>
            <a:r>
              <a:rPr lang="zh-CN" altLang="en-GB" sz="2400" dirty="0">
                <a:latin typeface="Arial"/>
              </a:rPr>
              <a:t>“</a:t>
            </a:r>
            <a:r>
              <a:rPr lang="en-GB" altLang="zh-CN" sz="2400" dirty="0"/>
              <a:t>S&lt;float&gt;</a:t>
            </a:r>
            <a:r>
              <a:rPr lang="en-GB" altLang="zh-CN" sz="2400" dirty="0">
                <a:latin typeface="Arial"/>
              </a:rPr>
              <a:t>”</a:t>
            </a:r>
            <a:r>
              <a:rPr lang="zh-CN" altLang="en-GB" sz="2400" dirty="0"/>
              <a:t>并创建该类的一个对象</a:t>
            </a:r>
            <a:r>
              <a:rPr lang="en-GB" altLang="zh-CN" sz="2400" dirty="0"/>
              <a:t>s1</a:t>
            </a:r>
            <a:r>
              <a:rPr lang="zh-CN" altLang="en-GB" sz="2400" dirty="0"/>
              <a:t>。</a:t>
            </a:r>
            <a:endParaRPr lang="en-GB" altLang="zh-CN" sz="240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s1.f(); //</a:t>
            </a:r>
            <a:r>
              <a:rPr lang="zh-CN" altLang="en-GB" sz="2400" dirty="0"/>
              <a:t>实例化</a:t>
            </a:r>
            <a:r>
              <a:rPr lang="zh-CN" altLang="en-US" sz="2400" dirty="0"/>
              <a:t>“</a:t>
            </a:r>
            <a:r>
              <a:rPr lang="en-GB" altLang="zh-CN" sz="2400" dirty="0">
                <a:solidFill>
                  <a:srgbClr val="FFC000"/>
                </a:solidFill>
              </a:rPr>
              <a:t>void S&lt;float&gt;::f()</a:t>
            </a:r>
            <a:r>
              <a:rPr lang="zh-CN" altLang="en-US" sz="2400" dirty="0"/>
              <a:t>”</a:t>
            </a:r>
            <a:r>
              <a:rPr lang="zh-CN" altLang="en-GB" sz="2400" dirty="0"/>
              <a:t>并调用之。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S&lt;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&gt; s2; //</a:t>
            </a:r>
            <a:r>
              <a:rPr lang="zh-CN" altLang="en-GB" sz="2400" dirty="0"/>
              <a:t>实例化</a:t>
            </a:r>
            <a:r>
              <a:rPr lang="zh-CN" altLang="en-GB" sz="2400" dirty="0">
                <a:latin typeface="Arial"/>
              </a:rPr>
              <a:t>“</a:t>
            </a:r>
            <a:r>
              <a:rPr lang="en-GB" altLang="zh-CN" sz="2400" dirty="0"/>
              <a:t>S&lt;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&gt;</a:t>
            </a:r>
            <a:r>
              <a:rPr lang="zh-CN" altLang="en-US" sz="2400" dirty="0"/>
              <a:t>”</a:t>
            </a:r>
            <a:r>
              <a:rPr lang="zh-CN" altLang="en-GB" sz="2400" dirty="0"/>
              <a:t>并创建该类的一个对象</a:t>
            </a:r>
            <a:r>
              <a:rPr lang="en-GB" altLang="zh-CN" sz="2400" dirty="0"/>
              <a:t>s2</a:t>
            </a:r>
            <a:r>
              <a:rPr lang="zh-CN" altLang="en-GB" sz="2400" dirty="0"/>
              <a:t>。</a:t>
            </a:r>
            <a:r>
              <a:rPr lang="en-GB" altLang="zh-CN" sz="2400" dirty="0"/>
              <a:t>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s2.f(); //</a:t>
            </a:r>
            <a:r>
              <a:rPr lang="zh-CN" altLang="en-GB" sz="2400" dirty="0"/>
              <a:t>实例化</a:t>
            </a:r>
            <a:r>
              <a:rPr lang="zh-CN" altLang="en-US" sz="2400" dirty="0"/>
              <a:t>“</a:t>
            </a:r>
            <a:r>
              <a:rPr lang="en-GB" altLang="zh-CN" sz="2400" dirty="0"/>
              <a:t>void S&lt;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&gt;::f()</a:t>
            </a:r>
            <a:r>
              <a:rPr lang="zh-CN" altLang="en-US" sz="2400" dirty="0"/>
              <a:t>”</a:t>
            </a:r>
            <a:r>
              <a:rPr lang="zh-CN" altLang="en-GB" sz="2400" dirty="0"/>
              <a:t>并调用之。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</a:t>
            </a:r>
            <a:r>
              <a:rPr lang="en-US" altLang="zh-CN" sz="2400" dirty="0" err="1"/>
              <a:t>func</a:t>
            </a:r>
            <a:r>
              <a:rPr lang="en-GB" altLang="zh-CN" sz="2400" dirty="0"/>
              <a:t>();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return 0;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  <a:r>
              <a:rPr lang="en-US" altLang="zh-CN" sz="2400" dirty="0"/>
              <a:t>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GB" altLang="zh-CN" sz="2600" dirty="0">
                <a:solidFill>
                  <a:srgbClr val="FFC000"/>
                </a:solidFill>
              </a:rPr>
              <a:t>void S&lt;float&gt;::f()</a:t>
            </a:r>
            <a:r>
              <a:rPr lang="zh-CN" altLang="en-US" sz="2600" dirty="0"/>
              <a:t> 在两个模块（</a:t>
            </a:r>
            <a:r>
              <a:rPr lang="en-US" altLang="zh-CN" sz="2600" dirty="0"/>
              <a:t>file1.cpp</a:t>
            </a:r>
            <a:r>
              <a:rPr lang="zh-CN" altLang="en-US" sz="2600" dirty="0"/>
              <a:t>和</a:t>
            </a:r>
            <a:r>
              <a:rPr lang="en-US" altLang="zh-CN" sz="2600" dirty="0"/>
              <a:t>file2.cpp</a:t>
            </a:r>
            <a:r>
              <a:rPr lang="zh-CN" altLang="en-US" sz="2600" dirty="0"/>
              <a:t>）的编译结果中都存在！</a:t>
            </a:r>
            <a:endParaRPr lang="en-US" altLang="zh-CN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5B956013-6FD0-3345-830D-B55F032406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600200"/>
            <a:ext cx="8748713" cy="42052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如何处置这两个相同的实例？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由编译程序来解决：编译第二个模块的时候不生成这个实例。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由链接程序来解决：舍弃一个相同的实例。</a:t>
            </a:r>
            <a:endParaRPr lang="en-GB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03980C-B3E6-D7DF-9414-E452D32A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B9C44-B551-06D2-4E54-D768C9392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125538"/>
            <a:ext cx="8856662" cy="5111750"/>
          </a:xfrm>
        </p:spPr>
        <p:txBody>
          <a:bodyPr>
            <a:normAutofit fontScale="70000" lnSpcReduction="20000"/>
          </a:bodyPr>
          <a:lstStyle/>
          <a:p>
            <a:pPr marL="0" lvl="1" indent="0">
              <a:buFontTx/>
              <a:buNone/>
              <a:defRPr/>
            </a:pPr>
            <a:r>
              <a:rPr lang="en-US" altLang="zh-CN" dirty="0"/>
              <a:t>template &lt;class T&gt; //</a:t>
            </a:r>
            <a:r>
              <a:rPr lang="zh-CN" altLang="en-US" dirty="0"/>
              <a:t>类模板</a:t>
            </a:r>
            <a:r>
              <a:rPr lang="en-US" altLang="zh-CN" dirty="0"/>
              <a:t>A</a:t>
            </a:r>
            <a:r>
              <a:rPr lang="zh-CN" altLang="en-US" dirty="0"/>
              <a:t>的定义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class A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{ T </a:t>
            </a:r>
            <a:r>
              <a:rPr lang="en-US" altLang="zh-CN" dirty="0" err="1"/>
              <a:t>x,y</a:t>
            </a:r>
            <a:r>
              <a:rPr lang="en-US" altLang="zh-CN" dirty="0"/>
              <a:t>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  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  friend void 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(A&lt;T&gt;&amp; a); //f</a:t>
            </a:r>
            <a:r>
              <a:rPr lang="zh-CN" altLang="en-US" dirty="0"/>
              <a:t>是多个</a:t>
            </a:r>
            <a:r>
              <a:rPr lang="zh-CN" altLang="en-US" dirty="0">
                <a:solidFill>
                  <a:srgbClr val="FFC000"/>
                </a:solidFill>
              </a:rPr>
              <a:t>重载的函数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			     //</a:t>
            </a:r>
            <a:r>
              <a:rPr lang="zh-CN" altLang="en-US" dirty="0"/>
              <a:t>它们与</a:t>
            </a:r>
            <a:r>
              <a:rPr lang="en-US" altLang="zh-CN" dirty="0"/>
              <a:t>A</a:t>
            </a:r>
            <a:r>
              <a:rPr lang="zh-CN" altLang="en-US" dirty="0"/>
              <a:t>的实例是</a:t>
            </a:r>
            <a:r>
              <a:rPr lang="zh-CN" altLang="en-US" dirty="0">
                <a:solidFill>
                  <a:srgbClr val="FFC000"/>
                </a:solidFill>
              </a:rPr>
              <a:t>一对一</a:t>
            </a:r>
            <a:r>
              <a:rPr lang="zh-CN" altLang="en-US" dirty="0"/>
              <a:t>友元！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};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(A&lt;</a:t>
            </a:r>
            <a:r>
              <a:rPr lang="en-US" altLang="zh-CN" dirty="0" err="1"/>
              <a:t>int</a:t>
            </a:r>
            <a:r>
              <a:rPr lang="en-US" altLang="zh-CN" dirty="0"/>
              <a:t>&gt;&amp; a) { ...... } //</a:t>
            </a:r>
            <a:r>
              <a:rPr lang="zh-CN" altLang="en-US" dirty="0"/>
              <a:t>该</a:t>
            </a:r>
            <a:r>
              <a:rPr lang="en-US" altLang="zh-CN" dirty="0"/>
              <a:t>f</a:t>
            </a:r>
            <a:r>
              <a:rPr lang="zh-CN" altLang="en-US" dirty="0"/>
              <a:t>仅是</a:t>
            </a: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  <a:r>
              <a:rPr lang="zh-CN" altLang="en-US" dirty="0"/>
              <a:t>的友元，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(A&lt;double&gt;&amp; a) { ...... } //</a:t>
            </a:r>
            <a:r>
              <a:rPr lang="zh-CN" altLang="en-US" dirty="0"/>
              <a:t>该</a:t>
            </a:r>
            <a:r>
              <a:rPr lang="en-US" altLang="zh-CN" dirty="0"/>
              <a:t>f</a:t>
            </a:r>
            <a:r>
              <a:rPr lang="zh-CN" altLang="en-US" dirty="0"/>
              <a:t>仅是</a:t>
            </a:r>
            <a:r>
              <a:rPr lang="en-US" altLang="zh-CN" dirty="0"/>
              <a:t>A&lt;double&gt;</a:t>
            </a:r>
            <a:r>
              <a:rPr lang="zh-CN" altLang="en-US" dirty="0"/>
              <a:t>的友元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 a1;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实例化</a:t>
            </a: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A&lt;double&gt; a2; //</a:t>
            </a:r>
            <a:r>
              <a:rPr lang="zh-CN" altLang="en-US" dirty="0"/>
              <a:t>实例化</a:t>
            </a:r>
            <a:r>
              <a:rPr lang="en-US" altLang="zh-CN" dirty="0"/>
              <a:t>A&lt;double&gt;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A&lt;char *&gt; a3; //</a:t>
            </a:r>
            <a:r>
              <a:rPr lang="zh-CN" altLang="en-US" dirty="0"/>
              <a:t>实例化</a:t>
            </a:r>
            <a:r>
              <a:rPr lang="en-US" altLang="zh-CN" dirty="0"/>
              <a:t>A&lt;char *&gt;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(a1); //</a:t>
            </a:r>
            <a:r>
              <a:rPr lang="zh-CN" altLang="en-US" dirty="0"/>
              <a:t>调用</a:t>
            </a:r>
            <a:r>
              <a:rPr lang="en-US" altLang="zh-CN" sz="2900" dirty="0"/>
              <a:t>f(A&lt;</a:t>
            </a:r>
            <a:r>
              <a:rPr lang="en-US" altLang="zh-CN" sz="2900" dirty="0" err="1"/>
              <a:t>int</a:t>
            </a:r>
            <a:r>
              <a:rPr lang="en-US" altLang="zh-CN" sz="2900" dirty="0"/>
              <a:t>&gt;&amp;)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(a2); //</a:t>
            </a:r>
            <a:r>
              <a:rPr lang="zh-CN" altLang="en-US" dirty="0"/>
              <a:t>调用</a:t>
            </a:r>
            <a:r>
              <a:rPr lang="en-US" altLang="zh-CN" dirty="0"/>
              <a:t>f(A&lt;double&gt;&amp;)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(a3); //</a:t>
            </a:r>
            <a:r>
              <a:rPr lang="zh-CN" altLang="en-US" dirty="0"/>
              <a:t>调用</a:t>
            </a:r>
            <a:r>
              <a:rPr lang="en-US" altLang="zh-CN" dirty="0"/>
              <a:t>f(A&lt;char *&gt;&amp;)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C000"/>
                </a:solidFill>
              </a:rPr>
              <a:t>但连接时出错，该函数不存在！</a:t>
            </a:r>
            <a:endParaRPr lang="en-US" altLang="zh-CN" dirty="0">
              <a:solidFill>
                <a:srgbClr val="FFC000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4BB692B-8B44-41E1-74EA-5F48CCCB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588"/>
            <a:ext cx="8229600" cy="763587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类模板的友元函数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DA948-4175-FE21-475D-087B47C6E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125538"/>
            <a:ext cx="8856662" cy="5472112"/>
          </a:xfrm>
        </p:spPr>
        <p:txBody>
          <a:bodyPr>
            <a:normAutofit fontScale="70000" lnSpcReduction="20000"/>
          </a:bodyPr>
          <a:lstStyle/>
          <a:p>
            <a:pPr marL="0" lvl="1" indent="0">
              <a:buFontTx/>
              <a:buNone/>
              <a:defRPr/>
            </a:pPr>
            <a:r>
              <a:rPr lang="en-US" altLang="zh-CN" dirty="0"/>
              <a:t>template &lt;class T&gt; class A; //</a:t>
            </a:r>
            <a:r>
              <a:rPr lang="zh-CN" altLang="en-US" dirty="0"/>
              <a:t>类模板</a:t>
            </a:r>
            <a:r>
              <a:rPr lang="en-US" altLang="zh-CN" dirty="0"/>
              <a:t>A</a:t>
            </a:r>
            <a:r>
              <a:rPr lang="zh-CN" altLang="en-US" dirty="0"/>
              <a:t>的声明（</a:t>
            </a:r>
            <a:r>
              <a:rPr lang="en-US" altLang="zh-CN" dirty="0"/>
              <a:t>f</a:t>
            </a:r>
            <a:r>
              <a:rPr lang="zh-CN" altLang="en-US" dirty="0"/>
              <a:t>的定义中要用到）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sz="2900" dirty="0"/>
              <a:t>template &lt;class T&gt; void </a:t>
            </a:r>
            <a:r>
              <a:rPr lang="en-US" altLang="zh-CN" sz="2900" dirty="0">
                <a:solidFill>
                  <a:srgbClr val="FFC000"/>
                </a:solidFill>
              </a:rPr>
              <a:t>f</a:t>
            </a:r>
            <a:r>
              <a:rPr lang="en-US" altLang="zh-CN" sz="2900" dirty="0"/>
              <a:t>(A&lt;T&gt;&amp; a) { ...... }</a:t>
            </a:r>
            <a:r>
              <a:rPr lang="en-US" altLang="zh-CN" dirty="0"/>
              <a:t> //f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C000"/>
                </a:solidFill>
              </a:rPr>
              <a:t>函数模板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lvl="1" indent="0">
              <a:buFontTx/>
              <a:buNone/>
              <a:defRPr/>
            </a:pP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template &lt;class T&gt; //</a:t>
            </a:r>
            <a:r>
              <a:rPr lang="zh-CN" altLang="en-US" dirty="0"/>
              <a:t>类模板</a:t>
            </a:r>
            <a:r>
              <a:rPr lang="en-US" altLang="zh-CN" dirty="0"/>
              <a:t>A</a:t>
            </a:r>
            <a:r>
              <a:rPr lang="zh-CN" altLang="en-US" dirty="0"/>
              <a:t>的定义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class A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{ T </a:t>
            </a:r>
            <a:r>
              <a:rPr lang="en-US" altLang="zh-CN" dirty="0" err="1"/>
              <a:t>x,y</a:t>
            </a:r>
            <a:r>
              <a:rPr lang="en-US" altLang="zh-CN" dirty="0"/>
              <a:t>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  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  friend void 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&lt;T&gt;(A&lt;T&gt;&amp; a); //</a:t>
            </a:r>
            <a:r>
              <a:rPr lang="zh-CN" altLang="en-US" dirty="0"/>
              <a:t>模板</a:t>
            </a:r>
            <a:r>
              <a:rPr lang="en-US" altLang="zh-CN" dirty="0"/>
              <a:t>f</a:t>
            </a:r>
            <a:r>
              <a:rPr lang="zh-CN" altLang="en-US" dirty="0"/>
              <a:t>的实例是友元，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				  //f</a:t>
            </a:r>
            <a:r>
              <a:rPr lang="zh-CN" altLang="en-US" dirty="0"/>
              <a:t>的实例与</a:t>
            </a:r>
            <a:r>
              <a:rPr lang="en-US" altLang="zh-CN" dirty="0"/>
              <a:t>A</a:t>
            </a:r>
            <a:r>
              <a:rPr lang="zh-CN" altLang="en-US" dirty="0"/>
              <a:t>的实例是</a:t>
            </a:r>
            <a:r>
              <a:rPr lang="zh-CN" altLang="en-US" dirty="0">
                <a:solidFill>
                  <a:srgbClr val="FFC000"/>
                </a:solidFill>
              </a:rPr>
              <a:t>一对一</a:t>
            </a:r>
            <a:r>
              <a:rPr lang="zh-CN" altLang="en-US" dirty="0"/>
              <a:t>友元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};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 a1;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实例化</a:t>
            </a: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A&lt;double&gt; a2; //</a:t>
            </a:r>
            <a:r>
              <a:rPr lang="zh-CN" altLang="en-US" dirty="0"/>
              <a:t>实例化</a:t>
            </a:r>
            <a:r>
              <a:rPr lang="en-US" altLang="zh-CN" dirty="0"/>
              <a:t>A&lt;double&gt;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A&lt;char *&gt; a3; //</a:t>
            </a:r>
            <a:r>
              <a:rPr lang="zh-CN" altLang="en-US" dirty="0"/>
              <a:t>实例化</a:t>
            </a:r>
            <a:r>
              <a:rPr lang="en-US" altLang="zh-CN" dirty="0"/>
              <a:t>A&lt;char *&gt;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(a1); //</a:t>
            </a:r>
            <a:r>
              <a:rPr lang="zh-CN" altLang="en-US" dirty="0"/>
              <a:t>实例化</a:t>
            </a:r>
            <a:r>
              <a:rPr lang="en-US" altLang="zh-CN" dirty="0"/>
              <a:t>f&lt;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  <a:r>
              <a:rPr lang="zh-CN" altLang="en-US" dirty="0"/>
              <a:t>并调用之，它仅是</a:t>
            </a: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  <a:r>
              <a:rPr lang="zh-CN" altLang="en-US" dirty="0"/>
              <a:t>的友元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sz="2900" dirty="0">
                <a:solidFill>
                  <a:srgbClr val="FFC000"/>
                </a:solidFill>
              </a:rPr>
              <a:t>f</a:t>
            </a:r>
            <a:r>
              <a:rPr lang="en-US" altLang="zh-CN" sz="2900" dirty="0"/>
              <a:t>(a2);</a:t>
            </a:r>
            <a:r>
              <a:rPr lang="en-US" altLang="zh-CN" dirty="0"/>
              <a:t> //</a:t>
            </a:r>
            <a:r>
              <a:rPr lang="zh-CN" altLang="en-US" dirty="0"/>
              <a:t>实例化</a:t>
            </a:r>
            <a:r>
              <a:rPr lang="en-US" altLang="zh-CN" dirty="0"/>
              <a:t>f&lt;double&gt;</a:t>
            </a:r>
            <a:r>
              <a:rPr lang="zh-CN" altLang="en-US" dirty="0"/>
              <a:t>并调用之，它仅是</a:t>
            </a:r>
            <a:r>
              <a:rPr lang="en-US" altLang="zh-CN" dirty="0"/>
              <a:t>A&lt;double&gt;</a:t>
            </a:r>
            <a:r>
              <a:rPr lang="zh-CN" altLang="en-US" dirty="0"/>
              <a:t>的友元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(a3); //</a:t>
            </a:r>
            <a:r>
              <a:rPr lang="zh-CN" altLang="en-US" dirty="0"/>
              <a:t>实例化</a:t>
            </a:r>
            <a:r>
              <a:rPr lang="en-US" altLang="zh-CN" dirty="0"/>
              <a:t>f&lt;char *&gt;</a:t>
            </a:r>
            <a:r>
              <a:rPr lang="zh-CN" altLang="en-US" dirty="0"/>
              <a:t>并调用之，它仅是</a:t>
            </a:r>
            <a:r>
              <a:rPr lang="en-US" altLang="zh-CN" dirty="0"/>
              <a:t>A&lt;char *&gt;</a:t>
            </a:r>
            <a:r>
              <a:rPr lang="zh-CN" altLang="en-US" dirty="0"/>
              <a:t>的友元</a:t>
            </a:r>
            <a:endParaRPr lang="en-US" altLang="zh-CN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2BC5E1C-CDCA-3C26-22EC-94379CDE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588"/>
            <a:ext cx="8229600" cy="763587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类模板的友元函数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563E22-D49A-7380-7ECD-48CA9F727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125538"/>
            <a:ext cx="8856662" cy="5543550"/>
          </a:xfrm>
        </p:spPr>
        <p:txBody>
          <a:bodyPr>
            <a:normAutofit fontScale="70000" lnSpcReduction="20000"/>
          </a:bodyPr>
          <a:lstStyle/>
          <a:p>
            <a:pPr marL="0" lvl="1" indent="0">
              <a:buFontTx/>
              <a:buNone/>
              <a:defRPr/>
            </a:pPr>
            <a:r>
              <a:rPr lang="en-US" altLang="zh-CN" dirty="0"/>
              <a:t>template &lt;class T&gt; class A; //</a:t>
            </a:r>
            <a:r>
              <a:rPr lang="zh-CN" altLang="en-US" dirty="0"/>
              <a:t>类模板</a:t>
            </a:r>
            <a:r>
              <a:rPr lang="en-US" altLang="zh-CN" dirty="0"/>
              <a:t>A</a:t>
            </a:r>
            <a:r>
              <a:rPr lang="zh-CN" altLang="en-US" dirty="0"/>
              <a:t>的声明（</a:t>
            </a:r>
            <a:r>
              <a:rPr lang="en-US" altLang="zh-CN" dirty="0"/>
              <a:t>f</a:t>
            </a:r>
            <a:r>
              <a:rPr lang="zh-CN" altLang="en-US" dirty="0"/>
              <a:t>的定义中要用到）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sz="2900" dirty="0"/>
              <a:t>template &lt;class T&gt; void </a:t>
            </a:r>
            <a:r>
              <a:rPr lang="en-US" altLang="zh-CN" sz="2900" dirty="0">
                <a:solidFill>
                  <a:srgbClr val="FFC000"/>
                </a:solidFill>
              </a:rPr>
              <a:t>f</a:t>
            </a:r>
            <a:r>
              <a:rPr lang="en-US" altLang="zh-CN" sz="2900" dirty="0"/>
              <a:t>(A&lt;T&gt;&amp; a) { ...... }</a:t>
            </a:r>
            <a:r>
              <a:rPr lang="en-US" altLang="zh-CN" dirty="0"/>
              <a:t> //f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C000"/>
                </a:solidFill>
              </a:rPr>
              <a:t>函数模板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lvl="1" indent="0">
              <a:buFontTx/>
              <a:buNone/>
              <a:defRPr/>
            </a:pP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template &lt;class T&gt; //</a:t>
            </a:r>
            <a:r>
              <a:rPr lang="zh-CN" altLang="en-US" dirty="0"/>
              <a:t>类模板</a:t>
            </a:r>
            <a:r>
              <a:rPr lang="en-US" altLang="zh-CN" dirty="0"/>
              <a:t>A</a:t>
            </a:r>
            <a:r>
              <a:rPr lang="zh-CN" altLang="en-US" dirty="0"/>
              <a:t>的定义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class A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{ T </a:t>
            </a:r>
            <a:r>
              <a:rPr lang="en-US" altLang="zh-CN" dirty="0" err="1"/>
              <a:t>x,y</a:t>
            </a:r>
            <a:r>
              <a:rPr lang="en-US" altLang="zh-CN" dirty="0"/>
              <a:t>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  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  template &lt;class T1&gt; </a:t>
            </a:r>
            <a:r>
              <a:rPr lang="en-US" altLang="zh-CN" dirty="0">
                <a:solidFill>
                  <a:srgbClr val="00B050"/>
                </a:solidFill>
              </a:rPr>
              <a:t>friend</a:t>
            </a:r>
            <a:r>
              <a:rPr lang="en-US" altLang="zh-CN" dirty="0"/>
              <a:t> void 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(A&lt;T1&gt;&amp; a); //</a:t>
            </a:r>
            <a:r>
              <a:rPr lang="zh-CN" altLang="en-US" dirty="0"/>
              <a:t>整个模板</a:t>
            </a:r>
            <a:r>
              <a:rPr lang="en-US" altLang="zh-CN" dirty="0"/>
              <a:t>f</a:t>
            </a:r>
            <a:r>
              <a:rPr lang="zh-CN" altLang="en-US" dirty="0"/>
              <a:t>是友元，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					//f</a:t>
            </a:r>
            <a:r>
              <a:rPr lang="zh-CN" altLang="en-US" dirty="0"/>
              <a:t>的实例与</a:t>
            </a:r>
            <a:r>
              <a:rPr lang="en-US" altLang="zh-CN" dirty="0"/>
              <a:t>A</a:t>
            </a:r>
            <a:r>
              <a:rPr lang="zh-CN" altLang="en-US" dirty="0"/>
              <a:t>的实例是</a:t>
            </a:r>
            <a:r>
              <a:rPr lang="zh-CN" altLang="en-US" dirty="0">
                <a:solidFill>
                  <a:srgbClr val="FFC000"/>
                </a:solidFill>
              </a:rPr>
              <a:t>多对多</a:t>
            </a:r>
            <a:r>
              <a:rPr lang="zh-CN" altLang="en-US" dirty="0"/>
              <a:t>友元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};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 a1;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实例化</a:t>
            </a:r>
            <a:r>
              <a:rPr lang="en-US" altLang="zh-CN" dirty="0"/>
              <a:t>A&lt;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A&lt;double&gt; a2; //</a:t>
            </a:r>
            <a:r>
              <a:rPr lang="zh-CN" altLang="en-US" dirty="0"/>
              <a:t>实例化</a:t>
            </a:r>
            <a:r>
              <a:rPr lang="en-US" altLang="zh-CN" dirty="0"/>
              <a:t>A&lt;double&gt;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/>
              <a:t>A&lt;char *&gt; a3; //</a:t>
            </a:r>
            <a:r>
              <a:rPr lang="zh-CN" altLang="en-US" dirty="0"/>
              <a:t>实例化</a:t>
            </a:r>
            <a:r>
              <a:rPr lang="en-US" altLang="zh-CN" dirty="0"/>
              <a:t>A&lt;char *&gt;</a:t>
            </a:r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(a1); //</a:t>
            </a:r>
            <a:r>
              <a:rPr lang="zh-CN" altLang="en-US" dirty="0"/>
              <a:t>实例化</a:t>
            </a:r>
            <a:r>
              <a:rPr lang="en-US" altLang="zh-CN" dirty="0"/>
              <a:t>f&lt;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  <a:r>
              <a:rPr lang="zh-CN" altLang="en-US" dirty="0"/>
              <a:t>并调用之，它是</a:t>
            </a:r>
            <a:r>
              <a:rPr lang="en-US" altLang="zh-CN" dirty="0"/>
              <a:t>A</a:t>
            </a:r>
            <a:r>
              <a:rPr lang="zh-CN" altLang="en-US" dirty="0"/>
              <a:t>所有实例的友元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(a2); //</a:t>
            </a:r>
            <a:r>
              <a:rPr lang="zh-CN" altLang="en-US" dirty="0"/>
              <a:t>实例化</a:t>
            </a:r>
            <a:r>
              <a:rPr lang="en-US" altLang="zh-CN" dirty="0"/>
              <a:t>f&lt;double&gt;</a:t>
            </a:r>
            <a:r>
              <a:rPr lang="zh-CN" altLang="en-US" dirty="0"/>
              <a:t>并调用之，它是</a:t>
            </a:r>
            <a:r>
              <a:rPr lang="en-US" altLang="zh-CN" dirty="0"/>
              <a:t>A</a:t>
            </a:r>
            <a:r>
              <a:rPr lang="zh-CN" altLang="en-US" dirty="0"/>
              <a:t>所有实例的友元</a:t>
            </a:r>
            <a:endParaRPr lang="en-US" altLang="zh-CN" dirty="0"/>
          </a:p>
          <a:p>
            <a:pPr marL="0" lvl="1" indent="0"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(a3); //</a:t>
            </a:r>
            <a:r>
              <a:rPr lang="zh-CN" altLang="en-US" dirty="0"/>
              <a:t>实例化</a:t>
            </a:r>
            <a:r>
              <a:rPr lang="en-US" altLang="zh-CN" dirty="0"/>
              <a:t>f&lt;char *&gt;</a:t>
            </a:r>
            <a:r>
              <a:rPr lang="zh-CN" altLang="en-US" dirty="0"/>
              <a:t>并调用之，它是</a:t>
            </a:r>
            <a:r>
              <a:rPr lang="en-US" altLang="zh-CN" dirty="0"/>
              <a:t>A</a:t>
            </a:r>
            <a:r>
              <a:rPr lang="zh-CN" altLang="en-US" dirty="0"/>
              <a:t>所有实例的友元</a:t>
            </a:r>
            <a:endParaRPr lang="en-US" altLang="zh-CN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E9B9D75-2CFB-2F8C-D476-57902FAD5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588"/>
            <a:ext cx="8229600" cy="763587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类模板的友元函数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Globe 9">
    <a:dk1>
      <a:srgbClr val="003B76"/>
    </a:dk1>
    <a:lt1>
      <a:srgbClr val="FFFFFF"/>
    </a:lt1>
    <a:dk2>
      <a:srgbClr val="0066CC"/>
    </a:dk2>
    <a:lt2>
      <a:srgbClr val="FFFF00"/>
    </a:lt2>
    <a:accent1>
      <a:srgbClr val="33CCCC"/>
    </a:accent1>
    <a:accent2>
      <a:srgbClr val="66CCFF"/>
    </a:accent2>
    <a:accent3>
      <a:srgbClr val="AAB8E2"/>
    </a:accent3>
    <a:accent4>
      <a:srgbClr val="DADADA"/>
    </a:accent4>
    <a:accent5>
      <a:srgbClr val="ADE2E2"/>
    </a:accent5>
    <a:accent6>
      <a:srgbClr val="5CB9E7"/>
    </a:accent6>
    <a:hlink>
      <a:srgbClr val="FFFFCC"/>
    </a:hlink>
    <a:folHlink>
      <a:srgbClr val="FFCC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11426</TotalTime>
  <Words>3986</Words>
  <Application>Microsoft Office PowerPoint</Application>
  <PresentationFormat>全屏显示(4:3)</PresentationFormat>
  <Paragraphs>442</Paragraphs>
  <Slides>36</Slides>
  <Notes>0</Notes>
  <HiddenSlides>5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Verdana</vt:lpstr>
      <vt:lpstr>宋体</vt:lpstr>
      <vt:lpstr>Arial</vt:lpstr>
      <vt:lpstr>Wingdings</vt:lpstr>
      <vt:lpstr>Calibri</vt:lpstr>
      <vt:lpstr>Globe</vt:lpstr>
      <vt:lpstr>泛型（类属）程序设计</vt:lpstr>
      <vt:lpstr>主要内容</vt:lpstr>
      <vt:lpstr>应用场景</vt:lpstr>
      <vt:lpstr>PowerPoint 演示文稿</vt:lpstr>
      <vt:lpstr>目标</vt:lpstr>
      <vt:lpstr>泛型（类属）</vt:lpstr>
      <vt:lpstr>类属函数</vt:lpstr>
      <vt:lpstr>用通用指针参数实现类属排序函数</vt:lpstr>
      <vt:lpstr>PowerPoint 演示文稿</vt:lpstr>
      <vt:lpstr>PowerPoint 演示文稿</vt:lpstr>
      <vt:lpstr>PowerPoint 演示文稿</vt:lpstr>
      <vt:lpstr>面临的问题</vt:lpstr>
      <vt:lpstr>函数模板</vt:lpstr>
      <vt:lpstr>用函数模板实现类属排序函数</vt:lpstr>
      <vt:lpstr>PowerPoint 演示文稿</vt:lpstr>
      <vt:lpstr>函数模板的实例化</vt:lpstr>
      <vt:lpstr>PowerPoint 演示文稿</vt:lpstr>
      <vt:lpstr>PowerPoint 演示文稿</vt:lpstr>
      <vt:lpstr>PowerPoint 演示文稿</vt:lpstr>
      <vt:lpstr>带非类型参数的函数模板</vt:lpstr>
      <vt:lpstr>类模板</vt:lpstr>
      <vt:lpstr>PowerPoint 演示文稿</vt:lpstr>
      <vt:lpstr>类模板的实例化</vt:lpstr>
      <vt:lpstr>PowerPoint 演示文稿</vt:lpstr>
      <vt:lpstr>带非类型参数的类模板</vt:lpstr>
      <vt:lpstr>模板的复用</vt:lpstr>
      <vt:lpstr>PowerPoint 演示文稿</vt:lpstr>
      <vt:lpstr>PowerPoint 演示文稿</vt:lpstr>
      <vt:lpstr>PowerPoint 演示文稿</vt:lpstr>
      <vt:lpstr>PowerPoint 演示文稿</vt:lpstr>
      <vt:lpstr>重复实例的处理</vt:lpstr>
      <vt:lpstr>PowerPoint 演示文稿</vt:lpstr>
      <vt:lpstr>PowerPoint 演示文稿</vt:lpstr>
      <vt:lpstr>类模板的友元函数</vt:lpstr>
      <vt:lpstr>类模板的友元函数</vt:lpstr>
      <vt:lpstr>类模板的友元函数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类属机制－－模板</dc:title>
  <dc:creator>chenjiajun</dc:creator>
  <cp:lastModifiedBy>润泽 颜</cp:lastModifiedBy>
  <cp:revision>484</cp:revision>
  <dcterms:created xsi:type="dcterms:W3CDTF">2005-01-05T08:01:58Z</dcterms:created>
  <dcterms:modified xsi:type="dcterms:W3CDTF">2026-06-18T00:20:47Z</dcterms:modified>
</cp:coreProperties>
</file>