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573" r:id="rId2"/>
    <p:sldId id="615" r:id="rId3"/>
    <p:sldId id="616" r:id="rId4"/>
    <p:sldId id="617" r:id="rId5"/>
    <p:sldId id="618" r:id="rId6"/>
    <p:sldId id="619" r:id="rId7"/>
    <p:sldId id="620" r:id="rId8"/>
    <p:sldId id="621" r:id="rId9"/>
    <p:sldId id="622" r:id="rId10"/>
    <p:sldId id="695" r:id="rId11"/>
    <p:sldId id="696" r:id="rId12"/>
    <p:sldId id="697" r:id="rId13"/>
    <p:sldId id="698" r:id="rId14"/>
    <p:sldId id="699" r:id="rId15"/>
    <p:sldId id="635" r:id="rId16"/>
    <p:sldId id="702" r:id="rId17"/>
    <p:sldId id="701" r:id="rId18"/>
    <p:sldId id="636" r:id="rId19"/>
    <p:sldId id="637" r:id="rId20"/>
    <p:sldId id="700" r:id="rId21"/>
    <p:sldId id="654" r:id="rId22"/>
    <p:sldId id="655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 autoAdjust="0"/>
    <p:restoredTop sz="94719" autoAdjust="0"/>
  </p:normalViewPr>
  <p:slideViewPr>
    <p:cSldViewPr>
      <p:cViewPr varScale="1">
        <p:scale>
          <a:sx n="163" d="100"/>
          <a:sy n="163" d="100"/>
        </p:scale>
        <p:origin x="429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173" y="14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F03773E-BD49-1F5A-4245-B0052F47ED7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11D0A6-51BF-9F0A-0931-B0EB4EBCD99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FF68BC-0F6A-EB49-1462-15E53261CF57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5BB7528-75B0-1CED-00C6-BA1FFF0EEA0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59D77B2-9A91-B4D4-A17A-8A7EF73476D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07D37DAA-BCB7-7DA2-4923-14C05C764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0EEDE00-0AF2-4369-B96A-8AB37B34A5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90FFC8-F058-BA61-F25D-8C10228D341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A26B71-73C7-160C-BDB1-28777850F6E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2C84DBD-953D-241E-9341-09EEDA59EE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FA7FB2E-1FF2-D8E3-3DF2-04E0BB9EC3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C164005-02EE-1A45-A9B5-24FC8B489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2DC9F95B-5417-0B0C-7A61-40B2CA3E30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003222C5-9B63-FFBF-678B-8D782D47334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4036702A-C32B-29A8-6B1E-0DC474CFD4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124B30F8-D111-BA28-15C0-D01E356A07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81D17A10-3A07-1265-20ED-3277875C191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79BBD8AB-7D85-6EAC-139A-DF4E55EF1F6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9588A9F6-248A-A5C5-BB20-B187A353C81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6F89E3D3-251A-8540-79A0-18CC5FFB46C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E4EDFD3E-5774-AE8A-7787-160D0B1148E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AA5C7F4B-DC7F-F934-66BE-A33E9D72660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E57EBDDA-5AED-92FA-9897-D8B625561E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84229652-0238-A3E4-9BBC-168C4FFB332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D0F5E639-490E-5026-31F7-DDFF3C17FD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45139E63-C351-C6CE-DE02-300C4C70AF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12B457D8-8B29-4351-1CE4-5C8E3945FF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C288136C-2E5F-793F-8F77-E1A9C486ED9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E1CEA59E-7F0E-1ADD-CC9D-8316D62031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09 w 717"/>
                <a:gd name="T1" fmla="*/ 845 h 845"/>
                <a:gd name="T2" fmla="*/ 909 w 717"/>
                <a:gd name="T3" fmla="*/ 821 h 845"/>
                <a:gd name="T4" fmla="*/ 762 w 717"/>
                <a:gd name="T5" fmla="*/ 605 h 845"/>
                <a:gd name="T6" fmla="*/ 500 w 717"/>
                <a:gd name="T7" fmla="*/ 396 h 845"/>
                <a:gd name="T8" fmla="*/ 31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03 w 717"/>
                <a:gd name="T15" fmla="*/ 198 h 845"/>
                <a:gd name="T16" fmla="*/ 494 w 717"/>
                <a:gd name="T17" fmla="*/ 408 h 845"/>
                <a:gd name="T18" fmla="*/ 756 w 717"/>
                <a:gd name="T19" fmla="*/ 623 h 845"/>
                <a:gd name="T20" fmla="*/ 909 w 717"/>
                <a:gd name="T21" fmla="*/ 845 h 845"/>
                <a:gd name="T22" fmla="*/ 90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C7DDD1F4-8819-1376-2A2F-ECACFF1701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01 w 407"/>
                <a:gd name="T1" fmla="*/ 414 h 414"/>
                <a:gd name="T2" fmla="*/ 501 w 407"/>
                <a:gd name="T3" fmla="*/ 396 h 414"/>
                <a:gd name="T4" fmla="*/ 31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10 w 407"/>
                <a:gd name="T13" fmla="*/ 204 h 414"/>
                <a:gd name="T14" fmla="*/ 501 w 407"/>
                <a:gd name="T15" fmla="*/ 414 h 414"/>
                <a:gd name="T16" fmla="*/ 50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7A64081D-663F-DC5E-6A90-FD6F3B8A569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BFF8A270-5DD4-1B31-225B-EA88C16010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94 w 586"/>
                <a:gd name="T1" fmla="*/ 0 h 599"/>
                <a:gd name="T2" fmla="*/ 767 w 586"/>
                <a:gd name="T3" fmla="*/ 0 h 599"/>
                <a:gd name="T4" fmla="*/ 562 w 586"/>
                <a:gd name="T5" fmla="*/ 132 h 599"/>
                <a:gd name="T6" fmla="*/ 35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51 w 586"/>
                <a:gd name="T17" fmla="*/ 282 h 599"/>
                <a:gd name="T18" fmla="*/ 574 w 586"/>
                <a:gd name="T19" fmla="*/ 138 h 599"/>
                <a:gd name="T20" fmla="*/ 794 w 586"/>
                <a:gd name="T21" fmla="*/ 0 h 599"/>
                <a:gd name="T22" fmla="*/ 79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854475C4-EA9B-721E-6FFF-ACA3CE852C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63 w 269"/>
                <a:gd name="T1" fmla="*/ 0 h 252"/>
                <a:gd name="T2" fmla="*/ 34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63 w 269"/>
                <a:gd name="T15" fmla="*/ 0 h 252"/>
                <a:gd name="T16" fmla="*/ 36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A403F01A-8562-83CD-B709-0FAFF5BBAD0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C72F7ECE-3258-BE81-937A-EC7C1007C3F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E5A57AF6-C72A-34BA-1EC5-860A586E2E3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3C89FD41-8293-9F02-713D-1A0D154E6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DF5D5D5B-C163-47CC-7D9E-9E9F21D5EDF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494ED837-1314-D42C-73CE-ED7E8180ADC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E2F70048-C946-1633-8943-0EA1FC3A200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A025BC31-6577-C284-4EFF-D938B5FF90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39C65675-2E14-45ED-36A8-ADE92AE01FD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91FF7606-46B5-6D88-AB66-BB0A5C0FD8D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B86EABF4-AA10-F6FB-96C1-259BDA825C6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42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042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B3265619-41A0-64E0-A4B9-4C53D26A104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89558EA6-7865-CB00-27FD-680B93682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D119D717-22AB-F093-63CD-26819FF7CA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F2CD1-9126-41B1-A18D-D08CA4CFD6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71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1ACA8E9-4DE9-7C0B-2EF3-C605241B41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456F8FF-12B3-2870-F77A-FC27014092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EEAA980D-3E82-0C3B-DFC2-EEA63642AE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EA7F6-67CA-4EAC-B5C6-408A0F55A3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79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8BA45C12-F4F1-2FA2-56B4-1C854FFCD3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48A01971-4432-2C76-C379-A07BE22223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7DC1FDBD-F8BA-D94A-259A-7CBD18166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F11FC-73CD-44F7-B9F3-8B756C8122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75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5CB6BFD-C3AF-BFDA-EDC2-2CF2F695F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52770886-0DE1-6F34-26C5-71C7DF63A4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E3805D76-872E-8761-4F9E-C08169D423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B93EE9-0307-4D44-AD86-1C7587DECD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56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2435FAE2-3BFE-CFCC-B727-681A71507B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03E32453-1037-67A9-82B1-270A502378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B5F4E913-7657-5372-59D5-2D606F390D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11EFE1-F2D7-48D7-92A5-817C382BD3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05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3731B483-1981-7224-15C4-F5F58F76F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709122E9-0A31-3B74-CD20-293619D2E1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9242137A-95B3-682F-E93F-34C9C39EB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9B3BA-F503-425B-8A44-8DF77B802F6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778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D499896C-E126-30A1-F28C-0ED6D5B78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5626D0C7-0AE9-C5F8-00A7-A4EE8A6EC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038F6316-5F54-4BD9-77CB-9DB0E2C3D8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FEAAEF-8C90-448E-8562-BF1AC26EE1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31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2CD107F-EDE2-B34D-12E8-E4E1087502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F53B80A7-C7EA-1074-ADE1-FD62FE1DE7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D69D1A5B-4668-A100-A858-65E25F139E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8F586-7387-428B-A81B-4F445E779F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92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39AFA89-4C2A-9FA3-D51F-4A8709A952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68B16710-F6BE-CC48-47EB-BEDEB7245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EDD34BA2-D9A7-9157-1E59-4DF730339D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E43C08-CF96-4F6E-B637-2054745064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323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C9588AC-5DE8-8B4F-B3FE-5DD6A0AA29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95E8E5F-85E1-4AEE-A3D1-203780B42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56991D8F-17AB-A7D0-58EE-089B6912E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A9340-934F-41AD-967C-2E8051AC569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22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D3F481F3-6D0F-D7F0-A29C-BEF156A123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D86F2662-A8D1-C393-8D8D-F037E022F3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61CD38C7-C371-68C9-6C89-DB36D5CCDC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85CC0D-91C0-4109-BE0F-954A74C7C0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799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35106E5-D297-B07E-A8F3-D3D692AC4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38E0E313-D31A-D1EB-1F33-2E80CF2BAD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10CF188-1380-1191-5294-76908F0BF0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E30DCE-3FB5-42C2-B1AA-23B19FA672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37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63E2B70B-24C0-DD5A-F802-ECA83E6F64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068E609F-71C5-2955-39AF-63AD39444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EAEFDA8B-2B94-869D-469E-64D6099F23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27CE3-A03D-4F27-9093-BE2CA43454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589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D59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5446C3C-1E3C-EDCD-E2E8-43FA8B5CDC97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63" name="Freeform 3">
              <a:extLst>
                <a:ext uri="{FF2B5EF4-FFF2-40B4-BE49-F238E27FC236}">
                  <a16:creationId xmlns:a16="http://schemas.microsoft.com/office/drawing/2014/main" id="{F2E5B24D-D1DD-D560-B94A-8F287E9993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4" name="Freeform 4">
              <a:extLst>
                <a:ext uri="{FF2B5EF4-FFF2-40B4-BE49-F238E27FC236}">
                  <a16:creationId xmlns:a16="http://schemas.microsoft.com/office/drawing/2014/main" id="{79EFB067-55CC-1399-62BB-7D9CFFA89C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65" name="Freeform 5">
              <a:extLst>
                <a:ext uri="{FF2B5EF4-FFF2-40B4-BE49-F238E27FC236}">
                  <a16:creationId xmlns:a16="http://schemas.microsoft.com/office/drawing/2014/main" id="{8C987123-23EC-624C-60FD-DA34F33CB0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F88581DE-D8BB-9475-DE23-4F6E2CE19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367" name="Freeform 7">
                <a:extLst>
                  <a:ext uri="{FF2B5EF4-FFF2-40B4-BE49-F238E27FC236}">
                    <a16:creationId xmlns:a16="http://schemas.microsoft.com/office/drawing/2014/main" id="{BC4C27AD-50AB-C870-D594-43A96FA3DAF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8" name="Freeform 8">
                <a:extLst>
                  <a:ext uri="{FF2B5EF4-FFF2-40B4-BE49-F238E27FC236}">
                    <a16:creationId xmlns:a16="http://schemas.microsoft.com/office/drawing/2014/main" id="{8C0CB62C-9017-8F21-0BEB-8E5931DE18F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69" name="Freeform 9">
                <a:extLst>
                  <a:ext uri="{FF2B5EF4-FFF2-40B4-BE49-F238E27FC236}">
                    <a16:creationId xmlns:a16="http://schemas.microsoft.com/office/drawing/2014/main" id="{5BFF0F63-76D6-C86E-5189-78EFCBF8931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0" name="Freeform 10">
                <a:extLst>
                  <a:ext uri="{FF2B5EF4-FFF2-40B4-BE49-F238E27FC236}">
                    <a16:creationId xmlns:a16="http://schemas.microsoft.com/office/drawing/2014/main" id="{13C1167B-A382-1147-A6B8-75140D95F15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1" name="Freeform 11">
                <a:extLst>
                  <a:ext uri="{FF2B5EF4-FFF2-40B4-BE49-F238E27FC236}">
                    <a16:creationId xmlns:a16="http://schemas.microsoft.com/office/drawing/2014/main" id="{BF5ADB56-1CD9-5CFB-ABE9-3A228ADDD04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2" name="Freeform 12">
                <a:extLst>
                  <a:ext uri="{FF2B5EF4-FFF2-40B4-BE49-F238E27FC236}">
                    <a16:creationId xmlns:a16="http://schemas.microsoft.com/office/drawing/2014/main" id="{4B17FE45-190E-9F33-443A-464147D42E2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3" name="Freeform 13">
                <a:extLst>
                  <a:ext uri="{FF2B5EF4-FFF2-40B4-BE49-F238E27FC236}">
                    <a16:creationId xmlns:a16="http://schemas.microsoft.com/office/drawing/2014/main" id="{4AACA41B-4A18-69E4-8AB7-FBB755D390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4" name="Freeform 14">
                <a:extLst>
                  <a:ext uri="{FF2B5EF4-FFF2-40B4-BE49-F238E27FC236}">
                    <a16:creationId xmlns:a16="http://schemas.microsoft.com/office/drawing/2014/main" id="{413478BA-88F0-C339-49C3-DCB4EEA7186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5" name="Freeform 15">
                <a:extLst>
                  <a:ext uri="{FF2B5EF4-FFF2-40B4-BE49-F238E27FC236}">
                    <a16:creationId xmlns:a16="http://schemas.microsoft.com/office/drawing/2014/main" id="{393F502D-C2AC-9168-26B8-65B281598D2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6" name="Freeform 16">
                <a:extLst>
                  <a:ext uri="{FF2B5EF4-FFF2-40B4-BE49-F238E27FC236}">
                    <a16:creationId xmlns:a16="http://schemas.microsoft.com/office/drawing/2014/main" id="{CBFABBE2-307B-C820-C628-99A251A3CC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7" name="Freeform 17">
                <a:extLst>
                  <a:ext uri="{FF2B5EF4-FFF2-40B4-BE49-F238E27FC236}">
                    <a16:creationId xmlns:a16="http://schemas.microsoft.com/office/drawing/2014/main" id="{4956047E-DCA5-46B0-ADC6-2CF15C84C4A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8" name="Freeform 18">
                <a:extLst>
                  <a:ext uri="{FF2B5EF4-FFF2-40B4-BE49-F238E27FC236}">
                    <a16:creationId xmlns:a16="http://schemas.microsoft.com/office/drawing/2014/main" id="{5F5C32E4-E941-0486-F874-D4373CC356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99379" name="Freeform 19">
                <a:extLst>
                  <a:ext uri="{FF2B5EF4-FFF2-40B4-BE49-F238E27FC236}">
                    <a16:creationId xmlns:a16="http://schemas.microsoft.com/office/drawing/2014/main" id="{E798E260-142B-490D-0B0D-2FF9AF54EF0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399380" name="Freeform 20">
              <a:extLst>
                <a:ext uri="{FF2B5EF4-FFF2-40B4-BE49-F238E27FC236}">
                  <a16:creationId xmlns:a16="http://schemas.microsoft.com/office/drawing/2014/main" id="{5196A116-3446-B6FA-1B87-293CCEEB27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1" name="Freeform 21">
              <a:extLst>
                <a:ext uri="{FF2B5EF4-FFF2-40B4-BE49-F238E27FC236}">
                  <a16:creationId xmlns:a16="http://schemas.microsoft.com/office/drawing/2014/main" id="{42D2F236-4CDC-0041-9547-2B91E3FD798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9382" name="Freeform 22">
              <a:extLst>
                <a:ext uri="{FF2B5EF4-FFF2-40B4-BE49-F238E27FC236}">
                  <a16:creationId xmlns:a16="http://schemas.microsoft.com/office/drawing/2014/main" id="{2322D9AF-08E2-055B-2EB3-F35FB73EC2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1E99705B-74D4-4FCA-FA35-2B8BE9A87F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909 w 717"/>
                <a:gd name="T1" fmla="*/ 845 h 845"/>
                <a:gd name="T2" fmla="*/ 909 w 717"/>
                <a:gd name="T3" fmla="*/ 821 h 845"/>
                <a:gd name="T4" fmla="*/ 762 w 717"/>
                <a:gd name="T5" fmla="*/ 605 h 845"/>
                <a:gd name="T6" fmla="*/ 500 w 717"/>
                <a:gd name="T7" fmla="*/ 396 h 845"/>
                <a:gd name="T8" fmla="*/ 315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303 w 717"/>
                <a:gd name="T15" fmla="*/ 198 h 845"/>
                <a:gd name="T16" fmla="*/ 494 w 717"/>
                <a:gd name="T17" fmla="*/ 408 h 845"/>
                <a:gd name="T18" fmla="*/ 756 w 717"/>
                <a:gd name="T19" fmla="*/ 623 h 845"/>
                <a:gd name="T20" fmla="*/ 909 w 717"/>
                <a:gd name="T21" fmla="*/ 845 h 845"/>
                <a:gd name="T22" fmla="*/ 90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F512A1CE-7E02-4C5F-E473-158890A9EE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501 w 407"/>
                <a:gd name="T1" fmla="*/ 414 h 414"/>
                <a:gd name="T2" fmla="*/ 501 w 407"/>
                <a:gd name="T3" fmla="*/ 396 h 414"/>
                <a:gd name="T4" fmla="*/ 316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310 w 407"/>
                <a:gd name="T13" fmla="*/ 204 h 414"/>
                <a:gd name="T14" fmla="*/ 501 w 407"/>
                <a:gd name="T15" fmla="*/ 414 h 414"/>
                <a:gd name="T16" fmla="*/ 501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385" name="Freeform 25">
              <a:extLst>
                <a:ext uri="{FF2B5EF4-FFF2-40B4-BE49-F238E27FC236}">
                  <a16:creationId xmlns:a16="http://schemas.microsoft.com/office/drawing/2014/main" id="{A0CDB549-7448-D3F0-8554-1D305B2129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F1D60C9C-A0E9-9B87-AFA2-3357337CF0D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94 w 586"/>
                <a:gd name="T1" fmla="*/ 0 h 599"/>
                <a:gd name="T2" fmla="*/ 767 w 586"/>
                <a:gd name="T3" fmla="*/ 0 h 599"/>
                <a:gd name="T4" fmla="*/ 562 w 586"/>
                <a:gd name="T5" fmla="*/ 132 h 599"/>
                <a:gd name="T6" fmla="*/ 351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51 w 586"/>
                <a:gd name="T17" fmla="*/ 282 h 599"/>
                <a:gd name="T18" fmla="*/ 574 w 586"/>
                <a:gd name="T19" fmla="*/ 138 h 599"/>
                <a:gd name="T20" fmla="*/ 794 w 586"/>
                <a:gd name="T21" fmla="*/ 0 h 599"/>
                <a:gd name="T22" fmla="*/ 79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89F51D87-1379-3C11-1AD5-A0A92075E9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63 w 269"/>
                <a:gd name="T1" fmla="*/ 0 h 252"/>
                <a:gd name="T2" fmla="*/ 345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63 w 269"/>
                <a:gd name="T15" fmla="*/ 0 h 252"/>
                <a:gd name="T16" fmla="*/ 363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D987E30F-3320-079B-8457-A93F1A333D7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BEDC2634-DE6B-9462-2641-F482DE003B4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E6F8A4CA-FDA2-50F1-C8A4-63E5DF317FD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311B78AA-B7C5-756C-9671-CF88E37B8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51E1C70F-7F1C-7763-C097-6056107B4A4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55303BCD-949F-EC9E-F993-9027FADEF96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F3F8E997-A5F8-8CE1-5D90-341C32641F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3CAFB8BC-7521-D642-681F-94B0B3A7588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87D0A9B5-3802-4CEB-E2B9-B3AE9578993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AB5A2ED9-8015-B366-64D3-814FECF5059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37A178C5-9554-4DE4-66F5-EA61A21134E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399" name="Rectangle 39">
            <a:extLst>
              <a:ext uri="{FF2B5EF4-FFF2-40B4-BE49-F238E27FC236}">
                <a16:creationId xmlns:a16="http://schemas.microsoft.com/office/drawing/2014/main" id="{E34C1F4F-7D79-F7A1-0667-FCD3A20E6D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400" name="Rectangle 40">
            <a:extLst>
              <a:ext uri="{FF2B5EF4-FFF2-40B4-BE49-F238E27FC236}">
                <a16:creationId xmlns:a16="http://schemas.microsoft.com/office/drawing/2014/main" id="{5AA57716-022F-D168-18B7-BC3AF85CB20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1" name="Rectangle 41">
            <a:extLst>
              <a:ext uri="{FF2B5EF4-FFF2-40B4-BE49-F238E27FC236}">
                <a16:creationId xmlns:a16="http://schemas.microsoft.com/office/drawing/2014/main" id="{A431495B-039F-6B9A-5175-2131F0D887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2" name="Rectangle 42">
            <a:extLst>
              <a:ext uri="{FF2B5EF4-FFF2-40B4-BE49-F238E27FC236}">
                <a16:creationId xmlns:a16="http://schemas.microsoft.com/office/drawing/2014/main" id="{B2FD2ECA-3086-C95B-F147-3591828D4B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4474160-5EC9-4BD8-AE50-FBFE87E2B13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99403" name="Rectangle 43">
            <a:extLst>
              <a:ext uri="{FF2B5EF4-FFF2-40B4-BE49-F238E27FC236}">
                <a16:creationId xmlns:a16="http://schemas.microsoft.com/office/drawing/2014/main" id="{B2DB9ECC-9FC6-90EC-D4A8-7CE1ADC1D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5088" r:id="rId1"/>
    <p:sldLayoutId id="2147485076" r:id="rId2"/>
    <p:sldLayoutId id="2147485077" r:id="rId3"/>
    <p:sldLayoutId id="2147485078" r:id="rId4"/>
    <p:sldLayoutId id="2147485079" r:id="rId5"/>
    <p:sldLayoutId id="2147485080" r:id="rId6"/>
    <p:sldLayoutId id="2147485081" r:id="rId7"/>
    <p:sldLayoutId id="2147485082" r:id="rId8"/>
    <p:sldLayoutId id="2147485083" r:id="rId9"/>
    <p:sldLayoutId id="2147485084" r:id="rId10"/>
    <p:sldLayoutId id="2147485085" r:id="rId11"/>
    <p:sldLayoutId id="2147485086" r:id="rId12"/>
    <p:sldLayoutId id="214748508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56D17908-38F5-7B32-1031-2FC359FF4A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抽象类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36038838-A050-6262-D683-CA3219BC4D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>
            <a:extLst>
              <a:ext uri="{FF2B5EF4-FFF2-40B4-BE49-F238E27FC236}">
                <a16:creationId xmlns:a16="http://schemas.microsoft.com/office/drawing/2014/main" id="{0BDEAA00-9B04-18B8-0B44-01ACCAC1A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纯虚函数</a:t>
            </a:r>
          </a:p>
        </p:txBody>
      </p:sp>
      <p:sp>
        <p:nvSpPr>
          <p:cNvPr id="573443" name="Rectangle 3">
            <a:extLst>
              <a:ext uri="{FF2B5EF4-FFF2-40B4-BE49-F238E27FC236}">
                <a16:creationId xmlns:a16="http://schemas.microsoft.com/office/drawing/2014/main" id="{4B68371F-50BB-33A1-0C4E-6B18EF9C9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>
                <a:solidFill>
                  <a:schemeClr val="folHlink"/>
                </a:solidFill>
              </a:rPr>
              <a:t>纯虚函数</a:t>
            </a:r>
            <a:r>
              <a:rPr lang="zh-CN" altLang="en-US"/>
              <a:t>是没给出实现的虚函数，函数体用“</a:t>
            </a:r>
            <a:r>
              <a:rPr lang="en-US" altLang="zh-CN">
                <a:solidFill>
                  <a:srgbClr val="FFC000"/>
                </a:solidFill>
              </a:rPr>
              <a:t>=0</a:t>
            </a:r>
            <a:r>
              <a:rPr lang="zh-CN" altLang="en-US"/>
              <a:t>”表示， 例如：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/>
              <a:t>{	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/>
              <a:t>	public: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/>
              <a:t>		virtual int f()</a:t>
            </a:r>
            <a:r>
              <a:rPr lang="en-US" altLang="zh-CN">
                <a:solidFill>
                  <a:schemeClr val="folHlink"/>
                </a:solidFill>
              </a:rPr>
              <a:t>=0</a:t>
            </a:r>
            <a:r>
              <a:rPr lang="en-US" altLang="zh-CN"/>
              <a:t>; //</a:t>
            </a:r>
            <a:r>
              <a:rPr lang="zh-CN" altLang="en-US">
                <a:solidFill>
                  <a:schemeClr val="folHlink"/>
                </a:solidFill>
              </a:rPr>
              <a:t>纯虚函数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US"/>
              <a:t>	</a:t>
            </a:r>
            <a:r>
              <a:rPr lang="en-US" altLang="zh-CN"/>
              <a:t>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/>
              <a:t>};</a:t>
            </a:r>
          </a:p>
          <a:p>
            <a:pPr eaLnBrk="1" hangingPunct="1">
              <a:defRPr/>
            </a:pPr>
            <a:r>
              <a:rPr lang="zh-CN" altLang="en-US"/>
              <a:t>纯虚函数需要在派生类中给出实现。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>
            <a:extLst>
              <a:ext uri="{FF2B5EF4-FFF2-40B4-BE49-F238E27FC236}">
                <a16:creationId xmlns:a16="http://schemas.microsoft.com/office/drawing/2014/main" id="{5CB04DEC-951E-015B-F745-0D26E1FBC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24862" cy="551815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/>
              <a:t>包含纯虚函数的类称为</a:t>
            </a:r>
            <a:r>
              <a:rPr lang="zh-CN" altLang="en-US" sz="3000">
                <a:solidFill>
                  <a:schemeClr val="folHlink"/>
                </a:solidFill>
              </a:rPr>
              <a:t>抽象类</a:t>
            </a:r>
            <a:r>
              <a:rPr lang="zh-CN" altLang="en-US" sz="3000"/>
              <a:t>。</a:t>
            </a:r>
            <a:endParaRPr lang="en-US" altLang="zh-CN" sz="300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/>
              <a:t>抽象类不能用于创建对象。 例如：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class A //</a:t>
            </a:r>
            <a:r>
              <a:rPr lang="zh-CN" altLang="en-US" sz="2600"/>
              <a:t>抽象类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{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	public: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		virtual int f()=0; //</a:t>
            </a:r>
            <a:r>
              <a:rPr lang="zh-CN" altLang="en-US" sz="2600"/>
              <a:t>纯虚函数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600"/>
              <a:t>	</a:t>
            </a:r>
            <a:r>
              <a:rPr lang="en-US" altLang="zh-CN" sz="2600"/>
              <a:t>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};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600"/>
              <a:t>A a;  //</a:t>
            </a:r>
            <a:r>
              <a:rPr lang="en-US" altLang="zh-CN" sz="2600">
                <a:solidFill>
                  <a:schemeClr val="folHlink"/>
                </a:solidFill>
              </a:rPr>
              <a:t>Error</a:t>
            </a:r>
            <a:r>
              <a:rPr lang="zh-CN" altLang="en-US" sz="2600">
                <a:solidFill>
                  <a:schemeClr val="folHlink"/>
                </a:solidFill>
              </a:rPr>
              <a:t>，</a:t>
            </a:r>
            <a:r>
              <a:rPr lang="en-US" altLang="zh-CN" sz="2600">
                <a:solidFill>
                  <a:schemeClr val="folHlink"/>
                </a:solidFill>
              </a:rPr>
              <a:t>A</a:t>
            </a:r>
            <a:r>
              <a:rPr lang="zh-CN" altLang="en-US" sz="2600">
                <a:solidFill>
                  <a:schemeClr val="folHlink"/>
                </a:solidFill>
              </a:rPr>
              <a:t>是抽象类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/>
              <a:t>抽象类的作用是为派生类提供一个</a:t>
            </a:r>
            <a:r>
              <a:rPr lang="zh-CN" altLang="en-US" sz="3000">
                <a:solidFill>
                  <a:schemeClr val="folHlink"/>
                </a:solidFill>
              </a:rPr>
              <a:t>基本框架</a:t>
            </a:r>
            <a:r>
              <a:rPr lang="zh-CN" altLang="en-US" sz="3000"/>
              <a:t>和一个</a:t>
            </a:r>
            <a:r>
              <a:rPr lang="zh-CN" altLang="en-US" sz="3000">
                <a:solidFill>
                  <a:schemeClr val="folHlink"/>
                </a:solidFill>
              </a:rPr>
              <a:t>公共的对外接口</a:t>
            </a:r>
            <a:r>
              <a:rPr lang="zh-CN" altLang="en-US" sz="3000"/>
              <a:t>。</a:t>
            </a:r>
            <a:endParaRPr lang="zh-CN" altLang="en-US" sz="3000">
              <a:solidFill>
                <a:schemeClr val="folHlink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03133C-133D-DCF7-09AA-66B581F40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71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抽象类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>
            <a:extLst>
              <a:ext uri="{FF2B5EF4-FFF2-40B4-BE49-F238E27FC236}">
                <a16:creationId xmlns:a16="http://schemas.microsoft.com/office/drawing/2014/main" id="{2D23050F-4D2E-2B14-F920-A4E5D759A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例：用抽象类为各种图形类提供一个基本框架</a:t>
            </a:r>
          </a:p>
        </p:txBody>
      </p:sp>
      <p:grpSp>
        <p:nvGrpSpPr>
          <p:cNvPr id="7171" name="Group 11">
            <a:extLst>
              <a:ext uri="{FF2B5EF4-FFF2-40B4-BE49-F238E27FC236}">
                <a16:creationId xmlns:a16="http://schemas.microsoft.com/office/drawing/2014/main" id="{28B9C798-9B53-C9B1-269E-0F249DB59EAE}"/>
              </a:ext>
            </a:extLst>
          </p:cNvPr>
          <p:cNvGrpSpPr>
            <a:grpSpLocks/>
          </p:cNvGrpSpPr>
          <p:nvPr/>
        </p:nvGrpSpPr>
        <p:grpSpPr bwMode="auto">
          <a:xfrm>
            <a:off x="1336675" y="2320925"/>
            <a:ext cx="5899150" cy="2908300"/>
            <a:chOff x="842" y="1254"/>
            <a:chExt cx="1656" cy="562"/>
          </a:xfrm>
        </p:grpSpPr>
        <p:sp>
          <p:nvSpPr>
            <p:cNvPr id="7176" name="Oval 4">
              <a:extLst>
                <a:ext uri="{FF2B5EF4-FFF2-40B4-BE49-F238E27FC236}">
                  <a16:creationId xmlns:a16="http://schemas.microsoft.com/office/drawing/2014/main" id="{264F62A2-EB83-E8FB-A6A7-0A6E2E6AB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1254"/>
              <a:ext cx="504" cy="1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177" name="Oval 5">
              <a:extLst>
                <a:ext uri="{FF2B5EF4-FFF2-40B4-BE49-F238E27FC236}">
                  <a16:creationId xmlns:a16="http://schemas.microsoft.com/office/drawing/2014/main" id="{B05447BF-D0FB-B4BA-67B5-2DE08EDF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" y="1629"/>
              <a:ext cx="504" cy="1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178" name="Oval 6">
              <a:extLst>
                <a:ext uri="{FF2B5EF4-FFF2-40B4-BE49-F238E27FC236}">
                  <a16:creationId xmlns:a16="http://schemas.microsoft.com/office/drawing/2014/main" id="{3838767B-122C-D404-9587-976A7D4EE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" y="1629"/>
              <a:ext cx="504" cy="1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179" name="Oval 7">
              <a:extLst>
                <a:ext uri="{FF2B5EF4-FFF2-40B4-BE49-F238E27FC236}">
                  <a16:creationId xmlns:a16="http://schemas.microsoft.com/office/drawing/2014/main" id="{0FE54944-951C-37A7-04F0-4A3315237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" y="1629"/>
              <a:ext cx="504" cy="18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7180" name="Line 8">
              <a:extLst>
                <a:ext uri="{FF2B5EF4-FFF2-40B4-BE49-F238E27FC236}">
                  <a16:creationId xmlns:a16="http://schemas.microsoft.com/office/drawing/2014/main" id="{33AFEFE5-58D9-279B-3318-8B06A6AC8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0" y="1442"/>
              <a:ext cx="432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Line 9">
              <a:extLst>
                <a:ext uri="{FF2B5EF4-FFF2-40B4-BE49-F238E27FC236}">
                  <a16:creationId xmlns:a16="http://schemas.microsoft.com/office/drawing/2014/main" id="{FEF522AE-82F7-DE1E-6514-F0D10A0A5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4" y="1442"/>
              <a:ext cx="0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Line 10">
              <a:extLst>
                <a:ext uri="{FF2B5EF4-FFF2-40B4-BE49-F238E27FC236}">
                  <a16:creationId xmlns:a16="http://schemas.microsoft.com/office/drawing/2014/main" id="{7CFFE1E3-3151-DEB4-6D1C-9C0A75FC4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1442"/>
              <a:ext cx="48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2" name="Text Box 12">
            <a:extLst>
              <a:ext uri="{FF2B5EF4-FFF2-40B4-BE49-F238E27FC236}">
                <a16:creationId xmlns:a16="http://schemas.microsoft.com/office/drawing/2014/main" id="{25CE0909-38FD-6606-3891-055563C4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325" y="2503488"/>
            <a:ext cx="113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Figure</a:t>
            </a:r>
          </a:p>
        </p:txBody>
      </p:sp>
      <p:sp>
        <p:nvSpPr>
          <p:cNvPr id="7173" name="Text Box 13">
            <a:extLst>
              <a:ext uri="{FF2B5EF4-FFF2-40B4-BE49-F238E27FC236}">
                <a16:creationId xmlns:a16="http://schemas.microsoft.com/office/drawing/2014/main" id="{A3CAE032-101C-6D18-711F-9B1CF40B8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4448175"/>
            <a:ext cx="168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Rectangle</a:t>
            </a:r>
          </a:p>
        </p:txBody>
      </p:sp>
      <p:sp>
        <p:nvSpPr>
          <p:cNvPr id="7174" name="Text Box 14">
            <a:extLst>
              <a:ext uri="{FF2B5EF4-FFF2-40B4-BE49-F238E27FC236}">
                <a16:creationId xmlns:a16="http://schemas.microsoft.com/office/drawing/2014/main" id="{FA191C91-3142-0314-F13E-2742B7E6B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4448175"/>
            <a:ext cx="103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Circle</a:t>
            </a:r>
          </a:p>
        </p:txBody>
      </p:sp>
      <p:sp>
        <p:nvSpPr>
          <p:cNvPr id="7175" name="Text Box 15">
            <a:extLst>
              <a:ext uri="{FF2B5EF4-FFF2-40B4-BE49-F238E27FC236}">
                <a16:creationId xmlns:a16="http://schemas.microsoft.com/office/drawing/2014/main" id="{90D4D60F-268B-7368-F7B4-2174F3C7D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225" y="4448175"/>
            <a:ext cx="81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5" name="Rectangle 3">
            <a:extLst>
              <a:ext uri="{FF2B5EF4-FFF2-40B4-BE49-F238E27FC236}">
                <a16:creationId xmlns:a16="http://schemas.microsoft.com/office/drawing/2014/main" id="{E0DF475E-22FF-6ADC-08FA-B38CE16A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8" y="71438"/>
            <a:ext cx="8964612" cy="6742112"/>
          </a:xfrm>
        </p:spPr>
        <p:txBody>
          <a:bodyPr/>
          <a:lstStyle/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class Figure //</a:t>
            </a:r>
            <a:r>
              <a:rPr lang="zh-CN" altLang="en-US" sz="2400"/>
              <a:t>抽象基类</a:t>
            </a:r>
            <a:endParaRPr lang="en-US" altLang="zh-CN" sz="2400"/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public: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virtual void draw() const=0;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virtual void input_data()=0;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class Rectangle: public Figure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	double left,top,right,bottom;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public: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draw() const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...... //</a:t>
            </a:r>
            <a:r>
              <a:rPr lang="zh-CN" altLang="en-US" sz="2400"/>
              <a:t>画矩形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</a:t>
            </a:r>
            <a:r>
              <a:rPr lang="en-US" altLang="zh-CN" sz="2400"/>
              <a:t>}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input_data()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</a:t>
            </a:r>
            <a:r>
              <a:rPr lang="en-US" altLang="zh-CN" sz="2000"/>
              <a:t>cout &lt;&lt; "</a:t>
            </a:r>
            <a:r>
              <a:rPr lang="zh-CN" altLang="en-US" sz="2000"/>
              <a:t>请输入矩形的左上角和右下角坐标 </a:t>
            </a:r>
            <a:r>
              <a:rPr lang="en-US" altLang="zh-CN" sz="2000"/>
              <a:t>(x1,y1,x2,y2) </a:t>
            </a:r>
            <a:r>
              <a:rPr lang="zh-CN" altLang="en-US" sz="2000"/>
              <a:t>：</a:t>
            </a:r>
            <a:r>
              <a:rPr lang="en-US" altLang="zh-CN" sz="2000"/>
              <a:t>";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cin &gt;&gt; left &gt;&gt; top &gt;&gt; right &gt;&gt; bottom;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}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double area() const 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 { return (bottom-top)*(right-left); }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9" name="Rectangle 3">
            <a:extLst>
              <a:ext uri="{FF2B5EF4-FFF2-40B4-BE49-F238E27FC236}">
                <a16:creationId xmlns:a16="http://schemas.microsoft.com/office/drawing/2014/main" id="{B9AE82E8-0550-BC06-0DD4-476C2ABB9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686800" cy="5870575"/>
          </a:xfrm>
        </p:spPr>
        <p:txBody>
          <a:bodyPr/>
          <a:lstStyle/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const double PI=3.1416;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class Circle: public Figure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	double x,y,r;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public: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draw() const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...... //</a:t>
            </a:r>
            <a:r>
              <a:rPr lang="zh-CN" altLang="en-US" sz="2400"/>
              <a:t>画圆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</a:t>
            </a:r>
            <a:r>
              <a:rPr lang="en-US" altLang="zh-CN" sz="2400"/>
              <a:t>}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input_data()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cout &lt;&lt; "</a:t>
            </a:r>
            <a:r>
              <a:rPr lang="zh-CN" altLang="en-US" sz="2400"/>
              <a:t>请输入圆的圆心坐标和半径 </a:t>
            </a:r>
            <a:r>
              <a:rPr lang="en-US" altLang="zh-CN" sz="2400"/>
              <a:t>(x,y,r) </a:t>
            </a:r>
            <a:r>
              <a:rPr lang="zh-CN" altLang="en-US" sz="2400"/>
              <a:t>：</a:t>
            </a:r>
            <a:r>
              <a:rPr lang="en-US" altLang="zh-CN" sz="2400"/>
              <a:t>";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cin &gt;&gt; x &gt;&gt; y &gt;&gt; r;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}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double area() const { return r*r*PI; }</a:t>
            </a:r>
          </a:p>
          <a:p>
            <a:pPr defTabSz="5270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3" name="Rectangle 3">
            <a:extLst>
              <a:ext uri="{FF2B5EF4-FFF2-40B4-BE49-F238E27FC236}">
                <a16:creationId xmlns:a16="http://schemas.microsoft.com/office/drawing/2014/main" id="{DBF42899-401C-C943-3AB2-E50794BA7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908050"/>
            <a:ext cx="8675687" cy="5949950"/>
          </a:xfrm>
        </p:spPr>
        <p:txBody>
          <a:bodyPr/>
          <a:lstStyle/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class Line: public Figure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	double x1,y1,x2,y2;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public: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draw() const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...... //</a:t>
            </a:r>
            <a:r>
              <a:rPr lang="zh-CN" altLang="en-US" sz="2400"/>
              <a:t>画线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</a:t>
            </a:r>
            <a:r>
              <a:rPr lang="en-US" altLang="zh-CN" sz="2400"/>
              <a:t>}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void input_data()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{	</a:t>
            </a:r>
            <a:r>
              <a:rPr lang="en-US" altLang="zh-CN" sz="2000"/>
              <a:t>cout &lt;&lt; "</a:t>
            </a:r>
            <a:r>
              <a:rPr lang="zh-CN" altLang="en-US" sz="2000"/>
              <a:t>请输入线段的起点和终点坐标 </a:t>
            </a:r>
            <a:r>
              <a:rPr lang="en-US" altLang="zh-CN" sz="2000"/>
              <a:t>(x1,y1,x2,y2) </a:t>
            </a:r>
            <a:r>
              <a:rPr lang="zh-CN" altLang="en-US" sz="2000"/>
              <a:t>：</a:t>
            </a:r>
            <a:r>
              <a:rPr lang="en-US" altLang="zh-CN" sz="2000"/>
              <a:t>";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cin &gt;&gt; x1 &gt;&gt; y1 &gt;&gt; x2 &gt;&gt; y2;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}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......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const int MAX_NUM_OF_FIGURES=100;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Figure *figures[MAX_NUM_OF_FIGURES];</a:t>
            </a:r>
          </a:p>
          <a:p>
            <a:pPr defTabSz="52705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int count=0;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7" name="Rectangle 3">
            <a:extLst>
              <a:ext uri="{FF2B5EF4-FFF2-40B4-BE49-F238E27FC236}">
                <a16:creationId xmlns:a16="http://schemas.microsoft.com/office/drawing/2014/main" id="{4264076E-4C03-F890-0CDA-52578D7B0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77800"/>
            <a:ext cx="9144000" cy="6680200"/>
          </a:xfrm>
        </p:spPr>
        <p:txBody>
          <a:bodyPr/>
          <a:lstStyle/>
          <a:p>
            <a:pPr marL="0" indent="0" defTabSz="357188" eaLnBrk="1" hangingPunct="1">
              <a:lnSpc>
                <a:spcPct val="80000"/>
              </a:lnSpc>
              <a:defRPr/>
            </a:pPr>
            <a:r>
              <a:rPr lang="en-US" altLang="zh-CN" sz="2400"/>
              <a:t> </a:t>
            </a:r>
            <a:r>
              <a:rPr lang="zh-CN" altLang="en-US" sz="2400"/>
              <a:t>图形数据的输入：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for (count=0; count&lt;MAX_NUM_OF_FIGURES;	count++)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{	int shape;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do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{	</a:t>
            </a:r>
            <a:r>
              <a:rPr lang="en-US" altLang="zh-CN" sz="2000"/>
              <a:t>cout &lt;&lt; "</a:t>
            </a:r>
            <a:r>
              <a:rPr lang="zh-CN" altLang="en-US" sz="2000"/>
              <a:t>请输入图形的种类</a:t>
            </a:r>
            <a:r>
              <a:rPr lang="en-US" altLang="zh-CN" sz="2000"/>
              <a:t>(0</a:t>
            </a:r>
            <a:r>
              <a:rPr lang="zh-CN" altLang="en-US" sz="2000"/>
              <a:t>：线段，</a:t>
            </a:r>
            <a:r>
              <a:rPr lang="en-US" altLang="zh-CN" sz="2000"/>
              <a:t>1</a:t>
            </a:r>
            <a:r>
              <a:rPr lang="zh-CN" altLang="en-US" sz="2000"/>
              <a:t>：矩形，</a:t>
            </a:r>
            <a:r>
              <a:rPr lang="en-US" altLang="zh-CN" sz="2000"/>
              <a:t>2</a:t>
            </a:r>
            <a:r>
              <a:rPr lang="zh-CN" altLang="en-US" sz="2000"/>
              <a:t>：圆，</a:t>
            </a:r>
            <a:r>
              <a:rPr lang="en-US" altLang="zh-CN" sz="2000"/>
              <a:t>-1</a:t>
            </a:r>
            <a:r>
              <a:rPr lang="zh-CN" altLang="en-US" sz="2000"/>
              <a:t>：结束</a:t>
            </a:r>
            <a:r>
              <a:rPr lang="en-US" altLang="zh-CN" sz="2000"/>
              <a:t>)</a:t>
            </a:r>
            <a:r>
              <a:rPr lang="zh-CN" altLang="en-US" sz="2000"/>
              <a:t>：</a:t>
            </a:r>
            <a:r>
              <a:rPr lang="en-US" altLang="zh-CN" sz="2000"/>
              <a:t>";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	cin &gt;&gt; shape;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} while (shape &lt; -1 || shape &gt; 2);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if (shape == -1) break;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switch (shape)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{	case 0: //</a:t>
            </a:r>
            <a:r>
              <a:rPr lang="zh-CN" altLang="en-US" sz="2200"/>
              <a:t>线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/>
              <a:t>			</a:t>
            </a:r>
            <a:r>
              <a:rPr lang="en-US" altLang="zh-CN" sz="2200"/>
              <a:t>figures[count] = new Line;	break;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	case 1: //</a:t>
            </a:r>
            <a:r>
              <a:rPr lang="zh-CN" altLang="en-US" sz="2200"/>
              <a:t>矩形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/>
              <a:t>			</a:t>
            </a:r>
            <a:r>
              <a:rPr lang="en-US" altLang="zh-CN" sz="2200"/>
              <a:t>figures[count] = new Rectangle; break;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	case 2: //</a:t>
            </a:r>
            <a:r>
              <a:rPr lang="zh-CN" altLang="en-US" sz="2200"/>
              <a:t>圆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/>
              <a:t>			</a:t>
            </a:r>
            <a:r>
              <a:rPr lang="en-US" altLang="zh-CN" sz="2200"/>
              <a:t>figures[count] = new Circle; break;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 	}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	figures[count]-&gt;input_data(); //</a:t>
            </a:r>
            <a:r>
              <a:rPr lang="zh-CN" altLang="en-US" sz="2200">
                <a:solidFill>
                  <a:schemeClr val="folHlink"/>
                </a:solidFill>
              </a:rPr>
              <a:t>动态绑定到相应类的</a:t>
            </a:r>
            <a:r>
              <a:rPr lang="en-US" altLang="zh-CN" sz="2000">
                <a:solidFill>
                  <a:schemeClr val="folHlink"/>
                </a:solidFill>
              </a:rPr>
              <a:t>input_data</a:t>
            </a:r>
          </a:p>
          <a:p>
            <a:pPr marL="0" indent="0" defTabSz="357188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1" name="Rectangle 3">
            <a:extLst>
              <a:ext uri="{FF2B5EF4-FFF2-40B4-BE49-F238E27FC236}">
                <a16:creationId xmlns:a16="http://schemas.microsoft.com/office/drawing/2014/main" id="{1AE9A844-3702-8A51-B7F5-21B65A642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5816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/>
              <a:t>图形的输出：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/>
              <a:t>for (int i=0; i&lt;count; i++)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/>
              <a:t>	figures[i]-&gt;draw();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/>
              <a:t>		//</a:t>
            </a:r>
            <a:r>
              <a:rPr lang="zh-CN" altLang="en-US">
                <a:solidFill>
                  <a:srgbClr val="FFC000"/>
                </a:solidFill>
              </a:rPr>
              <a:t>通过动态绑定调用相应类的</a:t>
            </a:r>
            <a:r>
              <a:rPr lang="en-US" altLang="zh-CN">
                <a:solidFill>
                  <a:srgbClr val="FFC000"/>
                </a:solidFill>
              </a:rPr>
              <a:t>draw</a:t>
            </a:r>
          </a:p>
          <a:p>
            <a:pPr eaLnBrk="1" hangingPunct="1">
              <a:defRPr/>
            </a:pPr>
            <a:r>
              <a:rPr lang="zh-CN" altLang="en-US"/>
              <a:t>即使今后增加了图形的种类，</a:t>
            </a:r>
            <a:endParaRPr lang="en-US" altLang="zh-CN"/>
          </a:p>
          <a:p>
            <a:pPr lvl="1" eaLnBrk="1" hangingPunct="1">
              <a:defRPr/>
            </a:pPr>
            <a:r>
              <a:rPr lang="zh-CN" altLang="en-US"/>
              <a:t>上述代码（属于</a:t>
            </a:r>
            <a:r>
              <a:rPr lang="zh-CN" altLang="en-US">
                <a:solidFill>
                  <a:srgbClr val="FFC000"/>
                </a:solidFill>
              </a:rPr>
              <a:t>高层代码</a:t>
            </a:r>
            <a:r>
              <a:rPr lang="zh-CN" altLang="en-US"/>
              <a:t>）不需要改动！</a:t>
            </a:r>
            <a:endParaRPr lang="en-US" altLang="zh-CN"/>
          </a:p>
          <a:p>
            <a:pPr lvl="1" eaLnBrk="1" hangingPunct="1">
              <a:defRPr/>
            </a:pPr>
            <a:r>
              <a:rPr lang="zh-CN" altLang="en-US"/>
              <a:t>只需要增加相应的类（属于</a:t>
            </a:r>
            <a:r>
              <a:rPr lang="zh-CN" altLang="en-US">
                <a:solidFill>
                  <a:srgbClr val="FFC000"/>
                </a:solidFill>
              </a:rPr>
              <a:t>低层代码</a:t>
            </a:r>
            <a:r>
              <a:rPr lang="zh-CN" altLang="en-US"/>
              <a:t>）就行。</a:t>
            </a:r>
            <a:endParaRPr lang="en-US" altLang="zh-CN"/>
          </a:p>
          <a:p>
            <a:pPr lvl="1" eaLnBrk="1" hangingPunct="1">
              <a:defRPr/>
            </a:pPr>
            <a:r>
              <a:rPr lang="zh-CN" altLang="en-US"/>
              <a:t>这体现了多态带来的好处：便于高层代码的复用。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3C0EB83-A837-969C-BB97-23FAE58D4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1152525"/>
          </a:xfrm>
        </p:spPr>
        <p:txBody>
          <a:bodyPr/>
          <a:lstStyle/>
          <a:p>
            <a:pPr marL="725488" indent="-725488" algn="l" eaLnBrk="1" hangingPunct="1">
              <a:defRPr/>
            </a:pPr>
            <a:r>
              <a:rPr lang="zh-CN" altLang="en-US" sz="4000"/>
              <a:t>用联合类型实现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E5A9684-C354-79AE-BC1D-6F21A7105D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751387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struct Line { double x1,y1,x2,y2; </a:t>
            </a:r>
            <a:r>
              <a:rPr lang="en-US" altLang="zh-CN" sz="24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Rectangle { double </a:t>
            </a:r>
            <a:r>
              <a:rPr lang="en-US" altLang="zh-CN" sz="2400" dirty="0" err="1"/>
              <a:t>left,top,right,bottom</a:t>
            </a:r>
            <a:r>
              <a:rPr lang="en-US" altLang="zh-CN" sz="2400" dirty="0"/>
              <a:t>; </a:t>
            </a:r>
            <a:r>
              <a:rPr lang="fr-FR" altLang="zh-CN" sz="24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fr-FR" altLang="zh-CN" sz="2400" dirty="0"/>
              <a:t>struct Circle { double x,y,r; </a:t>
            </a:r>
            <a:r>
              <a:rPr lang="en-US" altLang="zh-CN" sz="24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union Figure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Line </a:t>
            </a:r>
            <a:r>
              <a:rPr lang="en-US" altLang="zh-CN" sz="2400" dirty="0" err="1"/>
              <a:t>line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Rectangle </a:t>
            </a:r>
            <a:r>
              <a:rPr lang="en-US" altLang="zh-CN" sz="2400" dirty="0" err="1"/>
              <a:t>rect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Circle </a:t>
            </a:r>
            <a:r>
              <a:rPr lang="en-US" altLang="zh-CN" sz="2400" dirty="0" err="1"/>
              <a:t>circle</a:t>
            </a:r>
            <a:r>
              <a:rPr lang="en-US" altLang="zh-CN" sz="2400" dirty="0"/>
              <a:t>;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TaggedFigure</a:t>
            </a: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shape;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Figure </a:t>
            </a:r>
            <a:r>
              <a:rPr lang="en-US" altLang="zh-CN" sz="2400" dirty="0" err="1"/>
              <a:t>figure</a:t>
            </a:r>
            <a:r>
              <a:rPr lang="en-US" altLang="zh-CN" sz="2400" dirty="0"/>
              <a:t>; 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const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MAX_NUM_OF_FIGURES=100;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TaggedFigure</a:t>
            </a:r>
            <a:r>
              <a:rPr lang="en-US" altLang="zh-CN" sz="2400" dirty="0"/>
              <a:t> </a:t>
            </a:r>
            <a:r>
              <a:rPr lang="zh-CN" altLang="en-US" sz="2400" dirty="0"/>
              <a:t>*</a:t>
            </a:r>
            <a:r>
              <a:rPr lang="en-US" altLang="zh-CN" sz="2400" dirty="0"/>
              <a:t>figures[MAX_NUM_OF_FIGURES];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85D989-8552-B2B2-E340-ECE9908F7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888"/>
            <a:ext cx="8229600" cy="659765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input_data(Line &amp;line)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cout &lt;&lt; "</a:t>
            </a:r>
            <a:r>
              <a:rPr lang="zh-CN" altLang="en-US" sz="2000"/>
              <a:t>请输入线段的起点和终点坐标 </a:t>
            </a:r>
            <a:r>
              <a:rPr lang="en-US" altLang="zh-CN" sz="2000"/>
              <a:t>(x1,y1,x2,y2) :";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cin &gt;&gt; line.x1 &gt;&gt; line.y1 &gt;&gt; line.x2 &gt;&gt; line.y2;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input_data(Rectangle &amp;rect)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cout &lt;&lt; "</a:t>
            </a:r>
            <a:r>
              <a:rPr lang="zh-CN" altLang="en-US" sz="2000"/>
              <a:t>请输入矩形的左上角和右下角坐标 </a:t>
            </a:r>
            <a:r>
              <a:rPr lang="en-US" altLang="zh-CN" sz="2000"/>
              <a:t>(x1,y1,x2,y2) </a:t>
            </a:r>
            <a:r>
              <a:rPr lang="zh-CN" altLang="en-US" sz="2000"/>
              <a:t>：</a:t>
            </a:r>
            <a:r>
              <a:rPr lang="en-US" altLang="zh-CN" sz="2000"/>
              <a:t>";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cin &gt;&gt; rect.left &gt;&gt; rect.top &gt;&gt; rect.right &gt;&gt; rect.bottom;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input_data(Circle &amp;circle)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cout &lt;&lt; "</a:t>
            </a:r>
            <a:r>
              <a:rPr lang="zh-CN" altLang="en-US" sz="2000"/>
              <a:t>请输入圆的圆心坐标和半径 </a:t>
            </a:r>
            <a:r>
              <a:rPr lang="en-US" altLang="zh-CN" sz="2000"/>
              <a:t>(x,y,r) </a:t>
            </a:r>
            <a:r>
              <a:rPr lang="zh-CN" altLang="en-US" sz="2000"/>
              <a:t>：</a:t>
            </a:r>
            <a:r>
              <a:rPr lang="en-US" altLang="zh-CN" sz="2000"/>
              <a:t>";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   cin &gt;&gt; circle.x &gt;&gt; circle.y &gt;&gt; circle.r;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draw(Line &amp;line) { ...... }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draw(Rectangle &amp;rect) { ...... }</a:t>
            </a:r>
            <a:endParaRPr lang="zh-CN" altLang="en-US" sz="20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void draw(Circle &amp;circle) { ...... }</a:t>
            </a:r>
            <a:endParaRPr lang="zh-CN" altLang="en-US" sz="2000"/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double area(Rectangle &amp;rect)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return (rect.bottom- rect.top)*(rect.right- rect.left); 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double area(Circle &amp;circle)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{ return circle.r*circle.r*PI;</a:t>
            </a:r>
          </a:p>
          <a:p>
            <a:pPr marL="0" indent="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/>
              <a:t>}</a:t>
            </a:r>
            <a:endParaRPr lang="zh-CN" altLang="en-US" sz="200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3">
            <a:extLst>
              <a:ext uri="{FF2B5EF4-FFF2-40B4-BE49-F238E27FC236}">
                <a16:creationId xmlns:a16="http://schemas.microsoft.com/office/drawing/2014/main" id="{C2649653-C03D-41D3-84F0-CB333A846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60350"/>
            <a:ext cx="9144000" cy="6597650"/>
          </a:xfrm>
        </p:spPr>
        <p:txBody>
          <a:bodyPr/>
          <a:lstStyle/>
          <a:p>
            <a:pPr defTabSz="630238" eaLnBrk="1" hangingPunct="1">
              <a:lnSpc>
                <a:spcPct val="80000"/>
              </a:lnSpc>
              <a:tabLst>
                <a:tab pos="630238" algn="l"/>
                <a:tab pos="993775" algn="l"/>
              </a:tabLst>
              <a:defRPr/>
            </a:pPr>
            <a:r>
              <a:rPr lang="zh-CN" altLang="en-US" sz="2800"/>
              <a:t>图形数据的输入：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zh-CN" altLang="en-US" sz="2200"/>
              <a:t>	</a:t>
            </a:r>
            <a:r>
              <a:rPr lang="en-US" altLang="zh-CN" sz="2200"/>
              <a:t>int count;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for (count=0; count&lt;MAX_NUM_OF_FIGURES; count++)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{	int shape;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do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{	cout &lt;&lt; "</a:t>
            </a:r>
            <a:r>
              <a:rPr lang="zh-CN" altLang="en-US" sz="2200"/>
              <a:t>请输入图形的种类</a:t>
            </a:r>
            <a:r>
              <a:rPr lang="en-US" altLang="zh-CN" sz="2200"/>
              <a:t>(0:</a:t>
            </a:r>
            <a:r>
              <a:rPr lang="zh-CN" altLang="en-US" sz="2200"/>
              <a:t>线段</a:t>
            </a:r>
            <a:r>
              <a:rPr lang="en-US" altLang="zh-CN" sz="2200"/>
              <a:t>,1:</a:t>
            </a:r>
            <a:r>
              <a:rPr lang="zh-CN" altLang="en-US" sz="2200"/>
              <a:t>矩形</a:t>
            </a:r>
            <a:r>
              <a:rPr lang="en-US" altLang="zh-CN" sz="2200"/>
              <a:t>,2:</a:t>
            </a:r>
            <a:r>
              <a:rPr lang="zh-CN" altLang="en-US" sz="2200"/>
              <a:t>圆</a:t>
            </a:r>
            <a:r>
              <a:rPr lang="en-US" altLang="zh-CN" sz="2200"/>
              <a:t>,-1:</a:t>
            </a:r>
            <a:r>
              <a:rPr lang="zh-CN" altLang="en-US" sz="2200"/>
              <a:t>结束</a:t>
            </a:r>
            <a:r>
              <a:rPr lang="en-US" altLang="zh-CN" sz="2200"/>
              <a:t>):";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	cin &gt;&gt; shape;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} while (shape &lt; -1 || shape &gt; 2);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if (shape == -1) break;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figures[count] = new TaggedFigure; //</a:t>
            </a:r>
            <a:r>
              <a:rPr lang="zh-CN" altLang="en-US" sz="2200">
                <a:solidFill>
                  <a:srgbClr val="FFC000"/>
                </a:solidFill>
              </a:rPr>
              <a:t>空间利用效率不高！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switch (shape)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{ 	case 0: //</a:t>
            </a:r>
            <a:r>
              <a:rPr lang="zh-CN" altLang="en-US" sz="2200"/>
              <a:t>线</a:t>
            </a:r>
            <a:endParaRPr lang="en-US" altLang="zh-CN" sz="2200"/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zh-CN" altLang="en-US" sz="2200"/>
              <a:t>				</a:t>
            </a:r>
            <a:r>
              <a:rPr lang="en-US" altLang="zh-CN" sz="2200"/>
              <a:t>figures[count]-&gt;shape = 0;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				input_data(figures[count]-&gt;figure.line);</a:t>
            </a:r>
          </a:p>
          <a:p>
            <a:pPr defTabSz="630238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993775" algn="l"/>
              </a:tabLst>
              <a:defRPr/>
            </a:pPr>
            <a:r>
              <a:rPr lang="en-US" altLang="zh-CN" sz="2200"/>
              <a:t>  	 			break;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>
            <a:extLst>
              <a:ext uri="{FF2B5EF4-FFF2-40B4-BE49-F238E27FC236}">
                <a16:creationId xmlns:a16="http://schemas.microsoft.com/office/drawing/2014/main" id="{9E66CD38-B1E5-A2BA-4A41-4E9766A66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735138"/>
            <a:ext cx="9144000" cy="4789487"/>
          </a:xfrm>
        </p:spPr>
        <p:txBody>
          <a:bodyPr/>
          <a:lstStyle/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 		  case 1: //</a:t>
            </a:r>
            <a:r>
              <a:rPr lang="zh-CN" altLang="en-US" sz="2200"/>
              <a:t>矩形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zh-CN" altLang="en-US" sz="2200"/>
              <a:t>				</a:t>
            </a:r>
            <a:r>
              <a:rPr lang="en-US" altLang="zh-CN" sz="2200"/>
              <a:t>figures[count]-&gt;shape = 1;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				input_data(figures[count]-&gt;figure.rect);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 				break;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 		  case 2: //</a:t>
            </a:r>
            <a:r>
              <a:rPr lang="zh-CN" altLang="en-US" sz="2200"/>
              <a:t>圆形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zh-CN" altLang="en-US" sz="2200"/>
              <a:t>				</a:t>
            </a:r>
            <a:r>
              <a:rPr lang="en-US" altLang="zh-CN" sz="2200"/>
              <a:t>figures[count]-&gt;shape = 2;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				input_data(figures[count]-&gt;figure.circle);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  	 		break;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	 	} //end of switch</a:t>
            </a:r>
          </a:p>
          <a:p>
            <a:pPr defTabSz="188913" eaLnBrk="1" hangingPunct="1">
              <a:lnSpc>
                <a:spcPct val="80000"/>
              </a:lnSpc>
              <a:buFont typeface="Wingdings" panose="05000000000000000000" pitchFamily="2" charset="2"/>
              <a:buNone/>
              <a:tabLst>
                <a:tab pos="630238" algn="l"/>
                <a:tab pos="1071563" algn="l"/>
              </a:tabLst>
              <a:defRPr/>
            </a:pPr>
            <a:r>
              <a:rPr lang="en-US" altLang="zh-CN" sz="2200"/>
              <a:t>	} //end of for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>
            <a:extLst>
              <a:ext uri="{FF2B5EF4-FFF2-40B4-BE49-F238E27FC236}">
                <a16:creationId xmlns:a16="http://schemas.microsoft.com/office/drawing/2014/main" id="{282B237A-38E8-4AB4-BCA5-820612281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6408737"/>
          </a:xfrm>
        </p:spPr>
        <p:txBody>
          <a:bodyPr/>
          <a:lstStyle/>
          <a:p>
            <a:pPr defTabSz="196850" eaLnBrk="1" hangingPunct="1">
              <a:lnSpc>
                <a:spcPct val="90000"/>
              </a:lnSpc>
              <a:defRPr/>
            </a:pPr>
            <a:r>
              <a:rPr lang="zh-CN" altLang="en-US" sz="2800"/>
              <a:t>图形的输出：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</a:t>
            </a:r>
            <a:r>
              <a:rPr lang="en-US" altLang="zh-CN" sz="2400"/>
              <a:t>for (int i=0; i&lt;count; i++)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{	switch (figures[i]-&gt;shape)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{ case 0: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		draw(figures[i]-&gt;figure.line);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		break;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case 1: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 						draw(figures[i]-&gt;figure.rect);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		break;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			case 2: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 						draw(figures[i]-&gt;figure.circle);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 						break;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 			}</a:t>
            </a:r>
          </a:p>
          <a:p>
            <a:pPr defTabSz="19685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}</a:t>
            </a:r>
          </a:p>
          <a:p>
            <a:pPr defTabSz="196850" eaLnBrk="1" hangingPunct="1">
              <a:lnSpc>
                <a:spcPct val="90000"/>
              </a:lnSpc>
              <a:defRPr/>
            </a:pPr>
            <a:r>
              <a:rPr lang="zh-CN" altLang="en-US" sz="2400">
                <a:solidFill>
                  <a:srgbClr val="FFC000"/>
                </a:solidFill>
              </a:rPr>
              <a:t>增加新的图形种类时，需要修改上述代码（增加分支）</a:t>
            </a:r>
            <a:endParaRPr lang="en-US" altLang="zh-CN" sz="240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>
            <a:extLst>
              <a:ext uri="{FF2B5EF4-FFF2-40B4-BE49-F238E27FC236}">
                <a16:creationId xmlns:a16="http://schemas.microsoft.com/office/drawing/2014/main" id="{D54D2DB1-4D3C-7EBB-C73B-C43B61B1B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569325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例：用抽象类实现抽象数据类型</a:t>
            </a:r>
            <a:r>
              <a:rPr lang="en-US" altLang="zh-CN" sz="4000"/>
              <a:t>Stack</a:t>
            </a:r>
            <a:r>
              <a:rPr lang="zh-CN" altLang="en-US" sz="4000"/>
              <a:t> </a:t>
            </a:r>
          </a:p>
        </p:txBody>
      </p:sp>
      <p:sp>
        <p:nvSpPr>
          <p:cNvPr id="596995" name="Rectangle 3">
            <a:extLst>
              <a:ext uri="{FF2B5EF4-FFF2-40B4-BE49-F238E27FC236}">
                <a16:creationId xmlns:a16="http://schemas.microsoft.com/office/drawing/2014/main" id="{06257C7D-8550-E9B9-8B12-39759ADD81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9688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>
                <a:solidFill>
                  <a:srgbClr val="FFC000"/>
                </a:solidFill>
              </a:rPr>
              <a:t>抽象数据类型</a:t>
            </a:r>
            <a:r>
              <a:rPr lang="zh-CN" altLang="en-US" sz="3000"/>
              <a:t>（</a:t>
            </a:r>
            <a:r>
              <a:rPr lang="en-US" altLang="zh-CN" sz="3000"/>
              <a:t>abstract data type</a:t>
            </a:r>
            <a:r>
              <a:rPr lang="zh-CN" altLang="en-US" sz="3000"/>
              <a:t>）是指只考虑类型的抽象性质，而不考虑该类型的实现。</a:t>
            </a:r>
            <a:endParaRPr lang="en-US" altLang="zh-CN" sz="300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000"/>
              <a:t>例如，从抽象数据类型的角度来讲，栈类型是由若干具有线性关系的元素构成，它包含两个操作</a:t>
            </a:r>
            <a:r>
              <a:rPr lang="en-US" altLang="zh-CN" sz="3000"/>
              <a:t>push</a:t>
            </a:r>
            <a:r>
              <a:rPr lang="zh-CN" altLang="en-US" sz="3000"/>
              <a:t>和</a:t>
            </a:r>
            <a:r>
              <a:rPr lang="en-US" altLang="zh-CN" sz="3000"/>
              <a:t>pop</a:t>
            </a:r>
            <a:r>
              <a:rPr lang="zh-CN" altLang="en-US" sz="3000"/>
              <a:t>：</a:t>
            </a:r>
            <a:endParaRPr lang="en-US" altLang="zh-CN" sz="300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/>
              <a:t>“</a:t>
            </a:r>
            <a:r>
              <a:rPr lang="en-US" altLang="zh-CN" sz="2600"/>
              <a:t>s.push(a).pop(x)</a:t>
            </a:r>
            <a:r>
              <a:rPr lang="zh-CN" altLang="en-US" sz="2600"/>
              <a:t>”操作之后，条件“</a:t>
            </a:r>
            <a:r>
              <a:rPr lang="en-US" altLang="zh-CN" sz="2600"/>
              <a:t>x == a</a:t>
            </a:r>
            <a:r>
              <a:rPr lang="zh-CN" altLang="en-US" sz="2600"/>
              <a:t>”成立。</a:t>
            </a:r>
            <a:endParaRPr lang="en-US" altLang="zh-CN" sz="260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600"/>
              <a:t>上面就是栈这个抽象数据类型所包含的全部内容，它与栈的内部是如何实现的无关。</a:t>
            </a:r>
            <a:endParaRPr lang="en-US" altLang="zh-CN" sz="260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46650-73F0-36DD-EA53-23AB8524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0C0FA9-9D86-FF66-B19F-DEA63DB90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8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000"/>
              <a:t>C++</a:t>
            </a:r>
            <a:r>
              <a:rPr lang="zh-CN" altLang="en-US" sz="3000"/>
              <a:t>把抽象数据类型与抽象数据类型的实现两者合二为一了，它们都用类来表示。这样就带来了问题：</a:t>
            </a:r>
            <a:endParaRPr lang="en-US" altLang="zh-CN" sz="3000"/>
          </a:p>
          <a:p>
            <a:pPr lvl="1" eaLnBrk="1" hangingPunct="1">
              <a:defRPr/>
            </a:pPr>
            <a:r>
              <a:rPr lang="zh-CN" altLang="en-US" sz="2600"/>
              <a:t>对于一个用数组实现的栈类</a:t>
            </a:r>
            <a:r>
              <a:rPr lang="en-US" altLang="zh-CN" sz="2600"/>
              <a:t>ArrayStack</a:t>
            </a:r>
            <a:r>
              <a:rPr lang="zh-CN" altLang="en-US" sz="2600"/>
              <a:t>和一个用链表实现的栈类</a:t>
            </a:r>
            <a:r>
              <a:rPr lang="en-US" altLang="zh-CN" sz="2600"/>
              <a:t>LinkedStack</a:t>
            </a:r>
            <a:r>
              <a:rPr lang="zh-CN" altLang="en-US" sz="2600"/>
              <a:t>，虽然从抽象数据类型的角度看，它们是相同的类型，但在</a:t>
            </a:r>
            <a:r>
              <a:rPr lang="en-US" altLang="zh-CN" sz="2600"/>
              <a:t>C++</a:t>
            </a:r>
            <a:r>
              <a:rPr lang="zh-CN" altLang="en-US" sz="2600"/>
              <a:t>中它们却是不同的类型。</a:t>
            </a:r>
            <a:endParaRPr lang="en-US" altLang="zh-CN" sz="2600"/>
          </a:p>
          <a:p>
            <a:pPr lvl="1" eaLnBrk="1" hangingPunct="1">
              <a:defRPr/>
            </a:pPr>
            <a:r>
              <a:rPr lang="zh-CN" altLang="en-US" sz="2600"/>
              <a:t>对于函数：“</a:t>
            </a:r>
            <a:r>
              <a:rPr lang="en-US" altLang="zh-CN" sz="2600"/>
              <a:t>void f(T&amp; st);</a:t>
            </a:r>
            <a:r>
              <a:rPr lang="zh-CN" altLang="en-US" sz="2600"/>
              <a:t>”，如果要求它既可以接受</a:t>
            </a:r>
            <a:r>
              <a:rPr lang="en-US" altLang="zh-CN" sz="2600"/>
              <a:t>ArrayStack</a:t>
            </a:r>
            <a:r>
              <a:rPr lang="zh-CN" altLang="en-US" sz="2600"/>
              <a:t>类的对象，也可以接受</a:t>
            </a:r>
            <a:r>
              <a:rPr lang="en-US" altLang="zh-CN" sz="2600"/>
              <a:t>LinkedStack</a:t>
            </a:r>
            <a:r>
              <a:rPr lang="zh-CN" altLang="en-US" sz="2600"/>
              <a:t>类的对象，那么，它的参数</a:t>
            </a:r>
            <a:r>
              <a:rPr lang="en-US" altLang="zh-CN" sz="2600"/>
              <a:t>T</a:t>
            </a:r>
            <a:r>
              <a:rPr lang="zh-CN" altLang="en-US" sz="2600"/>
              <a:t>的类型怎么表示？</a:t>
            </a:r>
            <a:endParaRPr lang="en-US" altLang="zh-CN" sz="2600"/>
          </a:p>
          <a:p>
            <a:pPr>
              <a:lnSpc>
                <a:spcPct val="90000"/>
              </a:lnSpc>
              <a:defRPr/>
            </a:pPr>
            <a:endParaRPr lang="zh-CN" altLang="en-US" sz="30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5" name="Rectangle 3">
            <a:extLst>
              <a:ext uri="{FF2B5EF4-FFF2-40B4-BE49-F238E27FC236}">
                <a16:creationId xmlns:a16="http://schemas.microsoft.com/office/drawing/2014/main" id="{85E9C44F-38AE-4899-F586-6C189AF50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60851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/>
              <a:t>可以为</a:t>
            </a:r>
            <a:r>
              <a:rPr lang="en-US" altLang="zh-CN"/>
              <a:t>ArrayStack</a:t>
            </a:r>
            <a:r>
              <a:rPr lang="zh-CN" altLang="en-US"/>
              <a:t>和</a:t>
            </a:r>
            <a:r>
              <a:rPr lang="en-US" altLang="zh-CN"/>
              <a:t>LinkedStack</a:t>
            </a:r>
            <a:r>
              <a:rPr lang="zh-CN" altLang="en-US"/>
              <a:t>提供一个抽象基类：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/>
              <a:t>class </a:t>
            </a:r>
            <a:r>
              <a:rPr lang="en-US" altLang="zh-CN" sz="2400">
                <a:solidFill>
                  <a:schemeClr val="folHlink"/>
                </a:solidFill>
              </a:rPr>
              <a:t>Stack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/>
              <a:t>{	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/>
              <a:t>		virtual void push(int i)=0;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/>
              <a:t>		virtual void pop(int&amp; i)=0;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/>
              <a:t>};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9F9063F-1AC4-69F1-A344-FA1B4495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9" name="Rectangle 3">
            <a:extLst>
              <a:ext uri="{FF2B5EF4-FFF2-40B4-BE49-F238E27FC236}">
                <a16:creationId xmlns:a16="http://schemas.microsoft.com/office/drawing/2014/main" id="{C3B42C08-2A9F-38EF-983D-4AE3A95A8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350"/>
            <a:ext cx="8229600" cy="64087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</a:t>
            </a:r>
            <a:r>
              <a:rPr lang="en-US" altLang="zh-CN" sz="2400" dirty="0" err="1">
                <a:solidFill>
                  <a:schemeClr val="folHlink"/>
                </a:solidFill>
              </a:rPr>
              <a:t>ArrayStack</a:t>
            </a:r>
            <a:r>
              <a:rPr lang="en-US" altLang="zh-CN" sz="2400" dirty="0"/>
              <a:t>: public Stack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elements[100],top;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		</a:t>
            </a:r>
            <a:r>
              <a:rPr lang="en-US" altLang="zh-CN" sz="2400" dirty="0" err="1"/>
              <a:t>ArrayStack</a:t>
            </a:r>
            <a:r>
              <a:rPr lang="en-US" altLang="zh-CN" sz="2400" dirty="0"/>
              <a:t>() { top = -1;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void push(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void pop(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&amp;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class </a:t>
            </a:r>
            <a:r>
              <a:rPr lang="en-US" altLang="zh-CN" sz="2400" dirty="0" err="1">
                <a:solidFill>
                  <a:schemeClr val="folHlink"/>
                </a:solidFill>
              </a:rPr>
              <a:t>LinkedStack</a:t>
            </a:r>
            <a:r>
              <a:rPr lang="en-US" altLang="zh-CN" sz="2400" dirty="0"/>
              <a:t>: public Stack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{		</a:t>
            </a:r>
            <a:r>
              <a:rPr lang="en-US" altLang="zh-CN" sz="2400" dirty="0" err="1"/>
              <a:t>struct</a:t>
            </a:r>
            <a:r>
              <a:rPr lang="en-US" altLang="zh-CN" sz="2400" dirty="0"/>
              <a:t> Node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{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content;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Node *next;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} *first;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LinkedStack</a:t>
            </a:r>
            <a:r>
              <a:rPr lang="en-US" altLang="zh-CN" sz="2400" dirty="0"/>
              <a:t>() { first = NULL;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void push(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void pop(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&amp;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{ ......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};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3" name="Rectangle 3">
            <a:extLst>
              <a:ext uri="{FF2B5EF4-FFF2-40B4-BE49-F238E27FC236}">
                <a16:creationId xmlns:a16="http://schemas.microsoft.com/office/drawing/2014/main" id="{6FEE4FF3-B213-EB09-4999-0E221EC834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11175"/>
            <a:ext cx="8229600" cy="61579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void f(Stack *p)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p-&gt;push(...);  //</a:t>
            </a:r>
            <a:r>
              <a:rPr lang="zh-CN" altLang="en-US" sz="2400"/>
              <a:t>将根据</a:t>
            </a:r>
            <a:r>
              <a:rPr lang="en-US" altLang="zh-CN" sz="2400"/>
              <a:t>p</a:t>
            </a:r>
            <a:r>
              <a:rPr lang="zh-CN" altLang="en-US" sz="2400"/>
              <a:t>所指向的对象类来确定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	       </a:t>
            </a:r>
            <a:r>
              <a:rPr lang="en-US" altLang="zh-CN" sz="2400"/>
              <a:t>//push</a:t>
            </a:r>
            <a:r>
              <a:rPr lang="zh-CN" altLang="en-US" sz="2400"/>
              <a:t>的归属。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</a:t>
            </a:r>
            <a:r>
              <a:rPr lang="en-US" altLang="zh-CN" sz="240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p-&gt;pop(...);  //</a:t>
            </a:r>
            <a:r>
              <a:rPr lang="zh-CN" altLang="en-US" sz="2400"/>
              <a:t>将根据</a:t>
            </a:r>
            <a:r>
              <a:rPr lang="en-US" altLang="zh-CN" sz="2400"/>
              <a:t>p</a:t>
            </a:r>
            <a:r>
              <a:rPr lang="zh-CN" altLang="en-US" sz="2400"/>
              <a:t>所指向的对象类来确定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		      </a:t>
            </a:r>
            <a:r>
              <a:rPr lang="en-US" altLang="zh-CN" sz="2400"/>
              <a:t>//pop</a:t>
            </a:r>
            <a:r>
              <a:rPr lang="zh-CN" altLang="en-US" sz="2400"/>
              <a:t>的归属。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/>
              <a:t>	</a:t>
            </a:r>
            <a:r>
              <a:rPr lang="en-US" altLang="zh-CN" sz="2400"/>
              <a:t>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int main()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{	ArrayStack st1;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LinkedStack st2;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f(&amp;st1);  //OK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f(&amp;st2);  //OK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	......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/>
              <a:t>}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49C886-3F16-1DCC-157B-29B125F7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用抽象类实现类的真正抽象作用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B5F28-6E5E-584B-8CF6-FEC8E5984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由于在</a:t>
            </a:r>
            <a:r>
              <a:rPr lang="en-US" altLang="zh-CN" dirty="0"/>
              <a:t>C++</a:t>
            </a:r>
            <a:r>
              <a:rPr lang="zh-CN" altLang="en-US" dirty="0"/>
              <a:t>中使用某个类时必须要见到该类的定义，因此，使用者能够见到该类的非</a:t>
            </a:r>
            <a:r>
              <a:rPr lang="en-US" altLang="zh-CN" dirty="0"/>
              <a:t>public</a:t>
            </a:r>
            <a:r>
              <a:rPr lang="zh-CN" altLang="en-US" dirty="0"/>
              <a:t>成员，这样就有手段绕过类的访问控制而使用类的非</a:t>
            </a:r>
            <a:r>
              <a:rPr lang="en-US" altLang="zh-CN" dirty="0"/>
              <a:t>public</a:t>
            </a:r>
            <a:r>
              <a:rPr lang="zh-CN" altLang="en-US" dirty="0"/>
              <a:t>成员。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9" name="Rectangle 3">
            <a:extLst>
              <a:ext uri="{FF2B5EF4-FFF2-40B4-BE49-F238E27FC236}">
                <a16:creationId xmlns:a16="http://schemas.microsoft.com/office/drawing/2014/main" id="{F8C555A2-B988-B604-E70D-A67D03252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229600" cy="6308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zh-CN" altLang="en-US" sz="2800" dirty="0"/>
              <a:t>例如：</a:t>
            </a:r>
            <a:r>
              <a:rPr lang="en-US" altLang="zh-CN" sz="2800" dirty="0"/>
              <a:t> 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//</a:t>
            </a:r>
            <a:r>
              <a:rPr lang="en-GB" altLang="zh-CN" sz="2000" dirty="0" err="1"/>
              <a:t>A.h</a:t>
            </a:r>
            <a:r>
              <a:rPr lang="zh-CN" altLang="en-US" sz="2000" dirty="0"/>
              <a:t> （类</a:t>
            </a:r>
            <a:r>
              <a:rPr lang="en-US" altLang="zh-CN" sz="2000" dirty="0"/>
              <a:t>A</a:t>
            </a:r>
            <a:r>
              <a:rPr lang="zh-CN" altLang="en-US" sz="2000" dirty="0"/>
              <a:t>的对外接口）</a:t>
            </a:r>
            <a:endParaRPr lang="en-GB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class 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	</a:t>
            </a:r>
            <a:r>
              <a:rPr lang="en-GB" altLang="zh-CN" sz="2000" dirty="0" err="1">
                <a:solidFill>
                  <a:schemeClr val="folHlink"/>
                </a:solidFill>
              </a:rPr>
              <a:t>int</a:t>
            </a:r>
            <a:r>
              <a:rPr lang="en-GB" altLang="zh-CN" sz="2000" dirty="0">
                <a:solidFill>
                  <a:schemeClr val="folHlink"/>
                </a:solidFill>
              </a:rPr>
              <a:t> </a:t>
            </a:r>
            <a:r>
              <a:rPr lang="en-GB" altLang="zh-CN" sz="2000" dirty="0" err="1">
                <a:solidFill>
                  <a:schemeClr val="folHlink"/>
                </a:solidFill>
              </a:rPr>
              <a:t>i,j</a:t>
            </a:r>
            <a:r>
              <a:rPr lang="en-GB" altLang="zh-CN" sz="2000" dirty="0">
                <a:solidFill>
                  <a:schemeClr val="folHlink"/>
                </a:solidFill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A();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A(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x,int</a:t>
            </a:r>
            <a:r>
              <a:rPr lang="en-GB" altLang="zh-CN" sz="2000" dirty="0"/>
              <a:t> y);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void f(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x);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//B.cpp </a:t>
            </a:r>
            <a:r>
              <a:rPr lang="zh-CN" altLang="en-US" sz="2000" dirty="0"/>
              <a:t>（</a:t>
            </a:r>
            <a:r>
              <a:rPr lang="en-US" altLang="zh-CN" sz="2000" dirty="0"/>
              <a:t>A</a:t>
            </a:r>
            <a:r>
              <a:rPr lang="zh-CN" altLang="en-US" sz="2000" dirty="0"/>
              <a:t>类对象的某个使用者）</a:t>
            </a:r>
            <a:endParaRPr lang="en-GB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#include "</a:t>
            </a:r>
            <a:r>
              <a:rPr lang="en-GB" altLang="zh-CN" sz="2000" dirty="0" err="1"/>
              <a:t>A.h</a:t>
            </a:r>
            <a:r>
              <a:rPr lang="en-GB" altLang="zh-CN" sz="2000" dirty="0"/>
              <a:t>"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void </a:t>
            </a:r>
            <a:r>
              <a:rPr lang="en-GB" altLang="zh-CN" sz="2000" dirty="0" err="1"/>
              <a:t>func</a:t>
            </a:r>
            <a:r>
              <a:rPr lang="en-GB" altLang="zh-CN" sz="2000" dirty="0"/>
              <a:t>(A *p)  </a:t>
            </a:r>
            <a:r>
              <a:rPr lang="en-US" altLang="zh-CN" sz="2000" dirty="0"/>
              <a:t>//</a:t>
            </a:r>
            <a:r>
              <a:rPr lang="zh-CN" altLang="en-US" sz="2000" dirty="0">
                <a:solidFill>
                  <a:srgbClr val="FFC000"/>
                </a:solidFill>
              </a:rPr>
              <a:t>绕过对象类的访问控制！</a:t>
            </a:r>
            <a:endParaRPr lang="en-GB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	p-&gt;f(2); //Ok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</a:t>
            </a:r>
            <a:r>
              <a:rPr lang="en-US" altLang="zh-CN" sz="2000" dirty="0"/>
              <a:t>p-&gt;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1; //</a:t>
            </a:r>
            <a:r>
              <a:rPr lang="en-US" altLang="zh-CN" sz="20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p-&gt;j = 2; //</a:t>
            </a:r>
            <a:r>
              <a:rPr lang="en-US" altLang="zh-CN" sz="2000" dirty="0">
                <a:solidFill>
                  <a:schemeClr val="folHlink"/>
                </a:solidFill>
              </a:rPr>
              <a:t>Error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*((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*)p) = 1; //</a:t>
            </a:r>
            <a:r>
              <a:rPr lang="en-US" altLang="zh-CN" sz="2000" dirty="0">
                <a:solidFill>
                  <a:schemeClr val="folHlink"/>
                </a:solidFill>
              </a:rPr>
              <a:t>Ok</a:t>
            </a:r>
            <a:r>
              <a:rPr lang="zh-CN" altLang="en-US" sz="2000" dirty="0"/>
              <a:t>，</a:t>
            </a:r>
            <a:r>
              <a:rPr lang="zh-CN" altLang="en-GB" sz="2000" dirty="0"/>
              <a:t>访问</a:t>
            </a:r>
            <a:r>
              <a:rPr lang="en-US" altLang="zh-CN" sz="2000" dirty="0"/>
              <a:t>p</a:t>
            </a:r>
            <a:r>
              <a:rPr lang="zh-CN" altLang="en-GB" sz="2000" dirty="0"/>
              <a:t>所指向的对象的成员</a:t>
            </a:r>
            <a:r>
              <a:rPr lang="en-US" altLang="zh-CN" sz="2000" dirty="0" err="1"/>
              <a:t>i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	*((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*)p+1) = 2; //</a:t>
            </a:r>
            <a:r>
              <a:rPr lang="en-US" altLang="zh-CN" sz="2000" dirty="0">
                <a:solidFill>
                  <a:schemeClr val="folHlink"/>
                </a:solidFill>
              </a:rPr>
              <a:t>Ok</a:t>
            </a:r>
            <a:r>
              <a:rPr lang="zh-CN" altLang="en-US" sz="2000" dirty="0"/>
              <a:t>，</a:t>
            </a:r>
            <a:r>
              <a:rPr lang="zh-CN" altLang="en-GB" sz="2000" dirty="0"/>
              <a:t>访问</a:t>
            </a:r>
            <a:r>
              <a:rPr lang="en-US" altLang="zh-CN" sz="2000" dirty="0"/>
              <a:t>p</a:t>
            </a:r>
            <a:r>
              <a:rPr lang="zh-CN" altLang="en-GB" sz="2000" dirty="0"/>
              <a:t>所指向的对象的成员</a:t>
            </a:r>
            <a:r>
              <a:rPr lang="en-US" altLang="zh-CN" sz="2000" dirty="0"/>
              <a:t>j</a:t>
            </a:r>
            <a:endParaRPr lang="en-GB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rgbClr val="FFC000"/>
                </a:solidFill>
              </a:rPr>
              <a:t>如何防止上面的情况？</a:t>
            </a:r>
            <a:endParaRPr lang="en-US" altLang="zh-CN" sz="2000" dirty="0">
              <a:solidFill>
                <a:srgbClr val="FFC000"/>
              </a:solidFill>
            </a:endParaRPr>
          </a:p>
        </p:txBody>
      </p:sp>
      <p:sp>
        <p:nvSpPr>
          <p:cNvPr id="24579" name="Rectangle 4">
            <a:extLst>
              <a:ext uri="{FF2B5EF4-FFF2-40B4-BE49-F238E27FC236}">
                <a16:creationId xmlns:a16="http://schemas.microsoft.com/office/drawing/2014/main" id="{B5CC4ECE-94A4-7638-CEA4-61DF7CD96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775" y="4437063"/>
            <a:ext cx="790575" cy="715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4580" name="Line 5">
            <a:extLst>
              <a:ext uri="{FF2B5EF4-FFF2-40B4-BE49-F238E27FC236}">
                <a16:creationId xmlns:a16="http://schemas.microsoft.com/office/drawing/2014/main" id="{9BAFAC01-8D47-079D-8B20-AA59F39A9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4797425"/>
            <a:ext cx="790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/>
          <a:lstStyle/>
          <a:p>
            <a:endParaRPr lang="zh-CN" altLang="en-US"/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38C904FE-E263-B2A0-90DD-F362CFA92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88" y="4365625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i:</a:t>
            </a: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455A44EB-C903-1F72-7314-54D9F2AA0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7713" y="4724400"/>
            <a:ext cx="427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j: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BBE54B38-7A93-875A-0307-282E01F45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563" y="836613"/>
            <a:ext cx="4027487" cy="19399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//A.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cpp</a:t>
            </a:r>
            <a:r>
              <a:rPr lang="zh-CN" altLang="en-US" sz="2000"/>
              <a:t> （类</a:t>
            </a:r>
            <a:r>
              <a:rPr lang="en-US" altLang="zh-CN" sz="2000"/>
              <a:t>A</a:t>
            </a:r>
            <a:r>
              <a:rPr lang="zh-CN" altLang="en-US" sz="2000"/>
              <a:t>的实现，不公开）</a:t>
            </a:r>
            <a:endParaRPr lang="en-GB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#include "A.h"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A(</a:t>
            </a: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(int x,int y)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A::f(int x)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  <p:sp>
        <p:nvSpPr>
          <p:cNvPr id="24584" name="Text Box 6">
            <a:extLst>
              <a:ext uri="{FF2B5EF4-FFF2-40B4-BE49-F238E27FC236}">
                <a16:creationId xmlns:a16="http://schemas.microsoft.com/office/drawing/2014/main" id="{EA93B9A7-3748-6E26-9A7A-13EBF1DD3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3644900"/>
            <a:ext cx="517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p:</a:t>
            </a:r>
          </a:p>
        </p:txBody>
      </p:sp>
      <p:sp>
        <p:nvSpPr>
          <p:cNvPr id="24585" name="Rectangle 4">
            <a:extLst>
              <a:ext uri="{FF2B5EF4-FFF2-40B4-BE49-F238E27FC236}">
                <a16:creationId xmlns:a16="http://schemas.microsoft.com/office/drawing/2014/main" id="{03BC40A8-50D8-E862-0C61-E7842E185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3789363"/>
            <a:ext cx="792162" cy="317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24586" name="直接箭头连接符 2">
            <a:extLst>
              <a:ext uri="{FF2B5EF4-FFF2-40B4-BE49-F238E27FC236}">
                <a16:creationId xmlns:a16="http://schemas.microsoft.com/office/drawing/2014/main" id="{6B788569-2641-231A-529B-A698164E36DF}"/>
              </a:ext>
            </a:extLst>
          </p:cNvPr>
          <p:cNvCxnSpPr>
            <a:cxnSpLocks noChangeShapeType="1"/>
            <a:endCxn id="24579" idx="0"/>
          </p:cNvCxnSpPr>
          <p:nvPr/>
        </p:nvCxnSpPr>
        <p:spPr bwMode="auto">
          <a:xfrm>
            <a:off x="7993063" y="3933825"/>
            <a:ext cx="0" cy="5032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36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36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36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36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36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36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36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36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236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>
            <a:extLst>
              <a:ext uri="{FF2B5EF4-FFF2-40B4-BE49-F238E27FC236}">
                <a16:creationId xmlns:a16="http://schemas.microsoft.com/office/drawing/2014/main" id="{83D375A8-3FB8-2570-0612-10E9AC7A1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975" y="404813"/>
            <a:ext cx="8351838" cy="62642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/>
              <a:t>用抽象类</a:t>
            </a:r>
            <a:r>
              <a:rPr lang="en-US" altLang="zh-CN" sz="2800"/>
              <a:t>I_A</a:t>
            </a:r>
            <a:r>
              <a:rPr lang="zh-CN" altLang="en-US" sz="2800"/>
              <a:t>给类</a:t>
            </a:r>
            <a:r>
              <a:rPr lang="en-US" altLang="zh-CN" sz="2800"/>
              <a:t>A</a:t>
            </a:r>
            <a:r>
              <a:rPr lang="zh-CN" altLang="en-US" sz="2800"/>
              <a:t>提供一个抽象接口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altLang="zh-CN" sz="200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//I_A.h</a:t>
            </a:r>
            <a:r>
              <a:rPr lang="zh-CN" altLang="en-US" sz="2000"/>
              <a:t> （类</a:t>
            </a:r>
            <a:r>
              <a:rPr lang="en-US" altLang="zh-CN" sz="2000"/>
              <a:t>A</a:t>
            </a:r>
            <a:r>
              <a:rPr lang="zh-CN" altLang="en-US" sz="2000"/>
              <a:t>的对外接口）</a:t>
            </a:r>
            <a:endParaRPr lang="en-GB" altLang="zh-CN" sz="200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class </a:t>
            </a:r>
            <a:r>
              <a:rPr lang="en-GB" altLang="zh-CN" sz="2000">
                <a:solidFill>
                  <a:schemeClr val="folHlink"/>
                </a:solidFill>
              </a:rPr>
              <a:t>I_A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{ public: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   	  virtual void f(int)=0;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};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altLang="zh-CN" sz="2000">
              <a:effectLst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//B.cpp</a:t>
            </a:r>
            <a:r>
              <a:rPr lang="zh-CN" altLang="en-US" sz="2000"/>
              <a:t> （</a:t>
            </a:r>
            <a:r>
              <a:rPr lang="en-US" altLang="zh-CN" sz="2000"/>
              <a:t>A</a:t>
            </a:r>
            <a:r>
              <a:rPr lang="zh-CN" altLang="en-US" sz="2000"/>
              <a:t>类对象的某个使用者）</a:t>
            </a:r>
            <a:endParaRPr lang="en-GB" altLang="zh-CN" sz="200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#include "I_A.h"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void func(I_A *p)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{	p-&gt;f(2);  //Ok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altLang="zh-CN" sz="200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	</a:t>
            </a:r>
            <a:r>
              <a:rPr lang="en-US" altLang="zh-CN" sz="2000"/>
              <a:t> *((int *)p) = 1; </a:t>
            </a:r>
            <a:r>
              <a:rPr lang="en-GB" altLang="zh-CN" sz="2000"/>
              <a:t>//</a:t>
            </a:r>
            <a:r>
              <a:rPr lang="zh-CN" altLang="en-GB" sz="2000"/>
              <a:t>这里不知道</a:t>
            </a:r>
            <a:r>
              <a:rPr lang="en-GB" altLang="zh-CN" sz="2000"/>
              <a:t>p</a:t>
            </a:r>
            <a:r>
              <a:rPr lang="zh-CN" altLang="en-GB" sz="2000"/>
              <a:t>所指向的对象有哪些数据成员，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/>
              <a:t>      </a:t>
            </a:r>
            <a:r>
              <a:rPr lang="en-GB" altLang="zh-CN" sz="2000"/>
              <a:t>//</a:t>
            </a:r>
            <a:r>
              <a:rPr lang="zh-CN" altLang="en-US" sz="2000"/>
              <a:t>用户不知道数据定义情况，并不知道这样</a:t>
            </a:r>
            <a:r>
              <a:rPr lang="zh-CN" altLang="en-GB" sz="2000"/>
              <a:t>访问</a:t>
            </a:r>
            <a:r>
              <a:rPr lang="zh-CN" altLang="en-US" sz="2000"/>
              <a:t>的是哪个</a:t>
            </a:r>
            <a:r>
              <a:rPr lang="zh-CN" altLang="en-GB" sz="2000"/>
              <a:t>数据成员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altLang="zh-CN" sz="2000"/>
              <a:t>}</a:t>
            </a:r>
            <a:endParaRPr lang="en-US" altLang="zh-CN" sz="2000"/>
          </a:p>
        </p:txBody>
      </p:sp>
      <p:sp>
        <p:nvSpPr>
          <p:cNvPr id="624644" name="Text Box 4">
            <a:extLst>
              <a:ext uri="{FF2B5EF4-FFF2-40B4-BE49-F238E27FC236}">
                <a16:creationId xmlns:a16="http://schemas.microsoft.com/office/drawing/2014/main" id="{2ECD22F9-532C-78DC-3EE5-7CC0B6448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125538"/>
            <a:ext cx="4027488" cy="40925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//A.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cpp</a:t>
            </a:r>
            <a:r>
              <a:rPr lang="zh-CN" altLang="en-US" sz="2000"/>
              <a:t> （类</a:t>
            </a:r>
            <a:r>
              <a:rPr lang="en-US" altLang="zh-CN" sz="2000"/>
              <a:t>A</a:t>
            </a:r>
            <a:r>
              <a:rPr lang="zh-CN" altLang="en-US" sz="2000"/>
              <a:t>的实现，不公开）</a:t>
            </a:r>
            <a:endParaRPr lang="en-GB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#include "I_A.h"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class A: public I_A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{	int i,j;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	A();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fr-FR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A(int x,int y);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fr-FR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	void f(int x);</a:t>
            </a:r>
            <a:endParaRPr lang="en-GB" altLang="zh-CN" sz="20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A(</a:t>
            </a: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(int x,int y)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void A::f(int x) { ......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altLang="zh-CN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66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21115</TotalTime>
  <Words>2486</Words>
  <Application>Microsoft Office PowerPoint</Application>
  <PresentationFormat>全屏显示(4:3)</PresentationFormat>
  <Paragraphs>281</Paragraphs>
  <Slides>22</Slides>
  <Notes>0</Notes>
  <HiddenSlides>10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Verdana</vt:lpstr>
      <vt:lpstr>宋体</vt:lpstr>
      <vt:lpstr>Arial</vt:lpstr>
      <vt:lpstr>Wingdings</vt:lpstr>
      <vt:lpstr>Times New Roman</vt:lpstr>
      <vt:lpstr>Globe</vt:lpstr>
      <vt:lpstr>抽象类</vt:lpstr>
      <vt:lpstr>纯虚函数</vt:lpstr>
      <vt:lpstr>抽象类 </vt:lpstr>
      <vt:lpstr>例：用抽象类为各种图形类提供一个基本框架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用联合类型实现</vt:lpstr>
      <vt:lpstr>PowerPoint 演示文稿</vt:lpstr>
      <vt:lpstr>PowerPoint 演示文稿</vt:lpstr>
      <vt:lpstr>PowerPoint 演示文稿</vt:lpstr>
      <vt:lpstr>PowerPoint 演示文稿</vt:lpstr>
      <vt:lpstr>例：用抽象类实现抽象数据类型Stack </vt:lpstr>
      <vt:lpstr>PowerPoint 演示文稿</vt:lpstr>
      <vt:lpstr>PowerPoint 演示文稿</vt:lpstr>
      <vt:lpstr>PowerPoint 演示文稿</vt:lpstr>
      <vt:lpstr>PowerPoint 演示文稿</vt:lpstr>
      <vt:lpstr>用抽象类实现类的真正抽象作用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   Derived Classes</dc:title>
  <dc:creator>chenjj</dc:creator>
  <cp:lastModifiedBy>润泽 颜</cp:lastModifiedBy>
  <cp:revision>775</cp:revision>
  <dcterms:created xsi:type="dcterms:W3CDTF">1999-06-07T07:18:19Z</dcterms:created>
  <dcterms:modified xsi:type="dcterms:W3CDTF">2026-06-18T00:20:43Z</dcterms:modified>
</cp:coreProperties>
</file>