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06" r:id="rId3"/>
    <p:sldId id="307" r:id="rId4"/>
    <p:sldId id="308" r:id="rId5"/>
    <p:sldId id="266" r:id="rId6"/>
    <p:sldId id="272" r:id="rId7"/>
    <p:sldId id="275" r:id="rId8"/>
    <p:sldId id="273" r:id="rId9"/>
    <p:sldId id="274" r:id="rId10"/>
    <p:sldId id="259" r:id="rId11"/>
    <p:sldId id="260" r:id="rId12"/>
    <p:sldId id="261" r:id="rId13"/>
    <p:sldId id="263" r:id="rId14"/>
    <p:sldId id="264" r:id="rId15"/>
    <p:sldId id="309" r:id="rId16"/>
    <p:sldId id="262" r:id="rId17"/>
    <p:sldId id="276" r:id="rId18"/>
    <p:sldId id="265" r:id="rId19"/>
    <p:sldId id="285" r:id="rId20"/>
    <p:sldId id="277" r:id="rId21"/>
    <p:sldId id="279" r:id="rId22"/>
    <p:sldId id="280" r:id="rId23"/>
    <p:sldId id="278" r:id="rId24"/>
    <p:sldId id="287" r:id="rId25"/>
    <p:sldId id="281" r:id="rId26"/>
    <p:sldId id="288" r:id="rId27"/>
    <p:sldId id="289" r:id="rId28"/>
    <p:sldId id="290" r:id="rId29"/>
    <p:sldId id="291" r:id="rId30"/>
    <p:sldId id="296" r:id="rId31"/>
    <p:sldId id="292" r:id="rId32"/>
    <p:sldId id="293" r:id="rId33"/>
    <p:sldId id="300" r:id="rId34"/>
    <p:sldId id="299" r:id="rId35"/>
    <p:sldId id="305" r:id="rId36"/>
    <p:sldId id="304" r:id="rId37"/>
    <p:sldId id="30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788" autoAdjust="0"/>
  </p:normalViewPr>
  <p:slideViewPr>
    <p:cSldViewPr snapToGrid="0">
      <p:cViewPr varScale="1">
        <p:scale>
          <a:sx n="125" d="100"/>
          <a:sy n="125" d="100"/>
        </p:scale>
        <p:origin x="384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482F1-A196-4501-8542-BA2D39B50F44}" type="datetimeFigureOut">
              <a:rPr lang="zh-CN" altLang="en-US" smtClean="0"/>
              <a:t>2026/6/1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18BD45-526F-471B-B093-1C9E40C6B5AB}" type="slidenum">
              <a:rPr lang="zh-CN" altLang="en-US" smtClean="0"/>
              <a:t>‹#›</a:t>
            </a:fld>
            <a:endParaRPr lang="zh-CN" altLang="en-US"/>
          </a:p>
        </p:txBody>
      </p:sp>
    </p:spTree>
    <p:extLst>
      <p:ext uri="{BB962C8B-B14F-4D97-AF65-F5344CB8AC3E}">
        <p14:creationId xmlns:p14="http://schemas.microsoft.com/office/powerpoint/2010/main" val="1406318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根据</a:t>
            </a:r>
            <a:r>
              <a:rPr lang="en-US" altLang="zh-CN" sz="1200" b="0" i="0" kern="1200" dirty="0">
                <a:solidFill>
                  <a:schemeClr val="tx1"/>
                </a:solidFill>
                <a:effectLst/>
                <a:latin typeface="+mn-lt"/>
                <a:ea typeface="+mn-ea"/>
                <a:cs typeface="+mn-cs"/>
              </a:rPr>
              <a:t>Moore</a:t>
            </a:r>
            <a:r>
              <a:rPr lang="zh-CN" altLang="en-US" sz="1200" b="0" i="0" kern="1200" dirty="0">
                <a:solidFill>
                  <a:schemeClr val="tx1"/>
                </a:solidFill>
                <a:effectLst/>
                <a:latin typeface="+mn-lt"/>
                <a:ea typeface="+mn-ea"/>
                <a:cs typeface="+mn-cs"/>
              </a:rPr>
              <a:t>定律，集成电路上可容纳的晶体管数量每</a:t>
            </a:r>
            <a:r>
              <a:rPr lang="en-US" altLang="zh-CN" sz="1200" b="0" i="0" kern="1200" dirty="0">
                <a:solidFill>
                  <a:schemeClr val="tx1"/>
                </a:solidFill>
                <a:effectLst/>
                <a:latin typeface="+mn-lt"/>
                <a:ea typeface="+mn-ea"/>
                <a:cs typeface="+mn-cs"/>
              </a:rPr>
              <a:t>18</a:t>
            </a:r>
            <a:r>
              <a:rPr lang="zh-CN" altLang="en-US" sz="1200" b="0" i="0" kern="1200" dirty="0">
                <a:solidFill>
                  <a:schemeClr val="tx1"/>
                </a:solidFill>
                <a:effectLst/>
                <a:latin typeface="+mn-lt"/>
                <a:ea typeface="+mn-ea"/>
                <a:cs typeface="+mn-cs"/>
              </a:rPr>
              <a:t>个月翻一番，因此</a:t>
            </a:r>
            <a:r>
              <a:rPr lang="en-US" altLang="zh-CN" sz="1200" b="0" i="0" kern="1200" dirty="0">
                <a:solidFill>
                  <a:schemeClr val="tx1"/>
                </a:solidFill>
                <a:effectLst/>
                <a:latin typeface="+mn-lt"/>
                <a:ea typeface="+mn-ea"/>
                <a:cs typeface="+mn-cs"/>
              </a:rPr>
              <a:t>CPU</a:t>
            </a:r>
            <a:r>
              <a:rPr lang="zh-CN" altLang="en-US" sz="1200" b="0" i="0" kern="1200" dirty="0">
                <a:solidFill>
                  <a:schemeClr val="tx1"/>
                </a:solidFill>
                <a:effectLst/>
                <a:latin typeface="+mn-lt"/>
                <a:ea typeface="+mn-ea"/>
                <a:cs typeface="+mn-cs"/>
              </a:rPr>
              <a:t>上的晶体管数量会越来越多。</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摩尔定律早就失效了，也不是现在的</a:t>
            </a:r>
            <a:r>
              <a:rPr lang="en-US" altLang="zh-CN" sz="1200" b="0" i="0" kern="1200" dirty="0">
                <a:solidFill>
                  <a:schemeClr val="tx1"/>
                </a:solidFill>
                <a:effectLst/>
                <a:latin typeface="+mn-lt"/>
                <a:ea typeface="+mn-ea"/>
                <a:cs typeface="+mn-cs"/>
              </a:rPr>
              <a:t>14nm</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10nm</a:t>
            </a:r>
            <a:r>
              <a:rPr lang="zh-CN" altLang="en-US" sz="1200" b="0" i="0" kern="1200" dirty="0">
                <a:solidFill>
                  <a:schemeClr val="tx1"/>
                </a:solidFill>
                <a:effectLst/>
                <a:latin typeface="+mn-lt"/>
                <a:ea typeface="+mn-ea"/>
                <a:cs typeface="+mn-cs"/>
              </a:rPr>
              <a:t>工艺失效的，严格意义上的摩尔定律在</a:t>
            </a:r>
            <a:r>
              <a:rPr lang="en-US" altLang="zh-CN" sz="1200" b="0" i="0" kern="1200" dirty="0">
                <a:solidFill>
                  <a:schemeClr val="tx1"/>
                </a:solidFill>
                <a:effectLst/>
                <a:latin typeface="+mn-lt"/>
                <a:ea typeface="+mn-ea"/>
                <a:cs typeface="+mn-cs"/>
              </a:rPr>
              <a:t>28nm</a:t>
            </a:r>
            <a:r>
              <a:rPr lang="zh-CN" altLang="en-US" sz="1200" b="0" i="0" kern="1200" dirty="0">
                <a:solidFill>
                  <a:schemeClr val="tx1"/>
                </a:solidFill>
                <a:effectLst/>
                <a:latin typeface="+mn-lt"/>
                <a:ea typeface="+mn-ea"/>
                <a:cs typeface="+mn-cs"/>
              </a:rPr>
              <a:t>之后就失效了</a:t>
            </a:r>
          </a:p>
        </p:txBody>
      </p:sp>
      <p:sp>
        <p:nvSpPr>
          <p:cNvPr id="4" name="灯片编号占位符 3"/>
          <p:cNvSpPr>
            <a:spLocks noGrp="1"/>
          </p:cNvSpPr>
          <p:nvPr>
            <p:ph type="sldNum" sz="quarter" idx="10"/>
          </p:nvPr>
        </p:nvSpPr>
        <p:spPr/>
        <p:txBody>
          <a:bodyPr/>
          <a:lstStyle/>
          <a:p>
            <a:fld id="{0C18BD45-526F-471B-B093-1C9E40C6B5AB}" type="slidenum">
              <a:rPr lang="zh-CN" altLang="en-US" smtClean="0"/>
              <a:t>2</a:t>
            </a:fld>
            <a:endParaRPr lang="zh-CN" altLang="en-US"/>
          </a:p>
        </p:txBody>
      </p:sp>
    </p:spTree>
    <p:extLst>
      <p:ext uri="{BB962C8B-B14F-4D97-AF65-F5344CB8AC3E}">
        <p14:creationId xmlns:p14="http://schemas.microsoft.com/office/powerpoint/2010/main" val="156579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80000"/>
              </a:lnSpc>
              <a:spcBef>
                <a:spcPct val="0"/>
              </a:spcBef>
              <a:buFontTx/>
              <a:buNone/>
            </a:pPr>
            <a:r>
              <a:rPr lang="en-US" altLang="en-US" sz="1200" b="1" dirty="0">
                <a:solidFill>
                  <a:srgbClr val="FF0000"/>
                </a:solidFill>
              </a:rPr>
              <a:t>Memory-wall challenge:</a:t>
            </a:r>
          </a:p>
          <a:p>
            <a:pPr eaLnBrk="1" hangingPunct="1">
              <a:lnSpc>
                <a:spcPct val="80000"/>
              </a:lnSpc>
              <a:spcBef>
                <a:spcPct val="0"/>
              </a:spcBef>
              <a:buFontTx/>
              <a:buNone/>
            </a:pPr>
            <a:r>
              <a:rPr lang="en-US" altLang="en-US" sz="1200" dirty="0"/>
              <a:t>Memory already limits single-processor performance. How can we design a memory system that provides a bandwidth of several terabytes/s for data-intensive high-performance applications?</a:t>
            </a:r>
          </a:p>
          <a:p>
            <a:pPr eaLnBrk="1" hangingPunct="1">
              <a:lnSpc>
                <a:spcPct val="80000"/>
              </a:lnSpc>
              <a:spcBef>
                <a:spcPct val="0"/>
              </a:spcBef>
              <a:buFontTx/>
              <a:buNone/>
            </a:pPr>
            <a:endParaRPr lang="en-US" altLang="en-US" sz="1000" dirty="0"/>
          </a:p>
          <a:p>
            <a:pPr eaLnBrk="1" hangingPunct="1">
              <a:lnSpc>
                <a:spcPct val="80000"/>
              </a:lnSpc>
              <a:spcBef>
                <a:spcPct val="0"/>
              </a:spcBef>
              <a:buFontTx/>
              <a:buNone/>
            </a:pPr>
            <a:r>
              <a:rPr lang="en-US" altLang="en-US" sz="1200" b="1" dirty="0">
                <a:solidFill>
                  <a:srgbClr val="FF0000"/>
                </a:solidFill>
              </a:rPr>
              <a:t>Power-wall challenge:</a:t>
            </a:r>
          </a:p>
          <a:p>
            <a:pPr eaLnBrk="1" hangingPunct="1">
              <a:lnSpc>
                <a:spcPct val="80000"/>
              </a:lnSpc>
              <a:spcBef>
                <a:spcPct val="0"/>
              </a:spcBef>
              <a:buFontTx/>
              <a:buNone/>
            </a:pPr>
            <a:r>
              <a:rPr lang="en-US" altLang="en-US" sz="1200" dirty="0"/>
              <a:t>When there are millions of processing nodes, each drawing a few watts of power, we are faced with the energy bill and cooling challenges of MWs of power dissipation, even ignoring the power needs of the interconnection network and peripheral devices</a:t>
            </a:r>
          </a:p>
          <a:p>
            <a:pPr eaLnBrk="1" hangingPunct="1">
              <a:lnSpc>
                <a:spcPct val="80000"/>
              </a:lnSpc>
              <a:spcBef>
                <a:spcPct val="0"/>
              </a:spcBef>
              <a:buFontTx/>
              <a:buNone/>
            </a:pPr>
            <a:endParaRPr lang="en-US" altLang="en-US" sz="1000" dirty="0"/>
          </a:p>
          <a:p>
            <a:pPr eaLnBrk="1" hangingPunct="1">
              <a:lnSpc>
                <a:spcPct val="80000"/>
              </a:lnSpc>
              <a:spcBef>
                <a:spcPct val="0"/>
              </a:spcBef>
              <a:buFontTx/>
              <a:buNone/>
            </a:pPr>
            <a:r>
              <a:rPr lang="en-US" altLang="en-US" sz="1200" b="1" dirty="0">
                <a:solidFill>
                  <a:srgbClr val="FF0000"/>
                </a:solidFill>
              </a:rPr>
              <a:t>Reliability-wall challenge:</a:t>
            </a:r>
          </a:p>
          <a:p>
            <a:pPr eaLnBrk="1" hangingPunct="1">
              <a:lnSpc>
                <a:spcPct val="80000"/>
              </a:lnSpc>
              <a:spcBef>
                <a:spcPct val="0"/>
              </a:spcBef>
              <a:buFontTx/>
              <a:buNone/>
            </a:pPr>
            <a:r>
              <a:rPr lang="en-US" altLang="en-US" sz="1200" dirty="0"/>
              <a:t>Ensuring continuous and correct functioning of a system with many thousands or even millions of processing nodes is non-trivial, given that a few of the nodes are bound to malfunction at an given time</a:t>
            </a:r>
          </a:p>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a:t>
            </a:fld>
            <a:endParaRPr lang="zh-CN" altLang="en-US"/>
          </a:p>
        </p:txBody>
      </p:sp>
    </p:spTree>
    <p:extLst>
      <p:ext uri="{BB962C8B-B14F-4D97-AF65-F5344CB8AC3E}">
        <p14:creationId xmlns:p14="http://schemas.microsoft.com/office/powerpoint/2010/main" val="181285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AMD</a:t>
            </a:r>
            <a:r>
              <a:rPr lang="zh-CN" altLang="en-US" sz="1200" b="0" i="0" kern="1200" dirty="0">
                <a:solidFill>
                  <a:schemeClr val="tx1"/>
                </a:solidFill>
                <a:effectLst/>
                <a:latin typeface="+mn-lt"/>
                <a:ea typeface="+mn-ea"/>
                <a:cs typeface="+mn-cs"/>
              </a:rPr>
              <a:t>提到了一个例子，以制造同样</a:t>
            </a:r>
            <a:r>
              <a:rPr lang="en-US" altLang="zh-CN" sz="1200" b="0" i="0" kern="1200" dirty="0">
                <a:solidFill>
                  <a:schemeClr val="tx1"/>
                </a:solidFill>
                <a:effectLst/>
                <a:latin typeface="+mn-lt"/>
                <a:ea typeface="+mn-ea"/>
                <a:cs typeface="+mn-cs"/>
              </a:rPr>
              <a:t>250mm2</a:t>
            </a:r>
            <a:r>
              <a:rPr lang="zh-CN" altLang="en-US" sz="1200" b="0" i="0" kern="1200" dirty="0">
                <a:solidFill>
                  <a:schemeClr val="tx1"/>
                </a:solidFill>
                <a:effectLst/>
                <a:latin typeface="+mn-lt"/>
                <a:ea typeface="+mn-ea"/>
                <a:cs typeface="+mn-cs"/>
              </a:rPr>
              <a:t>的晶圆核心为例子，对比了</a:t>
            </a:r>
            <a:r>
              <a:rPr lang="en-US" altLang="zh-CN" sz="1200" b="0" i="0" kern="1200" dirty="0">
                <a:solidFill>
                  <a:schemeClr val="tx1"/>
                </a:solidFill>
                <a:effectLst/>
                <a:latin typeface="+mn-lt"/>
                <a:ea typeface="+mn-ea"/>
                <a:cs typeface="+mn-cs"/>
              </a:rPr>
              <a:t>45nm</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7nm</a:t>
            </a:r>
            <a:r>
              <a:rPr lang="zh-CN" altLang="en-US" sz="1200" b="0" i="0" kern="1200" dirty="0">
                <a:solidFill>
                  <a:schemeClr val="tx1"/>
                </a:solidFill>
                <a:effectLst/>
                <a:latin typeface="+mn-lt"/>
                <a:ea typeface="+mn-ea"/>
                <a:cs typeface="+mn-cs"/>
              </a:rPr>
              <a:t>工艺的成本，</a:t>
            </a:r>
            <a:r>
              <a:rPr lang="en-US" altLang="zh-CN" sz="1200" b="0" i="0" kern="1200" dirty="0">
                <a:solidFill>
                  <a:schemeClr val="tx1"/>
                </a:solidFill>
                <a:effectLst/>
                <a:latin typeface="+mn-lt"/>
                <a:ea typeface="+mn-ea"/>
                <a:cs typeface="+mn-cs"/>
              </a:rPr>
              <a:t>45nm</a:t>
            </a:r>
            <a:r>
              <a:rPr lang="zh-CN" altLang="en-US" sz="1200" b="0" i="0" kern="1200" dirty="0">
                <a:solidFill>
                  <a:schemeClr val="tx1"/>
                </a:solidFill>
                <a:effectLst/>
                <a:latin typeface="+mn-lt"/>
                <a:ea typeface="+mn-ea"/>
                <a:cs typeface="+mn-cs"/>
              </a:rPr>
              <a:t>工艺的成本为</a:t>
            </a:r>
            <a:r>
              <a:rPr lang="en-US" altLang="zh-CN" sz="1200" b="0" i="0" kern="1200" dirty="0">
                <a:solidFill>
                  <a:schemeClr val="tx1"/>
                </a:solidFill>
                <a:effectLst/>
                <a:latin typeface="+mn-lt"/>
                <a:ea typeface="+mn-ea"/>
                <a:cs typeface="+mn-cs"/>
              </a:rPr>
              <a:t>100%</a:t>
            </a:r>
            <a:r>
              <a:rPr lang="zh-CN" altLang="en-US" sz="1200" b="0" i="0" kern="1200" dirty="0">
                <a:solidFill>
                  <a:schemeClr val="tx1"/>
                </a:solidFill>
                <a:effectLst/>
                <a:latin typeface="+mn-lt"/>
                <a:ea typeface="+mn-ea"/>
                <a:cs typeface="+mn-cs"/>
              </a:rPr>
              <a:t>基准的话，</a:t>
            </a:r>
            <a:r>
              <a:rPr lang="en-US" altLang="zh-CN" sz="1200" b="0" i="0" kern="1200" dirty="0">
                <a:solidFill>
                  <a:schemeClr val="tx1"/>
                </a:solidFill>
                <a:effectLst/>
                <a:latin typeface="+mn-lt"/>
                <a:ea typeface="+mn-ea"/>
                <a:cs typeface="+mn-cs"/>
              </a:rPr>
              <a:t>28nm</a:t>
            </a:r>
            <a:r>
              <a:rPr lang="zh-CN" altLang="en-US" sz="1200" b="0" i="0" kern="1200" dirty="0">
                <a:solidFill>
                  <a:schemeClr val="tx1"/>
                </a:solidFill>
                <a:effectLst/>
                <a:latin typeface="+mn-lt"/>
                <a:ea typeface="+mn-ea"/>
                <a:cs typeface="+mn-cs"/>
              </a:rPr>
              <a:t>工艺的成本大概是</a:t>
            </a:r>
            <a:r>
              <a:rPr lang="en-US" altLang="zh-CN" sz="1200" b="0" i="0" kern="1200" dirty="0">
                <a:solidFill>
                  <a:schemeClr val="tx1"/>
                </a:solidFill>
                <a:effectLst/>
                <a:latin typeface="+mn-lt"/>
                <a:ea typeface="+mn-ea"/>
                <a:cs typeface="+mn-cs"/>
              </a:rPr>
              <a:t>1.8</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20nm</a:t>
            </a:r>
            <a:r>
              <a:rPr lang="zh-CN" altLang="en-US" sz="1200" b="0" i="0" kern="1200" dirty="0">
                <a:solidFill>
                  <a:schemeClr val="tx1"/>
                </a:solidFill>
                <a:effectLst/>
                <a:latin typeface="+mn-lt"/>
                <a:ea typeface="+mn-ea"/>
                <a:cs typeface="+mn-cs"/>
              </a:rPr>
              <a:t>节点是</a:t>
            </a:r>
            <a:r>
              <a:rPr lang="en-US" altLang="zh-CN" sz="1200" b="0" i="0" kern="1200" dirty="0">
                <a:solidFill>
                  <a:schemeClr val="tx1"/>
                </a:solidFill>
                <a:effectLst/>
                <a:latin typeface="+mn-lt"/>
                <a:ea typeface="+mn-ea"/>
                <a:cs typeface="+mn-cs"/>
              </a:rPr>
              <a:t>2.0</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14/16nm</a:t>
            </a:r>
            <a:r>
              <a:rPr lang="zh-CN" altLang="en-US" sz="1200" b="0" i="0" kern="1200" dirty="0">
                <a:solidFill>
                  <a:schemeClr val="tx1"/>
                </a:solidFill>
                <a:effectLst/>
                <a:latin typeface="+mn-lt"/>
                <a:ea typeface="+mn-ea"/>
                <a:cs typeface="+mn-cs"/>
              </a:rPr>
              <a:t>节点略高于</a:t>
            </a:r>
            <a:r>
              <a:rPr lang="en-US" altLang="zh-CN" sz="1200" b="0" i="0" kern="1200" dirty="0">
                <a:solidFill>
                  <a:schemeClr val="tx1"/>
                </a:solidFill>
                <a:effectLst/>
                <a:latin typeface="+mn-lt"/>
                <a:ea typeface="+mn-ea"/>
                <a:cs typeface="+mn-cs"/>
              </a:rPr>
              <a:t>2.0</a:t>
            </a:r>
            <a:r>
              <a:rPr lang="zh-CN" altLang="en-US" sz="1200" b="0" i="0" kern="1200" dirty="0">
                <a:solidFill>
                  <a:schemeClr val="tx1"/>
                </a:solidFill>
                <a:effectLst/>
                <a:latin typeface="+mn-lt"/>
                <a:ea typeface="+mn-ea"/>
                <a:cs typeface="+mn-cs"/>
              </a:rPr>
              <a:t>，但是到了</a:t>
            </a:r>
            <a:r>
              <a:rPr lang="en-US" altLang="zh-CN" sz="1200" b="0" i="0" kern="1200" dirty="0">
                <a:solidFill>
                  <a:schemeClr val="tx1"/>
                </a:solidFill>
                <a:effectLst/>
                <a:latin typeface="+mn-lt"/>
                <a:ea typeface="+mn-ea"/>
                <a:cs typeface="+mn-cs"/>
              </a:rPr>
              <a:t>7nm</a:t>
            </a:r>
            <a:r>
              <a:rPr lang="zh-CN" altLang="en-US" sz="1200" b="0" i="0" kern="1200" dirty="0">
                <a:solidFill>
                  <a:schemeClr val="tx1"/>
                </a:solidFill>
                <a:effectLst/>
                <a:latin typeface="+mn-lt"/>
                <a:ea typeface="+mn-ea"/>
                <a:cs typeface="+mn-cs"/>
              </a:rPr>
              <a:t>节点，成本就增长到了</a:t>
            </a:r>
            <a:r>
              <a:rPr lang="en-US" altLang="zh-CN" sz="1200" b="0" i="0" kern="1200" dirty="0">
                <a:solidFill>
                  <a:schemeClr val="tx1"/>
                </a:solidFill>
                <a:effectLst/>
                <a:latin typeface="+mn-lt"/>
                <a:ea typeface="+mn-ea"/>
                <a:cs typeface="+mn-cs"/>
              </a:rPr>
              <a:t>4.0</a:t>
            </a:r>
            <a:r>
              <a:rPr lang="zh-CN" altLang="en-US" sz="1200" b="0" i="0" kern="1200" dirty="0">
                <a:solidFill>
                  <a:schemeClr val="tx1"/>
                </a:solidFill>
                <a:effectLst/>
                <a:latin typeface="+mn-lt"/>
                <a:ea typeface="+mn-ea"/>
                <a:cs typeface="+mn-cs"/>
              </a:rPr>
              <a:t>，相比现在的</a:t>
            </a:r>
            <a:r>
              <a:rPr lang="en-US" altLang="zh-CN" sz="1200" b="0" i="0" kern="1200" dirty="0">
                <a:solidFill>
                  <a:schemeClr val="tx1"/>
                </a:solidFill>
                <a:effectLst/>
                <a:latin typeface="+mn-lt"/>
                <a:ea typeface="+mn-ea"/>
                <a:cs typeface="+mn-cs"/>
              </a:rPr>
              <a:t>14/16nm</a:t>
            </a:r>
            <a:r>
              <a:rPr lang="zh-CN" altLang="en-US" sz="1200" b="0" i="0" kern="1200" dirty="0">
                <a:solidFill>
                  <a:schemeClr val="tx1"/>
                </a:solidFill>
                <a:effectLst/>
                <a:latin typeface="+mn-lt"/>
                <a:ea typeface="+mn-ea"/>
                <a:cs typeface="+mn-cs"/>
              </a:rPr>
              <a:t>工艺成本翻倍。</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28nm</a:t>
            </a:r>
            <a:r>
              <a:rPr lang="zh-CN" altLang="en-US" sz="1200" b="0" i="0" kern="1200" dirty="0">
                <a:solidFill>
                  <a:schemeClr val="tx1"/>
                </a:solidFill>
                <a:effectLst/>
                <a:latin typeface="+mn-lt"/>
                <a:ea typeface="+mn-ea"/>
                <a:cs typeface="+mn-cs"/>
              </a:rPr>
              <a:t>节点上开发芯片只要</a:t>
            </a:r>
            <a:r>
              <a:rPr lang="en-US" altLang="zh-CN" sz="1200" b="0" i="0" kern="1200" dirty="0">
                <a:solidFill>
                  <a:schemeClr val="tx1"/>
                </a:solidFill>
                <a:effectLst/>
                <a:latin typeface="+mn-lt"/>
                <a:ea typeface="+mn-ea"/>
                <a:cs typeface="+mn-cs"/>
              </a:rPr>
              <a:t>5130</a:t>
            </a:r>
            <a:r>
              <a:rPr lang="zh-CN" altLang="en-US" sz="1200" b="0" i="0" kern="1200" dirty="0">
                <a:solidFill>
                  <a:schemeClr val="tx1"/>
                </a:solidFill>
                <a:effectLst/>
                <a:latin typeface="+mn-lt"/>
                <a:ea typeface="+mn-ea"/>
                <a:cs typeface="+mn-cs"/>
              </a:rPr>
              <a:t>万美元投入，</a:t>
            </a:r>
            <a:r>
              <a:rPr lang="en-US" altLang="zh-CN" sz="1200" b="0" i="0" kern="1200" dirty="0">
                <a:solidFill>
                  <a:schemeClr val="tx1"/>
                </a:solidFill>
                <a:effectLst/>
                <a:latin typeface="+mn-lt"/>
                <a:ea typeface="+mn-ea"/>
                <a:cs typeface="+mn-cs"/>
              </a:rPr>
              <a:t>16nm</a:t>
            </a:r>
            <a:r>
              <a:rPr lang="zh-CN" altLang="en-US" sz="1200" b="0" i="0" kern="1200" dirty="0">
                <a:solidFill>
                  <a:schemeClr val="tx1"/>
                </a:solidFill>
                <a:effectLst/>
                <a:latin typeface="+mn-lt"/>
                <a:ea typeface="+mn-ea"/>
                <a:cs typeface="+mn-cs"/>
              </a:rPr>
              <a:t>节点需要</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亿美元，</a:t>
            </a:r>
            <a:r>
              <a:rPr lang="en-US" altLang="zh-CN" sz="1200" b="0" i="0" kern="1200" dirty="0">
                <a:solidFill>
                  <a:schemeClr val="tx1"/>
                </a:solidFill>
                <a:effectLst/>
                <a:latin typeface="+mn-lt"/>
                <a:ea typeface="+mn-ea"/>
                <a:cs typeface="+mn-cs"/>
              </a:rPr>
              <a:t>7nm</a:t>
            </a:r>
            <a:r>
              <a:rPr lang="zh-CN" altLang="en-US" sz="1200" b="0" i="0" kern="1200" dirty="0">
                <a:solidFill>
                  <a:schemeClr val="tx1"/>
                </a:solidFill>
                <a:effectLst/>
                <a:latin typeface="+mn-lt"/>
                <a:ea typeface="+mn-ea"/>
                <a:cs typeface="+mn-cs"/>
              </a:rPr>
              <a:t>节点需要</a:t>
            </a:r>
            <a:r>
              <a:rPr lang="en-US" altLang="zh-CN" sz="1200" b="0" i="0" kern="1200" dirty="0">
                <a:solidFill>
                  <a:schemeClr val="tx1"/>
                </a:solidFill>
                <a:effectLst/>
                <a:latin typeface="+mn-lt"/>
                <a:ea typeface="+mn-ea"/>
                <a:cs typeface="+mn-cs"/>
              </a:rPr>
              <a:t>2.97</a:t>
            </a:r>
            <a:r>
              <a:rPr lang="zh-CN" altLang="en-US" sz="1200" b="0" i="0" kern="1200" dirty="0">
                <a:solidFill>
                  <a:schemeClr val="tx1"/>
                </a:solidFill>
                <a:effectLst/>
                <a:latin typeface="+mn-lt"/>
                <a:ea typeface="+mn-ea"/>
                <a:cs typeface="+mn-cs"/>
              </a:rPr>
              <a:t>亿美元。</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从技术上来说</a:t>
            </a:r>
            <a:r>
              <a:rPr lang="en-US" altLang="zh-CN" sz="1200" b="0" i="0" kern="1200" dirty="0">
                <a:solidFill>
                  <a:schemeClr val="tx1"/>
                </a:solidFill>
                <a:effectLst/>
                <a:latin typeface="+mn-lt"/>
                <a:ea typeface="+mn-ea"/>
                <a:cs typeface="+mn-cs"/>
              </a:rPr>
              <a:t>10nm</a:t>
            </a:r>
            <a:r>
              <a:rPr lang="zh-CN" altLang="en-US" sz="1200" b="0" i="0" kern="1200" dirty="0">
                <a:solidFill>
                  <a:schemeClr val="tx1"/>
                </a:solidFill>
                <a:effectLst/>
                <a:latin typeface="+mn-lt"/>
                <a:ea typeface="+mn-ea"/>
                <a:cs typeface="+mn-cs"/>
              </a:rPr>
              <a:t>及以下的工艺就难多了，英特尔迄今都没有能量产</a:t>
            </a:r>
            <a:r>
              <a:rPr lang="en-US" altLang="zh-CN" sz="1200" b="0" i="0" kern="1200" dirty="0">
                <a:solidFill>
                  <a:schemeClr val="tx1"/>
                </a:solidFill>
                <a:effectLst/>
                <a:latin typeface="+mn-lt"/>
                <a:ea typeface="+mn-ea"/>
                <a:cs typeface="+mn-cs"/>
              </a:rPr>
              <a:t>10nm</a:t>
            </a:r>
            <a:r>
              <a:rPr lang="zh-CN" altLang="en-US" sz="1200" b="0" i="0" kern="1200" dirty="0">
                <a:solidFill>
                  <a:schemeClr val="tx1"/>
                </a:solidFill>
                <a:effectLst/>
                <a:latin typeface="+mn-lt"/>
                <a:ea typeface="+mn-ea"/>
                <a:cs typeface="+mn-cs"/>
              </a:rPr>
              <a:t>工艺呢，台积电、三星虽然做到了</a:t>
            </a:r>
            <a:r>
              <a:rPr lang="en-US" altLang="zh-CN" sz="1200" b="0" i="0" kern="1200" dirty="0">
                <a:solidFill>
                  <a:schemeClr val="tx1"/>
                </a:solidFill>
                <a:effectLst/>
                <a:latin typeface="+mn-lt"/>
                <a:ea typeface="+mn-ea"/>
                <a:cs typeface="+mn-cs"/>
              </a:rPr>
              <a:t>7nm</a:t>
            </a:r>
            <a:r>
              <a:rPr lang="zh-CN" altLang="en-US" sz="1200" b="0" i="0" kern="1200" dirty="0">
                <a:solidFill>
                  <a:schemeClr val="tx1"/>
                </a:solidFill>
                <a:effectLst/>
                <a:latin typeface="+mn-lt"/>
                <a:ea typeface="+mn-ea"/>
                <a:cs typeface="+mn-cs"/>
              </a:rPr>
              <a:t>级别</a:t>
            </a:r>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4</a:t>
            </a:fld>
            <a:endParaRPr lang="zh-CN" altLang="en-US"/>
          </a:p>
        </p:txBody>
      </p:sp>
    </p:spTree>
    <p:extLst>
      <p:ext uri="{BB962C8B-B14F-4D97-AF65-F5344CB8AC3E}">
        <p14:creationId xmlns:p14="http://schemas.microsoft.com/office/powerpoint/2010/main" val="931381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2020</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22</a:t>
            </a:r>
            <a:r>
              <a:rPr lang="zh-CN" altLang="en-US" sz="1200" b="0" i="0" kern="1200" dirty="0">
                <a:solidFill>
                  <a:schemeClr val="tx1"/>
                </a:solidFill>
                <a:effectLst/>
                <a:latin typeface="+mn-lt"/>
                <a:ea typeface="+mn-ea"/>
                <a:cs typeface="+mn-cs"/>
              </a:rPr>
              <a:t>日公布的最新全球超级计算机 </a:t>
            </a:r>
            <a:r>
              <a:rPr lang="en-US" altLang="zh-CN" sz="1200" b="0" i="0" kern="1200" dirty="0">
                <a:solidFill>
                  <a:schemeClr val="tx1"/>
                </a:solidFill>
                <a:effectLst/>
                <a:latin typeface="+mn-lt"/>
                <a:ea typeface="+mn-ea"/>
                <a:cs typeface="+mn-cs"/>
              </a:rPr>
              <a:t>TOP 500</a:t>
            </a:r>
            <a:r>
              <a:rPr lang="zh-CN" altLang="en-US" sz="1200" b="0" i="0" kern="1200" dirty="0">
                <a:solidFill>
                  <a:schemeClr val="tx1"/>
                </a:solidFill>
                <a:effectLst/>
                <a:latin typeface="+mn-lt"/>
                <a:ea typeface="+mn-ea"/>
                <a:cs typeface="+mn-cs"/>
              </a:rPr>
              <a:t>榜单上，夺得冠军的是日本的超算</a:t>
            </a:r>
            <a:r>
              <a:rPr lang="en-US" altLang="zh-CN" sz="1200" b="0" i="0" kern="1200" dirty="0" err="1">
                <a:solidFill>
                  <a:schemeClr val="tx1"/>
                </a:solidFill>
                <a:effectLst/>
                <a:latin typeface="+mn-lt"/>
                <a:ea typeface="+mn-ea"/>
                <a:cs typeface="+mn-cs"/>
              </a:rPr>
              <a:t>Fugaku</a:t>
            </a:r>
            <a:r>
              <a:rPr lang="zh-CN" altLang="en-US" sz="1200" b="0" i="0" kern="1200" dirty="0">
                <a:solidFill>
                  <a:schemeClr val="tx1"/>
                </a:solidFill>
                <a:effectLst/>
                <a:latin typeface="+mn-lt"/>
                <a:ea typeface="+mn-ea"/>
                <a:cs typeface="+mn-cs"/>
              </a:rPr>
              <a:t>，中文名字叫“富岳”，该系统日本理化学研究所</a:t>
            </a:r>
            <a:r>
              <a:rPr lang="en-US" altLang="zh-CN" sz="1200" b="0" i="0" kern="1200" dirty="0">
                <a:solidFill>
                  <a:schemeClr val="tx1"/>
                </a:solidFill>
                <a:effectLst/>
                <a:latin typeface="+mn-lt"/>
                <a:ea typeface="+mn-ea"/>
                <a:cs typeface="+mn-cs"/>
              </a:rPr>
              <a:t>(RIKEN) </a:t>
            </a:r>
            <a:r>
              <a:rPr lang="zh-CN" altLang="en-US" sz="1200" b="0" i="0" kern="1200" dirty="0">
                <a:solidFill>
                  <a:schemeClr val="tx1"/>
                </a:solidFill>
                <a:effectLst/>
                <a:latin typeface="+mn-lt"/>
                <a:ea typeface="+mn-ea"/>
                <a:cs typeface="+mn-cs"/>
              </a:rPr>
              <a:t>与富士通公司共同开发。 </a:t>
            </a:r>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5</a:t>
            </a:fld>
            <a:endParaRPr lang="zh-CN" altLang="en-US"/>
          </a:p>
        </p:txBody>
      </p:sp>
    </p:spTree>
    <p:extLst>
      <p:ext uri="{BB962C8B-B14F-4D97-AF65-F5344CB8AC3E}">
        <p14:creationId xmlns:p14="http://schemas.microsoft.com/office/powerpoint/2010/main" val="1397365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数千颗昇腾</a:t>
            </a:r>
            <a:r>
              <a:rPr lang="en-US" altLang="zh-CN" sz="1200" b="0" i="0" kern="1200" dirty="0">
                <a:solidFill>
                  <a:schemeClr val="tx1"/>
                </a:solidFill>
                <a:effectLst/>
                <a:latin typeface="+mn-lt"/>
                <a:ea typeface="+mn-ea"/>
                <a:cs typeface="+mn-cs"/>
              </a:rPr>
              <a:t>910 AI</a:t>
            </a:r>
            <a:r>
              <a:rPr lang="zh-CN" altLang="en-US" sz="1200" b="0" i="0" kern="1200" dirty="0">
                <a:solidFill>
                  <a:schemeClr val="tx1"/>
                </a:solidFill>
                <a:effectLst/>
                <a:latin typeface="+mn-lt"/>
                <a:ea typeface="+mn-ea"/>
                <a:cs typeface="+mn-cs"/>
              </a:rPr>
              <a:t>处理器互联，每颗昇腾</a:t>
            </a:r>
            <a:r>
              <a:rPr lang="en-US" altLang="zh-CN" sz="1200" b="0" i="0" kern="1200" dirty="0">
                <a:solidFill>
                  <a:schemeClr val="tx1"/>
                </a:solidFill>
                <a:effectLst/>
                <a:latin typeface="+mn-lt"/>
                <a:ea typeface="+mn-ea"/>
                <a:cs typeface="+mn-cs"/>
              </a:rPr>
              <a:t>910AI</a:t>
            </a:r>
            <a:r>
              <a:rPr lang="zh-CN" altLang="en-US" sz="1200" b="0" i="0" kern="1200" dirty="0">
                <a:solidFill>
                  <a:schemeClr val="tx1"/>
                </a:solidFill>
                <a:effectLst/>
                <a:latin typeface="+mn-lt"/>
                <a:ea typeface="+mn-ea"/>
                <a:cs typeface="+mn-cs"/>
              </a:rPr>
              <a:t>处理器内置</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个达芬奇</a:t>
            </a:r>
            <a:r>
              <a:rPr lang="en-US" altLang="zh-CN" sz="1200" b="0" i="0" kern="1200" dirty="0">
                <a:solidFill>
                  <a:schemeClr val="tx1"/>
                </a:solidFill>
                <a:effectLst/>
                <a:latin typeface="+mn-lt"/>
                <a:ea typeface="+mn-ea"/>
                <a:cs typeface="+mn-cs"/>
              </a:rPr>
              <a:t>AI Core</a:t>
            </a:r>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7</a:t>
            </a:fld>
            <a:endParaRPr lang="zh-CN" altLang="en-US"/>
          </a:p>
        </p:txBody>
      </p:sp>
    </p:spTree>
    <p:extLst>
      <p:ext uri="{BB962C8B-B14F-4D97-AF65-F5344CB8AC3E}">
        <p14:creationId xmlns:p14="http://schemas.microsoft.com/office/powerpoint/2010/main" val="3326673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11</a:t>
            </a:fld>
            <a:endParaRPr lang="zh-CN" altLang="en-US"/>
          </a:p>
        </p:txBody>
      </p:sp>
    </p:spTree>
    <p:extLst>
      <p:ext uri="{BB962C8B-B14F-4D97-AF65-F5344CB8AC3E}">
        <p14:creationId xmlns:p14="http://schemas.microsoft.com/office/powerpoint/2010/main" val="3014722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13</a:t>
            </a:fld>
            <a:endParaRPr lang="zh-CN" altLang="en-US"/>
          </a:p>
        </p:txBody>
      </p:sp>
    </p:spTree>
    <p:extLst>
      <p:ext uri="{BB962C8B-B14F-4D97-AF65-F5344CB8AC3E}">
        <p14:creationId xmlns:p14="http://schemas.microsoft.com/office/powerpoint/2010/main" val="4144042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16</a:t>
            </a:fld>
            <a:endParaRPr lang="zh-CN" altLang="en-US"/>
          </a:p>
        </p:txBody>
      </p:sp>
    </p:spTree>
    <p:extLst>
      <p:ext uri="{BB962C8B-B14F-4D97-AF65-F5344CB8AC3E}">
        <p14:creationId xmlns:p14="http://schemas.microsoft.com/office/powerpoint/2010/main" val="3260594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20</a:t>
            </a:fld>
            <a:endParaRPr lang="zh-CN" altLang="en-US"/>
          </a:p>
        </p:txBody>
      </p:sp>
    </p:spTree>
    <p:extLst>
      <p:ext uri="{BB962C8B-B14F-4D97-AF65-F5344CB8AC3E}">
        <p14:creationId xmlns:p14="http://schemas.microsoft.com/office/powerpoint/2010/main" val="2846775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21</a:t>
            </a:fld>
            <a:endParaRPr lang="zh-CN" altLang="en-US"/>
          </a:p>
        </p:txBody>
      </p:sp>
    </p:spTree>
    <p:extLst>
      <p:ext uri="{BB962C8B-B14F-4D97-AF65-F5344CB8AC3E}">
        <p14:creationId xmlns:p14="http://schemas.microsoft.com/office/powerpoint/2010/main" val="3969728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22</a:t>
            </a:fld>
            <a:endParaRPr lang="zh-CN" altLang="en-US"/>
          </a:p>
        </p:txBody>
      </p:sp>
    </p:spTree>
    <p:extLst>
      <p:ext uri="{BB962C8B-B14F-4D97-AF65-F5344CB8AC3E}">
        <p14:creationId xmlns:p14="http://schemas.microsoft.com/office/powerpoint/2010/main" val="450057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24</a:t>
            </a:fld>
            <a:endParaRPr lang="zh-CN" altLang="en-US"/>
          </a:p>
        </p:txBody>
      </p:sp>
    </p:spTree>
    <p:extLst>
      <p:ext uri="{BB962C8B-B14F-4D97-AF65-F5344CB8AC3E}">
        <p14:creationId xmlns:p14="http://schemas.microsoft.com/office/powerpoint/2010/main" val="2863845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对于全局变量值的修改：</a:t>
            </a:r>
            <a:r>
              <a:rPr lang="en-US" altLang="zh-CN" dirty="0"/>
              <a:t>sum += </a:t>
            </a:r>
            <a:r>
              <a:rPr lang="en-US" altLang="zh-CN" dirty="0" err="1"/>
              <a:t>sqrt</a:t>
            </a:r>
            <a:r>
              <a:rPr lang="en-US" altLang="zh-CN" dirty="0"/>
              <a:t>(</a:t>
            </a:r>
            <a:r>
              <a:rPr lang="en-US" altLang="zh-CN" dirty="0" err="1"/>
              <a:t>i</a:t>
            </a:r>
            <a:r>
              <a:rPr lang="en-US" altLang="zh-CN" dirty="0"/>
              <a:t>);</a:t>
            </a:r>
            <a:r>
              <a:rPr lang="zh-CN" altLang="en-US" sz="1200" b="0" i="0" kern="1200" dirty="0">
                <a:solidFill>
                  <a:schemeClr val="tx1"/>
                </a:solidFill>
                <a:effectLst/>
                <a:latin typeface="+mn-lt"/>
                <a:ea typeface="+mn-ea"/>
                <a:cs typeface="+mn-cs"/>
              </a:rPr>
              <a:t>这条语句，它并非是原子的。它其实是很多条指令的组合才能完成。假设在某个设备上，这条语句通过下面这几个步骤来完成。它们的时序如图所示。</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在时间点</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的时候，所有线程对于</a:t>
            </a:r>
            <a:r>
              <a:rPr lang="en-US" altLang="zh-CN" sz="1200" b="0" i="0" kern="1200" dirty="0">
                <a:solidFill>
                  <a:schemeClr val="tx1"/>
                </a:solidFill>
                <a:effectLst/>
                <a:latin typeface="+mn-lt"/>
                <a:ea typeface="+mn-ea"/>
                <a:cs typeface="+mn-cs"/>
              </a:rPr>
              <a:t>sum</a:t>
            </a:r>
            <a:r>
              <a:rPr lang="zh-CN" altLang="en-US" sz="1200" b="0" i="0" kern="1200" dirty="0">
                <a:solidFill>
                  <a:schemeClr val="tx1"/>
                </a:solidFill>
                <a:effectLst/>
                <a:latin typeface="+mn-lt"/>
                <a:ea typeface="+mn-ea"/>
                <a:cs typeface="+mn-cs"/>
              </a:rPr>
              <a:t>变量的值是一致的。</a:t>
            </a:r>
          </a:p>
          <a:p>
            <a:r>
              <a:rPr lang="zh-CN" altLang="en-US" sz="1200" b="0" i="0" kern="1200" dirty="0">
                <a:solidFill>
                  <a:schemeClr val="tx1"/>
                </a:solidFill>
                <a:effectLst/>
                <a:latin typeface="+mn-lt"/>
                <a:ea typeface="+mn-ea"/>
                <a:cs typeface="+mn-cs"/>
              </a:rPr>
              <a:t>但是在时间点</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之后，</a:t>
            </a:r>
            <a:r>
              <a:rPr lang="en-US" altLang="zh-CN" sz="1200" b="0" i="0" kern="1200" dirty="0">
                <a:solidFill>
                  <a:schemeClr val="tx1"/>
                </a:solidFill>
                <a:effectLst/>
                <a:latin typeface="+mn-lt"/>
                <a:ea typeface="+mn-ea"/>
                <a:cs typeface="+mn-cs"/>
              </a:rPr>
              <a:t>thread3</a:t>
            </a:r>
            <a:r>
              <a:rPr lang="zh-CN" altLang="en-US" sz="1200" b="0" i="0" kern="1200" dirty="0">
                <a:solidFill>
                  <a:schemeClr val="tx1"/>
                </a:solidFill>
                <a:effectLst/>
                <a:latin typeface="+mn-lt"/>
                <a:ea typeface="+mn-ea"/>
                <a:cs typeface="+mn-cs"/>
              </a:rPr>
              <a:t>上已经对</a:t>
            </a:r>
            <a:r>
              <a:rPr lang="en-US" altLang="zh-CN" sz="1200" b="0" i="0" kern="1200" dirty="0">
                <a:solidFill>
                  <a:schemeClr val="tx1"/>
                </a:solidFill>
                <a:effectLst/>
                <a:latin typeface="+mn-lt"/>
                <a:ea typeface="+mn-ea"/>
                <a:cs typeface="+mn-cs"/>
              </a:rPr>
              <a:t>sum</a:t>
            </a:r>
            <a:r>
              <a:rPr lang="zh-CN" altLang="en-US" sz="1200" b="0" i="0" kern="1200" dirty="0">
                <a:solidFill>
                  <a:schemeClr val="tx1"/>
                </a:solidFill>
                <a:effectLst/>
                <a:latin typeface="+mn-lt"/>
                <a:ea typeface="+mn-ea"/>
                <a:cs typeface="+mn-cs"/>
              </a:rPr>
              <a:t>进行了赋值。而这个时候其他几个线程也同时在其他处理器上使用了这个值，那么这个时候它们所使用的值就是旧的（错误的）。最后得到的结果也自然是错的。</a:t>
            </a:r>
          </a:p>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27</a:t>
            </a:fld>
            <a:endParaRPr lang="zh-CN" altLang="en-US"/>
          </a:p>
        </p:txBody>
      </p:sp>
    </p:spTree>
    <p:extLst>
      <p:ext uri="{BB962C8B-B14F-4D97-AF65-F5344CB8AC3E}">
        <p14:creationId xmlns:p14="http://schemas.microsoft.com/office/powerpoint/2010/main" val="3670418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发生竞争条件是因为这些线程在同时访问共享数据，其中有些线程的改动没有让其他线程知道，导致其他线程在错误的基础上进行处理，结果自然也就是错误的。</a:t>
            </a:r>
          </a:p>
          <a:p>
            <a:r>
              <a:rPr lang="zh-CN" altLang="en-US" sz="1200" b="0" i="0" kern="1200" dirty="0">
                <a:solidFill>
                  <a:schemeClr val="tx1"/>
                </a:solidFill>
                <a:effectLst/>
                <a:latin typeface="+mn-lt"/>
                <a:ea typeface="+mn-ea"/>
                <a:cs typeface="+mn-cs"/>
              </a:rPr>
              <a:t>如果一次只让一个线程访问共享数据，访问完了再让其他线程接着访问，这样就可以避免问题的发生。</a:t>
            </a:r>
          </a:p>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28</a:t>
            </a:fld>
            <a:endParaRPr lang="zh-CN" altLang="en-US"/>
          </a:p>
        </p:txBody>
      </p:sp>
    </p:spTree>
    <p:extLst>
      <p:ext uri="{BB962C8B-B14F-4D97-AF65-F5344CB8AC3E}">
        <p14:creationId xmlns:p14="http://schemas.microsoft.com/office/powerpoint/2010/main" val="3678392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31</a:t>
            </a:fld>
            <a:endParaRPr lang="zh-CN" altLang="en-US"/>
          </a:p>
        </p:txBody>
      </p:sp>
    </p:spTree>
    <p:extLst>
      <p:ext uri="{BB962C8B-B14F-4D97-AF65-F5344CB8AC3E}">
        <p14:creationId xmlns:p14="http://schemas.microsoft.com/office/powerpoint/2010/main" val="333127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这段代码的改变在于两处：</a:t>
            </a:r>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）通过一个局部变量保存当前线程的处理结果</a:t>
            </a: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）在汇总总结过的时候进行锁保护</a:t>
            </a:r>
          </a:p>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32</a:t>
            </a:fld>
            <a:endParaRPr lang="zh-CN" altLang="en-US"/>
          </a:p>
        </p:txBody>
      </p:sp>
    </p:spTree>
    <p:extLst>
      <p:ext uri="{BB962C8B-B14F-4D97-AF65-F5344CB8AC3E}">
        <p14:creationId xmlns:p14="http://schemas.microsoft.com/office/powerpoint/2010/main" val="3291506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这段代码的改变在于两处：</a:t>
            </a:r>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）通过一个局部变量保存当前线程的处理结果</a:t>
            </a: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）在汇总总结过的时候进行锁保护</a:t>
            </a:r>
          </a:p>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33</a:t>
            </a:fld>
            <a:endParaRPr lang="zh-CN" altLang="en-US"/>
          </a:p>
        </p:txBody>
      </p:sp>
    </p:spTree>
    <p:extLst>
      <p:ext uri="{BB962C8B-B14F-4D97-AF65-F5344CB8AC3E}">
        <p14:creationId xmlns:p14="http://schemas.microsoft.com/office/powerpoint/2010/main" val="2446257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34</a:t>
            </a:fld>
            <a:endParaRPr lang="zh-CN" altLang="en-US"/>
          </a:p>
        </p:txBody>
      </p:sp>
    </p:spTree>
    <p:extLst>
      <p:ext uri="{BB962C8B-B14F-4D97-AF65-F5344CB8AC3E}">
        <p14:creationId xmlns:p14="http://schemas.microsoft.com/office/powerpoint/2010/main" val="2486084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35</a:t>
            </a:fld>
            <a:endParaRPr lang="zh-CN" altLang="en-US"/>
          </a:p>
        </p:txBody>
      </p:sp>
    </p:spTree>
    <p:extLst>
      <p:ext uri="{BB962C8B-B14F-4D97-AF65-F5344CB8AC3E}">
        <p14:creationId xmlns:p14="http://schemas.microsoft.com/office/powerpoint/2010/main" val="2241263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18BD45-526F-471B-B093-1C9E40C6B5AB}" type="slidenum">
              <a:rPr lang="zh-CN" altLang="en-US" smtClean="0"/>
              <a:t>36</a:t>
            </a:fld>
            <a:endParaRPr lang="zh-CN" altLang="en-US"/>
          </a:p>
        </p:txBody>
      </p:sp>
    </p:spTree>
    <p:extLst>
      <p:ext uri="{BB962C8B-B14F-4D97-AF65-F5344CB8AC3E}">
        <p14:creationId xmlns:p14="http://schemas.microsoft.com/office/powerpoint/2010/main" val="601876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813A1A89-5CEE-4861-A2F7-5E1E046167C4}" type="datetime1">
              <a:rPr lang="zh-CN" altLang="en-US" smtClean="0"/>
              <a:t>2026/6/1</a:t>
            </a:fld>
            <a:endParaRPr lang="zh-CN" altLang="en-US"/>
          </a:p>
        </p:txBody>
      </p:sp>
      <p:sp>
        <p:nvSpPr>
          <p:cNvPr id="5" name="页脚占位符 4"/>
          <p:cNvSpPr>
            <a:spLocks noGrp="1"/>
          </p:cNvSpPr>
          <p:nvPr>
            <p:ph type="ftr" sz="quarter" idx="11"/>
          </p:nvPr>
        </p:nvSpPr>
        <p:spPr/>
        <p:txBody>
          <a:bodyPr/>
          <a:lstStyle/>
          <a:p>
            <a:r>
              <a:rPr lang="zh-CN" altLang="en-US"/>
              <a:t>南京大学高级程序设计教学组</a:t>
            </a:r>
          </a:p>
        </p:txBody>
      </p:sp>
      <p:sp>
        <p:nvSpPr>
          <p:cNvPr id="6" name="灯片编号占位符 5"/>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3852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923EEE4-BDA4-4574-83A7-9ECA2DAA8D5D}" type="datetime1">
              <a:rPr lang="zh-CN" altLang="en-US" smtClean="0"/>
              <a:t>2026/6/1</a:t>
            </a:fld>
            <a:endParaRPr lang="zh-CN" altLang="en-US"/>
          </a:p>
        </p:txBody>
      </p:sp>
      <p:sp>
        <p:nvSpPr>
          <p:cNvPr id="5" name="页脚占位符 4"/>
          <p:cNvSpPr>
            <a:spLocks noGrp="1"/>
          </p:cNvSpPr>
          <p:nvPr>
            <p:ph type="ftr" sz="quarter" idx="11"/>
          </p:nvPr>
        </p:nvSpPr>
        <p:spPr/>
        <p:txBody>
          <a:bodyPr/>
          <a:lstStyle/>
          <a:p>
            <a:r>
              <a:rPr lang="zh-CN" altLang="en-US"/>
              <a:t>南京大学高级程序设计教学组</a:t>
            </a:r>
          </a:p>
        </p:txBody>
      </p:sp>
      <p:sp>
        <p:nvSpPr>
          <p:cNvPr id="6" name="灯片编号占位符 5"/>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40257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608DA21-9593-4E06-8804-CE69BC57D85C}" type="datetime1">
              <a:rPr lang="zh-CN" altLang="en-US" smtClean="0"/>
              <a:t>2026/6/1</a:t>
            </a:fld>
            <a:endParaRPr lang="zh-CN" altLang="en-US"/>
          </a:p>
        </p:txBody>
      </p:sp>
      <p:sp>
        <p:nvSpPr>
          <p:cNvPr id="5" name="页脚占位符 4"/>
          <p:cNvSpPr>
            <a:spLocks noGrp="1"/>
          </p:cNvSpPr>
          <p:nvPr>
            <p:ph type="ftr" sz="quarter" idx="11"/>
          </p:nvPr>
        </p:nvSpPr>
        <p:spPr/>
        <p:txBody>
          <a:bodyPr/>
          <a:lstStyle/>
          <a:p>
            <a:r>
              <a:rPr lang="zh-CN" altLang="en-US"/>
              <a:t>南京大学高级程序设计教学组</a:t>
            </a:r>
          </a:p>
        </p:txBody>
      </p:sp>
      <p:sp>
        <p:nvSpPr>
          <p:cNvPr id="6" name="灯片编号占位符 5"/>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400319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1C5C400-E9A2-4BC5-8C7D-C51BBDA4BFE3}" type="datetime1">
              <a:rPr lang="zh-CN" altLang="en-US" smtClean="0"/>
              <a:t>2026/6/1</a:t>
            </a:fld>
            <a:endParaRPr lang="zh-CN" altLang="en-US"/>
          </a:p>
        </p:txBody>
      </p:sp>
      <p:sp>
        <p:nvSpPr>
          <p:cNvPr id="6" name="页脚占位符 5"/>
          <p:cNvSpPr>
            <a:spLocks noGrp="1"/>
          </p:cNvSpPr>
          <p:nvPr>
            <p:ph type="ftr" sz="quarter" idx="11"/>
          </p:nvPr>
        </p:nvSpPr>
        <p:spPr/>
        <p:txBody>
          <a:bodyPr/>
          <a:lstStyle/>
          <a:p>
            <a:r>
              <a:rPr lang="zh-CN" altLang="en-US"/>
              <a:t>南京大学高级程序设计教学组</a:t>
            </a:r>
          </a:p>
        </p:txBody>
      </p:sp>
      <p:sp>
        <p:nvSpPr>
          <p:cNvPr id="7" name="灯片编号占位符 6"/>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4288146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469DD2C-37F6-4DFE-866F-C1A0F580BCE6}" type="datetime1">
              <a:rPr lang="zh-CN" altLang="en-US" smtClean="0"/>
              <a:t>2026/6/1</a:t>
            </a:fld>
            <a:endParaRPr lang="zh-CN" altLang="en-US"/>
          </a:p>
        </p:txBody>
      </p:sp>
      <p:sp>
        <p:nvSpPr>
          <p:cNvPr id="8" name="页脚占位符 7"/>
          <p:cNvSpPr>
            <a:spLocks noGrp="1"/>
          </p:cNvSpPr>
          <p:nvPr>
            <p:ph type="ftr" sz="quarter" idx="11"/>
          </p:nvPr>
        </p:nvSpPr>
        <p:spPr/>
        <p:txBody>
          <a:bodyPr/>
          <a:lstStyle/>
          <a:p>
            <a:r>
              <a:rPr lang="zh-CN" altLang="en-US"/>
              <a:t>南京大学高级程序设计教学组</a:t>
            </a:r>
          </a:p>
        </p:txBody>
      </p:sp>
      <p:sp>
        <p:nvSpPr>
          <p:cNvPr id="9" name="灯片编号占位符 8"/>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434971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84638C9-93C9-486C-8DB3-9F88B46C4C53}" type="datetime1">
              <a:rPr lang="zh-CN" altLang="en-US" smtClean="0"/>
              <a:t>2026/6/1</a:t>
            </a:fld>
            <a:endParaRPr lang="zh-CN" altLang="en-US"/>
          </a:p>
        </p:txBody>
      </p:sp>
      <p:sp>
        <p:nvSpPr>
          <p:cNvPr id="4" name="页脚占位符 3"/>
          <p:cNvSpPr>
            <a:spLocks noGrp="1"/>
          </p:cNvSpPr>
          <p:nvPr>
            <p:ph type="ftr" sz="quarter" idx="11"/>
          </p:nvPr>
        </p:nvSpPr>
        <p:spPr/>
        <p:txBody>
          <a:bodyPr/>
          <a:lstStyle/>
          <a:p>
            <a:r>
              <a:rPr lang="zh-CN" altLang="en-US"/>
              <a:t>南京大学高级程序设计教学组</a:t>
            </a:r>
          </a:p>
        </p:txBody>
      </p:sp>
      <p:sp>
        <p:nvSpPr>
          <p:cNvPr id="5" name="灯片编号占位符 4"/>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08754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0E7AE81-4FB3-44CE-9FA0-AFB9F99F635C}" type="datetime1">
              <a:rPr lang="zh-CN" altLang="en-US" smtClean="0"/>
              <a:t>2026/6/1</a:t>
            </a:fld>
            <a:endParaRPr lang="zh-CN" altLang="en-US"/>
          </a:p>
        </p:txBody>
      </p:sp>
      <p:sp>
        <p:nvSpPr>
          <p:cNvPr id="3" name="页脚占位符 2"/>
          <p:cNvSpPr>
            <a:spLocks noGrp="1"/>
          </p:cNvSpPr>
          <p:nvPr>
            <p:ph type="ftr" sz="quarter" idx="11"/>
          </p:nvPr>
        </p:nvSpPr>
        <p:spPr/>
        <p:txBody>
          <a:bodyPr/>
          <a:lstStyle/>
          <a:p>
            <a:r>
              <a:rPr lang="zh-CN" altLang="en-US"/>
              <a:t>南京大学高级程序设计教学组</a:t>
            </a:r>
          </a:p>
        </p:txBody>
      </p:sp>
      <p:sp>
        <p:nvSpPr>
          <p:cNvPr id="4" name="灯片编号占位符 3"/>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50416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FDA8A4F-EEC1-42CD-9747-63A2825DDEA1}" type="datetime1">
              <a:rPr lang="zh-CN" altLang="en-US" smtClean="0"/>
              <a:t>2026/6/1</a:t>
            </a:fld>
            <a:endParaRPr lang="zh-CN" altLang="en-US"/>
          </a:p>
        </p:txBody>
      </p:sp>
      <p:sp>
        <p:nvSpPr>
          <p:cNvPr id="6" name="页脚占位符 5"/>
          <p:cNvSpPr>
            <a:spLocks noGrp="1"/>
          </p:cNvSpPr>
          <p:nvPr>
            <p:ph type="ftr" sz="quarter" idx="11"/>
          </p:nvPr>
        </p:nvSpPr>
        <p:spPr/>
        <p:txBody>
          <a:bodyPr/>
          <a:lstStyle/>
          <a:p>
            <a:r>
              <a:rPr lang="zh-CN" altLang="en-US"/>
              <a:t>南京大学高级程序设计教学组</a:t>
            </a:r>
          </a:p>
        </p:txBody>
      </p:sp>
      <p:sp>
        <p:nvSpPr>
          <p:cNvPr id="7" name="灯片编号占位符 6"/>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56285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19337CB-FAA2-4049-B718-94D6CD84A967}" type="datetime1">
              <a:rPr lang="zh-CN" altLang="en-US" smtClean="0"/>
              <a:t>2026/6/1</a:t>
            </a:fld>
            <a:endParaRPr lang="zh-CN" altLang="en-US"/>
          </a:p>
        </p:txBody>
      </p:sp>
      <p:sp>
        <p:nvSpPr>
          <p:cNvPr id="6" name="页脚占位符 5"/>
          <p:cNvSpPr>
            <a:spLocks noGrp="1"/>
          </p:cNvSpPr>
          <p:nvPr>
            <p:ph type="ftr" sz="quarter" idx="11"/>
          </p:nvPr>
        </p:nvSpPr>
        <p:spPr/>
        <p:txBody>
          <a:bodyPr/>
          <a:lstStyle/>
          <a:p>
            <a:r>
              <a:rPr lang="zh-CN" altLang="en-US"/>
              <a:t>南京大学高级程序设计教学组</a:t>
            </a:r>
          </a:p>
        </p:txBody>
      </p:sp>
      <p:sp>
        <p:nvSpPr>
          <p:cNvPr id="7" name="灯片编号占位符 6"/>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813948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12DD3BD-BAAB-4B14-919A-34446EA193F4}" type="datetime1">
              <a:rPr lang="zh-CN" altLang="en-US" smtClean="0"/>
              <a:t>2026/6/1</a:t>
            </a:fld>
            <a:endParaRPr lang="zh-CN" altLang="en-US"/>
          </a:p>
        </p:txBody>
      </p:sp>
      <p:sp>
        <p:nvSpPr>
          <p:cNvPr id="5" name="页脚占位符 4"/>
          <p:cNvSpPr>
            <a:spLocks noGrp="1"/>
          </p:cNvSpPr>
          <p:nvPr>
            <p:ph type="ftr" sz="quarter" idx="11"/>
          </p:nvPr>
        </p:nvSpPr>
        <p:spPr/>
        <p:txBody>
          <a:bodyPr/>
          <a:lstStyle/>
          <a:p>
            <a:r>
              <a:rPr lang="zh-CN" altLang="en-US"/>
              <a:t>南京大学高级程序设计教学组</a:t>
            </a:r>
          </a:p>
        </p:txBody>
      </p:sp>
      <p:sp>
        <p:nvSpPr>
          <p:cNvPr id="6" name="灯片编号占位符 5"/>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2416833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69E2478-5141-40A3-B9FD-1C08BDF440CE}" type="datetime1">
              <a:rPr lang="zh-CN" altLang="en-US" smtClean="0"/>
              <a:t>2026/6/1</a:t>
            </a:fld>
            <a:endParaRPr lang="zh-CN" altLang="en-US"/>
          </a:p>
        </p:txBody>
      </p:sp>
      <p:sp>
        <p:nvSpPr>
          <p:cNvPr id="5" name="页脚占位符 4"/>
          <p:cNvSpPr>
            <a:spLocks noGrp="1"/>
          </p:cNvSpPr>
          <p:nvPr>
            <p:ph type="ftr" sz="quarter" idx="11"/>
          </p:nvPr>
        </p:nvSpPr>
        <p:spPr/>
        <p:txBody>
          <a:bodyPr/>
          <a:lstStyle/>
          <a:p>
            <a:r>
              <a:rPr lang="zh-CN" altLang="en-US"/>
              <a:t>南京大学高级程序设计教学组</a:t>
            </a:r>
          </a:p>
        </p:txBody>
      </p:sp>
      <p:sp>
        <p:nvSpPr>
          <p:cNvPr id="6" name="灯片编号占位符 5"/>
          <p:cNvSpPr>
            <a:spLocks noGrp="1"/>
          </p:cNvSpPr>
          <p:nvPr>
            <p:ph type="sldNum" sz="quarter" idx="12"/>
          </p:nvPr>
        </p:nvSpPr>
        <p:spPr/>
        <p:txBody>
          <a:body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384012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04DA05-8FAA-4F23-A214-E8BDB54908BA}" type="datetime1">
              <a:rPr lang="zh-CN" altLang="en-US" smtClean="0"/>
              <a:t>2026/6/1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南京大学高级程序设计教学组</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79E4F-4ECC-4B38-9136-DF01A5EA0AB6}" type="slidenum">
              <a:rPr lang="zh-CN" altLang="en-US" smtClean="0"/>
              <a:t>‹#›</a:t>
            </a:fld>
            <a:endParaRPr lang="zh-CN" altLang="en-US"/>
          </a:p>
        </p:txBody>
      </p:sp>
    </p:spTree>
    <p:extLst>
      <p:ext uri="{BB962C8B-B14F-4D97-AF65-F5344CB8AC3E}">
        <p14:creationId xmlns:p14="http://schemas.microsoft.com/office/powerpoint/2010/main" val="2403568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github.com/intel/tbb"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67615"/>
            <a:ext cx="9144000" cy="2387600"/>
          </a:xfrm>
        </p:spPr>
        <p:txBody>
          <a:bodyPr>
            <a:normAutofit/>
          </a:bodyPr>
          <a:lstStyle/>
          <a:p>
            <a:r>
              <a:rPr lang="zh-CN" altLang="en-US" sz="7200" dirty="0">
                <a:latin typeface="华文新魏" panose="02010800040101010101" pitchFamily="2" charset="-122"/>
                <a:ea typeface="华文新魏" panose="02010800040101010101" pitchFamily="2" charset="-122"/>
              </a:rPr>
              <a:t>并行程序设计</a:t>
            </a:r>
            <a:r>
              <a:rPr lang="en-US" altLang="zh-CN" sz="7200" dirty="0">
                <a:latin typeface="华文新魏" panose="02010800040101010101" pitchFamily="2" charset="-122"/>
                <a:ea typeface="华文新魏" panose="02010800040101010101" pitchFamily="2" charset="-122"/>
              </a:rPr>
              <a:t>—C++</a:t>
            </a:r>
            <a:endParaRPr lang="zh-CN" altLang="en-US" sz="7200" dirty="0">
              <a:latin typeface="华文新魏" panose="02010800040101010101" pitchFamily="2" charset="-122"/>
              <a:ea typeface="华文新魏" panose="02010800040101010101" pitchFamily="2" charset="-122"/>
            </a:endParaRPr>
          </a:p>
        </p:txBody>
      </p:sp>
      <p:sp>
        <p:nvSpPr>
          <p:cNvPr id="5" name="副标题 4">
            <a:extLst>
              <a:ext uri="{FF2B5EF4-FFF2-40B4-BE49-F238E27FC236}">
                <a16:creationId xmlns:a16="http://schemas.microsoft.com/office/drawing/2014/main" id="{A0F415A4-897B-670F-9A9A-2F208EAE897B}"/>
              </a:ext>
            </a:extLst>
          </p:cNvPr>
          <p:cNvSpPr>
            <a:spLocks noGrp="1"/>
          </p:cNvSpPr>
          <p:nvPr>
            <p:ph type="subTitle" idx="1"/>
          </p:nvPr>
        </p:nvSpPr>
        <p:spPr/>
        <p:txBody>
          <a:bodyPr/>
          <a:lstStyle/>
          <a:p>
            <a:endParaRPr lang="zh-CN" altLang="en-US"/>
          </a:p>
        </p:txBody>
      </p:sp>
      <p:sp>
        <p:nvSpPr>
          <p:cNvPr id="3" name="页脚占位符 2">
            <a:extLst>
              <a:ext uri="{FF2B5EF4-FFF2-40B4-BE49-F238E27FC236}">
                <a16:creationId xmlns:a16="http://schemas.microsoft.com/office/drawing/2014/main" id="{AA209EA5-10B0-61E9-EE10-C10CA8B0E95B}"/>
              </a:ext>
            </a:extLst>
          </p:cNvPr>
          <p:cNvSpPr>
            <a:spLocks noGrp="1"/>
          </p:cNvSpPr>
          <p:nvPr>
            <p:ph type="ftr" sz="quarter" idx="11"/>
          </p:nvPr>
        </p:nvSpPr>
        <p:spPr/>
        <p:txBody>
          <a:bodyPr/>
          <a:lstStyle/>
          <a:p>
            <a:r>
              <a:rPr lang="zh-CN" altLang="en-US"/>
              <a:t>南京大学高级程序设计教学组</a:t>
            </a:r>
          </a:p>
        </p:txBody>
      </p:sp>
      <p:sp>
        <p:nvSpPr>
          <p:cNvPr id="4" name="灯片编号占位符 3">
            <a:extLst>
              <a:ext uri="{FF2B5EF4-FFF2-40B4-BE49-F238E27FC236}">
                <a16:creationId xmlns:a16="http://schemas.microsoft.com/office/drawing/2014/main" id="{4369DBB6-5047-9089-4DC5-5A63C65C4BCF}"/>
              </a:ext>
            </a:extLst>
          </p:cNvPr>
          <p:cNvSpPr>
            <a:spLocks noGrp="1"/>
          </p:cNvSpPr>
          <p:nvPr>
            <p:ph type="sldNum" sz="quarter" idx="12"/>
          </p:nvPr>
        </p:nvSpPr>
        <p:spPr/>
        <p:txBody>
          <a:bodyPr/>
          <a:lstStyle/>
          <a:p>
            <a:fld id="{B9779E4F-4ECC-4B38-9136-DF01A5EA0AB6}" type="slidenum">
              <a:rPr lang="zh-CN" altLang="en-US" smtClean="0"/>
              <a:t>1</a:t>
            </a:fld>
            <a:endParaRPr lang="zh-CN" altLang="en-US"/>
          </a:p>
        </p:txBody>
      </p:sp>
    </p:spTree>
    <p:extLst>
      <p:ext uri="{BB962C8B-B14F-4D97-AF65-F5344CB8AC3E}">
        <p14:creationId xmlns:p14="http://schemas.microsoft.com/office/powerpoint/2010/main" val="2250264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为什么需要并行程序？</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8866" y="2083300"/>
            <a:ext cx="5310490" cy="3339306"/>
          </a:xfrm>
          <a:prstGeom prst="rect">
            <a:avLst/>
          </a:prstGeom>
        </p:spPr>
      </p:pic>
      <p:pic>
        <p:nvPicPr>
          <p:cNvPr id="4" name="内容占位符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38200" y="1690688"/>
            <a:ext cx="4633161" cy="3912670"/>
          </a:xfrm>
        </p:spPr>
      </p:pic>
      <p:sp>
        <p:nvSpPr>
          <p:cNvPr id="3" name="页脚占位符 2">
            <a:extLst>
              <a:ext uri="{FF2B5EF4-FFF2-40B4-BE49-F238E27FC236}">
                <a16:creationId xmlns:a16="http://schemas.microsoft.com/office/drawing/2014/main" id="{C0D9A49B-C14E-2301-C9D3-94CEA3B2B4AA}"/>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AFD5EF4A-7948-09DB-BD20-496222CD20FE}"/>
              </a:ext>
            </a:extLst>
          </p:cNvPr>
          <p:cNvSpPr>
            <a:spLocks noGrp="1"/>
          </p:cNvSpPr>
          <p:nvPr>
            <p:ph type="sldNum" sz="quarter" idx="12"/>
          </p:nvPr>
        </p:nvSpPr>
        <p:spPr/>
        <p:txBody>
          <a:bodyPr/>
          <a:lstStyle/>
          <a:p>
            <a:fld id="{B9779E4F-4ECC-4B38-9136-DF01A5EA0AB6}" type="slidenum">
              <a:rPr lang="zh-CN" altLang="en-US" smtClean="0"/>
              <a:t>2</a:t>
            </a:fld>
            <a:endParaRPr lang="zh-CN" altLang="en-US"/>
          </a:p>
        </p:txBody>
      </p:sp>
    </p:spTree>
    <p:extLst>
      <p:ext uri="{BB962C8B-B14F-4D97-AF65-F5344CB8AC3E}">
        <p14:creationId xmlns:p14="http://schemas.microsoft.com/office/powerpoint/2010/main" val="2580974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内存墙(memory wall) | Wi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9860" y="1179245"/>
            <a:ext cx="5197442" cy="2822049"/>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内存障碍（</a:t>
            </a:r>
            <a:r>
              <a:rPr lang="en-US" altLang="zh-CN" sz="3200" dirty="0">
                <a:latin typeface="华文楷体" panose="02010600040101010101" pitchFamily="2" charset="-122"/>
                <a:ea typeface="华文楷体" panose="02010600040101010101" pitchFamily="2" charset="-122"/>
              </a:rPr>
              <a:t>memory-wall</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能耗、散热障碍（</a:t>
            </a:r>
            <a:r>
              <a:rPr lang="en-US" altLang="zh-CN" sz="3200" dirty="0">
                <a:latin typeface="华文楷体" panose="02010600040101010101" pitchFamily="2" charset="-122"/>
                <a:ea typeface="华文楷体" panose="02010600040101010101" pitchFamily="2" charset="-122"/>
              </a:rPr>
              <a:t>power-wall</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稳定性障碍（</a:t>
            </a:r>
            <a:r>
              <a:rPr lang="en-US" altLang="zh-CN" sz="3200" dirty="0">
                <a:latin typeface="华文楷体" panose="02010600040101010101" pitchFamily="2" charset="-122"/>
                <a:ea typeface="华文楷体" panose="02010600040101010101" pitchFamily="2" charset="-122"/>
              </a:rPr>
              <a:t>reliability-wall</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4" name="图片 3"/>
          <p:cNvPicPr>
            <a:picLocks noChangeAspect="1"/>
          </p:cNvPicPr>
          <p:nvPr/>
        </p:nvPicPr>
        <p:blipFill>
          <a:blip r:embed="rId4"/>
          <a:stretch>
            <a:fillRect/>
          </a:stretch>
        </p:blipFill>
        <p:spPr>
          <a:xfrm>
            <a:off x="7182894" y="4069874"/>
            <a:ext cx="4342657" cy="2497028"/>
          </a:xfrm>
          <a:prstGeom prst="rect">
            <a:avLst/>
          </a:prstGeom>
        </p:spPr>
      </p:pic>
      <p:sp>
        <p:nvSpPr>
          <p:cNvPr id="7" name="标题 1"/>
          <p:cNvSpPr txBox="1">
            <a:spLocks/>
          </p:cNvSpPr>
          <p:nvPr/>
        </p:nvSpPr>
        <p:spPr>
          <a:xfrm>
            <a:off x="739140" y="2103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latin typeface="华文新魏" panose="02010800040101010101" pitchFamily="2" charset="-122"/>
                <a:ea typeface="华文新魏" panose="02010800040101010101" pitchFamily="2" charset="-122"/>
              </a:rPr>
              <a:t>为什么需要并行程序？</a:t>
            </a:r>
          </a:p>
        </p:txBody>
      </p:sp>
      <p:sp>
        <p:nvSpPr>
          <p:cNvPr id="2" name="页脚占位符 1">
            <a:extLst>
              <a:ext uri="{FF2B5EF4-FFF2-40B4-BE49-F238E27FC236}">
                <a16:creationId xmlns:a16="http://schemas.microsoft.com/office/drawing/2014/main" id="{FE4ABA07-EB96-64C6-3043-18969A66989B}"/>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36460D7C-170B-B162-03F9-9789153A4B85}"/>
              </a:ext>
            </a:extLst>
          </p:cNvPr>
          <p:cNvSpPr>
            <a:spLocks noGrp="1"/>
          </p:cNvSpPr>
          <p:nvPr>
            <p:ph type="sldNum" sz="quarter" idx="12"/>
          </p:nvPr>
        </p:nvSpPr>
        <p:spPr/>
        <p:txBody>
          <a:bodyPr/>
          <a:lstStyle/>
          <a:p>
            <a:fld id="{B9779E4F-4ECC-4B38-9136-DF01A5EA0AB6}" type="slidenum">
              <a:rPr lang="zh-CN" altLang="en-US" smtClean="0"/>
              <a:t>3</a:t>
            </a:fld>
            <a:endParaRPr lang="zh-CN" altLang="en-US"/>
          </a:p>
        </p:txBody>
      </p:sp>
    </p:spTree>
    <p:extLst>
      <p:ext uri="{BB962C8B-B14F-4D97-AF65-F5344CB8AC3E}">
        <p14:creationId xmlns:p14="http://schemas.microsoft.com/office/powerpoint/2010/main" val="859163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800" dirty="0">
                <a:latin typeface="华文新魏" panose="02010800040101010101" pitchFamily="2" charset="-122"/>
                <a:ea typeface="华文新魏" panose="02010800040101010101" pitchFamily="2" charset="-122"/>
              </a:rPr>
              <a:t>为什么需要并行程序？</a:t>
            </a:r>
          </a:p>
        </p:txBody>
      </p:sp>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17033" y="1576025"/>
            <a:ext cx="7909774" cy="4079183"/>
          </a:xfrm>
        </p:spPr>
      </p:pic>
      <p:sp>
        <p:nvSpPr>
          <p:cNvPr id="6" name="文本框 5"/>
          <p:cNvSpPr txBox="1"/>
          <p:nvPr/>
        </p:nvSpPr>
        <p:spPr>
          <a:xfrm>
            <a:off x="1031630" y="5724510"/>
            <a:ext cx="10128739" cy="1077218"/>
          </a:xfrm>
          <a:prstGeom prst="rect">
            <a:avLst/>
          </a:prstGeom>
          <a:noFill/>
        </p:spPr>
        <p:txBody>
          <a:bodyPr wrap="square" rtlCol="0">
            <a:spAutoFit/>
          </a:bodyPr>
          <a:lstStyle/>
          <a:p>
            <a:pPr algn="ctr"/>
            <a:r>
              <a:rPr lang="en-US" altLang="zh-CN" sz="3200" dirty="0">
                <a:latin typeface="华文楷体" panose="02010600040101010101" pitchFamily="2" charset="-122"/>
                <a:ea typeface="华文楷体" panose="02010600040101010101" pitchFamily="2" charset="-122"/>
              </a:rPr>
              <a:t>28nm</a:t>
            </a:r>
            <a:r>
              <a:rPr lang="zh-CN" altLang="en-US" sz="3200" dirty="0">
                <a:latin typeface="华文楷体" panose="02010600040101010101" pitchFamily="2" charset="-122"/>
                <a:ea typeface="华文楷体" panose="02010600040101010101" pitchFamily="2" charset="-122"/>
              </a:rPr>
              <a:t>芯片开发只要</a:t>
            </a:r>
            <a:r>
              <a:rPr lang="en-US" altLang="zh-CN" sz="3200" dirty="0">
                <a:solidFill>
                  <a:srgbClr val="C00000"/>
                </a:solidFill>
                <a:latin typeface="华文楷体" panose="02010600040101010101" pitchFamily="2" charset="-122"/>
                <a:ea typeface="华文楷体" panose="02010600040101010101" pitchFamily="2" charset="-122"/>
              </a:rPr>
              <a:t>5130</a:t>
            </a:r>
            <a:r>
              <a:rPr lang="zh-CN" altLang="en-US" sz="3200" dirty="0">
                <a:solidFill>
                  <a:srgbClr val="C00000"/>
                </a:solidFill>
                <a:latin typeface="华文楷体" panose="02010600040101010101" pitchFamily="2" charset="-122"/>
                <a:ea typeface="华文楷体" panose="02010600040101010101" pitchFamily="2" charset="-122"/>
              </a:rPr>
              <a:t>万美元</a:t>
            </a:r>
            <a:r>
              <a:rPr lang="zh-CN" altLang="en-US" sz="3200" dirty="0">
                <a:latin typeface="华文楷体" panose="02010600040101010101" pitchFamily="2" charset="-122"/>
                <a:ea typeface="华文楷体" panose="02010600040101010101" pitchFamily="2" charset="-122"/>
              </a:rPr>
              <a:t>投入，</a:t>
            </a:r>
            <a:r>
              <a:rPr lang="en-US" altLang="zh-CN" sz="3200" dirty="0">
                <a:latin typeface="华文楷体" panose="02010600040101010101" pitchFamily="2" charset="-122"/>
                <a:ea typeface="华文楷体" panose="02010600040101010101" pitchFamily="2" charset="-122"/>
              </a:rPr>
              <a:t>16nm</a:t>
            </a:r>
            <a:r>
              <a:rPr lang="zh-CN" altLang="en-US" sz="3200" dirty="0">
                <a:latin typeface="华文楷体" panose="02010600040101010101" pitchFamily="2" charset="-122"/>
                <a:ea typeface="华文楷体" panose="02010600040101010101" pitchFamily="2" charset="-122"/>
              </a:rPr>
              <a:t>节点需要</a:t>
            </a:r>
            <a:r>
              <a:rPr lang="en-US" altLang="zh-CN" sz="3200" dirty="0">
                <a:solidFill>
                  <a:srgbClr val="C00000"/>
                </a:solidFill>
                <a:latin typeface="华文楷体" panose="02010600040101010101" pitchFamily="2" charset="-122"/>
                <a:ea typeface="华文楷体" panose="02010600040101010101" pitchFamily="2" charset="-122"/>
              </a:rPr>
              <a:t>1</a:t>
            </a:r>
            <a:r>
              <a:rPr lang="zh-CN" altLang="en-US" sz="3200" dirty="0">
                <a:solidFill>
                  <a:srgbClr val="C00000"/>
                </a:solidFill>
                <a:latin typeface="华文楷体" panose="02010600040101010101" pitchFamily="2" charset="-122"/>
                <a:ea typeface="华文楷体" panose="02010600040101010101" pitchFamily="2" charset="-122"/>
              </a:rPr>
              <a:t>亿</a:t>
            </a:r>
            <a:r>
              <a:rPr lang="zh-CN" altLang="en-US" sz="3200" dirty="0">
                <a:latin typeface="华文楷体" panose="02010600040101010101" pitchFamily="2" charset="-122"/>
                <a:ea typeface="华文楷体" panose="02010600040101010101" pitchFamily="2" charset="-122"/>
              </a:rPr>
              <a:t>美元，</a:t>
            </a:r>
            <a:r>
              <a:rPr lang="en-US" altLang="zh-CN" sz="3200" dirty="0">
                <a:latin typeface="华文楷体" panose="02010600040101010101" pitchFamily="2" charset="-122"/>
                <a:ea typeface="华文楷体" panose="02010600040101010101" pitchFamily="2" charset="-122"/>
              </a:rPr>
              <a:t>7nm</a:t>
            </a:r>
            <a:r>
              <a:rPr lang="zh-CN" altLang="en-US" sz="3200" dirty="0">
                <a:latin typeface="华文楷体" panose="02010600040101010101" pitchFamily="2" charset="-122"/>
                <a:ea typeface="华文楷体" panose="02010600040101010101" pitchFamily="2" charset="-122"/>
              </a:rPr>
              <a:t>节点需要</a:t>
            </a:r>
            <a:r>
              <a:rPr lang="en-US" altLang="zh-CN" sz="3200" dirty="0">
                <a:solidFill>
                  <a:srgbClr val="C00000"/>
                </a:solidFill>
                <a:latin typeface="华文楷体" panose="02010600040101010101" pitchFamily="2" charset="-122"/>
                <a:ea typeface="华文楷体" panose="02010600040101010101" pitchFamily="2" charset="-122"/>
              </a:rPr>
              <a:t>2.97</a:t>
            </a:r>
            <a:r>
              <a:rPr lang="zh-CN" altLang="en-US" sz="3200" dirty="0">
                <a:solidFill>
                  <a:srgbClr val="C00000"/>
                </a:solidFill>
                <a:latin typeface="华文楷体" panose="02010600040101010101" pitchFamily="2" charset="-122"/>
                <a:ea typeface="华文楷体" panose="02010600040101010101" pitchFamily="2" charset="-122"/>
              </a:rPr>
              <a:t>亿</a:t>
            </a:r>
            <a:r>
              <a:rPr lang="zh-CN" altLang="en-US" sz="3200" dirty="0">
                <a:latin typeface="华文楷体" panose="02010600040101010101" pitchFamily="2" charset="-122"/>
                <a:ea typeface="华文楷体" panose="02010600040101010101" pitchFamily="2" charset="-122"/>
              </a:rPr>
              <a:t>美元。</a:t>
            </a:r>
          </a:p>
        </p:txBody>
      </p:sp>
      <p:sp>
        <p:nvSpPr>
          <p:cNvPr id="3" name="页脚占位符 2">
            <a:extLst>
              <a:ext uri="{FF2B5EF4-FFF2-40B4-BE49-F238E27FC236}">
                <a16:creationId xmlns:a16="http://schemas.microsoft.com/office/drawing/2014/main" id="{FF5C5577-2D5B-2B9B-E320-A078FB234D34}"/>
              </a:ext>
            </a:extLst>
          </p:cNvPr>
          <p:cNvSpPr>
            <a:spLocks noGrp="1"/>
          </p:cNvSpPr>
          <p:nvPr>
            <p:ph type="ftr" sz="quarter" idx="11"/>
          </p:nvPr>
        </p:nvSpPr>
        <p:spPr/>
        <p:txBody>
          <a:bodyPr/>
          <a:lstStyle/>
          <a:p>
            <a:r>
              <a:rPr lang="zh-CN" altLang="en-US"/>
              <a:t>南京大学高级程序设计教学组</a:t>
            </a:r>
          </a:p>
        </p:txBody>
      </p:sp>
      <p:sp>
        <p:nvSpPr>
          <p:cNvPr id="4" name="灯片编号占位符 3">
            <a:extLst>
              <a:ext uri="{FF2B5EF4-FFF2-40B4-BE49-F238E27FC236}">
                <a16:creationId xmlns:a16="http://schemas.microsoft.com/office/drawing/2014/main" id="{86C0BBF9-05B6-C8B2-213C-364CC6033CCE}"/>
              </a:ext>
            </a:extLst>
          </p:cNvPr>
          <p:cNvSpPr>
            <a:spLocks noGrp="1"/>
          </p:cNvSpPr>
          <p:nvPr>
            <p:ph type="sldNum" sz="quarter" idx="12"/>
          </p:nvPr>
        </p:nvSpPr>
        <p:spPr/>
        <p:txBody>
          <a:bodyPr/>
          <a:lstStyle/>
          <a:p>
            <a:fld id="{B9779E4F-4ECC-4B38-9136-DF01A5EA0AB6}" type="slidenum">
              <a:rPr lang="zh-CN" altLang="en-US" smtClean="0"/>
              <a:t>4</a:t>
            </a:fld>
            <a:endParaRPr lang="zh-CN" altLang="en-US"/>
          </a:p>
        </p:txBody>
      </p:sp>
    </p:spTree>
    <p:extLst>
      <p:ext uri="{BB962C8B-B14F-4D97-AF65-F5344CB8AC3E}">
        <p14:creationId xmlns:p14="http://schemas.microsoft.com/office/powerpoint/2010/main" val="209485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并行计算资源</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单台多核</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7" name="图片 6"/>
          <p:cNvPicPr>
            <a:picLocks noChangeAspect="1"/>
          </p:cNvPicPr>
          <p:nvPr/>
        </p:nvPicPr>
        <p:blipFill>
          <a:blip r:embed="rId3"/>
          <a:stretch>
            <a:fillRect/>
          </a:stretch>
        </p:blipFill>
        <p:spPr>
          <a:xfrm>
            <a:off x="3850004" y="1690688"/>
            <a:ext cx="7054216" cy="4780797"/>
          </a:xfrm>
          <a:prstGeom prst="rect">
            <a:avLst/>
          </a:prstGeom>
        </p:spPr>
      </p:pic>
      <p:sp>
        <p:nvSpPr>
          <p:cNvPr id="4" name="页脚占位符 3">
            <a:extLst>
              <a:ext uri="{FF2B5EF4-FFF2-40B4-BE49-F238E27FC236}">
                <a16:creationId xmlns:a16="http://schemas.microsoft.com/office/drawing/2014/main" id="{C0C00B8E-B967-2A70-4CC1-8555CED3A943}"/>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C8AF3C67-1635-EF4B-A01C-3BB4E7D39A3E}"/>
              </a:ext>
            </a:extLst>
          </p:cNvPr>
          <p:cNvSpPr>
            <a:spLocks noGrp="1"/>
          </p:cNvSpPr>
          <p:nvPr>
            <p:ph type="sldNum" sz="quarter" idx="12"/>
          </p:nvPr>
        </p:nvSpPr>
        <p:spPr/>
        <p:txBody>
          <a:bodyPr/>
          <a:lstStyle/>
          <a:p>
            <a:fld id="{B9779E4F-4ECC-4B38-9136-DF01A5EA0AB6}" type="slidenum">
              <a:rPr lang="zh-CN" altLang="en-US" smtClean="0"/>
              <a:t>5</a:t>
            </a:fld>
            <a:endParaRPr lang="zh-CN" altLang="en-US"/>
          </a:p>
        </p:txBody>
      </p:sp>
    </p:spTree>
    <p:extLst>
      <p:ext uri="{BB962C8B-B14F-4D97-AF65-F5344CB8AC3E}">
        <p14:creationId xmlns:p14="http://schemas.microsoft.com/office/powerpoint/2010/main" val="2960711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并行计算资源</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单台众核</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6" name="图片 5"/>
          <p:cNvPicPr>
            <a:picLocks noChangeAspect="1"/>
          </p:cNvPicPr>
          <p:nvPr/>
        </p:nvPicPr>
        <p:blipFill>
          <a:blip r:embed="rId2"/>
          <a:stretch>
            <a:fillRect/>
          </a:stretch>
        </p:blipFill>
        <p:spPr>
          <a:xfrm>
            <a:off x="1109733" y="2518410"/>
            <a:ext cx="7467600" cy="4044950"/>
          </a:xfrm>
          <a:prstGeom prst="rect">
            <a:avLst/>
          </a:prstGeom>
        </p:spPr>
      </p:pic>
      <p:sp>
        <p:nvSpPr>
          <p:cNvPr id="7" name="圆角矩形 6"/>
          <p:cNvSpPr/>
          <p:nvPr/>
        </p:nvSpPr>
        <p:spPr>
          <a:xfrm>
            <a:off x="2773680" y="5036820"/>
            <a:ext cx="5471160" cy="236220"/>
          </a:xfrm>
          <a:prstGeom prst="roundRect">
            <a:avLst/>
          </a:prstGeom>
          <a:noFill/>
          <a:ln w="2222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rotWithShape="1">
          <a:blip r:embed="rId3"/>
          <a:srcRect t="40799" b="19072"/>
          <a:stretch/>
        </p:blipFill>
        <p:spPr>
          <a:xfrm>
            <a:off x="5218151" y="592773"/>
            <a:ext cx="6693457" cy="1790700"/>
          </a:xfrm>
          <a:prstGeom prst="rect">
            <a:avLst/>
          </a:prstGeom>
        </p:spPr>
      </p:pic>
      <p:pic>
        <p:nvPicPr>
          <p:cNvPr id="4" name="图片 3"/>
          <p:cNvPicPr>
            <a:picLocks noChangeAspect="1"/>
          </p:cNvPicPr>
          <p:nvPr/>
        </p:nvPicPr>
        <p:blipFill rotWithShape="1">
          <a:blip r:embed="rId4"/>
          <a:srcRect r="35099"/>
          <a:stretch/>
        </p:blipFill>
        <p:spPr>
          <a:xfrm>
            <a:off x="9149304" y="2453267"/>
            <a:ext cx="2923750" cy="1989564"/>
          </a:xfrm>
          <a:prstGeom prst="rect">
            <a:avLst/>
          </a:prstGeom>
        </p:spPr>
      </p:pic>
      <p:sp>
        <p:nvSpPr>
          <p:cNvPr id="5" name="矩形 4"/>
          <p:cNvSpPr/>
          <p:nvPr/>
        </p:nvSpPr>
        <p:spPr>
          <a:xfrm>
            <a:off x="10861287" y="2468136"/>
            <a:ext cx="1211766" cy="2378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latin typeface="Arial Rounded MT Bold" panose="020F0704030504030204" pitchFamily="34" charset="0"/>
            </a:endParaRPr>
          </a:p>
        </p:txBody>
      </p:sp>
      <p:sp>
        <p:nvSpPr>
          <p:cNvPr id="9" name="页脚占位符 8">
            <a:extLst>
              <a:ext uri="{FF2B5EF4-FFF2-40B4-BE49-F238E27FC236}">
                <a16:creationId xmlns:a16="http://schemas.microsoft.com/office/drawing/2014/main" id="{4E964979-8EC9-A5A8-38E4-65E7657B8ED1}"/>
              </a:ext>
            </a:extLst>
          </p:cNvPr>
          <p:cNvSpPr>
            <a:spLocks noGrp="1"/>
          </p:cNvSpPr>
          <p:nvPr>
            <p:ph type="ftr" sz="quarter" idx="11"/>
          </p:nvPr>
        </p:nvSpPr>
        <p:spPr/>
        <p:txBody>
          <a:bodyPr/>
          <a:lstStyle/>
          <a:p>
            <a:r>
              <a:rPr lang="zh-CN" altLang="en-US"/>
              <a:t>南京大学高级程序设计教学组</a:t>
            </a:r>
          </a:p>
        </p:txBody>
      </p:sp>
      <p:sp>
        <p:nvSpPr>
          <p:cNvPr id="10" name="灯片编号占位符 9">
            <a:extLst>
              <a:ext uri="{FF2B5EF4-FFF2-40B4-BE49-F238E27FC236}">
                <a16:creationId xmlns:a16="http://schemas.microsoft.com/office/drawing/2014/main" id="{050425AD-473F-DDE2-09E3-E48E4DC1634F}"/>
              </a:ext>
            </a:extLst>
          </p:cNvPr>
          <p:cNvSpPr>
            <a:spLocks noGrp="1"/>
          </p:cNvSpPr>
          <p:nvPr>
            <p:ph type="sldNum" sz="quarter" idx="12"/>
          </p:nvPr>
        </p:nvSpPr>
        <p:spPr/>
        <p:txBody>
          <a:bodyPr/>
          <a:lstStyle/>
          <a:p>
            <a:fld id="{B9779E4F-4ECC-4B38-9136-DF01A5EA0AB6}" type="slidenum">
              <a:rPr lang="zh-CN" altLang="en-US" smtClean="0"/>
              <a:t>6</a:t>
            </a:fld>
            <a:endParaRPr lang="zh-CN" altLang="en-US"/>
          </a:p>
        </p:txBody>
      </p:sp>
    </p:spTree>
    <p:extLst>
      <p:ext uri="{BB962C8B-B14F-4D97-AF65-F5344CB8AC3E}">
        <p14:creationId xmlns:p14="http://schemas.microsoft.com/office/powerpoint/2010/main" val="104949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并行计算资源</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单台众核</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grpSp>
        <p:nvGrpSpPr>
          <p:cNvPr id="8" name="组合 7"/>
          <p:cNvGrpSpPr/>
          <p:nvPr/>
        </p:nvGrpSpPr>
        <p:grpSpPr>
          <a:xfrm>
            <a:off x="6205986" y="338796"/>
            <a:ext cx="5757843" cy="3935399"/>
            <a:chOff x="4652249" y="1825626"/>
            <a:chExt cx="5757843" cy="3935399"/>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2249" y="1825626"/>
              <a:ext cx="5757843" cy="3341108"/>
            </a:xfrm>
            <a:prstGeom prst="rect">
              <a:avLst/>
            </a:prstGeom>
          </p:spPr>
        </p:pic>
        <p:sp>
          <p:nvSpPr>
            <p:cNvPr id="7" name="文本框 6"/>
            <p:cNvSpPr txBox="1"/>
            <p:nvPr/>
          </p:nvSpPr>
          <p:spPr>
            <a:xfrm>
              <a:off x="6675863" y="5299360"/>
              <a:ext cx="1924493" cy="461665"/>
            </a:xfrm>
            <a:prstGeom prst="rect">
              <a:avLst/>
            </a:prstGeom>
            <a:noFill/>
          </p:spPr>
          <p:txBody>
            <a:bodyPr wrap="square" rtlCol="0">
              <a:spAutoFit/>
            </a:bodyPr>
            <a:lstStyle/>
            <a:p>
              <a:r>
                <a:rPr lang="en-US" altLang="zh-CN" sz="2400" b="1" dirty="0"/>
                <a:t>Google TPU </a:t>
              </a:r>
              <a:endParaRPr lang="zh-CN" altLang="en-US" sz="2400" b="1" dirty="0"/>
            </a:p>
          </p:txBody>
        </p:sp>
      </p:grpSp>
      <p:sp>
        <p:nvSpPr>
          <p:cNvPr id="9" name="文本框 8"/>
          <p:cNvSpPr txBox="1"/>
          <p:nvPr/>
        </p:nvSpPr>
        <p:spPr>
          <a:xfrm>
            <a:off x="1706137" y="6314559"/>
            <a:ext cx="3713355" cy="461665"/>
          </a:xfrm>
          <a:prstGeom prst="rect">
            <a:avLst/>
          </a:prstGeom>
          <a:noFill/>
        </p:spPr>
        <p:txBody>
          <a:bodyPr wrap="square" rtlCol="0">
            <a:spAutoFit/>
          </a:bodyPr>
          <a:lstStyle/>
          <a:p>
            <a:r>
              <a:rPr lang="en-US" altLang="zh-CN" sz="2400" b="1" dirty="0"/>
              <a:t>Huawei Atlas 900 AI</a:t>
            </a:r>
            <a:r>
              <a:rPr lang="zh-CN" altLang="en-US" sz="2400" b="1" dirty="0"/>
              <a:t>集群</a:t>
            </a:r>
          </a:p>
        </p:txBody>
      </p:sp>
      <p:pic>
        <p:nvPicPr>
          <p:cNvPr id="4" name="图片 3"/>
          <p:cNvPicPr>
            <a:picLocks noChangeAspect="1"/>
          </p:cNvPicPr>
          <p:nvPr/>
        </p:nvPicPr>
        <p:blipFill>
          <a:blip r:embed="rId4"/>
          <a:stretch>
            <a:fillRect/>
          </a:stretch>
        </p:blipFill>
        <p:spPr>
          <a:xfrm>
            <a:off x="432689" y="2750635"/>
            <a:ext cx="6103231" cy="3570016"/>
          </a:xfrm>
          <a:prstGeom prst="rect">
            <a:avLst/>
          </a:prstGeom>
        </p:spPr>
      </p:pic>
      <p:sp>
        <p:nvSpPr>
          <p:cNvPr id="5" name="页脚占位符 4">
            <a:extLst>
              <a:ext uri="{FF2B5EF4-FFF2-40B4-BE49-F238E27FC236}">
                <a16:creationId xmlns:a16="http://schemas.microsoft.com/office/drawing/2014/main" id="{E7B1ADD4-FCA4-17CD-2E76-084E1FB7EBE5}"/>
              </a:ext>
            </a:extLst>
          </p:cNvPr>
          <p:cNvSpPr>
            <a:spLocks noGrp="1"/>
          </p:cNvSpPr>
          <p:nvPr>
            <p:ph type="ftr" sz="quarter" idx="11"/>
          </p:nvPr>
        </p:nvSpPr>
        <p:spPr/>
        <p:txBody>
          <a:bodyPr/>
          <a:lstStyle/>
          <a:p>
            <a:r>
              <a:rPr lang="zh-CN" altLang="en-US"/>
              <a:t>南京大学高级程序设计教学组</a:t>
            </a:r>
          </a:p>
        </p:txBody>
      </p:sp>
      <p:sp>
        <p:nvSpPr>
          <p:cNvPr id="10" name="灯片编号占位符 9">
            <a:extLst>
              <a:ext uri="{FF2B5EF4-FFF2-40B4-BE49-F238E27FC236}">
                <a16:creationId xmlns:a16="http://schemas.microsoft.com/office/drawing/2014/main" id="{67EA4902-65FC-BF43-6B41-38A5B74221F2}"/>
              </a:ext>
            </a:extLst>
          </p:cNvPr>
          <p:cNvSpPr>
            <a:spLocks noGrp="1"/>
          </p:cNvSpPr>
          <p:nvPr>
            <p:ph type="sldNum" sz="quarter" idx="12"/>
          </p:nvPr>
        </p:nvSpPr>
        <p:spPr/>
        <p:txBody>
          <a:bodyPr/>
          <a:lstStyle/>
          <a:p>
            <a:fld id="{B9779E4F-4ECC-4B38-9136-DF01A5EA0AB6}" type="slidenum">
              <a:rPr lang="zh-CN" altLang="en-US" smtClean="0"/>
              <a:t>7</a:t>
            </a:fld>
            <a:endParaRPr lang="zh-CN" altLang="en-US"/>
          </a:p>
        </p:txBody>
      </p:sp>
    </p:spTree>
    <p:extLst>
      <p:ext uri="{BB962C8B-B14F-4D97-AF65-F5344CB8AC3E}">
        <p14:creationId xmlns:p14="http://schemas.microsoft.com/office/powerpoint/2010/main" val="212343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并行计算资源</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多台集群</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54781" y="365125"/>
            <a:ext cx="5419768" cy="3048620"/>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2507" y="2825674"/>
            <a:ext cx="6696245" cy="3351289"/>
          </a:xfrm>
          <a:prstGeom prst="rect">
            <a:avLst/>
          </a:prstGeom>
        </p:spPr>
      </p:pic>
      <p:sp>
        <p:nvSpPr>
          <p:cNvPr id="4" name="页脚占位符 3">
            <a:extLst>
              <a:ext uri="{FF2B5EF4-FFF2-40B4-BE49-F238E27FC236}">
                <a16:creationId xmlns:a16="http://schemas.microsoft.com/office/drawing/2014/main" id="{D23F9C86-899E-6299-807D-3B239D5147CC}"/>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7EB9846B-9BFC-DA6E-379D-6A10D3125465}"/>
              </a:ext>
            </a:extLst>
          </p:cNvPr>
          <p:cNvSpPr>
            <a:spLocks noGrp="1"/>
          </p:cNvSpPr>
          <p:nvPr>
            <p:ph type="sldNum" sz="quarter" idx="12"/>
          </p:nvPr>
        </p:nvSpPr>
        <p:spPr/>
        <p:txBody>
          <a:bodyPr/>
          <a:lstStyle/>
          <a:p>
            <a:fld id="{B9779E4F-4ECC-4B38-9136-DF01A5EA0AB6}" type="slidenum">
              <a:rPr lang="zh-CN" altLang="en-US" smtClean="0"/>
              <a:t>8</a:t>
            </a:fld>
            <a:endParaRPr lang="zh-CN" altLang="en-US"/>
          </a:p>
        </p:txBody>
      </p:sp>
    </p:spTree>
    <p:extLst>
      <p:ext uri="{BB962C8B-B14F-4D97-AF65-F5344CB8AC3E}">
        <p14:creationId xmlns:p14="http://schemas.microsoft.com/office/powerpoint/2010/main" val="1505699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并行计算资源</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多核</a:t>
            </a:r>
            <a:r>
              <a:rPr lang="en-US" altLang="zh-CN" sz="3200" dirty="0">
                <a:latin typeface="华文楷体" panose="02010600040101010101" pitchFamily="2" charset="-122"/>
                <a:ea typeface="华文楷体" panose="02010600040101010101" pitchFamily="2" charset="-122"/>
              </a:rPr>
              <a:t>CPU + GPU + FPGA + TPU + </a:t>
            </a:r>
            <a:r>
              <a:rPr lang="zh-CN" altLang="en-US" sz="3200" dirty="0">
                <a:latin typeface="华文楷体" panose="02010600040101010101" pitchFamily="2" charset="-122"/>
                <a:ea typeface="华文楷体" panose="02010600040101010101" pitchFamily="2" charset="-122"/>
              </a:rPr>
              <a:t>集群</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4" name="图片 3"/>
          <p:cNvPicPr>
            <a:picLocks noChangeAspect="1"/>
          </p:cNvPicPr>
          <p:nvPr/>
        </p:nvPicPr>
        <p:blipFill>
          <a:blip r:embed="rId2"/>
          <a:stretch>
            <a:fillRect/>
          </a:stretch>
        </p:blipFill>
        <p:spPr>
          <a:xfrm>
            <a:off x="2131548" y="2716896"/>
            <a:ext cx="7859524" cy="3595004"/>
          </a:xfrm>
          <a:prstGeom prst="rect">
            <a:avLst/>
          </a:prstGeom>
        </p:spPr>
      </p:pic>
      <p:sp>
        <p:nvSpPr>
          <p:cNvPr id="5" name="页脚占位符 4">
            <a:extLst>
              <a:ext uri="{FF2B5EF4-FFF2-40B4-BE49-F238E27FC236}">
                <a16:creationId xmlns:a16="http://schemas.microsoft.com/office/drawing/2014/main" id="{F009A404-C4DE-68F8-4BCA-DA8740328F6D}"/>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266BD4F9-87C0-D574-89CC-6D09EE842D90}"/>
              </a:ext>
            </a:extLst>
          </p:cNvPr>
          <p:cNvSpPr>
            <a:spLocks noGrp="1"/>
          </p:cNvSpPr>
          <p:nvPr>
            <p:ph type="sldNum" sz="quarter" idx="12"/>
          </p:nvPr>
        </p:nvSpPr>
        <p:spPr/>
        <p:txBody>
          <a:bodyPr/>
          <a:lstStyle/>
          <a:p>
            <a:fld id="{B9779E4F-4ECC-4B38-9136-DF01A5EA0AB6}" type="slidenum">
              <a:rPr lang="zh-CN" altLang="en-US" smtClean="0"/>
              <a:t>9</a:t>
            </a:fld>
            <a:endParaRPr lang="zh-CN" altLang="en-US"/>
          </a:p>
        </p:txBody>
      </p:sp>
    </p:spTree>
    <p:extLst>
      <p:ext uri="{BB962C8B-B14F-4D97-AF65-F5344CB8AC3E}">
        <p14:creationId xmlns:p14="http://schemas.microsoft.com/office/powerpoint/2010/main" val="1813027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并发与并行</a:t>
            </a:r>
          </a:p>
        </p:txBody>
      </p:sp>
      <p:sp>
        <p:nvSpPr>
          <p:cNvPr id="3" name="内容占位符 2"/>
          <p:cNvSpPr>
            <a:spLocks noGrp="1"/>
          </p:cNvSpPr>
          <p:nvPr>
            <p:ph idx="1"/>
          </p:nvPr>
        </p:nvSpPr>
        <p:spPr/>
        <p:txBody>
          <a:bodyPr/>
          <a:lstStyle/>
          <a:p>
            <a:r>
              <a:rPr lang="zh-CN" altLang="en-US" sz="3200" dirty="0">
                <a:latin typeface="华文楷体" panose="02010600040101010101" pitchFamily="2" charset="-122"/>
                <a:ea typeface="华文楷体" panose="02010600040101010101" pitchFamily="2" charset="-122"/>
              </a:rPr>
              <a:t>并发：同一时间段内可以交替处理多个操作</a:t>
            </a:r>
            <a:endParaRPr lang="en-US" altLang="zh-CN" sz="3200" dirty="0">
              <a:latin typeface="华文楷体" panose="02010600040101010101" pitchFamily="2" charset="-122"/>
              <a:ea typeface="华文楷体" panose="02010600040101010101" pitchFamily="2" charset="-122"/>
            </a:endParaRPr>
          </a:p>
          <a:p>
            <a:endParaRPr lang="en-US" altLang="zh-CN"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3789" y="2933921"/>
            <a:ext cx="8919877" cy="3087051"/>
          </a:xfrm>
          <a:prstGeom prst="rect">
            <a:avLst/>
          </a:prstGeom>
        </p:spPr>
      </p:pic>
      <p:sp>
        <p:nvSpPr>
          <p:cNvPr id="5" name="页脚占位符 4">
            <a:extLst>
              <a:ext uri="{FF2B5EF4-FFF2-40B4-BE49-F238E27FC236}">
                <a16:creationId xmlns:a16="http://schemas.microsoft.com/office/drawing/2014/main" id="{0F08E1F9-2E9A-1BA6-2F90-96475E14EA90}"/>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67922F5B-03D6-48BB-4D3C-0E215236B0CA}"/>
              </a:ext>
            </a:extLst>
          </p:cNvPr>
          <p:cNvSpPr>
            <a:spLocks noGrp="1"/>
          </p:cNvSpPr>
          <p:nvPr>
            <p:ph type="sldNum" sz="quarter" idx="12"/>
          </p:nvPr>
        </p:nvSpPr>
        <p:spPr/>
        <p:txBody>
          <a:bodyPr/>
          <a:lstStyle/>
          <a:p>
            <a:fld id="{B9779E4F-4ECC-4B38-9136-DF01A5EA0AB6}" type="slidenum">
              <a:rPr lang="zh-CN" altLang="en-US" smtClean="0"/>
              <a:t>10</a:t>
            </a:fld>
            <a:endParaRPr lang="zh-CN" altLang="en-US"/>
          </a:p>
        </p:txBody>
      </p:sp>
    </p:spTree>
    <p:extLst>
      <p:ext uri="{BB962C8B-B14F-4D97-AF65-F5344CB8AC3E}">
        <p14:creationId xmlns:p14="http://schemas.microsoft.com/office/powerpoint/2010/main" val="35169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并发与并行</a:t>
            </a:r>
          </a:p>
        </p:txBody>
      </p:sp>
      <p:sp>
        <p:nvSpPr>
          <p:cNvPr id="6" name="内容占位符 5"/>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并行：同一时刻内同时处理多个操作</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9139" y="2538416"/>
            <a:ext cx="7881937" cy="3997601"/>
          </a:xfrm>
          <a:prstGeom prst="rect">
            <a:avLst/>
          </a:prstGeom>
        </p:spPr>
      </p:pic>
      <p:sp>
        <p:nvSpPr>
          <p:cNvPr id="3" name="页脚占位符 2">
            <a:extLst>
              <a:ext uri="{FF2B5EF4-FFF2-40B4-BE49-F238E27FC236}">
                <a16:creationId xmlns:a16="http://schemas.microsoft.com/office/drawing/2014/main" id="{7BBD6F47-5C7D-4D68-6814-EAE4A6787825}"/>
              </a:ext>
            </a:extLst>
          </p:cNvPr>
          <p:cNvSpPr>
            <a:spLocks noGrp="1"/>
          </p:cNvSpPr>
          <p:nvPr>
            <p:ph type="ftr" sz="quarter" idx="11"/>
          </p:nvPr>
        </p:nvSpPr>
        <p:spPr/>
        <p:txBody>
          <a:bodyPr/>
          <a:lstStyle/>
          <a:p>
            <a:r>
              <a:rPr lang="zh-CN" altLang="en-US"/>
              <a:t>南京大学高级程序设计教学组</a:t>
            </a:r>
          </a:p>
        </p:txBody>
      </p:sp>
      <p:sp>
        <p:nvSpPr>
          <p:cNvPr id="4" name="灯片编号占位符 3">
            <a:extLst>
              <a:ext uri="{FF2B5EF4-FFF2-40B4-BE49-F238E27FC236}">
                <a16:creationId xmlns:a16="http://schemas.microsoft.com/office/drawing/2014/main" id="{6576BBDF-87E7-69AF-C33C-51C9E34B38F1}"/>
              </a:ext>
            </a:extLst>
          </p:cNvPr>
          <p:cNvSpPr>
            <a:spLocks noGrp="1"/>
          </p:cNvSpPr>
          <p:nvPr>
            <p:ph type="sldNum" sz="quarter" idx="12"/>
          </p:nvPr>
        </p:nvSpPr>
        <p:spPr/>
        <p:txBody>
          <a:bodyPr/>
          <a:lstStyle/>
          <a:p>
            <a:fld id="{B9779E4F-4ECC-4B38-9136-DF01A5EA0AB6}" type="slidenum">
              <a:rPr lang="zh-CN" altLang="en-US" smtClean="0"/>
              <a:t>11</a:t>
            </a:fld>
            <a:endParaRPr lang="zh-CN" altLang="en-US"/>
          </a:p>
        </p:txBody>
      </p:sp>
    </p:spTree>
    <p:extLst>
      <p:ext uri="{BB962C8B-B14F-4D97-AF65-F5344CB8AC3E}">
        <p14:creationId xmlns:p14="http://schemas.microsoft.com/office/powerpoint/2010/main" val="373519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进程与线程</a:t>
            </a:r>
          </a:p>
        </p:txBody>
      </p:sp>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进程（</a:t>
            </a:r>
            <a:r>
              <a:rPr lang="en-US" altLang="zh-CN" sz="3200" dirty="0">
                <a:latin typeface="华文楷体" panose="02010600040101010101" pitchFamily="2" charset="-122"/>
                <a:ea typeface="华文楷体" panose="02010600040101010101" pitchFamily="2" charset="-122"/>
              </a:rPr>
              <a:t>process</a:t>
            </a:r>
            <a:r>
              <a:rPr lang="zh-CN" altLang="en-US" sz="3200" dirty="0">
                <a:latin typeface="华文楷体" panose="02010600040101010101" pitchFamily="2" charset="-122"/>
                <a:ea typeface="华文楷体" panose="02010600040101010101" pitchFamily="2" charset="-122"/>
              </a:rPr>
              <a:t>）：是指一个在内存中运行的应用程序。每个进程都有自己独立的一块内存空间，一个进程可以有多个线程。</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线程（</a:t>
            </a:r>
            <a:r>
              <a:rPr lang="en-US" altLang="zh-CN" sz="3200" dirty="0">
                <a:latin typeface="华文楷体" panose="02010600040101010101" pitchFamily="2" charset="-122"/>
                <a:ea typeface="华文楷体" panose="02010600040101010101" pitchFamily="2" charset="-122"/>
              </a:rPr>
              <a:t>thread</a:t>
            </a:r>
            <a:r>
              <a:rPr lang="zh-CN" altLang="en-US" sz="3200" dirty="0">
                <a:latin typeface="华文楷体" panose="02010600040101010101" pitchFamily="2" charset="-122"/>
                <a:ea typeface="华文楷体" panose="02010600040101010101" pitchFamily="2" charset="-122"/>
              </a:rPr>
              <a:t>）：进程中的一个执行任务，负责当前进程中程序的执行。同类的多个线程共享进程的</a:t>
            </a:r>
            <a:r>
              <a:rPr lang="zh-CN" altLang="en-US" sz="3200" dirty="0">
                <a:solidFill>
                  <a:srgbClr val="FF0000"/>
                </a:solidFill>
                <a:latin typeface="华文楷体" panose="02010600040101010101" pitchFamily="2" charset="-122"/>
                <a:ea typeface="华文楷体" panose="02010600040101010101" pitchFamily="2" charset="-122"/>
              </a:rPr>
              <a:t>堆</a:t>
            </a:r>
            <a:r>
              <a:rPr lang="zh-CN" altLang="en-US" sz="3200" dirty="0">
                <a:latin typeface="华文楷体" panose="02010600040101010101" pitchFamily="2" charset="-122"/>
                <a:ea typeface="华文楷体" panose="02010600040101010101" pitchFamily="2" charset="-122"/>
              </a:rPr>
              <a:t>和</a:t>
            </a:r>
            <a:r>
              <a:rPr lang="zh-CN" altLang="en-US" sz="3200" dirty="0">
                <a:solidFill>
                  <a:srgbClr val="FF0000"/>
                </a:solidFill>
                <a:latin typeface="华文楷体" panose="02010600040101010101" pitchFamily="2" charset="-122"/>
                <a:ea typeface="华文楷体" panose="02010600040101010101" pitchFamily="2" charset="-122"/>
              </a:rPr>
              <a:t>方法区</a:t>
            </a:r>
            <a:r>
              <a:rPr lang="zh-CN" altLang="en-US" sz="3200" dirty="0">
                <a:latin typeface="华文楷体" panose="02010600040101010101" pitchFamily="2" charset="-122"/>
                <a:ea typeface="华文楷体" panose="02010600040101010101" pitchFamily="2" charset="-122"/>
              </a:rPr>
              <a:t>资源，但每个线程有自己的</a:t>
            </a:r>
            <a:r>
              <a:rPr lang="zh-CN" altLang="en-US" sz="3200" dirty="0">
                <a:solidFill>
                  <a:srgbClr val="FF0000"/>
                </a:solidFill>
                <a:latin typeface="华文楷体" panose="02010600040101010101" pitchFamily="2" charset="-122"/>
                <a:ea typeface="华文楷体" panose="02010600040101010101" pitchFamily="2" charset="-122"/>
              </a:rPr>
              <a:t>程序计数器</a:t>
            </a:r>
            <a:r>
              <a:rPr lang="zh-CN" altLang="en-US" sz="3200" dirty="0">
                <a:latin typeface="华文楷体" panose="02010600040101010101" pitchFamily="2" charset="-122"/>
                <a:ea typeface="华文楷体" panose="02010600040101010101" pitchFamily="2" charset="-122"/>
              </a:rPr>
              <a:t>和</a:t>
            </a:r>
            <a:r>
              <a:rPr lang="zh-CN" altLang="en-US" sz="3200" dirty="0">
                <a:solidFill>
                  <a:srgbClr val="FF0000"/>
                </a:solidFill>
                <a:latin typeface="华文楷体" panose="02010600040101010101" pitchFamily="2" charset="-122"/>
                <a:ea typeface="华文楷体" panose="02010600040101010101" pitchFamily="2" charset="-122"/>
              </a:rPr>
              <a:t>本地方法栈</a:t>
            </a:r>
            <a:endParaRPr lang="en-US" altLang="zh-CN" sz="3200" dirty="0">
              <a:solidFill>
                <a:srgbClr val="FF0000"/>
              </a:solidFill>
              <a:latin typeface="华文楷体" panose="02010600040101010101" pitchFamily="2" charset="-122"/>
              <a:ea typeface="华文楷体" panose="02010600040101010101" pitchFamily="2" charset="-122"/>
            </a:endParaRPr>
          </a:p>
        </p:txBody>
      </p:sp>
      <p:sp>
        <p:nvSpPr>
          <p:cNvPr id="4" name="页脚占位符 3">
            <a:extLst>
              <a:ext uri="{FF2B5EF4-FFF2-40B4-BE49-F238E27FC236}">
                <a16:creationId xmlns:a16="http://schemas.microsoft.com/office/drawing/2014/main" id="{769450FA-03A1-3C80-140C-DBBD0D7E4A24}"/>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272C7D00-A467-1872-086B-A193B3AF6259}"/>
              </a:ext>
            </a:extLst>
          </p:cNvPr>
          <p:cNvSpPr>
            <a:spLocks noGrp="1"/>
          </p:cNvSpPr>
          <p:nvPr>
            <p:ph type="sldNum" sz="quarter" idx="12"/>
          </p:nvPr>
        </p:nvSpPr>
        <p:spPr/>
        <p:txBody>
          <a:bodyPr/>
          <a:lstStyle/>
          <a:p>
            <a:fld id="{B9779E4F-4ECC-4B38-9136-DF01A5EA0AB6}" type="slidenum">
              <a:rPr lang="zh-CN" altLang="en-US" smtClean="0"/>
              <a:t>12</a:t>
            </a:fld>
            <a:endParaRPr lang="zh-CN" altLang="en-US"/>
          </a:p>
        </p:txBody>
      </p:sp>
    </p:spTree>
    <p:extLst>
      <p:ext uri="{BB962C8B-B14F-4D97-AF65-F5344CB8AC3E}">
        <p14:creationId xmlns:p14="http://schemas.microsoft.com/office/powerpoint/2010/main" val="121666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进程与线程</a:t>
            </a:r>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3545" y="1690687"/>
            <a:ext cx="8351302" cy="4816233"/>
          </a:xfrm>
        </p:spPr>
      </p:pic>
      <p:sp>
        <p:nvSpPr>
          <p:cNvPr id="3" name="页脚占位符 2">
            <a:extLst>
              <a:ext uri="{FF2B5EF4-FFF2-40B4-BE49-F238E27FC236}">
                <a16:creationId xmlns:a16="http://schemas.microsoft.com/office/drawing/2014/main" id="{EECC99A8-F912-E8F7-7347-DF86F59A62A3}"/>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3D7641B7-CD0A-E96C-A24A-BEE35C813551}"/>
              </a:ext>
            </a:extLst>
          </p:cNvPr>
          <p:cNvSpPr>
            <a:spLocks noGrp="1"/>
          </p:cNvSpPr>
          <p:nvPr>
            <p:ph type="sldNum" sz="quarter" idx="12"/>
          </p:nvPr>
        </p:nvSpPr>
        <p:spPr/>
        <p:txBody>
          <a:bodyPr/>
          <a:lstStyle/>
          <a:p>
            <a:fld id="{B9779E4F-4ECC-4B38-9136-DF01A5EA0AB6}" type="slidenum">
              <a:rPr lang="zh-CN" altLang="en-US" smtClean="0"/>
              <a:t>13</a:t>
            </a:fld>
            <a:endParaRPr lang="zh-CN" altLang="en-US"/>
          </a:p>
        </p:txBody>
      </p:sp>
    </p:spTree>
    <p:extLst>
      <p:ext uri="{BB962C8B-B14F-4D97-AF65-F5344CB8AC3E}">
        <p14:creationId xmlns:p14="http://schemas.microsoft.com/office/powerpoint/2010/main" val="224990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800" dirty="0">
                <a:latin typeface="华文新魏" panose="02010800040101010101" pitchFamily="2" charset="-122"/>
                <a:ea typeface="华文新魏" panose="02010800040101010101" pitchFamily="2" charset="-122"/>
              </a:rPr>
              <a:t>C++</a:t>
            </a:r>
            <a:r>
              <a:rPr lang="zh-CN" altLang="en-US" sz="4800" dirty="0">
                <a:latin typeface="华文新魏" panose="02010800040101010101" pitchFamily="2" charset="-122"/>
                <a:ea typeface="华文新魏" panose="02010800040101010101" pitchFamily="2" charset="-122"/>
              </a:rPr>
              <a:t>并行编程</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2003" y="1690688"/>
            <a:ext cx="9947994" cy="4336880"/>
          </a:xfrm>
        </p:spPr>
      </p:pic>
      <p:sp>
        <p:nvSpPr>
          <p:cNvPr id="3" name="页脚占位符 2">
            <a:extLst>
              <a:ext uri="{FF2B5EF4-FFF2-40B4-BE49-F238E27FC236}">
                <a16:creationId xmlns:a16="http://schemas.microsoft.com/office/drawing/2014/main" id="{C5AB2A89-1947-70A7-09CD-16025C565477}"/>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22E57E39-0DF9-A25C-022A-724AD334CB75}"/>
              </a:ext>
            </a:extLst>
          </p:cNvPr>
          <p:cNvSpPr>
            <a:spLocks noGrp="1"/>
          </p:cNvSpPr>
          <p:nvPr>
            <p:ph type="sldNum" sz="quarter" idx="12"/>
          </p:nvPr>
        </p:nvSpPr>
        <p:spPr/>
        <p:txBody>
          <a:bodyPr/>
          <a:lstStyle/>
          <a:p>
            <a:fld id="{B9779E4F-4ECC-4B38-9136-DF01A5EA0AB6}" type="slidenum">
              <a:rPr lang="zh-CN" altLang="en-US" smtClean="0"/>
              <a:t>14</a:t>
            </a:fld>
            <a:endParaRPr lang="zh-CN" altLang="en-US"/>
          </a:p>
        </p:txBody>
      </p:sp>
    </p:spTree>
    <p:extLst>
      <p:ext uri="{BB962C8B-B14F-4D97-AF65-F5344CB8AC3E}">
        <p14:creationId xmlns:p14="http://schemas.microsoft.com/office/powerpoint/2010/main" val="1386533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4514F5-0911-0BFF-3AE7-557BFDC60063}"/>
              </a:ext>
            </a:extLst>
          </p:cNvPr>
          <p:cNvPicPr>
            <a:picLocks noChangeAspect="1"/>
          </p:cNvPicPr>
          <p:nvPr/>
        </p:nvPicPr>
        <p:blipFill>
          <a:blip r:embed="rId2"/>
          <a:stretch>
            <a:fillRect/>
          </a:stretch>
        </p:blipFill>
        <p:spPr>
          <a:xfrm>
            <a:off x="491252" y="2060491"/>
            <a:ext cx="11438095" cy="37428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标题 1">
            <a:extLst>
              <a:ext uri="{FF2B5EF4-FFF2-40B4-BE49-F238E27FC236}">
                <a16:creationId xmlns:a16="http://schemas.microsoft.com/office/drawing/2014/main" id="{CB317840-A6E0-06DE-B7D2-89D03A5E46BE}"/>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dirty="0">
                <a:latin typeface="华文新魏" panose="02010800040101010101" pitchFamily="2" charset="-122"/>
                <a:ea typeface="华文新魏" panose="02010800040101010101" pitchFamily="2" charset="-122"/>
              </a:rPr>
              <a:t>C++</a:t>
            </a:r>
            <a:r>
              <a:rPr lang="zh-CN" altLang="en-US" sz="4800" dirty="0">
                <a:latin typeface="华文新魏" panose="02010800040101010101" pitchFamily="2" charset="-122"/>
                <a:ea typeface="华文新魏" panose="02010800040101010101" pitchFamily="2" charset="-122"/>
              </a:rPr>
              <a:t>并行编程模型</a:t>
            </a:r>
          </a:p>
        </p:txBody>
      </p:sp>
      <p:sp>
        <p:nvSpPr>
          <p:cNvPr id="5" name="页脚占位符 4">
            <a:extLst>
              <a:ext uri="{FF2B5EF4-FFF2-40B4-BE49-F238E27FC236}">
                <a16:creationId xmlns:a16="http://schemas.microsoft.com/office/drawing/2014/main" id="{93D6BAD2-3842-E356-352D-C8567C58A513}"/>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EABCD562-EDBA-257E-ACE8-47D6AC54EE6E}"/>
              </a:ext>
            </a:extLst>
          </p:cNvPr>
          <p:cNvSpPr>
            <a:spLocks noGrp="1"/>
          </p:cNvSpPr>
          <p:nvPr>
            <p:ph type="sldNum" sz="quarter" idx="12"/>
          </p:nvPr>
        </p:nvSpPr>
        <p:spPr/>
        <p:txBody>
          <a:bodyPr/>
          <a:lstStyle/>
          <a:p>
            <a:fld id="{B9779E4F-4ECC-4B38-9136-DF01A5EA0AB6}" type="slidenum">
              <a:rPr lang="zh-CN" altLang="en-US" smtClean="0"/>
              <a:t>15</a:t>
            </a:fld>
            <a:endParaRPr lang="zh-CN" altLang="en-US"/>
          </a:p>
        </p:txBody>
      </p:sp>
    </p:spTree>
    <p:extLst>
      <p:ext uri="{BB962C8B-B14F-4D97-AF65-F5344CB8AC3E}">
        <p14:creationId xmlns:p14="http://schemas.microsoft.com/office/powerpoint/2010/main" val="173321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一个小的例子</a:t>
            </a:r>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3"/>
          <a:stretch>
            <a:fillRect/>
          </a:stretch>
        </p:blipFill>
        <p:spPr>
          <a:xfrm>
            <a:off x="2307265" y="1690688"/>
            <a:ext cx="6035749" cy="4656486"/>
          </a:xfrm>
          <a:prstGeom prst="rect">
            <a:avLst/>
          </a:prstGeom>
        </p:spPr>
      </p:pic>
      <p:sp>
        <p:nvSpPr>
          <p:cNvPr id="6" name="文本框 5"/>
          <p:cNvSpPr txBox="1"/>
          <p:nvPr/>
        </p:nvSpPr>
        <p:spPr>
          <a:xfrm>
            <a:off x="4306730" y="5018893"/>
            <a:ext cx="4837269"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主线程等待子线程结束方可执行下一步</a:t>
            </a:r>
          </a:p>
        </p:txBody>
      </p:sp>
      <p:sp>
        <p:nvSpPr>
          <p:cNvPr id="5" name="页脚占位符 4">
            <a:extLst>
              <a:ext uri="{FF2B5EF4-FFF2-40B4-BE49-F238E27FC236}">
                <a16:creationId xmlns:a16="http://schemas.microsoft.com/office/drawing/2014/main" id="{36E6FE93-3DED-B48F-849D-3EC1943A0415}"/>
              </a:ext>
            </a:extLst>
          </p:cNvPr>
          <p:cNvSpPr>
            <a:spLocks noGrp="1"/>
          </p:cNvSpPr>
          <p:nvPr>
            <p:ph type="ftr" sz="quarter" idx="11"/>
          </p:nvPr>
        </p:nvSpPr>
        <p:spPr/>
        <p:txBody>
          <a:bodyPr/>
          <a:lstStyle/>
          <a:p>
            <a:r>
              <a:rPr lang="zh-CN" altLang="en-US"/>
              <a:t>南京大学高级程序设计教学组</a:t>
            </a:r>
          </a:p>
        </p:txBody>
      </p:sp>
      <p:sp>
        <p:nvSpPr>
          <p:cNvPr id="7" name="灯片编号占位符 6">
            <a:extLst>
              <a:ext uri="{FF2B5EF4-FFF2-40B4-BE49-F238E27FC236}">
                <a16:creationId xmlns:a16="http://schemas.microsoft.com/office/drawing/2014/main" id="{40422488-CAFE-0C95-8EB8-5A46798234BD}"/>
              </a:ext>
            </a:extLst>
          </p:cNvPr>
          <p:cNvSpPr>
            <a:spLocks noGrp="1"/>
          </p:cNvSpPr>
          <p:nvPr>
            <p:ph type="sldNum" sz="quarter" idx="12"/>
          </p:nvPr>
        </p:nvSpPr>
        <p:spPr/>
        <p:txBody>
          <a:bodyPr/>
          <a:lstStyle/>
          <a:p>
            <a:fld id="{B9779E4F-4ECC-4B38-9136-DF01A5EA0AB6}" type="slidenum">
              <a:rPr lang="zh-CN" altLang="en-US" smtClean="0"/>
              <a:t>16</a:t>
            </a:fld>
            <a:endParaRPr lang="zh-CN" altLang="en-US"/>
          </a:p>
        </p:txBody>
      </p:sp>
    </p:spTree>
    <p:extLst>
      <p:ext uri="{BB962C8B-B14F-4D97-AF65-F5344CB8AC3E}">
        <p14:creationId xmlns:p14="http://schemas.microsoft.com/office/powerpoint/2010/main" val="3449714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一个小的例子</a:t>
            </a:r>
          </a:p>
        </p:txBody>
      </p:sp>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匿名函数</a:t>
            </a:r>
          </a:p>
        </p:txBody>
      </p:sp>
      <p:pic>
        <p:nvPicPr>
          <p:cNvPr id="4" name="图片 3"/>
          <p:cNvPicPr>
            <a:picLocks noChangeAspect="1"/>
          </p:cNvPicPr>
          <p:nvPr/>
        </p:nvPicPr>
        <p:blipFill>
          <a:blip r:embed="rId2"/>
          <a:stretch>
            <a:fillRect/>
          </a:stretch>
        </p:blipFill>
        <p:spPr>
          <a:xfrm>
            <a:off x="3760000" y="2006237"/>
            <a:ext cx="6762634" cy="4305663"/>
          </a:xfrm>
          <a:prstGeom prst="rect">
            <a:avLst/>
          </a:prstGeom>
        </p:spPr>
      </p:pic>
      <p:sp>
        <p:nvSpPr>
          <p:cNvPr id="7" name="文本框 6"/>
          <p:cNvSpPr txBox="1"/>
          <p:nvPr/>
        </p:nvSpPr>
        <p:spPr>
          <a:xfrm>
            <a:off x="5544688" y="5004825"/>
            <a:ext cx="4837269" cy="400110"/>
          </a:xfrm>
          <a:prstGeom prst="rect">
            <a:avLst/>
          </a:prstGeom>
          <a:noFill/>
        </p:spPr>
        <p:txBody>
          <a:bodyPr wrap="square" rtlCol="0">
            <a:spAutoFit/>
          </a:bodyPr>
          <a:lstStyle/>
          <a:p>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主线程等待子线程结束方可执行下一步</a:t>
            </a:r>
          </a:p>
        </p:txBody>
      </p:sp>
      <p:sp>
        <p:nvSpPr>
          <p:cNvPr id="5" name="页脚占位符 4">
            <a:extLst>
              <a:ext uri="{FF2B5EF4-FFF2-40B4-BE49-F238E27FC236}">
                <a16:creationId xmlns:a16="http://schemas.microsoft.com/office/drawing/2014/main" id="{D8CBDD49-7A6E-105B-35EC-86DDE6802E95}"/>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24905B13-5848-8269-77FF-8FB6515CB1D3}"/>
              </a:ext>
            </a:extLst>
          </p:cNvPr>
          <p:cNvSpPr>
            <a:spLocks noGrp="1"/>
          </p:cNvSpPr>
          <p:nvPr>
            <p:ph type="sldNum" sz="quarter" idx="12"/>
          </p:nvPr>
        </p:nvSpPr>
        <p:spPr/>
        <p:txBody>
          <a:bodyPr/>
          <a:lstStyle/>
          <a:p>
            <a:fld id="{B9779E4F-4ECC-4B38-9136-DF01A5EA0AB6}" type="slidenum">
              <a:rPr lang="zh-CN" altLang="en-US" smtClean="0"/>
              <a:t>17</a:t>
            </a:fld>
            <a:endParaRPr lang="zh-CN" altLang="en-US"/>
          </a:p>
        </p:txBody>
      </p:sp>
    </p:spTree>
    <p:extLst>
      <p:ext uri="{BB962C8B-B14F-4D97-AF65-F5344CB8AC3E}">
        <p14:creationId xmlns:p14="http://schemas.microsoft.com/office/powerpoint/2010/main" val="159387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800" dirty="0">
                <a:latin typeface="华文新魏" panose="02010800040101010101" pitchFamily="2" charset="-122"/>
                <a:ea typeface="华文新魏" panose="02010800040101010101" pitchFamily="2" charset="-122"/>
              </a:rPr>
              <a:t>一个小的例子</a:t>
            </a:r>
          </a:p>
        </p:txBody>
      </p:sp>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带参线程</a:t>
            </a:r>
          </a:p>
        </p:txBody>
      </p:sp>
      <p:pic>
        <p:nvPicPr>
          <p:cNvPr id="4" name="图片 3"/>
          <p:cNvPicPr>
            <a:picLocks noChangeAspect="1"/>
          </p:cNvPicPr>
          <p:nvPr/>
        </p:nvPicPr>
        <p:blipFill>
          <a:blip r:embed="rId2"/>
          <a:stretch>
            <a:fillRect/>
          </a:stretch>
        </p:blipFill>
        <p:spPr>
          <a:xfrm>
            <a:off x="3967972" y="2044958"/>
            <a:ext cx="6254456" cy="3912671"/>
          </a:xfrm>
          <a:prstGeom prst="rect">
            <a:avLst/>
          </a:prstGeom>
        </p:spPr>
      </p:pic>
      <p:sp>
        <p:nvSpPr>
          <p:cNvPr id="5" name="页脚占位符 4">
            <a:extLst>
              <a:ext uri="{FF2B5EF4-FFF2-40B4-BE49-F238E27FC236}">
                <a16:creationId xmlns:a16="http://schemas.microsoft.com/office/drawing/2014/main" id="{0A8E3261-4139-C505-9F83-EAD8860EC00F}"/>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AB0BCB0F-2FB8-5873-1296-1831835C6DCF}"/>
              </a:ext>
            </a:extLst>
          </p:cNvPr>
          <p:cNvSpPr>
            <a:spLocks noGrp="1"/>
          </p:cNvSpPr>
          <p:nvPr>
            <p:ph type="sldNum" sz="quarter" idx="12"/>
          </p:nvPr>
        </p:nvSpPr>
        <p:spPr/>
        <p:txBody>
          <a:bodyPr/>
          <a:lstStyle/>
          <a:p>
            <a:fld id="{B9779E4F-4ECC-4B38-9136-DF01A5EA0AB6}" type="slidenum">
              <a:rPr lang="zh-CN" altLang="en-US" smtClean="0"/>
              <a:t>18</a:t>
            </a:fld>
            <a:endParaRPr lang="zh-CN" altLang="en-US"/>
          </a:p>
        </p:txBody>
      </p:sp>
    </p:spTree>
    <p:extLst>
      <p:ext uri="{BB962C8B-B14F-4D97-AF65-F5344CB8AC3E}">
        <p14:creationId xmlns:p14="http://schemas.microsoft.com/office/powerpoint/2010/main" val="4210043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线程创建</a:t>
            </a:r>
          </a:p>
        </p:txBody>
      </p:sp>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线程随着 </a:t>
            </a:r>
            <a:r>
              <a:rPr lang="en-US" altLang="zh-CN" sz="3200" dirty="0" err="1">
                <a:latin typeface="华文楷体" panose="02010600040101010101" pitchFamily="2" charset="-122"/>
                <a:ea typeface="华文楷体" panose="02010600040101010101" pitchFamily="2" charset="-122"/>
              </a:rPr>
              <a:t>std</a:t>
            </a:r>
            <a:r>
              <a:rPr lang="en-US" altLang="zh-CN" sz="3200" dirty="0">
                <a:latin typeface="华文楷体" panose="02010600040101010101" pitchFamily="2" charset="-122"/>
                <a:ea typeface="华文楷体" panose="02010600040101010101" pitchFamily="2" charset="-122"/>
              </a:rPr>
              <a:t>::thread </a:t>
            </a:r>
            <a:r>
              <a:rPr lang="zh-CN" altLang="en-US" sz="3200" dirty="0">
                <a:latin typeface="华文楷体" panose="02010600040101010101" pitchFamily="2" charset="-122"/>
                <a:ea typeface="华文楷体" panose="02010600040101010101" pitchFamily="2" charset="-122"/>
              </a:rPr>
              <a:t>类型实例的创建而创建</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创建线程需指定</a:t>
            </a:r>
            <a:r>
              <a:rPr lang="zh-CN" altLang="en-US" sz="3200" dirty="0">
                <a:solidFill>
                  <a:srgbClr val="FF0000"/>
                </a:solidFill>
                <a:latin typeface="华文楷体" panose="02010600040101010101" pitchFamily="2" charset="-122"/>
                <a:ea typeface="华文楷体" panose="02010600040101010101" pitchFamily="2" charset="-122"/>
              </a:rPr>
              <a:t>线程函数</a:t>
            </a:r>
          </a:p>
        </p:txBody>
      </p:sp>
      <p:pic>
        <p:nvPicPr>
          <p:cNvPr id="5" name="图片 4"/>
          <p:cNvPicPr>
            <a:picLocks noChangeAspect="1"/>
          </p:cNvPicPr>
          <p:nvPr/>
        </p:nvPicPr>
        <p:blipFill>
          <a:blip r:embed="rId2"/>
          <a:stretch>
            <a:fillRect/>
          </a:stretch>
        </p:blipFill>
        <p:spPr>
          <a:xfrm>
            <a:off x="2242363" y="3727376"/>
            <a:ext cx="7756194" cy="1461312"/>
          </a:xfrm>
          <a:prstGeom prst="rect">
            <a:avLst/>
          </a:prstGeom>
        </p:spPr>
      </p:pic>
      <p:sp>
        <p:nvSpPr>
          <p:cNvPr id="4" name="页脚占位符 3">
            <a:extLst>
              <a:ext uri="{FF2B5EF4-FFF2-40B4-BE49-F238E27FC236}">
                <a16:creationId xmlns:a16="http://schemas.microsoft.com/office/drawing/2014/main" id="{6B3CF83C-1E12-7635-A8C7-BF5E9AC3A629}"/>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8C7A6EB2-288D-A4C2-6743-7F3103B807F1}"/>
              </a:ext>
            </a:extLst>
          </p:cNvPr>
          <p:cNvSpPr>
            <a:spLocks noGrp="1"/>
          </p:cNvSpPr>
          <p:nvPr>
            <p:ph type="sldNum" sz="quarter" idx="12"/>
          </p:nvPr>
        </p:nvSpPr>
        <p:spPr/>
        <p:txBody>
          <a:bodyPr/>
          <a:lstStyle/>
          <a:p>
            <a:fld id="{B9779E4F-4ECC-4B38-9136-DF01A5EA0AB6}" type="slidenum">
              <a:rPr lang="zh-CN" altLang="en-US" smtClean="0"/>
              <a:t>19</a:t>
            </a:fld>
            <a:endParaRPr lang="zh-CN" altLang="en-US"/>
          </a:p>
        </p:txBody>
      </p:sp>
    </p:spTree>
    <p:extLst>
      <p:ext uri="{BB962C8B-B14F-4D97-AF65-F5344CB8AC3E}">
        <p14:creationId xmlns:p14="http://schemas.microsoft.com/office/powerpoint/2010/main" val="49022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线程结束</a:t>
            </a:r>
          </a:p>
        </p:txBody>
      </p:sp>
      <p:sp>
        <p:nvSpPr>
          <p:cNvPr id="3" name="内容占位符 2"/>
          <p:cNvSpPr>
            <a:spLocks noGrp="1"/>
          </p:cNvSpPr>
          <p:nvPr>
            <p:ph idx="1"/>
          </p:nvPr>
        </p:nvSpPr>
        <p:spPr>
          <a:xfrm>
            <a:off x="838199" y="2163257"/>
            <a:ext cx="11006797" cy="4351338"/>
          </a:xfrm>
        </p:spPr>
        <p:txBody>
          <a:bodyPr>
            <a:normAutofit/>
          </a:bodyPr>
          <a:lstStyle/>
          <a:p>
            <a:r>
              <a:rPr lang="en-US" altLang="zh-CN" sz="3200" dirty="0">
                <a:latin typeface="华文楷体" panose="02010600040101010101" pitchFamily="2" charset="-122"/>
                <a:ea typeface="华文楷体" panose="02010600040101010101" pitchFamily="2" charset="-122"/>
              </a:rPr>
              <a:t>join: </a:t>
            </a:r>
            <a:r>
              <a:rPr lang="zh-CN" altLang="en-US" sz="3200" dirty="0">
                <a:latin typeface="华文楷体" panose="02010600040101010101" pitchFamily="2" charset="-122"/>
                <a:ea typeface="华文楷体" panose="02010600040101010101" pitchFamily="2" charset="-122"/>
              </a:rPr>
              <a:t>主线程会阻塞住，直到该子线程退出为止</a:t>
            </a:r>
          </a:p>
          <a:p>
            <a:endParaRPr lang="zh-CN" altLang="en-US" sz="3200" dirty="0">
              <a:latin typeface="华文楷体" panose="02010600040101010101" pitchFamily="2" charset="-122"/>
              <a:ea typeface="华文楷体" panose="02010600040101010101" pitchFamily="2" charset="-122"/>
            </a:endParaRPr>
          </a:p>
          <a:p>
            <a:r>
              <a:rPr lang="en-US" altLang="zh-CN" sz="3200" dirty="0">
                <a:latin typeface="华文楷体" panose="02010600040101010101" pitchFamily="2" charset="-122"/>
                <a:ea typeface="华文楷体" panose="02010600040101010101" pitchFamily="2" charset="-122"/>
              </a:rPr>
              <a:t>detach: </a:t>
            </a:r>
            <a:r>
              <a:rPr lang="zh-CN" altLang="en-US" sz="3200" dirty="0">
                <a:latin typeface="华文楷体" panose="02010600040101010101" pitchFamily="2" charset="-122"/>
                <a:ea typeface="华文楷体" panose="02010600040101010101" pitchFamily="2" charset="-122"/>
              </a:rPr>
              <a:t>主线程丧失对子线程的控制权</a:t>
            </a:r>
          </a:p>
          <a:p>
            <a:pPr lvl="1"/>
            <a:r>
              <a:rPr lang="zh-CN" altLang="en-US" sz="2800" dirty="0">
                <a:latin typeface="华文楷体" panose="02010600040101010101" pitchFamily="2" charset="-122"/>
                <a:ea typeface="华文楷体" panose="02010600040101010101" pitchFamily="2" charset="-122"/>
              </a:rPr>
              <a:t>主线程结束之后，子线程可能仍在运行</a:t>
            </a:r>
          </a:p>
          <a:p>
            <a:pPr lvl="1"/>
            <a:r>
              <a:rPr lang="zh-CN" altLang="en-US" sz="2800" dirty="0">
                <a:latin typeface="华文楷体" panose="02010600040101010101" pitchFamily="2" charset="-122"/>
                <a:ea typeface="华文楷体" panose="02010600040101010101" pitchFamily="2" charset="-122"/>
              </a:rPr>
              <a:t>主线程结束伴随着资源销毁，需要保证子线程没有引用这些资源</a:t>
            </a:r>
          </a:p>
        </p:txBody>
      </p:sp>
      <p:pic>
        <p:nvPicPr>
          <p:cNvPr id="4" name="图片 3"/>
          <p:cNvPicPr>
            <a:picLocks noChangeAspect="1"/>
          </p:cNvPicPr>
          <p:nvPr/>
        </p:nvPicPr>
        <p:blipFill>
          <a:blip r:embed="rId3"/>
          <a:stretch>
            <a:fillRect/>
          </a:stretch>
        </p:blipFill>
        <p:spPr>
          <a:xfrm>
            <a:off x="7142100" y="254170"/>
            <a:ext cx="4030338" cy="1591266"/>
          </a:xfrm>
          <a:prstGeom prst="rect">
            <a:avLst/>
          </a:prstGeom>
        </p:spPr>
      </p:pic>
      <p:sp>
        <p:nvSpPr>
          <p:cNvPr id="5" name="页脚占位符 4">
            <a:extLst>
              <a:ext uri="{FF2B5EF4-FFF2-40B4-BE49-F238E27FC236}">
                <a16:creationId xmlns:a16="http://schemas.microsoft.com/office/drawing/2014/main" id="{2D3F909E-C26F-B585-26F2-6EBD14B9B37F}"/>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6826C66B-5CF6-A4E3-ABE1-334E0B7E5F40}"/>
              </a:ext>
            </a:extLst>
          </p:cNvPr>
          <p:cNvSpPr>
            <a:spLocks noGrp="1"/>
          </p:cNvSpPr>
          <p:nvPr>
            <p:ph type="sldNum" sz="quarter" idx="12"/>
          </p:nvPr>
        </p:nvSpPr>
        <p:spPr/>
        <p:txBody>
          <a:bodyPr/>
          <a:lstStyle/>
          <a:p>
            <a:fld id="{B9779E4F-4ECC-4B38-9136-DF01A5EA0AB6}" type="slidenum">
              <a:rPr lang="zh-CN" altLang="en-US" smtClean="0"/>
              <a:t>20</a:t>
            </a:fld>
            <a:endParaRPr lang="zh-CN" altLang="en-US"/>
          </a:p>
        </p:txBody>
      </p:sp>
    </p:spTree>
    <p:extLst>
      <p:ext uri="{BB962C8B-B14F-4D97-AF65-F5344CB8AC3E}">
        <p14:creationId xmlns:p14="http://schemas.microsoft.com/office/powerpoint/2010/main" val="4089717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normAutofit/>
          </a:bodyPr>
          <a:lstStyle/>
          <a:p>
            <a:r>
              <a:rPr lang="en-US" altLang="zh-CN" sz="4800" dirty="0">
                <a:latin typeface="华文新魏" panose="02010800040101010101" pitchFamily="2" charset="-122"/>
                <a:ea typeface="华文新魏" panose="02010800040101010101" pitchFamily="2" charset="-122"/>
              </a:rPr>
              <a:t>join</a:t>
            </a:r>
            <a:r>
              <a:rPr lang="zh-CN" altLang="en-US" sz="4800" dirty="0">
                <a:latin typeface="华文新魏" panose="02010800040101010101" pitchFamily="2" charset="-122"/>
                <a:ea typeface="华文新魏" panose="02010800040101010101" pitchFamily="2" charset="-122"/>
              </a:rPr>
              <a:t>和</a:t>
            </a:r>
            <a:r>
              <a:rPr lang="en-US" altLang="zh-CN" sz="4800" dirty="0">
                <a:latin typeface="华文新魏" panose="02010800040101010101" pitchFamily="2" charset="-122"/>
                <a:ea typeface="华文新魏" panose="02010800040101010101" pitchFamily="2" charset="-122"/>
              </a:rPr>
              <a:t>detach</a:t>
            </a:r>
            <a:r>
              <a:rPr lang="zh-CN" altLang="en-US" sz="4800" dirty="0">
                <a:latin typeface="华文新魏" panose="02010800040101010101" pitchFamily="2" charset="-122"/>
                <a:ea typeface="华文新魏" panose="02010800040101010101" pitchFamily="2" charset="-122"/>
              </a:rPr>
              <a:t>的区别</a:t>
            </a:r>
          </a:p>
        </p:txBody>
      </p:sp>
      <p:sp>
        <p:nvSpPr>
          <p:cNvPr id="3" name="内容占位符 2"/>
          <p:cNvSpPr>
            <a:spLocks noGrp="1"/>
          </p:cNvSpPr>
          <p:nvPr>
            <p:ph idx="1"/>
          </p:nvPr>
        </p:nvSpPr>
        <p:spPr/>
        <p:txBody>
          <a:bodyPr/>
          <a:lstStyle/>
          <a:p>
            <a:endParaRPr lang="zh-CN" altLang="en-US"/>
          </a:p>
        </p:txBody>
      </p:sp>
      <p:pic>
        <p:nvPicPr>
          <p:cNvPr id="7170" name="Picture 2" descr="https://img-blog.csdn.net/20180504185825178?watermark/2/text/aHR0cHM6Ly9ibG9nLmNzZG4ubmV0L291eWFuZ2Z1c2h1/font/5a6L5L2T/fontsize/400/fill/I0JBQkFCMA==/dissolve/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133" y="1058294"/>
            <a:ext cx="6746590" cy="5743434"/>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8440931" y="4446209"/>
            <a:ext cx="2467947" cy="1250877"/>
          </a:xfrm>
          <a:prstGeom prst="rect">
            <a:avLst/>
          </a:prstGeom>
        </p:spPr>
      </p:pic>
      <p:sp>
        <p:nvSpPr>
          <p:cNvPr id="4" name="页脚占位符 3">
            <a:extLst>
              <a:ext uri="{FF2B5EF4-FFF2-40B4-BE49-F238E27FC236}">
                <a16:creationId xmlns:a16="http://schemas.microsoft.com/office/drawing/2014/main" id="{BDF3CB4A-3A0D-ACAA-0BB9-81252B3E7757}"/>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3C31D519-FB6A-061F-57E8-121BD8E6172D}"/>
              </a:ext>
            </a:extLst>
          </p:cNvPr>
          <p:cNvSpPr>
            <a:spLocks noGrp="1"/>
          </p:cNvSpPr>
          <p:nvPr>
            <p:ph type="sldNum" sz="quarter" idx="12"/>
          </p:nvPr>
        </p:nvSpPr>
        <p:spPr/>
        <p:txBody>
          <a:bodyPr/>
          <a:lstStyle/>
          <a:p>
            <a:fld id="{B9779E4F-4ECC-4B38-9136-DF01A5EA0AB6}" type="slidenum">
              <a:rPr lang="zh-CN" altLang="en-US" smtClean="0"/>
              <a:t>21</a:t>
            </a:fld>
            <a:endParaRPr lang="zh-CN" altLang="en-US"/>
          </a:p>
        </p:txBody>
      </p:sp>
    </p:spTree>
    <p:extLst>
      <p:ext uri="{BB962C8B-B14F-4D97-AF65-F5344CB8AC3E}">
        <p14:creationId xmlns:p14="http://schemas.microsoft.com/office/powerpoint/2010/main" val="2244064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83771"/>
            <a:ext cx="10515600" cy="1325563"/>
          </a:xfrm>
        </p:spPr>
        <p:txBody>
          <a:bodyPr/>
          <a:lstStyle/>
          <a:p>
            <a:r>
              <a:rPr lang="en-US" altLang="zh-CN" sz="4800" dirty="0">
                <a:latin typeface="华文新魏" panose="02010800040101010101" pitchFamily="2" charset="-122"/>
                <a:ea typeface="华文新魏" panose="02010800040101010101" pitchFamily="2" charset="-122"/>
              </a:rPr>
              <a:t>join</a:t>
            </a:r>
            <a:r>
              <a:rPr lang="zh-CN" altLang="en-US" sz="4800" dirty="0">
                <a:latin typeface="华文新魏" panose="02010800040101010101" pitchFamily="2" charset="-122"/>
                <a:ea typeface="华文新魏" panose="02010800040101010101" pitchFamily="2" charset="-122"/>
              </a:rPr>
              <a:t>和</a:t>
            </a:r>
            <a:r>
              <a:rPr lang="en-US" altLang="zh-CN" sz="4800" dirty="0">
                <a:latin typeface="华文新魏" panose="02010800040101010101" pitchFamily="2" charset="-122"/>
                <a:ea typeface="华文新魏" panose="02010800040101010101" pitchFamily="2" charset="-122"/>
              </a:rPr>
              <a:t>detach</a:t>
            </a:r>
            <a:r>
              <a:rPr lang="zh-CN" altLang="en-US" sz="4800" dirty="0">
                <a:latin typeface="华文新魏" panose="02010800040101010101" pitchFamily="2" charset="-122"/>
                <a:ea typeface="华文新魏" panose="02010800040101010101" pitchFamily="2" charset="-122"/>
              </a:rPr>
              <a:t>的区别</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6146" name="Picture 2" descr="https://img-blog.csdn.net/20180504185842801?watermark/2/text/aHR0cHM6Ly9ibG9nLmNzZG4ubmV0L291eWFuZ2Z1c2h1/font/5a6L5L2T/fontsize/400/fill/I0JBQkFCMA==/dissolve/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40521"/>
            <a:ext cx="7873697" cy="527282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9077268" y="5130985"/>
            <a:ext cx="2527780" cy="1045978"/>
          </a:xfrm>
          <a:prstGeom prst="rect">
            <a:avLst/>
          </a:prstGeom>
        </p:spPr>
      </p:pic>
      <p:sp>
        <p:nvSpPr>
          <p:cNvPr id="4" name="页脚占位符 3">
            <a:extLst>
              <a:ext uri="{FF2B5EF4-FFF2-40B4-BE49-F238E27FC236}">
                <a16:creationId xmlns:a16="http://schemas.microsoft.com/office/drawing/2014/main" id="{A655E298-3AF8-82D6-5072-78212660CDFC}"/>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2F385F67-3653-13D3-1266-494B295452E8}"/>
              </a:ext>
            </a:extLst>
          </p:cNvPr>
          <p:cNvSpPr>
            <a:spLocks noGrp="1"/>
          </p:cNvSpPr>
          <p:nvPr>
            <p:ph type="sldNum" sz="quarter" idx="12"/>
          </p:nvPr>
        </p:nvSpPr>
        <p:spPr/>
        <p:txBody>
          <a:bodyPr/>
          <a:lstStyle/>
          <a:p>
            <a:fld id="{B9779E4F-4ECC-4B38-9136-DF01A5EA0AB6}" type="slidenum">
              <a:rPr lang="zh-CN" altLang="en-US" smtClean="0"/>
              <a:t>22</a:t>
            </a:fld>
            <a:endParaRPr lang="zh-CN" altLang="en-US"/>
          </a:p>
        </p:txBody>
      </p:sp>
    </p:spTree>
    <p:extLst>
      <p:ext uri="{BB962C8B-B14F-4D97-AF65-F5344CB8AC3E}">
        <p14:creationId xmlns:p14="http://schemas.microsoft.com/office/powerpoint/2010/main" val="1514857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线程管理</a:t>
            </a:r>
          </a:p>
        </p:txBody>
      </p:sp>
      <p:sp>
        <p:nvSpPr>
          <p:cNvPr id="3" name="内容占位符 2"/>
          <p:cNvSpPr>
            <a:spLocks noGrp="1"/>
          </p:cNvSpPr>
          <p:nvPr>
            <p:ph idx="1"/>
          </p:nvPr>
        </p:nvSpPr>
        <p:spPr/>
        <p:txBody>
          <a:bodyPr/>
          <a:lstStyle/>
          <a:p>
            <a:endParaRPr lang="en-US" altLang="zh-CN" dirty="0"/>
          </a:p>
          <a:p>
            <a:endParaRPr lang="en-US" altLang="zh-CN" dirty="0"/>
          </a:p>
          <a:p>
            <a:r>
              <a:rPr lang="en-US" altLang="zh-CN" sz="3200" dirty="0" err="1">
                <a:latin typeface="华文楷体" panose="02010600040101010101" pitchFamily="2" charset="-122"/>
                <a:ea typeface="华文楷体" panose="02010600040101010101" pitchFamily="2" charset="-122"/>
              </a:rPr>
              <a:t>get_id</a:t>
            </a:r>
            <a:r>
              <a:rPr lang="zh-CN" altLang="en-US" sz="3200" dirty="0">
                <a:latin typeface="华文楷体" panose="02010600040101010101" pitchFamily="2" charset="-122"/>
                <a:ea typeface="华文楷体" panose="02010600040101010101" pitchFamily="2" charset="-122"/>
              </a:rPr>
              <a:t>：返回当前线程的</a:t>
            </a:r>
            <a:r>
              <a:rPr lang="en-US" altLang="zh-CN" sz="3200" dirty="0">
                <a:latin typeface="华文楷体" panose="02010600040101010101" pitchFamily="2" charset="-122"/>
                <a:ea typeface="华文楷体" panose="02010600040101010101" pitchFamily="2" charset="-122"/>
              </a:rPr>
              <a:t>id</a:t>
            </a:r>
            <a:r>
              <a:rPr lang="zh-CN" altLang="en-US" sz="3200" dirty="0">
                <a:latin typeface="华文楷体" panose="02010600040101010101" pitchFamily="2" charset="-122"/>
                <a:ea typeface="华文楷体" panose="02010600040101010101" pitchFamily="2" charset="-122"/>
              </a:rPr>
              <a:t>，可以以此来标识不同的线程</a:t>
            </a:r>
          </a:p>
          <a:p>
            <a:r>
              <a:rPr lang="en-US" altLang="zh-CN" sz="3200" dirty="0" err="1">
                <a:latin typeface="华文楷体" panose="02010600040101010101" pitchFamily="2" charset="-122"/>
                <a:ea typeface="华文楷体" panose="02010600040101010101" pitchFamily="2" charset="-122"/>
              </a:rPr>
              <a:t>sleep_for</a:t>
            </a:r>
            <a:r>
              <a:rPr lang="zh-CN" altLang="en-US" sz="3200" dirty="0">
                <a:latin typeface="华文楷体" panose="02010600040101010101" pitchFamily="2" charset="-122"/>
                <a:ea typeface="华文楷体" panose="02010600040101010101" pitchFamily="2" charset="-122"/>
              </a:rPr>
              <a:t>：让当前线程停止一段时间</a:t>
            </a:r>
          </a:p>
          <a:p>
            <a:r>
              <a:rPr lang="en-US" altLang="zh-CN" sz="3200" dirty="0" err="1">
                <a:latin typeface="华文楷体" panose="02010600040101010101" pitchFamily="2" charset="-122"/>
                <a:ea typeface="华文楷体" panose="02010600040101010101" pitchFamily="2" charset="-122"/>
              </a:rPr>
              <a:t>sleep_until</a:t>
            </a:r>
            <a:r>
              <a:rPr lang="zh-CN" altLang="en-US" sz="3200" dirty="0">
                <a:latin typeface="华文楷体" panose="02010600040101010101" pitchFamily="2" charset="-122"/>
                <a:ea typeface="华文楷体" panose="02010600040101010101" pitchFamily="2" charset="-122"/>
              </a:rPr>
              <a:t>：让当前线程停止一段时间，以具体的时间点为参数</a:t>
            </a:r>
          </a:p>
        </p:txBody>
      </p:sp>
      <p:pic>
        <p:nvPicPr>
          <p:cNvPr id="4" name="图片 3"/>
          <p:cNvPicPr>
            <a:picLocks noChangeAspect="1"/>
          </p:cNvPicPr>
          <p:nvPr/>
        </p:nvPicPr>
        <p:blipFill>
          <a:blip r:embed="rId2"/>
          <a:stretch>
            <a:fillRect/>
          </a:stretch>
        </p:blipFill>
        <p:spPr>
          <a:xfrm>
            <a:off x="4330552" y="365125"/>
            <a:ext cx="7099800" cy="2101628"/>
          </a:xfrm>
          <a:prstGeom prst="rect">
            <a:avLst/>
          </a:prstGeom>
        </p:spPr>
      </p:pic>
      <p:sp>
        <p:nvSpPr>
          <p:cNvPr id="5" name="页脚占位符 4">
            <a:extLst>
              <a:ext uri="{FF2B5EF4-FFF2-40B4-BE49-F238E27FC236}">
                <a16:creationId xmlns:a16="http://schemas.microsoft.com/office/drawing/2014/main" id="{2850DEFC-6F70-E49C-1B23-3C449CC2625A}"/>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A3DA2246-798D-357F-C90D-618B721F56EF}"/>
              </a:ext>
            </a:extLst>
          </p:cNvPr>
          <p:cNvSpPr>
            <a:spLocks noGrp="1"/>
          </p:cNvSpPr>
          <p:nvPr>
            <p:ph type="sldNum" sz="quarter" idx="12"/>
          </p:nvPr>
        </p:nvSpPr>
        <p:spPr/>
        <p:txBody>
          <a:bodyPr/>
          <a:lstStyle/>
          <a:p>
            <a:fld id="{B9779E4F-4ECC-4B38-9136-DF01A5EA0AB6}" type="slidenum">
              <a:rPr lang="zh-CN" altLang="en-US" smtClean="0"/>
              <a:t>23</a:t>
            </a:fld>
            <a:endParaRPr lang="zh-CN" altLang="en-US"/>
          </a:p>
        </p:txBody>
      </p:sp>
    </p:spTree>
    <p:extLst>
      <p:ext uri="{BB962C8B-B14F-4D97-AF65-F5344CB8AC3E}">
        <p14:creationId xmlns:p14="http://schemas.microsoft.com/office/powerpoint/2010/main" val="2555106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线程管理</a:t>
            </a:r>
          </a:p>
        </p:txBody>
      </p:sp>
      <p:sp>
        <p:nvSpPr>
          <p:cNvPr id="3" name="内容占位符 2"/>
          <p:cNvSpPr>
            <a:spLocks noGrp="1"/>
          </p:cNvSpPr>
          <p:nvPr>
            <p:ph idx="1"/>
          </p:nvPr>
        </p:nvSpPr>
        <p:spPr>
          <a:xfrm>
            <a:off x="976423" y="1841897"/>
            <a:ext cx="10515600" cy="4351338"/>
          </a:xfrm>
        </p:spPr>
        <p:txBody>
          <a:bodyPr/>
          <a:lstStyle/>
          <a:p>
            <a:endParaRPr lang="zh-CN" altLang="en-US" dirty="0"/>
          </a:p>
        </p:txBody>
      </p:sp>
      <p:pic>
        <p:nvPicPr>
          <p:cNvPr id="4" name="图片 3"/>
          <p:cNvPicPr>
            <a:picLocks noChangeAspect="1"/>
          </p:cNvPicPr>
          <p:nvPr/>
        </p:nvPicPr>
        <p:blipFill>
          <a:blip r:embed="rId3"/>
          <a:stretch>
            <a:fillRect/>
          </a:stretch>
        </p:blipFill>
        <p:spPr>
          <a:xfrm>
            <a:off x="423664" y="1690688"/>
            <a:ext cx="6574571" cy="4609519"/>
          </a:xfrm>
          <a:prstGeom prst="rect">
            <a:avLst/>
          </a:prstGeom>
        </p:spPr>
      </p:pic>
      <p:pic>
        <p:nvPicPr>
          <p:cNvPr id="6" name="图片 5"/>
          <p:cNvPicPr>
            <a:picLocks noChangeAspect="1"/>
          </p:cNvPicPr>
          <p:nvPr/>
        </p:nvPicPr>
        <p:blipFill>
          <a:blip r:embed="rId4"/>
          <a:stretch>
            <a:fillRect/>
          </a:stretch>
        </p:blipFill>
        <p:spPr>
          <a:xfrm>
            <a:off x="7202450" y="3412915"/>
            <a:ext cx="3525801" cy="3284968"/>
          </a:xfrm>
          <a:prstGeom prst="rect">
            <a:avLst/>
          </a:prstGeom>
        </p:spPr>
      </p:pic>
      <p:pic>
        <p:nvPicPr>
          <p:cNvPr id="7" name="图片 6"/>
          <p:cNvPicPr>
            <a:picLocks noChangeAspect="1"/>
          </p:cNvPicPr>
          <p:nvPr/>
        </p:nvPicPr>
        <p:blipFill>
          <a:blip r:embed="rId5"/>
          <a:stretch>
            <a:fillRect/>
          </a:stretch>
        </p:blipFill>
        <p:spPr>
          <a:xfrm>
            <a:off x="7173168" y="204788"/>
            <a:ext cx="3514725" cy="2971800"/>
          </a:xfrm>
          <a:prstGeom prst="rect">
            <a:avLst/>
          </a:prstGeom>
        </p:spPr>
      </p:pic>
      <p:sp>
        <p:nvSpPr>
          <p:cNvPr id="5" name="页脚占位符 4">
            <a:extLst>
              <a:ext uri="{FF2B5EF4-FFF2-40B4-BE49-F238E27FC236}">
                <a16:creationId xmlns:a16="http://schemas.microsoft.com/office/drawing/2014/main" id="{08740F02-035F-B170-59E3-442A72D0BA2C}"/>
              </a:ext>
            </a:extLst>
          </p:cNvPr>
          <p:cNvSpPr>
            <a:spLocks noGrp="1"/>
          </p:cNvSpPr>
          <p:nvPr>
            <p:ph type="ftr" sz="quarter" idx="11"/>
          </p:nvPr>
        </p:nvSpPr>
        <p:spPr/>
        <p:txBody>
          <a:bodyPr/>
          <a:lstStyle/>
          <a:p>
            <a:r>
              <a:rPr lang="zh-CN" altLang="en-US"/>
              <a:t>南京大学高级程序设计教学组</a:t>
            </a:r>
          </a:p>
        </p:txBody>
      </p:sp>
      <p:sp>
        <p:nvSpPr>
          <p:cNvPr id="8" name="灯片编号占位符 7">
            <a:extLst>
              <a:ext uri="{FF2B5EF4-FFF2-40B4-BE49-F238E27FC236}">
                <a16:creationId xmlns:a16="http://schemas.microsoft.com/office/drawing/2014/main" id="{A43B6D29-DAB6-E7BD-E741-69DBDD1744D3}"/>
              </a:ext>
            </a:extLst>
          </p:cNvPr>
          <p:cNvSpPr>
            <a:spLocks noGrp="1"/>
          </p:cNvSpPr>
          <p:nvPr>
            <p:ph type="sldNum" sz="quarter" idx="12"/>
          </p:nvPr>
        </p:nvSpPr>
        <p:spPr/>
        <p:txBody>
          <a:bodyPr/>
          <a:lstStyle/>
          <a:p>
            <a:fld id="{B9779E4F-4ECC-4B38-9136-DF01A5EA0AB6}" type="slidenum">
              <a:rPr lang="zh-CN" altLang="en-US" smtClean="0"/>
              <a:t>24</a:t>
            </a:fld>
            <a:endParaRPr lang="zh-CN" altLang="en-US"/>
          </a:p>
        </p:txBody>
      </p:sp>
    </p:spTree>
    <p:extLst>
      <p:ext uri="{BB962C8B-B14F-4D97-AF65-F5344CB8AC3E}">
        <p14:creationId xmlns:p14="http://schemas.microsoft.com/office/powerpoint/2010/main" val="1355171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4800" dirty="0">
                <a:latin typeface="华文新魏" panose="02010800040101010101" pitchFamily="2" charset="-122"/>
                <a:ea typeface="华文新魏" panose="02010800040101010101" pitchFamily="2" charset="-122"/>
              </a:rPr>
              <a:t>例子：计算某个范围内所有自然数的平方根之和</a:t>
            </a:r>
          </a:p>
        </p:txBody>
      </p:sp>
      <p:pic>
        <p:nvPicPr>
          <p:cNvPr id="4" name="图片 3"/>
          <p:cNvPicPr>
            <a:picLocks noChangeAspect="1"/>
          </p:cNvPicPr>
          <p:nvPr/>
        </p:nvPicPr>
        <p:blipFill>
          <a:blip r:embed="rId2"/>
          <a:stretch>
            <a:fillRect/>
          </a:stretch>
        </p:blipFill>
        <p:spPr>
          <a:xfrm>
            <a:off x="1635530" y="1748020"/>
            <a:ext cx="8410575" cy="4219575"/>
          </a:xfrm>
          <a:prstGeom prst="rect">
            <a:avLst/>
          </a:prstGeom>
        </p:spPr>
      </p:pic>
      <p:pic>
        <p:nvPicPr>
          <p:cNvPr id="5" name="图片 4"/>
          <p:cNvPicPr>
            <a:picLocks noChangeAspect="1"/>
          </p:cNvPicPr>
          <p:nvPr/>
        </p:nvPicPr>
        <p:blipFill>
          <a:blip r:embed="rId3"/>
          <a:stretch>
            <a:fillRect/>
          </a:stretch>
        </p:blipFill>
        <p:spPr>
          <a:xfrm>
            <a:off x="1635530" y="6194938"/>
            <a:ext cx="5581650" cy="428625"/>
          </a:xfrm>
          <a:prstGeom prst="rect">
            <a:avLst/>
          </a:prstGeom>
        </p:spPr>
      </p:pic>
      <p:sp>
        <p:nvSpPr>
          <p:cNvPr id="6" name="圆角矩形 5"/>
          <p:cNvSpPr/>
          <p:nvPr/>
        </p:nvSpPr>
        <p:spPr>
          <a:xfrm>
            <a:off x="1777764" y="4643321"/>
            <a:ext cx="4628271" cy="4071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页脚占位符 2">
            <a:extLst>
              <a:ext uri="{FF2B5EF4-FFF2-40B4-BE49-F238E27FC236}">
                <a16:creationId xmlns:a16="http://schemas.microsoft.com/office/drawing/2014/main" id="{92B6CC21-A300-4E20-0ECA-05C02BC15895}"/>
              </a:ext>
            </a:extLst>
          </p:cNvPr>
          <p:cNvSpPr>
            <a:spLocks noGrp="1"/>
          </p:cNvSpPr>
          <p:nvPr>
            <p:ph type="ftr" sz="quarter" idx="11"/>
          </p:nvPr>
        </p:nvSpPr>
        <p:spPr/>
        <p:txBody>
          <a:bodyPr/>
          <a:lstStyle/>
          <a:p>
            <a:r>
              <a:rPr lang="zh-CN" altLang="en-US"/>
              <a:t>南京大学高级程序设计教学组</a:t>
            </a:r>
          </a:p>
        </p:txBody>
      </p:sp>
      <p:sp>
        <p:nvSpPr>
          <p:cNvPr id="7" name="灯片编号占位符 6">
            <a:extLst>
              <a:ext uri="{FF2B5EF4-FFF2-40B4-BE49-F238E27FC236}">
                <a16:creationId xmlns:a16="http://schemas.microsoft.com/office/drawing/2014/main" id="{6D4A11C3-972C-7A72-C79C-67B6BA494FF4}"/>
              </a:ext>
            </a:extLst>
          </p:cNvPr>
          <p:cNvSpPr>
            <a:spLocks noGrp="1"/>
          </p:cNvSpPr>
          <p:nvPr>
            <p:ph type="sldNum" sz="quarter" idx="12"/>
          </p:nvPr>
        </p:nvSpPr>
        <p:spPr/>
        <p:txBody>
          <a:bodyPr/>
          <a:lstStyle/>
          <a:p>
            <a:fld id="{B9779E4F-4ECC-4B38-9136-DF01A5EA0AB6}" type="slidenum">
              <a:rPr lang="zh-CN" altLang="en-US" smtClean="0"/>
              <a:t>25</a:t>
            </a:fld>
            <a:endParaRPr lang="zh-CN" altLang="en-US"/>
          </a:p>
        </p:txBody>
      </p:sp>
    </p:spTree>
    <p:extLst>
      <p:ext uri="{BB962C8B-B14F-4D97-AF65-F5344CB8AC3E}">
        <p14:creationId xmlns:p14="http://schemas.microsoft.com/office/powerpoint/2010/main" val="138341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84140" y="494296"/>
            <a:ext cx="8258175" cy="5210175"/>
          </a:xfrm>
          <a:prstGeom prst="rect">
            <a:avLst/>
          </a:prstGeom>
        </p:spPr>
      </p:pic>
      <p:pic>
        <p:nvPicPr>
          <p:cNvPr id="7" name="内容占位符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843745" y="5794083"/>
            <a:ext cx="864320" cy="864320"/>
          </a:xfrm>
        </p:spPr>
      </p:pic>
      <p:pic>
        <p:nvPicPr>
          <p:cNvPr id="6" name="图片 5"/>
          <p:cNvPicPr>
            <a:picLocks noChangeAspect="1"/>
          </p:cNvPicPr>
          <p:nvPr/>
        </p:nvPicPr>
        <p:blipFill>
          <a:blip r:embed="rId4"/>
          <a:stretch>
            <a:fillRect/>
          </a:stretch>
        </p:blipFill>
        <p:spPr>
          <a:xfrm>
            <a:off x="1584140" y="5964306"/>
            <a:ext cx="5905500" cy="523875"/>
          </a:xfrm>
          <a:prstGeom prst="rect">
            <a:avLst/>
          </a:prstGeom>
        </p:spPr>
      </p:pic>
      <p:sp>
        <p:nvSpPr>
          <p:cNvPr id="8" name="圆角矩形 7"/>
          <p:cNvSpPr/>
          <p:nvPr/>
        </p:nvSpPr>
        <p:spPr>
          <a:xfrm>
            <a:off x="1884092" y="2885177"/>
            <a:ext cx="4628271" cy="4071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1899389" y="3887678"/>
            <a:ext cx="4628271" cy="4071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3744686" y="5964306"/>
            <a:ext cx="3947885" cy="694097"/>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页脚占位符 1">
            <a:extLst>
              <a:ext uri="{FF2B5EF4-FFF2-40B4-BE49-F238E27FC236}">
                <a16:creationId xmlns:a16="http://schemas.microsoft.com/office/drawing/2014/main" id="{FDE23F14-6427-31E6-FC8F-7F49BF9D0B95}"/>
              </a:ext>
            </a:extLst>
          </p:cNvPr>
          <p:cNvSpPr>
            <a:spLocks noGrp="1"/>
          </p:cNvSpPr>
          <p:nvPr>
            <p:ph type="ftr" sz="quarter" idx="11"/>
          </p:nvPr>
        </p:nvSpPr>
        <p:spPr/>
        <p:txBody>
          <a:bodyPr/>
          <a:lstStyle/>
          <a:p>
            <a:r>
              <a:rPr lang="zh-CN" altLang="en-US"/>
              <a:t>南京大学高级程序设计教学组</a:t>
            </a:r>
          </a:p>
        </p:txBody>
      </p:sp>
      <p:sp>
        <p:nvSpPr>
          <p:cNvPr id="3" name="灯片编号占位符 2">
            <a:extLst>
              <a:ext uri="{FF2B5EF4-FFF2-40B4-BE49-F238E27FC236}">
                <a16:creationId xmlns:a16="http://schemas.microsoft.com/office/drawing/2014/main" id="{1CDDB68D-4BA4-4C40-4BB0-65216462450B}"/>
              </a:ext>
            </a:extLst>
          </p:cNvPr>
          <p:cNvSpPr>
            <a:spLocks noGrp="1"/>
          </p:cNvSpPr>
          <p:nvPr>
            <p:ph type="sldNum" sz="quarter" idx="12"/>
          </p:nvPr>
        </p:nvSpPr>
        <p:spPr/>
        <p:txBody>
          <a:bodyPr/>
          <a:lstStyle/>
          <a:p>
            <a:fld id="{B9779E4F-4ECC-4B38-9136-DF01A5EA0AB6}" type="slidenum">
              <a:rPr lang="zh-CN" altLang="en-US" smtClean="0"/>
              <a:t>26</a:t>
            </a:fld>
            <a:endParaRPr lang="zh-CN" altLang="en-US"/>
          </a:p>
        </p:txBody>
      </p:sp>
    </p:spTree>
    <p:extLst>
      <p:ext uri="{BB962C8B-B14F-4D97-AF65-F5344CB8AC3E}">
        <p14:creationId xmlns:p14="http://schemas.microsoft.com/office/powerpoint/2010/main" val="112589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p:cTn id="20" dur="500" fill="hold"/>
                                        <p:tgtEl>
                                          <p:spTgt spid="10"/>
                                        </p:tgtEl>
                                        <p:attrNameLst>
                                          <p:attrName>ppt_x</p:attrName>
                                        </p:attrNameLst>
                                      </p:cBhvr>
                                      <p:tavLst>
                                        <p:tav tm="0">
                                          <p:val>
                                            <p:strVal val="#ppt_x"/>
                                          </p:val>
                                        </p:tav>
                                        <p:tav tm="100000">
                                          <p:val>
                                            <p:strVal val="#ppt_x"/>
                                          </p:val>
                                        </p:tav>
                                      </p:tavLst>
                                    </p:anim>
                                    <p:anim calcmode="lin" valueType="num">
                                      <p:cBhvr>
                                        <p:cTn id="2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s://paul-pub.oss-cn-beijing.aliyuncs.com/2019/2019-11-26-cpp-concurrency/multithre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770" y="859092"/>
            <a:ext cx="7897781" cy="5889041"/>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5865502" y="648586"/>
            <a:ext cx="4352386" cy="706213"/>
          </a:xfrm>
          <a:prstGeom prst="rect">
            <a:avLst/>
          </a:prstGeom>
        </p:spPr>
      </p:pic>
      <p:sp>
        <p:nvSpPr>
          <p:cNvPr id="2" name="矩形 1"/>
          <p:cNvSpPr/>
          <p:nvPr/>
        </p:nvSpPr>
        <p:spPr>
          <a:xfrm>
            <a:off x="2884450" y="3940097"/>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r11 = </a:t>
            </a:r>
            <a:r>
              <a:rPr lang="en-US" altLang="zh-CN" sz="1400" b="1" dirty="0">
                <a:solidFill>
                  <a:srgbClr val="C00000"/>
                </a:solidFill>
              </a:rPr>
              <a:t>sum</a:t>
            </a:r>
            <a:endParaRPr lang="zh-CN" altLang="en-US" sz="1400" b="1" dirty="0">
              <a:solidFill>
                <a:srgbClr val="C00000"/>
              </a:solidFill>
            </a:endParaRPr>
          </a:p>
        </p:txBody>
      </p:sp>
      <p:sp>
        <p:nvSpPr>
          <p:cNvPr id="6" name="矩形 5"/>
          <p:cNvSpPr/>
          <p:nvPr/>
        </p:nvSpPr>
        <p:spPr>
          <a:xfrm>
            <a:off x="2828694" y="4308087"/>
            <a:ext cx="1356731"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r12 = r11 + x1</a:t>
            </a:r>
            <a:endParaRPr lang="zh-CN" altLang="en-US" sz="1400" b="1" dirty="0">
              <a:solidFill>
                <a:schemeClr val="tx1"/>
              </a:solidFill>
            </a:endParaRPr>
          </a:p>
        </p:txBody>
      </p:sp>
      <p:sp>
        <p:nvSpPr>
          <p:cNvPr id="7" name="矩形 6"/>
          <p:cNvSpPr/>
          <p:nvPr/>
        </p:nvSpPr>
        <p:spPr>
          <a:xfrm>
            <a:off x="2895601" y="4679794"/>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00000"/>
                </a:solidFill>
              </a:rPr>
              <a:t>sum</a:t>
            </a:r>
            <a:r>
              <a:rPr lang="en-US" altLang="zh-CN" sz="1400" b="1" dirty="0">
                <a:solidFill>
                  <a:schemeClr val="tx1"/>
                </a:solidFill>
              </a:rPr>
              <a:t> = r12</a:t>
            </a:r>
            <a:endParaRPr lang="zh-CN" altLang="en-US" sz="1400" b="1" dirty="0">
              <a:solidFill>
                <a:schemeClr val="tx1"/>
              </a:solidFill>
            </a:endParaRPr>
          </a:p>
        </p:txBody>
      </p:sp>
      <p:sp>
        <p:nvSpPr>
          <p:cNvPr id="8" name="矩形 7"/>
          <p:cNvSpPr/>
          <p:nvPr/>
        </p:nvSpPr>
        <p:spPr>
          <a:xfrm>
            <a:off x="4687231" y="3148360"/>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r21 = </a:t>
            </a:r>
            <a:r>
              <a:rPr lang="en-US" altLang="zh-CN" sz="1400" b="1" dirty="0">
                <a:solidFill>
                  <a:srgbClr val="C00000"/>
                </a:solidFill>
              </a:rPr>
              <a:t>sum</a:t>
            </a:r>
            <a:endParaRPr lang="zh-CN" altLang="en-US" sz="1400" b="1" dirty="0">
              <a:solidFill>
                <a:srgbClr val="C00000"/>
              </a:solidFill>
            </a:endParaRPr>
          </a:p>
        </p:txBody>
      </p:sp>
      <p:sp>
        <p:nvSpPr>
          <p:cNvPr id="9" name="矩形 8"/>
          <p:cNvSpPr/>
          <p:nvPr/>
        </p:nvSpPr>
        <p:spPr>
          <a:xfrm>
            <a:off x="4638908" y="4289501"/>
            <a:ext cx="1345580"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r22 = r21 + x2</a:t>
            </a:r>
            <a:endParaRPr lang="zh-CN" altLang="en-US" sz="1400" b="1" dirty="0">
              <a:solidFill>
                <a:schemeClr val="tx1"/>
              </a:solidFill>
            </a:endParaRPr>
          </a:p>
        </p:txBody>
      </p:sp>
      <p:sp>
        <p:nvSpPr>
          <p:cNvPr id="10" name="矩形 9"/>
          <p:cNvSpPr/>
          <p:nvPr/>
        </p:nvSpPr>
        <p:spPr>
          <a:xfrm>
            <a:off x="6437972" y="3910360"/>
            <a:ext cx="137531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r32 = r31 + x3</a:t>
            </a:r>
            <a:endParaRPr lang="zh-CN" altLang="en-US" sz="1400" b="1" dirty="0">
              <a:solidFill>
                <a:schemeClr val="tx1"/>
              </a:solidFill>
            </a:endParaRPr>
          </a:p>
        </p:txBody>
      </p:sp>
      <p:sp>
        <p:nvSpPr>
          <p:cNvPr id="11" name="矩形 10"/>
          <p:cNvSpPr/>
          <p:nvPr/>
        </p:nvSpPr>
        <p:spPr>
          <a:xfrm>
            <a:off x="4668645" y="5040350"/>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00000"/>
                </a:solidFill>
              </a:rPr>
              <a:t>sum</a:t>
            </a:r>
            <a:r>
              <a:rPr lang="en-US" altLang="zh-CN" sz="1400" b="1" dirty="0">
                <a:solidFill>
                  <a:schemeClr val="tx1"/>
                </a:solidFill>
              </a:rPr>
              <a:t> = r22</a:t>
            </a:r>
            <a:endParaRPr lang="zh-CN" altLang="en-US" sz="1400" b="1" dirty="0">
              <a:solidFill>
                <a:schemeClr val="tx1"/>
              </a:solidFill>
            </a:endParaRPr>
          </a:p>
        </p:txBody>
      </p:sp>
      <p:sp>
        <p:nvSpPr>
          <p:cNvPr id="12" name="矩形 11"/>
          <p:cNvSpPr/>
          <p:nvPr/>
        </p:nvSpPr>
        <p:spPr>
          <a:xfrm>
            <a:off x="6504880" y="4341541"/>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00000"/>
                </a:solidFill>
              </a:rPr>
              <a:t>sum</a:t>
            </a:r>
            <a:r>
              <a:rPr lang="en-US" altLang="zh-CN" sz="1400" b="1" dirty="0">
                <a:solidFill>
                  <a:schemeClr val="tx1"/>
                </a:solidFill>
              </a:rPr>
              <a:t> = r32</a:t>
            </a:r>
            <a:endParaRPr lang="zh-CN" altLang="en-US" sz="1400" b="1" dirty="0">
              <a:solidFill>
                <a:schemeClr val="tx1"/>
              </a:solidFill>
            </a:endParaRPr>
          </a:p>
        </p:txBody>
      </p:sp>
      <p:sp>
        <p:nvSpPr>
          <p:cNvPr id="13" name="矩形 12"/>
          <p:cNvSpPr/>
          <p:nvPr/>
        </p:nvSpPr>
        <p:spPr>
          <a:xfrm>
            <a:off x="6504880" y="3560955"/>
            <a:ext cx="1248936" cy="223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r31 = </a:t>
            </a:r>
            <a:r>
              <a:rPr lang="en-US" altLang="zh-CN" sz="1400" b="1" dirty="0">
                <a:solidFill>
                  <a:srgbClr val="C00000"/>
                </a:solidFill>
              </a:rPr>
              <a:t>sum</a:t>
            </a:r>
            <a:endParaRPr lang="zh-CN" altLang="en-US" sz="1400" b="1" dirty="0">
              <a:solidFill>
                <a:srgbClr val="C00000"/>
              </a:solidFill>
            </a:endParaRPr>
          </a:p>
        </p:txBody>
      </p:sp>
      <p:sp>
        <p:nvSpPr>
          <p:cNvPr id="3" name="页脚占位符 2">
            <a:extLst>
              <a:ext uri="{FF2B5EF4-FFF2-40B4-BE49-F238E27FC236}">
                <a16:creationId xmlns:a16="http://schemas.microsoft.com/office/drawing/2014/main" id="{0DD7F0F7-462A-88A7-ED5F-E3E1820D8852}"/>
              </a:ext>
            </a:extLst>
          </p:cNvPr>
          <p:cNvSpPr>
            <a:spLocks noGrp="1"/>
          </p:cNvSpPr>
          <p:nvPr>
            <p:ph type="ftr" sz="quarter" idx="11"/>
          </p:nvPr>
        </p:nvSpPr>
        <p:spPr/>
        <p:txBody>
          <a:bodyPr/>
          <a:lstStyle/>
          <a:p>
            <a:r>
              <a:rPr lang="zh-CN" altLang="en-US"/>
              <a:t>南京大学高级程序设计教学组</a:t>
            </a:r>
          </a:p>
        </p:txBody>
      </p:sp>
      <p:sp>
        <p:nvSpPr>
          <p:cNvPr id="4" name="灯片编号占位符 3">
            <a:extLst>
              <a:ext uri="{FF2B5EF4-FFF2-40B4-BE49-F238E27FC236}">
                <a16:creationId xmlns:a16="http://schemas.microsoft.com/office/drawing/2014/main" id="{265F9483-FD31-4F6D-46B6-063DC8F8B5D3}"/>
              </a:ext>
            </a:extLst>
          </p:cNvPr>
          <p:cNvSpPr>
            <a:spLocks noGrp="1"/>
          </p:cNvSpPr>
          <p:nvPr>
            <p:ph type="sldNum" sz="quarter" idx="12"/>
          </p:nvPr>
        </p:nvSpPr>
        <p:spPr/>
        <p:txBody>
          <a:bodyPr/>
          <a:lstStyle/>
          <a:p>
            <a:fld id="{B9779E4F-4ECC-4B38-9136-DF01A5EA0AB6}" type="slidenum">
              <a:rPr lang="zh-CN" altLang="en-US" smtClean="0"/>
              <a:t>27</a:t>
            </a:fld>
            <a:endParaRPr lang="zh-CN" altLang="en-US"/>
          </a:p>
        </p:txBody>
      </p:sp>
    </p:spTree>
    <p:extLst>
      <p:ext uri="{BB962C8B-B14F-4D97-AF65-F5344CB8AC3E}">
        <p14:creationId xmlns:p14="http://schemas.microsoft.com/office/powerpoint/2010/main" val="2777250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数据竞争与临界区</a:t>
            </a:r>
          </a:p>
        </p:txBody>
      </p:sp>
      <p:sp>
        <p:nvSpPr>
          <p:cNvPr id="3" name="内容占位符 2"/>
          <p:cNvSpPr>
            <a:spLocks noGrp="1"/>
          </p:cNvSpPr>
          <p:nvPr>
            <p:ph idx="1"/>
          </p:nvPr>
        </p:nvSpPr>
        <p:spPr/>
        <p:txBody>
          <a:bodyPr>
            <a:normAutofit/>
          </a:bodyPr>
          <a:lstStyle/>
          <a:p>
            <a:r>
              <a:rPr lang="zh-CN" altLang="en-US" sz="3200" dirty="0">
                <a:latin typeface="华文楷体" panose="02010600040101010101" pitchFamily="2" charset="-122"/>
                <a:ea typeface="华文楷体" panose="02010600040101010101" pitchFamily="2" charset="-122"/>
              </a:rPr>
              <a:t>数据竞争（</a:t>
            </a:r>
            <a:r>
              <a:rPr lang="en-US" altLang="zh-CN" sz="3200" dirty="0">
                <a:latin typeface="华文楷体" panose="02010600040101010101" pitchFamily="2" charset="-122"/>
                <a:ea typeface="华文楷体" panose="02010600040101010101" pitchFamily="2" charset="-122"/>
              </a:rPr>
              <a:t>data race</a:t>
            </a:r>
            <a:r>
              <a:rPr lang="zh-CN" altLang="en-US" sz="3200" dirty="0">
                <a:latin typeface="华文楷体" panose="02010600040101010101" pitchFamily="2" charset="-122"/>
                <a:ea typeface="华文楷体" panose="02010600040101010101" pitchFamily="2" charset="-122"/>
              </a:rPr>
              <a:t>）：当多个进程或者线程同时访问共享数据时，至少有一个任务会修改数据的场景</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临界区（</a:t>
            </a:r>
            <a:r>
              <a:rPr lang="en-US" altLang="zh-CN" sz="3200" dirty="0">
                <a:latin typeface="华文楷体" panose="02010600040101010101" pitchFamily="2" charset="-122"/>
                <a:ea typeface="华文楷体" panose="02010600040101010101" pitchFamily="2" charset="-122"/>
              </a:rPr>
              <a:t>critical section</a:t>
            </a:r>
            <a:r>
              <a:rPr lang="zh-CN" altLang="en-US" sz="3200" dirty="0">
                <a:latin typeface="华文楷体" panose="02010600040101010101" pitchFamily="2" charset="-122"/>
                <a:ea typeface="华文楷体" panose="02010600040101010101" pitchFamily="2" charset="-122"/>
              </a:rPr>
              <a:t>）：访问共享数据的代码片段</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要避免竞争条件，就需要对临界区进行数据保护</a:t>
            </a:r>
          </a:p>
        </p:txBody>
      </p:sp>
      <p:sp>
        <p:nvSpPr>
          <p:cNvPr id="4" name="页脚占位符 3">
            <a:extLst>
              <a:ext uri="{FF2B5EF4-FFF2-40B4-BE49-F238E27FC236}">
                <a16:creationId xmlns:a16="http://schemas.microsoft.com/office/drawing/2014/main" id="{F54FA458-C58B-C0C6-3E93-3AB65870272C}"/>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A8EFFF1A-B813-C2F6-3E4B-1803AD478D76}"/>
              </a:ext>
            </a:extLst>
          </p:cNvPr>
          <p:cNvSpPr>
            <a:spLocks noGrp="1"/>
          </p:cNvSpPr>
          <p:nvPr>
            <p:ph type="sldNum" sz="quarter" idx="12"/>
          </p:nvPr>
        </p:nvSpPr>
        <p:spPr/>
        <p:txBody>
          <a:bodyPr/>
          <a:lstStyle/>
          <a:p>
            <a:fld id="{B9779E4F-4ECC-4B38-9136-DF01A5EA0AB6}" type="slidenum">
              <a:rPr lang="zh-CN" altLang="en-US" smtClean="0"/>
              <a:t>28</a:t>
            </a:fld>
            <a:endParaRPr lang="zh-CN" altLang="en-US"/>
          </a:p>
        </p:txBody>
      </p:sp>
    </p:spTree>
    <p:extLst>
      <p:ext uri="{BB962C8B-B14F-4D97-AF65-F5344CB8AC3E}">
        <p14:creationId xmlns:p14="http://schemas.microsoft.com/office/powerpoint/2010/main" val="4070712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互斥体与锁</a:t>
            </a:r>
          </a:p>
        </p:txBody>
      </p:sp>
      <p:sp>
        <p:nvSpPr>
          <p:cNvPr id="3" name="内容占位符 2"/>
          <p:cNvSpPr>
            <a:spLocks noGrp="1"/>
          </p:cNvSpPr>
          <p:nvPr>
            <p:ph idx="1"/>
          </p:nvPr>
        </p:nvSpPr>
        <p:spPr>
          <a:xfrm>
            <a:off x="838199" y="1825625"/>
            <a:ext cx="10908323" cy="4351338"/>
          </a:xfrm>
        </p:spPr>
        <p:txBody>
          <a:bodyPr>
            <a:normAutofit/>
          </a:bodyPr>
          <a:lstStyle/>
          <a:p>
            <a:r>
              <a:rPr lang="zh-CN" altLang="en-US" sz="3200" dirty="0">
                <a:latin typeface="华文楷体" panose="02010600040101010101" pitchFamily="2" charset="-122"/>
                <a:ea typeface="华文楷体" panose="02010600040101010101" pitchFamily="2" charset="-122"/>
              </a:rPr>
              <a:t>互斥元</a:t>
            </a:r>
            <a:r>
              <a:rPr lang="en-US" altLang="zh-CN" sz="3200" dirty="0">
                <a:latin typeface="华文楷体" panose="02010600040101010101" pitchFamily="2" charset="-122"/>
                <a:ea typeface="华文楷体" panose="02010600040101010101" pitchFamily="2" charset="-122"/>
              </a:rPr>
              <a:t>/</a:t>
            </a:r>
            <a:r>
              <a:rPr lang="zh-CN" altLang="en-US" sz="3200" dirty="0">
                <a:latin typeface="华文楷体" panose="02010600040101010101" pitchFamily="2" charset="-122"/>
                <a:ea typeface="华文楷体" panose="02010600040101010101" pitchFamily="2" charset="-122"/>
              </a:rPr>
              <a:t>锁：由</a:t>
            </a:r>
            <a:r>
              <a:rPr lang="en-US" altLang="zh-CN" sz="3200" dirty="0">
                <a:latin typeface="华文楷体" panose="02010600040101010101" pitchFamily="2" charset="-122"/>
                <a:ea typeface="华文楷体" panose="02010600040101010101" pitchFamily="2" charset="-122"/>
              </a:rPr>
              <a:t>C++</a:t>
            </a:r>
            <a:r>
              <a:rPr lang="zh-CN" altLang="en-US" sz="3200" dirty="0">
                <a:latin typeface="华文楷体" panose="02010600040101010101" pitchFamily="2" charset="-122"/>
                <a:ea typeface="华文楷体" panose="02010600040101010101" pitchFamily="2" charset="-122"/>
              </a:rPr>
              <a:t>标准提供的保护共享数据的最基本机制</a:t>
            </a:r>
            <a:endParaRPr lang="en-US" altLang="zh-CN" sz="32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在访问共享数据之前，锁定（</a:t>
            </a:r>
            <a:r>
              <a:rPr lang="en-US" altLang="zh-CN" sz="2800" dirty="0">
                <a:latin typeface="华文楷体" panose="02010600040101010101" pitchFamily="2" charset="-122"/>
                <a:ea typeface="华文楷体" panose="02010600040101010101" pitchFamily="2" charset="-122"/>
              </a:rPr>
              <a:t>lock</a:t>
            </a:r>
            <a:r>
              <a:rPr lang="zh-CN" altLang="en-US" sz="2800" dirty="0">
                <a:latin typeface="华文楷体" panose="02010600040101010101" pitchFamily="2" charset="-122"/>
                <a:ea typeface="华文楷体" panose="02010600040101010101" pitchFamily="2" charset="-122"/>
              </a:rPr>
              <a:t>）与该数据相关的互斥元</a:t>
            </a:r>
            <a:endParaRPr lang="en-US" altLang="zh-CN" sz="28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访问完成后，解锁（</a:t>
            </a:r>
            <a:r>
              <a:rPr lang="en-US" altLang="zh-CN" sz="2800" dirty="0">
                <a:latin typeface="华文楷体" panose="02010600040101010101" pitchFamily="2" charset="-122"/>
                <a:ea typeface="华文楷体" panose="02010600040101010101" pitchFamily="2" charset="-122"/>
              </a:rPr>
              <a:t>unlock</a:t>
            </a:r>
            <a:r>
              <a:rPr lang="zh-CN" altLang="en-US" sz="2800" dirty="0">
                <a:latin typeface="华文楷体" panose="02010600040101010101" pitchFamily="2" charset="-122"/>
                <a:ea typeface="华文楷体" panose="02010600040101010101" pitchFamily="2" charset="-122"/>
              </a:rPr>
              <a:t>）该互斥元</a:t>
            </a:r>
            <a:endParaRPr lang="en-US" altLang="zh-CN" sz="28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线程库会确保一个线程锁定某个互斥元后，其他试图锁定该互斥元的线程必须等待，直到之前的线程解锁</a:t>
            </a:r>
          </a:p>
        </p:txBody>
      </p:sp>
      <p:pic>
        <p:nvPicPr>
          <p:cNvPr id="5" name="图片 4"/>
          <p:cNvPicPr>
            <a:picLocks noChangeAspect="1"/>
          </p:cNvPicPr>
          <p:nvPr/>
        </p:nvPicPr>
        <p:blipFill>
          <a:blip r:embed="rId2"/>
          <a:stretch>
            <a:fillRect/>
          </a:stretch>
        </p:blipFill>
        <p:spPr>
          <a:xfrm>
            <a:off x="6096000" y="365125"/>
            <a:ext cx="4800600" cy="1162050"/>
          </a:xfrm>
          <a:prstGeom prst="rect">
            <a:avLst/>
          </a:prstGeom>
        </p:spPr>
      </p:pic>
      <p:pic>
        <p:nvPicPr>
          <p:cNvPr id="7" name="图片 6"/>
          <p:cNvPicPr>
            <a:picLocks noChangeAspect="1"/>
          </p:cNvPicPr>
          <p:nvPr/>
        </p:nvPicPr>
        <p:blipFill>
          <a:blip r:embed="rId3"/>
          <a:stretch>
            <a:fillRect/>
          </a:stretch>
        </p:blipFill>
        <p:spPr>
          <a:xfrm>
            <a:off x="2733245" y="4424975"/>
            <a:ext cx="6725510" cy="2010994"/>
          </a:xfrm>
          <a:prstGeom prst="rect">
            <a:avLst/>
          </a:prstGeom>
        </p:spPr>
      </p:pic>
      <p:sp>
        <p:nvSpPr>
          <p:cNvPr id="4" name="页脚占位符 3">
            <a:extLst>
              <a:ext uri="{FF2B5EF4-FFF2-40B4-BE49-F238E27FC236}">
                <a16:creationId xmlns:a16="http://schemas.microsoft.com/office/drawing/2014/main" id="{7FA4BEC2-FD1F-DEFC-0018-C56983D32BC3}"/>
              </a:ext>
            </a:extLst>
          </p:cNvPr>
          <p:cNvSpPr>
            <a:spLocks noGrp="1"/>
          </p:cNvSpPr>
          <p:nvPr>
            <p:ph type="ftr" sz="quarter" idx="11"/>
          </p:nvPr>
        </p:nvSpPr>
        <p:spPr/>
        <p:txBody>
          <a:bodyPr/>
          <a:lstStyle/>
          <a:p>
            <a:r>
              <a:rPr lang="zh-CN" altLang="en-US"/>
              <a:t>南京大学高级程序设计教学组</a:t>
            </a:r>
          </a:p>
        </p:txBody>
      </p:sp>
      <p:sp>
        <p:nvSpPr>
          <p:cNvPr id="6" name="灯片编号占位符 5">
            <a:extLst>
              <a:ext uri="{FF2B5EF4-FFF2-40B4-BE49-F238E27FC236}">
                <a16:creationId xmlns:a16="http://schemas.microsoft.com/office/drawing/2014/main" id="{CEB5F7CF-95F3-D397-DDFF-854C35462C93}"/>
              </a:ext>
            </a:extLst>
          </p:cNvPr>
          <p:cNvSpPr>
            <a:spLocks noGrp="1"/>
          </p:cNvSpPr>
          <p:nvPr>
            <p:ph type="sldNum" sz="quarter" idx="12"/>
          </p:nvPr>
        </p:nvSpPr>
        <p:spPr/>
        <p:txBody>
          <a:bodyPr/>
          <a:lstStyle/>
          <a:p>
            <a:fld id="{B9779E4F-4ECC-4B38-9136-DF01A5EA0AB6}" type="slidenum">
              <a:rPr lang="zh-CN" altLang="en-US" smtClean="0"/>
              <a:t>29</a:t>
            </a:fld>
            <a:endParaRPr lang="zh-CN" altLang="en-US"/>
          </a:p>
        </p:txBody>
      </p:sp>
    </p:spTree>
    <p:extLst>
      <p:ext uri="{BB962C8B-B14F-4D97-AF65-F5344CB8AC3E}">
        <p14:creationId xmlns:p14="http://schemas.microsoft.com/office/powerpoint/2010/main" val="464472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互斥体与锁</a:t>
            </a:r>
          </a:p>
        </p:txBody>
      </p:sp>
      <p:pic>
        <p:nvPicPr>
          <p:cNvPr id="5" name="图片 4"/>
          <p:cNvPicPr>
            <a:picLocks noChangeAspect="1"/>
          </p:cNvPicPr>
          <p:nvPr/>
        </p:nvPicPr>
        <p:blipFill>
          <a:blip r:embed="rId2"/>
          <a:stretch>
            <a:fillRect/>
          </a:stretch>
        </p:blipFill>
        <p:spPr>
          <a:xfrm>
            <a:off x="6096000" y="428923"/>
            <a:ext cx="4800600" cy="1162050"/>
          </a:xfrm>
          <a:prstGeom prst="rect">
            <a:avLst/>
          </a:prstGeom>
        </p:spPr>
      </p:pic>
      <p:pic>
        <p:nvPicPr>
          <p:cNvPr id="6" name="图片 5"/>
          <p:cNvPicPr>
            <a:picLocks noChangeAspect="1"/>
          </p:cNvPicPr>
          <p:nvPr/>
        </p:nvPicPr>
        <p:blipFill>
          <a:blip r:embed="rId3"/>
          <a:stretch>
            <a:fillRect/>
          </a:stretch>
        </p:blipFill>
        <p:spPr>
          <a:xfrm>
            <a:off x="755637" y="2403438"/>
            <a:ext cx="10680726" cy="3195712"/>
          </a:xfrm>
          <a:prstGeom prst="rect">
            <a:avLst/>
          </a:prstGeom>
        </p:spPr>
      </p:pic>
      <p:sp>
        <p:nvSpPr>
          <p:cNvPr id="3" name="页脚占位符 2">
            <a:extLst>
              <a:ext uri="{FF2B5EF4-FFF2-40B4-BE49-F238E27FC236}">
                <a16:creationId xmlns:a16="http://schemas.microsoft.com/office/drawing/2014/main" id="{B7742043-F923-4F14-B19B-557C197F913E}"/>
              </a:ext>
            </a:extLst>
          </p:cNvPr>
          <p:cNvSpPr>
            <a:spLocks noGrp="1"/>
          </p:cNvSpPr>
          <p:nvPr>
            <p:ph type="ftr" sz="quarter" idx="11"/>
          </p:nvPr>
        </p:nvSpPr>
        <p:spPr/>
        <p:txBody>
          <a:bodyPr/>
          <a:lstStyle/>
          <a:p>
            <a:r>
              <a:rPr lang="zh-CN" altLang="en-US"/>
              <a:t>南京大学高级程序设计教学组</a:t>
            </a:r>
          </a:p>
        </p:txBody>
      </p:sp>
      <p:sp>
        <p:nvSpPr>
          <p:cNvPr id="4" name="灯片编号占位符 3">
            <a:extLst>
              <a:ext uri="{FF2B5EF4-FFF2-40B4-BE49-F238E27FC236}">
                <a16:creationId xmlns:a16="http://schemas.microsoft.com/office/drawing/2014/main" id="{8B593F2A-70B7-1FD3-EE61-33840D7BB84C}"/>
              </a:ext>
            </a:extLst>
          </p:cNvPr>
          <p:cNvSpPr>
            <a:spLocks noGrp="1"/>
          </p:cNvSpPr>
          <p:nvPr>
            <p:ph type="sldNum" sz="quarter" idx="12"/>
          </p:nvPr>
        </p:nvSpPr>
        <p:spPr/>
        <p:txBody>
          <a:bodyPr/>
          <a:lstStyle/>
          <a:p>
            <a:fld id="{B9779E4F-4ECC-4B38-9136-DF01A5EA0AB6}" type="slidenum">
              <a:rPr lang="zh-CN" altLang="en-US" smtClean="0"/>
              <a:t>30</a:t>
            </a:fld>
            <a:endParaRPr lang="zh-CN" altLang="en-US"/>
          </a:p>
        </p:txBody>
      </p:sp>
    </p:spTree>
    <p:extLst>
      <p:ext uri="{BB962C8B-B14F-4D97-AF65-F5344CB8AC3E}">
        <p14:creationId xmlns:p14="http://schemas.microsoft.com/office/powerpoint/2010/main" val="4045556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219431" y="152669"/>
            <a:ext cx="8354285" cy="6604037"/>
          </a:xfrm>
          <a:prstGeom prst="rect">
            <a:avLst/>
          </a:prstGeom>
        </p:spPr>
      </p:pic>
      <p:pic>
        <p:nvPicPr>
          <p:cNvPr id="6" name="图片 5"/>
          <p:cNvPicPr>
            <a:picLocks noChangeAspect="1"/>
          </p:cNvPicPr>
          <p:nvPr/>
        </p:nvPicPr>
        <p:blipFill>
          <a:blip r:embed="rId4"/>
          <a:stretch>
            <a:fillRect/>
          </a:stretch>
        </p:blipFill>
        <p:spPr>
          <a:xfrm>
            <a:off x="4396574" y="194873"/>
            <a:ext cx="7587195" cy="689745"/>
          </a:xfrm>
          <a:prstGeom prst="rect">
            <a:avLst/>
          </a:prstGeom>
        </p:spPr>
      </p:pic>
      <p:sp>
        <p:nvSpPr>
          <p:cNvPr id="7" name="圆角矩形 6"/>
          <p:cNvSpPr/>
          <p:nvPr/>
        </p:nvSpPr>
        <p:spPr>
          <a:xfrm>
            <a:off x="512492" y="1495997"/>
            <a:ext cx="3421555" cy="6092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627" name="Picture 3" descr="一路哭到顶:笑哭脸成全球最受欢迎表情符号"/>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7394" y="1085001"/>
            <a:ext cx="1532894" cy="1532894"/>
          </a:xfrm>
          <a:prstGeom prst="rect">
            <a:avLst/>
          </a:prstGeom>
          <a:noFill/>
          <a:extLst>
            <a:ext uri="{909E8E84-426E-40DD-AFC4-6F175D3DCCD1}">
              <a14:hiddenFill xmlns:a14="http://schemas.microsoft.com/office/drawing/2010/main">
                <a:solidFill>
                  <a:srgbClr val="FFFFFF"/>
                </a:solidFill>
              </a14:hiddenFill>
            </a:ext>
          </a:extLst>
        </p:spPr>
      </p:pic>
      <p:sp>
        <p:nvSpPr>
          <p:cNvPr id="8" name="椭圆形标注 7"/>
          <p:cNvSpPr/>
          <p:nvPr/>
        </p:nvSpPr>
        <p:spPr>
          <a:xfrm>
            <a:off x="6968200" y="388280"/>
            <a:ext cx="1605516" cy="538542"/>
          </a:xfrm>
          <a:prstGeom prst="wedgeEllipseCallout">
            <a:avLst>
              <a:gd name="adj1" fmla="val -47050"/>
              <a:gd name="adj2" fmla="val 89451"/>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页脚占位符 1">
            <a:extLst>
              <a:ext uri="{FF2B5EF4-FFF2-40B4-BE49-F238E27FC236}">
                <a16:creationId xmlns:a16="http://schemas.microsoft.com/office/drawing/2014/main" id="{9465852F-C693-EB18-674A-3F2C8F5E4077}"/>
              </a:ext>
            </a:extLst>
          </p:cNvPr>
          <p:cNvSpPr>
            <a:spLocks noGrp="1"/>
          </p:cNvSpPr>
          <p:nvPr>
            <p:ph type="ftr" sz="quarter" idx="11"/>
          </p:nvPr>
        </p:nvSpPr>
        <p:spPr/>
        <p:txBody>
          <a:bodyPr/>
          <a:lstStyle/>
          <a:p>
            <a:r>
              <a:rPr lang="zh-CN" altLang="en-US"/>
              <a:t>南京大学高级程序设计教学组</a:t>
            </a:r>
          </a:p>
        </p:txBody>
      </p:sp>
      <p:sp>
        <p:nvSpPr>
          <p:cNvPr id="3" name="灯片编号占位符 2">
            <a:extLst>
              <a:ext uri="{FF2B5EF4-FFF2-40B4-BE49-F238E27FC236}">
                <a16:creationId xmlns:a16="http://schemas.microsoft.com/office/drawing/2014/main" id="{D6EE5A8B-2162-0035-A82B-6C33CE89C540}"/>
              </a:ext>
            </a:extLst>
          </p:cNvPr>
          <p:cNvSpPr>
            <a:spLocks noGrp="1"/>
          </p:cNvSpPr>
          <p:nvPr>
            <p:ph type="sldNum" sz="quarter" idx="12"/>
          </p:nvPr>
        </p:nvSpPr>
        <p:spPr/>
        <p:txBody>
          <a:bodyPr/>
          <a:lstStyle/>
          <a:p>
            <a:fld id="{B9779E4F-4ECC-4B38-9136-DF01A5EA0AB6}" type="slidenum">
              <a:rPr lang="zh-CN" altLang="en-US" smtClean="0"/>
              <a:t>31</a:t>
            </a:fld>
            <a:endParaRPr lang="zh-CN" altLang="en-US"/>
          </a:p>
        </p:txBody>
      </p:sp>
    </p:spTree>
    <p:extLst>
      <p:ext uri="{BB962C8B-B14F-4D97-AF65-F5344CB8AC3E}">
        <p14:creationId xmlns:p14="http://schemas.microsoft.com/office/powerpoint/2010/main" val="49155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anim calcmode="lin" valueType="num">
                                      <p:cBhvr>
                                        <p:cTn id="15" dur="500" fill="hold"/>
                                        <p:tgtEl>
                                          <p:spTgt spid="8"/>
                                        </p:tgtEl>
                                        <p:attrNameLst>
                                          <p:attrName>ppt_x</p:attrName>
                                        </p:attrNameLst>
                                      </p:cBhvr>
                                      <p:tavLst>
                                        <p:tav tm="0">
                                          <p:val>
                                            <p:strVal val="#ppt_x"/>
                                          </p:val>
                                        </p:tav>
                                        <p:tav tm="100000">
                                          <p:val>
                                            <p:strVal val="#ppt_x"/>
                                          </p:val>
                                        </p:tav>
                                      </p:tavLst>
                                    </p:anim>
                                    <p:anim calcmode="lin" valueType="num">
                                      <p:cBhvr>
                                        <p:cTn id="16" dur="5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627"/>
                                        </p:tgtEl>
                                        <p:attrNameLst>
                                          <p:attrName>style.visibility</p:attrName>
                                        </p:attrNameLst>
                                      </p:cBhvr>
                                      <p:to>
                                        <p:strVal val="visible"/>
                                      </p:to>
                                    </p:set>
                                    <p:animEffect transition="in" filter="fade">
                                      <p:cBhvr>
                                        <p:cTn id="19" dur="500"/>
                                        <p:tgtEl>
                                          <p:spTgt spid="26627"/>
                                        </p:tgtEl>
                                      </p:cBhvr>
                                    </p:animEffect>
                                    <p:anim calcmode="lin" valueType="num">
                                      <p:cBhvr>
                                        <p:cTn id="20" dur="500" fill="hold"/>
                                        <p:tgtEl>
                                          <p:spTgt spid="26627"/>
                                        </p:tgtEl>
                                        <p:attrNameLst>
                                          <p:attrName>ppt_x</p:attrName>
                                        </p:attrNameLst>
                                      </p:cBhvr>
                                      <p:tavLst>
                                        <p:tav tm="0">
                                          <p:val>
                                            <p:strVal val="#ppt_x"/>
                                          </p:val>
                                        </p:tav>
                                        <p:tav tm="100000">
                                          <p:val>
                                            <p:strVal val="#ppt_x"/>
                                          </p:val>
                                        </p:tav>
                                      </p:tavLst>
                                    </p:anim>
                                    <p:anim calcmode="lin" valueType="num">
                                      <p:cBhvr>
                                        <p:cTn id="21" dur="500" fill="hold"/>
                                        <p:tgtEl>
                                          <p:spTgt spid="266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402959" y="1252026"/>
            <a:ext cx="6823148" cy="3249118"/>
          </a:xfrm>
          <a:prstGeom prst="rect">
            <a:avLst/>
          </a:prstGeom>
        </p:spPr>
      </p:pic>
      <p:pic>
        <p:nvPicPr>
          <p:cNvPr id="5" name="图片 4"/>
          <p:cNvPicPr>
            <a:picLocks noChangeAspect="1"/>
          </p:cNvPicPr>
          <p:nvPr/>
        </p:nvPicPr>
        <p:blipFill>
          <a:blip r:embed="rId4"/>
          <a:stretch>
            <a:fillRect/>
          </a:stretch>
        </p:blipFill>
        <p:spPr>
          <a:xfrm>
            <a:off x="2402959" y="5122013"/>
            <a:ext cx="8720468" cy="884892"/>
          </a:xfrm>
          <a:prstGeom prst="rect">
            <a:avLst/>
          </a:prstGeom>
        </p:spPr>
      </p:pic>
      <p:sp>
        <p:nvSpPr>
          <p:cNvPr id="6" name="圆角矩形 5"/>
          <p:cNvSpPr/>
          <p:nvPr/>
        </p:nvSpPr>
        <p:spPr>
          <a:xfrm>
            <a:off x="2649636" y="3097829"/>
            <a:ext cx="4739992" cy="105950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2649635" y="1690688"/>
            <a:ext cx="4739993" cy="133600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01047" y="5564459"/>
            <a:ext cx="977162" cy="959573"/>
          </a:xfrm>
          <a:prstGeom prst="rect">
            <a:avLst/>
          </a:prstGeom>
        </p:spPr>
      </p:pic>
      <p:sp>
        <p:nvSpPr>
          <p:cNvPr id="2" name="页脚占位符 1">
            <a:extLst>
              <a:ext uri="{FF2B5EF4-FFF2-40B4-BE49-F238E27FC236}">
                <a16:creationId xmlns:a16="http://schemas.microsoft.com/office/drawing/2014/main" id="{43E8FE7D-7082-0FEE-97B2-0141EB94889D}"/>
              </a:ext>
            </a:extLst>
          </p:cNvPr>
          <p:cNvSpPr>
            <a:spLocks noGrp="1"/>
          </p:cNvSpPr>
          <p:nvPr>
            <p:ph type="ftr" sz="quarter" idx="11"/>
          </p:nvPr>
        </p:nvSpPr>
        <p:spPr/>
        <p:txBody>
          <a:bodyPr/>
          <a:lstStyle/>
          <a:p>
            <a:r>
              <a:rPr lang="zh-CN" altLang="en-US"/>
              <a:t>南京大学高级程序设计教学组</a:t>
            </a:r>
          </a:p>
        </p:txBody>
      </p:sp>
      <p:sp>
        <p:nvSpPr>
          <p:cNvPr id="3" name="灯片编号占位符 2">
            <a:extLst>
              <a:ext uri="{FF2B5EF4-FFF2-40B4-BE49-F238E27FC236}">
                <a16:creationId xmlns:a16="http://schemas.microsoft.com/office/drawing/2014/main" id="{C7EC54E4-DB9B-203A-F1DA-29110268248C}"/>
              </a:ext>
            </a:extLst>
          </p:cNvPr>
          <p:cNvSpPr>
            <a:spLocks noGrp="1"/>
          </p:cNvSpPr>
          <p:nvPr>
            <p:ph type="sldNum" sz="quarter" idx="12"/>
          </p:nvPr>
        </p:nvSpPr>
        <p:spPr/>
        <p:txBody>
          <a:bodyPr/>
          <a:lstStyle/>
          <a:p>
            <a:fld id="{B9779E4F-4ECC-4B38-9136-DF01A5EA0AB6}" type="slidenum">
              <a:rPr lang="zh-CN" altLang="en-US" smtClean="0"/>
              <a:t>32</a:t>
            </a:fld>
            <a:endParaRPr lang="zh-CN" altLang="en-US"/>
          </a:p>
        </p:txBody>
      </p:sp>
    </p:spTree>
    <p:extLst>
      <p:ext uri="{BB962C8B-B14F-4D97-AF65-F5344CB8AC3E}">
        <p14:creationId xmlns:p14="http://schemas.microsoft.com/office/powerpoint/2010/main" val="186013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2581"/>
            <a:ext cx="10515600" cy="1325563"/>
          </a:xfrm>
        </p:spPr>
        <p:txBody>
          <a:bodyPr>
            <a:normAutofit/>
          </a:bodyPr>
          <a:lstStyle/>
          <a:p>
            <a:r>
              <a:rPr lang="en-US" altLang="zh-CN" sz="4800" dirty="0" err="1">
                <a:latin typeface="华文新魏" panose="02010800040101010101" pitchFamily="2" charset="-122"/>
                <a:ea typeface="华文新魏" panose="02010800040101010101" pitchFamily="2" charset="-122"/>
              </a:rPr>
              <a:t>std</a:t>
            </a:r>
            <a:r>
              <a:rPr lang="en-US" altLang="zh-CN" sz="4800" dirty="0">
                <a:latin typeface="华文新魏" panose="02010800040101010101" pitchFamily="2" charset="-122"/>
                <a:ea typeface="华文新魏" panose="02010800040101010101" pitchFamily="2" charset="-122"/>
              </a:rPr>
              <a:t>::</a:t>
            </a:r>
            <a:r>
              <a:rPr lang="en-US" altLang="zh-CN" sz="4800" dirty="0" err="1">
                <a:latin typeface="华文新魏" panose="02010800040101010101" pitchFamily="2" charset="-122"/>
                <a:ea typeface="华文新魏" panose="02010800040101010101" pitchFamily="2" charset="-122"/>
              </a:rPr>
              <a:t>lock_guard</a:t>
            </a:r>
            <a:endParaRPr lang="zh-CN" altLang="en-US" sz="4800"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838200" y="1600537"/>
            <a:ext cx="10515600" cy="4351338"/>
          </a:xfrm>
        </p:spPr>
        <p:txBody>
          <a:bodyPr>
            <a:normAutofit/>
          </a:bodyPr>
          <a:lstStyle/>
          <a:p>
            <a:r>
              <a:rPr lang="zh-CN" altLang="en-US" sz="3200" dirty="0">
                <a:latin typeface="华文楷体" panose="02010600040101010101" pitchFamily="2" charset="-122"/>
                <a:ea typeface="华文楷体" panose="02010600040101010101" pitchFamily="2" charset="-122"/>
              </a:rPr>
              <a:t>标准</a:t>
            </a:r>
            <a:r>
              <a:rPr lang="en-US" altLang="zh-CN" sz="3200" dirty="0">
                <a:latin typeface="华文楷体" panose="02010600040101010101" pitchFamily="2" charset="-122"/>
                <a:ea typeface="华文楷体" panose="02010600040101010101" pitchFamily="2" charset="-122"/>
              </a:rPr>
              <a:t>C++</a:t>
            </a:r>
            <a:r>
              <a:rPr lang="zh-CN" altLang="en-US" sz="3200" dirty="0">
                <a:latin typeface="华文楷体" panose="02010600040101010101" pitchFamily="2" charset="-122"/>
                <a:ea typeface="华文楷体" panose="02010600040101010101" pitchFamily="2" charset="-122"/>
              </a:rPr>
              <a:t>库还提供了</a:t>
            </a:r>
            <a:r>
              <a:rPr lang="en-US" altLang="zh-CN" sz="3200" dirty="0" err="1">
                <a:latin typeface="华文楷体" panose="02010600040101010101" pitchFamily="2" charset="-122"/>
                <a:ea typeface="华文楷体" panose="02010600040101010101" pitchFamily="2" charset="-122"/>
              </a:rPr>
              <a:t>std</a:t>
            </a:r>
            <a:r>
              <a:rPr lang="en-US" altLang="zh-CN" sz="3200" dirty="0">
                <a:latin typeface="华文楷体" panose="02010600040101010101" pitchFamily="2" charset="-122"/>
                <a:ea typeface="华文楷体" panose="02010600040101010101" pitchFamily="2" charset="-122"/>
              </a:rPr>
              <a:t>::</a:t>
            </a:r>
            <a:r>
              <a:rPr lang="en-US" altLang="zh-CN" sz="3200" dirty="0" err="1">
                <a:latin typeface="华文楷体" panose="02010600040101010101" pitchFamily="2" charset="-122"/>
                <a:ea typeface="华文楷体" panose="02010600040101010101" pitchFamily="2" charset="-122"/>
              </a:rPr>
              <a:t>lock_guard</a:t>
            </a:r>
            <a:r>
              <a:rPr lang="zh-CN" altLang="en-US" sz="3200" dirty="0">
                <a:latin typeface="华文楷体" panose="02010600040101010101" pitchFamily="2" charset="-122"/>
                <a:ea typeface="华文楷体" panose="02010600040101010101" pitchFamily="2" charset="-122"/>
              </a:rPr>
              <a:t>类模板，在构造时锁定给定的互斥元，析构时将互斥元解锁，从而保证锁定的互斥元始终被正确解锁</a:t>
            </a:r>
          </a:p>
        </p:txBody>
      </p:sp>
      <p:pic>
        <p:nvPicPr>
          <p:cNvPr id="6" name="图片 5"/>
          <p:cNvPicPr>
            <a:picLocks noChangeAspect="1"/>
          </p:cNvPicPr>
          <p:nvPr/>
        </p:nvPicPr>
        <p:blipFill>
          <a:blip r:embed="rId3"/>
          <a:stretch>
            <a:fillRect/>
          </a:stretch>
        </p:blipFill>
        <p:spPr>
          <a:xfrm>
            <a:off x="3300412" y="3035941"/>
            <a:ext cx="5591176" cy="3663624"/>
          </a:xfrm>
          <a:prstGeom prst="rect">
            <a:avLst/>
          </a:prstGeom>
        </p:spPr>
      </p:pic>
      <p:sp>
        <p:nvSpPr>
          <p:cNvPr id="4" name="页脚占位符 3">
            <a:extLst>
              <a:ext uri="{FF2B5EF4-FFF2-40B4-BE49-F238E27FC236}">
                <a16:creationId xmlns:a16="http://schemas.microsoft.com/office/drawing/2014/main" id="{7CE7A6BB-ABC5-0544-7397-0BCD45321484}"/>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AA76676A-7ECB-D324-AA80-3D369D9B3C38}"/>
              </a:ext>
            </a:extLst>
          </p:cNvPr>
          <p:cNvSpPr>
            <a:spLocks noGrp="1"/>
          </p:cNvSpPr>
          <p:nvPr>
            <p:ph type="sldNum" sz="quarter" idx="12"/>
          </p:nvPr>
        </p:nvSpPr>
        <p:spPr/>
        <p:txBody>
          <a:bodyPr/>
          <a:lstStyle/>
          <a:p>
            <a:fld id="{B9779E4F-4ECC-4B38-9136-DF01A5EA0AB6}" type="slidenum">
              <a:rPr lang="zh-CN" altLang="en-US" smtClean="0"/>
              <a:t>33</a:t>
            </a:fld>
            <a:endParaRPr lang="zh-CN" altLang="en-US"/>
          </a:p>
        </p:txBody>
      </p:sp>
    </p:spTree>
    <p:extLst>
      <p:ext uri="{BB962C8B-B14F-4D97-AF65-F5344CB8AC3E}">
        <p14:creationId xmlns:p14="http://schemas.microsoft.com/office/powerpoint/2010/main" val="1211504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并行算法</a:t>
            </a:r>
          </a:p>
        </p:txBody>
      </p:sp>
      <p:sp>
        <p:nvSpPr>
          <p:cNvPr id="3" name="内容占位符 2"/>
          <p:cNvSpPr>
            <a:spLocks noGrp="1"/>
          </p:cNvSpPr>
          <p:nvPr>
            <p:ph idx="1"/>
          </p:nvPr>
        </p:nvSpPr>
        <p:spPr>
          <a:xfrm>
            <a:off x="838200" y="1690688"/>
            <a:ext cx="10515600" cy="4351338"/>
          </a:xfrm>
        </p:spPr>
        <p:txBody>
          <a:bodyPr/>
          <a:lstStyle/>
          <a:p>
            <a:r>
              <a:rPr lang="en-US" altLang="zh-CN" sz="3200" dirty="0">
                <a:latin typeface="华文楷体" panose="02010600040101010101" pitchFamily="2" charset="-122"/>
                <a:ea typeface="华文楷体" panose="02010600040101010101" pitchFamily="2" charset="-122"/>
              </a:rPr>
              <a:t>C++17</a:t>
            </a:r>
            <a:r>
              <a:rPr lang="zh-CN" altLang="en-US" sz="3200" dirty="0">
                <a:latin typeface="华文楷体" panose="02010600040101010101" pitchFamily="2" charset="-122"/>
                <a:ea typeface="华文楷体" panose="02010600040101010101" pitchFamily="2" charset="-122"/>
              </a:rPr>
              <a:t>开始，</a:t>
            </a:r>
            <a:r>
              <a:rPr lang="en-US" altLang="zh-CN" sz="3200" dirty="0">
                <a:latin typeface="华文楷体" panose="02010600040101010101" pitchFamily="2" charset="-122"/>
                <a:ea typeface="华文楷体" panose="02010600040101010101" pitchFamily="2" charset="-122"/>
              </a:rPr>
              <a:t>&lt;algorithm&gt;</a:t>
            </a:r>
            <a:r>
              <a:rPr lang="zh-CN" altLang="en-US" sz="3200" dirty="0">
                <a:latin typeface="华文楷体" panose="02010600040101010101" pitchFamily="2" charset="-122"/>
                <a:ea typeface="华文楷体" panose="02010600040101010101" pitchFamily="2" charset="-122"/>
              </a:rPr>
              <a:t>和</a:t>
            </a:r>
            <a:r>
              <a:rPr lang="en-US" altLang="zh-CN" sz="3200" dirty="0">
                <a:latin typeface="华文楷体" panose="02010600040101010101" pitchFamily="2" charset="-122"/>
                <a:ea typeface="华文楷体" panose="02010600040101010101" pitchFamily="2" charset="-122"/>
              </a:rPr>
              <a:t>&lt;numeric&gt; </a:t>
            </a:r>
            <a:r>
              <a:rPr lang="zh-CN" altLang="en-US" sz="3200" dirty="0">
                <a:latin typeface="华文楷体" panose="02010600040101010101" pitchFamily="2" charset="-122"/>
                <a:ea typeface="华文楷体" panose="02010600040101010101" pitchFamily="2" charset="-122"/>
              </a:rPr>
              <a:t>头文件的中的很多算法都添加了一个新的参数：</a:t>
            </a:r>
            <a:r>
              <a:rPr lang="en-US" altLang="zh-CN" sz="3200" dirty="0" err="1">
                <a:latin typeface="华文楷体" panose="02010600040101010101" pitchFamily="2" charset="-122"/>
                <a:ea typeface="华文楷体" panose="02010600040101010101" pitchFamily="2" charset="-122"/>
              </a:rPr>
              <a:t>sequenced_policy</a:t>
            </a:r>
            <a:endParaRPr lang="en-US" altLang="zh-CN" sz="3200" dirty="0">
              <a:latin typeface="华文楷体" panose="02010600040101010101" pitchFamily="2" charset="-122"/>
              <a:ea typeface="华文楷体" panose="02010600040101010101" pitchFamily="2" charset="-122"/>
            </a:endParaRPr>
          </a:p>
          <a:p>
            <a:endParaRPr lang="zh-CN" altLang="en-US" dirty="0"/>
          </a:p>
        </p:txBody>
      </p:sp>
      <p:pic>
        <p:nvPicPr>
          <p:cNvPr id="4" name="图片 3"/>
          <p:cNvPicPr>
            <a:picLocks noChangeAspect="1"/>
          </p:cNvPicPr>
          <p:nvPr/>
        </p:nvPicPr>
        <p:blipFill>
          <a:blip r:embed="rId3"/>
          <a:stretch>
            <a:fillRect/>
          </a:stretch>
        </p:blipFill>
        <p:spPr>
          <a:xfrm>
            <a:off x="753250" y="2822262"/>
            <a:ext cx="11003822" cy="2302632"/>
          </a:xfrm>
          <a:prstGeom prst="rect">
            <a:avLst/>
          </a:prstGeom>
        </p:spPr>
      </p:pic>
      <p:sp>
        <p:nvSpPr>
          <p:cNvPr id="5" name="文本框 4"/>
          <p:cNvSpPr txBox="1"/>
          <p:nvPr/>
        </p:nvSpPr>
        <p:spPr>
          <a:xfrm>
            <a:off x="1029587" y="5425471"/>
            <a:ext cx="9975112" cy="830997"/>
          </a:xfrm>
          <a:prstGeom prst="rect">
            <a:avLst/>
          </a:prstGeom>
          <a:noFill/>
        </p:spPr>
        <p:txBody>
          <a:bodyPr wrap="square" rtlCol="0">
            <a:spAutoFit/>
          </a:bodyPr>
          <a:lstStyle/>
          <a:p>
            <a:r>
              <a:rPr lang="zh-CN" altLang="en-US" sz="2400">
                <a:latin typeface="华文楷体" panose="02010600040101010101" pitchFamily="2" charset="-122"/>
                <a:ea typeface="华文楷体" panose="02010600040101010101" pitchFamily="2" charset="-122"/>
              </a:rPr>
              <a:t>目前</a:t>
            </a:r>
            <a:r>
              <a:rPr lang="en-US" altLang="zh-CN" sz="2400">
                <a:latin typeface="华文楷体" panose="02010600040101010101" pitchFamily="2" charset="-122"/>
                <a:ea typeface="华文楷体" panose="02010600040101010101" pitchFamily="2" charset="-122"/>
              </a:rPr>
              <a:t>clang</a:t>
            </a:r>
            <a:r>
              <a:rPr lang="zh-CN" altLang="en-US" sz="2400">
                <a:latin typeface="华文楷体" panose="02010600040101010101" pitchFamily="2" charset="-122"/>
                <a:ea typeface="华文楷体" panose="02010600040101010101" pitchFamily="2" charset="-122"/>
              </a:rPr>
              <a:t>编译器还不支持这个功能。因此想要编译这部分代码，你需要使用</a:t>
            </a:r>
            <a:r>
              <a:rPr lang="en-US" altLang="zh-CN" sz="2400">
                <a:latin typeface="华文楷体" panose="02010600040101010101" pitchFamily="2" charset="-122"/>
                <a:ea typeface="华文楷体" panose="02010600040101010101" pitchFamily="2" charset="-122"/>
              </a:rPr>
              <a:t>gcc 9.0</a:t>
            </a:r>
            <a:r>
              <a:rPr lang="zh-CN" altLang="en-US" sz="2400">
                <a:latin typeface="华文楷体" panose="02010600040101010101" pitchFamily="2" charset="-122"/>
                <a:ea typeface="华文楷体" panose="02010600040101010101" pitchFamily="2" charset="-122"/>
              </a:rPr>
              <a:t>或更高版本，同时还需要安装</a:t>
            </a:r>
            <a:r>
              <a:rPr lang="en-US" altLang="zh-CN" sz="2400">
                <a:latin typeface="华文楷体" panose="02010600040101010101" pitchFamily="2" charset="-122"/>
                <a:ea typeface="华文楷体" panose="02010600040101010101" pitchFamily="2" charset="-122"/>
                <a:hlinkClick r:id="rId4"/>
              </a:rPr>
              <a:t>Intel Threading Building Blocks</a:t>
            </a:r>
            <a:r>
              <a:rPr lang="zh-CN" altLang="en-US" sz="240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6" name="页脚占位符 5">
            <a:extLst>
              <a:ext uri="{FF2B5EF4-FFF2-40B4-BE49-F238E27FC236}">
                <a16:creationId xmlns:a16="http://schemas.microsoft.com/office/drawing/2014/main" id="{D7A1F936-ADD7-37BB-D027-CED42BAE19AB}"/>
              </a:ext>
            </a:extLst>
          </p:cNvPr>
          <p:cNvSpPr>
            <a:spLocks noGrp="1"/>
          </p:cNvSpPr>
          <p:nvPr>
            <p:ph type="ftr" sz="quarter" idx="11"/>
          </p:nvPr>
        </p:nvSpPr>
        <p:spPr/>
        <p:txBody>
          <a:bodyPr/>
          <a:lstStyle/>
          <a:p>
            <a:r>
              <a:rPr lang="zh-CN" altLang="en-US"/>
              <a:t>南京大学高级程序设计教学组</a:t>
            </a:r>
          </a:p>
        </p:txBody>
      </p:sp>
      <p:sp>
        <p:nvSpPr>
          <p:cNvPr id="7" name="灯片编号占位符 6">
            <a:extLst>
              <a:ext uri="{FF2B5EF4-FFF2-40B4-BE49-F238E27FC236}">
                <a16:creationId xmlns:a16="http://schemas.microsoft.com/office/drawing/2014/main" id="{C49D06AB-6523-F543-4EA6-001BDA055628}"/>
              </a:ext>
            </a:extLst>
          </p:cNvPr>
          <p:cNvSpPr>
            <a:spLocks noGrp="1"/>
          </p:cNvSpPr>
          <p:nvPr>
            <p:ph type="sldNum" sz="quarter" idx="12"/>
          </p:nvPr>
        </p:nvSpPr>
        <p:spPr/>
        <p:txBody>
          <a:bodyPr/>
          <a:lstStyle/>
          <a:p>
            <a:fld id="{B9779E4F-4ECC-4B38-9136-DF01A5EA0AB6}" type="slidenum">
              <a:rPr lang="zh-CN" altLang="en-US" smtClean="0"/>
              <a:t>34</a:t>
            </a:fld>
            <a:endParaRPr lang="zh-CN" altLang="en-US"/>
          </a:p>
        </p:txBody>
      </p:sp>
    </p:spTree>
    <p:extLst>
      <p:ext uri="{BB962C8B-B14F-4D97-AF65-F5344CB8AC3E}">
        <p14:creationId xmlns:p14="http://schemas.microsoft.com/office/powerpoint/2010/main" val="3970942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10215" y="220164"/>
            <a:ext cx="6115050" cy="3943350"/>
          </a:xfrm>
          <a:prstGeom prst="rect">
            <a:avLst/>
          </a:prstGeom>
        </p:spPr>
      </p:pic>
      <p:pic>
        <p:nvPicPr>
          <p:cNvPr id="7" name="图片 6"/>
          <p:cNvPicPr>
            <a:picLocks noChangeAspect="1"/>
          </p:cNvPicPr>
          <p:nvPr/>
        </p:nvPicPr>
        <p:blipFill>
          <a:blip r:embed="rId4"/>
          <a:stretch>
            <a:fillRect/>
          </a:stretch>
        </p:blipFill>
        <p:spPr>
          <a:xfrm>
            <a:off x="3970818" y="2393858"/>
            <a:ext cx="7886700" cy="4200525"/>
          </a:xfrm>
          <a:prstGeom prst="rect">
            <a:avLst/>
          </a:prstGeom>
        </p:spPr>
      </p:pic>
      <p:pic>
        <p:nvPicPr>
          <p:cNvPr id="8" name="图片 7"/>
          <p:cNvPicPr>
            <a:picLocks noChangeAspect="1"/>
          </p:cNvPicPr>
          <p:nvPr/>
        </p:nvPicPr>
        <p:blipFill>
          <a:blip r:embed="rId5"/>
          <a:stretch>
            <a:fillRect/>
          </a:stretch>
        </p:blipFill>
        <p:spPr>
          <a:xfrm>
            <a:off x="7079122" y="524429"/>
            <a:ext cx="4884722" cy="942865"/>
          </a:xfrm>
          <a:prstGeom prst="rect">
            <a:avLst/>
          </a:prstGeom>
        </p:spPr>
      </p:pic>
      <p:sp>
        <p:nvSpPr>
          <p:cNvPr id="2" name="页脚占位符 1">
            <a:extLst>
              <a:ext uri="{FF2B5EF4-FFF2-40B4-BE49-F238E27FC236}">
                <a16:creationId xmlns:a16="http://schemas.microsoft.com/office/drawing/2014/main" id="{61FAD720-D53E-DD00-4383-D0DAB6615A00}"/>
              </a:ext>
            </a:extLst>
          </p:cNvPr>
          <p:cNvSpPr>
            <a:spLocks noGrp="1"/>
          </p:cNvSpPr>
          <p:nvPr>
            <p:ph type="ftr" sz="quarter" idx="11"/>
          </p:nvPr>
        </p:nvSpPr>
        <p:spPr/>
        <p:txBody>
          <a:bodyPr/>
          <a:lstStyle/>
          <a:p>
            <a:r>
              <a:rPr lang="zh-CN" altLang="en-US"/>
              <a:t>南京大学高级程序设计教学组</a:t>
            </a:r>
          </a:p>
        </p:txBody>
      </p:sp>
      <p:sp>
        <p:nvSpPr>
          <p:cNvPr id="3" name="灯片编号占位符 2">
            <a:extLst>
              <a:ext uri="{FF2B5EF4-FFF2-40B4-BE49-F238E27FC236}">
                <a16:creationId xmlns:a16="http://schemas.microsoft.com/office/drawing/2014/main" id="{81281140-024B-29D1-515D-946156540945}"/>
              </a:ext>
            </a:extLst>
          </p:cNvPr>
          <p:cNvSpPr>
            <a:spLocks noGrp="1"/>
          </p:cNvSpPr>
          <p:nvPr>
            <p:ph type="sldNum" sz="quarter" idx="12"/>
          </p:nvPr>
        </p:nvSpPr>
        <p:spPr/>
        <p:txBody>
          <a:bodyPr/>
          <a:lstStyle/>
          <a:p>
            <a:fld id="{B9779E4F-4ECC-4B38-9136-DF01A5EA0AB6}" type="slidenum">
              <a:rPr lang="zh-CN" altLang="en-US" smtClean="0"/>
              <a:t>35</a:t>
            </a:fld>
            <a:endParaRPr lang="zh-CN" altLang="en-US"/>
          </a:p>
        </p:txBody>
      </p:sp>
    </p:spTree>
    <p:extLst>
      <p:ext uri="{BB962C8B-B14F-4D97-AF65-F5344CB8AC3E}">
        <p14:creationId xmlns:p14="http://schemas.microsoft.com/office/powerpoint/2010/main" val="184160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latin typeface="华文新魏" panose="02010800040101010101" pitchFamily="2" charset="-122"/>
                <a:ea typeface="华文新魏" panose="02010800040101010101" pitchFamily="2" charset="-122"/>
              </a:rPr>
              <a:t>扩展阅读</a:t>
            </a:r>
          </a:p>
        </p:txBody>
      </p:sp>
      <p:sp>
        <p:nvSpPr>
          <p:cNvPr id="3" name="内容占位符 2"/>
          <p:cNvSpPr>
            <a:spLocks noGrp="1"/>
          </p:cNvSpPr>
          <p:nvPr>
            <p:ph idx="1"/>
          </p:nvPr>
        </p:nvSpPr>
        <p:spPr>
          <a:xfrm>
            <a:off x="838200" y="1690688"/>
            <a:ext cx="11017102" cy="4351338"/>
          </a:xfrm>
        </p:spPr>
        <p:txBody>
          <a:bodyPr>
            <a:normAutofit/>
          </a:bodyPr>
          <a:lstStyle/>
          <a:p>
            <a:r>
              <a:rPr lang="en-US" altLang="zh-CN" sz="3200" dirty="0">
                <a:latin typeface="华文楷体" panose="02010600040101010101" pitchFamily="2" charset="-122"/>
                <a:ea typeface="华文楷体" panose="02010600040101010101" pitchFamily="2" charset="-122"/>
              </a:rPr>
              <a:t>CUDA GPU</a:t>
            </a:r>
            <a:r>
              <a:rPr lang="zh-CN" altLang="en-US" sz="3200" dirty="0">
                <a:latin typeface="华文楷体" panose="02010600040101010101" pitchFamily="2" charset="-122"/>
                <a:ea typeface="华文楷体" panose="02010600040101010101" pitchFamily="2" charset="-122"/>
              </a:rPr>
              <a:t>编程</a:t>
            </a:r>
            <a:endParaRPr lang="en-US" altLang="zh-CN" sz="3200" dirty="0">
              <a:latin typeface="华文楷体" panose="02010600040101010101" pitchFamily="2" charset="-122"/>
              <a:ea typeface="华文楷体" panose="02010600040101010101" pitchFamily="2" charset="-122"/>
            </a:endParaRPr>
          </a:p>
          <a:p>
            <a:pPr lvl="1"/>
            <a:r>
              <a:rPr lang="en-US" altLang="zh-CN" sz="2800" dirty="0">
                <a:latin typeface="华文楷体" panose="02010600040101010101" pitchFamily="2" charset="-122"/>
                <a:ea typeface="华文楷体" panose="02010600040101010101" pitchFamily="2" charset="-122"/>
              </a:rPr>
              <a:t>https://cuda-tutorial.readthedocs.io/en/latest/tutorials/tutorial01/</a:t>
            </a:r>
          </a:p>
          <a:p>
            <a:pPr lvl="1"/>
            <a:r>
              <a:rPr lang="en-US" altLang="zh-CN" sz="2800" dirty="0">
                <a:latin typeface="华文楷体" panose="02010600040101010101" pitchFamily="2" charset="-122"/>
                <a:ea typeface="华文楷体" panose="02010600040101010101" pitchFamily="2" charset="-122"/>
              </a:rPr>
              <a:t>https://docs.nvidia.com/cuda/cuda-c-programming-guide/index.html</a:t>
            </a:r>
          </a:p>
          <a:p>
            <a:r>
              <a:rPr lang="en-US" altLang="zh-CN" sz="3200" dirty="0" err="1">
                <a:latin typeface="华文楷体" panose="02010600040101010101" pitchFamily="2" charset="-122"/>
                <a:ea typeface="华文楷体" panose="02010600040101010101" pitchFamily="2" charset="-122"/>
              </a:rPr>
              <a:t>OpenMP</a:t>
            </a:r>
            <a:endParaRPr lang="en-US" altLang="zh-CN" sz="3200" dirty="0">
              <a:latin typeface="华文楷体" panose="02010600040101010101" pitchFamily="2" charset="-122"/>
              <a:ea typeface="华文楷体" panose="02010600040101010101" pitchFamily="2" charset="-122"/>
            </a:endParaRPr>
          </a:p>
          <a:p>
            <a:pPr lvl="1"/>
            <a:r>
              <a:rPr lang="en-US" altLang="zh-CN" sz="2800" dirty="0">
                <a:latin typeface="华文楷体" panose="02010600040101010101" pitchFamily="2" charset="-122"/>
                <a:ea typeface="华文楷体" panose="02010600040101010101" pitchFamily="2" charset="-122"/>
              </a:rPr>
              <a:t>https://computing.llnl.gov/tutorials/openMP/</a:t>
            </a:r>
          </a:p>
          <a:p>
            <a:r>
              <a:rPr lang="en-US" altLang="zh-CN" sz="3200" dirty="0">
                <a:latin typeface="华文楷体" panose="02010600040101010101" pitchFamily="2" charset="-122"/>
                <a:ea typeface="华文楷体" panose="02010600040101010101" pitchFamily="2" charset="-122"/>
              </a:rPr>
              <a:t>MPI</a:t>
            </a:r>
          </a:p>
          <a:p>
            <a:pPr lvl="1"/>
            <a:r>
              <a:rPr lang="en-US" altLang="zh-CN" sz="2800" dirty="0">
                <a:latin typeface="华文楷体" panose="02010600040101010101" pitchFamily="2" charset="-122"/>
                <a:ea typeface="华文楷体" panose="02010600040101010101" pitchFamily="2" charset="-122"/>
              </a:rPr>
              <a:t>https://mpitutorial.com/tutorials/</a:t>
            </a:r>
          </a:p>
          <a:p>
            <a:pPr lvl="1"/>
            <a:r>
              <a:rPr lang="en-US" altLang="zh-CN" sz="2800" dirty="0">
                <a:latin typeface="华文楷体" panose="02010600040101010101" pitchFamily="2" charset="-122"/>
                <a:ea typeface="华文楷体" panose="02010600040101010101" pitchFamily="2" charset="-122"/>
              </a:rPr>
              <a:t>https://computing.llnl.gov/tutorials/mpi/</a:t>
            </a:r>
          </a:p>
          <a:p>
            <a:endParaRPr lang="en-US" altLang="zh-CN" dirty="0"/>
          </a:p>
          <a:p>
            <a:endParaRPr lang="zh-CN" altLang="en-US" dirty="0"/>
          </a:p>
        </p:txBody>
      </p:sp>
      <p:sp>
        <p:nvSpPr>
          <p:cNvPr id="4" name="页脚占位符 3">
            <a:extLst>
              <a:ext uri="{FF2B5EF4-FFF2-40B4-BE49-F238E27FC236}">
                <a16:creationId xmlns:a16="http://schemas.microsoft.com/office/drawing/2014/main" id="{DE560255-DAFE-0A6F-8F99-E5A2E007BC46}"/>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7BE6D5BA-8E04-F499-FFD9-69693FC2C5EF}"/>
              </a:ext>
            </a:extLst>
          </p:cNvPr>
          <p:cNvSpPr>
            <a:spLocks noGrp="1"/>
          </p:cNvSpPr>
          <p:nvPr>
            <p:ph type="sldNum" sz="quarter" idx="12"/>
          </p:nvPr>
        </p:nvSpPr>
        <p:spPr/>
        <p:txBody>
          <a:bodyPr/>
          <a:lstStyle/>
          <a:p>
            <a:fld id="{B9779E4F-4ECC-4B38-9136-DF01A5EA0AB6}" type="slidenum">
              <a:rPr lang="zh-CN" altLang="en-US" smtClean="0"/>
              <a:t>36</a:t>
            </a:fld>
            <a:endParaRPr lang="zh-CN" altLang="en-US"/>
          </a:p>
        </p:txBody>
      </p:sp>
    </p:spTree>
    <p:extLst>
      <p:ext uri="{BB962C8B-B14F-4D97-AF65-F5344CB8AC3E}">
        <p14:creationId xmlns:p14="http://schemas.microsoft.com/office/powerpoint/2010/main" val="494715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6600" dirty="0">
                <a:latin typeface="华文新魏" panose="02010800040101010101" pitchFamily="2" charset="-122"/>
                <a:ea typeface="华文新魏" panose="02010800040101010101" pitchFamily="2" charset="-122"/>
              </a:rPr>
              <a:t>谢谢！</a:t>
            </a:r>
          </a:p>
        </p:txBody>
      </p:sp>
      <p:sp>
        <p:nvSpPr>
          <p:cNvPr id="3" name="文本占位符 2"/>
          <p:cNvSpPr>
            <a:spLocks noGrp="1"/>
          </p:cNvSpPr>
          <p:nvPr>
            <p:ph type="body" idx="1"/>
          </p:nvPr>
        </p:nvSpPr>
        <p:spPr/>
        <p:txBody>
          <a:bodyPr/>
          <a:lstStyle/>
          <a:p>
            <a:endParaRPr lang="zh-CN" altLang="en-US"/>
          </a:p>
        </p:txBody>
      </p:sp>
      <p:sp>
        <p:nvSpPr>
          <p:cNvPr id="4" name="页脚占位符 3">
            <a:extLst>
              <a:ext uri="{FF2B5EF4-FFF2-40B4-BE49-F238E27FC236}">
                <a16:creationId xmlns:a16="http://schemas.microsoft.com/office/drawing/2014/main" id="{36E59972-6DB9-3FE7-D7BC-964E9E2CFB13}"/>
              </a:ext>
            </a:extLst>
          </p:cNvPr>
          <p:cNvSpPr>
            <a:spLocks noGrp="1"/>
          </p:cNvSpPr>
          <p:nvPr>
            <p:ph type="ftr" sz="quarter" idx="11"/>
          </p:nvPr>
        </p:nvSpPr>
        <p:spPr/>
        <p:txBody>
          <a:bodyPr/>
          <a:lstStyle/>
          <a:p>
            <a:r>
              <a:rPr lang="zh-CN" altLang="en-US"/>
              <a:t>南京大学高级程序设计教学组</a:t>
            </a:r>
          </a:p>
        </p:txBody>
      </p:sp>
      <p:sp>
        <p:nvSpPr>
          <p:cNvPr id="5" name="灯片编号占位符 4">
            <a:extLst>
              <a:ext uri="{FF2B5EF4-FFF2-40B4-BE49-F238E27FC236}">
                <a16:creationId xmlns:a16="http://schemas.microsoft.com/office/drawing/2014/main" id="{4E1DADEF-C52E-BA33-9D8B-1420B72AB5C7}"/>
              </a:ext>
            </a:extLst>
          </p:cNvPr>
          <p:cNvSpPr>
            <a:spLocks noGrp="1"/>
          </p:cNvSpPr>
          <p:nvPr>
            <p:ph type="sldNum" sz="quarter" idx="12"/>
          </p:nvPr>
        </p:nvSpPr>
        <p:spPr/>
        <p:txBody>
          <a:bodyPr/>
          <a:lstStyle/>
          <a:p>
            <a:fld id="{B9779E4F-4ECC-4B38-9136-DF01A5EA0AB6}" type="slidenum">
              <a:rPr lang="zh-CN" altLang="en-US" smtClean="0"/>
              <a:t>37</a:t>
            </a:fld>
            <a:endParaRPr lang="zh-CN" altLang="en-US"/>
          </a:p>
        </p:txBody>
      </p:sp>
    </p:spTree>
    <p:extLst>
      <p:ext uri="{BB962C8B-B14F-4D97-AF65-F5344CB8AC3E}">
        <p14:creationId xmlns:p14="http://schemas.microsoft.com/office/powerpoint/2010/main" val="27862846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1653</Words>
  <Application>Microsoft Office PowerPoint</Application>
  <PresentationFormat>宽屏</PresentationFormat>
  <Paragraphs>220</Paragraphs>
  <Slides>37</Slides>
  <Notes>20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等线</vt:lpstr>
      <vt:lpstr>等线 Light</vt:lpstr>
      <vt:lpstr>华文楷体</vt:lpstr>
      <vt:lpstr>华文新魏</vt:lpstr>
      <vt:lpstr>Arial</vt:lpstr>
      <vt:lpstr>Arial Rounded MT Bold</vt:lpstr>
      <vt:lpstr>Office 主题​​</vt:lpstr>
      <vt:lpstr>并行程序设计—C++</vt:lpstr>
      <vt:lpstr>为什么需要并行程序？</vt:lpstr>
      <vt:lpstr>PowerPoint 演示文稿</vt:lpstr>
      <vt:lpstr>为什么需要并行程序？</vt:lpstr>
      <vt:lpstr>并行计算资源</vt:lpstr>
      <vt:lpstr>并行计算资源</vt:lpstr>
      <vt:lpstr>并行计算资源</vt:lpstr>
      <vt:lpstr>并行计算资源</vt:lpstr>
      <vt:lpstr>并行计算资源</vt:lpstr>
      <vt:lpstr>并发与并行</vt:lpstr>
      <vt:lpstr>并发与并行</vt:lpstr>
      <vt:lpstr>进程与线程</vt:lpstr>
      <vt:lpstr>进程与线程</vt:lpstr>
      <vt:lpstr>C++并行编程</vt:lpstr>
      <vt:lpstr>PowerPoint 演示文稿</vt:lpstr>
      <vt:lpstr>一个小的例子</vt:lpstr>
      <vt:lpstr>一个小的例子</vt:lpstr>
      <vt:lpstr>一个小的例子</vt:lpstr>
      <vt:lpstr>线程创建</vt:lpstr>
      <vt:lpstr>线程结束</vt:lpstr>
      <vt:lpstr>join和detach的区别</vt:lpstr>
      <vt:lpstr>join和detach的区别</vt:lpstr>
      <vt:lpstr>线程管理</vt:lpstr>
      <vt:lpstr>线程管理</vt:lpstr>
      <vt:lpstr>例子：计算某个范围内所有自然数的平方根之和</vt:lpstr>
      <vt:lpstr>PowerPoint 演示文稿</vt:lpstr>
      <vt:lpstr>PowerPoint 演示文稿</vt:lpstr>
      <vt:lpstr>数据竞争与临界区</vt:lpstr>
      <vt:lpstr>互斥体与锁</vt:lpstr>
      <vt:lpstr>互斥体与锁</vt:lpstr>
      <vt:lpstr>PowerPoint 演示文稿</vt:lpstr>
      <vt:lpstr>PowerPoint 演示文稿</vt:lpstr>
      <vt:lpstr>std::lock_guard</vt:lpstr>
      <vt:lpstr>并行算法</vt:lpstr>
      <vt:lpstr>PowerPoint 演示文稿</vt:lpstr>
      <vt:lpstr>扩展阅读</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Zuo Zhiqiang</dc:creator>
  <cp:lastModifiedBy>Dell</cp:lastModifiedBy>
  <cp:revision>420</cp:revision>
  <dcterms:created xsi:type="dcterms:W3CDTF">2020-12-13T06:41:00Z</dcterms:created>
  <dcterms:modified xsi:type="dcterms:W3CDTF">2026-06-01T02:16:21Z</dcterms:modified>
</cp:coreProperties>
</file>