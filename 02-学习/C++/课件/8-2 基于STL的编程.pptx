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5"/>
  </p:notesMasterIdLst>
  <p:sldIdLst>
    <p:sldId id="282" r:id="rId2"/>
    <p:sldId id="281" r:id="rId3"/>
    <p:sldId id="335" r:id="rId4"/>
    <p:sldId id="287" r:id="rId5"/>
    <p:sldId id="288" r:id="rId6"/>
    <p:sldId id="290" r:id="rId7"/>
    <p:sldId id="307" r:id="rId8"/>
    <p:sldId id="308" r:id="rId9"/>
    <p:sldId id="309" r:id="rId10"/>
    <p:sldId id="310" r:id="rId11"/>
    <p:sldId id="291" r:id="rId12"/>
    <p:sldId id="311" r:id="rId13"/>
    <p:sldId id="315" r:id="rId14"/>
    <p:sldId id="342" r:id="rId15"/>
    <p:sldId id="343" r:id="rId16"/>
    <p:sldId id="300" r:id="rId17"/>
    <p:sldId id="301" r:id="rId18"/>
    <p:sldId id="347" r:id="rId19"/>
    <p:sldId id="292" r:id="rId20"/>
    <p:sldId id="299" r:id="rId21"/>
    <p:sldId id="297" r:id="rId22"/>
    <p:sldId id="293" r:id="rId23"/>
    <p:sldId id="344" r:id="rId24"/>
    <p:sldId id="316" r:id="rId25"/>
    <p:sldId id="317" r:id="rId26"/>
    <p:sldId id="294" r:id="rId27"/>
    <p:sldId id="341" r:id="rId28"/>
    <p:sldId id="295" r:id="rId29"/>
    <p:sldId id="318" r:id="rId30"/>
    <p:sldId id="338" r:id="rId31"/>
    <p:sldId id="345" r:id="rId32"/>
    <p:sldId id="296" r:id="rId33"/>
    <p:sldId id="330" r:id="rId34"/>
    <p:sldId id="327" r:id="rId35"/>
    <p:sldId id="328" r:id="rId36"/>
    <p:sldId id="346" r:id="rId37"/>
    <p:sldId id="303" r:id="rId38"/>
    <p:sldId id="333" r:id="rId39"/>
    <p:sldId id="304" r:id="rId40"/>
    <p:sldId id="305" r:id="rId41"/>
    <p:sldId id="332" r:id="rId42"/>
    <p:sldId id="306" r:id="rId43"/>
    <p:sldId id="325" r:id="rId4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5" autoAdjust="0"/>
    <p:restoredTop sz="94708" autoAdjust="0"/>
  </p:normalViewPr>
  <p:slideViewPr>
    <p:cSldViewPr>
      <p:cViewPr varScale="1">
        <p:scale>
          <a:sx n="160" d="100"/>
          <a:sy n="160" d="100"/>
        </p:scale>
        <p:origin x="1788" y="13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B73DA444-AE0A-4B50-2FC5-9617C563A93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ea typeface="宋体" pitchFamily="2" charset="-122"/>
              </a:defRPr>
            </a:lvl1pPr>
          </a:lstStyle>
          <a:p>
            <a:pPr>
              <a:defRPr/>
            </a:pPr>
            <a:endParaRPr lang="zh-CN" altLang="en-US"/>
          </a:p>
        </p:txBody>
      </p:sp>
      <p:sp>
        <p:nvSpPr>
          <p:cNvPr id="3" name="日期占位符 2">
            <a:extLst>
              <a:ext uri="{FF2B5EF4-FFF2-40B4-BE49-F238E27FC236}">
                <a16:creationId xmlns:a16="http://schemas.microsoft.com/office/drawing/2014/main" id="{E560C717-A6D3-E1AB-97D5-0036964C1F9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ea typeface="宋体" pitchFamily="2" charset="-122"/>
              </a:defRPr>
            </a:lvl1pPr>
          </a:lstStyle>
          <a:p>
            <a:pPr>
              <a:defRPr/>
            </a:pPr>
            <a:fld id="{2B14DB29-6A58-4093-837C-E51FB9280F9F}" type="datetimeFigureOut">
              <a:rPr lang="zh-CN" altLang="en-US"/>
              <a:pPr>
                <a:defRPr/>
              </a:pPr>
              <a:t>2026/6/18</a:t>
            </a:fld>
            <a:endParaRPr lang="zh-CN" altLang="en-US"/>
          </a:p>
        </p:txBody>
      </p:sp>
      <p:sp>
        <p:nvSpPr>
          <p:cNvPr id="4" name="幻灯片图像占位符 3">
            <a:extLst>
              <a:ext uri="{FF2B5EF4-FFF2-40B4-BE49-F238E27FC236}">
                <a16:creationId xmlns:a16="http://schemas.microsoft.com/office/drawing/2014/main" id="{5F5A765E-0C50-1F71-F6D8-463643A9509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FD00773-04F3-6D3A-6750-DBD1648BBC8C}"/>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5D20283-D96B-1CA2-E7D6-AEB0FBA2450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ea typeface="宋体" pitchFamily="2" charset="-122"/>
              </a:defRPr>
            </a:lvl1pPr>
          </a:lstStyle>
          <a:p>
            <a:pPr>
              <a:defRPr/>
            </a:pPr>
            <a:endParaRPr lang="zh-CN" altLang="en-US"/>
          </a:p>
        </p:txBody>
      </p:sp>
      <p:sp>
        <p:nvSpPr>
          <p:cNvPr id="7" name="灯片编号占位符 6">
            <a:extLst>
              <a:ext uri="{FF2B5EF4-FFF2-40B4-BE49-F238E27FC236}">
                <a16:creationId xmlns:a16="http://schemas.microsoft.com/office/drawing/2014/main" id="{B71472D8-4B18-4185-D2E4-B25B396AD063}"/>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05A35617-0AD5-4BE2-A3B6-FA59EB6B47F7}"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99E6596-E6AC-71CF-D81E-50F5A60EC429}"/>
              </a:ext>
            </a:extLst>
          </p:cNvPr>
          <p:cNvGrpSpPr>
            <a:grpSpLocks/>
          </p:cNvGrpSpPr>
          <p:nvPr/>
        </p:nvGrpSpPr>
        <p:grpSpPr bwMode="auto">
          <a:xfrm>
            <a:off x="0" y="0"/>
            <a:ext cx="9148763" cy="6851650"/>
            <a:chOff x="1" y="0"/>
            <a:chExt cx="5763" cy="4316"/>
          </a:xfrm>
        </p:grpSpPr>
        <p:sp>
          <p:nvSpPr>
            <p:cNvPr id="3" name="Freeform 3">
              <a:extLst>
                <a:ext uri="{FF2B5EF4-FFF2-40B4-BE49-F238E27FC236}">
                  <a16:creationId xmlns:a16="http://schemas.microsoft.com/office/drawing/2014/main" id="{4B3DE591-0FC9-8FEC-0AEB-9CA93535F67A}"/>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 name="Freeform 4">
              <a:extLst>
                <a:ext uri="{FF2B5EF4-FFF2-40B4-BE49-F238E27FC236}">
                  <a16:creationId xmlns:a16="http://schemas.microsoft.com/office/drawing/2014/main" id="{B6BAFFD0-81A9-5761-94B0-B226A4C90DBC}"/>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5" name="Freeform 5">
              <a:extLst>
                <a:ext uri="{FF2B5EF4-FFF2-40B4-BE49-F238E27FC236}">
                  <a16:creationId xmlns:a16="http://schemas.microsoft.com/office/drawing/2014/main" id="{8915EDAA-474D-6ED3-A15D-3B432EC08337}"/>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grpSp>
          <p:nvGrpSpPr>
            <p:cNvPr id="6" name="Group 6">
              <a:extLst>
                <a:ext uri="{FF2B5EF4-FFF2-40B4-BE49-F238E27FC236}">
                  <a16:creationId xmlns:a16="http://schemas.microsoft.com/office/drawing/2014/main" id="{E6AAA773-AAC8-90DC-7CA3-BDE2572E2ABF}"/>
                </a:ext>
              </a:extLst>
            </p:cNvPr>
            <p:cNvGrpSpPr>
              <a:grpSpLocks/>
            </p:cNvGrpSpPr>
            <p:nvPr/>
          </p:nvGrpSpPr>
          <p:grpSpPr bwMode="auto">
            <a:xfrm>
              <a:off x="288" y="0"/>
              <a:ext cx="5098" cy="4316"/>
              <a:chOff x="288" y="0"/>
              <a:chExt cx="5098" cy="4316"/>
            </a:xfrm>
          </p:grpSpPr>
          <p:sp>
            <p:nvSpPr>
              <p:cNvPr id="26" name="Freeform 7">
                <a:extLst>
                  <a:ext uri="{FF2B5EF4-FFF2-40B4-BE49-F238E27FC236}">
                    <a16:creationId xmlns:a16="http://schemas.microsoft.com/office/drawing/2014/main" id="{F83712D4-ED8E-CC84-2FDC-F42400B5CD56}"/>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7" name="Freeform 8">
                <a:extLst>
                  <a:ext uri="{FF2B5EF4-FFF2-40B4-BE49-F238E27FC236}">
                    <a16:creationId xmlns:a16="http://schemas.microsoft.com/office/drawing/2014/main" id="{2B80BDDA-1BD3-DAEE-01E2-DFAF73EC9C88}"/>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8" name="Freeform 9">
                <a:extLst>
                  <a:ext uri="{FF2B5EF4-FFF2-40B4-BE49-F238E27FC236}">
                    <a16:creationId xmlns:a16="http://schemas.microsoft.com/office/drawing/2014/main" id="{4B669542-54F2-A074-FAE2-1F88FA898D1B}"/>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29" name="Freeform 10">
                <a:extLst>
                  <a:ext uri="{FF2B5EF4-FFF2-40B4-BE49-F238E27FC236}">
                    <a16:creationId xmlns:a16="http://schemas.microsoft.com/office/drawing/2014/main" id="{578A0D7F-191F-7DF5-63A4-21D71E00B9EF}"/>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0" name="Freeform 11">
                <a:extLst>
                  <a:ext uri="{FF2B5EF4-FFF2-40B4-BE49-F238E27FC236}">
                    <a16:creationId xmlns:a16="http://schemas.microsoft.com/office/drawing/2014/main" id="{2F75C994-1543-1FED-42FD-81C7BC083411}"/>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1" name="Freeform 12">
                <a:extLst>
                  <a:ext uri="{FF2B5EF4-FFF2-40B4-BE49-F238E27FC236}">
                    <a16:creationId xmlns:a16="http://schemas.microsoft.com/office/drawing/2014/main" id="{9684A782-4C96-EA70-66D7-0A243E65276B}"/>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2" name="Freeform 13">
                <a:extLst>
                  <a:ext uri="{FF2B5EF4-FFF2-40B4-BE49-F238E27FC236}">
                    <a16:creationId xmlns:a16="http://schemas.microsoft.com/office/drawing/2014/main" id="{FFD378A9-A36F-6F03-8A45-190DFFD9B1DF}"/>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3" name="Freeform 14">
                <a:extLst>
                  <a:ext uri="{FF2B5EF4-FFF2-40B4-BE49-F238E27FC236}">
                    <a16:creationId xmlns:a16="http://schemas.microsoft.com/office/drawing/2014/main" id="{D8C86D99-0288-10A3-835B-9AB3CBDA006F}"/>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4" name="Freeform 15">
                <a:extLst>
                  <a:ext uri="{FF2B5EF4-FFF2-40B4-BE49-F238E27FC236}">
                    <a16:creationId xmlns:a16="http://schemas.microsoft.com/office/drawing/2014/main" id="{1401D348-E8F6-EE90-0E94-36CE5BC0C62C}"/>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5" name="Freeform 16">
                <a:extLst>
                  <a:ext uri="{FF2B5EF4-FFF2-40B4-BE49-F238E27FC236}">
                    <a16:creationId xmlns:a16="http://schemas.microsoft.com/office/drawing/2014/main" id="{0E1F3AA6-5ED5-0431-2835-87C0D809AF09}"/>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6" name="Freeform 17">
                <a:extLst>
                  <a:ext uri="{FF2B5EF4-FFF2-40B4-BE49-F238E27FC236}">
                    <a16:creationId xmlns:a16="http://schemas.microsoft.com/office/drawing/2014/main" id="{887CA76E-E233-F0E9-CC51-175B8B41664B}"/>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7" name="Freeform 18">
                <a:extLst>
                  <a:ext uri="{FF2B5EF4-FFF2-40B4-BE49-F238E27FC236}">
                    <a16:creationId xmlns:a16="http://schemas.microsoft.com/office/drawing/2014/main" id="{82BBFA5E-789F-6206-9708-0AFA162FF08D}"/>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38" name="Freeform 19">
                <a:extLst>
                  <a:ext uri="{FF2B5EF4-FFF2-40B4-BE49-F238E27FC236}">
                    <a16:creationId xmlns:a16="http://schemas.microsoft.com/office/drawing/2014/main" id="{BE4B0D87-BDE3-9025-2386-94475EDD6E9A}"/>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grpSp>
        <p:sp>
          <p:nvSpPr>
            <p:cNvPr id="7" name="Freeform 20">
              <a:extLst>
                <a:ext uri="{FF2B5EF4-FFF2-40B4-BE49-F238E27FC236}">
                  <a16:creationId xmlns:a16="http://schemas.microsoft.com/office/drawing/2014/main" id="{76068A50-8EED-1D99-AC80-7B3966B6EE4C}"/>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8" name="Freeform 21">
              <a:extLst>
                <a:ext uri="{FF2B5EF4-FFF2-40B4-BE49-F238E27FC236}">
                  <a16:creationId xmlns:a16="http://schemas.microsoft.com/office/drawing/2014/main" id="{B6275796-7899-0582-750C-AF2665B1498E}"/>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9" name="Freeform 22">
              <a:extLst>
                <a:ext uri="{FF2B5EF4-FFF2-40B4-BE49-F238E27FC236}">
                  <a16:creationId xmlns:a16="http://schemas.microsoft.com/office/drawing/2014/main" id="{1147CD89-35B2-5A20-8C36-A5BCEDA161BB}"/>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 name="Freeform 23">
              <a:extLst>
                <a:ext uri="{FF2B5EF4-FFF2-40B4-BE49-F238E27FC236}">
                  <a16:creationId xmlns:a16="http://schemas.microsoft.com/office/drawing/2014/main" id="{54695798-E2BD-BB06-7604-FBE9DC619683}"/>
                </a:ext>
              </a:extLst>
            </p:cNvPr>
            <p:cNvSpPr>
              <a:spLocks/>
            </p:cNvSpPr>
            <p:nvPr/>
          </p:nvSpPr>
          <p:spPr bwMode="hidden">
            <a:xfrm>
              <a:off x="5041" y="0"/>
              <a:ext cx="719" cy="845"/>
            </a:xfrm>
            <a:custGeom>
              <a:avLst/>
              <a:gdLst>
                <a:gd name="T0" fmla="*/ 966 w 717"/>
                <a:gd name="T1" fmla="*/ 845 h 845"/>
                <a:gd name="T2" fmla="*/ 966 w 717"/>
                <a:gd name="T3" fmla="*/ 821 h 845"/>
                <a:gd name="T4" fmla="*/ 800 w 717"/>
                <a:gd name="T5" fmla="*/ 605 h 845"/>
                <a:gd name="T6" fmla="*/ 519 w 717"/>
                <a:gd name="T7" fmla="*/ 396 h 845"/>
                <a:gd name="T8" fmla="*/ 334 w 717"/>
                <a:gd name="T9" fmla="*/ 192 h 845"/>
                <a:gd name="T10" fmla="*/ 17 w 717"/>
                <a:gd name="T11" fmla="*/ 0 h 845"/>
                <a:gd name="T12" fmla="*/ 0 w 717"/>
                <a:gd name="T13" fmla="*/ 0 h 845"/>
                <a:gd name="T14" fmla="*/ 322 w 717"/>
                <a:gd name="T15" fmla="*/ 198 h 845"/>
                <a:gd name="T16" fmla="*/ 513 w 717"/>
                <a:gd name="T17" fmla="*/ 408 h 845"/>
                <a:gd name="T18" fmla="*/ 794 w 717"/>
                <a:gd name="T19" fmla="*/ 623 h 845"/>
                <a:gd name="T20" fmla="*/ 966 w 717"/>
                <a:gd name="T21" fmla="*/ 845 h 845"/>
                <a:gd name="T22" fmla="*/ 966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24">
              <a:extLst>
                <a:ext uri="{FF2B5EF4-FFF2-40B4-BE49-F238E27FC236}">
                  <a16:creationId xmlns:a16="http://schemas.microsoft.com/office/drawing/2014/main" id="{7566437E-A0B3-8467-39D1-71023B90A624}"/>
                </a:ext>
              </a:extLst>
            </p:cNvPr>
            <p:cNvSpPr>
              <a:spLocks/>
            </p:cNvSpPr>
            <p:nvPr/>
          </p:nvSpPr>
          <p:spPr bwMode="hidden">
            <a:xfrm>
              <a:off x="5352" y="0"/>
              <a:ext cx="408" cy="414"/>
            </a:xfrm>
            <a:custGeom>
              <a:avLst/>
              <a:gdLst>
                <a:gd name="T0" fmla="*/ 520 w 407"/>
                <a:gd name="T1" fmla="*/ 414 h 414"/>
                <a:gd name="T2" fmla="*/ 520 w 407"/>
                <a:gd name="T3" fmla="*/ 396 h 414"/>
                <a:gd name="T4" fmla="*/ 335 w 407"/>
                <a:gd name="T5" fmla="*/ 192 h 414"/>
                <a:gd name="T6" fmla="*/ 12 w 407"/>
                <a:gd name="T7" fmla="*/ 0 h 414"/>
                <a:gd name="T8" fmla="*/ 0 w 407"/>
                <a:gd name="T9" fmla="*/ 0 h 414"/>
                <a:gd name="T10" fmla="*/ 108 w 407"/>
                <a:gd name="T11" fmla="*/ 102 h 414"/>
                <a:gd name="T12" fmla="*/ 329 w 407"/>
                <a:gd name="T13" fmla="*/ 204 h 414"/>
                <a:gd name="T14" fmla="*/ 520 w 407"/>
                <a:gd name="T15" fmla="*/ 414 h 414"/>
                <a:gd name="T16" fmla="*/ 520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5">
              <a:extLst>
                <a:ext uri="{FF2B5EF4-FFF2-40B4-BE49-F238E27FC236}">
                  <a16:creationId xmlns:a16="http://schemas.microsoft.com/office/drawing/2014/main" id="{D6776736-0458-4709-B6D8-21EA5012AF60}"/>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3" name="Freeform 26">
              <a:extLst>
                <a:ext uri="{FF2B5EF4-FFF2-40B4-BE49-F238E27FC236}">
                  <a16:creationId xmlns:a16="http://schemas.microsoft.com/office/drawing/2014/main" id="{C0EC542B-2D5D-6A3D-A0AD-6474B801390E}"/>
                </a:ext>
              </a:extLst>
            </p:cNvPr>
            <p:cNvSpPr>
              <a:spLocks/>
            </p:cNvSpPr>
            <p:nvPr/>
          </p:nvSpPr>
          <p:spPr bwMode="hidden">
            <a:xfrm>
              <a:off x="6" y="0"/>
              <a:ext cx="588" cy="599"/>
            </a:xfrm>
            <a:custGeom>
              <a:avLst/>
              <a:gdLst>
                <a:gd name="T0" fmla="*/ 851 w 586"/>
                <a:gd name="T1" fmla="*/ 0 h 599"/>
                <a:gd name="T2" fmla="*/ 824 w 586"/>
                <a:gd name="T3" fmla="*/ 0 h 599"/>
                <a:gd name="T4" fmla="*/ 600 w 586"/>
                <a:gd name="T5" fmla="*/ 132 h 599"/>
                <a:gd name="T6" fmla="*/ 370 w 586"/>
                <a:gd name="T7" fmla="*/ 270 h 599"/>
                <a:gd name="T8" fmla="*/ 120 w 586"/>
                <a:gd name="T9" fmla="*/ 420 h 599"/>
                <a:gd name="T10" fmla="*/ 0 w 586"/>
                <a:gd name="T11" fmla="*/ 575 h 599"/>
                <a:gd name="T12" fmla="*/ 0 w 586"/>
                <a:gd name="T13" fmla="*/ 599 h 599"/>
                <a:gd name="T14" fmla="*/ 120 w 586"/>
                <a:gd name="T15" fmla="*/ 432 h 599"/>
                <a:gd name="T16" fmla="*/ 370 w 586"/>
                <a:gd name="T17" fmla="*/ 282 h 599"/>
                <a:gd name="T18" fmla="*/ 612 w 586"/>
                <a:gd name="T19" fmla="*/ 138 h 599"/>
                <a:gd name="T20" fmla="*/ 851 w 586"/>
                <a:gd name="T21" fmla="*/ 0 h 599"/>
                <a:gd name="T22" fmla="*/ 851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7">
              <a:extLst>
                <a:ext uri="{FF2B5EF4-FFF2-40B4-BE49-F238E27FC236}">
                  <a16:creationId xmlns:a16="http://schemas.microsoft.com/office/drawing/2014/main" id="{8B2A0D1F-34F0-B656-BEC6-7E077D9BCC30}"/>
                </a:ext>
              </a:extLst>
            </p:cNvPr>
            <p:cNvSpPr>
              <a:spLocks/>
            </p:cNvSpPr>
            <p:nvPr/>
          </p:nvSpPr>
          <p:spPr bwMode="hidden">
            <a:xfrm>
              <a:off x="6" y="0"/>
              <a:ext cx="270" cy="252"/>
            </a:xfrm>
            <a:custGeom>
              <a:avLst/>
              <a:gdLst>
                <a:gd name="T0" fmla="*/ 382 w 269"/>
                <a:gd name="T1" fmla="*/ 0 h 252"/>
                <a:gd name="T2" fmla="*/ 364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82 w 269"/>
                <a:gd name="T15" fmla="*/ 0 h 252"/>
                <a:gd name="T16" fmla="*/ 382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Line 28">
              <a:extLst>
                <a:ext uri="{FF2B5EF4-FFF2-40B4-BE49-F238E27FC236}">
                  <a16:creationId xmlns:a16="http://schemas.microsoft.com/office/drawing/2014/main" id="{88672603-36CC-04C9-BC67-7DDDF47DDBDA}"/>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7E8A2433-FEE9-AC9D-3FA4-C5DCC09A2D73}"/>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30">
              <a:extLst>
                <a:ext uri="{FF2B5EF4-FFF2-40B4-BE49-F238E27FC236}">
                  <a16:creationId xmlns:a16="http://schemas.microsoft.com/office/drawing/2014/main" id="{F260F984-5A01-9DFF-F0AD-9E7CF8876C75}"/>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31">
              <a:extLst>
                <a:ext uri="{FF2B5EF4-FFF2-40B4-BE49-F238E27FC236}">
                  <a16:creationId xmlns:a16="http://schemas.microsoft.com/office/drawing/2014/main" id="{F20B6E30-71DD-4A9E-7D78-CA3A22559273}"/>
                </a:ext>
              </a:extLst>
            </p:cNvPr>
            <p:cNvGrpSpPr>
              <a:grpSpLocks/>
            </p:cNvGrpSpPr>
            <p:nvPr/>
          </p:nvGrpSpPr>
          <p:grpSpPr bwMode="auto">
            <a:xfrm>
              <a:off x="1" y="392"/>
              <a:ext cx="5758" cy="1571"/>
              <a:chOff x="1" y="392"/>
              <a:chExt cx="5758" cy="1571"/>
            </a:xfrm>
          </p:grpSpPr>
          <p:sp>
            <p:nvSpPr>
              <p:cNvPr id="21" name="Line 32">
                <a:extLst>
                  <a:ext uri="{FF2B5EF4-FFF2-40B4-BE49-F238E27FC236}">
                    <a16:creationId xmlns:a16="http://schemas.microsoft.com/office/drawing/2014/main" id="{D620311A-E503-FD69-68A4-39B76DB98FDF}"/>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3">
                <a:extLst>
                  <a:ext uri="{FF2B5EF4-FFF2-40B4-BE49-F238E27FC236}">
                    <a16:creationId xmlns:a16="http://schemas.microsoft.com/office/drawing/2014/main" id="{A9B2E280-9071-E097-A8FC-4C07808BA675}"/>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4">
                <a:extLst>
                  <a:ext uri="{FF2B5EF4-FFF2-40B4-BE49-F238E27FC236}">
                    <a16:creationId xmlns:a16="http://schemas.microsoft.com/office/drawing/2014/main" id="{B827B3C5-CB5B-A69D-A959-11D0DA7367C1}"/>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B590CA4A-60CF-CA00-9418-D153D493208E}"/>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355D2276-0F64-5773-7F05-AC06981F9E75}"/>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Line 37">
              <a:extLst>
                <a:ext uri="{FF2B5EF4-FFF2-40B4-BE49-F238E27FC236}">
                  <a16:creationId xmlns:a16="http://schemas.microsoft.com/office/drawing/2014/main" id="{A05D31C6-1FAE-154A-09FB-A21028BA6CF7}"/>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8">
              <a:extLst>
                <a:ext uri="{FF2B5EF4-FFF2-40B4-BE49-F238E27FC236}">
                  <a16:creationId xmlns:a16="http://schemas.microsoft.com/office/drawing/2014/main" id="{BA75A07D-D426-A531-EC7B-4F4892B7AA3D}"/>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159"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p>
        </p:txBody>
      </p:sp>
      <p:sp>
        <p:nvSpPr>
          <p:cNvPr id="5160"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39" name="Rectangle 41">
            <a:extLst>
              <a:ext uri="{FF2B5EF4-FFF2-40B4-BE49-F238E27FC236}">
                <a16:creationId xmlns:a16="http://schemas.microsoft.com/office/drawing/2014/main" id="{F2E597DC-D338-8F6B-4BEA-F402DB85BD8B}"/>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40" name="Rectangle 42">
            <a:extLst>
              <a:ext uri="{FF2B5EF4-FFF2-40B4-BE49-F238E27FC236}">
                <a16:creationId xmlns:a16="http://schemas.microsoft.com/office/drawing/2014/main" id="{A09263CE-008C-D27B-02F3-41DD042B2847}"/>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1" name="Rectangle 43">
            <a:extLst>
              <a:ext uri="{FF2B5EF4-FFF2-40B4-BE49-F238E27FC236}">
                <a16:creationId xmlns:a16="http://schemas.microsoft.com/office/drawing/2014/main" id="{84AE22FB-1D74-7F56-64BD-75A01F83DD54}"/>
              </a:ext>
            </a:extLst>
          </p:cNvPr>
          <p:cNvSpPr>
            <a:spLocks noGrp="1" noChangeArrowheads="1"/>
          </p:cNvSpPr>
          <p:nvPr>
            <p:ph type="sldNum" sz="quarter" idx="12"/>
          </p:nvPr>
        </p:nvSpPr>
        <p:spPr/>
        <p:txBody>
          <a:bodyPr/>
          <a:lstStyle>
            <a:lvl1pPr>
              <a:defRPr/>
            </a:lvl1pPr>
          </a:lstStyle>
          <a:p>
            <a:fld id="{841C00AE-A844-48EF-B5A0-A79DDD07F733}" type="slidenum">
              <a:rPr lang="en-US" altLang="zh-CN"/>
              <a:pPr/>
              <a:t>‹#›</a:t>
            </a:fld>
            <a:endParaRPr lang="en-US" altLang="zh-CN"/>
          </a:p>
        </p:txBody>
      </p:sp>
    </p:spTree>
    <p:extLst>
      <p:ext uri="{BB962C8B-B14F-4D97-AF65-F5344CB8AC3E}">
        <p14:creationId xmlns:p14="http://schemas.microsoft.com/office/powerpoint/2010/main" val="922409798"/>
      </p:ext>
    </p:extLst>
  </p:cSld>
  <p:clrMapOvr>
    <a:overrideClrMapping bg1="dk2" tx1="lt1" bg2="dk1"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9FD38790-AAA7-C37A-9B9F-F3CFE64835D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5C8EDCC2-0E4D-B49F-251F-1849D79897F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B635FBEC-793F-3D63-B68C-6E3D2BD1442B}"/>
              </a:ext>
            </a:extLst>
          </p:cNvPr>
          <p:cNvSpPr>
            <a:spLocks noGrp="1" noChangeArrowheads="1"/>
          </p:cNvSpPr>
          <p:nvPr>
            <p:ph type="sldNum" sz="quarter" idx="12"/>
          </p:nvPr>
        </p:nvSpPr>
        <p:spPr>
          <a:ln/>
        </p:spPr>
        <p:txBody>
          <a:bodyPr/>
          <a:lstStyle>
            <a:lvl1pPr>
              <a:defRPr/>
            </a:lvl1pPr>
          </a:lstStyle>
          <a:p>
            <a:fld id="{4D718B0C-94DF-487D-B202-A20F0F220614}" type="slidenum">
              <a:rPr lang="en-US" altLang="zh-CN"/>
              <a:pPr/>
              <a:t>‹#›</a:t>
            </a:fld>
            <a:endParaRPr lang="en-US" altLang="zh-CN"/>
          </a:p>
        </p:txBody>
      </p:sp>
    </p:spTree>
    <p:extLst>
      <p:ext uri="{BB962C8B-B14F-4D97-AF65-F5344CB8AC3E}">
        <p14:creationId xmlns:p14="http://schemas.microsoft.com/office/powerpoint/2010/main" val="3104758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0">
            <a:extLst>
              <a:ext uri="{FF2B5EF4-FFF2-40B4-BE49-F238E27FC236}">
                <a16:creationId xmlns:a16="http://schemas.microsoft.com/office/drawing/2014/main" id="{ABE8373D-B6B1-A0F7-219D-C3C2DE37090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C10A6CBC-A57F-F417-F11E-CE5744BE8FA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42F25AB6-8B5A-53C8-AFE0-9579CEA2A831}"/>
              </a:ext>
            </a:extLst>
          </p:cNvPr>
          <p:cNvSpPr>
            <a:spLocks noGrp="1" noChangeArrowheads="1"/>
          </p:cNvSpPr>
          <p:nvPr>
            <p:ph type="sldNum" sz="quarter" idx="12"/>
          </p:nvPr>
        </p:nvSpPr>
        <p:spPr>
          <a:ln/>
        </p:spPr>
        <p:txBody>
          <a:bodyPr/>
          <a:lstStyle>
            <a:lvl1pPr>
              <a:defRPr/>
            </a:lvl1pPr>
          </a:lstStyle>
          <a:p>
            <a:fld id="{81CB6CE1-5FEC-4BD5-9CF6-AAF909DF3940}" type="slidenum">
              <a:rPr lang="en-US" altLang="zh-CN"/>
              <a:pPr/>
              <a:t>‹#›</a:t>
            </a:fld>
            <a:endParaRPr lang="en-US" altLang="zh-CN"/>
          </a:p>
        </p:txBody>
      </p:sp>
    </p:spTree>
    <p:extLst>
      <p:ext uri="{BB962C8B-B14F-4D97-AF65-F5344CB8AC3E}">
        <p14:creationId xmlns:p14="http://schemas.microsoft.com/office/powerpoint/2010/main" val="1955856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0">
            <a:extLst>
              <a:ext uri="{FF2B5EF4-FFF2-40B4-BE49-F238E27FC236}">
                <a16:creationId xmlns:a16="http://schemas.microsoft.com/office/drawing/2014/main" id="{3543D5C6-9378-9C9B-EED5-B724B438555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3E47D8B7-6113-F93B-08B0-4A825E54528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58725798-E569-A6CA-BE21-768FC1EE4BF8}"/>
              </a:ext>
            </a:extLst>
          </p:cNvPr>
          <p:cNvSpPr>
            <a:spLocks noGrp="1" noChangeArrowheads="1"/>
          </p:cNvSpPr>
          <p:nvPr>
            <p:ph type="sldNum" sz="quarter" idx="12"/>
          </p:nvPr>
        </p:nvSpPr>
        <p:spPr>
          <a:ln/>
        </p:spPr>
        <p:txBody>
          <a:bodyPr/>
          <a:lstStyle>
            <a:lvl1pPr>
              <a:defRPr/>
            </a:lvl1pPr>
          </a:lstStyle>
          <a:p>
            <a:fld id="{9EAD217A-2C0F-456F-8DD9-CB3BEE9AAF66}" type="slidenum">
              <a:rPr lang="en-US" altLang="zh-CN"/>
              <a:pPr/>
              <a:t>‹#›</a:t>
            </a:fld>
            <a:endParaRPr lang="en-US" altLang="zh-CN"/>
          </a:p>
        </p:txBody>
      </p:sp>
    </p:spTree>
    <p:extLst>
      <p:ext uri="{BB962C8B-B14F-4D97-AF65-F5344CB8AC3E}">
        <p14:creationId xmlns:p14="http://schemas.microsoft.com/office/powerpoint/2010/main" val="957392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0">
            <a:extLst>
              <a:ext uri="{FF2B5EF4-FFF2-40B4-BE49-F238E27FC236}">
                <a16:creationId xmlns:a16="http://schemas.microsoft.com/office/drawing/2014/main" id="{B217472C-A00E-3301-222F-1102C80026F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a:extLst>
              <a:ext uri="{FF2B5EF4-FFF2-40B4-BE49-F238E27FC236}">
                <a16:creationId xmlns:a16="http://schemas.microsoft.com/office/drawing/2014/main" id="{33987F00-0D05-0B64-CDEA-AC0C3432BF5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a:extLst>
              <a:ext uri="{FF2B5EF4-FFF2-40B4-BE49-F238E27FC236}">
                <a16:creationId xmlns:a16="http://schemas.microsoft.com/office/drawing/2014/main" id="{5479D70C-BE9F-1398-5775-D2684765EF95}"/>
              </a:ext>
            </a:extLst>
          </p:cNvPr>
          <p:cNvSpPr>
            <a:spLocks noGrp="1" noChangeArrowheads="1"/>
          </p:cNvSpPr>
          <p:nvPr>
            <p:ph type="sldNum" sz="quarter" idx="12"/>
          </p:nvPr>
        </p:nvSpPr>
        <p:spPr>
          <a:ln/>
        </p:spPr>
        <p:txBody>
          <a:bodyPr/>
          <a:lstStyle>
            <a:lvl1pPr>
              <a:defRPr/>
            </a:lvl1pPr>
          </a:lstStyle>
          <a:p>
            <a:fld id="{0F3931D4-CA8C-401B-A987-2DF2DE251504}" type="slidenum">
              <a:rPr lang="en-US" altLang="zh-CN"/>
              <a:pPr/>
              <a:t>‹#›</a:t>
            </a:fld>
            <a:endParaRPr lang="en-US" altLang="zh-CN"/>
          </a:p>
        </p:txBody>
      </p:sp>
    </p:spTree>
    <p:extLst>
      <p:ext uri="{BB962C8B-B14F-4D97-AF65-F5344CB8AC3E}">
        <p14:creationId xmlns:p14="http://schemas.microsoft.com/office/powerpoint/2010/main" val="135448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0">
            <a:extLst>
              <a:ext uri="{FF2B5EF4-FFF2-40B4-BE49-F238E27FC236}">
                <a16:creationId xmlns:a16="http://schemas.microsoft.com/office/drawing/2014/main" id="{C0989D3A-2D53-3C50-8063-B4D39739515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a:extLst>
              <a:ext uri="{FF2B5EF4-FFF2-40B4-BE49-F238E27FC236}">
                <a16:creationId xmlns:a16="http://schemas.microsoft.com/office/drawing/2014/main" id="{224E1A75-6859-DCDB-6E01-8B8A96A59EB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a:extLst>
              <a:ext uri="{FF2B5EF4-FFF2-40B4-BE49-F238E27FC236}">
                <a16:creationId xmlns:a16="http://schemas.microsoft.com/office/drawing/2014/main" id="{6398669D-F172-B011-146F-FC1DADC6A70A}"/>
              </a:ext>
            </a:extLst>
          </p:cNvPr>
          <p:cNvSpPr>
            <a:spLocks noGrp="1" noChangeArrowheads="1"/>
          </p:cNvSpPr>
          <p:nvPr>
            <p:ph type="sldNum" sz="quarter" idx="12"/>
          </p:nvPr>
        </p:nvSpPr>
        <p:spPr>
          <a:ln/>
        </p:spPr>
        <p:txBody>
          <a:bodyPr/>
          <a:lstStyle>
            <a:lvl1pPr>
              <a:defRPr/>
            </a:lvl1pPr>
          </a:lstStyle>
          <a:p>
            <a:fld id="{EFFCB05C-EBD8-40BF-8C9B-2DAAF3E5FD02}" type="slidenum">
              <a:rPr lang="en-US" altLang="zh-CN"/>
              <a:pPr/>
              <a:t>‹#›</a:t>
            </a:fld>
            <a:endParaRPr lang="en-US" altLang="zh-CN"/>
          </a:p>
        </p:txBody>
      </p:sp>
    </p:spTree>
    <p:extLst>
      <p:ext uri="{BB962C8B-B14F-4D97-AF65-F5344CB8AC3E}">
        <p14:creationId xmlns:p14="http://schemas.microsoft.com/office/powerpoint/2010/main" val="3364830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10AC0B09-67A9-E1AB-EE87-72703599EFE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a:extLst>
              <a:ext uri="{FF2B5EF4-FFF2-40B4-BE49-F238E27FC236}">
                <a16:creationId xmlns:a16="http://schemas.microsoft.com/office/drawing/2014/main" id="{66F31666-E9CE-5601-A121-2C28DF1069E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a:extLst>
              <a:ext uri="{FF2B5EF4-FFF2-40B4-BE49-F238E27FC236}">
                <a16:creationId xmlns:a16="http://schemas.microsoft.com/office/drawing/2014/main" id="{009B7CAA-4C8B-CD77-487B-0F53CA93A1FD}"/>
              </a:ext>
            </a:extLst>
          </p:cNvPr>
          <p:cNvSpPr>
            <a:spLocks noGrp="1" noChangeArrowheads="1"/>
          </p:cNvSpPr>
          <p:nvPr>
            <p:ph type="sldNum" sz="quarter" idx="12"/>
          </p:nvPr>
        </p:nvSpPr>
        <p:spPr>
          <a:ln/>
        </p:spPr>
        <p:txBody>
          <a:bodyPr/>
          <a:lstStyle>
            <a:lvl1pPr>
              <a:defRPr/>
            </a:lvl1pPr>
          </a:lstStyle>
          <a:p>
            <a:fld id="{2381EC33-0C3A-47D8-A2F7-EDAF6EE212D4}" type="slidenum">
              <a:rPr lang="en-US" altLang="zh-CN"/>
              <a:pPr/>
              <a:t>‹#›</a:t>
            </a:fld>
            <a:endParaRPr lang="en-US" altLang="zh-CN"/>
          </a:p>
        </p:txBody>
      </p:sp>
    </p:spTree>
    <p:extLst>
      <p:ext uri="{BB962C8B-B14F-4D97-AF65-F5344CB8AC3E}">
        <p14:creationId xmlns:p14="http://schemas.microsoft.com/office/powerpoint/2010/main" val="2984068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F24CAF2A-24BD-DD65-D1E5-910AA91DBE0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97811339-46A5-D576-4DF9-78590B13758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F58549EB-AE08-D643-78CA-488B6DE5B1A1}"/>
              </a:ext>
            </a:extLst>
          </p:cNvPr>
          <p:cNvSpPr>
            <a:spLocks noGrp="1" noChangeArrowheads="1"/>
          </p:cNvSpPr>
          <p:nvPr>
            <p:ph type="sldNum" sz="quarter" idx="12"/>
          </p:nvPr>
        </p:nvSpPr>
        <p:spPr>
          <a:ln/>
        </p:spPr>
        <p:txBody>
          <a:bodyPr/>
          <a:lstStyle>
            <a:lvl1pPr>
              <a:defRPr/>
            </a:lvl1pPr>
          </a:lstStyle>
          <a:p>
            <a:fld id="{4EEE9223-B90E-4621-8CBD-72DB2E822A89}" type="slidenum">
              <a:rPr lang="en-US" altLang="zh-CN"/>
              <a:pPr/>
              <a:t>‹#›</a:t>
            </a:fld>
            <a:endParaRPr lang="en-US" altLang="zh-CN"/>
          </a:p>
        </p:txBody>
      </p:sp>
    </p:spTree>
    <p:extLst>
      <p:ext uri="{BB962C8B-B14F-4D97-AF65-F5344CB8AC3E}">
        <p14:creationId xmlns:p14="http://schemas.microsoft.com/office/powerpoint/2010/main" val="2857371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94649DB7-5493-EF79-AF82-91BFEB1AA2D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0D91ECE2-91C2-C062-80E0-D46D23920BE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862E9BAB-83A7-04C4-3EC8-F6FAB7A0BA48}"/>
              </a:ext>
            </a:extLst>
          </p:cNvPr>
          <p:cNvSpPr>
            <a:spLocks noGrp="1" noChangeArrowheads="1"/>
          </p:cNvSpPr>
          <p:nvPr>
            <p:ph type="sldNum" sz="quarter" idx="12"/>
          </p:nvPr>
        </p:nvSpPr>
        <p:spPr>
          <a:ln/>
        </p:spPr>
        <p:txBody>
          <a:bodyPr/>
          <a:lstStyle>
            <a:lvl1pPr>
              <a:defRPr/>
            </a:lvl1pPr>
          </a:lstStyle>
          <a:p>
            <a:fld id="{F3ABC03E-DF3D-4828-B212-CB1F1AF6958E}" type="slidenum">
              <a:rPr lang="en-US" altLang="zh-CN"/>
              <a:pPr/>
              <a:t>‹#›</a:t>
            </a:fld>
            <a:endParaRPr lang="en-US" altLang="zh-CN"/>
          </a:p>
        </p:txBody>
      </p:sp>
    </p:spTree>
    <p:extLst>
      <p:ext uri="{BB962C8B-B14F-4D97-AF65-F5344CB8AC3E}">
        <p14:creationId xmlns:p14="http://schemas.microsoft.com/office/powerpoint/2010/main" val="2853388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0BB64CBC-2E50-30D0-0DCF-B852B30BBBB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968A0859-DA38-8197-1D29-CAE067375C0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3BC8AF59-B7BA-CA30-CF03-F77C99D457E7}"/>
              </a:ext>
            </a:extLst>
          </p:cNvPr>
          <p:cNvSpPr>
            <a:spLocks noGrp="1" noChangeArrowheads="1"/>
          </p:cNvSpPr>
          <p:nvPr>
            <p:ph type="sldNum" sz="quarter" idx="12"/>
          </p:nvPr>
        </p:nvSpPr>
        <p:spPr>
          <a:ln/>
        </p:spPr>
        <p:txBody>
          <a:bodyPr/>
          <a:lstStyle>
            <a:lvl1pPr>
              <a:defRPr/>
            </a:lvl1pPr>
          </a:lstStyle>
          <a:p>
            <a:fld id="{F527B655-09FF-470C-8956-799ADCEEB563}" type="slidenum">
              <a:rPr lang="en-US" altLang="zh-CN"/>
              <a:pPr/>
              <a:t>‹#›</a:t>
            </a:fld>
            <a:endParaRPr lang="en-US" altLang="zh-CN"/>
          </a:p>
        </p:txBody>
      </p:sp>
    </p:spTree>
    <p:extLst>
      <p:ext uri="{BB962C8B-B14F-4D97-AF65-F5344CB8AC3E}">
        <p14:creationId xmlns:p14="http://schemas.microsoft.com/office/powerpoint/2010/main" val="2021837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1718961F-68D4-74EB-C954-7B3B1BF7B78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EC834225-ED75-80CE-1097-DFA6263206A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FCB6F40B-CBBC-F94F-24DD-A622653CE5A3}"/>
              </a:ext>
            </a:extLst>
          </p:cNvPr>
          <p:cNvSpPr>
            <a:spLocks noGrp="1" noChangeArrowheads="1"/>
          </p:cNvSpPr>
          <p:nvPr>
            <p:ph type="sldNum" sz="quarter" idx="12"/>
          </p:nvPr>
        </p:nvSpPr>
        <p:spPr>
          <a:ln/>
        </p:spPr>
        <p:txBody>
          <a:bodyPr/>
          <a:lstStyle>
            <a:lvl1pPr>
              <a:defRPr/>
            </a:lvl1pPr>
          </a:lstStyle>
          <a:p>
            <a:fld id="{190DD682-3DF4-41A1-AE95-BB57C950A179}" type="slidenum">
              <a:rPr lang="en-US" altLang="zh-CN"/>
              <a:pPr/>
              <a:t>‹#›</a:t>
            </a:fld>
            <a:endParaRPr lang="en-US" altLang="zh-CN"/>
          </a:p>
        </p:txBody>
      </p:sp>
    </p:spTree>
    <p:extLst>
      <p:ext uri="{BB962C8B-B14F-4D97-AF65-F5344CB8AC3E}">
        <p14:creationId xmlns:p14="http://schemas.microsoft.com/office/powerpoint/2010/main" val="3134874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4D99"/>
            </a:gs>
            <a:gs pos="89999">
              <a:srgbClr val="002B56"/>
            </a:gs>
            <a:gs pos="100000">
              <a:srgbClr val="002850"/>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7FF97897-DFFA-C1FA-D7AE-4B6F60268F5D}"/>
              </a:ext>
            </a:extLst>
          </p:cNvPr>
          <p:cNvGrpSpPr>
            <a:grpSpLocks/>
          </p:cNvGrpSpPr>
          <p:nvPr/>
        </p:nvGrpSpPr>
        <p:grpSpPr bwMode="auto">
          <a:xfrm>
            <a:off x="1588" y="0"/>
            <a:ext cx="9148762" cy="6851650"/>
            <a:chOff x="1" y="0"/>
            <a:chExt cx="5763" cy="4316"/>
          </a:xfrm>
        </p:grpSpPr>
        <p:sp>
          <p:nvSpPr>
            <p:cNvPr id="4099" name="Freeform 3">
              <a:extLst>
                <a:ext uri="{FF2B5EF4-FFF2-40B4-BE49-F238E27FC236}">
                  <a16:creationId xmlns:a16="http://schemas.microsoft.com/office/drawing/2014/main" id="{7EB29B3F-EEA2-D568-D133-29B5E9EA8ABA}"/>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100" name="Freeform 4">
              <a:extLst>
                <a:ext uri="{FF2B5EF4-FFF2-40B4-BE49-F238E27FC236}">
                  <a16:creationId xmlns:a16="http://schemas.microsoft.com/office/drawing/2014/main" id="{17547E9A-E57E-4CCE-651C-3BCA366FDC22}"/>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101" name="Freeform 5">
              <a:extLst>
                <a:ext uri="{FF2B5EF4-FFF2-40B4-BE49-F238E27FC236}">
                  <a16:creationId xmlns:a16="http://schemas.microsoft.com/office/drawing/2014/main" id="{3DB0BFEE-8112-B988-F50B-8E6C44D0D4F2}"/>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grpSp>
          <p:nvGrpSpPr>
            <p:cNvPr id="1035" name="Group 6">
              <a:extLst>
                <a:ext uri="{FF2B5EF4-FFF2-40B4-BE49-F238E27FC236}">
                  <a16:creationId xmlns:a16="http://schemas.microsoft.com/office/drawing/2014/main" id="{AC8F74B5-A109-6EA1-196B-76A1CA3D66BB}"/>
                </a:ext>
              </a:extLst>
            </p:cNvPr>
            <p:cNvGrpSpPr>
              <a:grpSpLocks/>
            </p:cNvGrpSpPr>
            <p:nvPr/>
          </p:nvGrpSpPr>
          <p:grpSpPr bwMode="auto">
            <a:xfrm>
              <a:off x="288" y="0"/>
              <a:ext cx="5098" cy="4316"/>
              <a:chOff x="288" y="0"/>
              <a:chExt cx="5098" cy="4316"/>
            </a:xfrm>
          </p:grpSpPr>
          <p:sp>
            <p:nvSpPr>
              <p:cNvPr id="4103" name="Freeform 7">
                <a:extLst>
                  <a:ext uri="{FF2B5EF4-FFF2-40B4-BE49-F238E27FC236}">
                    <a16:creationId xmlns:a16="http://schemas.microsoft.com/office/drawing/2014/main" id="{7788CD16-5325-1438-6CFC-1BD21121C340}"/>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4" name="Freeform 8">
                <a:extLst>
                  <a:ext uri="{FF2B5EF4-FFF2-40B4-BE49-F238E27FC236}">
                    <a16:creationId xmlns:a16="http://schemas.microsoft.com/office/drawing/2014/main" id="{C41951F3-6CDA-0CED-18A3-67CFFCDCB26B}"/>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5" name="Freeform 9">
                <a:extLst>
                  <a:ext uri="{FF2B5EF4-FFF2-40B4-BE49-F238E27FC236}">
                    <a16:creationId xmlns:a16="http://schemas.microsoft.com/office/drawing/2014/main" id="{16A0BE10-FED3-FFD0-0625-66C7ED2F53CD}"/>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6" name="Freeform 10">
                <a:extLst>
                  <a:ext uri="{FF2B5EF4-FFF2-40B4-BE49-F238E27FC236}">
                    <a16:creationId xmlns:a16="http://schemas.microsoft.com/office/drawing/2014/main" id="{650128FE-A5EF-1545-72DE-838B262F1B04}"/>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7" name="Freeform 11">
                <a:extLst>
                  <a:ext uri="{FF2B5EF4-FFF2-40B4-BE49-F238E27FC236}">
                    <a16:creationId xmlns:a16="http://schemas.microsoft.com/office/drawing/2014/main" id="{DAFD0537-2F5B-92C8-BD62-C13F9BD4E536}"/>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8" name="Freeform 12">
                <a:extLst>
                  <a:ext uri="{FF2B5EF4-FFF2-40B4-BE49-F238E27FC236}">
                    <a16:creationId xmlns:a16="http://schemas.microsoft.com/office/drawing/2014/main" id="{AC007EF9-0B88-0ED7-8FA9-88A7FFFA973E}"/>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09" name="Freeform 13">
                <a:extLst>
                  <a:ext uri="{FF2B5EF4-FFF2-40B4-BE49-F238E27FC236}">
                    <a16:creationId xmlns:a16="http://schemas.microsoft.com/office/drawing/2014/main" id="{DFEBCD6F-0155-8E5F-5B3D-B36E91ACB92B}"/>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0" name="Freeform 14">
                <a:extLst>
                  <a:ext uri="{FF2B5EF4-FFF2-40B4-BE49-F238E27FC236}">
                    <a16:creationId xmlns:a16="http://schemas.microsoft.com/office/drawing/2014/main" id="{1E669ECB-89A2-3A9B-81A2-B386C9BD6C47}"/>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1" name="Freeform 15">
                <a:extLst>
                  <a:ext uri="{FF2B5EF4-FFF2-40B4-BE49-F238E27FC236}">
                    <a16:creationId xmlns:a16="http://schemas.microsoft.com/office/drawing/2014/main" id="{51AC3042-DE75-C2DF-2A5D-89CD3168DC26}"/>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2" name="Freeform 16">
                <a:extLst>
                  <a:ext uri="{FF2B5EF4-FFF2-40B4-BE49-F238E27FC236}">
                    <a16:creationId xmlns:a16="http://schemas.microsoft.com/office/drawing/2014/main" id="{E5E6CCA3-53E6-A4D8-3292-CF309E86D654}"/>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3" name="Freeform 17">
                <a:extLst>
                  <a:ext uri="{FF2B5EF4-FFF2-40B4-BE49-F238E27FC236}">
                    <a16:creationId xmlns:a16="http://schemas.microsoft.com/office/drawing/2014/main" id="{1CC72683-3D0C-6C29-D3DF-F34AA050A935}"/>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4" name="Freeform 18">
                <a:extLst>
                  <a:ext uri="{FF2B5EF4-FFF2-40B4-BE49-F238E27FC236}">
                    <a16:creationId xmlns:a16="http://schemas.microsoft.com/office/drawing/2014/main" id="{83C8F250-A581-B656-8908-5F8FAA3DD81A}"/>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sp>
            <p:nvSpPr>
              <p:cNvPr id="4115" name="Freeform 19">
                <a:extLst>
                  <a:ext uri="{FF2B5EF4-FFF2-40B4-BE49-F238E27FC236}">
                    <a16:creationId xmlns:a16="http://schemas.microsoft.com/office/drawing/2014/main" id="{6888D2BF-452F-5402-B968-F33EC47DD871}"/>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a:p>
            </p:txBody>
          </p:sp>
        </p:grpSp>
        <p:sp>
          <p:nvSpPr>
            <p:cNvPr id="4116" name="Freeform 20">
              <a:extLst>
                <a:ext uri="{FF2B5EF4-FFF2-40B4-BE49-F238E27FC236}">
                  <a16:creationId xmlns:a16="http://schemas.microsoft.com/office/drawing/2014/main" id="{DE2C2223-EEBB-0FC0-577A-EBEB393E6AB3}"/>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117" name="Freeform 21">
              <a:extLst>
                <a:ext uri="{FF2B5EF4-FFF2-40B4-BE49-F238E27FC236}">
                  <a16:creationId xmlns:a16="http://schemas.microsoft.com/office/drawing/2014/main" id="{41A91BEE-526C-8BF7-CA67-A3D5236F60A4}"/>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a:p>
          </p:txBody>
        </p:sp>
        <p:sp>
          <p:nvSpPr>
            <p:cNvPr id="4118" name="Freeform 22">
              <a:extLst>
                <a:ext uri="{FF2B5EF4-FFF2-40B4-BE49-F238E27FC236}">
                  <a16:creationId xmlns:a16="http://schemas.microsoft.com/office/drawing/2014/main" id="{FDC38D99-CDD2-BF45-4CEF-5DCDB4411587}"/>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39" name="Freeform 23">
              <a:extLst>
                <a:ext uri="{FF2B5EF4-FFF2-40B4-BE49-F238E27FC236}">
                  <a16:creationId xmlns:a16="http://schemas.microsoft.com/office/drawing/2014/main" id="{2C37267D-2430-D683-FB85-87FA2694A6FC}"/>
                </a:ext>
              </a:extLst>
            </p:cNvPr>
            <p:cNvSpPr>
              <a:spLocks/>
            </p:cNvSpPr>
            <p:nvPr/>
          </p:nvSpPr>
          <p:spPr bwMode="hidden">
            <a:xfrm>
              <a:off x="5041" y="0"/>
              <a:ext cx="719" cy="845"/>
            </a:xfrm>
            <a:custGeom>
              <a:avLst/>
              <a:gdLst>
                <a:gd name="T0" fmla="*/ 966 w 717"/>
                <a:gd name="T1" fmla="*/ 845 h 845"/>
                <a:gd name="T2" fmla="*/ 966 w 717"/>
                <a:gd name="T3" fmla="*/ 821 h 845"/>
                <a:gd name="T4" fmla="*/ 800 w 717"/>
                <a:gd name="T5" fmla="*/ 605 h 845"/>
                <a:gd name="T6" fmla="*/ 519 w 717"/>
                <a:gd name="T7" fmla="*/ 396 h 845"/>
                <a:gd name="T8" fmla="*/ 334 w 717"/>
                <a:gd name="T9" fmla="*/ 192 h 845"/>
                <a:gd name="T10" fmla="*/ 17 w 717"/>
                <a:gd name="T11" fmla="*/ 0 h 845"/>
                <a:gd name="T12" fmla="*/ 0 w 717"/>
                <a:gd name="T13" fmla="*/ 0 h 845"/>
                <a:gd name="T14" fmla="*/ 322 w 717"/>
                <a:gd name="T15" fmla="*/ 198 h 845"/>
                <a:gd name="T16" fmla="*/ 513 w 717"/>
                <a:gd name="T17" fmla="*/ 408 h 845"/>
                <a:gd name="T18" fmla="*/ 794 w 717"/>
                <a:gd name="T19" fmla="*/ 623 h 845"/>
                <a:gd name="T20" fmla="*/ 966 w 717"/>
                <a:gd name="T21" fmla="*/ 845 h 845"/>
                <a:gd name="T22" fmla="*/ 966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0" name="Freeform 24">
              <a:extLst>
                <a:ext uri="{FF2B5EF4-FFF2-40B4-BE49-F238E27FC236}">
                  <a16:creationId xmlns:a16="http://schemas.microsoft.com/office/drawing/2014/main" id="{BC7DB72D-7AD0-1203-5423-2928D9FF730A}"/>
                </a:ext>
              </a:extLst>
            </p:cNvPr>
            <p:cNvSpPr>
              <a:spLocks/>
            </p:cNvSpPr>
            <p:nvPr/>
          </p:nvSpPr>
          <p:spPr bwMode="hidden">
            <a:xfrm>
              <a:off x="5352" y="0"/>
              <a:ext cx="408" cy="414"/>
            </a:xfrm>
            <a:custGeom>
              <a:avLst/>
              <a:gdLst>
                <a:gd name="T0" fmla="*/ 520 w 407"/>
                <a:gd name="T1" fmla="*/ 414 h 414"/>
                <a:gd name="T2" fmla="*/ 520 w 407"/>
                <a:gd name="T3" fmla="*/ 396 h 414"/>
                <a:gd name="T4" fmla="*/ 335 w 407"/>
                <a:gd name="T5" fmla="*/ 192 h 414"/>
                <a:gd name="T6" fmla="*/ 12 w 407"/>
                <a:gd name="T7" fmla="*/ 0 h 414"/>
                <a:gd name="T8" fmla="*/ 0 w 407"/>
                <a:gd name="T9" fmla="*/ 0 h 414"/>
                <a:gd name="T10" fmla="*/ 108 w 407"/>
                <a:gd name="T11" fmla="*/ 102 h 414"/>
                <a:gd name="T12" fmla="*/ 329 w 407"/>
                <a:gd name="T13" fmla="*/ 204 h 414"/>
                <a:gd name="T14" fmla="*/ 520 w 407"/>
                <a:gd name="T15" fmla="*/ 414 h 414"/>
                <a:gd name="T16" fmla="*/ 520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21" name="Freeform 25">
              <a:extLst>
                <a:ext uri="{FF2B5EF4-FFF2-40B4-BE49-F238E27FC236}">
                  <a16:creationId xmlns:a16="http://schemas.microsoft.com/office/drawing/2014/main" id="{D71BDE44-D132-5D2F-A6DB-B8C9383D6429}"/>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a:p>
          </p:txBody>
        </p:sp>
        <p:sp>
          <p:nvSpPr>
            <p:cNvPr id="1042" name="Freeform 26">
              <a:extLst>
                <a:ext uri="{FF2B5EF4-FFF2-40B4-BE49-F238E27FC236}">
                  <a16:creationId xmlns:a16="http://schemas.microsoft.com/office/drawing/2014/main" id="{9F40DF55-D967-DCAB-00C0-DB62380B0B97}"/>
                </a:ext>
              </a:extLst>
            </p:cNvPr>
            <p:cNvSpPr>
              <a:spLocks/>
            </p:cNvSpPr>
            <p:nvPr/>
          </p:nvSpPr>
          <p:spPr bwMode="hidden">
            <a:xfrm>
              <a:off x="6" y="0"/>
              <a:ext cx="588" cy="599"/>
            </a:xfrm>
            <a:custGeom>
              <a:avLst/>
              <a:gdLst>
                <a:gd name="T0" fmla="*/ 851 w 586"/>
                <a:gd name="T1" fmla="*/ 0 h 599"/>
                <a:gd name="T2" fmla="*/ 824 w 586"/>
                <a:gd name="T3" fmla="*/ 0 h 599"/>
                <a:gd name="T4" fmla="*/ 600 w 586"/>
                <a:gd name="T5" fmla="*/ 132 h 599"/>
                <a:gd name="T6" fmla="*/ 370 w 586"/>
                <a:gd name="T7" fmla="*/ 270 h 599"/>
                <a:gd name="T8" fmla="*/ 120 w 586"/>
                <a:gd name="T9" fmla="*/ 420 h 599"/>
                <a:gd name="T10" fmla="*/ 0 w 586"/>
                <a:gd name="T11" fmla="*/ 575 h 599"/>
                <a:gd name="T12" fmla="*/ 0 w 586"/>
                <a:gd name="T13" fmla="*/ 599 h 599"/>
                <a:gd name="T14" fmla="*/ 120 w 586"/>
                <a:gd name="T15" fmla="*/ 432 h 599"/>
                <a:gd name="T16" fmla="*/ 370 w 586"/>
                <a:gd name="T17" fmla="*/ 282 h 599"/>
                <a:gd name="T18" fmla="*/ 612 w 586"/>
                <a:gd name="T19" fmla="*/ 138 h 599"/>
                <a:gd name="T20" fmla="*/ 851 w 586"/>
                <a:gd name="T21" fmla="*/ 0 h 599"/>
                <a:gd name="T22" fmla="*/ 851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27">
              <a:extLst>
                <a:ext uri="{FF2B5EF4-FFF2-40B4-BE49-F238E27FC236}">
                  <a16:creationId xmlns:a16="http://schemas.microsoft.com/office/drawing/2014/main" id="{EC0005D9-4698-932A-1E7A-2F5D6E569B48}"/>
                </a:ext>
              </a:extLst>
            </p:cNvPr>
            <p:cNvSpPr>
              <a:spLocks/>
            </p:cNvSpPr>
            <p:nvPr/>
          </p:nvSpPr>
          <p:spPr bwMode="hidden">
            <a:xfrm>
              <a:off x="6" y="0"/>
              <a:ext cx="270" cy="252"/>
            </a:xfrm>
            <a:custGeom>
              <a:avLst/>
              <a:gdLst>
                <a:gd name="T0" fmla="*/ 382 w 269"/>
                <a:gd name="T1" fmla="*/ 0 h 252"/>
                <a:gd name="T2" fmla="*/ 364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82 w 269"/>
                <a:gd name="T15" fmla="*/ 0 h 252"/>
                <a:gd name="T16" fmla="*/ 382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Line 28">
              <a:extLst>
                <a:ext uri="{FF2B5EF4-FFF2-40B4-BE49-F238E27FC236}">
                  <a16:creationId xmlns:a16="http://schemas.microsoft.com/office/drawing/2014/main" id="{E7089592-26CD-9738-F2E7-BA4AD09CF468}"/>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 name="Line 29">
              <a:extLst>
                <a:ext uri="{FF2B5EF4-FFF2-40B4-BE49-F238E27FC236}">
                  <a16:creationId xmlns:a16="http://schemas.microsoft.com/office/drawing/2014/main" id="{856ACA55-9419-F36D-2425-8551F7C66422}"/>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6" name="Line 30">
              <a:extLst>
                <a:ext uri="{FF2B5EF4-FFF2-40B4-BE49-F238E27FC236}">
                  <a16:creationId xmlns:a16="http://schemas.microsoft.com/office/drawing/2014/main" id="{1DAD84A7-FC8F-A1CB-9A11-FE2E7F6E93D0}"/>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7" name="Group 31">
              <a:extLst>
                <a:ext uri="{FF2B5EF4-FFF2-40B4-BE49-F238E27FC236}">
                  <a16:creationId xmlns:a16="http://schemas.microsoft.com/office/drawing/2014/main" id="{E707633B-EDCC-C5B4-ED9B-4879ADFFECAE}"/>
                </a:ext>
              </a:extLst>
            </p:cNvPr>
            <p:cNvGrpSpPr>
              <a:grpSpLocks/>
            </p:cNvGrpSpPr>
            <p:nvPr/>
          </p:nvGrpSpPr>
          <p:grpSpPr bwMode="auto">
            <a:xfrm>
              <a:off x="1" y="392"/>
              <a:ext cx="5758" cy="1571"/>
              <a:chOff x="1" y="392"/>
              <a:chExt cx="5758" cy="1571"/>
            </a:xfrm>
          </p:grpSpPr>
          <p:sp>
            <p:nvSpPr>
              <p:cNvPr id="1050" name="Line 32">
                <a:extLst>
                  <a:ext uri="{FF2B5EF4-FFF2-40B4-BE49-F238E27FC236}">
                    <a16:creationId xmlns:a16="http://schemas.microsoft.com/office/drawing/2014/main" id="{9F50C445-8865-F982-98F8-099432EC342C}"/>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1" name="Line 33">
                <a:extLst>
                  <a:ext uri="{FF2B5EF4-FFF2-40B4-BE49-F238E27FC236}">
                    <a16:creationId xmlns:a16="http://schemas.microsoft.com/office/drawing/2014/main" id="{6773BFDE-D3BE-412A-2B57-B0C59F58D26B}"/>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2" name="Line 34">
                <a:extLst>
                  <a:ext uri="{FF2B5EF4-FFF2-40B4-BE49-F238E27FC236}">
                    <a16:creationId xmlns:a16="http://schemas.microsoft.com/office/drawing/2014/main" id="{CA404201-16A3-5744-45CC-8D37BB43D3CD}"/>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3" name="Line 35">
                <a:extLst>
                  <a:ext uri="{FF2B5EF4-FFF2-40B4-BE49-F238E27FC236}">
                    <a16:creationId xmlns:a16="http://schemas.microsoft.com/office/drawing/2014/main" id="{B15602B7-0F38-29A5-B547-407781611272}"/>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 name="Line 36">
                <a:extLst>
                  <a:ext uri="{FF2B5EF4-FFF2-40B4-BE49-F238E27FC236}">
                    <a16:creationId xmlns:a16="http://schemas.microsoft.com/office/drawing/2014/main" id="{E0F92306-FB1E-A5C4-04E4-CABAA7990478}"/>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8" name="Line 37">
              <a:extLst>
                <a:ext uri="{FF2B5EF4-FFF2-40B4-BE49-F238E27FC236}">
                  <a16:creationId xmlns:a16="http://schemas.microsoft.com/office/drawing/2014/main" id="{DDCBD5D0-8C8E-5415-3F19-3C0B66DA5462}"/>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9" name="Line 38">
              <a:extLst>
                <a:ext uri="{FF2B5EF4-FFF2-40B4-BE49-F238E27FC236}">
                  <a16:creationId xmlns:a16="http://schemas.microsoft.com/office/drawing/2014/main" id="{19C568A3-5062-73D0-BF35-DCD893BFD412}"/>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35" name="Rectangle 39">
            <a:extLst>
              <a:ext uri="{FF2B5EF4-FFF2-40B4-BE49-F238E27FC236}">
                <a16:creationId xmlns:a16="http://schemas.microsoft.com/office/drawing/2014/main" id="{8C13161A-C64D-7B8B-8C78-79D93CFEA5BE}"/>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4136" name="Rectangle 40">
            <a:extLst>
              <a:ext uri="{FF2B5EF4-FFF2-40B4-BE49-F238E27FC236}">
                <a16:creationId xmlns:a16="http://schemas.microsoft.com/office/drawing/2014/main" id="{674624CA-B70A-80EF-A8F6-25EE56A14A41}"/>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4137" name="Rectangle 41">
            <a:extLst>
              <a:ext uri="{FF2B5EF4-FFF2-40B4-BE49-F238E27FC236}">
                <a16:creationId xmlns:a16="http://schemas.microsoft.com/office/drawing/2014/main" id="{DEA99D77-A17C-018E-5C9C-204592DB5C87}"/>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4138" name="Rectangle 42">
            <a:extLst>
              <a:ext uri="{FF2B5EF4-FFF2-40B4-BE49-F238E27FC236}">
                <a16:creationId xmlns:a16="http://schemas.microsoft.com/office/drawing/2014/main" id="{C26704BC-5DD3-359D-EFC1-5306D6DF63CC}"/>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00000"/>
                  </a:outerShdw>
                </a:effectLst>
              </a:defRPr>
            </a:lvl1pPr>
          </a:lstStyle>
          <a:p>
            <a:fld id="{0A0E4537-D8DB-43B7-99AF-26941F60B10B}" type="slidenum">
              <a:rPr lang="en-US" altLang="zh-CN"/>
              <a:pPr/>
              <a:t>‹#›</a:t>
            </a:fld>
            <a:endParaRPr lang="en-US" altLang="zh-CN"/>
          </a:p>
        </p:txBody>
      </p:sp>
      <p:sp>
        <p:nvSpPr>
          <p:cNvPr id="4139" name="Rectangle 43">
            <a:extLst>
              <a:ext uri="{FF2B5EF4-FFF2-40B4-BE49-F238E27FC236}">
                <a16:creationId xmlns:a16="http://schemas.microsoft.com/office/drawing/2014/main" id="{6FF8B739-2E84-63B5-FEB4-204F73734DEE}"/>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5040" r:id="rId1"/>
    <p:sldLayoutId id="2147485030" r:id="rId2"/>
    <p:sldLayoutId id="2147485031" r:id="rId3"/>
    <p:sldLayoutId id="2147485032" r:id="rId4"/>
    <p:sldLayoutId id="2147485033" r:id="rId5"/>
    <p:sldLayoutId id="2147485034" r:id="rId6"/>
    <p:sldLayoutId id="2147485035" r:id="rId7"/>
    <p:sldLayoutId id="2147485036" r:id="rId8"/>
    <p:sldLayoutId id="2147485037" r:id="rId9"/>
    <p:sldLayoutId id="2147485038" r:id="rId10"/>
    <p:sldLayoutId id="2147485039"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087F3C4-3213-E23E-F8C3-B4B67AE3C6BF}"/>
              </a:ext>
            </a:extLst>
          </p:cNvPr>
          <p:cNvSpPr>
            <a:spLocks noGrp="1" noChangeArrowheads="1"/>
          </p:cNvSpPr>
          <p:nvPr>
            <p:ph type="ctrTitle"/>
          </p:nvPr>
        </p:nvSpPr>
        <p:spPr>
          <a:xfrm>
            <a:off x="612775" y="1692275"/>
            <a:ext cx="8062913" cy="1736725"/>
          </a:xfrm>
        </p:spPr>
        <p:txBody>
          <a:bodyPr/>
          <a:lstStyle/>
          <a:p>
            <a:pPr eaLnBrk="1" hangingPunct="1">
              <a:defRPr/>
            </a:pPr>
            <a:r>
              <a:rPr lang="zh-CN" altLang="en-US" dirty="0"/>
              <a:t>泛型（类属）程序设计</a:t>
            </a:r>
          </a:p>
        </p:txBody>
      </p:sp>
      <p:sp>
        <p:nvSpPr>
          <p:cNvPr id="35843" name="Rectangle 3">
            <a:extLst>
              <a:ext uri="{FF2B5EF4-FFF2-40B4-BE49-F238E27FC236}">
                <a16:creationId xmlns:a16="http://schemas.microsoft.com/office/drawing/2014/main" id="{644D08B0-593F-D35D-C80E-E695E75B9A3B}"/>
              </a:ext>
            </a:extLst>
          </p:cNvPr>
          <p:cNvSpPr>
            <a:spLocks noGrp="1" noChangeArrowheads="1"/>
          </p:cNvSpPr>
          <p:nvPr>
            <p:ph type="subTitle" idx="1"/>
          </p:nvPr>
        </p:nvSpPr>
        <p:spPr/>
        <p:txBody>
          <a:bodyPr/>
          <a:lstStyle/>
          <a:p>
            <a:pPr eaLnBrk="1" hangingPunct="1">
              <a:defRPr/>
            </a:pPr>
            <a:r>
              <a:rPr lang="zh-CN" altLang="en-US" dirty="0"/>
              <a:t>基于</a:t>
            </a:r>
            <a:r>
              <a:rPr lang="en-US" altLang="zh-CN" dirty="0"/>
              <a:t>STL</a:t>
            </a:r>
            <a:r>
              <a:rPr lang="zh-CN" altLang="en-US" dirty="0"/>
              <a:t>的编程</a:t>
            </a:r>
            <a:endParaRPr lang="zh-CN"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0F38224-82EF-2A8C-C414-B0C19FBBC77C}"/>
              </a:ext>
            </a:extLst>
          </p:cNvPr>
          <p:cNvSpPr>
            <a:spLocks noGrp="1" noChangeArrowheads="1"/>
          </p:cNvSpPr>
          <p:nvPr>
            <p:ph type="title"/>
          </p:nvPr>
        </p:nvSpPr>
        <p:spPr>
          <a:xfrm>
            <a:off x="457200" y="255588"/>
            <a:ext cx="8229600" cy="1157287"/>
          </a:xfrm>
        </p:spPr>
        <p:txBody>
          <a:bodyPr/>
          <a:lstStyle/>
          <a:p>
            <a:pPr eaLnBrk="1" hangingPunct="1">
              <a:defRPr/>
            </a:pPr>
            <a:r>
              <a:rPr lang="zh-CN" altLang="en-US" dirty="0"/>
              <a:t>什么是</a:t>
            </a:r>
            <a:r>
              <a:rPr lang="en-GB" altLang="zh-CN" dirty="0"/>
              <a:t>STL</a:t>
            </a:r>
            <a:r>
              <a:rPr lang="zh-CN" altLang="en-US" dirty="0"/>
              <a:t>？</a:t>
            </a:r>
          </a:p>
        </p:txBody>
      </p:sp>
      <p:sp>
        <p:nvSpPr>
          <p:cNvPr id="34819" name="Rectangle 3">
            <a:extLst>
              <a:ext uri="{FF2B5EF4-FFF2-40B4-BE49-F238E27FC236}">
                <a16:creationId xmlns:a16="http://schemas.microsoft.com/office/drawing/2014/main" id="{F07E9C13-EEDA-D482-49B7-B75AFFFE2E7B}"/>
              </a:ext>
            </a:extLst>
          </p:cNvPr>
          <p:cNvSpPr>
            <a:spLocks noGrp="1" noChangeArrowheads="1"/>
          </p:cNvSpPr>
          <p:nvPr>
            <p:ph type="body" idx="1"/>
          </p:nvPr>
        </p:nvSpPr>
        <p:spPr>
          <a:xfrm>
            <a:off x="323850" y="1627188"/>
            <a:ext cx="8459788" cy="4970462"/>
          </a:xfrm>
        </p:spPr>
        <p:txBody>
          <a:bodyPr>
            <a:normAutofit/>
          </a:bodyPr>
          <a:lstStyle/>
          <a:p>
            <a:pPr marL="357188" indent="-357188" eaLnBrk="1" hangingPunct="1">
              <a:lnSpc>
                <a:spcPct val="110000"/>
              </a:lnSpc>
              <a:defRPr/>
            </a:pPr>
            <a:r>
              <a:rPr lang="en-GB" altLang="zh-CN" dirty="0"/>
              <a:t>C++</a:t>
            </a:r>
            <a:r>
              <a:rPr lang="zh-CN" altLang="en-US" dirty="0"/>
              <a:t>提供了一个基于模板实现的</a:t>
            </a:r>
            <a:r>
              <a:rPr lang="zh-CN" altLang="en-GB" dirty="0"/>
              <a:t>标准模板库（</a:t>
            </a:r>
            <a:r>
              <a:rPr lang="en-US" altLang="zh-CN" dirty="0"/>
              <a:t>Standard Template Library</a:t>
            </a:r>
            <a:r>
              <a:rPr lang="zh-CN" altLang="en-US" dirty="0"/>
              <a:t>，简称</a:t>
            </a:r>
            <a:r>
              <a:rPr lang="en-GB" altLang="zh-CN" dirty="0">
                <a:solidFill>
                  <a:srgbClr val="FFC000"/>
                </a:solidFill>
              </a:rPr>
              <a:t>STL</a:t>
            </a:r>
            <a:r>
              <a:rPr lang="zh-CN" altLang="en-GB" dirty="0"/>
              <a:t>）。</a:t>
            </a:r>
            <a:endParaRPr lang="en-US" altLang="zh-CN" dirty="0"/>
          </a:p>
          <a:p>
            <a:pPr marL="757238" lvl="1" indent="-357188" eaLnBrk="1" hangingPunct="1">
              <a:lnSpc>
                <a:spcPct val="110000"/>
              </a:lnSpc>
              <a:defRPr/>
            </a:pPr>
            <a:r>
              <a:rPr lang="en-US" altLang="zh-CN" dirty="0"/>
              <a:t>STL</a:t>
            </a:r>
            <a:r>
              <a:rPr lang="zh-CN" altLang="en-US" dirty="0"/>
              <a:t>基于模板实现了一些面向</a:t>
            </a:r>
            <a:r>
              <a:rPr lang="zh-CN" altLang="en-US" dirty="0">
                <a:solidFill>
                  <a:srgbClr val="FFC000"/>
                </a:solidFill>
              </a:rPr>
              <a:t>序列数据</a:t>
            </a:r>
            <a:r>
              <a:rPr lang="zh-CN" altLang="en-US" dirty="0"/>
              <a:t>的</a:t>
            </a:r>
            <a:r>
              <a:rPr lang="zh-CN" altLang="en-US" dirty="0">
                <a:solidFill>
                  <a:srgbClr val="FFC000"/>
                </a:solidFill>
              </a:rPr>
              <a:t>表示</a:t>
            </a:r>
            <a:r>
              <a:rPr lang="zh-CN" altLang="en-US" dirty="0"/>
              <a:t>及常用的</a:t>
            </a:r>
            <a:r>
              <a:rPr lang="zh-CN" altLang="en-US" dirty="0">
                <a:solidFill>
                  <a:srgbClr val="FFC000"/>
                </a:solidFill>
              </a:rPr>
              <a:t>操作</a:t>
            </a:r>
            <a:r>
              <a:rPr lang="zh-CN" altLang="en-US" dirty="0"/>
              <a:t>。</a:t>
            </a:r>
            <a:endParaRPr lang="en-US" altLang="zh-CN" dirty="0"/>
          </a:p>
          <a:p>
            <a:pPr marL="757238" lvl="1" indent="-357188" eaLnBrk="1" hangingPunct="1">
              <a:lnSpc>
                <a:spcPct val="110000"/>
              </a:lnSpc>
              <a:defRPr/>
            </a:pPr>
            <a:r>
              <a:rPr lang="en-US" altLang="zh-CN" dirty="0"/>
              <a:t>STL</a:t>
            </a:r>
            <a:r>
              <a:rPr lang="zh-CN" altLang="en-US" dirty="0"/>
              <a:t>支持了一种抽象的编程模式。</a:t>
            </a:r>
            <a:endParaRPr lang="en-US" altLang="zh-CN" dirty="0"/>
          </a:p>
          <a:p>
            <a:pPr marL="1157288" lvl="2" indent="-357188" eaLnBrk="1" hangingPunct="1">
              <a:lnSpc>
                <a:spcPct val="110000"/>
              </a:lnSpc>
              <a:defRPr/>
            </a:pPr>
            <a:r>
              <a:rPr lang="zh-CN" altLang="en-US" dirty="0"/>
              <a:t>隐藏了一些低级的程序元素，如数组、链表、循环等。</a:t>
            </a:r>
            <a:endParaRPr lang="en-US" altLang="zh-CN" dirty="0"/>
          </a:p>
          <a:p>
            <a:pPr marL="757238" lvl="1" indent="-357188" eaLnBrk="1" hangingPunct="1">
              <a:lnSpc>
                <a:spcPct val="110000"/>
              </a:lnSpc>
              <a:defRPr/>
            </a:pPr>
            <a:r>
              <a:rPr lang="en-US" altLang="zh-CN" dirty="0"/>
              <a:t>STL</a:t>
            </a:r>
            <a:r>
              <a:rPr lang="zh-CN" altLang="en-US" dirty="0"/>
              <a:t>由多人参与设计，</a:t>
            </a:r>
            <a:r>
              <a:rPr lang="en-US" altLang="zh-CN" dirty="0"/>
              <a:t>C++</a:t>
            </a:r>
            <a:r>
              <a:rPr lang="zh-CN" altLang="en-US" dirty="0"/>
              <a:t>设计者更看重</a:t>
            </a:r>
            <a:r>
              <a:rPr lang="en-US" altLang="zh-CN" dirty="0"/>
              <a:t>C++</a:t>
            </a:r>
            <a:r>
              <a:rPr lang="zh-CN" altLang="en-US" dirty="0"/>
              <a:t>的基于</a:t>
            </a:r>
            <a:r>
              <a:rPr lang="en-US" altLang="zh-CN" dirty="0"/>
              <a:t>STL</a:t>
            </a:r>
            <a:r>
              <a:rPr lang="zh-CN" altLang="en-US" dirty="0"/>
              <a:t>的编程！</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1670DCA-E198-19BB-E918-E5E1E9F36ED9}"/>
              </a:ext>
            </a:extLst>
          </p:cNvPr>
          <p:cNvSpPr>
            <a:spLocks noGrp="1"/>
          </p:cNvSpPr>
          <p:nvPr>
            <p:ph idx="1"/>
          </p:nvPr>
        </p:nvSpPr>
        <p:spPr>
          <a:xfrm>
            <a:off x="457200" y="1341438"/>
            <a:ext cx="8229600" cy="5111750"/>
          </a:xfrm>
        </p:spPr>
        <p:txBody>
          <a:bodyPr>
            <a:normAutofit fontScale="77500" lnSpcReduction="20000"/>
          </a:bodyPr>
          <a:lstStyle/>
          <a:p>
            <a:pPr marL="428625" eaLnBrk="1" hangingPunct="1">
              <a:lnSpc>
                <a:spcPct val="120000"/>
              </a:lnSpc>
              <a:defRPr/>
            </a:pPr>
            <a:r>
              <a:rPr lang="zh-CN" altLang="en-GB" dirty="0">
                <a:solidFill>
                  <a:schemeClr val="folHlink"/>
                </a:solidFill>
              </a:rPr>
              <a:t>容器</a:t>
            </a:r>
            <a:endParaRPr lang="en-US" altLang="zh-CN" dirty="0"/>
          </a:p>
          <a:p>
            <a:pPr marL="828675" lvl="1" eaLnBrk="1" hangingPunct="1">
              <a:lnSpc>
                <a:spcPct val="120000"/>
              </a:lnSpc>
              <a:defRPr/>
            </a:pPr>
            <a:r>
              <a:rPr lang="zh-CN" altLang="en-US" dirty="0"/>
              <a:t>容器</a:t>
            </a:r>
            <a:r>
              <a:rPr lang="zh-CN" altLang="en-GB" dirty="0"/>
              <a:t>用于存储</a:t>
            </a:r>
            <a:r>
              <a:rPr lang="zh-CN" altLang="en-US" dirty="0">
                <a:solidFill>
                  <a:srgbClr val="FFC000"/>
                </a:solidFill>
              </a:rPr>
              <a:t>序列化</a:t>
            </a:r>
            <a:r>
              <a:rPr lang="zh-CN" altLang="en-US" dirty="0"/>
              <a:t>的</a:t>
            </a:r>
            <a:r>
              <a:rPr lang="zh-CN" altLang="en-GB" dirty="0"/>
              <a:t>数据</a:t>
            </a:r>
            <a:r>
              <a:rPr lang="zh-CN" altLang="en-US" dirty="0"/>
              <a:t>，</a:t>
            </a:r>
            <a:r>
              <a:rPr lang="zh-CN" altLang="en-GB" dirty="0"/>
              <a:t>如：</a:t>
            </a:r>
            <a:r>
              <a:rPr lang="zh-CN" altLang="en-US" dirty="0"/>
              <a:t>向量</a:t>
            </a:r>
            <a:r>
              <a:rPr lang="zh-CN" altLang="en-GB" dirty="0"/>
              <a:t>、</a:t>
            </a:r>
            <a:r>
              <a:rPr lang="zh-CN" altLang="en-US" dirty="0"/>
              <a:t>队列、</a:t>
            </a:r>
            <a:r>
              <a:rPr lang="zh-CN" altLang="en-GB" dirty="0"/>
              <a:t>栈</a:t>
            </a:r>
            <a:r>
              <a:rPr lang="zh-CN" altLang="en-US" dirty="0"/>
              <a:t>、</a:t>
            </a:r>
            <a:r>
              <a:rPr lang="zh-CN" altLang="en-GB" dirty="0"/>
              <a:t>集合等</a:t>
            </a:r>
            <a:r>
              <a:rPr lang="zh-CN" altLang="en-US" dirty="0"/>
              <a:t>。</a:t>
            </a:r>
            <a:endParaRPr lang="zh-CN" altLang="en-GB" dirty="0"/>
          </a:p>
          <a:p>
            <a:pPr marL="428625" eaLnBrk="1" hangingPunct="1">
              <a:lnSpc>
                <a:spcPct val="120000"/>
              </a:lnSpc>
              <a:defRPr/>
            </a:pPr>
            <a:r>
              <a:rPr lang="zh-CN" altLang="en-GB" dirty="0">
                <a:solidFill>
                  <a:schemeClr val="folHlink"/>
                </a:solidFill>
              </a:rPr>
              <a:t>算法</a:t>
            </a:r>
            <a:r>
              <a:rPr lang="zh-CN" altLang="en-US" dirty="0">
                <a:solidFill>
                  <a:schemeClr val="folHlink"/>
                </a:solidFill>
              </a:rPr>
              <a:t>（</a:t>
            </a:r>
            <a:r>
              <a:rPr lang="zh-CN" altLang="en-GB" dirty="0">
                <a:solidFill>
                  <a:schemeClr val="folHlink"/>
                </a:solidFill>
              </a:rPr>
              <a:t>函数</a:t>
            </a:r>
            <a:r>
              <a:rPr lang="zh-CN" altLang="en-US" dirty="0">
                <a:solidFill>
                  <a:schemeClr val="folHlink"/>
                </a:solidFill>
              </a:rPr>
              <a:t>）</a:t>
            </a:r>
            <a:endParaRPr lang="en-US" altLang="zh-CN" dirty="0"/>
          </a:p>
          <a:p>
            <a:pPr marL="828675" lvl="1" eaLnBrk="1" hangingPunct="1">
              <a:lnSpc>
                <a:spcPct val="120000"/>
              </a:lnSpc>
              <a:defRPr/>
            </a:pPr>
            <a:r>
              <a:rPr lang="zh-CN" altLang="en-US" dirty="0"/>
              <a:t>算法</a:t>
            </a:r>
            <a:r>
              <a:rPr lang="zh-CN" altLang="en-GB" dirty="0"/>
              <a:t>用于对容器</a:t>
            </a:r>
            <a:r>
              <a:rPr lang="zh-CN" altLang="en-US" dirty="0"/>
              <a:t>中的数据元素</a:t>
            </a:r>
            <a:r>
              <a:rPr lang="zh-CN" altLang="en-GB" dirty="0"/>
              <a:t>进行</a:t>
            </a:r>
            <a:r>
              <a:rPr lang="zh-CN" altLang="en-US" dirty="0"/>
              <a:t>一些常用</a:t>
            </a:r>
            <a:r>
              <a:rPr lang="zh-CN" altLang="en-GB" dirty="0">
                <a:solidFill>
                  <a:srgbClr val="FFC000"/>
                </a:solidFill>
              </a:rPr>
              <a:t>操作</a:t>
            </a:r>
            <a:r>
              <a:rPr lang="zh-CN" altLang="en-US" dirty="0"/>
              <a:t>，</a:t>
            </a:r>
            <a:r>
              <a:rPr lang="zh-CN" altLang="en-GB" dirty="0"/>
              <a:t>如：排序、</a:t>
            </a:r>
            <a:r>
              <a:rPr lang="zh-CN" altLang="en-US" dirty="0"/>
              <a:t>统计以及自定义操作</a:t>
            </a:r>
            <a:r>
              <a:rPr lang="zh-CN" altLang="en-GB" dirty="0"/>
              <a:t>等</a:t>
            </a:r>
            <a:r>
              <a:rPr lang="zh-CN" altLang="en-US" dirty="0"/>
              <a:t>。</a:t>
            </a:r>
            <a:endParaRPr lang="zh-CN" altLang="en-GB" dirty="0"/>
          </a:p>
          <a:p>
            <a:pPr marL="428625" eaLnBrk="1" hangingPunct="1">
              <a:lnSpc>
                <a:spcPct val="120000"/>
              </a:lnSpc>
              <a:defRPr/>
            </a:pPr>
            <a:r>
              <a:rPr lang="zh-CN" altLang="en-GB" dirty="0">
                <a:solidFill>
                  <a:schemeClr val="folHlink"/>
                </a:solidFill>
              </a:rPr>
              <a:t>迭代器</a:t>
            </a:r>
            <a:endParaRPr lang="en-US" altLang="zh-CN" dirty="0"/>
          </a:p>
          <a:p>
            <a:pPr marL="828675" lvl="1" eaLnBrk="1" hangingPunct="1">
              <a:lnSpc>
                <a:spcPct val="120000"/>
              </a:lnSpc>
              <a:defRPr/>
            </a:pPr>
            <a:r>
              <a:rPr lang="zh-CN" altLang="en-US" dirty="0"/>
              <a:t>迭代器</a:t>
            </a:r>
            <a:r>
              <a:rPr lang="zh-CN" altLang="en-GB" dirty="0"/>
              <a:t>实现了抽象的</a:t>
            </a:r>
            <a:r>
              <a:rPr lang="zh-CN" altLang="en-GB" dirty="0">
                <a:solidFill>
                  <a:srgbClr val="FFC000"/>
                </a:solidFill>
              </a:rPr>
              <a:t>指针</a:t>
            </a:r>
            <a:r>
              <a:rPr lang="zh-CN" altLang="en-GB" dirty="0"/>
              <a:t>功能，</a:t>
            </a:r>
            <a:r>
              <a:rPr lang="zh-CN" altLang="en-US" dirty="0"/>
              <a:t>它们指向容器中的数据元素，用于对容器中的数据元素进行遍历和访问。</a:t>
            </a:r>
            <a:endParaRPr lang="en-US" altLang="zh-CN" dirty="0"/>
          </a:p>
          <a:p>
            <a:pPr marL="828675" lvl="1" eaLnBrk="1" hangingPunct="1">
              <a:lnSpc>
                <a:spcPct val="120000"/>
              </a:lnSpc>
              <a:defRPr/>
            </a:pPr>
            <a:r>
              <a:rPr lang="zh-CN" altLang="en-US" dirty="0">
                <a:solidFill>
                  <a:srgbClr val="FFC000"/>
                </a:solidFill>
              </a:rPr>
              <a:t>迭代器是容器和算法之间的桥梁：</a:t>
            </a:r>
            <a:r>
              <a:rPr lang="zh-CN" altLang="en-US" dirty="0"/>
              <a:t>传给算法的不是容器，而是指向容器中元素的迭代器，算法通过迭代器实现</a:t>
            </a:r>
            <a:r>
              <a:rPr lang="zh-CN" altLang="en-GB" dirty="0"/>
              <a:t>对容器中数据元素</a:t>
            </a:r>
            <a:r>
              <a:rPr lang="zh-CN" altLang="en-US" dirty="0"/>
              <a:t>的</a:t>
            </a:r>
            <a:r>
              <a:rPr lang="zh-CN" altLang="en-GB" dirty="0"/>
              <a:t>访问。</a:t>
            </a:r>
            <a:r>
              <a:rPr lang="zh-CN" altLang="en-US" dirty="0"/>
              <a:t>这样使得算法与容器保持独立，从而提高算法的通用性。</a:t>
            </a:r>
            <a:endParaRPr lang="en-US" altLang="zh-CN" dirty="0"/>
          </a:p>
        </p:txBody>
      </p:sp>
      <p:sp>
        <p:nvSpPr>
          <p:cNvPr id="4" name="Rectangle 2">
            <a:extLst>
              <a:ext uri="{FF2B5EF4-FFF2-40B4-BE49-F238E27FC236}">
                <a16:creationId xmlns:a16="http://schemas.microsoft.com/office/drawing/2014/main" id="{A7B4CB79-0D7C-BABC-7AC2-C6727E4B9B81}"/>
              </a:ext>
            </a:extLst>
          </p:cNvPr>
          <p:cNvSpPr>
            <a:spLocks noGrp="1" noChangeArrowheads="1"/>
          </p:cNvSpPr>
          <p:nvPr>
            <p:ph type="title"/>
          </p:nvPr>
        </p:nvSpPr>
        <p:spPr>
          <a:xfrm>
            <a:off x="457200" y="44450"/>
            <a:ext cx="8229600" cy="1157288"/>
          </a:xfrm>
        </p:spPr>
        <p:txBody>
          <a:bodyPr/>
          <a:lstStyle/>
          <a:p>
            <a:pPr eaLnBrk="1" hangingPunct="1">
              <a:defRPr/>
            </a:pPr>
            <a:r>
              <a:rPr lang="en-GB" altLang="zh-CN" dirty="0"/>
              <a:t>STL</a:t>
            </a:r>
            <a:r>
              <a:rPr lang="zh-CN" altLang="en-US" dirty="0"/>
              <a:t>包含什么？</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B4D19736-09C1-45FC-AE66-BE66D9C30302}"/>
              </a:ext>
            </a:extLst>
          </p:cNvPr>
          <p:cNvSpPr>
            <a:spLocks noGrp="1" noChangeArrowheads="1"/>
          </p:cNvSpPr>
          <p:nvPr>
            <p:ph type="body" idx="1"/>
          </p:nvPr>
        </p:nvSpPr>
        <p:spPr>
          <a:xfrm>
            <a:off x="250825" y="1196975"/>
            <a:ext cx="8497888" cy="5472113"/>
          </a:xfrm>
        </p:spPr>
        <p:txBody>
          <a:bodyPr>
            <a:normAutofit/>
          </a:bodyPr>
          <a:lstStyle/>
          <a:p>
            <a:pPr eaLnBrk="1" hangingPunct="1">
              <a:spcBef>
                <a:spcPts val="228"/>
              </a:spcBef>
              <a:buFont typeface="Wingdings" panose="05000000000000000000" pitchFamily="2" charset="2"/>
              <a:buNone/>
              <a:defRPr/>
            </a:pPr>
            <a:r>
              <a:rPr lang="en-GB" altLang="zh-CN" sz="2200" dirty="0"/>
              <a:t>#include &lt;</a:t>
            </a:r>
            <a:r>
              <a:rPr lang="en-GB" altLang="zh-CN" sz="2200" dirty="0" err="1"/>
              <a:t>iostream</a:t>
            </a:r>
            <a:r>
              <a:rPr lang="en-GB" altLang="zh-CN" sz="2200" dirty="0"/>
              <a:t>&gt;</a:t>
            </a:r>
          </a:p>
          <a:p>
            <a:pPr eaLnBrk="1" hangingPunct="1">
              <a:spcBef>
                <a:spcPts val="228"/>
              </a:spcBef>
              <a:buFont typeface="Wingdings" panose="05000000000000000000" pitchFamily="2" charset="2"/>
              <a:buNone/>
              <a:defRPr/>
            </a:pPr>
            <a:r>
              <a:rPr lang="en-GB" altLang="zh-CN" sz="2200" dirty="0"/>
              <a:t>#include &lt;vector&gt;</a:t>
            </a:r>
          </a:p>
          <a:p>
            <a:pPr eaLnBrk="1" hangingPunct="1">
              <a:spcBef>
                <a:spcPts val="228"/>
              </a:spcBef>
              <a:buFont typeface="Wingdings" panose="05000000000000000000" pitchFamily="2" charset="2"/>
              <a:buNone/>
              <a:defRPr/>
            </a:pPr>
            <a:r>
              <a:rPr lang="en-GB" altLang="zh-CN" sz="2200" dirty="0"/>
              <a:t>#include &lt;algorithm&gt;</a:t>
            </a:r>
          </a:p>
          <a:p>
            <a:pPr eaLnBrk="1" hangingPunct="1">
              <a:spcBef>
                <a:spcPts val="228"/>
              </a:spcBef>
              <a:buFont typeface="Wingdings" panose="05000000000000000000" pitchFamily="2" charset="2"/>
              <a:buNone/>
              <a:defRPr/>
            </a:pPr>
            <a:r>
              <a:rPr lang="en-GB" altLang="zh-CN" sz="2200" dirty="0"/>
              <a:t>#include &lt;numeric&gt;</a:t>
            </a:r>
          </a:p>
          <a:p>
            <a:pPr eaLnBrk="1" hangingPunct="1">
              <a:spcBef>
                <a:spcPts val="228"/>
              </a:spcBef>
              <a:buFont typeface="Wingdings" panose="05000000000000000000" pitchFamily="2" charset="2"/>
              <a:buNone/>
              <a:defRPr/>
            </a:pPr>
            <a:r>
              <a:rPr lang="en-GB" altLang="zh-CN" sz="2200" dirty="0"/>
              <a:t>using namespace </a:t>
            </a:r>
            <a:r>
              <a:rPr lang="en-GB" altLang="zh-CN" sz="2200" dirty="0" err="1"/>
              <a:t>std</a:t>
            </a:r>
            <a:r>
              <a:rPr lang="en-GB" altLang="zh-CN" sz="2200" dirty="0"/>
              <a:t>;</a:t>
            </a:r>
          </a:p>
          <a:p>
            <a:pPr eaLnBrk="1" hangingPunct="1">
              <a:spcBef>
                <a:spcPts val="228"/>
              </a:spcBef>
              <a:buFont typeface="Wingdings" panose="05000000000000000000" pitchFamily="2" charset="2"/>
              <a:buNone/>
              <a:defRPr/>
            </a:pPr>
            <a:r>
              <a:rPr lang="en-US" altLang="zh-CN" sz="2200" dirty="0"/>
              <a:t>void display(</a:t>
            </a:r>
            <a:r>
              <a:rPr lang="en-US" altLang="zh-CN" sz="2200" dirty="0" err="1"/>
              <a:t>int</a:t>
            </a:r>
            <a:r>
              <a:rPr lang="en-US" altLang="zh-CN" sz="2200" dirty="0"/>
              <a:t> x) { </a:t>
            </a:r>
            <a:r>
              <a:rPr lang="en-US" altLang="zh-CN" sz="2200" dirty="0" err="1"/>
              <a:t>cout</a:t>
            </a:r>
            <a:r>
              <a:rPr lang="en-US" altLang="zh-CN" sz="2200" dirty="0"/>
              <a:t> &lt;&lt; ' ' &lt;&lt; x; return; }</a:t>
            </a:r>
            <a:endParaRPr lang="en-GB" altLang="zh-CN" sz="2200" dirty="0"/>
          </a:p>
          <a:p>
            <a:pPr eaLnBrk="1" hangingPunct="1">
              <a:spcBef>
                <a:spcPts val="228"/>
              </a:spcBef>
              <a:buFont typeface="Wingdings" panose="05000000000000000000" pitchFamily="2" charset="2"/>
              <a:buNone/>
              <a:defRPr/>
            </a:pPr>
            <a:r>
              <a:rPr lang="en-GB" altLang="zh-CN" sz="2200" dirty="0" err="1"/>
              <a:t>int</a:t>
            </a:r>
            <a:r>
              <a:rPr lang="en-GB" altLang="zh-CN" sz="2200" dirty="0"/>
              <a:t> main()</a:t>
            </a:r>
          </a:p>
          <a:p>
            <a:pPr eaLnBrk="1" hangingPunct="1">
              <a:spcBef>
                <a:spcPts val="228"/>
              </a:spcBef>
              <a:buFont typeface="Wingdings" panose="05000000000000000000" pitchFamily="2" charset="2"/>
              <a:buNone/>
              <a:defRPr/>
            </a:pPr>
            <a:r>
              <a:rPr lang="en-GB" altLang="zh-CN" sz="2200" dirty="0"/>
              <a:t>{	</a:t>
            </a:r>
            <a:r>
              <a:rPr lang="en-GB" altLang="zh-CN" sz="2200" dirty="0">
                <a:solidFill>
                  <a:srgbClr val="FFC000"/>
                </a:solidFill>
              </a:rPr>
              <a:t>vector</a:t>
            </a:r>
            <a:r>
              <a:rPr lang="en-GB" altLang="zh-CN" sz="2200" dirty="0"/>
              <a:t>&lt;</a:t>
            </a:r>
            <a:r>
              <a:rPr lang="en-GB" altLang="zh-CN" sz="2200" dirty="0" err="1"/>
              <a:t>int</a:t>
            </a:r>
            <a:r>
              <a:rPr lang="en-GB" altLang="zh-CN" sz="2200" dirty="0"/>
              <a:t>&gt; v; //</a:t>
            </a:r>
            <a:r>
              <a:rPr lang="zh-CN" altLang="en-GB" sz="2200" dirty="0"/>
              <a:t>创建</a:t>
            </a:r>
            <a:r>
              <a:rPr lang="zh-CN" altLang="en-GB" sz="2200" dirty="0">
                <a:solidFill>
                  <a:srgbClr val="FFC000"/>
                </a:solidFill>
              </a:rPr>
              <a:t>容器</a:t>
            </a:r>
            <a:r>
              <a:rPr lang="zh-CN" altLang="en-GB" sz="2200" dirty="0"/>
              <a:t>对象</a:t>
            </a:r>
            <a:r>
              <a:rPr lang="en-GB" altLang="zh-CN" sz="2200" dirty="0"/>
              <a:t>v</a:t>
            </a:r>
            <a:r>
              <a:rPr lang="zh-CN" altLang="en-US" sz="2200" dirty="0"/>
              <a:t>，元素类型为</a:t>
            </a:r>
            <a:r>
              <a:rPr lang="en-US" altLang="zh-CN" sz="2200" dirty="0" err="1"/>
              <a:t>int</a:t>
            </a:r>
            <a:endParaRPr lang="en-GB" altLang="zh-CN" sz="2200" dirty="0"/>
          </a:p>
          <a:p>
            <a:pPr eaLnBrk="1" hangingPunct="1">
              <a:spcBef>
                <a:spcPts val="228"/>
              </a:spcBef>
              <a:buFont typeface="Wingdings" panose="05000000000000000000" pitchFamily="2" charset="2"/>
              <a:buNone/>
              <a:defRPr/>
            </a:pPr>
            <a:r>
              <a:rPr lang="zh-CN" altLang="en-GB" sz="2200" dirty="0"/>
              <a:t>	</a:t>
            </a:r>
            <a:r>
              <a:rPr lang="en-GB" altLang="zh-CN" sz="2200" dirty="0" err="1"/>
              <a:t>int</a:t>
            </a:r>
            <a:r>
              <a:rPr lang="en-GB" altLang="zh-CN" sz="2200" dirty="0"/>
              <a:t> x;</a:t>
            </a:r>
          </a:p>
          <a:p>
            <a:pPr eaLnBrk="1" hangingPunct="1">
              <a:spcBef>
                <a:spcPts val="228"/>
              </a:spcBef>
              <a:buFont typeface="Wingdings" panose="05000000000000000000" pitchFamily="2" charset="2"/>
              <a:buNone/>
              <a:defRPr/>
            </a:pPr>
            <a:r>
              <a:rPr lang="en-GB" altLang="zh-CN" sz="2200" dirty="0"/>
              <a:t>	</a:t>
            </a:r>
            <a:r>
              <a:rPr lang="en-GB" altLang="zh-CN" sz="2200" dirty="0" err="1"/>
              <a:t>cin</a:t>
            </a:r>
            <a:r>
              <a:rPr lang="en-GB" altLang="zh-CN" sz="2200" dirty="0"/>
              <a:t> &gt;&gt; x;</a:t>
            </a:r>
          </a:p>
          <a:p>
            <a:pPr eaLnBrk="1" hangingPunct="1">
              <a:spcBef>
                <a:spcPts val="228"/>
              </a:spcBef>
              <a:buFont typeface="Wingdings" panose="05000000000000000000" pitchFamily="2" charset="2"/>
              <a:buNone/>
              <a:defRPr/>
            </a:pPr>
            <a:r>
              <a:rPr lang="en-GB" altLang="zh-CN" sz="2200" dirty="0"/>
              <a:t>	while (x &gt; 0) //</a:t>
            </a:r>
            <a:r>
              <a:rPr lang="zh-CN" altLang="en-GB" sz="2200" dirty="0"/>
              <a:t>生成容器</a:t>
            </a:r>
            <a:r>
              <a:rPr lang="en-GB" altLang="zh-CN" sz="2200" dirty="0"/>
              <a:t>v</a:t>
            </a:r>
            <a:r>
              <a:rPr lang="zh-CN" altLang="en-GB" sz="2200" dirty="0"/>
              <a:t>中的元素</a:t>
            </a:r>
            <a:endParaRPr lang="en-GB" altLang="zh-CN" sz="2200" dirty="0"/>
          </a:p>
          <a:p>
            <a:pPr eaLnBrk="1" hangingPunct="1">
              <a:spcBef>
                <a:spcPts val="228"/>
              </a:spcBef>
              <a:buFont typeface="Wingdings" panose="05000000000000000000" pitchFamily="2" charset="2"/>
              <a:buNone/>
              <a:defRPr/>
            </a:pPr>
            <a:r>
              <a:rPr lang="en-GB" altLang="zh-CN" sz="2200" dirty="0"/>
              <a:t>	{	</a:t>
            </a:r>
            <a:r>
              <a:rPr lang="en-GB" altLang="zh-CN" sz="2200" dirty="0" err="1"/>
              <a:t>v.</a:t>
            </a:r>
            <a:r>
              <a:rPr lang="en-GB" altLang="zh-CN" sz="2200" dirty="0" err="1">
                <a:solidFill>
                  <a:srgbClr val="FFC000"/>
                </a:solidFill>
              </a:rPr>
              <a:t>push_back</a:t>
            </a:r>
            <a:r>
              <a:rPr lang="en-GB" altLang="zh-CN" sz="2200" dirty="0"/>
              <a:t>(x); //</a:t>
            </a:r>
            <a:r>
              <a:rPr lang="zh-CN" altLang="en-GB" sz="2200" dirty="0"/>
              <a:t>往容器</a:t>
            </a:r>
            <a:r>
              <a:rPr lang="en-GB" altLang="zh-CN" sz="2200" dirty="0"/>
              <a:t>v</a:t>
            </a:r>
            <a:r>
              <a:rPr lang="zh-CN" altLang="en-GB" sz="2200" dirty="0"/>
              <a:t>中</a:t>
            </a:r>
            <a:r>
              <a:rPr lang="zh-CN" altLang="en-GB" sz="2200" dirty="0">
                <a:solidFill>
                  <a:srgbClr val="FFC000"/>
                </a:solidFill>
              </a:rPr>
              <a:t>增加</a:t>
            </a:r>
            <a:r>
              <a:rPr lang="zh-CN" altLang="en-GB" sz="2200" dirty="0"/>
              <a:t>一个元素</a:t>
            </a:r>
          </a:p>
          <a:p>
            <a:pPr eaLnBrk="1" hangingPunct="1">
              <a:spcBef>
                <a:spcPts val="228"/>
              </a:spcBef>
              <a:buFont typeface="Wingdings" panose="05000000000000000000" pitchFamily="2" charset="2"/>
              <a:buNone/>
              <a:defRPr/>
            </a:pPr>
            <a:r>
              <a:rPr lang="zh-CN" altLang="en-GB" sz="2200" dirty="0"/>
              <a:t>		</a:t>
            </a:r>
            <a:r>
              <a:rPr lang="en-GB" altLang="zh-CN" sz="2200" dirty="0" err="1"/>
              <a:t>cin</a:t>
            </a:r>
            <a:r>
              <a:rPr lang="en-GB" altLang="zh-CN" sz="2200" dirty="0"/>
              <a:t> &gt;&gt; x;</a:t>
            </a:r>
          </a:p>
          <a:p>
            <a:pPr eaLnBrk="1" hangingPunct="1">
              <a:spcBef>
                <a:spcPts val="228"/>
              </a:spcBef>
              <a:buFont typeface="Wingdings" panose="05000000000000000000" pitchFamily="2" charset="2"/>
              <a:buNone/>
              <a:defRPr/>
            </a:pPr>
            <a:r>
              <a:rPr lang="en-GB" altLang="zh-CN" sz="2200" dirty="0"/>
              <a:t>	}</a:t>
            </a:r>
          </a:p>
        </p:txBody>
      </p:sp>
      <p:sp>
        <p:nvSpPr>
          <p:cNvPr id="3" name="Rectangle 2">
            <a:extLst>
              <a:ext uri="{FF2B5EF4-FFF2-40B4-BE49-F238E27FC236}">
                <a16:creationId xmlns:a16="http://schemas.microsoft.com/office/drawing/2014/main" id="{C0ABA879-5DC5-2985-2D52-7FD2CEA6BACC}"/>
              </a:ext>
            </a:extLst>
          </p:cNvPr>
          <p:cNvSpPr>
            <a:spLocks noGrp="1" noChangeArrowheads="1"/>
          </p:cNvSpPr>
          <p:nvPr>
            <p:ph type="title"/>
          </p:nvPr>
        </p:nvSpPr>
        <p:spPr>
          <a:xfrm>
            <a:off x="457200" y="44450"/>
            <a:ext cx="8229600" cy="792163"/>
          </a:xfrm>
        </p:spPr>
        <p:txBody>
          <a:bodyPr/>
          <a:lstStyle/>
          <a:p>
            <a:pPr eaLnBrk="1" hangingPunct="1">
              <a:defRPr/>
            </a:pPr>
            <a:r>
              <a:rPr lang="zh-CN" altLang="en-US" sz="4000" dirty="0"/>
              <a:t>基于</a:t>
            </a:r>
            <a:r>
              <a:rPr lang="en-GB" altLang="zh-CN" sz="4000" dirty="0"/>
              <a:t>STL</a:t>
            </a:r>
            <a:r>
              <a:rPr lang="zh-CN" altLang="en-US" sz="4000" dirty="0"/>
              <a:t>编程的例子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a:extLst>
              <a:ext uri="{FF2B5EF4-FFF2-40B4-BE49-F238E27FC236}">
                <a16:creationId xmlns:a16="http://schemas.microsoft.com/office/drawing/2014/main" id="{2AD55862-82ED-7070-ACC2-598DD65225B1}"/>
              </a:ext>
            </a:extLst>
          </p:cNvPr>
          <p:cNvSpPr>
            <a:spLocks noGrp="1" noChangeArrowheads="1"/>
          </p:cNvSpPr>
          <p:nvPr>
            <p:ph type="body" idx="1"/>
          </p:nvPr>
        </p:nvSpPr>
        <p:spPr>
          <a:xfrm>
            <a:off x="250825" y="333375"/>
            <a:ext cx="8435975" cy="6335713"/>
          </a:xfrm>
        </p:spPr>
        <p:txBody>
          <a:bodyPr>
            <a:normAutofit fontScale="92500" lnSpcReduction="10000"/>
          </a:bodyPr>
          <a:lstStyle/>
          <a:p>
            <a:pPr eaLnBrk="1" hangingPunct="1">
              <a:lnSpc>
                <a:spcPct val="110000"/>
              </a:lnSpc>
              <a:buFont typeface="Wingdings" panose="05000000000000000000" pitchFamily="2" charset="2"/>
              <a:buNone/>
              <a:defRPr/>
            </a:pPr>
            <a:r>
              <a:rPr lang="en-GB" altLang="zh-CN" sz="2400" dirty="0"/>
              <a:t>	//</a:t>
            </a:r>
            <a:r>
              <a:rPr lang="zh-CN" altLang="en-US" sz="2400" dirty="0"/>
              <a:t>利用</a:t>
            </a:r>
            <a:r>
              <a:rPr lang="zh-CN" altLang="en-US" sz="2400" dirty="0">
                <a:solidFill>
                  <a:srgbClr val="FFC000"/>
                </a:solidFill>
              </a:rPr>
              <a:t>算法</a:t>
            </a:r>
            <a:r>
              <a:rPr lang="en-GB" altLang="zh-CN" sz="2400" dirty="0" err="1"/>
              <a:t>max_element</a:t>
            </a:r>
            <a:r>
              <a:rPr lang="zh-CN" altLang="en-GB" sz="2400" dirty="0"/>
              <a:t>计算并输出容器</a:t>
            </a:r>
            <a:r>
              <a:rPr lang="en-GB" altLang="zh-CN" sz="2400" dirty="0"/>
              <a:t>v</a:t>
            </a:r>
            <a:r>
              <a:rPr lang="zh-CN" altLang="en-GB" sz="2400" dirty="0"/>
              <a:t>中的</a:t>
            </a:r>
            <a:r>
              <a:rPr lang="zh-CN" altLang="en-GB" sz="2400" dirty="0">
                <a:solidFill>
                  <a:srgbClr val="FFC000"/>
                </a:solidFill>
              </a:rPr>
              <a:t>最大元素</a:t>
            </a:r>
          </a:p>
          <a:p>
            <a:pPr eaLnBrk="1" hangingPunct="1">
              <a:lnSpc>
                <a:spcPct val="110000"/>
              </a:lnSpc>
              <a:buFont typeface="Wingdings" panose="05000000000000000000" pitchFamily="2" charset="2"/>
              <a:buNone/>
              <a:defRPr/>
            </a:pPr>
            <a:r>
              <a:rPr lang="zh-CN" altLang="en-GB" sz="2400" dirty="0"/>
              <a:t>	</a:t>
            </a:r>
            <a:r>
              <a:rPr lang="en-GB" altLang="zh-CN" sz="2400" dirty="0" err="1"/>
              <a:t>cout</a:t>
            </a:r>
            <a:r>
              <a:rPr lang="en-GB" altLang="zh-CN" sz="2400" dirty="0"/>
              <a:t> &lt;&lt; "Max = " &lt;&lt; *</a:t>
            </a:r>
            <a:r>
              <a:rPr lang="en-GB" altLang="zh-CN" sz="2400" dirty="0" err="1">
                <a:solidFill>
                  <a:srgbClr val="FFC000"/>
                </a:solidFill>
              </a:rPr>
              <a:t>max_element</a:t>
            </a:r>
            <a:r>
              <a:rPr lang="en-GB" altLang="zh-CN" sz="2400" dirty="0"/>
              <a:t>(</a:t>
            </a:r>
            <a:r>
              <a:rPr lang="en-GB" altLang="zh-CN" sz="2400" dirty="0" err="1">
                <a:solidFill>
                  <a:srgbClr val="FFC000"/>
                </a:solidFill>
              </a:rPr>
              <a:t>v.begin</a:t>
            </a:r>
            <a:r>
              <a:rPr lang="en-GB" altLang="zh-CN" sz="2400" dirty="0">
                <a:solidFill>
                  <a:srgbClr val="FFC000"/>
                </a:solidFill>
              </a:rPr>
              <a:t>()</a:t>
            </a:r>
            <a:r>
              <a:rPr lang="en-GB" altLang="zh-CN" sz="2400" dirty="0"/>
              <a:t>,</a:t>
            </a:r>
            <a:r>
              <a:rPr lang="en-GB" altLang="zh-CN" sz="2400" dirty="0" err="1">
                <a:solidFill>
                  <a:srgbClr val="FFC000"/>
                </a:solidFill>
              </a:rPr>
              <a:t>v.end</a:t>
            </a:r>
            <a:r>
              <a:rPr lang="en-GB" altLang="zh-CN" sz="2400" dirty="0">
                <a:solidFill>
                  <a:srgbClr val="FFC000"/>
                </a:solidFill>
              </a:rPr>
              <a:t>()</a:t>
            </a:r>
            <a:r>
              <a:rPr lang="en-GB" altLang="zh-CN" sz="2400" dirty="0"/>
              <a:t>) </a:t>
            </a:r>
          </a:p>
          <a:p>
            <a:pPr eaLnBrk="1" hangingPunct="1">
              <a:lnSpc>
                <a:spcPct val="110000"/>
              </a:lnSpc>
              <a:buFont typeface="Wingdings" panose="05000000000000000000" pitchFamily="2" charset="2"/>
              <a:buNone/>
              <a:defRPr/>
            </a:pPr>
            <a:r>
              <a:rPr lang="en-GB" altLang="zh-CN" sz="2400" dirty="0"/>
              <a:t>		 &lt;&lt; </a:t>
            </a:r>
            <a:r>
              <a:rPr lang="en-GB" altLang="zh-CN" sz="2400" dirty="0" err="1"/>
              <a:t>endl</a:t>
            </a:r>
            <a:r>
              <a:rPr lang="en-GB" altLang="zh-CN" sz="2400" dirty="0"/>
              <a:t>;</a:t>
            </a:r>
          </a:p>
          <a:p>
            <a:pPr eaLnBrk="1" hangingPunct="1">
              <a:lnSpc>
                <a:spcPct val="110000"/>
              </a:lnSpc>
              <a:buFont typeface="Wingdings" panose="05000000000000000000" pitchFamily="2" charset="2"/>
              <a:buNone/>
              <a:defRPr/>
            </a:pPr>
            <a:r>
              <a:rPr lang="en-GB" altLang="zh-CN" sz="2400" dirty="0"/>
              <a:t>   //</a:t>
            </a:r>
            <a:r>
              <a:rPr lang="zh-CN" altLang="en-US" sz="2400" dirty="0"/>
              <a:t>利用</a:t>
            </a:r>
            <a:r>
              <a:rPr lang="zh-CN" altLang="en-US" sz="2400" dirty="0">
                <a:solidFill>
                  <a:srgbClr val="FFC000"/>
                </a:solidFill>
              </a:rPr>
              <a:t>算法</a:t>
            </a:r>
            <a:r>
              <a:rPr lang="en-GB" altLang="zh-CN" sz="2400" dirty="0"/>
              <a:t>accumulate</a:t>
            </a:r>
            <a:r>
              <a:rPr lang="zh-CN" altLang="en-GB" sz="2400" dirty="0"/>
              <a:t>计算并输出容器</a:t>
            </a:r>
            <a:r>
              <a:rPr lang="en-GB" altLang="zh-CN" sz="2400" dirty="0"/>
              <a:t>v</a:t>
            </a:r>
            <a:r>
              <a:rPr lang="zh-CN" altLang="en-GB" sz="2400" dirty="0"/>
              <a:t>中</a:t>
            </a:r>
            <a:r>
              <a:rPr lang="zh-CN" altLang="en-GB" sz="2400" dirty="0">
                <a:solidFill>
                  <a:srgbClr val="FFC000"/>
                </a:solidFill>
              </a:rPr>
              <a:t>所有元素的和</a:t>
            </a:r>
          </a:p>
          <a:p>
            <a:pPr eaLnBrk="1" hangingPunct="1">
              <a:lnSpc>
                <a:spcPct val="90000"/>
              </a:lnSpc>
              <a:buFont typeface="Wingdings" panose="05000000000000000000" pitchFamily="2" charset="2"/>
              <a:buNone/>
              <a:defRPr/>
            </a:pPr>
            <a:r>
              <a:rPr lang="zh-CN" altLang="en-GB" sz="2400" dirty="0"/>
              <a:t>	</a:t>
            </a:r>
            <a:r>
              <a:rPr lang="en-GB" altLang="zh-CN" sz="2400" dirty="0" err="1"/>
              <a:t>cout</a:t>
            </a:r>
            <a:r>
              <a:rPr lang="en-GB" altLang="zh-CN" sz="2400" dirty="0"/>
              <a:t> &lt;&lt; "Sum = " &lt;&lt; </a:t>
            </a:r>
            <a:r>
              <a:rPr lang="en-GB" altLang="zh-CN" sz="2400" dirty="0">
                <a:solidFill>
                  <a:srgbClr val="FFC000"/>
                </a:solidFill>
              </a:rPr>
              <a:t>accumulate</a:t>
            </a:r>
            <a:r>
              <a:rPr lang="en-GB" altLang="zh-CN" sz="2400" dirty="0"/>
              <a:t>(</a:t>
            </a:r>
            <a:r>
              <a:rPr lang="en-GB" altLang="zh-CN" sz="2400" dirty="0" err="1"/>
              <a:t>v.begin</a:t>
            </a:r>
            <a:r>
              <a:rPr lang="en-GB" altLang="zh-CN" sz="2400" dirty="0"/>
              <a:t>(),</a:t>
            </a:r>
            <a:r>
              <a:rPr lang="en-GB" altLang="zh-CN" sz="2400" dirty="0" err="1"/>
              <a:t>v.end</a:t>
            </a:r>
            <a:r>
              <a:rPr lang="en-GB" altLang="zh-CN" sz="2400" dirty="0"/>
              <a:t>(),0) </a:t>
            </a:r>
          </a:p>
          <a:p>
            <a:pPr eaLnBrk="1" hangingPunct="1">
              <a:lnSpc>
                <a:spcPct val="90000"/>
              </a:lnSpc>
              <a:buFont typeface="Wingdings" panose="05000000000000000000" pitchFamily="2" charset="2"/>
              <a:buNone/>
              <a:defRPr/>
            </a:pPr>
            <a:r>
              <a:rPr lang="en-GB" altLang="zh-CN" sz="2400" dirty="0"/>
              <a:t>		 &lt;&lt; </a:t>
            </a:r>
            <a:r>
              <a:rPr lang="en-GB" altLang="zh-CN" sz="2400" dirty="0" err="1"/>
              <a:t>endl</a:t>
            </a:r>
            <a:r>
              <a:rPr lang="en-GB" altLang="zh-CN" sz="2400" dirty="0"/>
              <a:t>;</a:t>
            </a:r>
          </a:p>
          <a:p>
            <a:pPr eaLnBrk="1" hangingPunct="1">
              <a:lnSpc>
                <a:spcPct val="150000"/>
              </a:lnSpc>
              <a:buFont typeface="Wingdings" panose="05000000000000000000" pitchFamily="2" charset="2"/>
              <a:buNone/>
              <a:defRPr/>
            </a:pPr>
            <a:r>
              <a:rPr lang="en-GB" altLang="zh-CN" sz="2400" dirty="0"/>
              <a:t>	//</a:t>
            </a:r>
            <a:r>
              <a:rPr lang="zh-CN" altLang="en-US" sz="2400" dirty="0"/>
              <a:t>利用</a:t>
            </a:r>
            <a:r>
              <a:rPr lang="zh-CN" altLang="en-US" sz="2400" dirty="0">
                <a:solidFill>
                  <a:srgbClr val="FFC000"/>
                </a:solidFill>
              </a:rPr>
              <a:t>算法</a:t>
            </a:r>
            <a:r>
              <a:rPr lang="en-GB" altLang="zh-CN" sz="2400" dirty="0"/>
              <a:t>sort</a:t>
            </a:r>
            <a:r>
              <a:rPr lang="zh-CN" altLang="en-GB" sz="2400" dirty="0"/>
              <a:t>对容器</a:t>
            </a:r>
            <a:r>
              <a:rPr lang="en-GB" altLang="zh-CN" sz="2400" dirty="0"/>
              <a:t>v</a:t>
            </a:r>
            <a:r>
              <a:rPr lang="zh-CN" altLang="en-GB" sz="2400" dirty="0"/>
              <a:t>中的元素进行</a:t>
            </a:r>
            <a:r>
              <a:rPr lang="zh-CN" altLang="en-GB" sz="2400" dirty="0">
                <a:solidFill>
                  <a:srgbClr val="FFC000"/>
                </a:solidFill>
              </a:rPr>
              <a:t>排序</a:t>
            </a:r>
          </a:p>
          <a:p>
            <a:pPr eaLnBrk="1" hangingPunct="1">
              <a:lnSpc>
                <a:spcPct val="90000"/>
              </a:lnSpc>
              <a:buFont typeface="Wingdings" panose="05000000000000000000" pitchFamily="2" charset="2"/>
              <a:buNone/>
              <a:defRPr/>
            </a:pPr>
            <a:r>
              <a:rPr lang="zh-CN" altLang="en-GB" sz="2400" dirty="0"/>
              <a:t>	</a:t>
            </a:r>
            <a:r>
              <a:rPr lang="en-GB" altLang="zh-CN" sz="2400" dirty="0">
                <a:solidFill>
                  <a:srgbClr val="FFC000"/>
                </a:solidFill>
              </a:rPr>
              <a:t>sort</a:t>
            </a:r>
            <a:r>
              <a:rPr lang="en-GB" altLang="zh-CN" sz="2400" dirty="0"/>
              <a:t>(</a:t>
            </a:r>
            <a:r>
              <a:rPr lang="en-GB" altLang="zh-CN" sz="2400" dirty="0" err="1"/>
              <a:t>v.begin</a:t>
            </a:r>
            <a:r>
              <a:rPr lang="en-GB" altLang="zh-CN" sz="2400" dirty="0"/>
              <a:t>(),</a:t>
            </a:r>
            <a:r>
              <a:rPr lang="en-GB" altLang="zh-CN" sz="2400" dirty="0" err="1"/>
              <a:t>v.end</a:t>
            </a:r>
            <a:r>
              <a:rPr lang="en-GB" altLang="zh-CN" sz="2400" dirty="0"/>
              <a:t>()); </a:t>
            </a:r>
          </a:p>
          <a:p>
            <a:pPr eaLnBrk="1" hangingPunct="1">
              <a:lnSpc>
                <a:spcPct val="150000"/>
              </a:lnSpc>
              <a:buFont typeface="Wingdings" panose="05000000000000000000" pitchFamily="2" charset="2"/>
              <a:buNone/>
              <a:defRPr/>
            </a:pPr>
            <a:r>
              <a:rPr lang="en-GB" altLang="zh-CN" sz="2400" dirty="0"/>
              <a:t>	//</a:t>
            </a:r>
            <a:r>
              <a:rPr lang="zh-CN" altLang="en-US" sz="2400" dirty="0"/>
              <a:t>利用</a:t>
            </a:r>
            <a:r>
              <a:rPr lang="zh-CN" altLang="en-US" sz="2400" dirty="0">
                <a:solidFill>
                  <a:srgbClr val="FFC000"/>
                </a:solidFill>
              </a:rPr>
              <a:t>算法</a:t>
            </a:r>
            <a:r>
              <a:rPr lang="en-GB" altLang="zh-CN" sz="2400" dirty="0" err="1"/>
              <a:t>for_each</a:t>
            </a:r>
            <a:r>
              <a:rPr lang="zh-CN" altLang="en-GB" sz="2400" dirty="0"/>
              <a:t>输出排序结果</a:t>
            </a:r>
          </a:p>
          <a:p>
            <a:pPr eaLnBrk="1" hangingPunct="1">
              <a:lnSpc>
                <a:spcPct val="90000"/>
              </a:lnSpc>
              <a:buFont typeface="Wingdings" panose="05000000000000000000" pitchFamily="2" charset="2"/>
              <a:buNone/>
              <a:defRPr/>
            </a:pPr>
            <a:r>
              <a:rPr lang="en-GB" altLang="zh-CN" sz="2400" dirty="0"/>
              <a:t>	</a:t>
            </a:r>
            <a:r>
              <a:rPr lang="en-GB" altLang="zh-CN" sz="2400" dirty="0" err="1"/>
              <a:t>cout</a:t>
            </a:r>
            <a:r>
              <a:rPr lang="en-GB" altLang="zh-CN" sz="2400" dirty="0"/>
              <a:t> &lt;&lt; "Sorted result is:\n";</a:t>
            </a:r>
          </a:p>
          <a:p>
            <a:pPr eaLnBrk="1" hangingPunct="1">
              <a:lnSpc>
                <a:spcPct val="90000"/>
              </a:lnSpc>
              <a:buFont typeface="Wingdings" panose="05000000000000000000" pitchFamily="2" charset="2"/>
              <a:buNone/>
              <a:defRPr/>
            </a:pPr>
            <a:r>
              <a:rPr lang="en-GB" altLang="zh-CN" sz="2400" dirty="0"/>
              <a:t>	</a:t>
            </a:r>
            <a:r>
              <a:rPr lang="en-GB" altLang="zh-CN" sz="2400" dirty="0" err="1">
                <a:solidFill>
                  <a:srgbClr val="FFC000"/>
                </a:solidFill>
              </a:rPr>
              <a:t>for_each</a:t>
            </a:r>
            <a:r>
              <a:rPr lang="en-GB" altLang="zh-CN" sz="2400" dirty="0"/>
              <a:t>(</a:t>
            </a:r>
            <a:r>
              <a:rPr lang="en-GB" altLang="zh-CN" sz="2400" dirty="0" err="1"/>
              <a:t>v.begin</a:t>
            </a:r>
            <a:r>
              <a:rPr lang="en-GB" altLang="zh-CN" sz="2400" dirty="0"/>
              <a:t>(),</a:t>
            </a:r>
            <a:r>
              <a:rPr lang="en-GB" altLang="zh-CN" sz="2400" dirty="0" err="1"/>
              <a:t>v.end</a:t>
            </a:r>
            <a:r>
              <a:rPr lang="en-GB" altLang="zh-CN" sz="2400" dirty="0"/>
              <a:t>(),</a:t>
            </a:r>
            <a:r>
              <a:rPr lang="en-US" altLang="zh-CN" sz="2400" dirty="0"/>
              <a:t>display</a:t>
            </a:r>
            <a:r>
              <a:rPr lang="en-GB" altLang="zh-CN" sz="2400" dirty="0"/>
              <a:t>);</a:t>
            </a:r>
          </a:p>
          <a:p>
            <a:pPr eaLnBrk="1" hangingPunct="1">
              <a:lnSpc>
                <a:spcPct val="90000"/>
              </a:lnSpc>
              <a:buFont typeface="Wingdings" panose="05000000000000000000" pitchFamily="2" charset="2"/>
              <a:buNone/>
              <a:defRPr/>
            </a:pPr>
            <a:r>
              <a:rPr lang="en-GB" altLang="zh-CN" sz="2400" dirty="0"/>
              <a:t>	</a:t>
            </a:r>
            <a:r>
              <a:rPr lang="en-GB" altLang="zh-CN" sz="2400" dirty="0" err="1"/>
              <a:t>cout</a:t>
            </a:r>
            <a:r>
              <a:rPr lang="en-GB" altLang="zh-CN" sz="2400" dirty="0"/>
              <a:t> &lt;&lt; '\n';</a:t>
            </a:r>
          </a:p>
          <a:p>
            <a:pPr eaLnBrk="1" hangingPunct="1">
              <a:lnSpc>
                <a:spcPct val="160000"/>
              </a:lnSpc>
              <a:buFont typeface="Wingdings" panose="05000000000000000000" pitchFamily="2" charset="2"/>
              <a:buNone/>
              <a:defRPr/>
            </a:pPr>
            <a:r>
              <a:rPr lang="en-GB" altLang="zh-CN" sz="2400" dirty="0"/>
              <a:t>	return 0;</a:t>
            </a:r>
          </a:p>
          <a:p>
            <a:pPr eaLnBrk="1" hangingPunct="1">
              <a:lnSpc>
                <a:spcPct val="90000"/>
              </a:lnSpc>
              <a:buFont typeface="Wingdings" panose="05000000000000000000" pitchFamily="2" charset="2"/>
              <a:buNone/>
              <a:defRPr/>
            </a:pPr>
            <a:r>
              <a:rPr lang="en-GB" altLang="zh-CN" sz="2400" dirty="0"/>
              <a:t>}</a:t>
            </a:r>
          </a:p>
          <a:p>
            <a:pPr eaLnBrk="1" hangingPunct="1">
              <a:lnSpc>
                <a:spcPct val="90000"/>
              </a:lnSpc>
              <a:defRPr/>
            </a:pPr>
            <a:r>
              <a:rPr lang="zh-CN" altLang="en-US" sz="2600" dirty="0"/>
              <a:t>用</a:t>
            </a:r>
            <a:r>
              <a:rPr lang="en-US" altLang="zh-CN" sz="2600" dirty="0"/>
              <a:t>STL</a:t>
            </a:r>
            <a:r>
              <a:rPr lang="zh-CN" altLang="en-US" sz="2600" dirty="0"/>
              <a:t>来实现上述程序的功能不需要涉及一些低级的程序元素，如数组、链表、循环，使得程序设计变得更便捷！</a:t>
            </a:r>
            <a:endParaRPr lang="en-GB" altLang="zh-CN" sz="26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1987">
                                            <p:txEl>
                                              <p:pRg st="14" end="14"/>
                                            </p:txEl>
                                          </p:spTgt>
                                        </p:tgtEl>
                                        <p:attrNameLst>
                                          <p:attrName>style.visibility</p:attrName>
                                        </p:attrNameLst>
                                      </p:cBhvr>
                                      <p:to>
                                        <p:strVal val="visible"/>
                                      </p:to>
                                    </p:set>
                                    <p:anim calcmode="lin" valueType="num">
                                      <p:cBhvr additive="base">
                                        <p:cTn id="7" dur="500" fill="hold"/>
                                        <p:tgtEl>
                                          <p:spTgt spid="41987">
                                            <p:txEl>
                                              <p:pRg st="14" end="1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79CD8-E1BB-DA3E-D860-25932ABA3C24}"/>
              </a:ext>
            </a:extLst>
          </p:cNvPr>
          <p:cNvSpPr>
            <a:spLocks noGrp="1"/>
          </p:cNvSpPr>
          <p:nvPr>
            <p:ph type="title"/>
          </p:nvPr>
        </p:nvSpPr>
        <p:spPr/>
        <p:txBody>
          <a:bodyPr/>
          <a:lstStyle/>
          <a:p>
            <a:pPr eaLnBrk="1" hangingPunct="1">
              <a:defRPr/>
            </a:pPr>
            <a:r>
              <a:rPr lang="zh-CN" altLang="zh-CN" dirty="0"/>
              <a:t>容器</a:t>
            </a:r>
            <a:endParaRPr lang="zh-CN" altLang="en-US" dirty="0"/>
          </a:p>
        </p:txBody>
      </p:sp>
      <p:sp>
        <p:nvSpPr>
          <p:cNvPr id="3" name="内容占位符 2">
            <a:extLst>
              <a:ext uri="{FF2B5EF4-FFF2-40B4-BE49-F238E27FC236}">
                <a16:creationId xmlns:a16="http://schemas.microsoft.com/office/drawing/2014/main" id="{CC35A66F-31E0-9AC8-1443-20629FE9AB4F}"/>
              </a:ext>
            </a:extLst>
          </p:cNvPr>
          <p:cNvSpPr>
            <a:spLocks noGrp="1"/>
          </p:cNvSpPr>
          <p:nvPr>
            <p:ph idx="1"/>
          </p:nvPr>
        </p:nvSpPr>
        <p:spPr>
          <a:xfrm>
            <a:off x="457200" y="1600200"/>
            <a:ext cx="8229600" cy="4997450"/>
          </a:xfrm>
        </p:spPr>
        <p:txBody>
          <a:bodyPr>
            <a:normAutofit/>
          </a:bodyPr>
          <a:lstStyle/>
          <a:p>
            <a:pPr eaLnBrk="1" hangingPunct="1">
              <a:defRPr/>
            </a:pPr>
            <a:r>
              <a:rPr lang="zh-CN" altLang="en-US" dirty="0">
                <a:solidFill>
                  <a:srgbClr val="FFC000"/>
                </a:solidFill>
              </a:rPr>
              <a:t>容器</a:t>
            </a:r>
            <a:r>
              <a:rPr lang="zh-CN" altLang="en-US" dirty="0"/>
              <a:t>用于表示</a:t>
            </a:r>
            <a:r>
              <a:rPr lang="zh-CN" altLang="zh-CN" dirty="0"/>
              <a:t>由同类型元素构成</a:t>
            </a:r>
            <a:r>
              <a:rPr lang="zh-CN" altLang="en-US" dirty="0"/>
              <a:t>的、</a:t>
            </a:r>
            <a:r>
              <a:rPr lang="zh-CN" altLang="zh-CN" dirty="0"/>
              <a:t>长度可变的</a:t>
            </a:r>
            <a:r>
              <a:rPr lang="zh-CN" altLang="en-US" dirty="0"/>
              <a:t>元素序列。</a:t>
            </a:r>
            <a:endParaRPr lang="en-US" altLang="zh-CN" dirty="0"/>
          </a:p>
          <a:p>
            <a:pPr eaLnBrk="1" hangingPunct="1">
              <a:defRPr/>
            </a:pPr>
            <a:r>
              <a:rPr lang="zh-CN" altLang="en-US" dirty="0"/>
              <a:t>容器是由类模板来实现的，模板的参数是容器中元素的类型。</a:t>
            </a:r>
            <a:endParaRPr lang="en-US" altLang="zh-CN" dirty="0"/>
          </a:p>
          <a:p>
            <a:pPr eaLnBrk="1" hangingPunct="1">
              <a:defRPr/>
            </a:pPr>
            <a:r>
              <a:rPr lang="en-US" altLang="zh-CN" dirty="0"/>
              <a:t>STL</a:t>
            </a:r>
            <a:r>
              <a:rPr lang="zh-CN" altLang="en-US" dirty="0"/>
              <a:t>中包含了很多种容器，</a:t>
            </a:r>
            <a:r>
              <a:rPr lang="zh-CN" altLang="en-US" dirty="0">
                <a:solidFill>
                  <a:srgbClr val="FFC000"/>
                </a:solidFill>
              </a:rPr>
              <a:t>不同的容器</a:t>
            </a:r>
            <a:r>
              <a:rPr lang="zh-CN" altLang="en-US" dirty="0"/>
              <a:t>适合于</a:t>
            </a:r>
            <a:r>
              <a:rPr lang="zh-CN" altLang="en-US" dirty="0">
                <a:solidFill>
                  <a:srgbClr val="FFC000"/>
                </a:solidFill>
              </a:rPr>
              <a:t>不同的应用场合</a:t>
            </a:r>
            <a:r>
              <a:rPr lang="zh-CN" altLang="en-US" dirty="0"/>
              <a:t>。</a:t>
            </a: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6E0C93-824A-64F3-C135-4080BDFAFFE0}"/>
              </a:ext>
            </a:extLst>
          </p:cNvPr>
          <p:cNvSpPr>
            <a:spLocks noGrp="1"/>
          </p:cNvSpPr>
          <p:nvPr>
            <p:ph type="title"/>
          </p:nvPr>
        </p:nvSpPr>
        <p:spPr>
          <a:xfrm>
            <a:off x="457200" y="44450"/>
            <a:ext cx="8229600" cy="1139825"/>
          </a:xfrm>
        </p:spPr>
        <p:txBody>
          <a:bodyPr/>
          <a:lstStyle/>
          <a:p>
            <a:pPr>
              <a:defRPr/>
            </a:pPr>
            <a:r>
              <a:rPr lang="en-US" altLang="zh-CN" dirty="0"/>
              <a:t>STL</a:t>
            </a:r>
            <a:r>
              <a:rPr lang="zh-CN" altLang="en-US" dirty="0"/>
              <a:t>的主要容器</a:t>
            </a:r>
          </a:p>
        </p:txBody>
      </p:sp>
      <p:sp>
        <p:nvSpPr>
          <p:cNvPr id="3" name="内容占位符 2">
            <a:extLst>
              <a:ext uri="{FF2B5EF4-FFF2-40B4-BE49-F238E27FC236}">
                <a16:creationId xmlns:a16="http://schemas.microsoft.com/office/drawing/2014/main" id="{7232E1D9-E435-1108-155D-5256DD6EEC91}"/>
              </a:ext>
            </a:extLst>
          </p:cNvPr>
          <p:cNvSpPr>
            <a:spLocks noGrp="1"/>
          </p:cNvSpPr>
          <p:nvPr>
            <p:ph idx="1"/>
          </p:nvPr>
        </p:nvSpPr>
        <p:spPr>
          <a:xfrm>
            <a:off x="457200" y="1341438"/>
            <a:ext cx="8229600" cy="5327650"/>
          </a:xfrm>
        </p:spPr>
        <p:txBody>
          <a:bodyPr>
            <a:normAutofit fontScale="85000" lnSpcReduction="20000"/>
          </a:bodyPr>
          <a:lstStyle/>
          <a:p>
            <a:pPr eaLnBrk="1" hangingPunct="1">
              <a:lnSpc>
                <a:spcPct val="120000"/>
              </a:lnSpc>
              <a:defRPr/>
            </a:pPr>
            <a:r>
              <a:rPr lang="en-GB" altLang="zh-CN" dirty="0"/>
              <a:t>vector&lt;</a:t>
            </a:r>
            <a:r>
              <a:rPr lang="zh-CN" altLang="zh-CN" dirty="0"/>
              <a:t>元素类型</a:t>
            </a:r>
            <a:r>
              <a:rPr lang="en-GB" altLang="zh-CN" dirty="0"/>
              <a:t>&gt;</a:t>
            </a:r>
            <a:endParaRPr lang="en-US" altLang="zh-CN" dirty="0"/>
          </a:p>
          <a:p>
            <a:pPr lvl="1" eaLnBrk="1" hangingPunct="1">
              <a:lnSpc>
                <a:spcPct val="120000"/>
              </a:lnSpc>
              <a:defRPr/>
            </a:pPr>
            <a:r>
              <a:rPr lang="zh-CN" altLang="en-US" dirty="0"/>
              <a:t>用于需要快速定位（访问）任意位置上的元素以及主要在元素序列的尾部增加</a:t>
            </a:r>
            <a:r>
              <a:rPr lang="en-US" altLang="zh-CN" dirty="0"/>
              <a:t>/</a:t>
            </a:r>
            <a:r>
              <a:rPr lang="zh-CN" altLang="en-US" dirty="0"/>
              <a:t>删除元素的场合。</a:t>
            </a:r>
            <a:endParaRPr lang="en-US" altLang="zh-CN" dirty="0"/>
          </a:p>
          <a:p>
            <a:pPr lvl="1" eaLnBrk="1" hangingPunct="1">
              <a:lnSpc>
                <a:spcPct val="120000"/>
              </a:lnSpc>
              <a:defRPr/>
            </a:pPr>
            <a:r>
              <a:rPr lang="zh-CN" altLang="en-US" dirty="0"/>
              <a:t>在头文件</a:t>
            </a:r>
            <a:r>
              <a:rPr lang="en-US" altLang="zh-CN" dirty="0"/>
              <a:t>vector</a:t>
            </a:r>
            <a:r>
              <a:rPr lang="zh-CN" altLang="en-US" dirty="0"/>
              <a:t>中定义，用动态数组实现。</a:t>
            </a:r>
            <a:endParaRPr lang="en-GB" altLang="zh-CN" dirty="0"/>
          </a:p>
          <a:p>
            <a:pPr eaLnBrk="1" hangingPunct="1">
              <a:lnSpc>
                <a:spcPct val="120000"/>
              </a:lnSpc>
              <a:defRPr/>
            </a:pPr>
            <a:r>
              <a:rPr lang="en-GB" altLang="zh-CN" dirty="0"/>
              <a:t>list&lt;</a:t>
            </a:r>
            <a:r>
              <a:rPr lang="zh-CN" altLang="zh-CN" dirty="0"/>
              <a:t>元素类型</a:t>
            </a:r>
            <a:r>
              <a:rPr lang="en-GB" altLang="zh-CN" dirty="0"/>
              <a:t>&gt;</a:t>
            </a:r>
            <a:endParaRPr lang="en-US" altLang="zh-CN" dirty="0"/>
          </a:p>
          <a:p>
            <a:pPr lvl="1" eaLnBrk="1" hangingPunct="1">
              <a:lnSpc>
                <a:spcPct val="120000"/>
              </a:lnSpc>
              <a:defRPr/>
            </a:pPr>
            <a:r>
              <a:rPr lang="zh-CN" altLang="en-US" dirty="0"/>
              <a:t>用于经常在元素序列中任意位置上插入</a:t>
            </a:r>
            <a:r>
              <a:rPr lang="en-US" altLang="zh-CN" dirty="0"/>
              <a:t>/</a:t>
            </a:r>
            <a:r>
              <a:rPr lang="zh-CN" altLang="en-US" dirty="0"/>
              <a:t>删除元素的场合。</a:t>
            </a:r>
            <a:endParaRPr lang="en-US" altLang="zh-CN" dirty="0"/>
          </a:p>
          <a:p>
            <a:pPr lvl="1" eaLnBrk="1" hangingPunct="1">
              <a:lnSpc>
                <a:spcPct val="120000"/>
              </a:lnSpc>
              <a:defRPr/>
            </a:pPr>
            <a:r>
              <a:rPr lang="zh-CN" altLang="en-US" dirty="0"/>
              <a:t>在头文件</a:t>
            </a:r>
            <a:r>
              <a:rPr lang="en-US" altLang="zh-CN" dirty="0"/>
              <a:t>list</a:t>
            </a:r>
            <a:r>
              <a:rPr lang="zh-CN" altLang="en-US" dirty="0"/>
              <a:t>中定义，用双向链表实现。</a:t>
            </a:r>
            <a:endParaRPr lang="en-GB" altLang="zh-CN" dirty="0"/>
          </a:p>
          <a:p>
            <a:pPr eaLnBrk="1" hangingPunct="1">
              <a:lnSpc>
                <a:spcPct val="120000"/>
              </a:lnSpc>
              <a:defRPr/>
            </a:pPr>
            <a:r>
              <a:rPr lang="en-GB" altLang="zh-CN" dirty="0" err="1"/>
              <a:t>deque</a:t>
            </a:r>
            <a:r>
              <a:rPr lang="en-GB" altLang="zh-CN" dirty="0"/>
              <a:t>&lt;</a:t>
            </a:r>
            <a:r>
              <a:rPr lang="zh-CN" altLang="en-US" dirty="0"/>
              <a:t>元素类型</a:t>
            </a:r>
            <a:r>
              <a:rPr lang="en-US" altLang="zh-CN" dirty="0"/>
              <a:t>&gt;</a:t>
            </a:r>
          </a:p>
          <a:p>
            <a:pPr lvl="1" eaLnBrk="1" hangingPunct="1">
              <a:lnSpc>
                <a:spcPct val="120000"/>
              </a:lnSpc>
              <a:defRPr/>
            </a:pPr>
            <a:r>
              <a:rPr lang="zh-CN" altLang="en-US" dirty="0"/>
              <a:t>用于主要在元素序列的两端增加</a:t>
            </a:r>
            <a:r>
              <a:rPr lang="en-US" altLang="zh-CN" dirty="0"/>
              <a:t>/</a:t>
            </a:r>
            <a:r>
              <a:rPr lang="zh-CN" altLang="en-US" dirty="0"/>
              <a:t>删除元素以及需要快速定位（访问）任意位置上的元素的场合。</a:t>
            </a:r>
            <a:endParaRPr lang="en-US" altLang="zh-CN" dirty="0"/>
          </a:p>
          <a:p>
            <a:pPr lvl="1" eaLnBrk="1" hangingPunct="1">
              <a:lnSpc>
                <a:spcPct val="120000"/>
              </a:lnSpc>
              <a:defRPr/>
            </a:pPr>
            <a:r>
              <a:rPr lang="zh-CN" altLang="en-US" dirty="0"/>
              <a:t>在头文件</a:t>
            </a:r>
            <a:r>
              <a:rPr lang="en-US" altLang="zh-CN" dirty="0" err="1"/>
              <a:t>deque</a:t>
            </a:r>
            <a:r>
              <a:rPr lang="zh-CN" altLang="en-US" dirty="0"/>
              <a:t>中定义，用分段的连续空间结构实现。</a:t>
            </a:r>
            <a:endParaRPr lang="en-GB" altLang="zh-C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5343AC7-28B5-7D51-582A-7E52B3E3D29B}"/>
              </a:ext>
            </a:extLst>
          </p:cNvPr>
          <p:cNvSpPr>
            <a:spLocks noGrp="1"/>
          </p:cNvSpPr>
          <p:nvPr>
            <p:ph idx="1"/>
          </p:nvPr>
        </p:nvSpPr>
        <p:spPr>
          <a:xfrm>
            <a:off x="457200" y="366713"/>
            <a:ext cx="8229600" cy="6230937"/>
          </a:xfrm>
        </p:spPr>
        <p:txBody>
          <a:bodyPr>
            <a:normAutofit fontScale="85000" lnSpcReduction="10000"/>
          </a:bodyPr>
          <a:lstStyle/>
          <a:p>
            <a:pPr eaLnBrk="1" hangingPunct="1">
              <a:lnSpc>
                <a:spcPct val="110000"/>
              </a:lnSpc>
              <a:defRPr/>
            </a:pPr>
            <a:r>
              <a:rPr lang="en-GB" altLang="zh-CN" dirty="0"/>
              <a:t>stack&lt;</a:t>
            </a:r>
            <a:r>
              <a:rPr lang="zh-CN" altLang="zh-CN" dirty="0"/>
              <a:t>元素类型</a:t>
            </a:r>
            <a:r>
              <a:rPr lang="en-GB" altLang="zh-CN" dirty="0"/>
              <a:t>&gt;</a:t>
            </a:r>
            <a:endParaRPr lang="en-US" altLang="zh-CN" dirty="0"/>
          </a:p>
          <a:p>
            <a:pPr lvl="1" eaLnBrk="1" hangingPunct="1">
              <a:lnSpc>
                <a:spcPct val="110000"/>
              </a:lnSpc>
              <a:defRPr/>
            </a:pPr>
            <a:r>
              <a:rPr lang="zh-CN" altLang="en-US" dirty="0"/>
              <a:t>用于仅在元素序列的尾部增加</a:t>
            </a:r>
            <a:r>
              <a:rPr lang="en-US" altLang="zh-CN" dirty="0"/>
              <a:t>/</a:t>
            </a:r>
            <a:r>
              <a:rPr lang="zh-CN" altLang="en-US" dirty="0"/>
              <a:t>删除元素的场合。</a:t>
            </a:r>
            <a:endParaRPr lang="en-US" altLang="zh-CN" dirty="0"/>
          </a:p>
          <a:p>
            <a:pPr lvl="1" eaLnBrk="1" hangingPunct="1">
              <a:lnSpc>
                <a:spcPct val="110000"/>
              </a:lnSpc>
              <a:defRPr/>
            </a:pPr>
            <a:r>
              <a:rPr lang="zh-CN" altLang="en-US" dirty="0"/>
              <a:t>在头文件</a:t>
            </a:r>
            <a:r>
              <a:rPr lang="en-US" altLang="zh-CN" dirty="0"/>
              <a:t>stack</a:t>
            </a:r>
            <a:r>
              <a:rPr lang="zh-CN" altLang="en-US" dirty="0"/>
              <a:t>中定义，可基于</a:t>
            </a:r>
            <a:r>
              <a:rPr lang="en-US" altLang="zh-CN" dirty="0" err="1"/>
              <a:t>deque</a:t>
            </a:r>
            <a:r>
              <a:rPr lang="zh-CN" altLang="en-US" dirty="0"/>
              <a:t>、</a:t>
            </a:r>
            <a:r>
              <a:rPr lang="en-US" altLang="zh-CN" dirty="0"/>
              <a:t>list</a:t>
            </a:r>
            <a:r>
              <a:rPr lang="zh-CN" altLang="en-US" dirty="0"/>
              <a:t>或</a:t>
            </a:r>
            <a:r>
              <a:rPr lang="en-US" altLang="zh-CN" dirty="0"/>
              <a:t>vector</a:t>
            </a:r>
            <a:r>
              <a:rPr lang="zh-CN" altLang="en-US" dirty="0"/>
              <a:t>来实现。</a:t>
            </a:r>
            <a:endParaRPr lang="en-US" altLang="zh-CN" dirty="0"/>
          </a:p>
          <a:p>
            <a:pPr eaLnBrk="1" hangingPunct="1">
              <a:lnSpc>
                <a:spcPct val="110000"/>
              </a:lnSpc>
              <a:defRPr/>
            </a:pPr>
            <a:r>
              <a:rPr lang="en-GB" altLang="zh-CN" dirty="0"/>
              <a:t>queue&lt;</a:t>
            </a:r>
            <a:r>
              <a:rPr lang="zh-CN" altLang="zh-CN" dirty="0"/>
              <a:t>元素类型</a:t>
            </a:r>
            <a:r>
              <a:rPr lang="en-GB" altLang="zh-CN" dirty="0"/>
              <a:t>&gt;</a:t>
            </a:r>
            <a:endParaRPr lang="en-US" altLang="zh-CN" dirty="0"/>
          </a:p>
          <a:p>
            <a:pPr lvl="1" eaLnBrk="1" hangingPunct="1">
              <a:lnSpc>
                <a:spcPct val="110000"/>
              </a:lnSpc>
              <a:defRPr/>
            </a:pPr>
            <a:r>
              <a:rPr lang="zh-CN" altLang="en-US" dirty="0"/>
              <a:t>用于仅在元素序列的尾部增加、头部删除元素的场合。</a:t>
            </a:r>
            <a:endParaRPr lang="en-US" altLang="zh-CN" dirty="0"/>
          </a:p>
          <a:p>
            <a:pPr lvl="1" eaLnBrk="1" hangingPunct="1">
              <a:lnSpc>
                <a:spcPct val="110000"/>
              </a:lnSpc>
              <a:defRPr/>
            </a:pPr>
            <a:r>
              <a:rPr lang="zh-CN" altLang="en-US" dirty="0"/>
              <a:t>在头文件</a:t>
            </a:r>
            <a:r>
              <a:rPr lang="en-US" altLang="zh-CN" dirty="0"/>
              <a:t>queue</a:t>
            </a:r>
            <a:r>
              <a:rPr lang="zh-CN" altLang="en-US" dirty="0"/>
              <a:t>中定义，可基于</a:t>
            </a:r>
            <a:r>
              <a:rPr lang="en-US" altLang="zh-CN" dirty="0" err="1"/>
              <a:t>deque</a:t>
            </a:r>
            <a:r>
              <a:rPr lang="zh-CN" altLang="en-US" dirty="0"/>
              <a:t>和</a:t>
            </a:r>
            <a:r>
              <a:rPr lang="en-US" altLang="zh-CN" dirty="0"/>
              <a:t>list</a:t>
            </a:r>
            <a:r>
              <a:rPr lang="zh-CN" altLang="en-US" dirty="0"/>
              <a:t>来实现。</a:t>
            </a:r>
            <a:endParaRPr lang="en-US" altLang="zh-CN" dirty="0"/>
          </a:p>
          <a:p>
            <a:pPr eaLnBrk="1" hangingPunct="1">
              <a:lnSpc>
                <a:spcPct val="110000"/>
              </a:lnSpc>
              <a:defRPr/>
            </a:pPr>
            <a:r>
              <a:rPr lang="en-GB" altLang="zh-CN" dirty="0" err="1"/>
              <a:t>priority_queue</a:t>
            </a:r>
            <a:r>
              <a:rPr lang="en-GB" altLang="zh-CN" dirty="0"/>
              <a:t>&lt;</a:t>
            </a:r>
            <a:r>
              <a:rPr lang="zh-CN" altLang="zh-CN" dirty="0"/>
              <a:t>元素类型</a:t>
            </a:r>
            <a:r>
              <a:rPr lang="en-GB" altLang="zh-CN" dirty="0"/>
              <a:t>&gt;</a:t>
            </a:r>
            <a:endParaRPr lang="en-US" altLang="zh-CN" dirty="0"/>
          </a:p>
          <a:p>
            <a:pPr lvl="1" eaLnBrk="1" hangingPunct="1">
              <a:lnSpc>
                <a:spcPct val="110000"/>
              </a:lnSpc>
              <a:defRPr/>
            </a:pPr>
            <a:r>
              <a:rPr lang="zh-CN" altLang="en-US" dirty="0"/>
              <a:t>它与</a:t>
            </a:r>
            <a:r>
              <a:rPr lang="en-US" altLang="zh-CN" dirty="0"/>
              <a:t>queue</a:t>
            </a:r>
            <a:r>
              <a:rPr lang="zh-CN" altLang="en-US" dirty="0"/>
              <a:t>的操作类似，不同之处在于：每次增加</a:t>
            </a:r>
            <a:r>
              <a:rPr lang="en-US" altLang="zh-CN" dirty="0"/>
              <a:t>/</a:t>
            </a:r>
            <a:r>
              <a:rPr lang="zh-CN" altLang="en-US" dirty="0"/>
              <a:t>删除元素之后，它将对元素位置进行调整，使得头部元素总是最大的。也就是说，每次删除操作总是把最大（优先级最高）的元素去掉。</a:t>
            </a:r>
            <a:endParaRPr lang="en-US" altLang="zh-CN" dirty="0"/>
          </a:p>
          <a:p>
            <a:pPr lvl="1" eaLnBrk="1" hangingPunct="1">
              <a:lnSpc>
                <a:spcPct val="110000"/>
              </a:lnSpc>
              <a:defRPr/>
            </a:pPr>
            <a:r>
              <a:rPr lang="zh-CN" altLang="en-US" dirty="0"/>
              <a:t>在头文件</a:t>
            </a:r>
            <a:r>
              <a:rPr lang="en-US" altLang="zh-CN" dirty="0"/>
              <a:t>queue</a:t>
            </a:r>
            <a:r>
              <a:rPr lang="zh-CN" altLang="en-US" dirty="0"/>
              <a:t>中定义，可基于</a:t>
            </a:r>
            <a:r>
              <a:rPr lang="en-US" altLang="zh-CN" dirty="0" err="1"/>
              <a:t>deque</a:t>
            </a:r>
            <a:r>
              <a:rPr lang="zh-CN" altLang="en-US" dirty="0"/>
              <a:t>和</a:t>
            </a:r>
            <a:r>
              <a:rPr lang="en-US" altLang="zh-CN" dirty="0"/>
              <a:t>vector</a:t>
            </a:r>
            <a:r>
              <a:rPr lang="zh-CN" altLang="en-US" dirty="0"/>
              <a:t>来实现。</a:t>
            </a:r>
            <a:endParaRPr lang="en-GB"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189630A-6405-1BAF-4E01-478CD7E49227}"/>
              </a:ext>
            </a:extLst>
          </p:cNvPr>
          <p:cNvSpPr>
            <a:spLocks noGrp="1"/>
          </p:cNvSpPr>
          <p:nvPr>
            <p:ph idx="1"/>
          </p:nvPr>
        </p:nvSpPr>
        <p:spPr>
          <a:xfrm>
            <a:off x="457200" y="260350"/>
            <a:ext cx="8229600" cy="6264275"/>
          </a:xfrm>
        </p:spPr>
        <p:txBody>
          <a:bodyPr>
            <a:normAutofit fontScale="92500" lnSpcReduction="20000"/>
          </a:bodyPr>
          <a:lstStyle/>
          <a:p>
            <a:pPr eaLnBrk="1" hangingPunct="1">
              <a:lnSpc>
                <a:spcPct val="110000"/>
              </a:lnSpc>
              <a:defRPr/>
            </a:pPr>
            <a:r>
              <a:rPr lang="en-GB" altLang="zh-CN" dirty="0"/>
              <a:t>map&lt;</a:t>
            </a:r>
            <a:r>
              <a:rPr lang="zh-CN" altLang="zh-CN" dirty="0"/>
              <a:t>关键字类型，值类型</a:t>
            </a:r>
            <a:r>
              <a:rPr lang="en-GB" altLang="zh-CN" dirty="0"/>
              <a:t>&gt;</a:t>
            </a:r>
            <a:r>
              <a:rPr lang="zh-CN" altLang="en-US" dirty="0"/>
              <a:t>和</a:t>
            </a:r>
            <a:endParaRPr lang="en-GB" altLang="zh-CN" dirty="0"/>
          </a:p>
          <a:p>
            <a:pPr marL="361950" indent="0" eaLnBrk="1" hangingPunct="1">
              <a:lnSpc>
                <a:spcPct val="110000"/>
              </a:lnSpc>
              <a:buFont typeface="Wingdings" panose="05000000000000000000" pitchFamily="2" charset="2"/>
              <a:buNone/>
              <a:defRPr/>
            </a:pPr>
            <a:r>
              <a:rPr lang="en-GB" altLang="zh-CN" dirty="0" err="1"/>
              <a:t>multimap</a:t>
            </a:r>
            <a:r>
              <a:rPr lang="en-GB" altLang="zh-CN" dirty="0"/>
              <a:t>&lt;</a:t>
            </a:r>
            <a:r>
              <a:rPr lang="zh-CN" altLang="zh-CN" dirty="0"/>
              <a:t>关键字类型，值类型</a:t>
            </a:r>
            <a:r>
              <a:rPr lang="en-GB" altLang="zh-CN" dirty="0"/>
              <a:t>&gt;</a:t>
            </a:r>
            <a:endParaRPr lang="en-US" altLang="zh-CN" dirty="0"/>
          </a:p>
          <a:p>
            <a:pPr lvl="1" eaLnBrk="1" hangingPunct="1">
              <a:lnSpc>
                <a:spcPct val="110000"/>
              </a:lnSpc>
              <a:defRPr/>
            </a:pPr>
            <a:r>
              <a:rPr lang="zh-CN" altLang="en-US" dirty="0"/>
              <a:t>用于需要根据关键字来访问元素的场合。容器中每个元素是一个</a:t>
            </a:r>
            <a:r>
              <a:rPr lang="en-US" altLang="zh-CN" dirty="0"/>
              <a:t>pair</a:t>
            </a:r>
            <a:r>
              <a:rPr lang="zh-CN" altLang="en-US" dirty="0"/>
              <a:t>结构类型，该结构有两个成员：</a:t>
            </a:r>
            <a:r>
              <a:rPr lang="en-US" altLang="zh-CN" dirty="0"/>
              <a:t>first</a:t>
            </a:r>
            <a:r>
              <a:rPr lang="zh-CN" altLang="en-US" dirty="0"/>
              <a:t>和</a:t>
            </a:r>
            <a:r>
              <a:rPr lang="en-US" altLang="zh-CN" dirty="0"/>
              <a:t>second</a:t>
            </a:r>
            <a:r>
              <a:rPr lang="zh-CN" altLang="en-US" dirty="0"/>
              <a:t>，关键字对应</a:t>
            </a:r>
            <a:r>
              <a:rPr lang="en-US" altLang="zh-CN" dirty="0"/>
              <a:t>first</a:t>
            </a:r>
            <a:r>
              <a:rPr lang="zh-CN" altLang="en-US" dirty="0"/>
              <a:t>，值对应</a:t>
            </a:r>
            <a:r>
              <a:rPr lang="en-US" altLang="zh-CN" dirty="0"/>
              <a:t>second</a:t>
            </a:r>
            <a:r>
              <a:rPr lang="zh-CN" altLang="en-US" dirty="0"/>
              <a:t>，元素是根据其关键字排序的。</a:t>
            </a:r>
            <a:endParaRPr lang="en-US" altLang="zh-CN" dirty="0"/>
          </a:p>
          <a:p>
            <a:pPr lvl="1" eaLnBrk="1" hangingPunct="1">
              <a:lnSpc>
                <a:spcPct val="110000"/>
              </a:lnSpc>
              <a:defRPr/>
            </a:pPr>
            <a:r>
              <a:rPr lang="zh-CN" altLang="en-US" dirty="0"/>
              <a:t>对于</a:t>
            </a:r>
            <a:r>
              <a:rPr lang="en-US" altLang="zh-CN" dirty="0"/>
              <a:t>map</a:t>
            </a:r>
            <a:r>
              <a:rPr lang="zh-CN" altLang="en-US" dirty="0"/>
              <a:t>，不同元素的关键字不能相同；</a:t>
            </a:r>
            <a:endParaRPr lang="en-US" altLang="zh-CN" dirty="0"/>
          </a:p>
          <a:p>
            <a:pPr lvl="1" eaLnBrk="1" hangingPunct="1">
              <a:lnSpc>
                <a:spcPct val="110000"/>
              </a:lnSpc>
              <a:defRPr/>
            </a:pPr>
            <a:r>
              <a:rPr lang="zh-CN" altLang="en-US" dirty="0"/>
              <a:t>对于</a:t>
            </a:r>
            <a:r>
              <a:rPr lang="en-US" altLang="zh-CN" dirty="0" err="1"/>
              <a:t>multimap</a:t>
            </a:r>
            <a:r>
              <a:rPr lang="zh-CN" altLang="en-US" dirty="0"/>
              <a:t>，不同元素的关键字可以相同。</a:t>
            </a:r>
            <a:endParaRPr lang="en-US" altLang="zh-CN" dirty="0"/>
          </a:p>
          <a:p>
            <a:pPr lvl="1" eaLnBrk="1" hangingPunct="1">
              <a:lnSpc>
                <a:spcPct val="110000"/>
              </a:lnSpc>
              <a:defRPr/>
            </a:pPr>
            <a:r>
              <a:rPr lang="zh-CN" altLang="en-US" dirty="0"/>
              <a:t>它们在头文件</a:t>
            </a:r>
            <a:r>
              <a:rPr lang="en-US" altLang="zh-CN" dirty="0"/>
              <a:t>map</a:t>
            </a:r>
            <a:r>
              <a:rPr lang="zh-CN" altLang="en-US" dirty="0"/>
              <a:t>中定义，常常用某种二叉树来实现。</a:t>
            </a:r>
            <a:endParaRPr lang="en-GB" altLang="zh-CN" dirty="0"/>
          </a:p>
          <a:p>
            <a:pPr eaLnBrk="1" hangingPunct="1">
              <a:lnSpc>
                <a:spcPct val="110000"/>
              </a:lnSpc>
              <a:defRPr/>
            </a:pPr>
            <a:r>
              <a:rPr lang="en-GB" altLang="zh-CN" dirty="0"/>
              <a:t>set&lt;</a:t>
            </a:r>
            <a:r>
              <a:rPr lang="zh-CN" altLang="zh-CN" dirty="0"/>
              <a:t>元素类型</a:t>
            </a:r>
            <a:r>
              <a:rPr lang="en-GB" altLang="zh-CN" dirty="0"/>
              <a:t>&gt;</a:t>
            </a:r>
            <a:r>
              <a:rPr lang="zh-CN" altLang="zh-CN" dirty="0"/>
              <a:t>和</a:t>
            </a:r>
            <a:r>
              <a:rPr lang="en-GB" altLang="zh-CN" dirty="0"/>
              <a:t>multiset&lt;</a:t>
            </a:r>
            <a:r>
              <a:rPr lang="zh-CN" altLang="zh-CN" dirty="0"/>
              <a:t>元素类型</a:t>
            </a:r>
            <a:r>
              <a:rPr lang="en-GB" altLang="zh-CN" dirty="0"/>
              <a:t>&gt;</a:t>
            </a:r>
          </a:p>
          <a:p>
            <a:pPr lvl="1" eaLnBrk="1" hangingPunct="1">
              <a:lnSpc>
                <a:spcPct val="110000"/>
              </a:lnSpc>
              <a:defRPr/>
            </a:pPr>
            <a:r>
              <a:rPr lang="zh-CN" altLang="en-US" dirty="0"/>
              <a:t>它们分别是</a:t>
            </a:r>
            <a:r>
              <a:rPr lang="en-US" altLang="zh-CN" dirty="0"/>
              <a:t>map</a:t>
            </a:r>
            <a:r>
              <a:rPr lang="zh-CN" altLang="en-US" dirty="0"/>
              <a:t>和</a:t>
            </a:r>
            <a:r>
              <a:rPr lang="en-US" altLang="zh-CN" dirty="0" err="1"/>
              <a:t>multimap</a:t>
            </a:r>
            <a:r>
              <a:rPr lang="zh-CN" altLang="en-US" dirty="0"/>
              <a:t>的特例，每个元素只有关键字而没有值，或者说，关键字与值合一了。</a:t>
            </a:r>
            <a:endParaRPr lang="en-US" altLang="zh-CN" dirty="0"/>
          </a:p>
          <a:p>
            <a:pPr lvl="1" eaLnBrk="1" hangingPunct="1">
              <a:lnSpc>
                <a:spcPct val="110000"/>
              </a:lnSpc>
              <a:defRPr/>
            </a:pPr>
            <a:r>
              <a:rPr lang="zh-CN" altLang="en-US" dirty="0"/>
              <a:t>在头文件</a:t>
            </a:r>
            <a:r>
              <a:rPr lang="en-US" altLang="zh-CN" dirty="0"/>
              <a:t>set</a:t>
            </a:r>
            <a:r>
              <a:rPr lang="zh-CN" altLang="en-US" dirty="0"/>
              <a:t>中定义。</a:t>
            </a:r>
            <a:endParaRPr lang="en-GB"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479294-94BD-B104-7C9C-84E6F6D73C44}"/>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B1923756-19F6-3AF2-54CA-089ACAB46193}"/>
              </a:ext>
            </a:extLst>
          </p:cNvPr>
          <p:cNvSpPr>
            <a:spLocks noGrp="1"/>
          </p:cNvSpPr>
          <p:nvPr>
            <p:ph idx="1"/>
          </p:nvPr>
        </p:nvSpPr>
        <p:spPr/>
        <p:txBody>
          <a:bodyPr/>
          <a:lstStyle/>
          <a:p>
            <a:pPr eaLnBrk="1" hangingPunct="1">
              <a:defRPr/>
            </a:pPr>
            <a:r>
              <a:rPr lang="en-GB" altLang="zh-CN" dirty="0" err="1"/>
              <a:t>basic_string</a:t>
            </a:r>
            <a:r>
              <a:rPr lang="en-GB" altLang="zh-CN" dirty="0"/>
              <a:t>&lt;</a:t>
            </a:r>
            <a:r>
              <a:rPr lang="zh-CN" altLang="zh-CN" dirty="0"/>
              <a:t>字符类型</a:t>
            </a:r>
            <a:r>
              <a:rPr lang="en-GB" altLang="zh-CN" dirty="0"/>
              <a:t>&gt;</a:t>
            </a:r>
          </a:p>
          <a:p>
            <a:pPr lvl="1" eaLnBrk="1" hangingPunct="1">
              <a:defRPr/>
            </a:pPr>
            <a:r>
              <a:rPr lang="zh-CN" altLang="en-US" dirty="0"/>
              <a:t>与</a:t>
            </a:r>
            <a:r>
              <a:rPr lang="en-US" altLang="zh-CN" dirty="0"/>
              <a:t>vector</a:t>
            </a:r>
            <a:r>
              <a:rPr lang="zh-CN" altLang="en-US" dirty="0"/>
              <a:t>类似，不同之处在于其元素为字符类型，并提供了一系列与</a:t>
            </a:r>
            <a:r>
              <a:rPr lang="zh-CN" altLang="en-US" dirty="0">
                <a:solidFill>
                  <a:srgbClr val="FFC000"/>
                </a:solidFill>
              </a:rPr>
              <a:t>字符串</a:t>
            </a:r>
            <a:r>
              <a:rPr lang="zh-CN" altLang="en-US" dirty="0"/>
              <a:t>相关的操作。</a:t>
            </a:r>
            <a:endParaRPr lang="en-US" altLang="zh-CN" dirty="0"/>
          </a:p>
          <a:p>
            <a:pPr lvl="1" eaLnBrk="1" hangingPunct="1">
              <a:defRPr/>
            </a:pPr>
            <a:r>
              <a:rPr lang="en-US" altLang="zh-CN" dirty="0"/>
              <a:t>string</a:t>
            </a:r>
            <a:r>
              <a:rPr lang="zh-CN" altLang="en-US" dirty="0"/>
              <a:t>和</a:t>
            </a:r>
            <a:r>
              <a:rPr lang="en-US" altLang="zh-CN" dirty="0" err="1"/>
              <a:t>wstring</a:t>
            </a:r>
            <a:r>
              <a:rPr lang="zh-CN" altLang="en-US" dirty="0"/>
              <a:t>分别是它的两个实例：</a:t>
            </a:r>
            <a:endParaRPr lang="en-US" altLang="zh-CN" dirty="0"/>
          </a:p>
          <a:p>
            <a:pPr lvl="2" eaLnBrk="1" hangingPunct="1">
              <a:defRPr/>
            </a:pPr>
            <a:r>
              <a:rPr lang="en-US" altLang="zh-CN" dirty="0" err="1"/>
              <a:t>basic_string</a:t>
            </a:r>
            <a:r>
              <a:rPr lang="en-US" altLang="zh-CN" dirty="0"/>
              <a:t>&lt;char&gt;</a:t>
            </a:r>
          </a:p>
          <a:p>
            <a:pPr lvl="2" eaLnBrk="1" hangingPunct="1">
              <a:defRPr/>
            </a:pPr>
            <a:r>
              <a:rPr lang="en-US" altLang="zh-CN" dirty="0" err="1"/>
              <a:t>basic_string</a:t>
            </a:r>
            <a:r>
              <a:rPr lang="en-US" altLang="zh-CN" dirty="0"/>
              <a:t>&lt;</a:t>
            </a:r>
            <a:r>
              <a:rPr lang="en-US" altLang="zh-CN" dirty="0" err="1"/>
              <a:t>wchar_t</a:t>
            </a:r>
            <a:r>
              <a:rPr lang="en-US" altLang="zh-CN" dirty="0"/>
              <a:t>&gt;</a:t>
            </a:r>
          </a:p>
          <a:p>
            <a:pPr lvl="1" eaLnBrk="1" hangingPunct="1">
              <a:defRPr/>
            </a:pPr>
            <a:r>
              <a:rPr lang="zh-CN" altLang="en-US" dirty="0"/>
              <a:t>在头文件</a:t>
            </a:r>
            <a:r>
              <a:rPr lang="en-US" altLang="zh-CN" dirty="0"/>
              <a:t>string</a:t>
            </a:r>
            <a:r>
              <a:rPr lang="zh-CN" altLang="en-US" dirty="0"/>
              <a:t>中定义。</a:t>
            </a:r>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80E9A7-4542-A257-59BF-D7D341838AB0}"/>
              </a:ext>
            </a:extLst>
          </p:cNvPr>
          <p:cNvSpPr>
            <a:spLocks noGrp="1"/>
          </p:cNvSpPr>
          <p:nvPr>
            <p:ph idx="1"/>
          </p:nvPr>
        </p:nvSpPr>
        <p:spPr>
          <a:xfrm>
            <a:off x="395288" y="1557338"/>
            <a:ext cx="8435975" cy="4967287"/>
          </a:xfrm>
        </p:spPr>
        <p:txBody>
          <a:bodyPr>
            <a:normAutofit fontScale="92500" lnSpcReduction="10000"/>
          </a:bodyPr>
          <a:lstStyle/>
          <a:p>
            <a:pPr eaLnBrk="1" hangingPunct="1">
              <a:lnSpc>
                <a:spcPct val="110000"/>
              </a:lnSpc>
              <a:defRPr/>
            </a:pPr>
            <a:r>
              <a:rPr lang="zh-CN" altLang="en-US" dirty="0"/>
              <a:t>容器类提供了一些成员函数来实现容器的</a:t>
            </a:r>
            <a:r>
              <a:rPr lang="zh-CN" altLang="en-US" dirty="0">
                <a:solidFill>
                  <a:srgbClr val="FFC000"/>
                </a:solidFill>
              </a:rPr>
              <a:t>基本操作</a:t>
            </a:r>
            <a:r>
              <a:rPr lang="zh-CN" altLang="en-US" dirty="0"/>
              <a:t>，其中包括：</a:t>
            </a:r>
            <a:endParaRPr lang="en-US" altLang="zh-CN" dirty="0"/>
          </a:p>
          <a:p>
            <a:pPr lvl="1">
              <a:lnSpc>
                <a:spcPct val="110000"/>
              </a:lnSpc>
              <a:defRPr/>
            </a:pPr>
            <a:r>
              <a:rPr lang="zh-CN" altLang="en-US" dirty="0"/>
              <a:t>往容器中增加元素</a:t>
            </a:r>
            <a:endParaRPr lang="en-US" altLang="zh-CN" dirty="0"/>
          </a:p>
          <a:p>
            <a:pPr lvl="1">
              <a:lnSpc>
                <a:spcPct val="110000"/>
              </a:lnSpc>
              <a:defRPr/>
            </a:pPr>
            <a:r>
              <a:rPr lang="zh-CN" altLang="en-US" dirty="0"/>
              <a:t>从容器中删除元素</a:t>
            </a:r>
            <a:endParaRPr lang="en-US" altLang="zh-CN" dirty="0"/>
          </a:p>
          <a:p>
            <a:pPr lvl="1">
              <a:lnSpc>
                <a:spcPct val="110000"/>
              </a:lnSpc>
              <a:defRPr/>
            </a:pPr>
            <a:r>
              <a:rPr lang="zh-CN" altLang="en-US" dirty="0"/>
              <a:t>获取容器中指定位置的元素</a:t>
            </a:r>
            <a:endParaRPr lang="en-US" altLang="zh-CN" dirty="0"/>
          </a:p>
          <a:p>
            <a:pPr lvl="1">
              <a:lnSpc>
                <a:spcPct val="110000"/>
              </a:lnSpc>
              <a:defRPr/>
            </a:pPr>
            <a:r>
              <a:rPr lang="zh-CN" altLang="en-US" dirty="0"/>
              <a:t>在容器中查找元素</a:t>
            </a:r>
            <a:endParaRPr lang="en-US" altLang="zh-CN" dirty="0"/>
          </a:p>
          <a:p>
            <a:pPr lvl="1">
              <a:lnSpc>
                <a:spcPct val="110000"/>
              </a:lnSpc>
              <a:defRPr/>
            </a:pPr>
            <a:r>
              <a:rPr lang="zh-CN" altLang="en-US" dirty="0"/>
              <a:t>获取容器首</a:t>
            </a:r>
            <a:r>
              <a:rPr lang="en-US" altLang="zh-CN" dirty="0"/>
              <a:t>/</a:t>
            </a:r>
            <a:r>
              <a:rPr lang="zh-CN" altLang="en-US" dirty="0"/>
              <a:t>尾元素的迭代器</a:t>
            </a:r>
            <a:endParaRPr lang="en-US" altLang="zh-CN" dirty="0"/>
          </a:p>
          <a:p>
            <a:pPr lvl="1">
              <a:lnSpc>
                <a:spcPct val="110000"/>
              </a:lnSpc>
              <a:defRPr/>
            </a:pPr>
            <a:r>
              <a:rPr lang="en-US" altLang="zh-CN" dirty="0"/>
              <a:t>......</a:t>
            </a:r>
          </a:p>
          <a:p>
            <a:pPr>
              <a:lnSpc>
                <a:spcPct val="110000"/>
              </a:lnSpc>
              <a:defRPr/>
            </a:pPr>
            <a:r>
              <a:rPr lang="zh-CN" altLang="en-US" dirty="0"/>
              <a:t>这些成员函数往往具有通用性（大部分容器类都包含它们）。</a:t>
            </a:r>
            <a:endParaRPr lang="en-US" altLang="zh-CN" dirty="0"/>
          </a:p>
        </p:txBody>
      </p:sp>
      <p:sp>
        <p:nvSpPr>
          <p:cNvPr id="4" name="标题 1">
            <a:extLst>
              <a:ext uri="{FF2B5EF4-FFF2-40B4-BE49-F238E27FC236}">
                <a16:creationId xmlns:a16="http://schemas.microsoft.com/office/drawing/2014/main" id="{708DCB2C-0391-323A-5587-BB69110629EC}"/>
              </a:ext>
            </a:extLst>
          </p:cNvPr>
          <p:cNvSpPr>
            <a:spLocks noGrp="1"/>
          </p:cNvSpPr>
          <p:nvPr>
            <p:ph type="title"/>
          </p:nvPr>
        </p:nvSpPr>
        <p:spPr/>
        <p:txBody>
          <a:bodyPr/>
          <a:lstStyle/>
          <a:p>
            <a:pPr>
              <a:defRPr/>
            </a:pPr>
            <a:r>
              <a:rPr lang="zh-CN" altLang="en-US" dirty="0"/>
              <a:t>容器的基本操作</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0A2BE-B919-2C5F-4A30-4FB555D04C2A}"/>
              </a:ext>
            </a:extLst>
          </p:cNvPr>
          <p:cNvSpPr>
            <a:spLocks noGrp="1"/>
          </p:cNvSpPr>
          <p:nvPr>
            <p:ph type="title"/>
          </p:nvPr>
        </p:nvSpPr>
        <p:spPr/>
        <p:txBody>
          <a:bodyPr/>
          <a:lstStyle/>
          <a:p>
            <a:pPr>
              <a:defRPr/>
            </a:pPr>
            <a:endParaRPr lang="zh-CN" altLang="en-US" dirty="0"/>
          </a:p>
        </p:txBody>
      </p:sp>
      <p:sp>
        <p:nvSpPr>
          <p:cNvPr id="3" name="内容占位符 2">
            <a:extLst>
              <a:ext uri="{FF2B5EF4-FFF2-40B4-BE49-F238E27FC236}">
                <a16:creationId xmlns:a16="http://schemas.microsoft.com/office/drawing/2014/main" id="{A6E1266E-D5F6-225E-6352-2D2D5510B7DE}"/>
              </a:ext>
            </a:extLst>
          </p:cNvPr>
          <p:cNvSpPr>
            <a:spLocks noGrp="1"/>
          </p:cNvSpPr>
          <p:nvPr>
            <p:ph idx="1"/>
          </p:nvPr>
        </p:nvSpPr>
        <p:spPr/>
        <p:txBody>
          <a:bodyPr/>
          <a:lstStyle/>
          <a:p>
            <a:pPr>
              <a:defRPr/>
            </a:pPr>
            <a:r>
              <a:rPr lang="zh-CN" altLang="en-US" dirty="0">
                <a:solidFill>
                  <a:srgbClr val="FFC000"/>
                </a:solidFill>
              </a:rPr>
              <a:t>注意：</a:t>
            </a:r>
            <a:r>
              <a:rPr lang="zh-CN" altLang="en-US" dirty="0"/>
              <a:t>如果容器的元素类型是一个类，则针对该类可能需要：</a:t>
            </a:r>
            <a:endParaRPr lang="en-US" altLang="zh-CN" dirty="0"/>
          </a:p>
          <a:p>
            <a:pPr lvl="1">
              <a:defRPr/>
            </a:pPr>
            <a:r>
              <a:rPr lang="zh-CN" altLang="en-US" dirty="0"/>
              <a:t>自定义</a:t>
            </a:r>
            <a:r>
              <a:rPr lang="zh-CN" altLang="en-US" dirty="0">
                <a:solidFill>
                  <a:srgbClr val="FFC000"/>
                </a:solidFill>
              </a:rPr>
              <a:t>拷贝构造函数</a:t>
            </a:r>
            <a:r>
              <a:rPr lang="zh-CN" altLang="en-US" dirty="0"/>
              <a:t>和</a:t>
            </a:r>
            <a:r>
              <a:rPr lang="zh-CN" altLang="en-US" dirty="0">
                <a:solidFill>
                  <a:srgbClr val="FFC000"/>
                </a:solidFill>
              </a:rPr>
              <a:t>赋值操作符重载函数</a:t>
            </a:r>
            <a:endParaRPr lang="en-US" altLang="zh-CN" dirty="0"/>
          </a:p>
          <a:p>
            <a:pPr lvl="2" eaLnBrk="1" hangingPunct="1">
              <a:defRPr/>
            </a:pPr>
            <a:r>
              <a:rPr lang="zh-CN" altLang="en-US" dirty="0"/>
              <a:t>对容器进行的一些操作中可能会创建新的元素（对象的拷贝构造）或进行元素间的赋值（对象赋值）。</a:t>
            </a:r>
            <a:endParaRPr lang="en-US" altLang="zh-CN" dirty="0"/>
          </a:p>
          <a:p>
            <a:pPr lvl="1" eaLnBrk="1" hangingPunct="1">
              <a:defRPr/>
            </a:pPr>
            <a:r>
              <a:rPr lang="zh-CN" altLang="en-US" dirty="0"/>
              <a:t>重载小于操作符（</a:t>
            </a:r>
            <a:r>
              <a:rPr lang="en-US" altLang="zh-CN" dirty="0">
                <a:solidFill>
                  <a:srgbClr val="FFC000"/>
                </a:solidFill>
              </a:rPr>
              <a:t>&lt;</a:t>
            </a:r>
            <a:r>
              <a:rPr lang="zh-CN" altLang="en-US" dirty="0"/>
              <a:t>）</a:t>
            </a:r>
            <a:endParaRPr lang="en-US" altLang="zh-CN" dirty="0"/>
          </a:p>
          <a:p>
            <a:pPr lvl="2" eaLnBrk="1" hangingPunct="1">
              <a:defRPr/>
            </a:pPr>
            <a:r>
              <a:rPr lang="zh-CN" altLang="en-US" dirty="0"/>
              <a:t>对容器进行的一些操作中可能要进行元素比较运算。</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F7184A4-D24F-4D58-D12D-A98DCC56DD63}"/>
              </a:ext>
            </a:extLst>
          </p:cNvPr>
          <p:cNvSpPr>
            <a:spLocks noGrp="1"/>
          </p:cNvSpPr>
          <p:nvPr>
            <p:ph idx="1"/>
          </p:nvPr>
        </p:nvSpPr>
        <p:spPr>
          <a:xfrm>
            <a:off x="323850" y="1412875"/>
            <a:ext cx="8712200" cy="5256213"/>
          </a:xfrm>
        </p:spPr>
        <p:txBody>
          <a:bodyPr>
            <a:normAutofit fontScale="85000" lnSpcReduction="10000"/>
          </a:bodyPr>
          <a:lstStyle/>
          <a:p>
            <a:pPr marL="0" indent="0" eaLnBrk="1" hangingPunct="1">
              <a:buFont typeface="Wingdings" panose="05000000000000000000" pitchFamily="2" charset="2"/>
              <a:buNone/>
              <a:defRPr/>
            </a:pPr>
            <a:r>
              <a:rPr lang="en-US" altLang="zh-CN" dirty="0"/>
              <a:t>#include &lt;</a:t>
            </a:r>
            <a:r>
              <a:rPr lang="en-US" altLang="zh-CN" dirty="0" err="1"/>
              <a:t>iostream</a:t>
            </a:r>
            <a:r>
              <a:rPr lang="en-US" altLang="zh-CN" dirty="0"/>
              <a:t>&gt;</a:t>
            </a:r>
          </a:p>
          <a:p>
            <a:pPr marL="0" indent="0" eaLnBrk="1" hangingPunct="1">
              <a:buFont typeface="Wingdings" panose="05000000000000000000" pitchFamily="2" charset="2"/>
              <a:buNone/>
              <a:defRPr/>
            </a:pPr>
            <a:r>
              <a:rPr lang="en-US" altLang="zh-CN" dirty="0"/>
              <a:t>#include &lt;vector&gt;</a:t>
            </a:r>
          </a:p>
          <a:p>
            <a:pPr marL="0" indent="0" eaLnBrk="1" hangingPunct="1">
              <a:buFont typeface="Wingdings" panose="05000000000000000000" pitchFamily="2" charset="2"/>
              <a:buNone/>
              <a:defRPr/>
            </a:pPr>
            <a:r>
              <a:rPr lang="en-US" altLang="zh-CN" dirty="0"/>
              <a:t>using namespace </a:t>
            </a:r>
            <a:r>
              <a:rPr lang="en-US" altLang="zh-CN" dirty="0" err="1"/>
              <a:t>std</a:t>
            </a:r>
            <a:r>
              <a:rPr lang="en-US" altLang="zh-CN" dirty="0"/>
              <a:t>;</a:t>
            </a:r>
          </a:p>
          <a:p>
            <a:pPr marL="0" indent="0" eaLnBrk="1" hangingPunct="1">
              <a:buFont typeface="Wingdings" panose="05000000000000000000" pitchFamily="2" charset="2"/>
              <a:buNone/>
              <a:defRPr/>
            </a:pPr>
            <a:r>
              <a:rPr lang="en-US" altLang="zh-CN" dirty="0" err="1"/>
              <a:t>int</a:t>
            </a:r>
            <a:r>
              <a:rPr lang="en-US" altLang="zh-CN" dirty="0"/>
              <a:t> main()</a:t>
            </a:r>
          </a:p>
          <a:p>
            <a:pPr marL="0" indent="0" eaLnBrk="1" hangingPunct="1">
              <a:buFont typeface="Wingdings" panose="05000000000000000000" pitchFamily="2" charset="2"/>
              <a:buNone/>
              <a:defRPr/>
            </a:pPr>
            <a:r>
              <a:rPr lang="en-US" altLang="zh-CN" dirty="0"/>
              <a:t>{ vector&lt;</a:t>
            </a:r>
            <a:r>
              <a:rPr lang="en-US" altLang="zh-CN" dirty="0" err="1"/>
              <a:t>int</a:t>
            </a:r>
            <a:r>
              <a:rPr lang="en-US" altLang="zh-CN" dirty="0"/>
              <a:t>&gt; v; //</a:t>
            </a:r>
            <a:r>
              <a:rPr lang="zh-CN" altLang="en-US" dirty="0"/>
              <a:t>创建一个</a:t>
            </a:r>
            <a:r>
              <a:rPr lang="en-US" altLang="zh-CN" dirty="0"/>
              <a:t>vector</a:t>
            </a:r>
            <a:r>
              <a:rPr lang="zh-CN" altLang="en-US" dirty="0"/>
              <a:t>类容器对象</a:t>
            </a:r>
            <a:r>
              <a:rPr lang="en-US" altLang="zh-CN" dirty="0"/>
              <a:t>v</a:t>
            </a:r>
            <a:endParaRPr lang="zh-CN" altLang="en-US" dirty="0"/>
          </a:p>
          <a:p>
            <a:pPr marL="0" indent="0" eaLnBrk="1" hangingPunct="1">
              <a:buFont typeface="Wingdings" panose="05000000000000000000" pitchFamily="2" charset="2"/>
              <a:buNone/>
              <a:defRPr/>
            </a:pPr>
            <a:r>
              <a:rPr lang="en-US" altLang="zh-CN" dirty="0"/>
              <a:t>   </a:t>
            </a:r>
            <a:r>
              <a:rPr lang="en-US" altLang="zh-CN" dirty="0" err="1"/>
              <a:t>int</a:t>
            </a:r>
            <a:r>
              <a:rPr lang="en-US" altLang="zh-CN" dirty="0"/>
              <a:t> x;</a:t>
            </a:r>
          </a:p>
          <a:p>
            <a:pPr marL="0" indent="0" eaLnBrk="1" hangingPunct="1">
              <a:buFont typeface="Wingdings" panose="05000000000000000000" pitchFamily="2" charset="2"/>
              <a:buNone/>
              <a:defRPr/>
            </a:pPr>
            <a:r>
              <a:rPr lang="en-US" altLang="zh-CN" dirty="0"/>
              <a:t>   </a:t>
            </a:r>
            <a:r>
              <a:rPr lang="en-US" altLang="zh-CN" dirty="0" err="1"/>
              <a:t>cin</a:t>
            </a:r>
            <a:r>
              <a:rPr lang="en-US" altLang="zh-CN" dirty="0"/>
              <a:t> &gt;&gt; x;</a:t>
            </a:r>
          </a:p>
          <a:p>
            <a:pPr marL="0" indent="0" eaLnBrk="1" hangingPunct="1">
              <a:buFont typeface="Wingdings" panose="05000000000000000000" pitchFamily="2" charset="2"/>
              <a:buNone/>
              <a:defRPr/>
            </a:pPr>
            <a:r>
              <a:rPr lang="en-US" altLang="zh-CN" dirty="0"/>
              <a:t>   while (x &gt; 0) //</a:t>
            </a:r>
            <a:r>
              <a:rPr lang="zh-CN" altLang="en-US" dirty="0"/>
              <a:t>循环往容器</a:t>
            </a:r>
            <a:r>
              <a:rPr lang="en-US" altLang="zh-CN" dirty="0"/>
              <a:t>v</a:t>
            </a:r>
            <a:r>
              <a:rPr lang="zh-CN" altLang="en-US" dirty="0"/>
              <a:t>中增加正的</a:t>
            </a:r>
            <a:r>
              <a:rPr lang="en-US" altLang="zh-CN" dirty="0" err="1"/>
              <a:t>int</a:t>
            </a:r>
            <a:r>
              <a:rPr lang="zh-CN" altLang="en-US" dirty="0"/>
              <a:t>型元素</a:t>
            </a:r>
          </a:p>
          <a:p>
            <a:pPr marL="0" indent="0" eaLnBrk="1" hangingPunct="1">
              <a:buFont typeface="Wingdings" panose="05000000000000000000" pitchFamily="2" charset="2"/>
              <a:buNone/>
              <a:defRPr/>
            </a:pPr>
            <a:r>
              <a:rPr lang="zh-CN" altLang="en-US" dirty="0"/>
              <a:t>   </a:t>
            </a:r>
            <a:r>
              <a:rPr lang="en-US" altLang="zh-CN" dirty="0"/>
              <a:t>{  </a:t>
            </a:r>
            <a:r>
              <a:rPr lang="en-US" altLang="zh-CN" dirty="0" err="1"/>
              <a:t>v.</a:t>
            </a:r>
            <a:r>
              <a:rPr lang="en-US" altLang="zh-CN" dirty="0" err="1">
                <a:solidFill>
                  <a:srgbClr val="FFC000"/>
                </a:solidFill>
              </a:rPr>
              <a:t>push_back</a:t>
            </a:r>
            <a:r>
              <a:rPr lang="en-US" altLang="zh-CN" dirty="0"/>
              <a:t>(x); //</a:t>
            </a:r>
            <a:r>
              <a:rPr lang="zh-CN" altLang="en-US" dirty="0"/>
              <a:t>往容器</a:t>
            </a:r>
            <a:r>
              <a:rPr lang="en-US" altLang="zh-CN" dirty="0"/>
              <a:t>v</a:t>
            </a:r>
            <a:r>
              <a:rPr lang="zh-CN" altLang="en-US" dirty="0"/>
              <a:t>的尾部增加一个元素</a:t>
            </a:r>
          </a:p>
          <a:p>
            <a:pPr marL="0" indent="0" eaLnBrk="1" hangingPunct="1">
              <a:buFont typeface="Wingdings" panose="05000000000000000000" pitchFamily="2" charset="2"/>
              <a:buNone/>
              <a:defRPr/>
            </a:pPr>
            <a:r>
              <a:rPr lang="zh-CN" altLang="en-US" dirty="0"/>
              <a:t>      </a:t>
            </a:r>
            <a:r>
              <a:rPr lang="en-US" altLang="zh-CN" dirty="0" err="1"/>
              <a:t>cin</a:t>
            </a:r>
            <a:r>
              <a:rPr lang="en-US" altLang="zh-CN" dirty="0"/>
              <a:t> &gt;&gt; x;</a:t>
            </a:r>
          </a:p>
          <a:p>
            <a:pPr marL="0" indent="0" eaLnBrk="1" hangingPunct="1">
              <a:buFont typeface="Wingdings" panose="05000000000000000000" pitchFamily="2" charset="2"/>
              <a:buNone/>
              <a:defRPr/>
            </a:pPr>
            <a:r>
              <a:rPr lang="en-US" altLang="zh-CN" dirty="0"/>
              <a:t>   }</a:t>
            </a:r>
          </a:p>
        </p:txBody>
      </p:sp>
      <p:sp>
        <p:nvSpPr>
          <p:cNvPr id="4" name="标题 1">
            <a:extLst>
              <a:ext uri="{FF2B5EF4-FFF2-40B4-BE49-F238E27FC236}">
                <a16:creationId xmlns:a16="http://schemas.microsoft.com/office/drawing/2014/main" id="{47B8BACB-E911-3951-6FFC-6AB4C3F38142}"/>
              </a:ext>
            </a:extLst>
          </p:cNvPr>
          <p:cNvSpPr>
            <a:spLocks noGrp="1"/>
          </p:cNvSpPr>
          <p:nvPr>
            <p:ph type="title"/>
          </p:nvPr>
        </p:nvSpPr>
        <p:spPr>
          <a:xfrm>
            <a:off x="107950" y="201613"/>
            <a:ext cx="8785225" cy="995362"/>
          </a:xfrm>
        </p:spPr>
        <p:txBody>
          <a:bodyPr/>
          <a:lstStyle/>
          <a:p>
            <a:pPr>
              <a:defRPr/>
            </a:pPr>
            <a:r>
              <a:rPr lang="zh-CN" altLang="en-US" sz="3600" dirty="0"/>
              <a:t>例：利用容器</a:t>
            </a:r>
            <a:r>
              <a:rPr lang="en-US" altLang="zh-CN" sz="3600" dirty="0"/>
              <a:t>vector</a:t>
            </a:r>
            <a:r>
              <a:rPr lang="zh-CN" altLang="en-US" sz="3600" dirty="0"/>
              <a:t>来实现序列元素的存储与统计</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D117B56-D45F-7B96-1EDF-FFBE106C0175}"/>
              </a:ext>
            </a:extLst>
          </p:cNvPr>
          <p:cNvSpPr>
            <a:spLocks noGrp="1"/>
          </p:cNvSpPr>
          <p:nvPr>
            <p:ph idx="1"/>
          </p:nvPr>
        </p:nvSpPr>
        <p:spPr>
          <a:xfrm>
            <a:off x="457200" y="765175"/>
            <a:ext cx="8435975" cy="5111750"/>
          </a:xfrm>
        </p:spPr>
        <p:txBody>
          <a:bodyPr>
            <a:normAutofit fontScale="85000" lnSpcReduction="10000"/>
          </a:bodyPr>
          <a:lstStyle/>
          <a:p>
            <a:pPr marL="0" indent="0">
              <a:buFont typeface="Wingdings" panose="05000000000000000000" pitchFamily="2" charset="2"/>
              <a:buNone/>
              <a:defRPr/>
            </a:pPr>
            <a:r>
              <a:rPr lang="en-US" altLang="zh-CN" dirty="0"/>
              <a:t>   </a:t>
            </a:r>
            <a:r>
              <a:rPr lang="en-US" altLang="zh-CN" dirty="0" err="1"/>
              <a:t>int</a:t>
            </a:r>
            <a:r>
              <a:rPr lang="en-US" altLang="zh-CN" dirty="0"/>
              <a:t> sum=0,max,min;</a:t>
            </a:r>
          </a:p>
          <a:p>
            <a:pPr marL="0" indent="0">
              <a:buFont typeface="Wingdings" panose="05000000000000000000" pitchFamily="2" charset="2"/>
              <a:buNone/>
              <a:defRPr/>
            </a:pPr>
            <a:r>
              <a:rPr lang="en-US" altLang="zh-CN" dirty="0"/>
              <a:t>   max = min = </a:t>
            </a:r>
            <a:r>
              <a:rPr lang="en-US" altLang="zh-CN" dirty="0">
                <a:solidFill>
                  <a:srgbClr val="FFC000"/>
                </a:solidFill>
              </a:rPr>
              <a:t>v[0]</a:t>
            </a:r>
            <a:r>
              <a:rPr lang="en-US" altLang="zh-CN" dirty="0"/>
              <a:t>; //vector</a:t>
            </a:r>
            <a:r>
              <a:rPr lang="zh-CN" altLang="en-US" dirty="0"/>
              <a:t>重载了操作符“</a:t>
            </a:r>
            <a:r>
              <a:rPr lang="en-US" altLang="zh-CN" dirty="0"/>
              <a:t>[]</a:t>
            </a:r>
            <a:r>
              <a:rPr lang="zh-CN" altLang="en-US" dirty="0"/>
              <a:t>”</a:t>
            </a:r>
            <a:endParaRPr lang="en-US" altLang="zh-CN" dirty="0"/>
          </a:p>
          <a:p>
            <a:pPr marL="0" indent="0">
              <a:buFont typeface="Wingdings" panose="05000000000000000000" pitchFamily="2" charset="2"/>
              <a:buNone/>
              <a:defRPr/>
            </a:pPr>
            <a:r>
              <a:rPr lang="en-US" altLang="zh-CN" dirty="0"/>
              <a:t>   for (</a:t>
            </a:r>
            <a:r>
              <a:rPr lang="en-US" altLang="zh-CN" dirty="0" err="1"/>
              <a:t>int</a:t>
            </a:r>
            <a:r>
              <a:rPr lang="en-US" altLang="zh-CN" dirty="0"/>
              <a:t> </a:t>
            </a:r>
            <a:r>
              <a:rPr lang="en-US" altLang="zh-CN" dirty="0" err="1"/>
              <a:t>i</a:t>
            </a:r>
            <a:r>
              <a:rPr lang="en-US" altLang="zh-CN" dirty="0"/>
              <a:t>=0; </a:t>
            </a:r>
            <a:r>
              <a:rPr lang="en-US" altLang="zh-CN" dirty="0" err="1"/>
              <a:t>i</a:t>
            </a:r>
            <a:r>
              <a:rPr lang="en-US" altLang="zh-CN" dirty="0"/>
              <a:t>&lt;</a:t>
            </a:r>
            <a:r>
              <a:rPr lang="en-US" altLang="zh-CN" dirty="0" err="1"/>
              <a:t>v.</a:t>
            </a:r>
            <a:r>
              <a:rPr lang="en-US" altLang="zh-CN" dirty="0" err="1">
                <a:solidFill>
                  <a:srgbClr val="FFC000"/>
                </a:solidFill>
              </a:rPr>
              <a:t>size</a:t>
            </a:r>
            <a:r>
              <a:rPr lang="en-US" altLang="zh-CN" dirty="0">
                <a:solidFill>
                  <a:srgbClr val="FFC000"/>
                </a:solidFill>
              </a:rPr>
              <a:t>()</a:t>
            </a:r>
            <a:r>
              <a:rPr lang="en-US" altLang="zh-CN" dirty="0"/>
              <a:t>; </a:t>
            </a:r>
            <a:r>
              <a:rPr lang="en-US" altLang="zh-CN" dirty="0" err="1"/>
              <a:t>i</a:t>
            </a:r>
            <a:r>
              <a:rPr lang="en-US" altLang="zh-CN" dirty="0"/>
              <a:t>++) //</a:t>
            </a:r>
            <a:r>
              <a:rPr lang="zh-CN" altLang="en-US" dirty="0"/>
              <a:t>遍历容器元素</a:t>
            </a:r>
          </a:p>
          <a:p>
            <a:pPr marL="0" indent="0">
              <a:buFont typeface="Wingdings" panose="05000000000000000000" pitchFamily="2" charset="2"/>
              <a:buNone/>
              <a:defRPr/>
            </a:pPr>
            <a:r>
              <a:rPr lang="zh-CN" altLang="en-US" dirty="0"/>
              <a:t>   </a:t>
            </a:r>
            <a:r>
              <a:rPr lang="en-US" altLang="zh-CN" dirty="0"/>
              <a:t>{ sum += v[</a:t>
            </a:r>
            <a:r>
              <a:rPr lang="en-US" altLang="zh-CN" dirty="0" err="1"/>
              <a:t>i</a:t>
            </a:r>
            <a:r>
              <a:rPr lang="en-US" altLang="zh-CN" dirty="0"/>
              <a:t>]; </a:t>
            </a:r>
          </a:p>
          <a:p>
            <a:pPr marL="0" indent="0">
              <a:buFont typeface="Wingdings" panose="05000000000000000000" pitchFamily="2" charset="2"/>
              <a:buNone/>
              <a:defRPr/>
            </a:pPr>
            <a:r>
              <a:rPr lang="en-US" altLang="zh-CN" dirty="0"/>
              <a:t>      if (v[</a:t>
            </a:r>
            <a:r>
              <a:rPr lang="en-US" altLang="zh-CN" dirty="0" err="1"/>
              <a:t>i</a:t>
            </a:r>
            <a:r>
              <a:rPr lang="en-US" altLang="zh-CN" dirty="0"/>
              <a:t>] &lt; min) min = v[</a:t>
            </a:r>
            <a:r>
              <a:rPr lang="en-US" altLang="zh-CN" dirty="0" err="1"/>
              <a:t>i</a:t>
            </a:r>
            <a:r>
              <a:rPr lang="en-US" altLang="zh-CN" dirty="0"/>
              <a:t>];</a:t>
            </a:r>
          </a:p>
          <a:p>
            <a:pPr marL="0" indent="0">
              <a:buFont typeface="Wingdings" panose="05000000000000000000" pitchFamily="2" charset="2"/>
              <a:buNone/>
              <a:defRPr/>
            </a:pPr>
            <a:r>
              <a:rPr lang="en-US" altLang="zh-CN" dirty="0"/>
              <a:t>      else if (v[</a:t>
            </a:r>
            <a:r>
              <a:rPr lang="en-US" altLang="zh-CN" dirty="0" err="1"/>
              <a:t>i</a:t>
            </a:r>
            <a:r>
              <a:rPr lang="en-US" altLang="zh-CN" dirty="0"/>
              <a:t>] &gt; max) max = v[</a:t>
            </a:r>
            <a:r>
              <a:rPr lang="en-US" altLang="zh-CN" dirty="0" err="1"/>
              <a:t>i</a:t>
            </a:r>
            <a:r>
              <a:rPr lang="en-US" altLang="zh-CN" dirty="0"/>
              <a:t>];</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a:t>
            </a:r>
            <a:r>
              <a:rPr lang="en-US" altLang="zh-CN" dirty="0" err="1"/>
              <a:t>cout</a:t>
            </a:r>
            <a:r>
              <a:rPr lang="en-US" altLang="zh-CN" dirty="0"/>
              <a:t> &lt;&lt; "sum=" &lt;&lt; sum &lt;&lt; ",max=" </a:t>
            </a:r>
          </a:p>
          <a:p>
            <a:pPr marL="0" indent="0">
              <a:buFont typeface="Wingdings" panose="05000000000000000000" pitchFamily="2" charset="2"/>
              <a:buNone/>
              <a:defRPr/>
            </a:pPr>
            <a:r>
              <a:rPr lang="en-US" altLang="zh-CN" dirty="0"/>
              <a:t>          &lt;&lt; max &lt;&lt; ",min="  &lt;&lt; min &lt;&lt; </a:t>
            </a:r>
            <a:r>
              <a:rPr lang="en-US" altLang="zh-CN" dirty="0" err="1"/>
              <a:t>endl</a:t>
            </a:r>
            <a:r>
              <a:rPr lang="en-US" altLang="zh-CN" dirty="0"/>
              <a:t>;</a:t>
            </a:r>
          </a:p>
          <a:p>
            <a:pPr marL="0" indent="0">
              <a:buFont typeface="Wingdings" panose="05000000000000000000" pitchFamily="2" charset="2"/>
              <a:buNone/>
              <a:defRPr/>
            </a:pPr>
            <a:r>
              <a:rPr lang="en-US" altLang="zh-CN" dirty="0"/>
              <a:t>   return 0;</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835E588-61AF-EA5C-536A-A36CB8FF4C8E}"/>
              </a:ext>
            </a:extLst>
          </p:cNvPr>
          <p:cNvSpPr>
            <a:spLocks noGrp="1"/>
          </p:cNvSpPr>
          <p:nvPr>
            <p:ph idx="1"/>
          </p:nvPr>
        </p:nvSpPr>
        <p:spPr>
          <a:xfrm>
            <a:off x="457200" y="765175"/>
            <a:ext cx="8435975" cy="5111750"/>
          </a:xfrm>
        </p:spPr>
        <p:txBody>
          <a:bodyPr>
            <a:normAutofit fontScale="85000" lnSpcReduction="10000"/>
          </a:bodyPr>
          <a:lstStyle/>
          <a:p>
            <a:pPr marL="0" indent="0">
              <a:buFont typeface="Wingdings" panose="05000000000000000000" pitchFamily="2" charset="2"/>
              <a:buNone/>
              <a:defRPr/>
            </a:pPr>
            <a:r>
              <a:rPr lang="en-US" altLang="zh-CN" dirty="0"/>
              <a:t>   </a:t>
            </a:r>
            <a:r>
              <a:rPr lang="en-US" altLang="zh-CN" dirty="0" err="1"/>
              <a:t>int</a:t>
            </a:r>
            <a:r>
              <a:rPr lang="en-US" altLang="zh-CN" dirty="0"/>
              <a:t> sum=0,max,min;</a:t>
            </a:r>
          </a:p>
          <a:p>
            <a:pPr marL="0" indent="0">
              <a:buFont typeface="Wingdings" panose="05000000000000000000" pitchFamily="2" charset="2"/>
              <a:buNone/>
              <a:defRPr/>
            </a:pPr>
            <a:r>
              <a:rPr lang="en-US" altLang="zh-CN" dirty="0"/>
              <a:t>   max = min = v[0];</a:t>
            </a:r>
          </a:p>
          <a:p>
            <a:pPr marL="0" indent="0">
              <a:buFont typeface="Wingdings" panose="05000000000000000000" pitchFamily="2" charset="2"/>
              <a:buNone/>
              <a:defRPr/>
            </a:pPr>
            <a:r>
              <a:rPr lang="en-US" altLang="zh-CN" dirty="0"/>
              <a:t>   for (</a:t>
            </a:r>
            <a:r>
              <a:rPr lang="en-US" altLang="zh-CN" dirty="0" err="1"/>
              <a:t>int</a:t>
            </a:r>
            <a:r>
              <a:rPr lang="en-US" altLang="zh-CN" dirty="0"/>
              <a:t> n: v) //</a:t>
            </a:r>
            <a:r>
              <a:rPr lang="zh-CN" altLang="en-US" dirty="0"/>
              <a:t>遍历容器元素（</a:t>
            </a:r>
            <a:r>
              <a:rPr lang="en-US" altLang="zh-CN" dirty="0"/>
              <a:t>C++11</a:t>
            </a:r>
            <a:r>
              <a:rPr lang="zh-CN" altLang="en-US" dirty="0"/>
              <a:t>）</a:t>
            </a:r>
          </a:p>
          <a:p>
            <a:pPr marL="0" indent="0">
              <a:buFont typeface="Wingdings" panose="05000000000000000000" pitchFamily="2" charset="2"/>
              <a:buNone/>
              <a:defRPr/>
            </a:pPr>
            <a:r>
              <a:rPr lang="en-US" altLang="zh-CN" dirty="0"/>
              <a:t>   { sum += n;</a:t>
            </a:r>
          </a:p>
          <a:p>
            <a:pPr marL="0" indent="0">
              <a:buFont typeface="Wingdings" panose="05000000000000000000" pitchFamily="2" charset="2"/>
              <a:buNone/>
              <a:defRPr/>
            </a:pPr>
            <a:r>
              <a:rPr lang="en-US" altLang="zh-CN" dirty="0"/>
              <a:t>      if (n &lt; min) min = n;</a:t>
            </a:r>
          </a:p>
          <a:p>
            <a:pPr marL="0" indent="0">
              <a:buFont typeface="Wingdings" panose="05000000000000000000" pitchFamily="2" charset="2"/>
              <a:buNone/>
              <a:defRPr/>
            </a:pPr>
            <a:r>
              <a:rPr lang="en-US" altLang="zh-CN" dirty="0"/>
              <a:t>      else if (n &gt; max) max = n;</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a:t>
            </a:r>
            <a:r>
              <a:rPr lang="en-US" altLang="zh-CN" dirty="0" err="1"/>
              <a:t>cout</a:t>
            </a:r>
            <a:r>
              <a:rPr lang="en-US" altLang="zh-CN" dirty="0"/>
              <a:t> &lt;&lt; "sum=" &lt;&lt; sum &lt;&lt; ",max=" </a:t>
            </a:r>
          </a:p>
          <a:p>
            <a:pPr marL="0" indent="0">
              <a:buFont typeface="Wingdings" panose="05000000000000000000" pitchFamily="2" charset="2"/>
              <a:buNone/>
              <a:defRPr/>
            </a:pPr>
            <a:r>
              <a:rPr lang="en-US" altLang="zh-CN" dirty="0"/>
              <a:t>          &lt;&lt; max &lt;&lt; ",min="  &lt;&lt; min &lt;&lt; </a:t>
            </a:r>
            <a:r>
              <a:rPr lang="en-US" altLang="zh-CN" dirty="0" err="1"/>
              <a:t>endl</a:t>
            </a:r>
            <a:r>
              <a:rPr lang="en-US" altLang="zh-CN" dirty="0"/>
              <a:t>;</a:t>
            </a:r>
          </a:p>
          <a:p>
            <a:pPr marL="0" indent="0">
              <a:buFont typeface="Wingdings" panose="05000000000000000000" pitchFamily="2" charset="2"/>
              <a:buNone/>
              <a:defRPr/>
            </a:pPr>
            <a:r>
              <a:rPr lang="en-US" altLang="zh-CN" dirty="0"/>
              <a:t>   return 0;</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017427-F130-15D5-036F-D82F0202E718}"/>
              </a:ext>
            </a:extLst>
          </p:cNvPr>
          <p:cNvSpPr>
            <a:spLocks noGrp="1"/>
          </p:cNvSpPr>
          <p:nvPr>
            <p:ph type="title"/>
          </p:nvPr>
        </p:nvSpPr>
        <p:spPr>
          <a:xfrm>
            <a:off x="107950" y="188913"/>
            <a:ext cx="8712200" cy="1139825"/>
          </a:xfrm>
        </p:spPr>
        <p:txBody>
          <a:bodyPr>
            <a:noAutofit/>
          </a:bodyPr>
          <a:lstStyle/>
          <a:p>
            <a:pPr>
              <a:defRPr/>
            </a:pPr>
            <a:r>
              <a:rPr lang="zh-CN" altLang="en-US" sz="3600" dirty="0"/>
              <a:t>例：利用容器</a:t>
            </a:r>
            <a:r>
              <a:rPr lang="en-US" altLang="zh-CN" sz="3600" dirty="0"/>
              <a:t>map</a:t>
            </a:r>
            <a:r>
              <a:rPr lang="zh-CN" altLang="en-US" sz="3600" dirty="0"/>
              <a:t>来实现电话号码簿功能</a:t>
            </a:r>
          </a:p>
        </p:txBody>
      </p:sp>
      <p:sp>
        <p:nvSpPr>
          <p:cNvPr id="3" name="内容占位符 2">
            <a:extLst>
              <a:ext uri="{FF2B5EF4-FFF2-40B4-BE49-F238E27FC236}">
                <a16:creationId xmlns:a16="http://schemas.microsoft.com/office/drawing/2014/main" id="{39058A54-907E-7AE5-7555-8011D169A3B3}"/>
              </a:ext>
            </a:extLst>
          </p:cNvPr>
          <p:cNvSpPr>
            <a:spLocks noGrp="1"/>
          </p:cNvSpPr>
          <p:nvPr>
            <p:ph idx="1"/>
          </p:nvPr>
        </p:nvSpPr>
        <p:spPr>
          <a:xfrm>
            <a:off x="206375" y="1600200"/>
            <a:ext cx="8686800" cy="5141913"/>
          </a:xfrm>
        </p:spPr>
        <p:txBody>
          <a:bodyPr>
            <a:normAutofit fontScale="62500" lnSpcReduction="20000"/>
          </a:bodyPr>
          <a:lstStyle/>
          <a:p>
            <a:pPr marL="0" indent="0">
              <a:buFont typeface="Wingdings" panose="05000000000000000000" pitchFamily="2" charset="2"/>
              <a:buNone/>
              <a:defRPr/>
            </a:pPr>
            <a:r>
              <a:rPr lang="en-US" altLang="zh-CN" dirty="0"/>
              <a:t>#include &lt;</a:t>
            </a:r>
            <a:r>
              <a:rPr lang="en-US" altLang="zh-CN" dirty="0" err="1"/>
              <a:t>iostream</a:t>
            </a:r>
            <a:r>
              <a:rPr lang="en-US" altLang="zh-CN" dirty="0"/>
              <a:t>&gt;</a:t>
            </a:r>
          </a:p>
          <a:p>
            <a:pPr marL="0" indent="0">
              <a:buFont typeface="Wingdings" panose="05000000000000000000" pitchFamily="2" charset="2"/>
              <a:buNone/>
              <a:defRPr/>
            </a:pPr>
            <a:r>
              <a:rPr lang="en-US" altLang="zh-CN" dirty="0"/>
              <a:t>#include &lt;map&gt;</a:t>
            </a:r>
          </a:p>
          <a:p>
            <a:pPr marL="0" indent="0">
              <a:buFont typeface="Wingdings" panose="05000000000000000000" pitchFamily="2" charset="2"/>
              <a:buNone/>
              <a:defRPr/>
            </a:pPr>
            <a:r>
              <a:rPr lang="en-US" altLang="zh-CN" dirty="0"/>
              <a:t>#include &lt;string&gt;</a:t>
            </a:r>
          </a:p>
          <a:p>
            <a:pPr marL="0" indent="0">
              <a:buFont typeface="Wingdings" panose="05000000000000000000" pitchFamily="2" charset="2"/>
              <a:buNone/>
              <a:defRPr/>
            </a:pPr>
            <a:r>
              <a:rPr lang="en-US" altLang="zh-CN" dirty="0"/>
              <a:t>using namespace </a:t>
            </a:r>
            <a:r>
              <a:rPr lang="en-US" altLang="zh-CN" dirty="0" err="1"/>
              <a:t>std</a:t>
            </a:r>
            <a:r>
              <a:rPr lang="en-US" altLang="zh-CN" dirty="0"/>
              <a:t>;</a:t>
            </a:r>
          </a:p>
          <a:p>
            <a:pPr marL="0" indent="0">
              <a:buFont typeface="Wingdings" panose="05000000000000000000" pitchFamily="2" charset="2"/>
              <a:buNone/>
              <a:defRPr/>
            </a:pPr>
            <a:r>
              <a:rPr lang="en-US" altLang="zh-CN" dirty="0" err="1"/>
              <a:t>int</a:t>
            </a:r>
            <a:r>
              <a:rPr lang="en-US" altLang="zh-CN" dirty="0"/>
              <a:t> main()</a:t>
            </a:r>
          </a:p>
          <a:p>
            <a:pPr marL="0" indent="0">
              <a:buFont typeface="Wingdings" panose="05000000000000000000" pitchFamily="2" charset="2"/>
              <a:buNone/>
              <a:defRPr/>
            </a:pPr>
            <a:r>
              <a:rPr lang="en-US" altLang="zh-CN" dirty="0"/>
              <a:t>{ </a:t>
            </a:r>
            <a:r>
              <a:rPr lang="en-US" altLang="zh-CN" dirty="0">
                <a:solidFill>
                  <a:srgbClr val="FFC000"/>
                </a:solidFill>
              </a:rPr>
              <a:t>map&lt;</a:t>
            </a:r>
            <a:r>
              <a:rPr lang="en-US" altLang="zh-CN" dirty="0" err="1">
                <a:solidFill>
                  <a:srgbClr val="FFC000"/>
                </a:solidFill>
              </a:rPr>
              <a:t>string,int</a:t>
            </a:r>
            <a:r>
              <a:rPr lang="en-US" altLang="zh-CN" dirty="0">
                <a:solidFill>
                  <a:srgbClr val="FFC000"/>
                </a:solidFill>
              </a:rPr>
              <a:t>&gt;</a:t>
            </a:r>
            <a:r>
              <a:rPr lang="en-US" altLang="zh-CN" dirty="0"/>
              <a:t> </a:t>
            </a:r>
            <a:r>
              <a:rPr lang="en-US" altLang="zh-CN" dirty="0" err="1"/>
              <a:t>phone_book</a:t>
            </a:r>
            <a:r>
              <a:rPr lang="en-US" altLang="zh-CN" dirty="0"/>
              <a:t>; //</a:t>
            </a:r>
            <a:r>
              <a:rPr lang="zh-CN" altLang="en-US" dirty="0"/>
              <a:t>创建一个</a:t>
            </a:r>
            <a:r>
              <a:rPr lang="en-US" altLang="zh-CN" dirty="0"/>
              <a:t>map</a:t>
            </a:r>
            <a:r>
              <a:rPr lang="zh-CN" altLang="en-US" dirty="0"/>
              <a:t>类容器，</a:t>
            </a:r>
            <a:endParaRPr lang="en-US" altLang="zh-CN" dirty="0"/>
          </a:p>
          <a:p>
            <a:pPr marL="0" indent="0">
              <a:buFont typeface="Wingdings" panose="05000000000000000000" pitchFamily="2" charset="2"/>
              <a:buNone/>
              <a:defRPr/>
            </a:pPr>
            <a:r>
              <a:rPr lang="en-US" altLang="zh-CN" dirty="0"/>
              <a:t>				          //</a:t>
            </a:r>
            <a:r>
              <a:rPr lang="zh-CN" altLang="en-US" dirty="0"/>
              <a:t>用于存储电话号码簿</a:t>
            </a:r>
          </a:p>
          <a:p>
            <a:pPr marL="0" indent="0">
              <a:buFont typeface="Wingdings" panose="05000000000000000000" pitchFamily="2" charset="2"/>
              <a:buNone/>
              <a:defRPr/>
            </a:pPr>
            <a:r>
              <a:rPr lang="en-US" altLang="zh-CN" dirty="0"/>
              <a:t>  //</a:t>
            </a:r>
            <a:r>
              <a:rPr lang="zh-CN" altLang="en-US" dirty="0">
                <a:solidFill>
                  <a:srgbClr val="FFC000"/>
                </a:solidFill>
              </a:rPr>
              <a:t>创建电话簿</a:t>
            </a:r>
          </a:p>
          <a:p>
            <a:pPr marL="0" indent="0">
              <a:buFont typeface="Wingdings" panose="05000000000000000000" pitchFamily="2" charset="2"/>
              <a:buNone/>
              <a:defRPr/>
            </a:pPr>
            <a:r>
              <a:rPr lang="en-US" altLang="zh-CN" dirty="0"/>
              <a:t>  </a:t>
            </a:r>
            <a:r>
              <a:rPr lang="en-US" altLang="zh-CN" dirty="0">
                <a:solidFill>
                  <a:srgbClr val="FFC000"/>
                </a:solidFill>
              </a:rPr>
              <a:t>pair&lt;</a:t>
            </a:r>
            <a:r>
              <a:rPr lang="en-US" altLang="zh-CN" dirty="0" err="1">
                <a:solidFill>
                  <a:srgbClr val="FFC000"/>
                </a:solidFill>
              </a:rPr>
              <a:t>string,int</a:t>
            </a:r>
            <a:r>
              <a:rPr lang="en-US" altLang="zh-CN" dirty="0">
                <a:solidFill>
                  <a:srgbClr val="FFC000"/>
                </a:solidFill>
              </a:rPr>
              <a:t>&gt;</a:t>
            </a:r>
            <a:r>
              <a:rPr lang="en-US" altLang="zh-CN" dirty="0"/>
              <a:t> item; //pair&lt;</a:t>
            </a:r>
            <a:r>
              <a:rPr lang="en-US" altLang="zh-CN" dirty="0" err="1"/>
              <a:t>string,int</a:t>
            </a:r>
            <a:r>
              <a:rPr lang="en-US" altLang="zh-CN" dirty="0"/>
              <a:t>&gt;</a:t>
            </a:r>
            <a:r>
              <a:rPr lang="zh-CN" altLang="en-US" dirty="0"/>
              <a:t>是</a:t>
            </a:r>
            <a:r>
              <a:rPr lang="en-US" altLang="zh-CN" dirty="0" err="1"/>
              <a:t>phone_book</a:t>
            </a:r>
            <a:r>
              <a:rPr lang="zh-CN" altLang="en-US" dirty="0"/>
              <a:t>的元素类型</a:t>
            </a:r>
          </a:p>
          <a:p>
            <a:pPr marL="0" indent="0">
              <a:buFont typeface="Wingdings" panose="05000000000000000000" pitchFamily="2" charset="2"/>
              <a:buNone/>
              <a:defRPr/>
            </a:pPr>
            <a:r>
              <a:rPr lang="en-US" altLang="zh-CN" dirty="0"/>
              <a:t>  </a:t>
            </a:r>
            <a:r>
              <a:rPr lang="en-US" altLang="zh-CN" dirty="0" err="1"/>
              <a:t>item.first</a:t>
            </a:r>
            <a:r>
              <a:rPr lang="en-US" altLang="zh-CN" dirty="0"/>
              <a:t> = "</a:t>
            </a:r>
            <a:r>
              <a:rPr lang="en-US" altLang="zh-CN" dirty="0" err="1"/>
              <a:t>wang</a:t>
            </a:r>
            <a:r>
              <a:rPr lang="en-US" altLang="zh-CN" dirty="0"/>
              <a:t>"; </a:t>
            </a:r>
            <a:r>
              <a:rPr lang="en-US" altLang="zh-CN" dirty="0" err="1"/>
              <a:t>item.second</a:t>
            </a:r>
            <a:r>
              <a:rPr lang="en-US" altLang="zh-CN" dirty="0"/>
              <a:t> = 12345678;</a:t>
            </a:r>
          </a:p>
          <a:p>
            <a:pPr marL="0" indent="0">
              <a:buFont typeface="Wingdings" panose="05000000000000000000" pitchFamily="2" charset="2"/>
              <a:buNone/>
              <a:defRPr/>
            </a:pPr>
            <a:r>
              <a:rPr lang="en-US" altLang="zh-CN" dirty="0"/>
              <a:t>  </a:t>
            </a:r>
            <a:r>
              <a:rPr lang="en-US" altLang="zh-CN" dirty="0" err="1"/>
              <a:t>phone_book.</a:t>
            </a:r>
            <a:r>
              <a:rPr lang="en-US" altLang="zh-CN" dirty="0" err="1">
                <a:solidFill>
                  <a:srgbClr val="FFC000"/>
                </a:solidFill>
              </a:rPr>
              <a:t>insert</a:t>
            </a:r>
            <a:r>
              <a:rPr lang="en-US" altLang="zh-CN" dirty="0"/>
              <a:t>(item); //</a:t>
            </a:r>
            <a:r>
              <a:rPr lang="zh-CN" altLang="en-US" dirty="0"/>
              <a:t>在容器</a:t>
            </a:r>
            <a:r>
              <a:rPr lang="en-US" altLang="zh-CN" dirty="0" err="1"/>
              <a:t>phone_book</a:t>
            </a:r>
            <a:r>
              <a:rPr lang="zh-CN" altLang="en-US" dirty="0"/>
              <a:t>中增加一个元素</a:t>
            </a:r>
          </a:p>
          <a:p>
            <a:pPr marL="0" indent="0">
              <a:buFont typeface="Wingdings" panose="05000000000000000000" pitchFamily="2" charset="2"/>
              <a:buNone/>
              <a:defRPr/>
            </a:pPr>
            <a:r>
              <a:rPr lang="en-US" altLang="zh-CN" dirty="0"/>
              <a:t>  </a:t>
            </a:r>
            <a:r>
              <a:rPr lang="en-US" altLang="zh-CN" dirty="0" err="1"/>
              <a:t>item.first</a:t>
            </a:r>
            <a:r>
              <a:rPr lang="en-US" altLang="zh-CN" dirty="0"/>
              <a:t> = "li"; </a:t>
            </a:r>
            <a:r>
              <a:rPr lang="en-US" altLang="zh-CN" dirty="0" err="1"/>
              <a:t>item.second</a:t>
            </a:r>
            <a:r>
              <a:rPr lang="en-US" altLang="zh-CN" dirty="0"/>
              <a:t> = 87654321;</a:t>
            </a:r>
          </a:p>
          <a:p>
            <a:pPr marL="0" indent="0">
              <a:buFont typeface="Wingdings" panose="05000000000000000000" pitchFamily="2" charset="2"/>
              <a:buNone/>
              <a:defRPr/>
            </a:pPr>
            <a:r>
              <a:rPr lang="en-US" altLang="zh-CN" dirty="0"/>
              <a:t>  </a:t>
            </a:r>
            <a:r>
              <a:rPr lang="en-US" altLang="zh-CN" dirty="0" err="1"/>
              <a:t>phone_book.</a:t>
            </a:r>
            <a:r>
              <a:rPr lang="en-US" altLang="zh-CN" dirty="0" err="1">
                <a:solidFill>
                  <a:srgbClr val="FFC000"/>
                </a:solidFill>
              </a:rPr>
              <a:t>insert</a:t>
            </a:r>
            <a:r>
              <a:rPr lang="en-US" altLang="zh-CN" dirty="0"/>
              <a:t>(item); //</a:t>
            </a:r>
            <a:r>
              <a:rPr lang="zh-CN" altLang="en-US" dirty="0"/>
              <a:t>在容器</a:t>
            </a:r>
            <a:r>
              <a:rPr lang="en-US" altLang="zh-CN" dirty="0" err="1"/>
              <a:t>phone_book</a:t>
            </a:r>
            <a:r>
              <a:rPr lang="zh-CN" altLang="en-US" dirty="0"/>
              <a:t>中增加一个元素</a:t>
            </a:r>
          </a:p>
          <a:p>
            <a:pPr marL="0" indent="0">
              <a:buFont typeface="Wingdings" panose="05000000000000000000" pitchFamily="2" charset="2"/>
              <a:buNone/>
              <a:defRPr/>
            </a:pPr>
            <a:r>
              <a:rPr lang="en-US" altLang="zh-CN" dirty="0"/>
              <a:t>  </a:t>
            </a:r>
            <a:r>
              <a:rPr lang="en-US" altLang="zh-CN" dirty="0" err="1"/>
              <a:t>item.first</a:t>
            </a:r>
            <a:r>
              <a:rPr lang="en-US" altLang="zh-CN" dirty="0"/>
              <a:t> = "</a:t>
            </a:r>
            <a:r>
              <a:rPr lang="en-US" altLang="zh-CN" dirty="0" err="1"/>
              <a:t>zhang</a:t>
            </a:r>
            <a:r>
              <a:rPr lang="en-US" altLang="zh-CN" dirty="0"/>
              <a:t>"; </a:t>
            </a:r>
            <a:r>
              <a:rPr lang="en-US" altLang="zh-CN" dirty="0" err="1"/>
              <a:t>item.second</a:t>
            </a:r>
            <a:r>
              <a:rPr lang="en-US" altLang="zh-CN" dirty="0"/>
              <a:t> = 56781234;</a:t>
            </a:r>
          </a:p>
          <a:p>
            <a:pPr marL="0" indent="0">
              <a:buFont typeface="Wingdings" panose="05000000000000000000" pitchFamily="2" charset="2"/>
              <a:buNone/>
              <a:defRPr/>
            </a:pPr>
            <a:r>
              <a:rPr lang="en-US" altLang="zh-CN" dirty="0"/>
              <a:t>  </a:t>
            </a:r>
            <a:r>
              <a:rPr lang="en-US" altLang="zh-CN" dirty="0" err="1"/>
              <a:t>phone_book.</a:t>
            </a:r>
            <a:r>
              <a:rPr lang="en-US" altLang="zh-CN" dirty="0" err="1">
                <a:solidFill>
                  <a:srgbClr val="FFC000"/>
                </a:solidFill>
              </a:rPr>
              <a:t>insert</a:t>
            </a:r>
            <a:r>
              <a:rPr lang="en-US" altLang="zh-CN" dirty="0"/>
              <a:t>(item); //</a:t>
            </a:r>
            <a:r>
              <a:rPr lang="zh-CN" altLang="en-US" dirty="0"/>
              <a:t>在容器</a:t>
            </a:r>
            <a:r>
              <a:rPr lang="en-US" altLang="zh-CN" dirty="0" err="1"/>
              <a:t>phone_book</a:t>
            </a:r>
            <a:r>
              <a:rPr lang="zh-CN" altLang="en-US" dirty="0"/>
              <a:t>中增加一个元素</a:t>
            </a:r>
          </a:p>
          <a:p>
            <a:pPr marL="0" indent="0">
              <a:buFont typeface="Wingdings" panose="05000000000000000000" pitchFamily="2" charset="2"/>
              <a:buNone/>
              <a:defRPr/>
            </a:pPr>
            <a:r>
              <a:rPr lang="en-US" altLang="zh-CN" dirty="0"/>
              <a:t>  ......</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00F3DF1-A5E3-FB16-0564-DD650100FBAF}"/>
              </a:ext>
            </a:extLst>
          </p:cNvPr>
          <p:cNvSpPr>
            <a:spLocks noGrp="1"/>
          </p:cNvSpPr>
          <p:nvPr>
            <p:ph idx="1"/>
          </p:nvPr>
        </p:nvSpPr>
        <p:spPr>
          <a:xfrm>
            <a:off x="179388" y="187325"/>
            <a:ext cx="8964612" cy="6554788"/>
          </a:xfrm>
        </p:spPr>
        <p:txBody>
          <a:bodyPr>
            <a:normAutofit fontScale="70000" lnSpcReduction="20000"/>
          </a:bodyPr>
          <a:lstStyle/>
          <a:p>
            <a:pPr marL="0" indent="0">
              <a:buFont typeface="Wingdings" panose="05000000000000000000" pitchFamily="2" charset="2"/>
              <a:buNone/>
              <a:defRPr/>
            </a:pPr>
            <a:r>
              <a:rPr lang="en-US" altLang="zh-CN" dirty="0"/>
              <a:t>  //</a:t>
            </a:r>
            <a:r>
              <a:rPr lang="zh-CN" altLang="en-US" dirty="0"/>
              <a:t>输出电话号码簿</a:t>
            </a:r>
          </a:p>
          <a:p>
            <a:pPr marL="0" indent="0">
              <a:buFont typeface="Wingdings" panose="05000000000000000000" pitchFamily="2" charset="2"/>
              <a:buNone/>
              <a:defRPr/>
            </a:pPr>
            <a:r>
              <a:rPr lang="en-US" altLang="zh-CN" dirty="0"/>
              <a:t>  </a:t>
            </a:r>
            <a:r>
              <a:rPr lang="en-US" altLang="zh-CN" dirty="0" err="1"/>
              <a:t>cout</a:t>
            </a:r>
            <a:r>
              <a:rPr lang="en-US" altLang="zh-CN" dirty="0"/>
              <a:t> &lt;&lt; "</a:t>
            </a:r>
            <a:r>
              <a:rPr lang="zh-CN" altLang="en-US" dirty="0"/>
              <a:t>电话号码簿的信息如下：</a:t>
            </a:r>
            <a:r>
              <a:rPr lang="en-US" altLang="zh-CN" dirty="0"/>
              <a:t>\n";</a:t>
            </a:r>
          </a:p>
          <a:p>
            <a:pPr marL="0" indent="0">
              <a:buFont typeface="Wingdings" panose="05000000000000000000" pitchFamily="2" charset="2"/>
              <a:buNone/>
              <a:defRPr/>
            </a:pPr>
            <a:r>
              <a:rPr lang="en-US" altLang="zh-CN" dirty="0"/>
              <a:t>  for (</a:t>
            </a:r>
            <a:r>
              <a:rPr lang="en-US" altLang="zh-CN" dirty="0">
                <a:solidFill>
                  <a:srgbClr val="FFC000"/>
                </a:solidFill>
              </a:rPr>
              <a:t>pair&lt;string, </a:t>
            </a:r>
            <a:r>
              <a:rPr lang="en-US" altLang="zh-CN" dirty="0" err="1">
                <a:solidFill>
                  <a:srgbClr val="FFC000"/>
                </a:solidFill>
              </a:rPr>
              <a:t>int</a:t>
            </a:r>
            <a:r>
              <a:rPr lang="en-US" altLang="zh-CN" dirty="0">
                <a:solidFill>
                  <a:srgbClr val="FFC000"/>
                </a:solidFill>
              </a:rPr>
              <a:t>&gt;</a:t>
            </a:r>
            <a:r>
              <a:rPr lang="en-US" altLang="zh-CN" dirty="0"/>
              <a:t> item: </a:t>
            </a:r>
            <a:r>
              <a:rPr lang="en-US" altLang="zh-CN" dirty="0" err="1"/>
              <a:t>phone_book</a:t>
            </a:r>
            <a:r>
              <a:rPr lang="en-US" altLang="zh-CN" dirty="0"/>
              <a:t>)</a:t>
            </a:r>
          </a:p>
          <a:p>
            <a:pPr marL="0" indent="0">
              <a:buFont typeface="Wingdings" panose="05000000000000000000" pitchFamily="2" charset="2"/>
              <a:buNone/>
              <a:defRPr/>
            </a:pPr>
            <a:r>
              <a:rPr lang="en-US" altLang="zh-CN" dirty="0"/>
              <a:t>    </a:t>
            </a:r>
            <a:r>
              <a:rPr lang="en-US" altLang="zh-CN" dirty="0" err="1"/>
              <a:t>cout</a:t>
            </a:r>
            <a:r>
              <a:rPr lang="en-US" altLang="zh-CN" dirty="0"/>
              <a:t> &lt;&lt; </a:t>
            </a:r>
            <a:r>
              <a:rPr lang="en-US" altLang="zh-CN" dirty="0" err="1"/>
              <a:t>item.first</a:t>
            </a:r>
            <a:r>
              <a:rPr lang="en-US" altLang="zh-CN" dirty="0"/>
              <a:t> &lt;&lt; ": " &lt;&lt; </a:t>
            </a:r>
            <a:r>
              <a:rPr lang="en-US" altLang="zh-CN" dirty="0" err="1"/>
              <a:t>item.second</a:t>
            </a:r>
            <a:r>
              <a:rPr lang="en-US" altLang="zh-CN" dirty="0"/>
              <a:t> &lt;&lt; </a:t>
            </a:r>
            <a:r>
              <a:rPr lang="en-US" altLang="zh-CN" dirty="0" err="1"/>
              <a:t>endl</a:t>
            </a:r>
            <a:r>
              <a:rPr lang="en-US" altLang="zh-CN" dirty="0"/>
              <a:t>; </a:t>
            </a:r>
          </a:p>
          <a:p>
            <a:pPr marL="0" indent="0">
              <a:buFont typeface="Wingdings" panose="05000000000000000000" pitchFamily="2" charset="2"/>
              <a:buNone/>
              <a:defRPr/>
            </a:pPr>
            <a:r>
              <a:rPr lang="en-US" altLang="zh-CN" dirty="0"/>
              <a:t>                                         //</a:t>
            </a:r>
            <a:r>
              <a:rPr lang="zh-CN" altLang="en-US" dirty="0"/>
              <a:t>输出元素的姓名和电话号码</a:t>
            </a:r>
          </a:p>
          <a:p>
            <a:pPr marL="0" indent="0">
              <a:buFont typeface="Wingdings" panose="05000000000000000000" pitchFamily="2" charset="2"/>
              <a:buNone/>
              <a:defRPr/>
            </a:pPr>
            <a:r>
              <a:rPr lang="en-US" altLang="zh-CN" dirty="0"/>
              <a:t>  //</a:t>
            </a:r>
            <a:r>
              <a:rPr lang="zh-CN" altLang="en-US" dirty="0"/>
              <a:t>查找某个人的电话号码</a:t>
            </a:r>
          </a:p>
          <a:p>
            <a:pPr marL="0" indent="0">
              <a:buFont typeface="Wingdings" panose="05000000000000000000" pitchFamily="2" charset="2"/>
              <a:buNone/>
              <a:defRPr/>
            </a:pPr>
            <a:r>
              <a:rPr lang="en-US" altLang="zh-CN" dirty="0"/>
              <a:t>  string name;</a:t>
            </a:r>
          </a:p>
          <a:p>
            <a:pPr marL="0" indent="0">
              <a:buFont typeface="Wingdings" panose="05000000000000000000" pitchFamily="2" charset="2"/>
              <a:buNone/>
              <a:defRPr/>
            </a:pPr>
            <a:r>
              <a:rPr lang="en-US" altLang="zh-CN" dirty="0"/>
              <a:t>  </a:t>
            </a:r>
            <a:r>
              <a:rPr lang="en-US" altLang="zh-CN" dirty="0" err="1"/>
              <a:t>cout</a:t>
            </a:r>
            <a:r>
              <a:rPr lang="en-US" altLang="zh-CN" dirty="0"/>
              <a:t> &lt;&lt; "</a:t>
            </a:r>
            <a:r>
              <a:rPr lang="zh-CN" altLang="en-US" dirty="0"/>
              <a:t>请输入要查询号码的姓名：</a:t>
            </a:r>
            <a:r>
              <a:rPr lang="en-US" altLang="zh-CN" dirty="0"/>
              <a:t>";</a:t>
            </a:r>
          </a:p>
          <a:p>
            <a:pPr marL="0" indent="0">
              <a:buFont typeface="Wingdings" panose="05000000000000000000" pitchFamily="2" charset="2"/>
              <a:buNone/>
              <a:defRPr/>
            </a:pPr>
            <a:r>
              <a:rPr lang="en-US" altLang="zh-CN" dirty="0"/>
              <a:t>  </a:t>
            </a:r>
            <a:r>
              <a:rPr lang="en-US" altLang="zh-CN" dirty="0" err="1"/>
              <a:t>cin</a:t>
            </a:r>
            <a:r>
              <a:rPr lang="en-US" altLang="zh-CN" dirty="0"/>
              <a:t> &gt;&gt; name;</a:t>
            </a:r>
          </a:p>
          <a:p>
            <a:pPr marL="0" indent="0">
              <a:buFont typeface="Wingdings" panose="05000000000000000000" pitchFamily="2" charset="2"/>
              <a:buNone/>
              <a:defRPr/>
            </a:pPr>
            <a:r>
              <a:rPr lang="en-US" altLang="zh-CN" dirty="0"/>
              <a:t>  </a:t>
            </a:r>
            <a:r>
              <a:rPr lang="en-US" altLang="zh-CN" dirty="0">
                <a:solidFill>
                  <a:srgbClr val="FFC000"/>
                </a:solidFill>
              </a:rPr>
              <a:t>map&lt;</a:t>
            </a:r>
            <a:r>
              <a:rPr lang="en-US" altLang="zh-CN" dirty="0" err="1">
                <a:solidFill>
                  <a:srgbClr val="FFC000"/>
                </a:solidFill>
              </a:rPr>
              <a:t>string,int</a:t>
            </a:r>
            <a:r>
              <a:rPr lang="en-US" altLang="zh-CN" dirty="0">
                <a:solidFill>
                  <a:srgbClr val="FFC000"/>
                </a:solidFill>
              </a:rPr>
              <a:t>&gt;::</a:t>
            </a:r>
            <a:r>
              <a:rPr lang="en-US" altLang="zh-CN" dirty="0" err="1">
                <a:solidFill>
                  <a:srgbClr val="FFC000"/>
                </a:solidFill>
              </a:rPr>
              <a:t>const_iterator</a:t>
            </a:r>
            <a:r>
              <a:rPr lang="en-US" altLang="zh-CN" dirty="0"/>
              <a:t> it; //</a:t>
            </a:r>
            <a:r>
              <a:rPr lang="zh-CN" altLang="en-US" dirty="0"/>
              <a:t>创建一个不能修改所指向</a:t>
            </a:r>
            <a:endParaRPr lang="en-US" altLang="zh-CN" dirty="0"/>
          </a:p>
          <a:p>
            <a:pPr marL="0" indent="0">
              <a:buFont typeface="Wingdings" panose="05000000000000000000" pitchFamily="2" charset="2"/>
              <a:buNone/>
              <a:defRPr/>
            </a:pPr>
            <a:r>
              <a:rPr lang="en-US" altLang="zh-CN" dirty="0"/>
              <a:t>				                //</a:t>
            </a:r>
            <a:r>
              <a:rPr lang="zh-CN" altLang="en-US" dirty="0"/>
              <a:t>的元素的迭代器</a:t>
            </a:r>
          </a:p>
          <a:p>
            <a:pPr marL="0" indent="0">
              <a:buFont typeface="Wingdings" panose="05000000000000000000" pitchFamily="2" charset="2"/>
              <a:buNone/>
              <a:defRPr/>
            </a:pPr>
            <a:r>
              <a:rPr lang="en-US" altLang="zh-CN" dirty="0"/>
              <a:t>  it = </a:t>
            </a:r>
            <a:r>
              <a:rPr lang="en-US" altLang="zh-CN" dirty="0" err="1"/>
              <a:t>phone_book.</a:t>
            </a:r>
            <a:r>
              <a:rPr lang="en-US" altLang="zh-CN" dirty="0" err="1">
                <a:solidFill>
                  <a:srgbClr val="FFC000"/>
                </a:solidFill>
              </a:rPr>
              <a:t>find</a:t>
            </a:r>
            <a:r>
              <a:rPr lang="en-US" altLang="zh-CN" dirty="0"/>
              <a:t>(name); //</a:t>
            </a:r>
            <a:r>
              <a:rPr lang="zh-CN" altLang="en-US" dirty="0"/>
              <a:t>查找关键字为</a:t>
            </a:r>
            <a:r>
              <a:rPr lang="en-US" altLang="zh-CN" dirty="0"/>
              <a:t>name</a:t>
            </a:r>
            <a:r>
              <a:rPr lang="zh-CN" altLang="en-US" dirty="0"/>
              <a:t>的容器元素</a:t>
            </a:r>
          </a:p>
          <a:p>
            <a:pPr marL="0" indent="0">
              <a:buFont typeface="Wingdings" panose="05000000000000000000" pitchFamily="2" charset="2"/>
              <a:buNone/>
              <a:defRPr/>
            </a:pPr>
            <a:r>
              <a:rPr lang="en-US" altLang="zh-CN" dirty="0"/>
              <a:t>  if (it == </a:t>
            </a:r>
            <a:r>
              <a:rPr lang="en-US" altLang="zh-CN" dirty="0" err="1"/>
              <a:t>phone_book.end</a:t>
            </a:r>
            <a:r>
              <a:rPr lang="en-US" altLang="zh-CN" dirty="0"/>
              <a:t>()) //</a:t>
            </a:r>
            <a:r>
              <a:rPr lang="zh-CN" altLang="en-US" dirty="0"/>
              <a:t>判断是否找到</a:t>
            </a:r>
          </a:p>
          <a:p>
            <a:pPr marL="0" indent="0">
              <a:buFont typeface="Wingdings" panose="05000000000000000000" pitchFamily="2" charset="2"/>
              <a:buNone/>
              <a:defRPr/>
            </a:pPr>
            <a:r>
              <a:rPr lang="en-US" altLang="zh-CN" dirty="0"/>
              <a:t>     </a:t>
            </a:r>
            <a:r>
              <a:rPr lang="en-US" altLang="zh-CN" dirty="0" err="1"/>
              <a:t>cout</a:t>
            </a:r>
            <a:r>
              <a:rPr lang="en-US" altLang="zh-CN" dirty="0"/>
              <a:t> &lt;&lt; name &lt;&lt; ": not found\n"; //</a:t>
            </a:r>
            <a:r>
              <a:rPr lang="zh-CN" altLang="en-US" dirty="0"/>
              <a:t>未找到</a:t>
            </a:r>
            <a:endParaRPr lang="en-US" altLang="zh-CN" dirty="0"/>
          </a:p>
          <a:p>
            <a:pPr marL="0" indent="0">
              <a:buFont typeface="Wingdings" panose="05000000000000000000" pitchFamily="2" charset="2"/>
              <a:buNone/>
              <a:defRPr/>
            </a:pPr>
            <a:r>
              <a:rPr lang="en-US" altLang="zh-CN" dirty="0"/>
              <a:t>  else</a:t>
            </a:r>
          </a:p>
          <a:p>
            <a:pPr marL="0" indent="0">
              <a:buFont typeface="Wingdings" panose="05000000000000000000" pitchFamily="2" charset="2"/>
              <a:buNone/>
              <a:defRPr/>
            </a:pPr>
            <a:r>
              <a:rPr lang="en-US" altLang="zh-CN" dirty="0"/>
              <a:t>     </a:t>
            </a:r>
            <a:r>
              <a:rPr lang="en-US" altLang="zh-CN" dirty="0" err="1"/>
              <a:t>cout</a:t>
            </a:r>
            <a:r>
              <a:rPr lang="en-US" altLang="zh-CN" dirty="0"/>
              <a:t> &lt;&lt; it-&gt;first &lt;&lt; ": " &lt;&lt; it-&gt;second &lt;&lt; </a:t>
            </a:r>
            <a:r>
              <a:rPr lang="en-US" altLang="zh-CN" dirty="0" err="1"/>
              <a:t>endl</a:t>
            </a:r>
            <a:r>
              <a:rPr lang="en-US" altLang="zh-CN" dirty="0"/>
              <a:t>; //</a:t>
            </a:r>
            <a:r>
              <a:rPr lang="zh-CN" altLang="en-US" dirty="0"/>
              <a:t>找到</a:t>
            </a:r>
            <a:endParaRPr lang="en-US" altLang="zh-CN" dirty="0"/>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return 0;</a:t>
            </a:r>
          </a:p>
          <a:p>
            <a:pPr marL="0" indent="0">
              <a:buFont typeface="Wingdings" panose="05000000000000000000" pitchFamily="2" charset="2"/>
              <a:buNone/>
              <a:defRPr/>
            </a:pPr>
            <a:r>
              <a:rPr lang="en-US" altLang="zh-CN"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8E3425-2B74-2C0D-7D8B-FCE7F023074A}"/>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63B3D899-CE53-390E-786D-5604D0B912A1}"/>
              </a:ext>
            </a:extLst>
          </p:cNvPr>
          <p:cNvSpPr>
            <a:spLocks noGrp="1"/>
          </p:cNvSpPr>
          <p:nvPr>
            <p:ph idx="1"/>
          </p:nvPr>
        </p:nvSpPr>
        <p:spPr>
          <a:xfrm>
            <a:off x="457200" y="1600200"/>
            <a:ext cx="8229600" cy="2908300"/>
          </a:xfrm>
        </p:spPr>
        <p:txBody>
          <a:bodyPr>
            <a:normAutofit fontScale="70000" lnSpcReduction="20000"/>
          </a:bodyPr>
          <a:lstStyle/>
          <a:p>
            <a:pPr>
              <a:defRPr/>
            </a:pPr>
            <a:r>
              <a:rPr lang="zh-CN" altLang="en-US" sz="3400" dirty="0"/>
              <a:t>由于</a:t>
            </a:r>
            <a:r>
              <a:rPr lang="en-US" altLang="zh-CN" sz="3400" dirty="0"/>
              <a:t>map</a:t>
            </a:r>
            <a:r>
              <a:rPr lang="zh-CN" altLang="en-US" sz="3400" dirty="0"/>
              <a:t>容器重载了操作符“</a:t>
            </a:r>
            <a:r>
              <a:rPr lang="en-US" altLang="zh-CN" sz="3400" dirty="0"/>
              <a:t>[]</a:t>
            </a:r>
            <a:r>
              <a:rPr lang="zh-CN" altLang="en-US" sz="3400" dirty="0"/>
              <a:t>”</a:t>
            </a:r>
            <a:endParaRPr lang="en-US" altLang="zh-CN" sz="3400" dirty="0"/>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a:t>
            </a:r>
            <a:r>
              <a:rPr lang="zh-CN" altLang="en-US" dirty="0"/>
              <a:t>创建电话簿</a:t>
            </a:r>
          </a:p>
          <a:p>
            <a:pPr marL="0" indent="0">
              <a:buFont typeface="Wingdings" panose="05000000000000000000" pitchFamily="2" charset="2"/>
              <a:buNone/>
              <a:defRPr/>
            </a:pPr>
            <a:r>
              <a:rPr lang="zh-CN" altLang="en-US" dirty="0"/>
              <a:t>  </a:t>
            </a:r>
            <a:r>
              <a:rPr lang="en-US" altLang="zh-CN" dirty="0" err="1"/>
              <a:t>phone_book</a:t>
            </a:r>
            <a:r>
              <a:rPr lang="en-US" altLang="zh-CN" dirty="0"/>
              <a:t>["</a:t>
            </a:r>
            <a:r>
              <a:rPr lang="en-US" altLang="zh-CN" dirty="0" err="1"/>
              <a:t>wang</a:t>
            </a:r>
            <a:r>
              <a:rPr lang="en-US" altLang="zh-CN" dirty="0"/>
              <a:t>"] = 12345678; //</a:t>
            </a:r>
            <a:r>
              <a:rPr lang="zh-CN" altLang="en-US" dirty="0"/>
              <a:t>通过</a:t>
            </a:r>
            <a:r>
              <a:rPr lang="en-US" altLang="zh-CN" dirty="0"/>
              <a:t>[]</a:t>
            </a:r>
            <a:r>
              <a:rPr lang="zh-CN" altLang="en-US" dirty="0"/>
              <a:t>操作和关键字</a:t>
            </a:r>
          </a:p>
          <a:p>
            <a:pPr marL="0" indent="0">
              <a:buFont typeface="Wingdings" panose="05000000000000000000" pitchFamily="2" charset="2"/>
              <a:buNone/>
              <a:defRPr/>
            </a:pPr>
            <a:r>
              <a:rPr lang="zh-CN" altLang="en-US" dirty="0"/>
              <a:t>                                                      </a:t>
            </a:r>
            <a:r>
              <a:rPr lang="en-US" altLang="zh-CN" dirty="0"/>
              <a:t>//</a:t>
            </a:r>
            <a:r>
              <a:rPr lang="zh-CN" altLang="en-US" dirty="0"/>
              <a:t>往容器中加入元素</a:t>
            </a:r>
          </a:p>
          <a:p>
            <a:pPr marL="0" indent="0">
              <a:buFont typeface="Wingdings" panose="05000000000000000000" pitchFamily="2" charset="2"/>
              <a:buNone/>
              <a:defRPr/>
            </a:pPr>
            <a:r>
              <a:rPr lang="zh-CN" altLang="en-US" dirty="0"/>
              <a:t>  </a:t>
            </a:r>
            <a:r>
              <a:rPr lang="en-US" altLang="zh-CN" dirty="0" err="1"/>
              <a:t>phone_book</a:t>
            </a:r>
            <a:r>
              <a:rPr lang="en-US" altLang="zh-CN" dirty="0"/>
              <a:t>["li"] = 87654321;</a:t>
            </a:r>
          </a:p>
          <a:p>
            <a:pPr marL="0" indent="0">
              <a:buFont typeface="Wingdings" panose="05000000000000000000" pitchFamily="2" charset="2"/>
              <a:buNone/>
              <a:defRPr/>
            </a:pPr>
            <a:r>
              <a:rPr lang="en-US" altLang="zh-CN" dirty="0"/>
              <a:t>  </a:t>
            </a:r>
            <a:r>
              <a:rPr lang="en-US" altLang="zh-CN" dirty="0" err="1"/>
              <a:t>phone_book</a:t>
            </a:r>
            <a:r>
              <a:rPr lang="en-US" altLang="zh-CN" dirty="0"/>
              <a:t>["</a:t>
            </a:r>
            <a:r>
              <a:rPr lang="en-US" altLang="zh-CN" dirty="0" err="1"/>
              <a:t>zhang</a:t>
            </a:r>
            <a:r>
              <a:rPr lang="en-US" altLang="zh-CN" dirty="0"/>
              <a:t>"] = 56781234;</a:t>
            </a:r>
          </a:p>
          <a:p>
            <a:pPr marL="0" indent="0">
              <a:buFont typeface="Wingdings" panose="05000000000000000000" pitchFamily="2" charset="2"/>
              <a:buNone/>
              <a:defRPr/>
            </a:pPr>
            <a:r>
              <a:rPr lang="en-US" altLang="zh-CN" dirty="0"/>
              <a:t>  ......</a:t>
            </a:r>
          </a:p>
          <a:p>
            <a:pPr>
              <a:defRPr/>
            </a:pP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274F8-F411-295E-254B-CFC69D32D40C}"/>
              </a:ext>
            </a:extLst>
          </p:cNvPr>
          <p:cNvSpPr>
            <a:spLocks noGrp="1"/>
          </p:cNvSpPr>
          <p:nvPr>
            <p:ph type="title"/>
          </p:nvPr>
        </p:nvSpPr>
        <p:spPr>
          <a:xfrm>
            <a:off x="457200" y="44450"/>
            <a:ext cx="8229600" cy="1139825"/>
          </a:xfrm>
        </p:spPr>
        <p:txBody>
          <a:bodyPr/>
          <a:lstStyle/>
          <a:p>
            <a:pPr>
              <a:defRPr/>
            </a:pPr>
            <a:r>
              <a:rPr lang="zh-CN" altLang="en-US" dirty="0"/>
              <a:t>迭代器</a:t>
            </a:r>
          </a:p>
        </p:txBody>
      </p:sp>
      <p:sp>
        <p:nvSpPr>
          <p:cNvPr id="3" name="内容占位符 2">
            <a:extLst>
              <a:ext uri="{FF2B5EF4-FFF2-40B4-BE49-F238E27FC236}">
                <a16:creationId xmlns:a16="http://schemas.microsoft.com/office/drawing/2014/main" id="{755E6B00-DDFA-2DD1-2F36-149C8AC21779}"/>
              </a:ext>
            </a:extLst>
          </p:cNvPr>
          <p:cNvSpPr>
            <a:spLocks noGrp="1"/>
          </p:cNvSpPr>
          <p:nvPr>
            <p:ph idx="1"/>
          </p:nvPr>
        </p:nvSpPr>
        <p:spPr>
          <a:xfrm>
            <a:off x="250825" y="1268413"/>
            <a:ext cx="8713788" cy="5257800"/>
          </a:xfrm>
        </p:spPr>
        <p:txBody>
          <a:bodyPr>
            <a:normAutofit fontScale="85000" lnSpcReduction="10000"/>
          </a:bodyPr>
          <a:lstStyle/>
          <a:p>
            <a:pPr eaLnBrk="1" hangingPunct="1">
              <a:lnSpc>
                <a:spcPct val="120000"/>
              </a:lnSpc>
              <a:defRPr/>
            </a:pPr>
            <a:r>
              <a:rPr lang="zh-CN" altLang="en-US" dirty="0"/>
              <a:t>迭代器（</a:t>
            </a:r>
            <a:r>
              <a:rPr lang="en-US" altLang="zh-CN" dirty="0"/>
              <a:t>iterator</a:t>
            </a:r>
            <a:r>
              <a:rPr lang="zh-CN" altLang="en-US" dirty="0"/>
              <a:t>）实现了抽象的指针功能，它们用于指向容器中的元素，对容器中的元素进行访问和遍历。</a:t>
            </a:r>
            <a:endParaRPr lang="en-US" altLang="zh-CN" dirty="0"/>
          </a:p>
          <a:p>
            <a:pPr>
              <a:lnSpc>
                <a:spcPct val="120000"/>
              </a:lnSpc>
              <a:defRPr/>
            </a:pPr>
            <a:r>
              <a:rPr lang="zh-CN" altLang="en-US" dirty="0"/>
              <a:t>在</a:t>
            </a:r>
            <a:r>
              <a:rPr lang="en-US" altLang="zh-CN" dirty="0"/>
              <a:t>STL</a:t>
            </a:r>
            <a:r>
              <a:rPr lang="zh-CN" altLang="en-US" dirty="0"/>
              <a:t>中，迭代器是作为类模板来实现的（在头文件</a:t>
            </a:r>
            <a:r>
              <a:rPr lang="en-US" altLang="zh-CN" dirty="0"/>
              <a:t>iterator</a:t>
            </a:r>
            <a:r>
              <a:rPr lang="zh-CN" altLang="en-US" dirty="0"/>
              <a:t>中定义），它们可分为以下几种类型：</a:t>
            </a:r>
            <a:endParaRPr lang="en-US" altLang="zh-CN" dirty="0"/>
          </a:p>
          <a:p>
            <a:pPr lvl="1">
              <a:defRPr/>
            </a:pPr>
            <a:r>
              <a:rPr lang="zh-CN" altLang="en-US" dirty="0"/>
              <a:t>输出迭代器（</a:t>
            </a:r>
            <a:r>
              <a:rPr lang="en-US" altLang="zh-CN" dirty="0"/>
              <a:t>output iterator</a:t>
            </a:r>
            <a:r>
              <a:rPr lang="zh-CN" altLang="en-US" dirty="0"/>
              <a:t>，记为：</a:t>
            </a:r>
            <a:r>
              <a:rPr lang="en-US" altLang="zh-CN" dirty="0" err="1">
                <a:solidFill>
                  <a:srgbClr val="FFC000"/>
                </a:solidFill>
              </a:rPr>
              <a:t>OutIt</a:t>
            </a:r>
            <a:r>
              <a:rPr lang="zh-CN" altLang="en-US" dirty="0"/>
              <a:t>）</a:t>
            </a:r>
            <a:endParaRPr lang="en-US" altLang="zh-CN" dirty="0"/>
          </a:p>
          <a:p>
            <a:pPr lvl="2">
              <a:defRPr/>
            </a:pPr>
            <a:r>
              <a:rPr lang="zh-CN" altLang="en-US" dirty="0"/>
              <a:t>可以修改它所指向的容器元素</a:t>
            </a:r>
            <a:endParaRPr lang="en-US" altLang="zh-CN" dirty="0"/>
          </a:p>
          <a:p>
            <a:pPr lvl="2">
              <a:defRPr/>
            </a:pPr>
            <a:r>
              <a:rPr lang="zh-CN" altLang="en-US" dirty="0"/>
              <a:t>间接访问操作（*）</a:t>
            </a:r>
            <a:endParaRPr lang="en-US" altLang="zh-CN" dirty="0"/>
          </a:p>
          <a:p>
            <a:pPr lvl="2">
              <a:defRPr/>
            </a:pPr>
            <a:r>
              <a:rPr lang="en-US" altLang="zh-CN" dirty="0"/>
              <a:t>++</a:t>
            </a:r>
            <a:r>
              <a:rPr lang="zh-CN" altLang="en-US" dirty="0"/>
              <a:t>操作</a:t>
            </a:r>
            <a:endParaRPr lang="en-US" altLang="zh-CN" dirty="0"/>
          </a:p>
          <a:p>
            <a:pPr lvl="1">
              <a:defRPr/>
            </a:pPr>
            <a:r>
              <a:rPr lang="zh-CN" altLang="zh-CN" dirty="0"/>
              <a:t>输入迭代器（</a:t>
            </a:r>
            <a:r>
              <a:rPr lang="en-GB" altLang="zh-CN" dirty="0"/>
              <a:t>input iterator</a:t>
            </a:r>
            <a:r>
              <a:rPr lang="zh-CN" altLang="en-US" dirty="0"/>
              <a:t>，记为：</a:t>
            </a:r>
            <a:r>
              <a:rPr lang="en-US" altLang="zh-CN" dirty="0" err="1">
                <a:solidFill>
                  <a:srgbClr val="FFC000"/>
                </a:solidFill>
              </a:rPr>
              <a:t>InIt</a:t>
            </a:r>
            <a:r>
              <a:rPr lang="zh-CN" altLang="zh-CN" dirty="0"/>
              <a:t>）</a:t>
            </a:r>
            <a:endParaRPr lang="en-US" altLang="zh-CN" dirty="0"/>
          </a:p>
          <a:p>
            <a:pPr lvl="2">
              <a:defRPr/>
            </a:pPr>
            <a:r>
              <a:rPr lang="zh-CN" altLang="en-US" dirty="0"/>
              <a:t>只能读取它所指向的容器元素</a:t>
            </a:r>
            <a:endParaRPr lang="en-US" altLang="zh-CN" dirty="0"/>
          </a:p>
          <a:p>
            <a:pPr lvl="2">
              <a:defRPr/>
            </a:pPr>
            <a:r>
              <a:rPr lang="zh-CN" altLang="en-US" dirty="0"/>
              <a:t>间接访问操作（*）和元素成员间接访问（</a:t>
            </a:r>
            <a:r>
              <a:rPr lang="en-US" altLang="zh-CN" dirty="0">
                <a:solidFill>
                  <a:srgbClr val="FFC000"/>
                </a:solidFill>
              </a:rPr>
              <a:t>-&gt;</a:t>
            </a:r>
            <a:r>
              <a:rPr lang="zh-CN" altLang="en-US" dirty="0"/>
              <a:t>）</a:t>
            </a:r>
            <a:endParaRPr lang="en-US" altLang="zh-CN" dirty="0"/>
          </a:p>
          <a:p>
            <a:pPr lvl="2">
              <a:defRPr/>
            </a:pPr>
            <a:r>
              <a:rPr lang="en-US" altLang="zh-CN" dirty="0"/>
              <a:t>++</a:t>
            </a:r>
            <a:r>
              <a:rPr lang="zh-CN" altLang="en-US" dirty="0"/>
              <a:t>、</a:t>
            </a:r>
            <a:r>
              <a:rPr lang="en-US" altLang="zh-CN" dirty="0"/>
              <a:t>==</a:t>
            </a:r>
            <a:r>
              <a:rPr lang="zh-CN" altLang="en-US" dirty="0"/>
              <a:t>、</a:t>
            </a:r>
            <a:r>
              <a:rPr lang="en-US" altLang="zh-CN" dirty="0"/>
              <a:t>!=</a:t>
            </a:r>
            <a:r>
              <a:rPr lang="zh-CN" altLang="en-US" dirty="0"/>
              <a:t>操作。</a:t>
            </a: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300369-B9B8-5CEE-AA38-701B9987A646}"/>
              </a:ext>
            </a:extLst>
          </p:cNvPr>
          <p:cNvSpPr>
            <a:spLocks noGrp="1"/>
          </p:cNvSpPr>
          <p:nvPr>
            <p:ph idx="1"/>
          </p:nvPr>
        </p:nvSpPr>
        <p:spPr>
          <a:xfrm>
            <a:off x="0" y="476250"/>
            <a:ext cx="9036050" cy="5905500"/>
          </a:xfrm>
        </p:spPr>
        <p:txBody>
          <a:bodyPr>
            <a:normAutofit fontScale="92500"/>
          </a:bodyPr>
          <a:lstStyle/>
          <a:p>
            <a:pPr lvl="1">
              <a:defRPr/>
            </a:pPr>
            <a:r>
              <a:rPr lang="zh-CN" altLang="en-US" dirty="0"/>
              <a:t>前向迭代器（</a:t>
            </a:r>
            <a:r>
              <a:rPr lang="en-US" altLang="zh-CN" dirty="0"/>
              <a:t>forward iterator</a:t>
            </a:r>
            <a:r>
              <a:rPr lang="zh-CN" altLang="en-US" dirty="0"/>
              <a:t>，记为：</a:t>
            </a:r>
            <a:r>
              <a:rPr lang="en-US" altLang="zh-CN" dirty="0" err="1">
                <a:solidFill>
                  <a:srgbClr val="FFC000"/>
                </a:solidFill>
              </a:rPr>
              <a:t>FwdIt</a:t>
            </a:r>
            <a:r>
              <a:rPr lang="zh-CN" altLang="en-US" dirty="0"/>
              <a:t>）</a:t>
            </a:r>
            <a:endParaRPr lang="en-US" altLang="zh-CN" dirty="0"/>
          </a:p>
          <a:p>
            <a:pPr lvl="2">
              <a:defRPr/>
            </a:pPr>
            <a:r>
              <a:rPr lang="zh-CN" altLang="en-US" dirty="0"/>
              <a:t>可以读取</a:t>
            </a:r>
            <a:r>
              <a:rPr lang="en-US" altLang="zh-CN" dirty="0"/>
              <a:t>/</a:t>
            </a:r>
            <a:r>
              <a:rPr lang="zh-CN" altLang="en-US" dirty="0"/>
              <a:t>修改它所指向的容器元素</a:t>
            </a:r>
            <a:endParaRPr lang="en-US" altLang="zh-CN" dirty="0"/>
          </a:p>
          <a:p>
            <a:pPr lvl="2">
              <a:defRPr/>
            </a:pPr>
            <a:r>
              <a:rPr lang="zh-CN" altLang="en-US" dirty="0"/>
              <a:t>元素间接访问操作（*）和元素成员间接访问操作（</a:t>
            </a:r>
            <a:r>
              <a:rPr lang="en-US" altLang="zh-CN" dirty="0"/>
              <a:t>-&gt;</a:t>
            </a:r>
            <a:r>
              <a:rPr lang="zh-CN" altLang="en-US" dirty="0"/>
              <a:t>）</a:t>
            </a:r>
            <a:endParaRPr lang="en-US" altLang="zh-CN" dirty="0"/>
          </a:p>
          <a:p>
            <a:pPr lvl="2">
              <a:defRPr/>
            </a:pPr>
            <a:r>
              <a:rPr lang="en-US" altLang="zh-CN" dirty="0"/>
              <a:t>++</a:t>
            </a:r>
            <a:r>
              <a:rPr lang="zh-CN" altLang="en-US" dirty="0"/>
              <a:t>、</a:t>
            </a:r>
            <a:r>
              <a:rPr lang="en-US" altLang="zh-CN" dirty="0"/>
              <a:t>==</a:t>
            </a:r>
            <a:r>
              <a:rPr lang="zh-CN" altLang="en-US" dirty="0"/>
              <a:t>、</a:t>
            </a:r>
            <a:r>
              <a:rPr lang="en-US" altLang="zh-CN" dirty="0"/>
              <a:t>!=</a:t>
            </a:r>
            <a:r>
              <a:rPr lang="zh-CN" altLang="en-US" dirty="0"/>
              <a:t>操作</a:t>
            </a:r>
          </a:p>
          <a:p>
            <a:pPr lvl="1">
              <a:defRPr/>
            </a:pPr>
            <a:r>
              <a:rPr lang="zh-CN" altLang="en-US" dirty="0"/>
              <a:t>双向迭代器（</a:t>
            </a:r>
            <a:r>
              <a:rPr lang="en-US" altLang="zh-CN" dirty="0"/>
              <a:t>bidirectional iterator</a:t>
            </a:r>
            <a:r>
              <a:rPr lang="zh-CN" altLang="en-US" dirty="0"/>
              <a:t>，记为：</a:t>
            </a:r>
            <a:r>
              <a:rPr lang="en-US" altLang="zh-CN" dirty="0" err="1">
                <a:solidFill>
                  <a:srgbClr val="FFC000"/>
                </a:solidFill>
              </a:rPr>
              <a:t>BidIt</a:t>
            </a:r>
            <a:r>
              <a:rPr lang="zh-CN" altLang="en-US" dirty="0"/>
              <a:t>）</a:t>
            </a:r>
            <a:endParaRPr lang="en-US" altLang="zh-CN" dirty="0"/>
          </a:p>
          <a:p>
            <a:pPr lvl="2">
              <a:defRPr/>
            </a:pPr>
            <a:r>
              <a:rPr lang="zh-CN" altLang="en-US" dirty="0"/>
              <a:t>可以读取</a:t>
            </a:r>
            <a:r>
              <a:rPr lang="en-US" altLang="zh-CN" dirty="0"/>
              <a:t>/</a:t>
            </a:r>
            <a:r>
              <a:rPr lang="zh-CN" altLang="en-US" dirty="0"/>
              <a:t>修改它所指向的容器元素</a:t>
            </a:r>
            <a:endParaRPr lang="en-US" altLang="zh-CN" dirty="0"/>
          </a:p>
          <a:p>
            <a:pPr lvl="2">
              <a:defRPr/>
            </a:pPr>
            <a:r>
              <a:rPr lang="zh-CN" altLang="en-US" dirty="0"/>
              <a:t>元素间接访问操作（*）和元素成员间接访问操作（</a:t>
            </a:r>
            <a:r>
              <a:rPr lang="en-US" altLang="zh-CN" dirty="0"/>
              <a:t>-&gt;</a:t>
            </a:r>
            <a:r>
              <a:rPr lang="zh-CN" altLang="en-US" dirty="0"/>
              <a:t>）</a:t>
            </a:r>
            <a:endParaRPr lang="en-US" altLang="zh-CN" dirty="0"/>
          </a:p>
          <a:p>
            <a:pPr lvl="2">
              <a:defRPr/>
            </a:pPr>
            <a:r>
              <a:rPr lang="en-US" altLang="zh-CN" dirty="0"/>
              <a:t>++</a:t>
            </a:r>
            <a:r>
              <a:rPr lang="zh-CN" altLang="en-US" dirty="0"/>
              <a:t>、</a:t>
            </a:r>
            <a:r>
              <a:rPr lang="en-US" altLang="zh-CN" dirty="0">
                <a:solidFill>
                  <a:srgbClr val="FFC000"/>
                </a:solidFill>
              </a:rPr>
              <a:t>--</a:t>
            </a:r>
            <a:r>
              <a:rPr lang="zh-CN" altLang="en-US" dirty="0"/>
              <a:t>、</a:t>
            </a:r>
            <a:r>
              <a:rPr lang="en-US" altLang="zh-CN" dirty="0"/>
              <a:t>==</a:t>
            </a:r>
            <a:r>
              <a:rPr lang="zh-CN" altLang="en-US" dirty="0"/>
              <a:t>、</a:t>
            </a:r>
            <a:r>
              <a:rPr lang="en-US" altLang="zh-CN" dirty="0"/>
              <a:t>!=</a:t>
            </a:r>
            <a:r>
              <a:rPr lang="zh-CN" altLang="en-US" dirty="0"/>
              <a:t>操作</a:t>
            </a:r>
          </a:p>
          <a:p>
            <a:pPr lvl="1">
              <a:defRPr/>
            </a:pPr>
            <a:r>
              <a:rPr lang="zh-CN" altLang="en-US" dirty="0"/>
              <a:t>随机访问迭代器（</a:t>
            </a:r>
            <a:r>
              <a:rPr lang="en-US" altLang="zh-CN" dirty="0"/>
              <a:t>random-access iterator</a:t>
            </a:r>
            <a:r>
              <a:rPr lang="zh-CN" altLang="en-US" dirty="0"/>
              <a:t>，记为：</a:t>
            </a:r>
            <a:r>
              <a:rPr lang="en-US" altLang="zh-CN" dirty="0" err="1">
                <a:solidFill>
                  <a:srgbClr val="FFC000"/>
                </a:solidFill>
              </a:rPr>
              <a:t>RanIt</a:t>
            </a:r>
            <a:r>
              <a:rPr lang="zh-CN" altLang="en-US" dirty="0"/>
              <a:t>）</a:t>
            </a:r>
            <a:endParaRPr lang="en-US" altLang="zh-CN" dirty="0"/>
          </a:p>
          <a:p>
            <a:pPr lvl="2">
              <a:defRPr/>
            </a:pPr>
            <a:r>
              <a:rPr lang="zh-CN" altLang="en-US" dirty="0"/>
              <a:t>可以读取</a:t>
            </a:r>
            <a:r>
              <a:rPr lang="en-US" altLang="zh-CN" dirty="0"/>
              <a:t>/</a:t>
            </a:r>
            <a:r>
              <a:rPr lang="zh-CN" altLang="en-US" dirty="0"/>
              <a:t>修改它所指向的容器元素</a:t>
            </a:r>
            <a:endParaRPr lang="en-US" altLang="zh-CN" dirty="0"/>
          </a:p>
          <a:p>
            <a:pPr lvl="2">
              <a:defRPr/>
            </a:pPr>
            <a:r>
              <a:rPr lang="zh-CN" altLang="en-US" dirty="0"/>
              <a:t>元素间接访问操作（*）、元素成员间接访问操作（</a:t>
            </a:r>
            <a:r>
              <a:rPr lang="en-US" altLang="zh-CN" dirty="0"/>
              <a:t>-&gt;</a:t>
            </a:r>
            <a:r>
              <a:rPr lang="zh-CN" altLang="en-US" dirty="0"/>
              <a:t>）和下标访问元素操作（</a:t>
            </a:r>
            <a:r>
              <a:rPr lang="en-US" altLang="zh-CN" dirty="0">
                <a:solidFill>
                  <a:srgbClr val="FFC000"/>
                </a:solidFill>
              </a:rPr>
              <a:t>[]</a:t>
            </a:r>
            <a:r>
              <a:rPr lang="zh-CN" altLang="en-US" dirty="0"/>
              <a:t>）</a:t>
            </a:r>
            <a:endParaRPr lang="en-US" altLang="zh-CN" dirty="0"/>
          </a:p>
          <a:p>
            <a:pPr lvl="2">
              <a:defRPr/>
            </a:pP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a:t>
            </a:r>
            <a:r>
              <a:rPr lang="zh-CN" altLang="en-US" dirty="0"/>
              <a:t>、</a:t>
            </a:r>
            <a:r>
              <a:rPr lang="en-US" altLang="zh-CN" dirty="0"/>
              <a:t>&lt;</a:t>
            </a:r>
            <a:r>
              <a:rPr lang="zh-CN" altLang="en-US" dirty="0"/>
              <a:t>、</a:t>
            </a:r>
            <a:r>
              <a:rPr lang="en-US" altLang="zh-CN" dirty="0"/>
              <a:t>&gt;</a:t>
            </a:r>
            <a:r>
              <a:rPr lang="zh-CN" altLang="en-US" dirty="0"/>
              <a:t>、</a:t>
            </a:r>
            <a:r>
              <a:rPr lang="en-US" altLang="zh-CN" dirty="0"/>
              <a:t>&lt;=</a:t>
            </a:r>
            <a:r>
              <a:rPr lang="zh-CN" altLang="en-US" dirty="0"/>
              <a:t>、</a:t>
            </a:r>
            <a:r>
              <a:rPr lang="en-US" altLang="zh-CN" dirty="0"/>
              <a:t>&gt;=</a:t>
            </a:r>
            <a:r>
              <a:rPr lang="zh-CN" altLang="en-US" dirty="0"/>
              <a:t>操作</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FBC171-208E-2D3D-F97E-A0B766D39B2E}"/>
              </a:ext>
            </a:extLst>
          </p:cNvPr>
          <p:cNvSpPr>
            <a:spLocks noGrp="1"/>
          </p:cNvSpPr>
          <p:nvPr>
            <p:ph type="title"/>
          </p:nvPr>
        </p:nvSpPr>
        <p:spPr/>
        <p:txBody>
          <a:bodyPr/>
          <a:lstStyle/>
          <a:p>
            <a:pPr>
              <a:defRPr/>
            </a:pPr>
            <a:r>
              <a:rPr lang="zh-CN" altLang="en-US"/>
              <a:t>迭代器之间的相容关系</a:t>
            </a:r>
          </a:p>
        </p:txBody>
      </p:sp>
      <p:sp>
        <p:nvSpPr>
          <p:cNvPr id="3" name="内容占位符 2">
            <a:extLst>
              <a:ext uri="{FF2B5EF4-FFF2-40B4-BE49-F238E27FC236}">
                <a16:creationId xmlns:a16="http://schemas.microsoft.com/office/drawing/2014/main" id="{634875A5-895D-87EF-9B92-2A386F4A894F}"/>
              </a:ext>
            </a:extLst>
          </p:cNvPr>
          <p:cNvSpPr>
            <a:spLocks noGrp="1"/>
          </p:cNvSpPr>
          <p:nvPr>
            <p:ph idx="1"/>
          </p:nvPr>
        </p:nvSpPr>
        <p:spPr/>
        <p:txBody>
          <a:bodyPr/>
          <a:lstStyle/>
          <a:p>
            <a:pPr>
              <a:defRPr/>
            </a:pPr>
            <a:r>
              <a:rPr lang="zh-CN" altLang="en-US" dirty="0"/>
              <a:t>上述迭代器类型之间存在相容关系：</a:t>
            </a:r>
            <a:endParaRPr lang="en-US" altLang="zh-CN" dirty="0"/>
          </a:p>
          <a:p>
            <a:pPr lvl="1">
              <a:defRPr/>
            </a:pPr>
            <a:r>
              <a:rPr lang="zh-CN" altLang="en-US" dirty="0"/>
              <a:t>在需要箭头左边迭代器的地方可以用箭头右边的迭代器去替代。</a:t>
            </a:r>
          </a:p>
        </p:txBody>
      </p:sp>
      <p:pic>
        <p:nvPicPr>
          <p:cNvPr id="24580" name="Picture 2">
            <a:extLst>
              <a:ext uri="{FF2B5EF4-FFF2-40B4-BE49-F238E27FC236}">
                <a16:creationId xmlns:a16="http://schemas.microsoft.com/office/drawing/2014/main" id="{A201DB3D-FE08-BB05-53C3-184070C269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3435350"/>
            <a:ext cx="8121650" cy="222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8754B4-1C1C-6A0F-E955-96C63B69DD96}"/>
              </a:ext>
            </a:extLst>
          </p:cNvPr>
          <p:cNvSpPr>
            <a:spLocks noGrp="1"/>
          </p:cNvSpPr>
          <p:nvPr>
            <p:ph type="title"/>
          </p:nvPr>
        </p:nvSpPr>
        <p:spPr/>
        <p:txBody>
          <a:bodyPr/>
          <a:lstStyle/>
          <a:p>
            <a:pPr>
              <a:defRPr/>
            </a:pPr>
            <a:r>
              <a:rPr lang="zh-CN" altLang="en-US" dirty="0"/>
              <a:t>各容器的迭代器类型</a:t>
            </a:r>
          </a:p>
        </p:txBody>
      </p:sp>
      <p:sp>
        <p:nvSpPr>
          <p:cNvPr id="3" name="内容占位符 2">
            <a:extLst>
              <a:ext uri="{FF2B5EF4-FFF2-40B4-BE49-F238E27FC236}">
                <a16:creationId xmlns:a16="http://schemas.microsoft.com/office/drawing/2014/main" id="{E43A865D-E782-92F9-686A-055E5553EA27}"/>
              </a:ext>
            </a:extLst>
          </p:cNvPr>
          <p:cNvSpPr>
            <a:spLocks noGrp="1"/>
          </p:cNvSpPr>
          <p:nvPr>
            <p:ph idx="1"/>
          </p:nvPr>
        </p:nvSpPr>
        <p:spPr>
          <a:xfrm>
            <a:off x="323850" y="1600200"/>
            <a:ext cx="8507413" cy="5068888"/>
          </a:xfrm>
        </p:spPr>
        <p:txBody>
          <a:bodyPr>
            <a:normAutofit fontScale="92500" lnSpcReduction="20000"/>
          </a:bodyPr>
          <a:lstStyle/>
          <a:p>
            <a:pPr eaLnBrk="1" hangingPunct="1">
              <a:lnSpc>
                <a:spcPct val="120000"/>
              </a:lnSpc>
              <a:defRPr/>
            </a:pPr>
            <a:r>
              <a:rPr lang="zh-CN" altLang="en-US" dirty="0"/>
              <a:t>对于</a:t>
            </a:r>
            <a:r>
              <a:rPr lang="en-US" altLang="zh-CN" dirty="0"/>
              <a:t>vector</a:t>
            </a:r>
            <a:r>
              <a:rPr lang="zh-CN" altLang="en-US" dirty="0"/>
              <a:t>、</a:t>
            </a:r>
            <a:r>
              <a:rPr lang="en-US" altLang="zh-CN" dirty="0" err="1"/>
              <a:t>deque</a:t>
            </a:r>
            <a:r>
              <a:rPr lang="zh-CN" altLang="en-US" dirty="0"/>
              <a:t>以及</a:t>
            </a:r>
            <a:r>
              <a:rPr lang="en-US" altLang="zh-CN" dirty="0" err="1"/>
              <a:t>basic_string</a:t>
            </a:r>
            <a:r>
              <a:rPr lang="zh-CN" altLang="en-US" dirty="0"/>
              <a:t>容器类，与它们关联的迭代器类型为随机访问迭代器（</a:t>
            </a:r>
            <a:r>
              <a:rPr lang="en-US" altLang="zh-CN" dirty="0" err="1">
                <a:solidFill>
                  <a:srgbClr val="FFC000"/>
                </a:solidFill>
              </a:rPr>
              <a:t>RanIt</a:t>
            </a:r>
            <a:r>
              <a:rPr lang="zh-CN" altLang="en-US" dirty="0"/>
              <a:t>）</a:t>
            </a:r>
            <a:endParaRPr lang="en-US" altLang="zh-CN" dirty="0"/>
          </a:p>
          <a:p>
            <a:pPr eaLnBrk="1" hangingPunct="1">
              <a:lnSpc>
                <a:spcPct val="120000"/>
              </a:lnSpc>
              <a:defRPr/>
            </a:pPr>
            <a:r>
              <a:rPr lang="zh-CN" altLang="en-US" dirty="0"/>
              <a:t>对于</a:t>
            </a:r>
            <a:r>
              <a:rPr lang="en-US" altLang="zh-CN" dirty="0"/>
              <a:t>list</a:t>
            </a:r>
            <a:r>
              <a:rPr lang="zh-CN" altLang="en-US" dirty="0"/>
              <a:t>、</a:t>
            </a:r>
            <a:r>
              <a:rPr lang="en-US" altLang="zh-CN" dirty="0"/>
              <a:t>map/</a:t>
            </a:r>
            <a:r>
              <a:rPr lang="en-US" altLang="zh-CN" dirty="0" err="1"/>
              <a:t>multimap</a:t>
            </a:r>
            <a:r>
              <a:rPr lang="zh-CN" altLang="en-US" dirty="0"/>
              <a:t>以及</a:t>
            </a:r>
            <a:r>
              <a:rPr lang="en-US" altLang="zh-CN" dirty="0"/>
              <a:t>set/multiset</a:t>
            </a:r>
            <a:r>
              <a:rPr lang="zh-CN" altLang="en-US" dirty="0"/>
              <a:t>容器类，与它们关联的迭代器类型为双向迭代器（</a:t>
            </a:r>
            <a:r>
              <a:rPr lang="en-US" altLang="zh-CN" dirty="0" err="1">
                <a:solidFill>
                  <a:srgbClr val="FFC000"/>
                </a:solidFill>
              </a:rPr>
              <a:t>BidIt</a:t>
            </a:r>
            <a:r>
              <a:rPr lang="zh-CN" altLang="en-US" dirty="0"/>
              <a:t>）。</a:t>
            </a:r>
            <a:endParaRPr lang="en-US" altLang="zh-CN" dirty="0"/>
          </a:p>
          <a:p>
            <a:pPr eaLnBrk="1" hangingPunct="1">
              <a:lnSpc>
                <a:spcPct val="120000"/>
              </a:lnSpc>
              <a:defRPr/>
            </a:pPr>
            <a:r>
              <a:rPr lang="en-US" altLang="zh-CN" dirty="0"/>
              <a:t>queue</a:t>
            </a:r>
            <a:r>
              <a:rPr lang="zh-CN" altLang="en-US" dirty="0"/>
              <a:t>、</a:t>
            </a:r>
            <a:r>
              <a:rPr lang="en-US" altLang="zh-CN" dirty="0"/>
              <a:t>stack</a:t>
            </a:r>
            <a:r>
              <a:rPr lang="zh-CN" altLang="en-US" dirty="0"/>
              <a:t>和</a:t>
            </a:r>
            <a:r>
              <a:rPr lang="en-US" altLang="zh-CN" dirty="0" err="1"/>
              <a:t>priority_queue</a:t>
            </a:r>
            <a:r>
              <a:rPr lang="zh-CN" altLang="en-US" dirty="0"/>
              <a:t>容器类，</a:t>
            </a:r>
            <a:r>
              <a:rPr lang="zh-CN" altLang="en-US" dirty="0">
                <a:solidFill>
                  <a:srgbClr val="FFC000"/>
                </a:solidFill>
              </a:rPr>
              <a:t>不支持迭代器！</a:t>
            </a:r>
            <a:endParaRPr lang="en-US" altLang="zh-CN" dirty="0">
              <a:solidFill>
                <a:srgbClr val="FFC000"/>
              </a:solidFill>
            </a:endParaRPr>
          </a:p>
          <a:p>
            <a:pPr eaLnBrk="1" hangingPunct="1">
              <a:lnSpc>
                <a:spcPct val="120000"/>
              </a:lnSpc>
              <a:defRPr/>
            </a:pPr>
            <a:r>
              <a:rPr lang="zh-CN" altLang="en-US" dirty="0"/>
              <a:t>可通过容器类的成员函数</a:t>
            </a:r>
            <a:r>
              <a:rPr lang="en-US" altLang="zh-CN" dirty="0"/>
              <a:t>begin</a:t>
            </a:r>
            <a:r>
              <a:rPr lang="zh-CN" altLang="en-US" dirty="0"/>
              <a:t>和</a:t>
            </a:r>
            <a:r>
              <a:rPr lang="en-US" altLang="zh-CN" dirty="0"/>
              <a:t>end</a:t>
            </a:r>
            <a:r>
              <a:rPr lang="zh-CN" altLang="en-US" dirty="0"/>
              <a:t>获得容器的首尾迭代器。</a:t>
            </a:r>
            <a:endParaRPr lang="en-US" altLang="zh-CN" dirty="0"/>
          </a:p>
          <a:p>
            <a:pPr>
              <a:defRPr/>
            </a:pP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7B20F4A-3138-81A9-F45E-2A271A2457AE}"/>
              </a:ext>
            </a:extLst>
          </p:cNvPr>
          <p:cNvSpPr>
            <a:spLocks noGrp="1"/>
          </p:cNvSpPr>
          <p:nvPr>
            <p:ph idx="1"/>
          </p:nvPr>
        </p:nvSpPr>
        <p:spPr>
          <a:xfrm>
            <a:off x="395288" y="476250"/>
            <a:ext cx="8291512" cy="6192838"/>
          </a:xfrm>
        </p:spPr>
        <p:txBody>
          <a:bodyPr>
            <a:normAutofit fontScale="92500"/>
          </a:bodyPr>
          <a:lstStyle/>
          <a:p>
            <a:pPr eaLnBrk="1" hangingPunct="1">
              <a:defRPr/>
            </a:pPr>
            <a:r>
              <a:rPr lang="zh-CN" altLang="en-US" dirty="0"/>
              <a:t>除了上面五种基本迭代器外，</a:t>
            </a:r>
            <a:r>
              <a:rPr lang="en-US" altLang="zh-CN" dirty="0"/>
              <a:t>STL</a:t>
            </a:r>
            <a:r>
              <a:rPr lang="zh-CN" altLang="en-US" dirty="0"/>
              <a:t>还提供了一些迭代器的适配器，用于一些特殊的操作，如：</a:t>
            </a:r>
          </a:p>
          <a:p>
            <a:pPr lvl="1" eaLnBrk="1" hangingPunct="1">
              <a:defRPr/>
            </a:pPr>
            <a:r>
              <a:rPr lang="zh-CN" altLang="en-US" dirty="0">
                <a:solidFill>
                  <a:srgbClr val="FFC000"/>
                </a:solidFill>
              </a:rPr>
              <a:t>反向迭代器</a:t>
            </a:r>
            <a:r>
              <a:rPr lang="zh-CN" altLang="en-US" dirty="0"/>
              <a:t>（</a:t>
            </a:r>
            <a:r>
              <a:rPr lang="en-US" altLang="zh-CN" dirty="0"/>
              <a:t>reverse iterator</a:t>
            </a:r>
            <a:r>
              <a:rPr lang="zh-CN" altLang="en-US" dirty="0"/>
              <a:t>）：用于对容器元素从尾到头进行反向遍历：</a:t>
            </a:r>
            <a:r>
              <a:rPr lang="en-US" altLang="zh-CN" dirty="0"/>
              <a:t>++</a:t>
            </a:r>
            <a:r>
              <a:rPr lang="zh-CN" altLang="en-US" dirty="0"/>
              <a:t>操作是往容器首部移动，</a:t>
            </a:r>
            <a:r>
              <a:rPr lang="en-US" altLang="zh-CN" dirty="0"/>
              <a:t>--</a:t>
            </a:r>
            <a:r>
              <a:rPr lang="zh-CN" altLang="en-US" dirty="0"/>
              <a:t>操作是往容器尾部移动。可以通过容器类的成员函数</a:t>
            </a:r>
            <a:r>
              <a:rPr lang="en-US" altLang="zh-CN" dirty="0" err="1"/>
              <a:t>rbegin</a:t>
            </a:r>
            <a:r>
              <a:rPr lang="zh-CN" altLang="en-US" dirty="0"/>
              <a:t>和</a:t>
            </a:r>
            <a:r>
              <a:rPr lang="en-US" altLang="zh-CN" dirty="0"/>
              <a:t>rend</a:t>
            </a:r>
            <a:r>
              <a:rPr lang="zh-CN" altLang="en-US" dirty="0"/>
              <a:t>可以获得容器的尾和首元素的反向迭代器。</a:t>
            </a:r>
          </a:p>
          <a:p>
            <a:pPr lvl="1" eaLnBrk="1" hangingPunct="1">
              <a:defRPr/>
            </a:pPr>
            <a:r>
              <a:rPr lang="zh-CN" altLang="en-US" dirty="0">
                <a:solidFill>
                  <a:srgbClr val="FFC000"/>
                </a:solidFill>
              </a:rPr>
              <a:t>插入迭代器</a:t>
            </a:r>
            <a:r>
              <a:rPr lang="zh-CN" altLang="en-US" dirty="0"/>
              <a:t>（</a:t>
            </a:r>
            <a:r>
              <a:rPr lang="en-US" altLang="zh-CN" dirty="0"/>
              <a:t>insert iterator</a:t>
            </a:r>
            <a:r>
              <a:rPr lang="zh-CN" altLang="en-US" dirty="0"/>
              <a:t>）：用于在容器中指定位置插入元素，其中包括：</a:t>
            </a:r>
            <a:endParaRPr lang="en-US" altLang="zh-CN" dirty="0"/>
          </a:p>
          <a:p>
            <a:pPr lvl="2" eaLnBrk="1" hangingPunct="1">
              <a:defRPr/>
            </a:pPr>
            <a:r>
              <a:rPr lang="en-US" altLang="zh-CN" dirty="0" err="1"/>
              <a:t>back_insert_iterator</a:t>
            </a:r>
            <a:r>
              <a:rPr lang="zh-CN" altLang="en-US" dirty="0"/>
              <a:t>（用于在尾部插入元素）</a:t>
            </a:r>
            <a:endParaRPr lang="en-US" altLang="zh-CN" dirty="0"/>
          </a:p>
          <a:p>
            <a:pPr lvl="2" eaLnBrk="1" hangingPunct="1">
              <a:defRPr/>
            </a:pPr>
            <a:r>
              <a:rPr lang="en-US" altLang="zh-CN" dirty="0" err="1"/>
              <a:t>front_insert_iterator</a:t>
            </a:r>
            <a:r>
              <a:rPr lang="zh-CN" altLang="en-US" dirty="0"/>
              <a:t>（用于在首部插入元素）</a:t>
            </a:r>
            <a:endParaRPr lang="en-US" altLang="zh-CN" dirty="0"/>
          </a:p>
          <a:p>
            <a:pPr lvl="2" eaLnBrk="1" hangingPunct="1">
              <a:defRPr/>
            </a:pPr>
            <a:r>
              <a:rPr lang="en-US" altLang="zh-CN" dirty="0" err="1"/>
              <a:t>insert_iterator</a:t>
            </a:r>
            <a:r>
              <a:rPr lang="zh-CN" altLang="en-US" dirty="0"/>
              <a:t>（用于在任意指定位置插入元素）</a:t>
            </a:r>
            <a:endParaRPr lang="en-US" altLang="zh-CN" dirty="0"/>
          </a:p>
          <a:p>
            <a:pPr lvl="2" eaLnBrk="1" hangingPunct="1">
              <a:defRPr/>
            </a:pPr>
            <a:r>
              <a:rPr lang="zh-CN" altLang="en-US" dirty="0"/>
              <a:t>它们可以分别通过全局函数</a:t>
            </a:r>
            <a:r>
              <a:rPr lang="en-US" altLang="zh-CN" dirty="0" err="1"/>
              <a:t>back_inserter</a:t>
            </a:r>
            <a:r>
              <a:rPr lang="zh-CN" altLang="en-US" dirty="0"/>
              <a:t>、</a:t>
            </a:r>
            <a:r>
              <a:rPr lang="en-US" altLang="zh-CN" dirty="0" err="1"/>
              <a:t>front_inserter</a:t>
            </a:r>
            <a:r>
              <a:rPr lang="zh-CN" altLang="en-US" dirty="0"/>
              <a:t>和</a:t>
            </a:r>
            <a:r>
              <a:rPr lang="en-US" altLang="zh-CN" dirty="0"/>
              <a:t>inserter</a:t>
            </a:r>
            <a:r>
              <a:rPr lang="zh-CN" altLang="en-US" dirty="0"/>
              <a:t>来获得，函数的参数为容器。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F89631-5751-117B-6ACB-0F0EF6B297A4}"/>
              </a:ext>
            </a:extLst>
          </p:cNvPr>
          <p:cNvSpPr>
            <a:spLocks noGrp="1"/>
          </p:cNvSpPr>
          <p:nvPr>
            <p:ph type="title"/>
          </p:nvPr>
        </p:nvSpPr>
        <p:spPr>
          <a:xfrm>
            <a:off x="457200" y="188913"/>
            <a:ext cx="8229600" cy="1139825"/>
          </a:xfrm>
        </p:spPr>
        <p:txBody>
          <a:bodyPr/>
          <a:lstStyle/>
          <a:p>
            <a:pPr>
              <a:defRPr/>
            </a:pPr>
            <a:r>
              <a:rPr lang="zh-CN" altLang="en-US" sz="3600" dirty="0"/>
              <a:t>例：利用</a:t>
            </a:r>
            <a:r>
              <a:rPr lang="en-US" altLang="zh-CN" sz="3600" dirty="0"/>
              <a:t>STL</a:t>
            </a:r>
            <a:r>
              <a:rPr lang="zh-CN" altLang="en-US" sz="3600" dirty="0"/>
              <a:t>的容器</a:t>
            </a:r>
            <a:r>
              <a:rPr lang="en-US" altLang="zh-CN" sz="3600" dirty="0"/>
              <a:t>list</a:t>
            </a:r>
            <a:r>
              <a:rPr lang="zh-CN" altLang="en-US" sz="3600" dirty="0"/>
              <a:t>和迭代器实现求解约瑟夫问题</a:t>
            </a:r>
          </a:p>
        </p:txBody>
      </p:sp>
      <p:sp>
        <p:nvSpPr>
          <p:cNvPr id="3" name="内容占位符 2">
            <a:extLst>
              <a:ext uri="{FF2B5EF4-FFF2-40B4-BE49-F238E27FC236}">
                <a16:creationId xmlns:a16="http://schemas.microsoft.com/office/drawing/2014/main" id="{B4159914-1245-F818-D117-06E86FB03142}"/>
              </a:ext>
            </a:extLst>
          </p:cNvPr>
          <p:cNvSpPr>
            <a:spLocks noGrp="1"/>
          </p:cNvSpPr>
          <p:nvPr>
            <p:ph idx="1"/>
          </p:nvPr>
        </p:nvSpPr>
        <p:spPr>
          <a:xfrm>
            <a:off x="457200" y="1600200"/>
            <a:ext cx="8507413" cy="5068888"/>
          </a:xfrm>
        </p:spPr>
        <p:txBody>
          <a:bodyPr>
            <a:normAutofit fontScale="77500" lnSpcReduction="20000"/>
          </a:bodyPr>
          <a:lstStyle/>
          <a:p>
            <a:pPr marL="0" indent="0">
              <a:buFont typeface="Wingdings" panose="05000000000000000000" pitchFamily="2" charset="2"/>
              <a:buNone/>
              <a:defRPr/>
            </a:pPr>
            <a:r>
              <a:rPr lang="en-US" altLang="zh-CN" dirty="0"/>
              <a:t>#include &lt;</a:t>
            </a:r>
            <a:r>
              <a:rPr lang="en-US" altLang="zh-CN" dirty="0" err="1"/>
              <a:t>iostream</a:t>
            </a:r>
            <a:r>
              <a:rPr lang="en-US" altLang="zh-CN" dirty="0"/>
              <a:t>&gt;</a:t>
            </a:r>
          </a:p>
          <a:p>
            <a:pPr marL="0" indent="0">
              <a:buFont typeface="Wingdings" panose="05000000000000000000" pitchFamily="2" charset="2"/>
              <a:buNone/>
              <a:defRPr/>
            </a:pPr>
            <a:r>
              <a:rPr lang="en-US" altLang="zh-CN" dirty="0"/>
              <a:t>#include &lt;list&gt;</a:t>
            </a:r>
          </a:p>
          <a:p>
            <a:pPr marL="0" indent="0">
              <a:buFont typeface="Wingdings" panose="05000000000000000000" pitchFamily="2" charset="2"/>
              <a:buNone/>
              <a:defRPr/>
            </a:pPr>
            <a:r>
              <a:rPr lang="en-US" altLang="zh-CN" dirty="0"/>
              <a:t>using namespace </a:t>
            </a:r>
            <a:r>
              <a:rPr lang="en-US" altLang="zh-CN" dirty="0" err="1"/>
              <a:t>std</a:t>
            </a:r>
            <a:r>
              <a:rPr lang="en-US" altLang="zh-CN" dirty="0"/>
              <a:t>;</a:t>
            </a:r>
          </a:p>
          <a:p>
            <a:pPr marL="0" indent="0">
              <a:buFont typeface="Wingdings" panose="05000000000000000000" pitchFamily="2" charset="2"/>
              <a:buNone/>
              <a:defRPr/>
            </a:pPr>
            <a:r>
              <a:rPr lang="en-US" altLang="zh-CN" dirty="0" err="1"/>
              <a:t>int</a:t>
            </a:r>
            <a:r>
              <a:rPr lang="en-US" altLang="zh-CN" dirty="0"/>
              <a:t> main()</a:t>
            </a:r>
          </a:p>
          <a:p>
            <a:pPr marL="0" indent="0">
              <a:buFont typeface="Wingdings" panose="05000000000000000000" pitchFamily="2" charset="2"/>
              <a:buNone/>
              <a:defRPr/>
            </a:pPr>
            <a:r>
              <a:rPr lang="en-US" altLang="zh-CN" dirty="0"/>
              <a:t>{ </a:t>
            </a:r>
            <a:r>
              <a:rPr lang="en-US" altLang="zh-CN" dirty="0" err="1"/>
              <a:t>int</a:t>
            </a:r>
            <a:r>
              <a:rPr lang="en-US" altLang="zh-CN" dirty="0"/>
              <a:t> </a:t>
            </a:r>
            <a:r>
              <a:rPr lang="en-US" altLang="zh-CN" dirty="0" err="1"/>
              <a:t>m,n</a:t>
            </a:r>
            <a:r>
              <a:rPr lang="en-US" altLang="zh-CN" dirty="0"/>
              <a:t>; //m</a:t>
            </a:r>
            <a:r>
              <a:rPr lang="zh-CN" altLang="en-US" dirty="0"/>
              <a:t>用于存储要报的数，</a:t>
            </a:r>
            <a:r>
              <a:rPr lang="en-US" altLang="zh-CN" dirty="0"/>
              <a:t>n</a:t>
            </a:r>
            <a:r>
              <a:rPr lang="zh-CN" altLang="en-US" dirty="0"/>
              <a:t>用于存储小孩个数</a:t>
            </a:r>
          </a:p>
          <a:p>
            <a:pPr marL="0" indent="0">
              <a:buFont typeface="Wingdings" panose="05000000000000000000" pitchFamily="2" charset="2"/>
              <a:buNone/>
              <a:defRPr/>
            </a:pPr>
            <a:r>
              <a:rPr lang="zh-CN" altLang="en-US" dirty="0"/>
              <a:t>   </a:t>
            </a:r>
            <a:r>
              <a:rPr lang="en-US" altLang="zh-CN" dirty="0" err="1"/>
              <a:t>cout</a:t>
            </a:r>
            <a:r>
              <a:rPr lang="en-US" altLang="zh-CN" dirty="0"/>
              <a:t> &lt;&lt; "</a:t>
            </a:r>
            <a:r>
              <a:rPr lang="zh-CN" altLang="en-US" dirty="0"/>
              <a:t>请输入小孩的个数和要报的数：</a:t>
            </a:r>
            <a:r>
              <a:rPr lang="en-US" altLang="zh-CN" dirty="0"/>
              <a:t>";</a:t>
            </a:r>
          </a:p>
          <a:p>
            <a:pPr marL="0" indent="0">
              <a:buFont typeface="Wingdings" panose="05000000000000000000" pitchFamily="2" charset="2"/>
              <a:buNone/>
              <a:defRPr/>
            </a:pPr>
            <a:r>
              <a:rPr lang="en-US" altLang="zh-CN" dirty="0"/>
              <a:t>   </a:t>
            </a:r>
            <a:r>
              <a:rPr lang="en-US" altLang="zh-CN" dirty="0" err="1"/>
              <a:t>cin</a:t>
            </a:r>
            <a:r>
              <a:rPr lang="en-US" altLang="zh-CN" dirty="0"/>
              <a:t> &gt;&gt; n &gt;&gt; m;</a:t>
            </a:r>
          </a:p>
          <a:p>
            <a:pPr marL="0" indent="0">
              <a:buFont typeface="Wingdings" panose="05000000000000000000" pitchFamily="2" charset="2"/>
              <a:buNone/>
              <a:defRPr/>
            </a:pPr>
            <a:r>
              <a:rPr lang="en-US" altLang="zh-CN" dirty="0"/>
              <a:t>   //</a:t>
            </a:r>
            <a:r>
              <a:rPr lang="zh-CN" altLang="en-US" dirty="0"/>
              <a:t>构建圈子</a:t>
            </a:r>
          </a:p>
          <a:p>
            <a:pPr marL="0" indent="0">
              <a:buFont typeface="Wingdings" panose="05000000000000000000" pitchFamily="2" charset="2"/>
              <a:buNone/>
              <a:defRPr/>
            </a:pPr>
            <a:r>
              <a:rPr lang="zh-CN" altLang="en-US" dirty="0"/>
              <a:t>   </a:t>
            </a:r>
            <a:r>
              <a:rPr lang="en-US" altLang="zh-CN" dirty="0"/>
              <a:t>list&lt;</a:t>
            </a:r>
            <a:r>
              <a:rPr lang="en-US" altLang="zh-CN" dirty="0" err="1"/>
              <a:t>int</a:t>
            </a:r>
            <a:r>
              <a:rPr lang="en-US" altLang="zh-CN" dirty="0"/>
              <a:t>&gt; children; //</a:t>
            </a:r>
            <a:r>
              <a:rPr lang="en-US" altLang="zh-CN" sz="3000" dirty="0"/>
              <a:t>children</a:t>
            </a:r>
            <a:r>
              <a:rPr lang="zh-CN" altLang="en-US" sz="3000" dirty="0"/>
              <a:t>是用于存储小孩编号的容器</a:t>
            </a:r>
          </a:p>
          <a:p>
            <a:pPr marL="0" indent="0">
              <a:buFont typeface="Wingdings" panose="05000000000000000000" pitchFamily="2" charset="2"/>
              <a:buNone/>
              <a:defRPr/>
            </a:pPr>
            <a:r>
              <a:rPr lang="zh-CN" altLang="en-US" dirty="0"/>
              <a:t>   </a:t>
            </a:r>
            <a:r>
              <a:rPr lang="en-US" altLang="zh-CN" dirty="0"/>
              <a:t>for (</a:t>
            </a:r>
            <a:r>
              <a:rPr lang="en-US" altLang="zh-CN" dirty="0" err="1"/>
              <a:t>int</a:t>
            </a:r>
            <a:r>
              <a:rPr lang="en-US" altLang="zh-CN" dirty="0"/>
              <a:t> </a:t>
            </a:r>
            <a:r>
              <a:rPr lang="en-US" altLang="zh-CN" dirty="0" err="1"/>
              <a:t>i</a:t>
            </a:r>
            <a:r>
              <a:rPr lang="en-US" altLang="zh-CN" dirty="0"/>
              <a:t>=0; </a:t>
            </a:r>
            <a:r>
              <a:rPr lang="en-US" altLang="zh-CN" dirty="0" err="1"/>
              <a:t>i</a:t>
            </a:r>
            <a:r>
              <a:rPr lang="en-US" altLang="zh-CN" dirty="0"/>
              <a:t>&lt;n; </a:t>
            </a:r>
            <a:r>
              <a:rPr lang="en-US" altLang="zh-CN" dirty="0" err="1"/>
              <a:t>i</a:t>
            </a:r>
            <a:r>
              <a:rPr lang="en-US" altLang="zh-CN" dirty="0"/>
              <a:t>++) //</a:t>
            </a:r>
            <a:r>
              <a:rPr lang="zh-CN" altLang="en-US" dirty="0"/>
              <a:t>循环创建容器元素</a:t>
            </a:r>
          </a:p>
          <a:p>
            <a:pPr marL="0" indent="0">
              <a:buFont typeface="Wingdings" panose="05000000000000000000" pitchFamily="2" charset="2"/>
              <a:buNone/>
              <a:defRPr/>
            </a:pPr>
            <a:r>
              <a:rPr lang="zh-CN" altLang="en-US" dirty="0"/>
              <a:t>     </a:t>
            </a:r>
            <a:r>
              <a:rPr lang="en-US" altLang="zh-CN" dirty="0" err="1"/>
              <a:t>children.push_back</a:t>
            </a:r>
            <a:r>
              <a:rPr lang="en-US" altLang="zh-CN" dirty="0"/>
              <a:t>(</a:t>
            </a:r>
            <a:r>
              <a:rPr lang="en-US" altLang="zh-CN" dirty="0" err="1"/>
              <a:t>i</a:t>
            </a:r>
            <a:r>
              <a:rPr lang="en-US" altLang="zh-CN" dirty="0"/>
              <a:t>); //</a:t>
            </a:r>
            <a:r>
              <a:rPr lang="zh-CN" altLang="en-US" dirty="0"/>
              <a:t>把小孩的编号（</a:t>
            </a:r>
            <a:r>
              <a:rPr lang="en-US" altLang="zh-CN" dirty="0" err="1"/>
              <a:t>i</a:t>
            </a:r>
            <a:r>
              <a:rPr lang="zh-CN" altLang="en-US" dirty="0"/>
              <a:t>）从容器</a:t>
            </a:r>
            <a:endParaRPr lang="en-US" altLang="zh-CN" dirty="0"/>
          </a:p>
          <a:p>
            <a:pPr marL="0" indent="0">
              <a:buFont typeface="Wingdings" panose="05000000000000000000" pitchFamily="2" charset="2"/>
              <a:buNone/>
              <a:defRPr/>
            </a:pPr>
            <a:r>
              <a:rPr lang="en-US" altLang="zh-CN" dirty="0"/>
              <a:t>				     //</a:t>
            </a:r>
            <a:r>
              <a:rPr lang="zh-CN" altLang="en-US" dirty="0"/>
              <a:t>尾部放入容器</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A60F010-7D21-2622-52D2-B835F0BAF208}"/>
              </a:ext>
            </a:extLst>
          </p:cNvPr>
          <p:cNvSpPr>
            <a:spLocks noGrp="1"/>
          </p:cNvSpPr>
          <p:nvPr>
            <p:ph idx="1"/>
          </p:nvPr>
        </p:nvSpPr>
        <p:spPr>
          <a:xfrm>
            <a:off x="179388" y="188913"/>
            <a:ext cx="8831262" cy="6669087"/>
          </a:xfrm>
        </p:spPr>
        <p:txBody>
          <a:bodyPr>
            <a:normAutofit fontScale="62500" lnSpcReduction="20000"/>
          </a:bodyPr>
          <a:lstStyle/>
          <a:p>
            <a:pPr marL="0" indent="0">
              <a:buFont typeface="Wingdings" panose="05000000000000000000" pitchFamily="2" charset="2"/>
              <a:buNone/>
              <a:defRPr/>
            </a:pPr>
            <a:r>
              <a:rPr lang="en-US" altLang="zh-CN" dirty="0"/>
              <a:t>  //</a:t>
            </a:r>
            <a:r>
              <a:rPr lang="zh-CN" altLang="en-US" dirty="0"/>
              <a:t>开始报数</a:t>
            </a:r>
          </a:p>
          <a:p>
            <a:pPr marL="0" indent="0">
              <a:buFont typeface="Wingdings" panose="05000000000000000000" pitchFamily="2" charset="2"/>
              <a:buNone/>
              <a:defRPr/>
            </a:pPr>
            <a:r>
              <a:rPr lang="zh-CN" altLang="en-US" dirty="0"/>
              <a:t>  </a:t>
            </a:r>
            <a:r>
              <a:rPr lang="en-US" altLang="zh-CN" dirty="0"/>
              <a:t>list&lt;</a:t>
            </a:r>
            <a:r>
              <a:rPr lang="en-US" altLang="zh-CN" dirty="0" err="1"/>
              <a:t>int</a:t>
            </a:r>
            <a:r>
              <a:rPr lang="en-US" altLang="zh-CN" dirty="0"/>
              <a:t>&gt;::iterator current; //current</a:t>
            </a:r>
            <a:r>
              <a:rPr lang="zh-CN" altLang="en-US" dirty="0"/>
              <a:t>为指向容器元素的迭代器</a:t>
            </a:r>
          </a:p>
          <a:p>
            <a:pPr marL="0" indent="0">
              <a:buFont typeface="Wingdings" panose="05000000000000000000" pitchFamily="2" charset="2"/>
              <a:buNone/>
              <a:defRPr/>
            </a:pPr>
            <a:r>
              <a:rPr lang="zh-CN" altLang="en-US" dirty="0"/>
              <a:t>  </a:t>
            </a:r>
            <a:r>
              <a:rPr lang="en-US" altLang="zh-CN" dirty="0"/>
              <a:t>current = </a:t>
            </a:r>
            <a:r>
              <a:rPr lang="en-US" altLang="zh-CN" dirty="0" err="1"/>
              <a:t>children.begin</a:t>
            </a:r>
            <a:r>
              <a:rPr lang="en-US" altLang="zh-CN" dirty="0"/>
              <a:t>(); //current</a:t>
            </a:r>
            <a:r>
              <a:rPr lang="zh-CN" altLang="en-US" dirty="0"/>
              <a:t>初始化成指向容器的第一个元素</a:t>
            </a:r>
          </a:p>
          <a:p>
            <a:pPr marL="0" indent="0">
              <a:buFont typeface="Wingdings" panose="05000000000000000000" pitchFamily="2" charset="2"/>
              <a:buNone/>
              <a:defRPr/>
            </a:pPr>
            <a:r>
              <a:rPr lang="zh-CN" altLang="en-US" dirty="0"/>
              <a:t>  </a:t>
            </a:r>
            <a:r>
              <a:rPr lang="en-US" altLang="zh-CN" dirty="0"/>
              <a:t>while (</a:t>
            </a:r>
            <a:r>
              <a:rPr lang="en-US" altLang="zh-CN" dirty="0" err="1"/>
              <a:t>children.size</a:t>
            </a:r>
            <a:r>
              <a:rPr lang="en-US" altLang="zh-CN" dirty="0"/>
              <a:t>() &gt; 1) //</a:t>
            </a:r>
            <a:r>
              <a:rPr lang="zh-CN" altLang="en-US" dirty="0"/>
              <a:t>只要容器元素个数大于</a:t>
            </a:r>
            <a:r>
              <a:rPr lang="en-US" altLang="zh-CN" dirty="0"/>
              <a:t>1</a:t>
            </a:r>
            <a:r>
              <a:rPr lang="zh-CN" altLang="en-US" dirty="0"/>
              <a:t>，就执行循环</a:t>
            </a:r>
          </a:p>
          <a:p>
            <a:pPr marL="0" indent="0">
              <a:buFont typeface="Wingdings" panose="05000000000000000000" pitchFamily="2" charset="2"/>
              <a:buNone/>
              <a:defRPr/>
            </a:pPr>
            <a:r>
              <a:rPr lang="zh-CN" altLang="en-US" dirty="0"/>
              <a:t>   </a:t>
            </a:r>
            <a:r>
              <a:rPr lang="en-US" altLang="zh-CN" dirty="0"/>
              <a:t>{  for (</a:t>
            </a:r>
            <a:r>
              <a:rPr lang="en-US" altLang="zh-CN" dirty="0" err="1"/>
              <a:t>int</a:t>
            </a:r>
            <a:r>
              <a:rPr lang="en-US" altLang="zh-CN" dirty="0"/>
              <a:t> count=1; count&lt;m; count++)  //</a:t>
            </a:r>
            <a:r>
              <a:rPr lang="zh-CN" altLang="en-US" dirty="0"/>
              <a:t>报数，循环</a:t>
            </a:r>
            <a:r>
              <a:rPr lang="en-US" altLang="zh-CN" dirty="0"/>
              <a:t>m-1</a:t>
            </a:r>
            <a:r>
              <a:rPr lang="zh-CN" altLang="en-US" dirty="0"/>
              <a:t>次</a:t>
            </a:r>
          </a:p>
          <a:p>
            <a:pPr marL="0" indent="0">
              <a:buFont typeface="Wingdings" panose="05000000000000000000" pitchFamily="2" charset="2"/>
              <a:buNone/>
              <a:defRPr/>
            </a:pPr>
            <a:r>
              <a:rPr lang="zh-CN" altLang="en-US" dirty="0"/>
              <a:t>      </a:t>
            </a:r>
            <a:r>
              <a:rPr lang="en-US" altLang="zh-CN" dirty="0"/>
              <a:t>{ </a:t>
            </a:r>
            <a:r>
              <a:rPr lang="en-US" altLang="zh-CN" dirty="0">
                <a:solidFill>
                  <a:srgbClr val="FFC000"/>
                </a:solidFill>
              </a:rPr>
              <a:t>current++;</a:t>
            </a:r>
            <a:r>
              <a:rPr lang="en-US" altLang="zh-CN" dirty="0"/>
              <a:t> //current</a:t>
            </a:r>
            <a:r>
              <a:rPr lang="zh-CN" altLang="en-US" dirty="0"/>
              <a:t>指向下一个元素</a:t>
            </a:r>
          </a:p>
          <a:p>
            <a:pPr marL="0" indent="0">
              <a:buFont typeface="Wingdings" panose="05000000000000000000" pitchFamily="2" charset="2"/>
              <a:buNone/>
              <a:defRPr/>
            </a:pPr>
            <a:r>
              <a:rPr lang="en-US" altLang="zh-CN" dirty="0"/>
              <a:t>         //</a:t>
            </a:r>
            <a:r>
              <a:rPr lang="zh-CN" altLang="en-US" dirty="0"/>
              <a:t>如果</a:t>
            </a:r>
            <a:r>
              <a:rPr lang="en-US" altLang="zh-CN" dirty="0"/>
              <a:t>current</a:t>
            </a:r>
            <a:r>
              <a:rPr lang="zh-CN" altLang="en-US" dirty="0"/>
              <a:t>指向的是容器末尾，</a:t>
            </a:r>
            <a:r>
              <a:rPr lang="en-US" altLang="zh-CN" dirty="0"/>
              <a:t>current</a:t>
            </a:r>
            <a:r>
              <a:rPr lang="zh-CN" altLang="en-US" dirty="0"/>
              <a:t>指向第一个元素</a:t>
            </a:r>
          </a:p>
          <a:p>
            <a:pPr marL="0" indent="0">
              <a:buFont typeface="Wingdings" panose="05000000000000000000" pitchFamily="2" charset="2"/>
              <a:buNone/>
              <a:defRPr/>
            </a:pPr>
            <a:r>
              <a:rPr lang="zh-CN" altLang="en-US" dirty="0"/>
              <a:t>         </a:t>
            </a:r>
            <a:r>
              <a:rPr lang="en-US" altLang="zh-CN" dirty="0"/>
              <a:t>if (current == </a:t>
            </a:r>
            <a:r>
              <a:rPr lang="en-US" altLang="zh-CN" dirty="0" err="1"/>
              <a:t>children.end</a:t>
            </a:r>
            <a:r>
              <a:rPr lang="en-US" altLang="zh-CN" dirty="0"/>
              <a:t>()) current = </a:t>
            </a:r>
            <a:r>
              <a:rPr lang="en-US" altLang="zh-CN" dirty="0" err="1"/>
              <a:t>children.begin</a:t>
            </a:r>
            <a:r>
              <a:rPr lang="en-US" altLang="zh-CN" dirty="0"/>
              <a:t>();</a:t>
            </a:r>
          </a:p>
          <a:p>
            <a:pPr marL="0" indent="0">
              <a:buFont typeface="Wingdings" panose="05000000000000000000" pitchFamily="2" charset="2"/>
              <a:buNone/>
              <a:defRPr/>
            </a:pPr>
            <a:r>
              <a:rPr lang="en-US" altLang="zh-CN" dirty="0"/>
              <a:t>       }</a:t>
            </a:r>
          </a:p>
          <a:p>
            <a:pPr marL="0" indent="0">
              <a:buFont typeface="Wingdings" panose="05000000000000000000" pitchFamily="2" charset="2"/>
              <a:buNone/>
              <a:defRPr/>
            </a:pPr>
            <a:r>
              <a:rPr lang="en-US" altLang="zh-CN" dirty="0"/>
              <a:t>       //</a:t>
            </a:r>
            <a:r>
              <a:rPr lang="zh-CN" altLang="en-US" dirty="0"/>
              <a:t>循环结束时，</a:t>
            </a:r>
            <a:r>
              <a:rPr lang="en-US" altLang="zh-CN" dirty="0"/>
              <a:t>current</a:t>
            </a:r>
            <a:r>
              <a:rPr lang="zh-CN" altLang="en-US" dirty="0"/>
              <a:t>指向将要离开圈子的小孩</a:t>
            </a:r>
          </a:p>
          <a:p>
            <a:pPr marL="0" indent="0">
              <a:buFont typeface="Wingdings" panose="05000000000000000000" pitchFamily="2" charset="2"/>
              <a:buNone/>
              <a:defRPr/>
            </a:pPr>
            <a:r>
              <a:rPr lang="zh-CN" altLang="en-US" dirty="0"/>
              <a:t>       </a:t>
            </a:r>
            <a:r>
              <a:rPr lang="en-US" altLang="zh-CN" dirty="0"/>
              <a:t>current = </a:t>
            </a:r>
            <a:r>
              <a:rPr lang="en-US" altLang="zh-CN" dirty="0" err="1"/>
              <a:t>children.</a:t>
            </a:r>
            <a:r>
              <a:rPr lang="en-US" altLang="zh-CN" dirty="0" err="1">
                <a:solidFill>
                  <a:srgbClr val="FFC000"/>
                </a:solidFill>
              </a:rPr>
              <a:t>erase</a:t>
            </a:r>
            <a:r>
              <a:rPr lang="en-US" altLang="zh-CN" dirty="0"/>
              <a:t>(current);  //</a:t>
            </a:r>
            <a:r>
              <a:rPr lang="zh-CN" altLang="en-US" dirty="0"/>
              <a:t>小孩离开圈子，</a:t>
            </a:r>
            <a:r>
              <a:rPr lang="en-US" altLang="zh-CN" dirty="0"/>
              <a:t>current</a:t>
            </a:r>
            <a:r>
              <a:rPr lang="zh-CN" altLang="en-US" dirty="0"/>
              <a:t>指向</a:t>
            </a:r>
            <a:endParaRPr lang="en-US" altLang="zh-CN" dirty="0"/>
          </a:p>
          <a:p>
            <a:pPr marL="0" indent="0">
              <a:buFont typeface="Wingdings" panose="05000000000000000000" pitchFamily="2" charset="2"/>
              <a:buNone/>
              <a:defRPr/>
            </a:pPr>
            <a:r>
              <a:rPr lang="en-US" altLang="zh-CN" dirty="0"/>
              <a:t>					       //</a:t>
            </a:r>
            <a:r>
              <a:rPr lang="zh-CN" altLang="en-US" dirty="0"/>
              <a:t>下一个元素</a:t>
            </a:r>
          </a:p>
          <a:p>
            <a:pPr marL="0" indent="0">
              <a:buFont typeface="Wingdings" panose="05000000000000000000" pitchFamily="2" charset="2"/>
              <a:buNone/>
              <a:defRPr/>
            </a:pPr>
            <a:r>
              <a:rPr lang="en-US" altLang="zh-CN" dirty="0"/>
              <a:t>       //</a:t>
            </a:r>
            <a:r>
              <a:rPr lang="zh-CN" altLang="en-US" dirty="0"/>
              <a:t>如果</a:t>
            </a:r>
            <a:r>
              <a:rPr lang="en-US" altLang="zh-CN" dirty="0"/>
              <a:t>current</a:t>
            </a:r>
            <a:r>
              <a:rPr lang="zh-CN" altLang="en-US" dirty="0"/>
              <a:t>指向的是容器末尾，</a:t>
            </a:r>
            <a:r>
              <a:rPr lang="en-US" altLang="zh-CN" dirty="0"/>
              <a:t>current</a:t>
            </a:r>
            <a:r>
              <a:rPr lang="zh-CN" altLang="en-US" dirty="0"/>
              <a:t>指向第一个元素</a:t>
            </a:r>
          </a:p>
          <a:p>
            <a:pPr marL="0" indent="0">
              <a:buFont typeface="Wingdings" panose="05000000000000000000" pitchFamily="2" charset="2"/>
              <a:buNone/>
              <a:defRPr/>
            </a:pPr>
            <a:r>
              <a:rPr lang="zh-CN" altLang="en-US" dirty="0"/>
              <a:t>       </a:t>
            </a:r>
            <a:r>
              <a:rPr lang="en-US" altLang="zh-CN" dirty="0"/>
              <a:t>if (current == </a:t>
            </a:r>
            <a:r>
              <a:rPr lang="en-US" altLang="zh-CN" dirty="0" err="1"/>
              <a:t>children.end</a:t>
            </a:r>
            <a:r>
              <a:rPr lang="en-US" altLang="zh-CN" dirty="0"/>
              <a:t>()) current = </a:t>
            </a:r>
            <a:r>
              <a:rPr lang="en-US" altLang="zh-CN" dirty="0" err="1"/>
              <a:t>children.begin</a:t>
            </a:r>
            <a:r>
              <a:rPr lang="en-US" altLang="zh-CN" dirty="0"/>
              <a:t>();</a:t>
            </a:r>
            <a:endParaRPr lang="zh-CN" altLang="en-US" dirty="0"/>
          </a:p>
          <a:p>
            <a:pPr marL="0" indent="0">
              <a:buFont typeface="Wingdings" panose="05000000000000000000" pitchFamily="2" charset="2"/>
              <a:buNone/>
              <a:defRPr/>
            </a:pPr>
            <a:r>
              <a:rPr lang="en-US" altLang="zh-CN" dirty="0"/>
              <a:t>   } //</a:t>
            </a:r>
            <a:r>
              <a:rPr lang="zh-CN" altLang="en-US" dirty="0"/>
              <a:t>循环结束时，</a:t>
            </a:r>
            <a:r>
              <a:rPr lang="en-US" altLang="zh-CN" dirty="0"/>
              <a:t>current</a:t>
            </a:r>
            <a:r>
              <a:rPr lang="zh-CN" altLang="en-US" dirty="0"/>
              <a:t>指向容器中剩下的唯一的一个元素，即胜利者</a:t>
            </a:r>
            <a:endParaRPr lang="en-US" altLang="zh-CN" dirty="0"/>
          </a:p>
          <a:p>
            <a:pPr marL="0" indent="0">
              <a:buFont typeface="Wingdings" panose="05000000000000000000" pitchFamily="2" charset="2"/>
              <a:buNone/>
              <a:defRPr/>
            </a:pPr>
            <a:r>
              <a:rPr lang="en-US" altLang="zh-CN" dirty="0"/>
              <a:t>   //</a:t>
            </a:r>
            <a:r>
              <a:rPr lang="zh-CN" altLang="en-US" dirty="0"/>
              <a:t>输出胜利者的编号</a:t>
            </a:r>
          </a:p>
          <a:p>
            <a:pPr marL="0" indent="0">
              <a:buFont typeface="Wingdings" panose="05000000000000000000" pitchFamily="2" charset="2"/>
              <a:buNone/>
              <a:defRPr/>
            </a:pPr>
            <a:r>
              <a:rPr lang="zh-CN" altLang="en-US" dirty="0"/>
              <a:t>   </a:t>
            </a:r>
            <a:r>
              <a:rPr lang="en-US" altLang="zh-CN" dirty="0" err="1"/>
              <a:t>cout</a:t>
            </a:r>
            <a:r>
              <a:rPr lang="en-US" altLang="zh-CN" dirty="0"/>
              <a:t> &lt;&lt; "The winner is No." &lt;&lt; </a:t>
            </a:r>
            <a:r>
              <a:rPr lang="en-US" altLang="zh-CN" dirty="0">
                <a:solidFill>
                  <a:srgbClr val="FFC000"/>
                </a:solidFill>
              </a:rPr>
              <a:t>*current</a:t>
            </a:r>
            <a:r>
              <a:rPr lang="en-US" altLang="zh-CN" dirty="0"/>
              <a:t> &lt;&lt; "\n";</a:t>
            </a:r>
          </a:p>
          <a:p>
            <a:pPr marL="0" indent="0">
              <a:buFont typeface="Wingdings" panose="05000000000000000000" pitchFamily="2" charset="2"/>
              <a:buNone/>
              <a:defRPr/>
            </a:pPr>
            <a:r>
              <a:rPr lang="en-US" altLang="zh-CN" dirty="0"/>
              <a:t>   return 0;</a:t>
            </a:r>
          </a:p>
          <a:p>
            <a:pPr marL="0" indent="0">
              <a:buFont typeface="Wingdings" panose="05000000000000000000" pitchFamily="2" charset="2"/>
              <a:buNone/>
              <a:defRPr/>
            </a:pPr>
            <a:r>
              <a:rPr lang="en-US" altLang="zh-CN" dirty="0"/>
              <a:t>}</a:t>
            </a:r>
          </a:p>
          <a:p>
            <a:pPr>
              <a:lnSpc>
                <a:spcPct val="120000"/>
              </a:lnSpc>
              <a:defRPr/>
            </a:pPr>
            <a:r>
              <a:rPr lang="zh-CN" altLang="en-US" dirty="0"/>
              <a:t>上面程序中的</a:t>
            </a:r>
            <a:r>
              <a:rPr lang="en-US" altLang="zh-CN" dirty="0"/>
              <a:t>list</a:t>
            </a:r>
            <a:r>
              <a:rPr lang="zh-CN" altLang="en-US" dirty="0"/>
              <a:t>也可以换成</a:t>
            </a:r>
            <a:r>
              <a:rPr lang="en-US" altLang="zh-CN" dirty="0"/>
              <a:t>vector</a:t>
            </a:r>
            <a:r>
              <a:rPr lang="zh-CN" altLang="en-US" dirty="0"/>
              <a:t>，但由于</a:t>
            </a:r>
            <a:r>
              <a:rPr lang="zh-CN" altLang="zh-CN" dirty="0">
                <a:effectLst/>
              </a:rPr>
              <a:t>程序中需要经常在容器的任意位置上删除元素，而</a:t>
            </a:r>
            <a:r>
              <a:rPr lang="en-GB" altLang="zh-CN" dirty="0">
                <a:effectLst/>
              </a:rPr>
              <a:t>list</a:t>
            </a:r>
            <a:r>
              <a:rPr lang="zh-CN" altLang="zh-CN" dirty="0">
                <a:effectLst/>
              </a:rPr>
              <a:t>容器的双向链表结构比较适合这个操作</a:t>
            </a:r>
            <a:r>
              <a:rPr lang="zh-CN" altLang="en-US" dirty="0">
                <a:effectLst/>
              </a:rPr>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9" end="19"/>
                                            </p:txEl>
                                          </p:spTgt>
                                        </p:tgtEl>
                                        <p:attrNameLst>
                                          <p:attrName>style.visibility</p:attrName>
                                        </p:attrNameLst>
                                      </p:cBhvr>
                                      <p:to>
                                        <p:strVal val="visible"/>
                                      </p:to>
                                    </p:set>
                                    <p:anim calcmode="lin" valueType="num">
                                      <p:cBhvr additive="base">
                                        <p:cTn id="7"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175E14-876B-F274-AF75-6AAE3FE617E0}"/>
              </a:ext>
            </a:extLst>
          </p:cNvPr>
          <p:cNvSpPr>
            <a:spLocks noGrp="1"/>
          </p:cNvSpPr>
          <p:nvPr>
            <p:ph type="title"/>
          </p:nvPr>
        </p:nvSpPr>
        <p:spPr>
          <a:xfrm>
            <a:off x="457200" y="44450"/>
            <a:ext cx="8229600" cy="936625"/>
          </a:xfrm>
        </p:spPr>
        <p:txBody>
          <a:bodyPr/>
          <a:lstStyle/>
          <a:p>
            <a:pPr>
              <a:defRPr/>
            </a:pPr>
            <a:r>
              <a:rPr lang="zh-CN" altLang="en-US" dirty="0"/>
              <a:t>算法</a:t>
            </a:r>
          </a:p>
        </p:txBody>
      </p:sp>
      <p:sp>
        <p:nvSpPr>
          <p:cNvPr id="3" name="内容占位符 2">
            <a:extLst>
              <a:ext uri="{FF2B5EF4-FFF2-40B4-BE49-F238E27FC236}">
                <a16:creationId xmlns:a16="http://schemas.microsoft.com/office/drawing/2014/main" id="{89F20C36-B886-32E7-7562-D928C23DEFB9}"/>
              </a:ext>
            </a:extLst>
          </p:cNvPr>
          <p:cNvSpPr>
            <a:spLocks noGrp="1"/>
          </p:cNvSpPr>
          <p:nvPr>
            <p:ph idx="1"/>
          </p:nvPr>
        </p:nvSpPr>
        <p:spPr>
          <a:xfrm>
            <a:off x="457200" y="1052513"/>
            <a:ext cx="8229600" cy="5805487"/>
          </a:xfrm>
        </p:spPr>
        <p:txBody>
          <a:bodyPr>
            <a:normAutofit fontScale="77500" lnSpcReduction="20000"/>
          </a:bodyPr>
          <a:lstStyle/>
          <a:p>
            <a:pPr algn="just" eaLnBrk="1" hangingPunct="1">
              <a:lnSpc>
                <a:spcPct val="120000"/>
              </a:lnSpc>
              <a:defRPr/>
            </a:pPr>
            <a:r>
              <a:rPr lang="zh-CN" altLang="en-US" dirty="0"/>
              <a:t>在</a:t>
            </a:r>
            <a:r>
              <a:rPr lang="en-US" altLang="zh-CN" dirty="0"/>
              <a:t>STL</a:t>
            </a:r>
            <a:r>
              <a:rPr lang="zh-CN" altLang="en-US" dirty="0"/>
              <a:t>中，除了用容器类自身提供的成员函数来操作容器元素外，还提供了一系列通用的对容器中元素进行操作的全局函数，称为</a:t>
            </a:r>
            <a:r>
              <a:rPr lang="zh-CN" altLang="en-US" dirty="0">
                <a:solidFill>
                  <a:srgbClr val="FFC000"/>
                </a:solidFill>
              </a:rPr>
              <a:t>算法</a:t>
            </a:r>
            <a:r>
              <a:rPr lang="zh-CN" altLang="en-US" dirty="0"/>
              <a:t>（</a:t>
            </a:r>
            <a:r>
              <a:rPr lang="en-US" altLang="zh-CN" dirty="0"/>
              <a:t>algorithm</a:t>
            </a:r>
            <a:r>
              <a:rPr lang="zh-CN" altLang="en-US" dirty="0"/>
              <a:t>）。</a:t>
            </a:r>
            <a:endParaRPr lang="en-US" altLang="zh-CN" dirty="0"/>
          </a:p>
          <a:p>
            <a:pPr algn="just" eaLnBrk="1" hangingPunct="1">
              <a:lnSpc>
                <a:spcPct val="120000"/>
              </a:lnSpc>
              <a:defRPr/>
            </a:pPr>
            <a:r>
              <a:rPr lang="en-US" altLang="zh-CN" dirty="0"/>
              <a:t>STL</a:t>
            </a:r>
            <a:r>
              <a:rPr lang="zh-CN" altLang="en-US" dirty="0"/>
              <a:t>算法实现了对序列元素的一些常规操作，用函数模板实现的，主要包括：</a:t>
            </a:r>
            <a:endParaRPr lang="en-US" altLang="zh-CN" dirty="0"/>
          </a:p>
          <a:p>
            <a:pPr lvl="1" algn="just">
              <a:lnSpc>
                <a:spcPct val="120000"/>
              </a:lnSpc>
              <a:defRPr/>
            </a:pPr>
            <a:r>
              <a:rPr lang="zh-CN" altLang="en-US" dirty="0"/>
              <a:t>调序算法</a:t>
            </a:r>
            <a:endParaRPr lang="en-US" altLang="zh-CN" dirty="0"/>
          </a:p>
          <a:p>
            <a:pPr lvl="1" algn="just">
              <a:lnSpc>
                <a:spcPct val="120000"/>
              </a:lnSpc>
              <a:defRPr/>
            </a:pPr>
            <a:r>
              <a:rPr lang="zh-CN" altLang="en-US" dirty="0"/>
              <a:t>编辑算法</a:t>
            </a:r>
            <a:endParaRPr lang="en-US" altLang="zh-CN" dirty="0"/>
          </a:p>
          <a:p>
            <a:pPr lvl="1" algn="just">
              <a:lnSpc>
                <a:spcPct val="120000"/>
              </a:lnSpc>
              <a:defRPr/>
            </a:pPr>
            <a:r>
              <a:rPr lang="zh-CN" altLang="en-US" dirty="0"/>
              <a:t>查找算法</a:t>
            </a:r>
            <a:endParaRPr lang="en-US" altLang="zh-CN" dirty="0"/>
          </a:p>
          <a:p>
            <a:pPr lvl="1" algn="just">
              <a:lnSpc>
                <a:spcPct val="120000"/>
              </a:lnSpc>
              <a:defRPr/>
            </a:pPr>
            <a:r>
              <a:rPr lang="zh-CN" altLang="en-US" dirty="0"/>
              <a:t>算术算法</a:t>
            </a:r>
            <a:endParaRPr lang="en-US" altLang="zh-CN" dirty="0"/>
          </a:p>
          <a:p>
            <a:pPr lvl="1" algn="just">
              <a:lnSpc>
                <a:spcPct val="120000"/>
              </a:lnSpc>
              <a:defRPr/>
            </a:pPr>
            <a:r>
              <a:rPr lang="zh-CN" altLang="en-US" dirty="0"/>
              <a:t>集合算法</a:t>
            </a:r>
            <a:endParaRPr lang="en-US" altLang="zh-CN" dirty="0"/>
          </a:p>
          <a:p>
            <a:pPr lvl="1" algn="just">
              <a:lnSpc>
                <a:spcPct val="120000"/>
              </a:lnSpc>
              <a:defRPr/>
            </a:pPr>
            <a:r>
              <a:rPr lang="zh-CN" altLang="en-US" dirty="0"/>
              <a:t>堆算法</a:t>
            </a:r>
            <a:endParaRPr lang="en-US" altLang="zh-CN" dirty="0"/>
          </a:p>
          <a:p>
            <a:pPr lvl="1" algn="just">
              <a:lnSpc>
                <a:spcPct val="120000"/>
              </a:lnSpc>
              <a:defRPr/>
            </a:pPr>
            <a:r>
              <a:rPr lang="zh-CN" altLang="en-US" dirty="0"/>
              <a:t>元素遍历算法</a:t>
            </a:r>
            <a:endParaRPr lang="en-US" altLang="zh-CN" dirty="0"/>
          </a:p>
          <a:p>
            <a:pPr algn="just">
              <a:lnSpc>
                <a:spcPct val="120000"/>
              </a:lnSpc>
              <a:defRPr/>
            </a:pPr>
            <a:r>
              <a:rPr lang="zh-CN" altLang="en-US" dirty="0"/>
              <a:t>除了算术算法在头文件</a:t>
            </a:r>
            <a:r>
              <a:rPr lang="en-US" altLang="zh-CN" dirty="0"/>
              <a:t>numeric</a:t>
            </a:r>
            <a:r>
              <a:rPr lang="zh-CN" altLang="en-US" dirty="0"/>
              <a:t>中定义外，其它算法都在头文件</a:t>
            </a:r>
            <a:r>
              <a:rPr lang="en-US" altLang="zh-CN" dirty="0"/>
              <a:t>algorithm</a:t>
            </a:r>
            <a:r>
              <a:rPr lang="zh-CN" altLang="en-US" dirty="0"/>
              <a:t>中定义。</a:t>
            </a:r>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A6D294-59DA-2AD0-6E55-229BC8F6CCF7}"/>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C14D6B98-C254-781B-F78C-167950F435DF}"/>
              </a:ext>
            </a:extLst>
          </p:cNvPr>
          <p:cNvSpPr>
            <a:spLocks noGrp="1"/>
          </p:cNvSpPr>
          <p:nvPr>
            <p:ph idx="1"/>
          </p:nvPr>
        </p:nvSpPr>
        <p:spPr>
          <a:xfrm>
            <a:off x="457200" y="1600200"/>
            <a:ext cx="8229600" cy="3989388"/>
          </a:xfrm>
        </p:spPr>
        <p:txBody>
          <a:bodyPr>
            <a:normAutofit fontScale="92500"/>
          </a:bodyPr>
          <a:lstStyle/>
          <a:p>
            <a:pPr eaLnBrk="1" hangingPunct="1">
              <a:lnSpc>
                <a:spcPct val="120000"/>
              </a:lnSpc>
              <a:defRPr/>
            </a:pPr>
            <a:r>
              <a:rPr lang="zh-CN" altLang="en-US" dirty="0"/>
              <a:t>大部分</a:t>
            </a:r>
            <a:r>
              <a:rPr lang="en-US" altLang="zh-CN" dirty="0"/>
              <a:t>STL</a:t>
            </a:r>
            <a:r>
              <a:rPr lang="zh-CN" altLang="en-US" dirty="0"/>
              <a:t>算法都是</a:t>
            </a:r>
            <a:r>
              <a:rPr lang="zh-CN" altLang="en-US" dirty="0">
                <a:solidFill>
                  <a:srgbClr val="FFC000"/>
                </a:solidFill>
              </a:rPr>
              <a:t>遍历</a:t>
            </a:r>
            <a:r>
              <a:rPr lang="zh-CN" altLang="en-US" dirty="0"/>
              <a:t>指定容器中</a:t>
            </a:r>
            <a:r>
              <a:rPr lang="zh-CN" altLang="en-US" dirty="0">
                <a:solidFill>
                  <a:srgbClr val="FFC000"/>
                </a:solidFill>
              </a:rPr>
              <a:t>某范围</a:t>
            </a:r>
            <a:r>
              <a:rPr lang="zh-CN" altLang="en-US" dirty="0"/>
              <a:t>内的元素，对</a:t>
            </a:r>
            <a:r>
              <a:rPr lang="zh-CN" altLang="en-US" dirty="0">
                <a:solidFill>
                  <a:srgbClr val="FFC000"/>
                </a:solidFill>
              </a:rPr>
              <a:t>满足条件的</a:t>
            </a:r>
            <a:r>
              <a:rPr lang="zh-CN" altLang="en-US" dirty="0"/>
              <a:t>元素执行</a:t>
            </a:r>
            <a:r>
              <a:rPr lang="zh-CN" altLang="en-US" dirty="0">
                <a:solidFill>
                  <a:srgbClr val="FFC000"/>
                </a:solidFill>
              </a:rPr>
              <a:t>某项操作</a:t>
            </a:r>
            <a:r>
              <a:rPr lang="zh-CN" altLang="en-US" dirty="0"/>
              <a:t>。</a:t>
            </a:r>
            <a:endParaRPr lang="en-US" altLang="zh-CN" dirty="0"/>
          </a:p>
          <a:p>
            <a:pPr eaLnBrk="1" hangingPunct="1">
              <a:lnSpc>
                <a:spcPct val="120000"/>
              </a:lnSpc>
              <a:defRPr/>
            </a:pPr>
            <a:r>
              <a:rPr lang="zh-CN" altLang="en-US" dirty="0"/>
              <a:t>算法的内部实现往往隐含着循环操作，但这对使用者是隐藏的。</a:t>
            </a:r>
            <a:endParaRPr lang="en-US" altLang="zh-CN" dirty="0"/>
          </a:p>
          <a:p>
            <a:pPr lvl="1" eaLnBrk="1" hangingPunct="1">
              <a:lnSpc>
                <a:spcPct val="120000"/>
              </a:lnSpc>
              <a:defRPr/>
            </a:pPr>
            <a:r>
              <a:rPr lang="zh-CN" altLang="en-US" dirty="0"/>
              <a:t>使用者只需要提供：容器（迭代器）、操作条件以及可能的自定义操作，而算法的</a:t>
            </a:r>
            <a:r>
              <a:rPr lang="zh-CN" altLang="en-US" dirty="0">
                <a:solidFill>
                  <a:srgbClr val="FFC000"/>
                </a:solidFill>
              </a:rPr>
              <a:t>控制逻辑则由算法内部实现</a:t>
            </a:r>
            <a:r>
              <a:rPr lang="zh-CN" altLang="en-US" dirty="0"/>
              <a:t>，这体现了一种抽象的编程模式。</a:t>
            </a:r>
            <a:endParaRPr lang="en-US" altLang="zh-C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976EEF-1FE9-CC5D-01E8-8F6BA542C6F3}"/>
              </a:ext>
            </a:extLst>
          </p:cNvPr>
          <p:cNvSpPr>
            <a:spLocks noGrp="1"/>
          </p:cNvSpPr>
          <p:nvPr>
            <p:ph type="title"/>
          </p:nvPr>
        </p:nvSpPr>
        <p:spPr/>
        <p:txBody>
          <a:bodyPr/>
          <a:lstStyle/>
          <a:p>
            <a:pPr>
              <a:defRPr/>
            </a:pPr>
            <a:r>
              <a:rPr lang="zh-CN" altLang="en-US" sz="4000" dirty="0"/>
              <a:t>算法与容器之间的关系</a:t>
            </a:r>
          </a:p>
        </p:txBody>
      </p:sp>
      <p:sp>
        <p:nvSpPr>
          <p:cNvPr id="3" name="内容占位符 2">
            <a:extLst>
              <a:ext uri="{FF2B5EF4-FFF2-40B4-BE49-F238E27FC236}">
                <a16:creationId xmlns:a16="http://schemas.microsoft.com/office/drawing/2014/main" id="{BF0A1D8A-2EC4-A667-195F-44F58A5365CA}"/>
              </a:ext>
            </a:extLst>
          </p:cNvPr>
          <p:cNvSpPr>
            <a:spLocks noGrp="1"/>
          </p:cNvSpPr>
          <p:nvPr>
            <p:ph idx="1"/>
          </p:nvPr>
        </p:nvSpPr>
        <p:spPr>
          <a:xfrm>
            <a:off x="457200" y="1600200"/>
            <a:ext cx="8229600" cy="4924425"/>
          </a:xfrm>
        </p:spPr>
        <p:txBody>
          <a:bodyPr>
            <a:normAutofit/>
          </a:bodyPr>
          <a:lstStyle/>
          <a:p>
            <a:pPr algn="just" eaLnBrk="1" hangingPunct="1">
              <a:lnSpc>
                <a:spcPct val="110000"/>
              </a:lnSpc>
              <a:defRPr/>
            </a:pPr>
            <a:r>
              <a:rPr lang="zh-CN" altLang="en-US" dirty="0"/>
              <a:t>在</a:t>
            </a:r>
            <a:r>
              <a:rPr lang="en-US" altLang="zh-CN" dirty="0"/>
              <a:t>STL</a:t>
            </a:r>
            <a:r>
              <a:rPr lang="zh-CN" altLang="en-US" dirty="0"/>
              <a:t>中，不是把容器传给算法，而是把容器的某些迭代器传给它们，在算法中通过迭代器来访问和遍历相应容器中的元素。</a:t>
            </a:r>
            <a:endParaRPr lang="en-US" altLang="zh-CN" dirty="0"/>
          </a:p>
          <a:p>
            <a:pPr algn="just" eaLnBrk="1" hangingPunct="1">
              <a:lnSpc>
                <a:spcPct val="110000"/>
              </a:lnSpc>
              <a:defRPr/>
            </a:pPr>
            <a:r>
              <a:rPr lang="zh-CN" altLang="en-US" dirty="0"/>
              <a:t>好处：使得算法不依赖于具体的容器，提高了算法的通用性。</a:t>
            </a:r>
            <a:endParaRPr lang="en-US" altLang="zh-CN" dirty="0"/>
          </a:p>
          <a:p>
            <a:pPr lvl="1" algn="just" eaLnBrk="1" hangingPunct="1">
              <a:lnSpc>
                <a:spcPct val="110000"/>
              </a:lnSpc>
              <a:defRPr/>
            </a:pPr>
            <a:r>
              <a:rPr lang="zh-CN" altLang="en-US" dirty="0"/>
              <a:t>虽然容器各不相同，但它们的迭代器往往具有相容关系，一个算法往往可以接受相容的多种迭代器。</a:t>
            </a:r>
          </a:p>
          <a:p>
            <a:pPr lvl="1" algn="just" eaLnBrk="1" hangingPunct="1">
              <a:lnSpc>
                <a:spcPct val="110000"/>
              </a:lnSpc>
              <a:defRPr/>
            </a:pPr>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F65098-F47B-08B9-42AC-E31DB428351B}"/>
              </a:ext>
            </a:extLst>
          </p:cNvPr>
          <p:cNvSpPr>
            <a:spLocks noGrp="1"/>
          </p:cNvSpPr>
          <p:nvPr>
            <p:ph idx="1"/>
          </p:nvPr>
        </p:nvSpPr>
        <p:spPr>
          <a:xfrm>
            <a:off x="457200" y="1412875"/>
            <a:ext cx="8229600" cy="5256213"/>
          </a:xfrm>
        </p:spPr>
        <p:txBody>
          <a:bodyPr>
            <a:normAutofit fontScale="92500" lnSpcReduction="20000"/>
          </a:bodyPr>
          <a:lstStyle/>
          <a:p>
            <a:pPr algn="just" eaLnBrk="1" hangingPunct="1">
              <a:lnSpc>
                <a:spcPct val="120000"/>
              </a:lnSpc>
              <a:defRPr/>
            </a:pPr>
            <a:r>
              <a:rPr lang="zh-CN" altLang="en-US" dirty="0"/>
              <a:t>一个算法能接收的迭代器的类型是通过算法模板参数的名字来体现的。例如：</a:t>
            </a:r>
            <a:endParaRPr lang="en-US" altLang="zh-CN" dirty="0"/>
          </a:p>
          <a:p>
            <a:pPr marL="457200" lvl="1" indent="0" algn="just">
              <a:lnSpc>
                <a:spcPct val="120000"/>
              </a:lnSpc>
              <a:buFontTx/>
              <a:buNone/>
              <a:defRPr/>
            </a:pPr>
            <a:r>
              <a:rPr lang="en-US" altLang="zh-CN" dirty="0"/>
              <a:t>template &lt;class </a:t>
            </a:r>
            <a:r>
              <a:rPr lang="en-US" altLang="zh-CN" dirty="0" err="1">
                <a:solidFill>
                  <a:srgbClr val="FFC000"/>
                </a:solidFill>
              </a:rPr>
              <a:t>InIt</a:t>
            </a:r>
            <a:r>
              <a:rPr lang="en-US" altLang="zh-CN" dirty="0"/>
              <a:t>, class </a:t>
            </a:r>
            <a:r>
              <a:rPr lang="en-US" altLang="zh-CN" dirty="0" err="1">
                <a:solidFill>
                  <a:srgbClr val="FFC000"/>
                </a:solidFill>
              </a:rPr>
              <a:t>OutIt</a:t>
            </a:r>
            <a:r>
              <a:rPr lang="en-US" altLang="zh-CN" dirty="0"/>
              <a:t>&gt;</a:t>
            </a:r>
          </a:p>
          <a:p>
            <a:pPr marL="457200" lvl="1" indent="0" algn="just">
              <a:lnSpc>
                <a:spcPct val="120000"/>
              </a:lnSpc>
              <a:buFontTx/>
              <a:buNone/>
              <a:defRPr/>
            </a:pPr>
            <a:r>
              <a:rPr lang="en-US" altLang="zh-CN" dirty="0" err="1">
                <a:solidFill>
                  <a:srgbClr val="FFC000"/>
                </a:solidFill>
              </a:rPr>
              <a:t>OutIt</a:t>
            </a:r>
            <a:r>
              <a:rPr lang="en-US" altLang="zh-CN" dirty="0"/>
              <a:t> copy(</a:t>
            </a:r>
            <a:r>
              <a:rPr lang="en-US" altLang="zh-CN" dirty="0" err="1">
                <a:solidFill>
                  <a:srgbClr val="FFC000"/>
                </a:solidFill>
              </a:rPr>
              <a:t>InIt</a:t>
            </a:r>
            <a:r>
              <a:rPr lang="en-US" altLang="zh-CN" dirty="0"/>
              <a:t> </a:t>
            </a:r>
            <a:r>
              <a:rPr lang="en-US" altLang="zh-CN" dirty="0" err="1"/>
              <a:t>src_first</a:t>
            </a:r>
            <a:r>
              <a:rPr lang="en-US" altLang="zh-CN" dirty="0"/>
              <a:t>, </a:t>
            </a:r>
            <a:r>
              <a:rPr lang="en-US" altLang="zh-CN" dirty="0" err="1">
                <a:solidFill>
                  <a:srgbClr val="FFC000"/>
                </a:solidFill>
              </a:rPr>
              <a:t>InIt</a:t>
            </a:r>
            <a:r>
              <a:rPr lang="en-US" altLang="zh-CN" dirty="0"/>
              <a:t> </a:t>
            </a:r>
            <a:r>
              <a:rPr lang="en-US" altLang="zh-CN" dirty="0" err="1"/>
              <a:t>src_last</a:t>
            </a:r>
            <a:r>
              <a:rPr lang="en-US" altLang="zh-CN" dirty="0"/>
              <a:t>, </a:t>
            </a:r>
          </a:p>
          <a:p>
            <a:pPr marL="457200" lvl="1" indent="0" algn="just">
              <a:lnSpc>
                <a:spcPct val="120000"/>
              </a:lnSpc>
              <a:buFontTx/>
              <a:buNone/>
              <a:defRPr/>
            </a:pPr>
            <a:r>
              <a:rPr lang="en-US" altLang="zh-CN" dirty="0">
                <a:solidFill>
                  <a:srgbClr val="FFC000"/>
                </a:solidFill>
              </a:rPr>
              <a:t>                </a:t>
            </a:r>
            <a:r>
              <a:rPr lang="en-US" altLang="zh-CN" dirty="0" err="1">
                <a:solidFill>
                  <a:srgbClr val="FFC000"/>
                </a:solidFill>
              </a:rPr>
              <a:t>OutIt</a:t>
            </a:r>
            <a:r>
              <a:rPr lang="en-US" altLang="zh-CN" dirty="0"/>
              <a:t> </a:t>
            </a:r>
            <a:r>
              <a:rPr lang="en-US" altLang="zh-CN" dirty="0" err="1"/>
              <a:t>dst_first</a:t>
            </a:r>
            <a:r>
              <a:rPr lang="en-US" altLang="zh-CN" dirty="0"/>
              <a:t>)</a:t>
            </a:r>
          </a:p>
          <a:p>
            <a:pPr marL="457200" lvl="1" indent="0" algn="just">
              <a:lnSpc>
                <a:spcPct val="120000"/>
              </a:lnSpc>
              <a:buFontTx/>
              <a:buNone/>
              <a:defRPr/>
            </a:pPr>
            <a:r>
              <a:rPr lang="en-US" altLang="zh-CN" dirty="0"/>
              <a:t>{ ...... }</a:t>
            </a:r>
          </a:p>
          <a:p>
            <a:pPr lvl="1" algn="just">
              <a:lnSpc>
                <a:spcPct val="120000"/>
              </a:lnSpc>
              <a:defRPr/>
            </a:pPr>
            <a:r>
              <a:rPr lang="en-US" altLang="zh-CN" dirty="0" err="1"/>
              <a:t>src_first</a:t>
            </a:r>
            <a:r>
              <a:rPr lang="zh-CN" altLang="en-US" dirty="0"/>
              <a:t>和</a:t>
            </a:r>
            <a:r>
              <a:rPr lang="en-US" altLang="zh-CN" dirty="0" err="1"/>
              <a:t>src_last</a:t>
            </a:r>
            <a:r>
              <a:rPr lang="zh-CN" altLang="en-US" dirty="0"/>
              <a:t>是输入迭代器，算法中只能读取它们指向的元素。</a:t>
            </a:r>
            <a:endParaRPr lang="en-US" altLang="zh-CN" dirty="0"/>
          </a:p>
          <a:p>
            <a:pPr lvl="1" algn="just">
              <a:lnSpc>
                <a:spcPct val="120000"/>
              </a:lnSpc>
              <a:defRPr/>
            </a:pPr>
            <a:r>
              <a:rPr lang="en-US" altLang="zh-CN" dirty="0" err="1"/>
              <a:t>dst_first</a:t>
            </a:r>
            <a:r>
              <a:rPr lang="zh-CN" altLang="en-US" dirty="0"/>
              <a:t>是输出迭代器，算法中可以修改它指向的元素。</a:t>
            </a:r>
            <a:endParaRPr lang="en-US" altLang="zh-CN" dirty="0"/>
          </a:p>
          <a:p>
            <a:pPr lvl="1" algn="just">
              <a:lnSpc>
                <a:spcPct val="120000"/>
              </a:lnSpc>
              <a:defRPr/>
            </a:pPr>
            <a:r>
              <a:rPr lang="zh-CN" altLang="en-US" dirty="0"/>
              <a:t>以上参数可以接受其它相容的迭代器。</a:t>
            </a:r>
          </a:p>
        </p:txBody>
      </p:sp>
      <p:sp>
        <p:nvSpPr>
          <p:cNvPr id="4" name="标题 1">
            <a:extLst>
              <a:ext uri="{FF2B5EF4-FFF2-40B4-BE49-F238E27FC236}">
                <a16:creationId xmlns:a16="http://schemas.microsoft.com/office/drawing/2014/main" id="{0FCC3DE4-19EB-630D-7FF4-21A029975D7B}"/>
              </a:ext>
            </a:extLst>
          </p:cNvPr>
          <p:cNvSpPr>
            <a:spLocks noGrp="1"/>
          </p:cNvSpPr>
          <p:nvPr>
            <p:ph type="title"/>
          </p:nvPr>
        </p:nvSpPr>
        <p:spPr>
          <a:xfrm>
            <a:off x="457200" y="115888"/>
            <a:ext cx="8229600" cy="1139825"/>
          </a:xfrm>
        </p:spPr>
        <p:txBody>
          <a:bodyPr/>
          <a:lstStyle/>
          <a:p>
            <a:pPr>
              <a:defRPr/>
            </a:pPr>
            <a:r>
              <a:rPr lang="zh-CN" altLang="en-US" sz="4000" dirty="0"/>
              <a:t>算法接受的迭代器类型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EDC5F-8BAE-F77E-98BF-85A1ADC3FC0A}"/>
              </a:ext>
            </a:extLst>
          </p:cNvPr>
          <p:cNvSpPr>
            <a:spLocks noGrp="1"/>
          </p:cNvSpPr>
          <p:nvPr>
            <p:ph type="title"/>
          </p:nvPr>
        </p:nvSpPr>
        <p:spPr>
          <a:xfrm>
            <a:off x="457200" y="44450"/>
            <a:ext cx="8229600" cy="1139825"/>
          </a:xfrm>
        </p:spPr>
        <p:txBody>
          <a:bodyPr/>
          <a:lstStyle/>
          <a:p>
            <a:pPr>
              <a:defRPr/>
            </a:pPr>
            <a:r>
              <a:rPr lang="zh-CN" altLang="en-US" dirty="0"/>
              <a:t>算法的操作范围</a:t>
            </a:r>
          </a:p>
        </p:txBody>
      </p:sp>
      <p:sp>
        <p:nvSpPr>
          <p:cNvPr id="3" name="内容占位符 2">
            <a:extLst>
              <a:ext uri="{FF2B5EF4-FFF2-40B4-BE49-F238E27FC236}">
                <a16:creationId xmlns:a16="http://schemas.microsoft.com/office/drawing/2014/main" id="{C7621F04-541C-2A1E-D5BD-639EC0458F20}"/>
              </a:ext>
            </a:extLst>
          </p:cNvPr>
          <p:cNvSpPr>
            <a:spLocks noGrp="1"/>
          </p:cNvSpPr>
          <p:nvPr>
            <p:ph idx="1"/>
          </p:nvPr>
        </p:nvSpPr>
        <p:spPr>
          <a:xfrm>
            <a:off x="457200" y="1196975"/>
            <a:ext cx="8229600" cy="5472113"/>
          </a:xfrm>
        </p:spPr>
        <p:txBody>
          <a:bodyPr>
            <a:normAutofit fontScale="85000" lnSpcReduction="20000"/>
          </a:bodyPr>
          <a:lstStyle/>
          <a:p>
            <a:pPr algn="just">
              <a:lnSpc>
                <a:spcPct val="120000"/>
              </a:lnSpc>
              <a:defRPr/>
            </a:pPr>
            <a:r>
              <a:rPr lang="zh-CN" altLang="en-US" dirty="0"/>
              <a:t>用算法对容器中的元素进行操作时，大都需要用两个迭代器来指出要操作的元素的范围。例如：</a:t>
            </a:r>
            <a:endParaRPr lang="en-US" altLang="zh-CN" dirty="0"/>
          </a:p>
          <a:p>
            <a:pPr marL="457200" lvl="1" indent="0" algn="just">
              <a:lnSpc>
                <a:spcPct val="120000"/>
              </a:lnSpc>
              <a:buFontTx/>
              <a:buNone/>
              <a:defRPr/>
            </a:pPr>
            <a:r>
              <a:rPr lang="en-US" altLang="zh-CN" dirty="0">
                <a:effectLst>
                  <a:outerShdw blurRad="38100" dist="38100" dir="2700000" algn="tl">
                    <a:srgbClr val="000000">
                      <a:alpha val="43137"/>
                    </a:srgbClr>
                  </a:outerShdw>
                </a:effectLst>
              </a:rPr>
              <a:t>void sort</a:t>
            </a:r>
            <a:r>
              <a:rPr lang="en-US" altLang="zh-CN" dirty="0"/>
              <a:t>(</a:t>
            </a:r>
            <a:r>
              <a:rPr lang="en-US" altLang="zh-CN" dirty="0" err="1"/>
              <a:t>RanIt</a:t>
            </a:r>
            <a:r>
              <a:rPr lang="en-US" altLang="zh-CN" dirty="0"/>
              <a:t> </a:t>
            </a:r>
            <a:r>
              <a:rPr lang="en-US" altLang="zh-CN" dirty="0">
                <a:solidFill>
                  <a:srgbClr val="FFC000"/>
                </a:solidFill>
              </a:rPr>
              <a:t>first</a:t>
            </a:r>
            <a:r>
              <a:rPr lang="en-US" altLang="zh-CN" dirty="0"/>
              <a:t>, </a:t>
            </a:r>
            <a:r>
              <a:rPr lang="en-US" altLang="zh-CN" dirty="0" err="1"/>
              <a:t>RanIt</a:t>
            </a:r>
            <a:r>
              <a:rPr lang="en-US" altLang="zh-CN" dirty="0"/>
              <a:t> </a:t>
            </a:r>
            <a:r>
              <a:rPr lang="en-US" altLang="zh-CN" dirty="0">
                <a:solidFill>
                  <a:srgbClr val="FFC000"/>
                </a:solidFill>
              </a:rPr>
              <a:t>last</a:t>
            </a:r>
            <a:r>
              <a:rPr lang="en-US" altLang="zh-CN" dirty="0"/>
              <a:t>);</a:t>
            </a:r>
          </a:p>
          <a:p>
            <a:pPr lvl="1" algn="just">
              <a:lnSpc>
                <a:spcPct val="120000"/>
              </a:lnSpc>
              <a:defRPr/>
            </a:pPr>
            <a:r>
              <a:rPr lang="en-US" altLang="zh-CN" dirty="0"/>
              <a:t>first</a:t>
            </a:r>
            <a:r>
              <a:rPr lang="zh-CN" altLang="en-US" dirty="0"/>
              <a:t>是第一个元素的位置</a:t>
            </a:r>
            <a:endParaRPr lang="en-US" altLang="zh-CN" dirty="0"/>
          </a:p>
          <a:p>
            <a:pPr lvl="1" algn="just">
              <a:lnSpc>
                <a:spcPct val="120000"/>
              </a:lnSpc>
              <a:defRPr/>
            </a:pPr>
            <a:r>
              <a:rPr lang="en-US" altLang="zh-CN" dirty="0"/>
              <a:t>last</a:t>
            </a:r>
            <a:r>
              <a:rPr lang="zh-CN" altLang="en-US" dirty="0"/>
              <a:t>是最后一个元素的</a:t>
            </a:r>
            <a:r>
              <a:rPr lang="zh-CN" altLang="en-US" dirty="0">
                <a:solidFill>
                  <a:srgbClr val="FFC000"/>
                </a:solidFill>
              </a:rPr>
              <a:t>下一个位置</a:t>
            </a:r>
            <a:endParaRPr lang="en-US" altLang="zh-CN" dirty="0">
              <a:solidFill>
                <a:srgbClr val="FFC000"/>
              </a:solidFill>
            </a:endParaRPr>
          </a:p>
          <a:p>
            <a:pPr eaLnBrk="1" hangingPunct="1">
              <a:lnSpc>
                <a:spcPct val="120000"/>
              </a:lnSpc>
              <a:defRPr/>
            </a:pPr>
            <a:r>
              <a:rPr lang="zh-CN" altLang="en-US" dirty="0"/>
              <a:t>有些算法可以有多个操作范围，这时，除第一个范围外，其它范围一般不需要指定最后一个元素位置，它由第一个范围中元素的个数决定。例如：</a:t>
            </a:r>
            <a:endParaRPr lang="en-US" altLang="zh-CN" dirty="0"/>
          </a:p>
          <a:p>
            <a:pPr marL="457200" lvl="1" indent="0">
              <a:lnSpc>
                <a:spcPct val="120000"/>
              </a:lnSpc>
              <a:buFontTx/>
              <a:buNone/>
              <a:defRPr/>
            </a:pPr>
            <a:r>
              <a:rPr lang="en-US" altLang="zh-CN" dirty="0" err="1"/>
              <a:t>OutIt</a:t>
            </a:r>
            <a:r>
              <a:rPr lang="en-US" altLang="zh-CN" dirty="0"/>
              <a:t> copy(</a:t>
            </a:r>
            <a:r>
              <a:rPr lang="en-US" altLang="zh-CN" dirty="0" err="1"/>
              <a:t>InIt</a:t>
            </a:r>
            <a:r>
              <a:rPr lang="en-US" altLang="zh-CN" dirty="0"/>
              <a:t> </a:t>
            </a:r>
            <a:r>
              <a:rPr lang="en-US" altLang="zh-CN" dirty="0" err="1">
                <a:solidFill>
                  <a:srgbClr val="92D050"/>
                </a:solidFill>
              </a:rPr>
              <a:t>src_first</a:t>
            </a:r>
            <a:r>
              <a:rPr lang="en-US" altLang="zh-CN" dirty="0"/>
              <a:t>, </a:t>
            </a:r>
            <a:r>
              <a:rPr lang="en-US" altLang="zh-CN" dirty="0" err="1"/>
              <a:t>InIt</a:t>
            </a:r>
            <a:r>
              <a:rPr lang="en-US" altLang="zh-CN" dirty="0"/>
              <a:t> </a:t>
            </a:r>
            <a:r>
              <a:rPr lang="en-US" altLang="zh-CN" dirty="0" err="1">
                <a:solidFill>
                  <a:srgbClr val="92D050"/>
                </a:solidFill>
              </a:rPr>
              <a:t>src_last</a:t>
            </a:r>
            <a:r>
              <a:rPr lang="en-US" altLang="zh-CN" dirty="0"/>
              <a:t>, </a:t>
            </a:r>
          </a:p>
          <a:p>
            <a:pPr marL="457200" lvl="1" indent="0">
              <a:lnSpc>
                <a:spcPct val="120000"/>
              </a:lnSpc>
              <a:buFontTx/>
              <a:buNone/>
              <a:defRPr/>
            </a:pPr>
            <a:r>
              <a:rPr lang="en-US" altLang="zh-CN" dirty="0"/>
              <a:t>                   </a:t>
            </a:r>
            <a:r>
              <a:rPr lang="en-US" altLang="zh-CN" dirty="0" err="1"/>
              <a:t>OutIt</a:t>
            </a:r>
            <a:r>
              <a:rPr lang="en-US" altLang="zh-CN" dirty="0"/>
              <a:t> </a:t>
            </a:r>
            <a:r>
              <a:rPr lang="en-US" altLang="zh-CN" dirty="0" err="1">
                <a:solidFill>
                  <a:srgbClr val="FFC000"/>
                </a:solidFill>
              </a:rPr>
              <a:t>dst_first</a:t>
            </a:r>
            <a:r>
              <a:rPr lang="en-US" altLang="zh-CN" dirty="0"/>
              <a:t>)</a:t>
            </a:r>
          </a:p>
          <a:p>
            <a:pPr>
              <a:lnSpc>
                <a:spcPct val="120000"/>
              </a:lnSpc>
              <a:defRPr/>
            </a:pPr>
            <a:r>
              <a:rPr lang="zh-CN" altLang="en-US" dirty="0"/>
              <a:t>一个操作范围的两个迭代器必须</a:t>
            </a:r>
            <a:r>
              <a:rPr lang="zh-CN" altLang="en-US" dirty="0">
                <a:solidFill>
                  <a:srgbClr val="FFC000"/>
                </a:solidFill>
              </a:rPr>
              <a:t>属于同一个容器</a:t>
            </a:r>
            <a:r>
              <a:rPr lang="zh-CN" altLang="en-US" dirty="0"/>
              <a:t>，而不同操作范围的迭代器可以属于不同的容器。</a:t>
            </a:r>
            <a:endParaRPr lang="en-US" altLang="zh-CN" dirty="0"/>
          </a:p>
          <a:p>
            <a:pPr lvl="1">
              <a:defRPr/>
            </a:pPr>
            <a:endParaRPr lang="en-US" altLang="zh-CN" dirty="0"/>
          </a:p>
          <a:p>
            <a:pPr lvl="1">
              <a:defRPr/>
            </a:pP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46D3144-950D-1DA7-BB49-B6535CB024A1}"/>
              </a:ext>
            </a:extLst>
          </p:cNvPr>
          <p:cNvSpPr>
            <a:spLocks noGrp="1"/>
          </p:cNvSpPr>
          <p:nvPr>
            <p:ph idx="1"/>
          </p:nvPr>
        </p:nvSpPr>
        <p:spPr>
          <a:xfrm>
            <a:off x="385763" y="1916113"/>
            <a:ext cx="8434387" cy="4033837"/>
          </a:xfrm>
        </p:spPr>
        <p:txBody>
          <a:bodyPr>
            <a:normAutofit fontScale="85000" lnSpcReduction="20000"/>
          </a:bodyPr>
          <a:lstStyle/>
          <a:p>
            <a:pPr>
              <a:lnSpc>
                <a:spcPct val="110000"/>
              </a:lnSpc>
              <a:defRPr/>
            </a:pPr>
            <a:r>
              <a:rPr lang="zh-CN" altLang="en-US" dirty="0"/>
              <a:t>对于一些带有目标范围的操作，目标范围中已有元素的个数一般不能小于源范围规定的元素个数，如果操作需要在目标范围内增加元素，则目标范围的迭代器要用某个插入迭代器。</a:t>
            </a:r>
            <a:endParaRPr lang="en-US" altLang="zh-CN" dirty="0"/>
          </a:p>
          <a:p>
            <a:pPr>
              <a:lnSpc>
                <a:spcPct val="110000"/>
              </a:lnSpc>
              <a:defRPr/>
            </a:pPr>
            <a:r>
              <a:rPr lang="zh-CN" altLang="en-US" dirty="0"/>
              <a:t>例如，下面</a:t>
            </a:r>
            <a:r>
              <a:rPr lang="en-US" altLang="zh-CN" dirty="0"/>
              <a:t>copy</a:t>
            </a:r>
            <a:r>
              <a:rPr lang="zh-CN" altLang="en-US" dirty="0"/>
              <a:t>操作的目标范围采用了可增加元素的</a:t>
            </a:r>
            <a:r>
              <a:rPr lang="en-US" altLang="zh-CN" dirty="0" err="1"/>
              <a:t>back_insert_iterator</a:t>
            </a:r>
            <a:r>
              <a:rPr lang="zh-CN" altLang="en-US" dirty="0"/>
              <a:t>迭代器：</a:t>
            </a:r>
          </a:p>
          <a:p>
            <a:pPr marL="457200" lvl="1" indent="0">
              <a:lnSpc>
                <a:spcPct val="110000"/>
              </a:lnSpc>
              <a:buFontTx/>
              <a:buNone/>
              <a:defRPr/>
            </a:pPr>
            <a:r>
              <a:rPr lang="en-US" altLang="zh-CN" dirty="0"/>
              <a:t>vector&lt;</a:t>
            </a:r>
            <a:r>
              <a:rPr lang="en-US" altLang="zh-CN" dirty="0" err="1"/>
              <a:t>int</a:t>
            </a:r>
            <a:r>
              <a:rPr lang="en-US" altLang="zh-CN" dirty="0"/>
              <a:t>&gt; v1,v2;</a:t>
            </a:r>
          </a:p>
          <a:p>
            <a:pPr marL="457200" lvl="1" indent="0">
              <a:lnSpc>
                <a:spcPct val="110000"/>
              </a:lnSpc>
              <a:buFontTx/>
              <a:buNone/>
              <a:defRPr/>
            </a:pPr>
            <a:r>
              <a:rPr lang="en-US" altLang="zh-CN" dirty="0"/>
              <a:t>...... //</a:t>
            </a:r>
            <a:r>
              <a:rPr lang="zh-CN" altLang="en-US" dirty="0"/>
              <a:t>往容器</a:t>
            </a:r>
            <a:r>
              <a:rPr lang="en-US" altLang="zh-CN" dirty="0"/>
              <a:t>v1</a:t>
            </a:r>
            <a:r>
              <a:rPr lang="zh-CN" altLang="en-US" dirty="0"/>
              <a:t>中放了元素</a:t>
            </a:r>
          </a:p>
          <a:p>
            <a:pPr marL="457200" lvl="1" indent="0">
              <a:lnSpc>
                <a:spcPct val="110000"/>
              </a:lnSpc>
              <a:buFontTx/>
              <a:buNone/>
              <a:defRPr/>
            </a:pPr>
            <a:r>
              <a:rPr lang="en-US" altLang="zh-CN" dirty="0"/>
              <a:t>copy(v1.begin(), v1.end(), </a:t>
            </a:r>
            <a:r>
              <a:rPr lang="en-US" altLang="zh-CN" dirty="0" err="1">
                <a:solidFill>
                  <a:srgbClr val="FFC000"/>
                </a:solidFill>
              </a:rPr>
              <a:t>back_inserter</a:t>
            </a:r>
            <a:r>
              <a:rPr lang="en-US" altLang="zh-CN" dirty="0">
                <a:solidFill>
                  <a:srgbClr val="FFC000"/>
                </a:solidFill>
              </a:rPr>
              <a:t>(v2)</a:t>
            </a:r>
            <a:r>
              <a:rPr lang="en-US" altLang="zh-CN" dirty="0"/>
              <a:t>); </a:t>
            </a:r>
          </a:p>
          <a:p>
            <a:pPr marL="457200" lvl="1" indent="0">
              <a:lnSpc>
                <a:spcPct val="110000"/>
              </a:lnSpc>
              <a:buFontTx/>
              <a:buNone/>
              <a:defRPr/>
            </a:pPr>
            <a:r>
              <a:rPr lang="en-US" altLang="zh-CN" dirty="0"/>
              <a:t>			//</a:t>
            </a:r>
            <a:r>
              <a:rPr lang="zh-CN" altLang="en-US" dirty="0"/>
              <a:t>把容器</a:t>
            </a:r>
            <a:r>
              <a:rPr lang="en-US" altLang="zh-CN" dirty="0"/>
              <a:t>v1</a:t>
            </a:r>
            <a:r>
              <a:rPr lang="zh-CN" altLang="en-US" dirty="0"/>
              <a:t>中的元素复制到容器</a:t>
            </a:r>
            <a:r>
              <a:rPr lang="en-US" altLang="zh-CN" dirty="0"/>
              <a:t>v2</a:t>
            </a:r>
            <a:r>
              <a:rPr lang="zh-CN" altLang="en-US" dirty="0"/>
              <a:t>中</a:t>
            </a:r>
          </a:p>
          <a:p>
            <a:pPr>
              <a:defRPr/>
            </a:pP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A5962A5-475F-417C-CB39-2593FCA6B31E}"/>
              </a:ext>
            </a:extLst>
          </p:cNvPr>
          <p:cNvSpPr>
            <a:spLocks noGrp="1"/>
          </p:cNvSpPr>
          <p:nvPr>
            <p:ph idx="1"/>
          </p:nvPr>
        </p:nvSpPr>
        <p:spPr>
          <a:xfrm>
            <a:off x="179388" y="1125538"/>
            <a:ext cx="8785225" cy="5470525"/>
          </a:xfrm>
        </p:spPr>
        <p:txBody>
          <a:bodyPr>
            <a:normAutofit fontScale="92500" lnSpcReduction="20000"/>
          </a:bodyPr>
          <a:lstStyle/>
          <a:p>
            <a:pPr eaLnBrk="1" hangingPunct="1">
              <a:lnSpc>
                <a:spcPct val="120000"/>
              </a:lnSpc>
              <a:defRPr/>
            </a:pPr>
            <a:r>
              <a:rPr lang="zh-CN" altLang="en-US" dirty="0"/>
              <a:t>有些算法可以让使用者提供一个</a:t>
            </a:r>
            <a:r>
              <a:rPr lang="zh-CN" altLang="en-US" dirty="0">
                <a:solidFill>
                  <a:srgbClr val="FFC000"/>
                </a:solidFill>
              </a:rPr>
              <a:t>函数</a:t>
            </a:r>
            <a:r>
              <a:rPr lang="zh-CN" altLang="en-US" dirty="0"/>
              <a:t>或</a:t>
            </a:r>
            <a:r>
              <a:rPr lang="zh-CN" altLang="en-US" dirty="0">
                <a:solidFill>
                  <a:srgbClr val="FFC000"/>
                </a:solidFill>
              </a:rPr>
              <a:t>函数对象</a:t>
            </a:r>
            <a:r>
              <a:rPr lang="zh-CN" altLang="en-US" dirty="0"/>
              <a:t>来作为</a:t>
            </a:r>
            <a:r>
              <a:rPr lang="zh-CN" altLang="en-US" dirty="0">
                <a:solidFill>
                  <a:srgbClr val="FFC000"/>
                </a:solidFill>
              </a:rPr>
              <a:t>自定义操作条件</a:t>
            </a:r>
            <a:r>
              <a:rPr lang="zh-CN" altLang="en-US" dirty="0"/>
              <a:t>（或称为</a:t>
            </a:r>
            <a:r>
              <a:rPr lang="zh-CN" altLang="en-US" dirty="0">
                <a:solidFill>
                  <a:srgbClr val="FFC000"/>
                </a:solidFill>
              </a:rPr>
              <a:t>谓词</a:t>
            </a:r>
            <a:r>
              <a:rPr lang="zh-CN" altLang="en-US" dirty="0"/>
              <a:t>），其参数类型为相应容器的元素类型，返回值类型为</a:t>
            </a:r>
            <a:r>
              <a:rPr lang="en-US" altLang="zh-CN" dirty="0"/>
              <a:t>bool</a:t>
            </a:r>
            <a:r>
              <a:rPr lang="zh-CN" altLang="en-US" dirty="0"/>
              <a:t>。</a:t>
            </a:r>
            <a:endParaRPr lang="en-US" altLang="zh-CN" dirty="0"/>
          </a:p>
          <a:p>
            <a:pPr eaLnBrk="1" hangingPunct="1">
              <a:lnSpc>
                <a:spcPct val="120000"/>
              </a:lnSpc>
              <a:defRPr/>
            </a:pPr>
            <a:r>
              <a:rPr lang="zh-CN" altLang="en-US" dirty="0"/>
              <a:t>自定义操作条件可分为：</a:t>
            </a:r>
            <a:endParaRPr lang="en-US" altLang="zh-CN" dirty="0"/>
          </a:p>
          <a:p>
            <a:pPr lvl="1">
              <a:defRPr/>
            </a:pPr>
            <a:r>
              <a:rPr lang="en-US" altLang="zh-CN" dirty="0" err="1">
                <a:solidFill>
                  <a:srgbClr val="FFC000"/>
                </a:solidFill>
              </a:rPr>
              <a:t>Pred</a:t>
            </a:r>
            <a:r>
              <a:rPr lang="zh-CN" altLang="en-US" dirty="0"/>
              <a:t>：一元“谓词”，需要一个元素作为参数</a:t>
            </a:r>
            <a:endParaRPr lang="en-US" altLang="zh-CN" dirty="0"/>
          </a:p>
          <a:p>
            <a:pPr lvl="1">
              <a:defRPr/>
            </a:pPr>
            <a:r>
              <a:rPr lang="en-US" altLang="zh-CN" dirty="0" err="1">
                <a:solidFill>
                  <a:srgbClr val="FFC000"/>
                </a:solidFill>
              </a:rPr>
              <a:t>BinPred</a:t>
            </a:r>
            <a:r>
              <a:rPr lang="zh-CN" altLang="en-US" dirty="0"/>
              <a:t>：二元“谓词”，需要两个元素作为参数</a:t>
            </a:r>
            <a:endParaRPr lang="en-US" altLang="zh-CN" dirty="0"/>
          </a:p>
          <a:p>
            <a:pPr>
              <a:defRPr/>
            </a:pPr>
            <a:r>
              <a:rPr lang="zh-CN" altLang="en-US" dirty="0"/>
              <a:t>例如，对于下面的“</a:t>
            </a:r>
            <a:r>
              <a:rPr lang="zh-CN" altLang="en-US" dirty="0">
                <a:solidFill>
                  <a:srgbClr val="FFC000"/>
                </a:solidFill>
              </a:rPr>
              <a:t>统计</a:t>
            </a:r>
            <a:r>
              <a:rPr lang="zh-CN" altLang="en-US" dirty="0"/>
              <a:t>”算法：</a:t>
            </a:r>
            <a:endParaRPr lang="en-US" altLang="zh-CN" dirty="0"/>
          </a:p>
          <a:p>
            <a:pPr marL="808038" lvl="1" indent="-342900">
              <a:defRPr/>
            </a:pPr>
            <a:r>
              <a:rPr lang="en-US" altLang="zh-CN" dirty="0" err="1"/>
              <a:t>size_t</a:t>
            </a:r>
            <a:r>
              <a:rPr lang="en-US" altLang="zh-CN" dirty="0"/>
              <a:t> </a:t>
            </a:r>
            <a:r>
              <a:rPr lang="en-US" altLang="zh-CN" dirty="0" err="1">
                <a:solidFill>
                  <a:srgbClr val="FFC000"/>
                </a:solidFill>
              </a:rPr>
              <a:t>count_if</a:t>
            </a:r>
            <a:r>
              <a:rPr lang="en-US" altLang="zh-CN" dirty="0"/>
              <a:t>(</a:t>
            </a:r>
            <a:r>
              <a:rPr lang="en-US" altLang="zh-CN" dirty="0" err="1"/>
              <a:t>InIt</a:t>
            </a:r>
            <a:r>
              <a:rPr lang="en-US" altLang="zh-CN" dirty="0"/>
              <a:t> first, </a:t>
            </a:r>
            <a:r>
              <a:rPr lang="en-US" altLang="zh-CN" dirty="0" err="1"/>
              <a:t>InIt</a:t>
            </a:r>
            <a:r>
              <a:rPr lang="en-US" altLang="zh-CN" dirty="0"/>
              <a:t> last, </a:t>
            </a:r>
            <a:r>
              <a:rPr lang="en-US" altLang="zh-CN" dirty="0" err="1">
                <a:solidFill>
                  <a:srgbClr val="FFC000"/>
                </a:solidFill>
              </a:rPr>
              <a:t>Pred</a:t>
            </a:r>
            <a:r>
              <a:rPr lang="en-US" altLang="zh-CN" dirty="0"/>
              <a:t> </a:t>
            </a:r>
            <a:r>
              <a:rPr lang="en-US" altLang="zh-CN" dirty="0" err="1"/>
              <a:t>cond</a:t>
            </a:r>
            <a:r>
              <a:rPr lang="en-US" altLang="zh-CN" dirty="0"/>
              <a:t>);</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bool </a:t>
            </a:r>
            <a:r>
              <a:rPr lang="en-US" altLang="zh-CN" dirty="0">
                <a:solidFill>
                  <a:srgbClr val="FFC000"/>
                </a:solidFill>
                <a:effectLst>
                  <a:outerShdw blurRad="38100" dist="38100" dir="2700000" algn="tl">
                    <a:srgbClr val="000000">
                      <a:alpha val="43137"/>
                    </a:srgbClr>
                  </a:outerShdw>
                </a:effectLst>
              </a:rPr>
              <a:t>f</a:t>
            </a:r>
            <a:r>
              <a:rPr lang="en-US" altLang="zh-CN" dirty="0">
                <a:effectLst>
                  <a:outerShdw blurRad="38100" dist="38100" dir="2700000" algn="tl">
                    <a:srgbClr val="000000">
                      <a:alpha val="43137"/>
                    </a:srgbClr>
                  </a:outerShdw>
                </a:effectLst>
              </a:rPr>
              <a:t>(</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x) { return x &gt; 0; }</a:t>
            </a: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vector&lt;</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&gt; v;</a:t>
            </a: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往容器中放了元素</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en-US" altLang="zh-CN" dirty="0" err="1">
                <a:effectLst>
                  <a:outerShdw blurRad="38100" dist="38100" dir="2700000" algn="tl">
                    <a:srgbClr val="000000">
                      <a:alpha val="43137"/>
                    </a:srgbClr>
                  </a:outerShdw>
                </a:effectLst>
              </a:rPr>
              <a:t>cout</a:t>
            </a:r>
            <a:r>
              <a:rPr lang="en-US" altLang="zh-CN" dirty="0">
                <a:effectLst>
                  <a:outerShdw blurRad="38100" dist="38100" dir="2700000" algn="tl">
                    <a:srgbClr val="000000">
                      <a:alpha val="43137"/>
                    </a:srgbClr>
                  </a:outerShdw>
                </a:effectLst>
              </a:rPr>
              <a:t>&lt;&lt;</a:t>
            </a:r>
            <a:r>
              <a:rPr lang="en-US" altLang="zh-CN" dirty="0" err="1">
                <a:effectLst>
                  <a:outerShdw blurRad="38100" dist="38100" dir="2700000" algn="tl">
                    <a:srgbClr val="000000">
                      <a:alpha val="43137"/>
                    </a:srgbClr>
                  </a:outerShdw>
                </a:effectLst>
              </a:rPr>
              <a:t>count_if</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v.begin</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v.end</a:t>
            </a:r>
            <a:r>
              <a:rPr lang="en-US" altLang="zh-CN" dirty="0">
                <a:effectLst>
                  <a:outerShdw blurRad="38100" dist="38100" dir="2700000" algn="tl">
                    <a:srgbClr val="000000">
                      <a:alpha val="43137"/>
                    </a:srgbClr>
                  </a:outerShdw>
                </a:effectLst>
              </a:rPr>
              <a:t>(),</a:t>
            </a:r>
            <a:r>
              <a:rPr lang="en-US" altLang="zh-CN" dirty="0">
                <a:solidFill>
                  <a:srgbClr val="FFC000"/>
                </a:solidFill>
                <a:effectLst>
                  <a:outerShdw blurRad="38100" dist="38100" dir="2700000" algn="tl">
                    <a:srgbClr val="000000">
                      <a:alpha val="43137"/>
                    </a:srgbClr>
                  </a:outerShdw>
                </a:effectLst>
              </a:rPr>
              <a:t>f</a:t>
            </a: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统计</a:t>
            </a:r>
            <a:r>
              <a:rPr lang="en-US" altLang="zh-CN" dirty="0">
                <a:effectLst>
                  <a:outerShdw blurRad="38100" dist="38100" dir="2700000" algn="tl">
                    <a:srgbClr val="000000">
                      <a:alpha val="43137"/>
                    </a:srgbClr>
                  </a:outerShdw>
                </a:effectLst>
              </a:rPr>
              <a:t>v</a:t>
            </a:r>
            <a:r>
              <a:rPr lang="zh-CN" altLang="en-US" dirty="0">
                <a:effectLst>
                  <a:outerShdw blurRad="38100" dist="38100" dir="2700000" algn="tl">
                    <a:srgbClr val="000000">
                      <a:alpha val="43137"/>
                    </a:srgbClr>
                  </a:outerShdw>
                </a:effectLst>
              </a:rPr>
              <a:t>中正数的个数</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endParaRPr lang="en-US" altLang="zh-CN" dirty="0"/>
          </a:p>
        </p:txBody>
      </p:sp>
      <p:sp>
        <p:nvSpPr>
          <p:cNvPr id="4" name="标题 1">
            <a:extLst>
              <a:ext uri="{FF2B5EF4-FFF2-40B4-BE49-F238E27FC236}">
                <a16:creationId xmlns:a16="http://schemas.microsoft.com/office/drawing/2014/main" id="{7EE5490B-1919-E3DF-725A-322D68FF6463}"/>
              </a:ext>
            </a:extLst>
          </p:cNvPr>
          <p:cNvSpPr>
            <a:spLocks noGrp="1"/>
          </p:cNvSpPr>
          <p:nvPr>
            <p:ph type="title"/>
          </p:nvPr>
        </p:nvSpPr>
        <p:spPr>
          <a:xfrm>
            <a:off x="457200" y="44450"/>
            <a:ext cx="8229600" cy="1139825"/>
          </a:xfrm>
        </p:spPr>
        <p:txBody>
          <a:bodyPr/>
          <a:lstStyle/>
          <a:p>
            <a:pPr>
              <a:defRPr/>
            </a:pPr>
            <a:r>
              <a:rPr lang="zh-CN" altLang="en-US" sz="4000" dirty="0"/>
              <a:t>算法的自定义操作条件</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17CE48-9C23-B95E-3891-61C8FFADA45B}"/>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CE07638E-D18F-1085-6F93-65E2E804ED90}"/>
              </a:ext>
            </a:extLst>
          </p:cNvPr>
          <p:cNvSpPr>
            <a:spLocks noGrp="1"/>
          </p:cNvSpPr>
          <p:nvPr>
            <p:ph idx="1"/>
          </p:nvPr>
        </p:nvSpPr>
        <p:spPr>
          <a:xfrm>
            <a:off x="457200" y="1600200"/>
            <a:ext cx="8362950" cy="4708525"/>
          </a:xfrm>
        </p:spPr>
        <p:txBody>
          <a:bodyPr>
            <a:normAutofit fontScale="92500"/>
          </a:bodyPr>
          <a:lstStyle/>
          <a:p>
            <a:pPr>
              <a:defRPr/>
            </a:pPr>
            <a:r>
              <a:rPr lang="zh-CN" altLang="en-US" dirty="0"/>
              <a:t>再例如，对于下面的“</a:t>
            </a:r>
            <a:r>
              <a:rPr lang="zh-CN" altLang="en-US" dirty="0">
                <a:solidFill>
                  <a:srgbClr val="FFC000"/>
                </a:solidFill>
              </a:rPr>
              <a:t>排序</a:t>
            </a:r>
            <a:r>
              <a:rPr lang="zh-CN" altLang="en-US" dirty="0"/>
              <a:t>”算法：</a:t>
            </a:r>
            <a:endParaRPr lang="en-US" altLang="zh-CN" dirty="0"/>
          </a:p>
          <a:p>
            <a:pPr marL="808038" lvl="1" indent="-342900">
              <a:defRPr/>
            </a:pPr>
            <a:r>
              <a:rPr lang="en-US" altLang="zh-CN" sz="2600" dirty="0">
                <a:effectLst>
                  <a:outerShdw blurRad="38100" dist="38100" dir="2700000" algn="tl">
                    <a:srgbClr val="000000">
                      <a:alpha val="43137"/>
                    </a:srgbClr>
                  </a:outerShdw>
                </a:effectLst>
              </a:rPr>
              <a:t>void </a:t>
            </a:r>
            <a:r>
              <a:rPr lang="en-US" altLang="zh-CN" sz="2600" dirty="0">
                <a:solidFill>
                  <a:srgbClr val="FFC000"/>
                </a:solidFill>
                <a:effectLst>
                  <a:outerShdw blurRad="38100" dist="38100" dir="2700000" algn="tl">
                    <a:srgbClr val="000000">
                      <a:alpha val="43137"/>
                    </a:srgbClr>
                  </a:outerShdw>
                </a:effectLst>
              </a:rPr>
              <a:t>sort</a:t>
            </a:r>
            <a:r>
              <a:rPr lang="en-US" altLang="zh-CN" sz="2600" dirty="0">
                <a:effectLst>
                  <a:outerShdw blurRad="38100" dist="38100" dir="2700000" algn="tl">
                    <a:srgbClr val="000000">
                      <a:alpha val="43137"/>
                    </a:srgbClr>
                  </a:outerShdw>
                </a:effectLst>
              </a:rPr>
              <a:t>(</a:t>
            </a:r>
            <a:r>
              <a:rPr lang="en-US" altLang="zh-CN" sz="2600" dirty="0" err="1">
                <a:effectLst>
                  <a:outerShdw blurRad="38100" dist="38100" dir="2700000" algn="tl">
                    <a:srgbClr val="000000">
                      <a:alpha val="43137"/>
                    </a:srgbClr>
                  </a:outerShdw>
                </a:effectLst>
              </a:rPr>
              <a:t>RanIt</a:t>
            </a:r>
            <a:r>
              <a:rPr lang="en-US" altLang="zh-CN" sz="2600" dirty="0">
                <a:effectLst>
                  <a:outerShdw blurRad="38100" dist="38100" dir="2700000" algn="tl">
                    <a:srgbClr val="000000">
                      <a:alpha val="43137"/>
                    </a:srgbClr>
                  </a:outerShdw>
                </a:effectLst>
              </a:rPr>
              <a:t> first, </a:t>
            </a:r>
            <a:r>
              <a:rPr lang="en-US" altLang="zh-CN" sz="2600" dirty="0" err="1">
                <a:effectLst>
                  <a:outerShdw blurRad="38100" dist="38100" dir="2700000" algn="tl">
                    <a:srgbClr val="000000">
                      <a:alpha val="43137"/>
                    </a:srgbClr>
                  </a:outerShdw>
                </a:effectLst>
              </a:rPr>
              <a:t>RanIt</a:t>
            </a:r>
            <a:r>
              <a:rPr lang="en-US" altLang="zh-CN" sz="2600" dirty="0">
                <a:effectLst>
                  <a:outerShdw blurRad="38100" dist="38100" dir="2700000" algn="tl">
                    <a:srgbClr val="000000">
                      <a:alpha val="43137"/>
                    </a:srgbClr>
                  </a:outerShdw>
                </a:effectLst>
              </a:rPr>
              <a:t> last); //</a:t>
            </a:r>
            <a:r>
              <a:rPr lang="zh-CN" altLang="en-US" sz="2600" dirty="0">
                <a:effectLst>
                  <a:outerShdw blurRad="38100" dist="38100" dir="2700000" algn="tl">
                    <a:srgbClr val="000000">
                      <a:alpha val="43137"/>
                    </a:srgbClr>
                  </a:outerShdw>
                </a:effectLst>
              </a:rPr>
              <a:t>按“</a:t>
            </a:r>
            <a:r>
              <a:rPr lang="en-US" altLang="zh-CN" sz="2600" dirty="0">
                <a:effectLst>
                  <a:outerShdw blurRad="38100" dist="38100" dir="2700000" algn="tl">
                    <a:srgbClr val="000000">
                      <a:alpha val="43137"/>
                    </a:srgbClr>
                  </a:outerShdw>
                </a:effectLst>
              </a:rPr>
              <a:t>&lt;</a:t>
            </a:r>
            <a:r>
              <a:rPr lang="zh-CN" altLang="en-US" sz="2600" dirty="0">
                <a:effectLst>
                  <a:outerShdw blurRad="38100" dist="38100" dir="2700000" algn="tl">
                    <a:srgbClr val="000000">
                      <a:alpha val="43137"/>
                    </a:srgbClr>
                  </a:outerShdw>
                </a:effectLst>
              </a:rPr>
              <a:t>”排序</a:t>
            </a:r>
            <a:endParaRPr lang="en-US" altLang="zh-CN" sz="2600" dirty="0">
              <a:effectLst>
                <a:outerShdw blurRad="38100" dist="38100" dir="2700000" algn="tl">
                  <a:srgbClr val="000000">
                    <a:alpha val="43137"/>
                  </a:srgbClr>
                </a:outerShdw>
              </a:effectLst>
            </a:endParaRPr>
          </a:p>
          <a:p>
            <a:pPr marL="808038" lvl="1" indent="-342900">
              <a:defRPr/>
            </a:pPr>
            <a:r>
              <a:rPr lang="en-US" altLang="zh-CN" sz="2600" dirty="0">
                <a:effectLst>
                  <a:outerShdw blurRad="38100" dist="38100" dir="2700000" algn="tl">
                    <a:srgbClr val="000000">
                      <a:alpha val="43137"/>
                    </a:srgbClr>
                  </a:outerShdw>
                </a:effectLst>
              </a:rPr>
              <a:t>void </a:t>
            </a:r>
            <a:r>
              <a:rPr lang="en-US" altLang="zh-CN" sz="2600" dirty="0">
                <a:solidFill>
                  <a:srgbClr val="FFC000"/>
                </a:solidFill>
                <a:effectLst>
                  <a:outerShdw blurRad="38100" dist="38100" dir="2700000" algn="tl">
                    <a:srgbClr val="000000">
                      <a:alpha val="43137"/>
                    </a:srgbClr>
                  </a:outerShdw>
                </a:effectLst>
              </a:rPr>
              <a:t>sort</a:t>
            </a:r>
            <a:r>
              <a:rPr lang="en-US" altLang="zh-CN" sz="2600" dirty="0">
                <a:effectLst>
                  <a:outerShdw blurRad="38100" dist="38100" dir="2700000" algn="tl">
                    <a:srgbClr val="000000">
                      <a:alpha val="43137"/>
                    </a:srgbClr>
                  </a:outerShdw>
                </a:effectLst>
              </a:rPr>
              <a:t>(</a:t>
            </a:r>
            <a:r>
              <a:rPr lang="en-US" altLang="zh-CN" sz="2600" dirty="0" err="1">
                <a:effectLst>
                  <a:outerShdw blurRad="38100" dist="38100" dir="2700000" algn="tl">
                    <a:srgbClr val="000000">
                      <a:alpha val="43137"/>
                    </a:srgbClr>
                  </a:outerShdw>
                </a:effectLst>
              </a:rPr>
              <a:t>RanIt</a:t>
            </a:r>
            <a:r>
              <a:rPr lang="en-US" altLang="zh-CN" sz="2600" dirty="0">
                <a:effectLst>
                  <a:outerShdw blurRad="38100" dist="38100" dir="2700000" algn="tl">
                    <a:srgbClr val="000000">
                      <a:alpha val="43137"/>
                    </a:srgbClr>
                  </a:outerShdw>
                </a:effectLst>
              </a:rPr>
              <a:t> first, </a:t>
            </a:r>
            <a:r>
              <a:rPr lang="en-US" altLang="zh-CN" sz="2600" dirty="0" err="1">
                <a:effectLst>
                  <a:outerShdw blurRad="38100" dist="38100" dir="2700000" algn="tl">
                    <a:srgbClr val="000000">
                      <a:alpha val="43137"/>
                    </a:srgbClr>
                  </a:outerShdw>
                </a:effectLst>
              </a:rPr>
              <a:t>RanIt</a:t>
            </a:r>
            <a:r>
              <a:rPr lang="en-US" altLang="zh-CN" sz="2600" dirty="0">
                <a:effectLst>
                  <a:outerShdw blurRad="38100" dist="38100" dir="2700000" algn="tl">
                    <a:srgbClr val="000000">
                      <a:alpha val="43137"/>
                    </a:srgbClr>
                  </a:outerShdw>
                </a:effectLst>
              </a:rPr>
              <a:t> last, </a:t>
            </a:r>
            <a:r>
              <a:rPr lang="en-US" altLang="zh-CN" sz="2600" dirty="0" err="1">
                <a:solidFill>
                  <a:srgbClr val="FFC000"/>
                </a:solidFill>
                <a:effectLst>
                  <a:outerShdw blurRad="38100" dist="38100" dir="2700000" algn="tl">
                    <a:srgbClr val="000000">
                      <a:alpha val="43137"/>
                    </a:srgbClr>
                  </a:outerShdw>
                </a:effectLst>
              </a:rPr>
              <a:t>BinPred</a:t>
            </a:r>
            <a:r>
              <a:rPr lang="en-US" altLang="zh-CN" sz="2600" dirty="0">
                <a:effectLst>
                  <a:outerShdw blurRad="38100" dist="38100" dir="2700000" algn="tl">
                    <a:srgbClr val="000000">
                      <a:alpha val="43137"/>
                    </a:srgbClr>
                  </a:outerShdw>
                </a:effectLst>
              </a:rPr>
              <a:t> comp); </a:t>
            </a:r>
          </a:p>
          <a:p>
            <a:pPr marL="709613" lvl="1" indent="0">
              <a:buFont typeface="Wingdings" pitchFamily="2" charset="2"/>
              <a:buNone/>
              <a:defRPr/>
            </a:pPr>
            <a:r>
              <a:rPr lang="en-US" altLang="zh-CN" sz="2600" dirty="0">
                <a:effectLst>
                  <a:outerShdw blurRad="38100" dist="38100" dir="2700000" algn="tl">
                    <a:srgbClr val="000000">
                      <a:alpha val="43137"/>
                    </a:srgbClr>
                  </a:outerShdw>
                </a:effectLst>
              </a:rPr>
              <a:t>                             //</a:t>
            </a:r>
            <a:r>
              <a:rPr lang="zh-CN" altLang="en-US" sz="2600" dirty="0">
                <a:effectLst>
                  <a:outerShdw blurRad="38100" dist="38100" dir="2700000" algn="tl">
                    <a:srgbClr val="000000">
                      <a:alpha val="43137"/>
                    </a:srgbClr>
                  </a:outerShdw>
                </a:effectLst>
              </a:rPr>
              <a:t>按</a:t>
            </a:r>
            <a:r>
              <a:rPr lang="en-US" altLang="zh-CN" sz="2600" dirty="0">
                <a:effectLst>
                  <a:outerShdw blurRad="38100" dist="38100" dir="2700000" algn="tl">
                    <a:srgbClr val="000000">
                      <a:alpha val="43137"/>
                    </a:srgbClr>
                  </a:outerShdw>
                </a:effectLst>
              </a:rPr>
              <a:t>comp</a:t>
            </a:r>
            <a:r>
              <a:rPr lang="zh-CN" altLang="en-US" sz="2600" dirty="0">
                <a:effectLst>
                  <a:outerShdw blurRad="38100" dist="38100" dir="2700000" algn="tl">
                    <a:srgbClr val="000000">
                      <a:alpha val="43137"/>
                    </a:srgbClr>
                  </a:outerShdw>
                </a:effectLst>
              </a:rPr>
              <a:t>返回</a:t>
            </a:r>
            <a:r>
              <a:rPr lang="en-US" altLang="zh-CN" sz="2600" dirty="0">
                <a:effectLst>
                  <a:outerShdw blurRad="38100" dist="38100" dir="2700000" algn="tl">
                    <a:srgbClr val="000000">
                      <a:alpha val="43137"/>
                    </a:srgbClr>
                  </a:outerShdw>
                </a:effectLst>
              </a:rPr>
              <a:t>true</a:t>
            </a:r>
            <a:r>
              <a:rPr lang="zh-CN" altLang="en-US" sz="2600" dirty="0">
                <a:effectLst>
                  <a:outerShdw blurRad="38100" dist="38100" dir="2700000" algn="tl">
                    <a:srgbClr val="000000">
                      <a:alpha val="43137"/>
                    </a:srgbClr>
                  </a:outerShdw>
                </a:effectLst>
              </a:rPr>
              <a:t>规定的次序</a:t>
            </a:r>
            <a:endParaRPr lang="en-US" altLang="zh-CN" sz="2600"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bool greater2(</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x1, </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x2) { return x1&gt;x2; }</a:t>
            </a: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vector&lt;</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&gt; v;</a:t>
            </a: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往容器中放了元素</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sort(</a:t>
            </a:r>
            <a:r>
              <a:rPr lang="en-US" altLang="zh-CN" dirty="0" err="1">
                <a:effectLst>
                  <a:outerShdw blurRad="38100" dist="38100" dir="2700000" algn="tl">
                    <a:srgbClr val="000000">
                      <a:alpha val="43137"/>
                    </a:srgbClr>
                  </a:outerShdw>
                </a:effectLst>
              </a:rPr>
              <a:t>v.begin</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v.end</a:t>
            </a: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从小到大排序</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sort(</a:t>
            </a:r>
            <a:r>
              <a:rPr lang="en-US" altLang="zh-CN" dirty="0" err="1">
                <a:effectLst>
                  <a:outerShdw blurRad="38100" dist="38100" dir="2700000" algn="tl">
                    <a:srgbClr val="000000">
                      <a:alpha val="43137"/>
                    </a:srgbClr>
                  </a:outerShdw>
                </a:effectLst>
              </a:rPr>
              <a:t>v.begin</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v.end</a:t>
            </a:r>
            <a:r>
              <a:rPr lang="en-US" altLang="zh-CN" dirty="0">
                <a:effectLst>
                  <a:outerShdw blurRad="38100" dist="38100" dir="2700000" algn="tl">
                    <a:srgbClr val="000000">
                      <a:alpha val="43137"/>
                    </a:srgbClr>
                  </a:outerShdw>
                </a:effectLst>
              </a:rPr>
              <a:t>(),</a:t>
            </a:r>
            <a:r>
              <a:rPr lang="en-US" altLang="zh-CN" dirty="0">
                <a:solidFill>
                  <a:srgbClr val="FFC000"/>
                </a:solidFill>
                <a:effectLst>
                  <a:outerShdw blurRad="38100" dist="38100" dir="2700000" algn="tl">
                    <a:srgbClr val="000000">
                      <a:alpha val="43137"/>
                    </a:srgbClr>
                  </a:outerShdw>
                </a:effectLst>
              </a:rPr>
              <a:t>greater2</a:t>
            </a: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从大到小排序</a:t>
            </a:r>
            <a:endParaRPr lang="en-US" altLang="zh-CN" dirty="0">
              <a:effectLst>
                <a:outerShdw blurRad="38100" dist="38100" dir="2700000" algn="tl">
                  <a:srgbClr val="000000">
                    <a:alpha val="43137"/>
                  </a:srgbClr>
                </a:outerShdw>
              </a:effectLst>
            </a:endParaRPr>
          </a:p>
          <a:p>
            <a:pPr>
              <a:defRPr/>
            </a:pP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BDBCCFE-E63E-2868-A205-2C882552E56C}"/>
              </a:ext>
            </a:extLst>
          </p:cNvPr>
          <p:cNvSpPr>
            <a:spLocks noGrp="1"/>
          </p:cNvSpPr>
          <p:nvPr>
            <p:ph idx="1"/>
          </p:nvPr>
        </p:nvSpPr>
        <p:spPr>
          <a:xfrm>
            <a:off x="323850" y="1125538"/>
            <a:ext cx="8712200" cy="5732462"/>
          </a:xfrm>
        </p:spPr>
        <p:txBody>
          <a:bodyPr>
            <a:normAutofit fontScale="92500" lnSpcReduction="20000"/>
          </a:bodyPr>
          <a:lstStyle/>
          <a:p>
            <a:pPr eaLnBrk="1" hangingPunct="1">
              <a:lnSpc>
                <a:spcPct val="120000"/>
              </a:lnSpc>
              <a:defRPr/>
            </a:pPr>
            <a:r>
              <a:rPr lang="zh-CN" altLang="en-US" dirty="0"/>
              <a:t>有些算法可以让使用者提供一个</a:t>
            </a:r>
            <a:r>
              <a:rPr lang="zh-CN" altLang="en-US" dirty="0">
                <a:solidFill>
                  <a:srgbClr val="FFC000"/>
                </a:solidFill>
              </a:rPr>
              <a:t>函数</a:t>
            </a:r>
            <a:r>
              <a:rPr lang="zh-CN" altLang="en-US" dirty="0"/>
              <a:t>或</a:t>
            </a:r>
            <a:r>
              <a:rPr lang="zh-CN" altLang="en-US" dirty="0">
                <a:solidFill>
                  <a:srgbClr val="FFC000"/>
                </a:solidFill>
              </a:rPr>
              <a:t>函数对象</a:t>
            </a:r>
            <a:r>
              <a:rPr lang="zh-CN" altLang="en-US" dirty="0"/>
              <a:t>作为</a:t>
            </a:r>
            <a:r>
              <a:rPr lang="zh-CN" altLang="en-US" dirty="0">
                <a:solidFill>
                  <a:srgbClr val="FFC000"/>
                </a:solidFill>
              </a:rPr>
              <a:t>自定义操作</a:t>
            </a:r>
            <a:r>
              <a:rPr lang="zh-CN" altLang="en-US" dirty="0"/>
              <a:t>，其参数和返回值类型由相应的算法决定。</a:t>
            </a:r>
            <a:endParaRPr lang="en-US" altLang="zh-CN" dirty="0"/>
          </a:p>
          <a:p>
            <a:pPr eaLnBrk="1" hangingPunct="1">
              <a:lnSpc>
                <a:spcPct val="120000"/>
              </a:lnSpc>
              <a:defRPr/>
            </a:pPr>
            <a:r>
              <a:rPr lang="zh-CN" altLang="en-US" dirty="0"/>
              <a:t>自定义操作可分为：</a:t>
            </a:r>
            <a:endParaRPr lang="en-US" altLang="zh-CN" dirty="0"/>
          </a:p>
          <a:p>
            <a:pPr lvl="1">
              <a:defRPr/>
            </a:pPr>
            <a:r>
              <a:rPr lang="en-US" altLang="zh-CN" dirty="0">
                <a:solidFill>
                  <a:srgbClr val="FFC000"/>
                </a:solidFill>
              </a:rPr>
              <a:t>Op</a:t>
            </a:r>
            <a:r>
              <a:rPr lang="zh-CN" altLang="en-US" dirty="0"/>
              <a:t>或</a:t>
            </a:r>
            <a:r>
              <a:rPr lang="en-US" altLang="zh-CN" dirty="0">
                <a:solidFill>
                  <a:srgbClr val="FFC000"/>
                </a:solidFill>
              </a:rPr>
              <a:t>Fun</a:t>
            </a:r>
            <a:r>
              <a:rPr lang="zh-CN" altLang="en-US" dirty="0"/>
              <a:t>：一元操作，需要一个参数</a:t>
            </a:r>
            <a:endParaRPr lang="en-US" altLang="zh-CN" dirty="0"/>
          </a:p>
          <a:p>
            <a:pPr lvl="1">
              <a:defRPr/>
            </a:pPr>
            <a:r>
              <a:rPr lang="en-US" altLang="zh-CN" dirty="0" err="1">
                <a:solidFill>
                  <a:srgbClr val="FFC000"/>
                </a:solidFill>
              </a:rPr>
              <a:t>BinOp</a:t>
            </a:r>
            <a:r>
              <a:rPr lang="zh-CN" altLang="en-US" dirty="0"/>
              <a:t>或</a:t>
            </a:r>
            <a:r>
              <a:rPr lang="en-US" altLang="zh-CN" dirty="0" err="1">
                <a:solidFill>
                  <a:srgbClr val="FFC000"/>
                </a:solidFill>
              </a:rPr>
              <a:t>BinFun</a:t>
            </a:r>
            <a:r>
              <a:rPr lang="zh-CN" altLang="en-US" dirty="0"/>
              <a:t>：二元操作，需要两个参数</a:t>
            </a:r>
          </a:p>
          <a:p>
            <a:pPr>
              <a:defRPr/>
            </a:pPr>
            <a:r>
              <a:rPr lang="zh-CN" altLang="en-US" dirty="0"/>
              <a:t>例如，对于下面的“</a:t>
            </a:r>
            <a:r>
              <a:rPr lang="zh-CN" altLang="en-US" dirty="0">
                <a:solidFill>
                  <a:srgbClr val="FFC000"/>
                </a:solidFill>
              </a:rPr>
              <a:t>元素遍历</a:t>
            </a:r>
            <a:r>
              <a:rPr lang="zh-CN" altLang="en-US" dirty="0"/>
              <a:t>”算法：</a:t>
            </a:r>
            <a:endParaRPr lang="en-US" altLang="zh-CN" dirty="0"/>
          </a:p>
          <a:p>
            <a:pPr marL="808038" lvl="1" indent="-342900">
              <a:defRPr/>
            </a:pPr>
            <a:r>
              <a:rPr lang="en-US" altLang="zh-CN" dirty="0">
                <a:effectLst>
                  <a:outerShdw blurRad="38100" dist="38100" dir="2700000" algn="tl">
                    <a:srgbClr val="000000">
                      <a:alpha val="43137"/>
                    </a:srgbClr>
                  </a:outerShdw>
                </a:effectLst>
              </a:rPr>
              <a:t>Fun </a:t>
            </a:r>
            <a:r>
              <a:rPr lang="en-US" altLang="zh-CN" dirty="0" err="1">
                <a:solidFill>
                  <a:srgbClr val="FFC000"/>
                </a:solidFill>
                <a:effectLst>
                  <a:outerShdw blurRad="38100" dist="38100" dir="2700000" algn="tl">
                    <a:srgbClr val="000000">
                      <a:alpha val="43137"/>
                    </a:srgbClr>
                  </a:outerShdw>
                </a:effectLst>
              </a:rPr>
              <a:t>for_each</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InIt</a:t>
            </a:r>
            <a:r>
              <a:rPr lang="en-US" altLang="zh-CN" dirty="0">
                <a:effectLst>
                  <a:outerShdw blurRad="38100" dist="38100" dir="2700000" algn="tl">
                    <a:srgbClr val="000000">
                      <a:alpha val="43137"/>
                    </a:srgbClr>
                  </a:outerShdw>
                </a:effectLst>
              </a:rPr>
              <a:t> first, </a:t>
            </a:r>
            <a:r>
              <a:rPr lang="en-US" altLang="zh-CN" dirty="0" err="1">
                <a:effectLst>
                  <a:outerShdw blurRad="38100" dist="38100" dir="2700000" algn="tl">
                    <a:srgbClr val="000000">
                      <a:alpha val="43137"/>
                    </a:srgbClr>
                  </a:outerShdw>
                </a:effectLst>
              </a:rPr>
              <a:t>InIt</a:t>
            </a:r>
            <a:r>
              <a:rPr lang="en-US" altLang="zh-CN" dirty="0">
                <a:effectLst>
                  <a:outerShdw blurRad="38100" dist="38100" dir="2700000" algn="tl">
                    <a:srgbClr val="000000">
                      <a:alpha val="43137"/>
                    </a:srgbClr>
                  </a:outerShdw>
                </a:effectLst>
              </a:rPr>
              <a:t> last, </a:t>
            </a:r>
            <a:r>
              <a:rPr lang="en-US" altLang="zh-CN" dirty="0">
                <a:solidFill>
                  <a:srgbClr val="FFC000"/>
                </a:solidFill>
                <a:effectLst>
                  <a:outerShdw blurRad="38100" dist="38100" dir="2700000" algn="tl">
                    <a:srgbClr val="000000">
                      <a:alpha val="43137"/>
                    </a:srgbClr>
                  </a:outerShdw>
                </a:effectLst>
              </a:rPr>
              <a:t>Fun</a:t>
            </a:r>
            <a:r>
              <a:rPr lang="en-US" altLang="zh-CN" dirty="0">
                <a:effectLst>
                  <a:outerShdw blurRad="38100" dist="38100" dir="2700000" algn="tl">
                    <a:srgbClr val="000000">
                      <a:alpha val="43137"/>
                    </a:srgbClr>
                  </a:outerShdw>
                </a:effectLst>
              </a:rPr>
              <a:t> </a:t>
            </a:r>
            <a:r>
              <a:rPr lang="en-US" altLang="zh-CN" dirty="0">
                <a:solidFill>
                  <a:srgbClr val="FFC000"/>
                </a:solidFill>
                <a:effectLst>
                  <a:outerShdw blurRad="38100" dist="38100" dir="2700000" algn="tl">
                    <a:srgbClr val="000000">
                      <a:alpha val="43137"/>
                    </a:srgbClr>
                  </a:outerShdw>
                </a:effectLst>
              </a:rPr>
              <a:t>f</a:t>
            </a:r>
            <a:r>
              <a:rPr lang="en-US" altLang="zh-CN" dirty="0">
                <a:effectLst>
                  <a:outerShdw blurRad="38100" dist="38100" dir="2700000" algn="tl">
                    <a:srgbClr val="000000">
                      <a:alpha val="43137"/>
                    </a:srgbClr>
                  </a:outerShdw>
                </a:effectLst>
              </a:rPr>
              <a:t>); </a:t>
            </a:r>
            <a:endParaRPr lang="fr-FR"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void </a:t>
            </a:r>
            <a:r>
              <a:rPr lang="en-US" altLang="zh-CN" dirty="0">
                <a:solidFill>
                  <a:srgbClr val="FFC000"/>
                </a:solidFill>
                <a:effectLst>
                  <a:outerShdw blurRad="38100" dist="38100" dir="2700000" algn="tl">
                    <a:srgbClr val="000000">
                      <a:alpha val="43137"/>
                    </a:srgbClr>
                  </a:outerShdw>
                </a:effectLst>
              </a:rPr>
              <a:t>f</a:t>
            </a:r>
            <a:r>
              <a:rPr lang="en-US" altLang="zh-CN" dirty="0">
                <a:effectLst>
                  <a:outerShdw blurRad="38100" dist="38100" dir="2700000" algn="tl">
                    <a:srgbClr val="000000">
                      <a:alpha val="43137"/>
                    </a:srgbClr>
                  </a:outerShdw>
                </a:effectLst>
              </a:rPr>
              <a:t>(</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x) { </a:t>
            </a:r>
            <a:r>
              <a:rPr lang="en-US" altLang="zh-CN" dirty="0" err="1">
                <a:effectLst>
                  <a:outerShdw blurRad="38100" dist="38100" dir="2700000" algn="tl">
                    <a:srgbClr val="000000">
                      <a:alpha val="43137"/>
                    </a:srgbClr>
                  </a:outerShdw>
                </a:effectLst>
              </a:rPr>
              <a:t>cout</a:t>
            </a:r>
            <a:r>
              <a:rPr lang="en-US" altLang="zh-CN" dirty="0">
                <a:effectLst>
                  <a:outerShdw blurRad="38100" dist="38100" dir="2700000" algn="tl">
                    <a:srgbClr val="000000">
                      <a:alpha val="43137"/>
                    </a:srgbClr>
                  </a:outerShdw>
                </a:effectLst>
              </a:rPr>
              <a:t> &lt;&lt; ' ' &lt;&lt; x; }</a:t>
            </a: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vector&lt;</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&gt; v;</a:t>
            </a: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往容器中放了元素</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fr-FR" altLang="zh-CN" dirty="0">
                <a:effectLst>
                  <a:outerShdw blurRad="38100" dist="38100" dir="2700000" algn="tl">
                    <a:srgbClr val="000000">
                      <a:alpha val="43137"/>
                    </a:srgbClr>
                  </a:outerShdw>
                </a:effectLst>
              </a:rPr>
              <a:t>for_each</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v.begin</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v.end</a:t>
            </a:r>
            <a:r>
              <a:rPr lang="en-US" altLang="zh-CN" dirty="0">
                <a:effectLst>
                  <a:outerShdw blurRad="38100" dist="38100" dir="2700000" algn="tl">
                    <a:srgbClr val="000000">
                      <a:alpha val="43137"/>
                    </a:srgbClr>
                  </a:outerShdw>
                </a:effectLst>
              </a:rPr>
              <a:t>(),</a:t>
            </a:r>
            <a:r>
              <a:rPr lang="en-US" altLang="zh-CN" dirty="0">
                <a:solidFill>
                  <a:srgbClr val="FFC000"/>
                </a:solidFill>
                <a:effectLst>
                  <a:outerShdw blurRad="38100" dist="38100" dir="2700000" algn="tl">
                    <a:srgbClr val="000000">
                      <a:alpha val="43137"/>
                    </a:srgbClr>
                  </a:outerShdw>
                </a:effectLst>
              </a:rPr>
              <a:t>f</a:t>
            </a: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对</a:t>
            </a:r>
            <a:r>
              <a:rPr lang="en-US" altLang="zh-CN" dirty="0">
                <a:effectLst>
                  <a:outerShdw blurRad="38100" dist="38100" dir="2700000" algn="tl">
                    <a:srgbClr val="000000">
                      <a:alpha val="43137"/>
                    </a:srgbClr>
                  </a:outerShdw>
                </a:effectLst>
              </a:rPr>
              <a:t>v</a:t>
            </a:r>
            <a:r>
              <a:rPr lang="zh-CN" altLang="en-US" dirty="0">
                <a:effectLst>
                  <a:outerShdw blurRad="38100" dist="38100" dir="2700000" algn="tl">
                    <a:srgbClr val="000000">
                      <a:alpha val="43137"/>
                    </a:srgbClr>
                  </a:outerShdw>
                </a:effectLst>
              </a:rPr>
              <a:t>中的每个元素去调用</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函数</a:t>
            </a:r>
            <a:r>
              <a:rPr lang="en-US" altLang="zh-CN" dirty="0">
                <a:effectLst>
                  <a:outerShdw blurRad="38100" dist="38100" dir="2700000" algn="tl">
                    <a:srgbClr val="000000">
                      <a:alpha val="43137"/>
                    </a:srgbClr>
                  </a:outerShdw>
                </a:effectLst>
              </a:rPr>
              <a:t>f</a:t>
            </a:r>
            <a:r>
              <a:rPr lang="zh-CN" altLang="en-US" dirty="0">
                <a:effectLst>
                  <a:outerShdw blurRad="38100" dist="38100" dir="2700000" algn="tl">
                    <a:srgbClr val="000000">
                      <a:alpha val="43137"/>
                    </a:srgbClr>
                  </a:outerShdw>
                </a:effectLst>
              </a:rPr>
              <a:t>进行操作</a:t>
            </a:r>
            <a:endParaRPr lang="en-US" altLang="zh-CN" dirty="0">
              <a:effectLst>
                <a:outerShdw blurRad="38100" dist="38100" dir="2700000" algn="tl">
                  <a:srgbClr val="000000">
                    <a:alpha val="43137"/>
                  </a:srgbClr>
                </a:outerShdw>
              </a:effectLst>
            </a:endParaRPr>
          </a:p>
        </p:txBody>
      </p:sp>
      <p:sp>
        <p:nvSpPr>
          <p:cNvPr id="4" name="标题 1">
            <a:extLst>
              <a:ext uri="{FF2B5EF4-FFF2-40B4-BE49-F238E27FC236}">
                <a16:creationId xmlns:a16="http://schemas.microsoft.com/office/drawing/2014/main" id="{0043C66D-2281-BEFB-2EE0-E03D23425149}"/>
              </a:ext>
            </a:extLst>
          </p:cNvPr>
          <p:cNvSpPr>
            <a:spLocks noGrp="1"/>
          </p:cNvSpPr>
          <p:nvPr>
            <p:ph type="title"/>
          </p:nvPr>
        </p:nvSpPr>
        <p:spPr>
          <a:xfrm>
            <a:off x="457200" y="44450"/>
            <a:ext cx="8229600" cy="1139825"/>
          </a:xfrm>
        </p:spPr>
        <p:txBody>
          <a:bodyPr/>
          <a:lstStyle/>
          <a:p>
            <a:pPr>
              <a:defRPr/>
            </a:pPr>
            <a:r>
              <a:rPr lang="zh-CN" altLang="en-US" sz="4000" dirty="0"/>
              <a:t>算法的自定义操作</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320CFA0-AEFD-867F-FE86-A9823A57AC11}"/>
              </a:ext>
            </a:extLst>
          </p:cNvPr>
          <p:cNvSpPr>
            <a:spLocks noGrp="1"/>
          </p:cNvSpPr>
          <p:nvPr>
            <p:ph idx="1"/>
          </p:nvPr>
        </p:nvSpPr>
        <p:spPr>
          <a:xfrm>
            <a:off x="179388" y="476250"/>
            <a:ext cx="8713787" cy="6192838"/>
          </a:xfrm>
        </p:spPr>
        <p:txBody>
          <a:bodyPr>
            <a:normAutofit fontScale="92500"/>
          </a:bodyPr>
          <a:lstStyle/>
          <a:p>
            <a:pPr>
              <a:defRPr/>
            </a:pPr>
            <a:r>
              <a:rPr lang="zh-CN" altLang="en-US" dirty="0"/>
              <a:t>再例如，对于下面的“</a:t>
            </a:r>
            <a:r>
              <a:rPr lang="zh-CN" altLang="en-US" dirty="0">
                <a:solidFill>
                  <a:srgbClr val="FFC000"/>
                </a:solidFill>
              </a:rPr>
              <a:t>累积</a:t>
            </a:r>
            <a:r>
              <a:rPr lang="zh-CN" altLang="en-US" dirty="0"/>
              <a:t>”算法：</a:t>
            </a:r>
            <a:endParaRPr lang="en-US" altLang="zh-CN" dirty="0"/>
          </a:p>
          <a:p>
            <a:pPr marL="877888" lvl="2" indent="-342900">
              <a:defRPr/>
            </a:pPr>
            <a:r>
              <a:rPr lang="fr-FR" altLang="zh-CN" dirty="0">
                <a:effectLst>
                  <a:outerShdw blurRad="38100" dist="38100" dir="2700000" algn="tl">
                    <a:srgbClr val="000000">
                      <a:alpha val="43137"/>
                    </a:srgbClr>
                  </a:outerShdw>
                </a:effectLst>
              </a:rPr>
              <a:t>T </a:t>
            </a:r>
            <a:r>
              <a:rPr lang="fr-FR" altLang="zh-CN" dirty="0">
                <a:solidFill>
                  <a:srgbClr val="FFC000"/>
                </a:solidFill>
                <a:effectLst>
                  <a:outerShdw blurRad="38100" dist="38100" dir="2700000" algn="tl">
                    <a:srgbClr val="000000">
                      <a:alpha val="43137"/>
                    </a:srgbClr>
                  </a:outerShdw>
                </a:effectLst>
              </a:rPr>
              <a:t>accumulate</a:t>
            </a:r>
            <a:r>
              <a:rPr lang="fr-FR" altLang="zh-CN" dirty="0">
                <a:effectLst>
                  <a:outerShdw blurRad="38100" dist="38100" dir="2700000" algn="tl">
                    <a:srgbClr val="000000">
                      <a:alpha val="43137"/>
                    </a:srgbClr>
                  </a:outerShdw>
                </a:effectLst>
              </a:rPr>
              <a:t>(InIt first, InIt last, T val); </a:t>
            </a:r>
            <a:r>
              <a:rPr lang="en-US" altLang="zh-CN" dirty="0">
                <a:effectLst>
                  <a:outerShdw blurRad="38100" dist="38100" dir="2700000" algn="tl">
                    <a:srgbClr val="000000">
                      <a:alpha val="43137"/>
                    </a:srgbClr>
                  </a:outerShdw>
                </a:effectLst>
              </a:rPr>
              <a:t>//</a:t>
            </a:r>
            <a:r>
              <a:rPr lang="zh-CN" altLang="en-US" dirty="0">
                <a:effectLst>
                  <a:outerShdw blurRad="38100" dist="38100" dir="2700000" algn="tl">
                    <a:srgbClr val="000000">
                      <a:alpha val="43137"/>
                    </a:srgbClr>
                  </a:outerShdw>
                </a:effectLst>
              </a:rPr>
              <a:t>按“</a:t>
            </a:r>
            <a:r>
              <a:rPr lang="en-US" altLang="zh-CN" dirty="0">
                <a:effectLst>
                  <a:outerShdw blurRad="38100" dist="38100" dir="2700000" algn="tl">
                    <a:srgbClr val="000000">
                      <a:alpha val="43137"/>
                    </a:srgbClr>
                  </a:outerShdw>
                </a:effectLst>
              </a:rPr>
              <a:t>+</a:t>
            </a:r>
            <a:r>
              <a:rPr lang="zh-CN" altLang="en-US" dirty="0">
                <a:effectLst>
                  <a:outerShdw blurRad="38100" dist="38100" dir="2700000" algn="tl">
                    <a:srgbClr val="000000">
                      <a:alpha val="43137"/>
                    </a:srgbClr>
                  </a:outerShdw>
                </a:effectLst>
              </a:rPr>
              <a:t>”操作</a:t>
            </a:r>
            <a:endParaRPr lang="en-US" altLang="zh-CN" dirty="0">
              <a:effectLst>
                <a:outerShdw blurRad="38100" dist="38100" dir="2700000" algn="tl">
                  <a:srgbClr val="000000">
                    <a:alpha val="43137"/>
                  </a:srgbClr>
                </a:outerShdw>
              </a:effectLst>
            </a:endParaRPr>
          </a:p>
          <a:p>
            <a:pPr marL="877888" lvl="2" indent="-342900">
              <a:defRPr/>
            </a:pPr>
            <a:r>
              <a:rPr lang="fr-FR" altLang="zh-CN" dirty="0">
                <a:effectLst>
                  <a:outerShdw blurRad="38100" dist="38100" dir="2700000" algn="tl">
                    <a:srgbClr val="000000">
                      <a:alpha val="43137"/>
                    </a:srgbClr>
                  </a:outerShdw>
                </a:effectLst>
              </a:rPr>
              <a:t>T </a:t>
            </a:r>
            <a:r>
              <a:rPr lang="fr-FR" altLang="zh-CN" dirty="0">
                <a:solidFill>
                  <a:srgbClr val="FFC000"/>
                </a:solidFill>
                <a:effectLst>
                  <a:outerShdw blurRad="38100" dist="38100" dir="2700000" algn="tl">
                    <a:srgbClr val="000000">
                      <a:alpha val="43137"/>
                    </a:srgbClr>
                  </a:outerShdw>
                </a:effectLst>
              </a:rPr>
              <a:t>accumulate</a:t>
            </a:r>
            <a:r>
              <a:rPr lang="fr-FR" altLang="zh-CN" dirty="0">
                <a:effectLst>
                  <a:outerShdw blurRad="38100" dist="38100" dir="2700000" algn="tl">
                    <a:srgbClr val="000000">
                      <a:alpha val="43137"/>
                    </a:srgbClr>
                  </a:outerShdw>
                </a:effectLst>
              </a:rPr>
              <a:t>(InIt first, InIt last, T val, BinOp </a:t>
            </a:r>
            <a:r>
              <a:rPr lang="fr-FR" altLang="zh-CN" dirty="0">
                <a:solidFill>
                  <a:srgbClr val="FFC000"/>
                </a:solidFill>
                <a:effectLst>
                  <a:outerShdw blurRad="38100" dist="38100" dir="2700000" algn="tl">
                    <a:srgbClr val="000000">
                      <a:alpha val="43137"/>
                    </a:srgbClr>
                  </a:outerShdw>
                </a:effectLst>
              </a:rPr>
              <a:t>op</a:t>
            </a:r>
            <a:r>
              <a:rPr lang="fr-FR" altLang="zh-CN" dirty="0">
                <a:effectLst>
                  <a:outerShdw blurRad="38100" dist="38100" dir="2700000" algn="tl">
                    <a:srgbClr val="000000">
                      <a:alpha val="43137"/>
                    </a:srgbClr>
                  </a:outerShdw>
                </a:effectLst>
              </a:rPr>
              <a:t>); </a:t>
            </a:r>
          </a:p>
          <a:p>
            <a:pPr marL="1335088" lvl="3" indent="-342900">
              <a:defRPr/>
            </a:pPr>
            <a:r>
              <a:rPr lang="zh-CN" altLang="en-US" dirty="0">
                <a:effectLst>
                  <a:outerShdw blurRad="38100" dist="38100" dir="2700000" algn="tl">
                    <a:srgbClr val="000000">
                      <a:alpha val="43137"/>
                    </a:srgbClr>
                  </a:outerShdw>
                </a:effectLst>
              </a:rPr>
              <a:t>由</a:t>
            </a:r>
            <a:r>
              <a:rPr lang="en-US" altLang="zh-CN" dirty="0">
                <a:effectLst>
                  <a:outerShdw blurRad="38100" dist="38100" dir="2700000" algn="tl">
                    <a:srgbClr val="000000">
                      <a:alpha val="43137"/>
                    </a:srgbClr>
                  </a:outerShdw>
                </a:effectLst>
              </a:rPr>
              <a:t>op</a:t>
            </a:r>
            <a:r>
              <a:rPr lang="zh-CN" altLang="en-US" dirty="0">
                <a:effectLst>
                  <a:outerShdw blurRad="38100" dist="38100" dir="2700000" algn="tl">
                    <a:srgbClr val="000000">
                      <a:alpha val="43137"/>
                    </a:srgbClr>
                  </a:outerShdw>
                </a:effectLst>
              </a:rPr>
              <a:t>决定</a:t>
            </a:r>
            <a:r>
              <a:rPr lang="zh-CN" altLang="en-US" dirty="0">
                <a:solidFill>
                  <a:srgbClr val="FFC000"/>
                </a:solidFill>
                <a:effectLst>
                  <a:outerShdw blurRad="38100" dist="38100" dir="2700000" algn="tl">
                    <a:srgbClr val="000000">
                      <a:alpha val="43137"/>
                    </a:srgbClr>
                  </a:outerShdw>
                </a:effectLst>
              </a:rPr>
              <a:t>累积</a:t>
            </a:r>
            <a:r>
              <a:rPr lang="zh-CN" altLang="en-US" dirty="0">
                <a:effectLst>
                  <a:outerShdw blurRad="38100" dist="38100" dir="2700000" algn="tl">
                    <a:srgbClr val="000000">
                      <a:alpha val="43137"/>
                    </a:srgbClr>
                  </a:outerShdw>
                </a:effectLst>
              </a:rPr>
              <a:t>的含义。设元素为</a:t>
            </a:r>
            <a:r>
              <a:rPr lang="en-US" altLang="zh-CN" dirty="0">
                <a:effectLst>
                  <a:outerShdw blurRad="38100" dist="38100" dir="2700000" algn="tl">
                    <a:srgbClr val="000000">
                      <a:alpha val="43137"/>
                    </a:srgbClr>
                  </a:outerShdw>
                </a:effectLst>
              </a:rPr>
              <a:t>e</a:t>
            </a:r>
            <a:r>
              <a:rPr lang="en-US" altLang="zh-CN" baseline="-25000" dirty="0">
                <a:effectLst>
                  <a:outerShdw blurRad="38100" dist="38100" dir="2700000" algn="tl">
                    <a:srgbClr val="000000">
                      <a:alpha val="43137"/>
                    </a:srgbClr>
                  </a:outerShdw>
                </a:effectLst>
              </a:rPr>
              <a:t>1</a:t>
            </a:r>
            <a:r>
              <a:rPr lang="zh-CN" altLang="en-US" dirty="0">
                <a:effectLst>
                  <a:outerShdw blurRad="38100" dist="38100" dir="2700000" algn="tl">
                    <a:srgbClr val="000000">
                      <a:alpha val="43137"/>
                    </a:srgbClr>
                  </a:outerShdw>
                </a:effectLst>
              </a:rPr>
              <a:t>、</a:t>
            </a:r>
            <a:r>
              <a:rPr lang="en-US" altLang="zh-CN" dirty="0">
                <a:effectLst>
                  <a:outerShdw blurRad="38100" dist="38100" dir="2700000" algn="tl">
                    <a:srgbClr val="000000">
                      <a:alpha val="43137"/>
                    </a:srgbClr>
                  </a:outerShdw>
                </a:effectLst>
              </a:rPr>
              <a:t>e</a:t>
            </a:r>
            <a:r>
              <a:rPr lang="en-US" altLang="zh-CN" baseline="-25000" dirty="0">
                <a:effectLst>
                  <a:outerShdw blurRad="38100" dist="38100" dir="2700000" algn="tl">
                    <a:srgbClr val="000000">
                      <a:alpha val="43137"/>
                    </a:srgbClr>
                  </a:outerShdw>
                </a:effectLst>
              </a:rPr>
              <a:t>2</a:t>
            </a:r>
            <a:r>
              <a:rPr lang="zh-CN" altLang="en-US" dirty="0">
                <a:effectLst>
                  <a:outerShdw blurRad="38100" dist="38100" dir="2700000" algn="tl">
                    <a:srgbClr val="000000">
                      <a:alpha val="43137"/>
                    </a:srgbClr>
                  </a:outerShdw>
                </a:effectLst>
              </a:rPr>
              <a:t>、</a:t>
            </a:r>
            <a:r>
              <a:rPr lang="en-US" altLang="zh-CN" dirty="0">
                <a:effectLst>
                  <a:outerShdw blurRad="38100" dist="38100" dir="2700000" algn="tl">
                    <a:srgbClr val="000000">
                      <a:alpha val="43137"/>
                    </a:srgbClr>
                  </a:outerShdw>
                </a:effectLst>
              </a:rPr>
              <a:t>...</a:t>
            </a:r>
            <a:r>
              <a:rPr lang="zh-CN" altLang="en-US"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e</a:t>
            </a:r>
            <a:r>
              <a:rPr lang="en-US" altLang="zh-CN" baseline="-25000" dirty="0" err="1">
                <a:effectLst>
                  <a:outerShdw blurRad="38100" dist="38100" dir="2700000" algn="tl">
                    <a:srgbClr val="000000">
                      <a:alpha val="43137"/>
                    </a:srgbClr>
                  </a:outerShdw>
                </a:effectLst>
              </a:rPr>
              <a:t>n</a:t>
            </a:r>
            <a:r>
              <a:rPr lang="zh-CN" altLang="en-US" dirty="0">
                <a:effectLst>
                  <a:outerShdw blurRad="38100" dist="38100" dir="2700000" algn="tl">
                    <a:srgbClr val="000000">
                      <a:alpha val="43137"/>
                    </a:srgbClr>
                  </a:outerShdw>
                </a:effectLst>
              </a:rPr>
              <a:t>，算法返回</a:t>
            </a:r>
            <a:r>
              <a:rPr lang="en-US" altLang="zh-CN" dirty="0" err="1">
                <a:effectLst>
                  <a:outerShdw blurRad="38100" dist="38100" dir="2700000" algn="tl">
                    <a:srgbClr val="000000">
                      <a:alpha val="43137"/>
                    </a:srgbClr>
                  </a:outerShdw>
                </a:effectLst>
              </a:rPr>
              <a:t>t</a:t>
            </a:r>
            <a:r>
              <a:rPr lang="en-US" altLang="zh-CN" baseline="-25000" dirty="0" err="1">
                <a:effectLst>
                  <a:outerShdw blurRad="38100" dist="38100" dir="2700000" algn="tl">
                    <a:srgbClr val="000000">
                      <a:alpha val="43137"/>
                    </a:srgbClr>
                  </a:outerShdw>
                </a:effectLst>
              </a:rPr>
              <a:t>n</a:t>
            </a:r>
            <a:r>
              <a:rPr lang="zh-CN" altLang="en-US" dirty="0">
                <a:effectLst>
                  <a:outerShdw blurRad="38100" dist="38100" dir="2700000" algn="tl">
                    <a:srgbClr val="000000">
                      <a:alpha val="43137"/>
                    </a:srgbClr>
                  </a:outerShdw>
                </a:effectLst>
              </a:rPr>
              <a:t>：</a:t>
            </a:r>
            <a:endParaRPr lang="en-US" altLang="zh-CN" dirty="0">
              <a:effectLst>
                <a:outerShdw blurRad="38100" dist="38100" dir="2700000" algn="tl">
                  <a:srgbClr val="000000">
                    <a:alpha val="43137"/>
                  </a:srgbClr>
                </a:outerShdw>
              </a:effectLst>
            </a:endParaRPr>
          </a:p>
          <a:p>
            <a:pPr marL="992188" lvl="3" indent="0">
              <a:buFontTx/>
              <a:buNone/>
              <a:defRPr/>
            </a:pPr>
            <a:r>
              <a:rPr lang="en-US" altLang="zh-CN" dirty="0">
                <a:effectLst>
                  <a:outerShdw blurRad="38100" dist="38100" dir="2700000" algn="tl">
                    <a:srgbClr val="000000">
                      <a:alpha val="43137"/>
                    </a:srgbClr>
                  </a:outerShdw>
                </a:effectLst>
              </a:rPr>
              <a:t>   t</a:t>
            </a:r>
            <a:r>
              <a:rPr lang="en-US" altLang="zh-CN" baseline="-25000" dirty="0">
                <a:effectLst>
                  <a:outerShdw blurRad="38100" dist="38100" dir="2700000" algn="tl">
                    <a:srgbClr val="000000">
                      <a:alpha val="43137"/>
                    </a:srgbClr>
                  </a:outerShdw>
                </a:effectLst>
              </a:rPr>
              <a:t>1</a:t>
            </a:r>
            <a:r>
              <a:rPr lang="en-US" altLang="zh-CN" dirty="0">
                <a:effectLst>
                  <a:outerShdw blurRad="38100" dist="38100" dir="2700000" algn="tl">
                    <a:srgbClr val="000000">
                      <a:alpha val="43137"/>
                    </a:srgbClr>
                  </a:outerShdw>
                </a:effectLst>
              </a:rPr>
              <a:t>=op(val,e</a:t>
            </a:r>
            <a:r>
              <a:rPr lang="en-US" altLang="zh-CN" baseline="-25000" dirty="0">
                <a:effectLst>
                  <a:outerShdw blurRad="38100" dist="38100" dir="2700000" algn="tl">
                    <a:srgbClr val="000000">
                      <a:alpha val="43137"/>
                    </a:srgbClr>
                  </a:outerShdw>
                </a:effectLst>
              </a:rPr>
              <a:t>1</a:t>
            </a:r>
            <a:r>
              <a:rPr lang="en-US" altLang="zh-CN" dirty="0">
                <a:effectLst>
                  <a:outerShdw blurRad="38100" dist="38100" dir="2700000" algn="tl">
                    <a:srgbClr val="000000">
                      <a:alpha val="43137"/>
                    </a:srgbClr>
                  </a:outerShdw>
                </a:effectLst>
              </a:rPr>
              <a:t>); t</a:t>
            </a:r>
            <a:r>
              <a:rPr lang="en-US" altLang="zh-CN" baseline="-25000" dirty="0">
                <a:effectLst>
                  <a:outerShdw blurRad="38100" dist="38100" dir="2700000" algn="tl">
                    <a:srgbClr val="000000">
                      <a:alpha val="43137"/>
                    </a:srgbClr>
                  </a:outerShdw>
                </a:effectLst>
              </a:rPr>
              <a:t>2</a:t>
            </a:r>
            <a:r>
              <a:rPr lang="en-US" altLang="zh-CN" dirty="0">
                <a:effectLst>
                  <a:outerShdw blurRad="38100" dist="38100" dir="2700000" algn="tl">
                    <a:srgbClr val="000000">
                      <a:alpha val="43137"/>
                    </a:srgbClr>
                  </a:outerShdw>
                </a:effectLst>
              </a:rPr>
              <a:t>=op(t</a:t>
            </a:r>
            <a:r>
              <a:rPr lang="en-US" altLang="zh-CN" baseline="-25000" dirty="0">
                <a:effectLst>
                  <a:outerShdw blurRad="38100" dist="38100" dir="2700000" algn="tl">
                    <a:srgbClr val="000000">
                      <a:alpha val="43137"/>
                    </a:srgbClr>
                  </a:outerShdw>
                </a:effectLst>
              </a:rPr>
              <a:t>1</a:t>
            </a:r>
            <a:r>
              <a:rPr lang="en-US" altLang="zh-CN" dirty="0">
                <a:effectLst>
                  <a:outerShdw blurRad="38100" dist="38100" dir="2700000" algn="tl">
                    <a:srgbClr val="000000">
                      <a:alpha val="43137"/>
                    </a:srgbClr>
                  </a:outerShdw>
                </a:effectLst>
              </a:rPr>
              <a:t>,e</a:t>
            </a:r>
            <a:r>
              <a:rPr lang="en-US" altLang="zh-CN" baseline="-25000" dirty="0">
                <a:effectLst>
                  <a:outerShdw blurRad="38100" dist="38100" dir="2700000" algn="tl">
                    <a:srgbClr val="000000">
                      <a:alpha val="43137"/>
                    </a:srgbClr>
                  </a:outerShdw>
                </a:effectLst>
              </a:rPr>
              <a:t>2</a:t>
            </a:r>
            <a:r>
              <a:rPr lang="en-US" altLang="zh-CN" dirty="0">
                <a:effectLst>
                  <a:outerShdw blurRad="38100" dist="38100" dir="2700000" algn="tl">
                    <a:srgbClr val="000000">
                      <a:alpha val="43137"/>
                    </a:srgbClr>
                  </a:outerShdw>
                </a:effectLst>
              </a:rPr>
              <a:t>); ... </a:t>
            </a:r>
            <a:r>
              <a:rPr lang="en-US" altLang="zh-CN" dirty="0" err="1">
                <a:effectLst>
                  <a:outerShdw blurRad="38100" dist="38100" dir="2700000" algn="tl">
                    <a:srgbClr val="000000">
                      <a:alpha val="43137"/>
                    </a:srgbClr>
                  </a:outerShdw>
                </a:effectLst>
              </a:rPr>
              <a:t>t</a:t>
            </a:r>
            <a:r>
              <a:rPr lang="en-US" altLang="zh-CN" baseline="-25000" dirty="0" err="1">
                <a:effectLst>
                  <a:outerShdw blurRad="38100" dist="38100" dir="2700000" algn="tl">
                    <a:srgbClr val="000000">
                      <a:alpha val="43137"/>
                    </a:srgbClr>
                  </a:outerShdw>
                </a:effectLst>
              </a:rPr>
              <a:t>n</a:t>
            </a:r>
            <a:r>
              <a:rPr lang="en-US" altLang="zh-CN" dirty="0">
                <a:effectLst>
                  <a:outerShdw blurRad="38100" dist="38100" dir="2700000" algn="tl">
                    <a:srgbClr val="000000">
                      <a:alpha val="43137"/>
                    </a:srgbClr>
                  </a:outerShdw>
                </a:effectLst>
              </a:rPr>
              <a:t>=op(t</a:t>
            </a:r>
            <a:r>
              <a:rPr lang="en-US" altLang="zh-CN" baseline="-25000" dirty="0">
                <a:effectLst>
                  <a:outerShdw blurRad="38100" dist="38100" dir="2700000" algn="tl">
                    <a:srgbClr val="000000">
                      <a:alpha val="43137"/>
                    </a:srgbClr>
                  </a:outerShdw>
                </a:effectLst>
              </a:rPr>
              <a:t>n-1</a:t>
            </a:r>
            <a:r>
              <a:rPr lang="en-US" altLang="zh-CN" dirty="0">
                <a:effectLst>
                  <a:outerShdw blurRad="38100" dist="38100" dir="2700000" algn="tl">
                    <a:srgbClr val="000000">
                      <a:alpha val="43137"/>
                    </a:srgbClr>
                  </a:outerShdw>
                </a:effectLst>
              </a:rPr>
              <a:t>,e</a:t>
            </a:r>
            <a:r>
              <a:rPr lang="en-US" altLang="zh-CN" baseline="-25000" dirty="0">
                <a:effectLst>
                  <a:outerShdw blurRad="38100" dist="38100" dir="2700000" algn="tl">
                    <a:srgbClr val="000000">
                      <a:alpha val="43137"/>
                    </a:srgbClr>
                  </a:outerShdw>
                </a:effectLst>
              </a:rPr>
              <a:t>n</a:t>
            </a:r>
            <a:r>
              <a:rPr lang="en-US" altLang="zh-CN" dirty="0">
                <a:effectLst>
                  <a:outerShdw blurRad="38100" dist="38100" dir="2700000" algn="tl">
                    <a:srgbClr val="000000">
                      <a:alpha val="43137"/>
                    </a:srgbClr>
                  </a:outerShdw>
                </a:effectLst>
              </a:rPr>
              <a:t>); </a:t>
            </a:r>
          </a:p>
          <a:p>
            <a:pPr marL="534988" lvl="2" indent="0">
              <a:buFont typeface="Wingdings" panose="05000000000000000000" pitchFamily="2" charset="2"/>
              <a:buNone/>
              <a:defRPr/>
            </a:pPr>
            <a:endParaRPr lang="en-US" altLang="zh-CN" dirty="0">
              <a:solidFill>
                <a:srgbClr val="92D050"/>
              </a:solidFill>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en-US" altLang="zh-CN" dirty="0" err="1">
                <a:solidFill>
                  <a:srgbClr val="92D05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a:t>
            </a:r>
            <a:r>
              <a:rPr lang="en-US" altLang="zh-CN" dirty="0">
                <a:solidFill>
                  <a:srgbClr val="FFC000"/>
                </a:solidFill>
                <a:effectLst>
                  <a:outerShdw blurRad="38100" dist="38100" dir="2700000" algn="tl">
                    <a:srgbClr val="000000">
                      <a:alpha val="43137"/>
                    </a:srgbClr>
                  </a:outerShdw>
                </a:effectLst>
              </a:rPr>
              <a:t>f1</a:t>
            </a:r>
            <a:r>
              <a:rPr lang="en-US" altLang="zh-CN" dirty="0">
                <a:effectLst>
                  <a:outerShdw blurRad="38100" dist="38100" dir="2700000" algn="tl">
                    <a:srgbClr val="000000">
                      <a:alpha val="43137"/>
                    </a:srgbClr>
                  </a:outerShdw>
                </a:effectLst>
              </a:rPr>
              <a:t>(</a:t>
            </a:r>
            <a:r>
              <a:rPr lang="en-US" altLang="zh-CN" dirty="0" err="1">
                <a:solidFill>
                  <a:srgbClr val="92D05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partial, </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x) { return partial</a:t>
            </a:r>
            <a:r>
              <a:rPr lang="zh-CN" altLang="en-US" dirty="0">
                <a:effectLst>
                  <a:outerShdw blurRad="38100" dist="38100" dir="2700000" algn="tl">
                    <a:srgbClr val="000000">
                      <a:alpha val="43137"/>
                    </a:srgbClr>
                  </a:outerShdw>
                </a:effectLst>
              </a:rPr>
              <a:t>*</a:t>
            </a:r>
            <a:r>
              <a:rPr lang="en-US" altLang="zh-CN" dirty="0">
                <a:effectLst>
                  <a:outerShdw blurRad="38100" dist="38100" dir="2700000" algn="tl">
                    <a:srgbClr val="000000">
                      <a:alpha val="43137"/>
                    </a:srgbClr>
                  </a:outerShdw>
                </a:effectLst>
              </a:rPr>
              <a:t>x; }</a:t>
            </a:r>
          </a:p>
          <a:p>
            <a:pPr marL="534988" lvl="2" indent="0">
              <a:buFont typeface="Wingdings" panose="05000000000000000000" pitchFamily="2" charset="2"/>
              <a:buNone/>
              <a:defRPr/>
            </a:pPr>
            <a:r>
              <a:rPr lang="en-US" altLang="zh-CN" dirty="0" err="1">
                <a:solidFill>
                  <a:srgbClr val="92D05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a:t>
            </a:r>
            <a:r>
              <a:rPr lang="en-US" altLang="zh-CN" dirty="0">
                <a:solidFill>
                  <a:srgbClr val="FFC000"/>
                </a:solidFill>
                <a:effectLst>
                  <a:outerShdw blurRad="38100" dist="38100" dir="2700000" algn="tl">
                    <a:srgbClr val="000000">
                      <a:alpha val="43137"/>
                    </a:srgbClr>
                  </a:outerShdw>
                </a:effectLst>
              </a:rPr>
              <a:t>f2</a:t>
            </a:r>
            <a:r>
              <a:rPr lang="en-US" altLang="zh-CN" dirty="0">
                <a:effectLst>
                  <a:outerShdw blurRad="38100" dist="38100" dir="2700000" algn="tl">
                    <a:srgbClr val="000000">
                      <a:alpha val="43137"/>
                    </a:srgbClr>
                  </a:outerShdw>
                </a:effectLst>
              </a:rPr>
              <a:t>(</a:t>
            </a:r>
            <a:r>
              <a:rPr lang="en-US" altLang="zh-CN" dirty="0" err="1">
                <a:solidFill>
                  <a:srgbClr val="92D05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partial, </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x) { return </a:t>
            </a:r>
            <a:r>
              <a:rPr lang="en-US" altLang="zh-CN" dirty="0" err="1">
                <a:effectLst>
                  <a:outerShdw blurRad="38100" dist="38100" dir="2700000" algn="tl">
                    <a:srgbClr val="000000">
                      <a:alpha val="43137"/>
                    </a:srgbClr>
                  </a:outerShdw>
                </a:effectLst>
              </a:rPr>
              <a:t>partial+x</a:t>
            </a:r>
            <a:r>
              <a:rPr lang="zh-CN" altLang="en-US" dirty="0">
                <a:effectLst>
                  <a:outerShdw blurRad="38100" dist="38100" dir="2700000" algn="tl">
                    <a:srgbClr val="000000">
                      <a:alpha val="43137"/>
                    </a:srgbClr>
                  </a:outerShdw>
                </a:effectLst>
              </a:rPr>
              <a:t>*</a:t>
            </a:r>
            <a:r>
              <a:rPr lang="en-US" altLang="zh-CN" dirty="0">
                <a:effectLst>
                  <a:outerShdw blurRad="38100" dist="38100" dir="2700000" algn="tl">
                    <a:srgbClr val="000000">
                      <a:alpha val="43137"/>
                    </a:srgbClr>
                  </a:outerShdw>
                </a:effectLst>
              </a:rPr>
              <a:t>x; }</a:t>
            </a:r>
          </a:p>
          <a:p>
            <a:pPr marL="534988" lvl="2" indent="0">
              <a:buFont typeface="Wingdings" panose="05000000000000000000" pitchFamily="2" charset="2"/>
              <a:buNone/>
              <a:defRPr/>
            </a:pPr>
            <a:r>
              <a:rPr lang="en-US" altLang="zh-CN" dirty="0">
                <a:solidFill>
                  <a:srgbClr val="92D050"/>
                </a:solidFill>
                <a:effectLst>
                  <a:outerShdw blurRad="38100" dist="38100" dir="2700000" algn="tl">
                    <a:srgbClr val="000000">
                      <a:alpha val="43137"/>
                    </a:srgbClr>
                  </a:outerShdw>
                </a:effectLst>
              </a:rPr>
              <a:t>double</a:t>
            </a:r>
            <a:r>
              <a:rPr lang="en-US" altLang="zh-CN" dirty="0">
                <a:effectLst>
                  <a:outerShdw blurRad="38100" dist="38100" dir="2700000" algn="tl">
                    <a:srgbClr val="000000">
                      <a:alpha val="43137"/>
                    </a:srgbClr>
                  </a:outerShdw>
                </a:effectLst>
              </a:rPr>
              <a:t> </a:t>
            </a:r>
            <a:r>
              <a:rPr lang="en-US" altLang="zh-CN" dirty="0">
                <a:solidFill>
                  <a:srgbClr val="FFC000"/>
                </a:solidFill>
                <a:effectLst>
                  <a:outerShdw blurRad="38100" dist="38100" dir="2700000" algn="tl">
                    <a:srgbClr val="000000">
                      <a:alpha val="43137"/>
                    </a:srgbClr>
                  </a:outerShdw>
                </a:effectLst>
              </a:rPr>
              <a:t>f3</a:t>
            </a:r>
            <a:r>
              <a:rPr lang="en-US" altLang="zh-CN" dirty="0">
                <a:effectLst>
                  <a:outerShdw blurRad="38100" dist="38100" dir="2700000" algn="tl">
                    <a:srgbClr val="000000">
                      <a:alpha val="43137"/>
                    </a:srgbClr>
                  </a:outerShdw>
                </a:effectLst>
              </a:rPr>
              <a:t>(</a:t>
            </a:r>
            <a:r>
              <a:rPr lang="en-US" altLang="zh-CN" dirty="0">
                <a:solidFill>
                  <a:srgbClr val="92D050"/>
                </a:solidFill>
                <a:effectLst>
                  <a:outerShdw blurRad="38100" dist="38100" dir="2700000" algn="tl">
                    <a:srgbClr val="000000">
                      <a:alpha val="43137"/>
                    </a:srgbClr>
                  </a:outerShdw>
                </a:effectLst>
              </a:rPr>
              <a:t>double</a:t>
            </a:r>
            <a:r>
              <a:rPr lang="en-US" altLang="zh-CN" dirty="0">
                <a:effectLst>
                  <a:outerShdw blurRad="38100" dist="38100" dir="2700000" algn="tl">
                    <a:srgbClr val="000000">
                      <a:alpha val="43137"/>
                    </a:srgbClr>
                  </a:outerShdw>
                </a:effectLst>
              </a:rPr>
              <a:t> partial, </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x) { return partial+1.0/x; }</a:t>
            </a: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vector&lt;</a:t>
            </a:r>
            <a:r>
              <a:rPr lang="en-US" altLang="zh-CN" dirty="0" err="1">
                <a:solidFill>
                  <a:srgbClr val="FFC000"/>
                </a:solidFill>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&gt; v;</a:t>
            </a:r>
          </a:p>
          <a:p>
            <a:pPr marL="534988"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往容器中放了元素</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fr-FR" altLang="zh-CN" dirty="0">
                <a:effectLst/>
              </a:rPr>
              <a:t>accumulate</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v.begin</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v.end</a:t>
            </a:r>
            <a:r>
              <a:rPr lang="en-US" altLang="zh-CN" dirty="0">
                <a:effectLst>
                  <a:outerShdw blurRad="38100" dist="38100" dir="2700000" algn="tl">
                    <a:srgbClr val="000000">
                      <a:alpha val="43137"/>
                    </a:srgbClr>
                  </a:outerShdw>
                </a:effectLst>
              </a:rPr>
              <a:t>(),0); //</a:t>
            </a:r>
            <a:r>
              <a:rPr lang="zh-CN" altLang="en-US" dirty="0">
                <a:effectLst>
                  <a:outerShdw blurRad="38100" dist="38100" dir="2700000" algn="tl">
                    <a:srgbClr val="000000">
                      <a:alpha val="43137"/>
                    </a:srgbClr>
                  </a:outerShdw>
                </a:effectLst>
              </a:rPr>
              <a:t>所有元素和</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fr-FR" altLang="zh-CN" dirty="0">
                <a:effectLst/>
              </a:rPr>
              <a:t>accumulate</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v.begin</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v.end</a:t>
            </a:r>
            <a:r>
              <a:rPr lang="en-US" altLang="zh-CN" dirty="0">
                <a:effectLst>
                  <a:outerShdw blurRad="38100" dist="38100" dir="2700000" algn="tl">
                    <a:srgbClr val="000000">
                      <a:alpha val="43137"/>
                    </a:srgbClr>
                  </a:outerShdw>
                </a:effectLst>
              </a:rPr>
              <a:t>(),</a:t>
            </a:r>
            <a:r>
              <a:rPr lang="en-US" altLang="zh-CN" dirty="0">
                <a:solidFill>
                  <a:srgbClr val="92D050"/>
                </a:solidFill>
                <a:effectLst>
                  <a:outerShdw blurRad="38100" dist="38100" dir="2700000" algn="tl">
                    <a:srgbClr val="000000">
                      <a:alpha val="43137"/>
                    </a:srgbClr>
                  </a:outerShdw>
                </a:effectLst>
              </a:rPr>
              <a:t>1</a:t>
            </a:r>
            <a:r>
              <a:rPr lang="en-US" altLang="zh-CN" dirty="0">
                <a:effectLst>
                  <a:outerShdw blurRad="38100" dist="38100" dir="2700000" algn="tl">
                    <a:srgbClr val="000000">
                      <a:alpha val="43137"/>
                    </a:srgbClr>
                  </a:outerShdw>
                </a:effectLst>
              </a:rPr>
              <a:t>,</a:t>
            </a:r>
            <a:r>
              <a:rPr lang="en-US" altLang="zh-CN" dirty="0">
                <a:solidFill>
                  <a:srgbClr val="FFC000"/>
                </a:solidFill>
                <a:effectLst>
                  <a:outerShdw blurRad="38100" dist="38100" dir="2700000" algn="tl">
                    <a:srgbClr val="000000">
                      <a:alpha val="43137"/>
                    </a:srgbClr>
                  </a:outerShdw>
                </a:effectLst>
              </a:rPr>
              <a:t>f1</a:t>
            </a: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所有元素的乘积</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fr-FR" altLang="zh-CN" dirty="0">
                <a:effectLst/>
              </a:rPr>
              <a:t>accumulate</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v.begin</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v.end</a:t>
            </a:r>
            <a:r>
              <a:rPr lang="en-US" altLang="zh-CN" dirty="0">
                <a:effectLst>
                  <a:outerShdw blurRad="38100" dist="38100" dir="2700000" algn="tl">
                    <a:srgbClr val="000000">
                      <a:alpha val="43137"/>
                    </a:srgbClr>
                  </a:outerShdw>
                </a:effectLst>
              </a:rPr>
              <a:t>(),</a:t>
            </a:r>
            <a:r>
              <a:rPr lang="en-US" altLang="zh-CN" dirty="0">
                <a:solidFill>
                  <a:srgbClr val="92D050"/>
                </a:solidFill>
                <a:effectLst>
                  <a:outerShdw blurRad="38100" dist="38100" dir="2700000" algn="tl">
                    <a:srgbClr val="000000">
                      <a:alpha val="43137"/>
                    </a:srgbClr>
                  </a:outerShdw>
                </a:effectLst>
              </a:rPr>
              <a:t>0</a:t>
            </a:r>
            <a:r>
              <a:rPr lang="en-US" altLang="zh-CN" dirty="0">
                <a:effectLst>
                  <a:outerShdw blurRad="38100" dist="38100" dir="2700000" algn="tl">
                    <a:srgbClr val="000000">
                      <a:alpha val="43137"/>
                    </a:srgbClr>
                  </a:outerShdw>
                </a:effectLst>
              </a:rPr>
              <a:t>,</a:t>
            </a:r>
            <a:r>
              <a:rPr lang="en-US" altLang="zh-CN" dirty="0">
                <a:solidFill>
                  <a:srgbClr val="FFC000"/>
                </a:solidFill>
                <a:effectLst>
                  <a:outerShdw blurRad="38100" dist="38100" dir="2700000" algn="tl">
                    <a:srgbClr val="000000">
                      <a:alpha val="43137"/>
                    </a:srgbClr>
                  </a:outerShdw>
                </a:effectLst>
              </a:rPr>
              <a:t>f2</a:t>
            </a: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所有元素平方和</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r>
              <a:rPr lang="fr-FR" altLang="zh-CN" dirty="0">
                <a:effectLst/>
              </a:rPr>
              <a:t>accumulate</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v.begin</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v.end</a:t>
            </a:r>
            <a:r>
              <a:rPr lang="en-US" altLang="zh-CN" dirty="0">
                <a:effectLst>
                  <a:outerShdw blurRad="38100" dist="38100" dir="2700000" algn="tl">
                    <a:srgbClr val="000000">
                      <a:alpha val="43137"/>
                    </a:srgbClr>
                  </a:outerShdw>
                </a:effectLst>
              </a:rPr>
              <a:t>(),</a:t>
            </a:r>
            <a:r>
              <a:rPr lang="en-US" altLang="zh-CN" dirty="0">
                <a:solidFill>
                  <a:srgbClr val="92D050"/>
                </a:solidFill>
                <a:effectLst>
                  <a:outerShdw blurRad="38100" dist="38100" dir="2700000" algn="tl">
                    <a:srgbClr val="000000">
                      <a:alpha val="43137"/>
                    </a:srgbClr>
                  </a:outerShdw>
                </a:effectLst>
              </a:rPr>
              <a:t>0.0</a:t>
            </a:r>
            <a:r>
              <a:rPr lang="en-US" altLang="zh-CN" dirty="0">
                <a:effectLst>
                  <a:outerShdw blurRad="38100" dist="38100" dir="2700000" algn="tl">
                    <a:srgbClr val="000000">
                      <a:alpha val="43137"/>
                    </a:srgbClr>
                  </a:outerShdw>
                </a:effectLst>
              </a:rPr>
              <a:t>,</a:t>
            </a:r>
            <a:r>
              <a:rPr lang="en-US" altLang="zh-CN" dirty="0">
                <a:solidFill>
                  <a:srgbClr val="FFC000"/>
                </a:solidFill>
                <a:effectLst>
                  <a:outerShdw blurRad="38100" dist="38100" dir="2700000" algn="tl">
                    <a:srgbClr val="000000">
                      <a:alpha val="43137"/>
                    </a:srgbClr>
                  </a:outerShdw>
                </a:effectLst>
              </a:rPr>
              <a:t>f3</a:t>
            </a: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所有元素倒数和</a:t>
            </a:r>
            <a:endParaRPr lang="en-US" altLang="zh-CN" dirty="0">
              <a:effectLst>
                <a:outerShdw blurRad="38100" dist="38100" dir="2700000" algn="tl">
                  <a:srgbClr val="000000">
                    <a:alpha val="43137"/>
                  </a:srgbClr>
                </a:outerShdw>
              </a:effectLst>
            </a:endParaRPr>
          </a:p>
          <a:p>
            <a:pPr marL="534988" lvl="2" indent="0">
              <a:buFont typeface="Wingdings" panose="05000000000000000000" pitchFamily="2" charset="2"/>
              <a:buNone/>
              <a:defRPr/>
            </a:pPr>
            <a:endParaRPr lang="en-US" altLang="zh-CN" dirty="0">
              <a:effectLst>
                <a:outerShdw blurRad="38100" dist="38100" dir="2700000" algn="tl">
                  <a:srgbClr val="000000">
                    <a:alpha val="43137"/>
                  </a:srgbClr>
                </a:outerShdw>
              </a:effectLst>
            </a:endParaRPr>
          </a:p>
          <a:p>
            <a:pPr>
              <a:defRPr/>
            </a:pP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B29EE5D-13AF-121B-7A0A-A2FB7B3ADC9D}"/>
              </a:ext>
            </a:extLst>
          </p:cNvPr>
          <p:cNvSpPr>
            <a:spLocks noGrp="1"/>
          </p:cNvSpPr>
          <p:nvPr>
            <p:ph idx="1"/>
          </p:nvPr>
        </p:nvSpPr>
        <p:spPr>
          <a:xfrm>
            <a:off x="107950" y="765175"/>
            <a:ext cx="8856663" cy="5400675"/>
          </a:xfrm>
        </p:spPr>
        <p:txBody>
          <a:bodyPr>
            <a:normAutofit fontScale="92500" lnSpcReduction="20000"/>
          </a:bodyPr>
          <a:lstStyle/>
          <a:p>
            <a:pPr>
              <a:defRPr/>
            </a:pPr>
            <a:r>
              <a:rPr lang="zh-CN" altLang="en-US" dirty="0"/>
              <a:t>再例如，对于下面的元素“</a:t>
            </a:r>
            <a:r>
              <a:rPr lang="zh-CN" altLang="en-US" dirty="0">
                <a:solidFill>
                  <a:srgbClr val="FFC000"/>
                </a:solidFill>
              </a:rPr>
              <a:t>变换</a:t>
            </a:r>
            <a:r>
              <a:rPr lang="zh-CN" altLang="en-US" dirty="0"/>
              <a:t>”算法：</a:t>
            </a:r>
            <a:endParaRPr lang="en-US" altLang="zh-CN" dirty="0"/>
          </a:p>
          <a:p>
            <a:pPr marL="877888" lvl="2" indent="-342900">
              <a:defRPr/>
            </a:pPr>
            <a:r>
              <a:rPr lang="fr-FR" altLang="zh-CN" dirty="0">
                <a:effectLst>
                  <a:outerShdw blurRad="38100" dist="38100" dir="2700000" algn="tl">
                    <a:srgbClr val="000000">
                      <a:alpha val="43137"/>
                    </a:srgbClr>
                  </a:outerShdw>
                </a:effectLst>
              </a:rPr>
              <a:t>OutIt </a:t>
            </a:r>
            <a:r>
              <a:rPr lang="fr-FR" altLang="zh-CN" dirty="0">
                <a:solidFill>
                  <a:srgbClr val="FFC000"/>
                </a:solidFill>
                <a:effectLst>
                  <a:outerShdw blurRad="38100" dist="38100" dir="2700000" algn="tl">
                    <a:srgbClr val="000000">
                      <a:alpha val="43137"/>
                    </a:srgbClr>
                  </a:outerShdw>
                </a:effectLst>
              </a:rPr>
              <a:t>transform</a:t>
            </a:r>
            <a:r>
              <a:rPr lang="fr-FR" altLang="zh-CN" dirty="0">
                <a:effectLst>
                  <a:outerShdw blurRad="38100" dist="38100" dir="2700000" algn="tl">
                    <a:srgbClr val="000000">
                      <a:alpha val="43137"/>
                    </a:srgbClr>
                  </a:outerShdw>
                </a:effectLst>
              </a:rPr>
              <a:t>(InIt src_first, InIt src_last, </a:t>
            </a:r>
          </a:p>
          <a:p>
            <a:pPr marL="534988" lvl="2" indent="0">
              <a:buFont typeface="Wingdings" panose="05000000000000000000" pitchFamily="2" charset="2"/>
              <a:buNone/>
              <a:defRPr/>
            </a:pPr>
            <a:r>
              <a:rPr lang="fr-FR" altLang="zh-CN" dirty="0">
                <a:effectLst>
                  <a:outerShdw blurRad="38100" dist="38100" dir="2700000" algn="tl">
                    <a:srgbClr val="000000">
                      <a:alpha val="43137"/>
                    </a:srgbClr>
                  </a:outerShdw>
                </a:effectLst>
              </a:rPr>
              <a:t>                           OutIt dst_first, Op </a:t>
            </a:r>
            <a:r>
              <a:rPr lang="fr-FR" altLang="zh-CN" dirty="0">
                <a:solidFill>
                  <a:srgbClr val="FFC000"/>
                </a:solidFill>
                <a:effectLst>
                  <a:outerShdw blurRad="38100" dist="38100" dir="2700000" algn="tl">
                    <a:srgbClr val="000000">
                      <a:alpha val="43137"/>
                    </a:srgbClr>
                  </a:outerShdw>
                </a:effectLst>
              </a:rPr>
              <a:t>f</a:t>
            </a:r>
            <a:r>
              <a:rPr lang="fr-FR" altLang="zh-CN" dirty="0">
                <a:effectLst>
                  <a:outerShdw blurRad="38100" dist="38100" dir="2700000" algn="tl">
                    <a:srgbClr val="000000">
                      <a:alpha val="43137"/>
                    </a:srgbClr>
                  </a:outerShdw>
                </a:effectLst>
              </a:rPr>
              <a:t>);</a:t>
            </a:r>
          </a:p>
          <a:p>
            <a:pPr marL="877888" lvl="2" indent="-342900">
              <a:defRPr/>
            </a:pPr>
            <a:r>
              <a:rPr lang="fr-FR" altLang="zh-CN" dirty="0">
                <a:effectLst>
                  <a:outerShdw blurRad="38100" dist="38100" dir="2700000" algn="tl">
                    <a:srgbClr val="000000">
                      <a:alpha val="43137"/>
                    </a:srgbClr>
                  </a:outerShdw>
                </a:effectLst>
              </a:rPr>
              <a:t>OutIt </a:t>
            </a:r>
            <a:r>
              <a:rPr lang="fr-FR" altLang="zh-CN" dirty="0">
                <a:solidFill>
                  <a:srgbClr val="FFC000"/>
                </a:solidFill>
                <a:effectLst>
                  <a:outerShdw blurRad="38100" dist="38100" dir="2700000" algn="tl">
                    <a:srgbClr val="000000">
                      <a:alpha val="43137"/>
                    </a:srgbClr>
                  </a:outerShdw>
                </a:effectLst>
              </a:rPr>
              <a:t>transform</a:t>
            </a:r>
            <a:r>
              <a:rPr lang="fr-FR" altLang="zh-CN" dirty="0">
                <a:effectLst>
                  <a:outerShdw blurRad="38100" dist="38100" dir="2700000" algn="tl">
                    <a:srgbClr val="000000">
                      <a:alpha val="43137"/>
                    </a:srgbClr>
                  </a:outerShdw>
                </a:effectLst>
              </a:rPr>
              <a:t>(InIt1 src_first1, InIt1 src_last1, </a:t>
            </a:r>
          </a:p>
          <a:p>
            <a:pPr marL="534988" lvl="2" indent="0">
              <a:buFont typeface="Wingdings" panose="05000000000000000000" pitchFamily="2" charset="2"/>
              <a:buNone/>
              <a:defRPr/>
            </a:pPr>
            <a:r>
              <a:rPr lang="fr-FR" altLang="zh-CN" dirty="0">
                <a:effectLst>
                  <a:outerShdw blurRad="38100" dist="38100" dir="2700000" algn="tl">
                    <a:srgbClr val="000000">
                      <a:alpha val="43137"/>
                    </a:srgbClr>
                  </a:outerShdw>
                </a:effectLst>
              </a:rPr>
              <a:t>                       InIt2 src_first2, OutIt dst_first, BinOp </a:t>
            </a:r>
            <a:r>
              <a:rPr lang="fr-FR" altLang="zh-CN" dirty="0">
                <a:solidFill>
                  <a:srgbClr val="FFC000"/>
                </a:solidFill>
                <a:effectLst>
                  <a:outerShdw blurRad="38100" dist="38100" dir="2700000" algn="tl">
                    <a:srgbClr val="000000">
                      <a:alpha val="43137"/>
                    </a:srgbClr>
                  </a:outerShdw>
                </a:effectLst>
              </a:rPr>
              <a:t>f</a:t>
            </a:r>
            <a:r>
              <a:rPr lang="fr-FR" altLang="zh-CN" dirty="0">
                <a:effectLst>
                  <a:outerShdw blurRad="38100" dist="38100" dir="2700000" algn="tl">
                    <a:srgbClr val="000000">
                      <a:alpha val="43137"/>
                    </a:srgbClr>
                  </a:outerShdw>
                </a:effectLst>
              </a:rPr>
              <a:t>);</a:t>
            </a:r>
          </a:p>
          <a:p>
            <a:pPr marL="534988" lvl="2" indent="0">
              <a:buFont typeface="Wingdings" panose="05000000000000000000" pitchFamily="2" charset="2"/>
              <a:buNone/>
              <a:defRPr/>
            </a:pPr>
            <a:endParaRPr lang="en-US" altLang="zh-CN" dirty="0">
              <a:effectLst>
                <a:outerShdw blurRad="38100" dist="38100" dir="2700000" algn="tl">
                  <a:srgbClr val="000000">
                    <a:alpha val="43137"/>
                  </a:srgbClr>
                </a:outerShdw>
              </a:effectLst>
            </a:endParaRPr>
          </a:p>
          <a:p>
            <a:pPr marL="269875" lvl="2" indent="0">
              <a:buFont typeface="Wingdings" panose="05000000000000000000" pitchFamily="2" charset="2"/>
              <a:buNone/>
              <a:defRPr/>
            </a:pPr>
            <a:r>
              <a:rPr lang="en-US" altLang="zh-CN" dirty="0" err="1">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a:t>
            </a:r>
            <a:r>
              <a:rPr lang="en-US" altLang="zh-CN" dirty="0">
                <a:solidFill>
                  <a:srgbClr val="FFC000"/>
                </a:solidFill>
                <a:effectLst>
                  <a:outerShdw blurRad="38100" dist="38100" dir="2700000" algn="tl">
                    <a:srgbClr val="000000">
                      <a:alpha val="43137"/>
                    </a:srgbClr>
                  </a:outerShdw>
                </a:effectLst>
              </a:rPr>
              <a:t>f1</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x) { return x*x; }</a:t>
            </a:r>
          </a:p>
          <a:p>
            <a:pPr marL="269875" lvl="2" indent="0">
              <a:buFont typeface="Wingdings" panose="05000000000000000000" pitchFamily="2" charset="2"/>
              <a:buNone/>
              <a:defRPr/>
            </a:pPr>
            <a:r>
              <a:rPr lang="en-US" altLang="zh-CN" dirty="0" err="1">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a:t>
            </a:r>
            <a:r>
              <a:rPr lang="en-US" altLang="zh-CN" dirty="0">
                <a:solidFill>
                  <a:srgbClr val="FFC000"/>
                </a:solidFill>
                <a:effectLst>
                  <a:outerShdw blurRad="38100" dist="38100" dir="2700000" algn="tl">
                    <a:srgbClr val="000000">
                      <a:alpha val="43137"/>
                    </a:srgbClr>
                  </a:outerShdw>
                </a:effectLst>
              </a:rPr>
              <a:t>f2</a:t>
            </a:r>
            <a:r>
              <a:rPr lang="en-US" altLang="zh-CN" dirty="0">
                <a:effectLst>
                  <a:outerShdw blurRad="38100" dist="38100" dir="2700000" algn="tl">
                    <a:srgbClr val="000000">
                      <a:alpha val="43137"/>
                    </a:srgbClr>
                  </a:outerShdw>
                </a:effectLst>
              </a:rPr>
              <a:t>(</a:t>
            </a:r>
            <a:r>
              <a:rPr lang="en-US" altLang="zh-CN" dirty="0" err="1">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x1, </a:t>
            </a:r>
            <a:r>
              <a:rPr lang="en-US" altLang="zh-CN" dirty="0" err="1">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x2) { return x1+x2; }</a:t>
            </a:r>
          </a:p>
          <a:p>
            <a:pPr marL="269875"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vector&lt;</a:t>
            </a:r>
            <a:r>
              <a:rPr lang="en-US" altLang="zh-CN" dirty="0" err="1">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&gt; v1,v2,v3,v4;</a:t>
            </a:r>
          </a:p>
          <a:p>
            <a:pPr marL="269875"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 //</a:t>
            </a:r>
            <a:r>
              <a:rPr lang="zh-CN" altLang="en-US" dirty="0">
                <a:effectLst>
                  <a:outerShdw blurRad="38100" dist="38100" dir="2700000" algn="tl">
                    <a:srgbClr val="000000">
                      <a:alpha val="43137"/>
                    </a:srgbClr>
                  </a:outerShdw>
                </a:effectLst>
              </a:rPr>
              <a:t>往</a:t>
            </a:r>
            <a:r>
              <a:rPr lang="en-US" altLang="zh-CN" dirty="0">
                <a:effectLst>
                  <a:outerShdw blurRad="38100" dist="38100" dir="2700000" algn="tl">
                    <a:srgbClr val="000000">
                      <a:alpha val="43137"/>
                    </a:srgbClr>
                  </a:outerShdw>
                </a:effectLst>
              </a:rPr>
              <a:t>v1</a:t>
            </a:r>
            <a:r>
              <a:rPr lang="zh-CN" altLang="en-US" dirty="0">
                <a:effectLst>
                  <a:outerShdw blurRad="38100" dist="38100" dir="2700000" algn="tl">
                    <a:srgbClr val="000000">
                      <a:alpha val="43137"/>
                    </a:srgbClr>
                  </a:outerShdw>
                </a:effectLst>
              </a:rPr>
              <a:t>和</a:t>
            </a:r>
            <a:r>
              <a:rPr lang="en-US" altLang="zh-CN" dirty="0">
                <a:effectLst>
                  <a:outerShdw blurRad="38100" dist="38100" dir="2700000" algn="tl">
                    <a:srgbClr val="000000">
                      <a:alpha val="43137"/>
                    </a:srgbClr>
                  </a:outerShdw>
                </a:effectLst>
              </a:rPr>
              <a:t>v2</a:t>
            </a:r>
            <a:r>
              <a:rPr lang="zh-CN" altLang="en-US" dirty="0">
                <a:effectLst>
                  <a:outerShdw blurRad="38100" dist="38100" dir="2700000" algn="tl">
                    <a:srgbClr val="000000">
                      <a:alpha val="43137"/>
                    </a:srgbClr>
                  </a:outerShdw>
                </a:effectLst>
              </a:rPr>
              <a:t>容器中放了元素</a:t>
            </a:r>
            <a:endParaRPr lang="en-US" altLang="zh-CN" dirty="0">
              <a:effectLst>
                <a:outerShdw blurRad="38100" dist="38100" dir="2700000" algn="tl">
                  <a:srgbClr val="000000">
                    <a:alpha val="43137"/>
                  </a:srgbClr>
                </a:outerShdw>
              </a:effectLst>
            </a:endParaRPr>
          </a:p>
          <a:p>
            <a:pPr marL="269875" lvl="2" indent="0">
              <a:buFont typeface="Wingdings" panose="05000000000000000000" pitchFamily="2" charset="2"/>
              <a:buNone/>
              <a:defRPr/>
            </a:pPr>
            <a:r>
              <a:rPr lang="fr-FR" altLang="zh-CN" dirty="0">
                <a:effectLst>
                  <a:outerShdw blurRad="38100" dist="38100" dir="2700000" algn="tl">
                    <a:srgbClr val="000000">
                      <a:alpha val="43137"/>
                    </a:srgbClr>
                  </a:outerShdw>
                </a:effectLst>
              </a:rPr>
              <a:t>transform</a:t>
            </a:r>
            <a:r>
              <a:rPr lang="en-US" altLang="zh-CN" dirty="0">
                <a:effectLst>
                  <a:outerShdw blurRad="38100" dist="38100" dir="2700000" algn="tl">
                    <a:srgbClr val="000000">
                      <a:alpha val="43137"/>
                    </a:srgbClr>
                  </a:outerShdw>
                </a:effectLst>
              </a:rPr>
              <a:t>(v1.begin(),v1.end(),</a:t>
            </a:r>
            <a:r>
              <a:rPr lang="en-US" altLang="zh-CN" dirty="0" err="1">
                <a:effectLst>
                  <a:outerShdw blurRad="38100" dist="38100" dir="2700000" algn="tl">
                    <a:srgbClr val="000000">
                      <a:alpha val="43137"/>
                    </a:srgbClr>
                  </a:outerShdw>
                </a:effectLst>
              </a:rPr>
              <a:t>back_inserter</a:t>
            </a:r>
            <a:r>
              <a:rPr lang="en-US" altLang="zh-CN" dirty="0">
                <a:effectLst>
                  <a:outerShdw blurRad="38100" dist="38100" dir="2700000" algn="tl">
                    <a:srgbClr val="000000">
                      <a:alpha val="43137"/>
                    </a:srgbClr>
                  </a:outerShdw>
                </a:effectLst>
              </a:rPr>
              <a:t>(v3),</a:t>
            </a:r>
            <a:r>
              <a:rPr lang="en-US" altLang="zh-CN" dirty="0">
                <a:solidFill>
                  <a:srgbClr val="FFC000"/>
                </a:solidFill>
                <a:effectLst>
                  <a:outerShdw blurRad="38100" dist="38100" dir="2700000" algn="tl">
                    <a:srgbClr val="000000">
                      <a:alpha val="43137"/>
                    </a:srgbClr>
                  </a:outerShdw>
                </a:effectLst>
              </a:rPr>
              <a:t>f1</a:t>
            </a:r>
            <a:r>
              <a:rPr lang="en-US" altLang="zh-CN" dirty="0">
                <a:effectLst>
                  <a:outerShdw blurRad="38100" dist="38100" dir="2700000" algn="tl">
                    <a:srgbClr val="000000">
                      <a:alpha val="43137"/>
                    </a:srgbClr>
                  </a:outerShdw>
                </a:effectLst>
              </a:rPr>
              <a:t>); </a:t>
            </a:r>
          </a:p>
          <a:p>
            <a:pPr marL="269875"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				//v3</a:t>
            </a:r>
            <a:r>
              <a:rPr lang="zh-CN" altLang="en-US" dirty="0">
                <a:effectLst>
                  <a:outerShdw blurRad="38100" dist="38100" dir="2700000" algn="tl">
                    <a:srgbClr val="000000">
                      <a:alpha val="43137"/>
                    </a:srgbClr>
                  </a:outerShdw>
                </a:effectLst>
              </a:rPr>
              <a:t>中的元素是</a:t>
            </a:r>
            <a:r>
              <a:rPr lang="en-US" altLang="zh-CN" dirty="0">
                <a:effectLst>
                  <a:outerShdw blurRad="38100" dist="38100" dir="2700000" algn="tl">
                    <a:srgbClr val="000000">
                      <a:alpha val="43137"/>
                    </a:srgbClr>
                  </a:outerShdw>
                </a:effectLst>
              </a:rPr>
              <a:t>v1</a:t>
            </a:r>
            <a:r>
              <a:rPr lang="zh-CN" altLang="en-US" dirty="0">
                <a:effectLst>
                  <a:outerShdw blurRad="38100" dist="38100" dir="2700000" algn="tl">
                    <a:srgbClr val="000000">
                      <a:alpha val="43137"/>
                    </a:srgbClr>
                  </a:outerShdw>
                </a:effectLst>
              </a:rPr>
              <a:t>相应元素的平方</a:t>
            </a:r>
            <a:endParaRPr lang="en-US" altLang="zh-CN" dirty="0">
              <a:effectLst>
                <a:outerShdw blurRad="38100" dist="38100" dir="2700000" algn="tl">
                  <a:srgbClr val="000000">
                    <a:alpha val="43137"/>
                  </a:srgbClr>
                </a:outerShdw>
              </a:effectLst>
            </a:endParaRPr>
          </a:p>
          <a:p>
            <a:pPr marL="269875" lvl="2" indent="0">
              <a:buFont typeface="Wingdings" panose="05000000000000000000" pitchFamily="2" charset="2"/>
              <a:buNone/>
              <a:defRPr/>
            </a:pPr>
            <a:r>
              <a:rPr lang="fr-FR" altLang="zh-CN" dirty="0">
                <a:effectLst>
                  <a:outerShdw blurRad="38100" dist="38100" dir="2700000" algn="tl">
                    <a:srgbClr val="000000">
                      <a:alpha val="43137"/>
                    </a:srgbClr>
                  </a:outerShdw>
                </a:effectLst>
              </a:rPr>
              <a:t>transform</a:t>
            </a:r>
            <a:r>
              <a:rPr lang="en-US" altLang="zh-CN" dirty="0">
                <a:effectLst>
                  <a:outerShdw blurRad="38100" dist="38100" dir="2700000" algn="tl">
                    <a:srgbClr val="000000">
                      <a:alpha val="43137"/>
                    </a:srgbClr>
                  </a:outerShdw>
                </a:effectLst>
              </a:rPr>
              <a:t>(v1.begin(),v1.end(),v2.begin(), </a:t>
            </a:r>
          </a:p>
          <a:p>
            <a:pPr marL="269875"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					</a:t>
            </a:r>
            <a:r>
              <a:rPr lang="en-US" altLang="zh-CN" dirty="0" err="1">
                <a:effectLst>
                  <a:outerShdw blurRad="38100" dist="38100" dir="2700000" algn="tl">
                    <a:srgbClr val="000000">
                      <a:alpha val="43137"/>
                    </a:srgbClr>
                  </a:outerShdw>
                </a:effectLst>
              </a:rPr>
              <a:t>back_inserter</a:t>
            </a:r>
            <a:r>
              <a:rPr lang="en-US" altLang="zh-CN" dirty="0">
                <a:effectLst>
                  <a:outerShdw blurRad="38100" dist="38100" dir="2700000" algn="tl">
                    <a:srgbClr val="000000">
                      <a:alpha val="43137"/>
                    </a:srgbClr>
                  </a:outerShdw>
                </a:effectLst>
              </a:rPr>
              <a:t>(v4),</a:t>
            </a:r>
            <a:r>
              <a:rPr lang="en-US" altLang="zh-CN" dirty="0">
                <a:solidFill>
                  <a:srgbClr val="FFC000"/>
                </a:solidFill>
                <a:effectLst>
                  <a:outerShdw blurRad="38100" dist="38100" dir="2700000" algn="tl">
                    <a:srgbClr val="000000">
                      <a:alpha val="43137"/>
                    </a:srgbClr>
                  </a:outerShdw>
                </a:effectLst>
              </a:rPr>
              <a:t>f2</a:t>
            </a:r>
            <a:r>
              <a:rPr lang="en-US" altLang="zh-CN" dirty="0">
                <a:effectLst>
                  <a:outerShdw blurRad="38100" dist="38100" dir="2700000" algn="tl">
                    <a:srgbClr val="000000">
                      <a:alpha val="43137"/>
                    </a:srgbClr>
                  </a:outerShdw>
                </a:effectLst>
              </a:rPr>
              <a:t>); </a:t>
            </a:r>
          </a:p>
          <a:p>
            <a:pPr marL="269875" lvl="2" indent="0">
              <a:buFont typeface="Wingdings" panose="05000000000000000000" pitchFamily="2" charset="2"/>
              <a:buNone/>
              <a:defRPr/>
            </a:pPr>
            <a:r>
              <a:rPr lang="en-US" altLang="zh-CN" dirty="0">
                <a:effectLst>
                  <a:outerShdw blurRad="38100" dist="38100" dir="2700000" algn="tl">
                    <a:srgbClr val="000000">
                      <a:alpha val="43137"/>
                    </a:srgbClr>
                  </a:outerShdw>
                </a:effectLst>
              </a:rPr>
              <a:t>				//v4</a:t>
            </a:r>
            <a:r>
              <a:rPr lang="zh-CN" altLang="en-US" dirty="0">
                <a:effectLst>
                  <a:outerShdw blurRad="38100" dist="38100" dir="2700000" algn="tl">
                    <a:srgbClr val="000000">
                      <a:alpha val="43137"/>
                    </a:srgbClr>
                  </a:outerShdw>
                </a:effectLst>
              </a:rPr>
              <a:t>中的元素是</a:t>
            </a:r>
            <a:r>
              <a:rPr lang="en-US" altLang="zh-CN" dirty="0">
                <a:effectLst>
                  <a:outerShdw blurRad="38100" dist="38100" dir="2700000" algn="tl">
                    <a:srgbClr val="000000">
                      <a:alpha val="43137"/>
                    </a:srgbClr>
                  </a:outerShdw>
                </a:effectLst>
              </a:rPr>
              <a:t>v1</a:t>
            </a:r>
            <a:r>
              <a:rPr lang="zh-CN" altLang="en-US" dirty="0">
                <a:effectLst>
                  <a:outerShdw blurRad="38100" dist="38100" dir="2700000" algn="tl">
                    <a:srgbClr val="000000">
                      <a:alpha val="43137"/>
                    </a:srgbClr>
                  </a:outerShdw>
                </a:effectLst>
              </a:rPr>
              <a:t>和</a:t>
            </a:r>
            <a:r>
              <a:rPr lang="en-US" altLang="zh-CN" dirty="0">
                <a:effectLst>
                  <a:outerShdw blurRad="38100" dist="38100" dir="2700000" algn="tl">
                    <a:srgbClr val="000000">
                      <a:alpha val="43137"/>
                    </a:srgbClr>
                  </a:outerShdw>
                </a:effectLst>
              </a:rPr>
              <a:t>v2</a:t>
            </a:r>
            <a:r>
              <a:rPr lang="zh-CN" altLang="en-US" dirty="0">
                <a:effectLst>
                  <a:outerShdw blurRad="38100" dist="38100" dir="2700000" algn="tl">
                    <a:srgbClr val="000000">
                      <a:alpha val="43137"/>
                    </a:srgbClr>
                  </a:outerShdw>
                </a:effectLst>
              </a:rPr>
              <a:t>相应元素的和</a:t>
            </a:r>
            <a:endParaRPr lang="en-US" altLang="zh-CN" dirty="0">
              <a:effectLst>
                <a:outerShdw blurRad="38100" dist="38100" dir="2700000" algn="tl">
                  <a:srgbClr val="000000">
                    <a:alpha val="43137"/>
                  </a:srgbClr>
                </a:outerShdw>
              </a:effectLs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1E3605-539E-58A3-FF66-227D963B8951}"/>
              </a:ext>
            </a:extLst>
          </p:cNvPr>
          <p:cNvSpPr>
            <a:spLocks noGrp="1"/>
          </p:cNvSpPr>
          <p:nvPr>
            <p:ph type="title"/>
          </p:nvPr>
        </p:nvSpPr>
        <p:spPr>
          <a:xfrm>
            <a:off x="457200" y="115888"/>
            <a:ext cx="8229600" cy="1139825"/>
          </a:xfrm>
        </p:spPr>
        <p:txBody>
          <a:bodyPr/>
          <a:lstStyle/>
          <a:p>
            <a:pPr>
              <a:defRPr/>
            </a:pPr>
            <a:r>
              <a:rPr lang="en-US" altLang="zh-CN" sz="4000" dirty="0"/>
              <a:t>STL</a:t>
            </a:r>
            <a:r>
              <a:rPr lang="zh-CN" altLang="en-US" sz="4000" dirty="0"/>
              <a:t>算法的应用</a:t>
            </a:r>
            <a:br>
              <a:rPr lang="en-US" altLang="zh-CN" sz="4000" dirty="0"/>
            </a:br>
            <a:r>
              <a:rPr lang="en-US" altLang="zh-CN" sz="4000" dirty="0"/>
              <a:t>--</a:t>
            </a:r>
            <a:r>
              <a:rPr lang="zh-CN" altLang="en-US" sz="4000" dirty="0"/>
              <a:t>在“学生”容器中做统计</a:t>
            </a:r>
          </a:p>
        </p:txBody>
      </p:sp>
      <p:sp>
        <p:nvSpPr>
          <p:cNvPr id="3" name="内容占位符 2">
            <a:extLst>
              <a:ext uri="{FF2B5EF4-FFF2-40B4-BE49-F238E27FC236}">
                <a16:creationId xmlns:a16="http://schemas.microsoft.com/office/drawing/2014/main" id="{7BB82360-022B-7523-1536-0E0A2B3B2278}"/>
              </a:ext>
            </a:extLst>
          </p:cNvPr>
          <p:cNvSpPr>
            <a:spLocks noGrp="1"/>
          </p:cNvSpPr>
          <p:nvPr>
            <p:ph idx="1"/>
          </p:nvPr>
        </p:nvSpPr>
        <p:spPr>
          <a:xfrm>
            <a:off x="457200" y="1557338"/>
            <a:ext cx="8229600" cy="5040312"/>
          </a:xfrm>
        </p:spPr>
        <p:txBody>
          <a:bodyPr>
            <a:normAutofit fontScale="70000" lnSpcReduction="20000"/>
          </a:bodyPr>
          <a:lstStyle/>
          <a:p>
            <a:pPr>
              <a:defRPr/>
            </a:pPr>
            <a:r>
              <a:rPr lang="zh-CN" altLang="en-US" sz="4000" dirty="0">
                <a:effectLst>
                  <a:outerShdw blurRad="38100" dist="38100" dir="2700000" algn="tl">
                    <a:srgbClr val="000000">
                      <a:alpha val="43137"/>
                    </a:srgbClr>
                  </a:outerShdw>
                </a:effectLst>
              </a:rPr>
              <a:t>学生的类型：</a:t>
            </a:r>
            <a:endParaRPr lang="en-US" altLang="zh-CN" sz="4000" dirty="0">
              <a:effectLst>
                <a:outerShdw blurRad="38100" dist="38100" dir="2700000" algn="tl">
                  <a:srgbClr val="000000">
                    <a:alpha val="43137"/>
                  </a:srgbClr>
                </a:outerShdw>
              </a:effectLst>
            </a:endParaRPr>
          </a:p>
          <a:p>
            <a:pPr marL="457200" lvl="1" indent="0">
              <a:buFontTx/>
              <a:buNone/>
              <a:defRPr/>
            </a:pPr>
            <a:r>
              <a:rPr lang="en-US" altLang="zh-CN" dirty="0">
                <a:effectLst>
                  <a:outerShdw blurRad="38100" dist="38100" dir="2700000" algn="tl">
                    <a:srgbClr val="000000">
                      <a:alpha val="43137"/>
                    </a:srgbClr>
                  </a:outerShdw>
                </a:effectLst>
              </a:rPr>
              <a:t>class Student</a:t>
            </a:r>
            <a:endParaRPr lang="zh-CN" altLang="zh-CN" dirty="0">
              <a:effectLst>
                <a:outerShdw blurRad="38100" dist="38100" dir="2700000" algn="tl">
                  <a:srgbClr val="000000">
                    <a:alpha val="43137"/>
                  </a:srgbClr>
                </a:outerShdw>
              </a:effectLst>
            </a:endParaRPr>
          </a:p>
          <a:p>
            <a:pPr marL="457200" lvl="1" indent="0">
              <a:buFontTx/>
              <a:buNone/>
              <a:defRPr/>
            </a:pPr>
            <a:r>
              <a:rPr lang="en-US" altLang="zh-CN" dirty="0">
                <a:effectLst>
                  <a:outerShdw blurRad="38100" dist="38100" dir="2700000" algn="tl">
                    <a:srgbClr val="000000">
                      <a:alpha val="43137"/>
                    </a:srgbClr>
                  </a:outerShdw>
                </a:effectLst>
              </a:rPr>
              <a:t>{  </a:t>
            </a:r>
            <a:r>
              <a:rPr lang="en-US" altLang="zh-CN" dirty="0" err="1">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no;</a:t>
            </a:r>
            <a:endParaRPr lang="zh-CN" altLang="zh-CN" dirty="0">
              <a:effectLst>
                <a:outerShdw blurRad="38100" dist="38100" dir="2700000" algn="tl">
                  <a:srgbClr val="000000">
                    <a:alpha val="43137"/>
                  </a:srgbClr>
                </a:outerShdw>
              </a:effectLst>
            </a:endParaRPr>
          </a:p>
          <a:p>
            <a:pPr marL="457200" lvl="1" indent="0">
              <a:buFontTx/>
              <a:buNone/>
              <a:defRPr/>
            </a:pPr>
            <a:r>
              <a:rPr lang="en-US" altLang="zh-CN" dirty="0">
                <a:effectLst>
                  <a:outerShdw blurRad="38100" dist="38100" dir="2700000" algn="tl">
                    <a:srgbClr val="000000">
                      <a:alpha val="43137"/>
                    </a:srgbClr>
                  </a:outerShdw>
                </a:effectLst>
              </a:rPr>
              <a:t>    string name;</a:t>
            </a:r>
          </a:p>
          <a:p>
            <a:pPr marL="457200" lvl="1" indent="0">
              <a:buFontTx/>
              <a:buNone/>
              <a:defRPr/>
            </a:pPr>
            <a:r>
              <a:rPr lang="en-US" altLang="zh-CN" dirty="0">
                <a:effectLst>
                  <a:outerShdw blurRad="38100" dist="38100" dir="2700000" algn="tl">
                    <a:srgbClr val="000000">
                      <a:alpha val="43137"/>
                    </a:srgbClr>
                  </a:outerShdw>
                </a:effectLst>
              </a:rPr>
              <a:t>    Sex </a:t>
            </a:r>
            <a:r>
              <a:rPr lang="en-US" altLang="zh-CN" dirty="0" err="1">
                <a:effectLst>
                  <a:outerShdw blurRad="38100" dist="38100" dir="2700000" algn="tl">
                    <a:srgbClr val="000000">
                      <a:alpha val="43137"/>
                    </a:srgbClr>
                  </a:outerShdw>
                </a:effectLst>
              </a:rPr>
              <a:t>sex</a:t>
            </a:r>
            <a:r>
              <a:rPr lang="en-US" altLang="zh-CN" dirty="0">
                <a:effectLst>
                  <a:outerShdw blurRad="38100" dist="38100" dir="2700000" algn="tl">
                    <a:srgbClr val="000000">
                      <a:alpha val="43137"/>
                    </a:srgbClr>
                  </a:outerShdw>
                </a:effectLst>
              </a:rPr>
              <a:t>;</a:t>
            </a:r>
          </a:p>
          <a:p>
            <a:pPr marL="457200" lvl="1" indent="0">
              <a:buFontTx/>
              <a:buNone/>
              <a:defRPr/>
            </a:pPr>
            <a:r>
              <a:rPr lang="en-US" altLang="zh-CN" dirty="0">
                <a:effectLst/>
              </a:rPr>
              <a:t>    string </a:t>
            </a:r>
            <a:r>
              <a:rPr lang="en-US" altLang="zh-CN" dirty="0" err="1">
                <a:effectLst/>
              </a:rPr>
              <a:t>birth_place</a:t>
            </a:r>
            <a:r>
              <a:rPr lang="en-US" altLang="zh-CN" dirty="0">
                <a:effectLst/>
              </a:rPr>
              <a:t>;</a:t>
            </a:r>
          </a:p>
          <a:p>
            <a:pPr marL="457200" lvl="1" indent="0">
              <a:buFontTx/>
              <a:buNone/>
              <a:defRPr/>
            </a:pPr>
            <a:r>
              <a:rPr lang="en-US" altLang="zh-CN" dirty="0">
                <a:effectLst>
                  <a:outerShdw blurRad="38100" dist="38100" dir="2700000" algn="tl">
                    <a:srgbClr val="000000">
                      <a:alpha val="43137"/>
                    </a:srgbClr>
                  </a:outerShdw>
                </a:effectLst>
              </a:rPr>
              <a:t>    Major </a:t>
            </a:r>
            <a:r>
              <a:rPr lang="en-US" altLang="zh-CN" dirty="0" err="1">
                <a:effectLst>
                  <a:outerShdw blurRad="38100" dist="38100" dir="2700000" algn="tl">
                    <a:srgbClr val="000000">
                      <a:alpha val="43137"/>
                    </a:srgbClr>
                  </a:outerShdw>
                </a:effectLst>
              </a:rPr>
              <a:t>major</a:t>
            </a:r>
            <a:r>
              <a:rPr lang="en-US" altLang="zh-CN" dirty="0">
                <a:effectLst>
                  <a:outerShdw blurRad="38100" dist="38100" dir="2700000" algn="tl">
                    <a:srgbClr val="000000">
                      <a:alpha val="43137"/>
                    </a:srgbClr>
                  </a:outerShdw>
                </a:effectLst>
              </a:rPr>
              <a:t>; </a:t>
            </a:r>
          </a:p>
          <a:p>
            <a:pPr marL="457200" lvl="1" indent="0">
              <a:buFontTx/>
              <a:buNone/>
              <a:defRPr/>
            </a:pPr>
            <a:r>
              <a:rPr lang="en-US" altLang="zh-CN" dirty="0">
                <a:effectLst>
                  <a:outerShdw blurRad="38100" dist="38100" dir="2700000" algn="tl">
                    <a:srgbClr val="000000">
                      <a:alpha val="43137"/>
                    </a:srgbClr>
                  </a:outerShdw>
                </a:effectLst>
              </a:rPr>
              <a:t>    ......</a:t>
            </a:r>
            <a:endParaRPr lang="zh-CN" altLang="zh-CN" dirty="0">
              <a:effectLst>
                <a:outerShdw blurRad="38100" dist="38100" dir="2700000" algn="tl">
                  <a:srgbClr val="000000">
                    <a:alpha val="43137"/>
                  </a:srgbClr>
                </a:outerShdw>
              </a:effectLst>
            </a:endParaRPr>
          </a:p>
          <a:p>
            <a:pPr marL="457200" lvl="1" indent="0">
              <a:buFontTx/>
              <a:buNone/>
              <a:defRPr/>
            </a:pPr>
            <a:r>
              <a:rPr lang="en-US" altLang="zh-CN" dirty="0">
                <a:effectLst>
                  <a:outerShdw blurRad="38100" dist="38100" dir="2700000" algn="tl">
                    <a:srgbClr val="000000">
                      <a:alpha val="43137"/>
                    </a:srgbClr>
                  </a:outerShdw>
                </a:effectLst>
              </a:rPr>
              <a:t>  public:</a:t>
            </a:r>
          </a:p>
          <a:p>
            <a:pPr marL="457200" lvl="1" indent="0">
              <a:buFontTx/>
              <a:buNone/>
              <a:defRPr/>
            </a:pPr>
            <a:r>
              <a:rPr lang="en-US" altLang="zh-CN" dirty="0">
                <a:effectLst>
                  <a:outerShdw blurRad="38100" dist="38100" dir="2700000" algn="tl">
                    <a:srgbClr val="000000">
                      <a:alpha val="43137"/>
                    </a:srgbClr>
                  </a:outerShdw>
                </a:effectLst>
              </a:rPr>
              <a:t>    </a:t>
            </a:r>
            <a:r>
              <a:rPr lang="en-US" altLang="zh-CN" dirty="0" err="1">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a:t>
            </a:r>
            <a:r>
              <a:rPr lang="en-US" altLang="zh-CN" dirty="0" err="1">
                <a:effectLst>
                  <a:outerShdw blurRad="38100" dist="38100" dir="2700000" algn="tl">
                    <a:srgbClr val="000000">
                      <a:alpha val="43137"/>
                    </a:srgbClr>
                  </a:outerShdw>
                </a:effectLst>
              </a:rPr>
              <a:t>get_no</a:t>
            </a:r>
            <a:r>
              <a:rPr lang="en-US" altLang="zh-CN" dirty="0">
                <a:effectLst>
                  <a:outerShdw blurRad="38100" dist="38100" dir="2700000" algn="tl">
                    <a:srgbClr val="000000">
                      <a:alpha val="43137"/>
                    </a:srgbClr>
                  </a:outerShdw>
                </a:effectLst>
              </a:rPr>
              <a:t>() { return no; }</a:t>
            </a:r>
            <a:endParaRPr lang="zh-CN" altLang="zh-CN" dirty="0">
              <a:effectLst>
                <a:outerShdw blurRad="38100" dist="38100" dir="2700000" algn="tl">
                  <a:srgbClr val="000000">
                    <a:alpha val="43137"/>
                  </a:srgbClr>
                </a:outerShdw>
              </a:effectLst>
            </a:endParaRPr>
          </a:p>
          <a:p>
            <a:pPr marL="457200" lvl="1" indent="0">
              <a:buFontTx/>
              <a:buNone/>
              <a:defRPr/>
            </a:pPr>
            <a:r>
              <a:rPr lang="en-US" altLang="zh-CN" dirty="0">
                <a:effectLst>
                  <a:outerShdw blurRad="38100" dist="38100" dir="2700000" algn="tl">
                    <a:srgbClr val="000000">
                      <a:alpha val="43137"/>
                    </a:srgbClr>
                  </a:outerShdw>
                </a:effectLst>
              </a:rPr>
              <a:t>    string </a:t>
            </a:r>
            <a:r>
              <a:rPr lang="en-US" altLang="zh-CN" dirty="0" err="1">
                <a:effectLst>
                  <a:outerShdw blurRad="38100" dist="38100" dir="2700000" algn="tl">
                    <a:srgbClr val="000000">
                      <a:alpha val="43137"/>
                    </a:srgbClr>
                  </a:outerShdw>
                </a:effectLst>
              </a:rPr>
              <a:t>get_name</a:t>
            </a:r>
            <a:r>
              <a:rPr lang="en-US" altLang="zh-CN" dirty="0">
                <a:effectLst>
                  <a:outerShdw blurRad="38100" dist="38100" dir="2700000" algn="tl">
                    <a:srgbClr val="000000">
                      <a:alpha val="43137"/>
                    </a:srgbClr>
                  </a:outerShdw>
                </a:effectLst>
              </a:rPr>
              <a:t>() { return name; }</a:t>
            </a:r>
          </a:p>
          <a:p>
            <a:pPr marL="457200" lvl="1" indent="0">
              <a:buFontTx/>
              <a:buNone/>
              <a:defRPr/>
            </a:pPr>
            <a:r>
              <a:rPr lang="en-US" altLang="zh-CN" dirty="0">
                <a:effectLst>
                  <a:outerShdw blurRad="38100" dist="38100" dir="2700000" algn="tl">
                    <a:srgbClr val="000000">
                      <a:alpha val="43137"/>
                    </a:srgbClr>
                  </a:outerShdw>
                </a:effectLst>
              </a:rPr>
              <a:t>    </a:t>
            </a:r>
            <a:r>
              <a:rPr lang="en-US" altLang="zh-CN" dirty="0" err="1">
                <a:effectLst>
                  <a:outerShdw blurRad="38100" dist="38100" dir="2700000" algn="tl">
                    <a:srgbClr val="000000">
                      <a:alpha val="43137"/>
                    </a:srgbClr>
                  </a:outerShdw>
                </a:effectLst>
              </a:rPr>
              <a:t>int</a:t>
            </a:r>
            <a:r>
              <a:rPr lang="en-US" altLang="zh-CN" dirty="0">
                <a:effectLst>
                  <a:outerShdw blurRad="38100" dist="38100" dir="2700000" algn="tl">
                    <a:srgbClr val="000000">
                      <a:alpha val="43137"/>
                    </a:srgbClr>
                  </a:outerShdw>
                </a:effectLst>
              </a:rPr>
              <a:t> </a:t>
            </a:r>
            <a:r>
              <a:rPr lang="en-US" altLang="zh-CN" dirty="0" err="1">
                <a:effectLst>
                  <a:outerShdw blurRad="38100" dist="38100" dir="2700000" algn="tl">
                    <a:srgbClr val="000000">
                      <a:alpha val="43137"/>
                    </a:srgbClr>
                  </a:outerShdw>
                </a:effectLst>
              </a:rPr>
              <a:t>get_sex</a:t>
            </a:r>
            <a:r>
              <a:rPr lang="en-US" altLang="zh-CN" dirty="0">
                <a:effectLst>
                  <a:outerShdw blurRad="38100" dist="38100" dir="2700000" algn="tl">
                    <a:srgbClr val="000000">
                      <a:alpha val="43137"/>
                    </a:srgbClr>
                  </a:outerShdw>
                </a:effectLst>
              </a:rPr>
              <a:t>() { return sex; }</a:t>
            </a:r>
            <a:endParaRPr lang="zh-CN" altLang="zh-CN" dirty="0">
              <a:effectLst>
                <a:outerShdw blurRad="38100" dist="38100" dir="2700000" algn="tl">
                  <a:srgbClr val="000000">
                    <a:alpha val="43137"/>
                  </a:srgbClr>
                </a:outerShdw>
              </a:effectLst>
            </a:endParaRPr>
          </a:p>
          <a:p>
            <a:pPr marL="457200" lvl="1" indent="0">
              <a:buFontTx/>
              <a:buNone/>
              <a:defRPr/>
            </a:pPr>
            <a:r>
              <a:rPr lang="en-US" altLang="zh-CN" dirty="0">
                <a:effectLst>
                  <a:outerShdw blurRad="38100" dist="38100" dir="2700000" algn="tl">
                    <a:srgbClr val="000000">
                      <a:alpha val="43137"/>
                    </a:srgbClr>
                  </a:outerShdw>
                </a:effectLst>
              </a:rPr>
              <a:t>    Major </a:t>
            </a:r>
            <a:r>
              <a:rPr lang="en-US" altLang="zh-CN" dirty="0" err="1">
                <a:effectLst>
                  <a:outerShdw blurRad="38100" dist="38100" dir="2700000" algn="tl">
                    <a:srgbClr val="000000">
                      <a:alpha val="43137"/>
                    </a:srgbClr>
                  </a:outerShdw>
                </a:effectLst>
              </a:rPr>
              <a:t>get_major</a:t>
            </a:r>
            <a:r>
              <a:rPr lang="en-US" altLang="zh-CN" dirty="0">
                <a:effectLst>
                  <a:outerShdw blurRad="38100" dist="38100" dir="2700000" algn="tl">
                    <a:srgbClr val="000000">
                      <a:alpha val="43137"/>
                    </a:srgbClr>
                  </a:outerShdw>
                </a:effectLst>
              </a:rPr>
              <a:t>() { return major; }</a:t>
            </a:r>
          </a:p>
          <a:p>
            <a:pPr marL="457200" lvl="1" indent="0">
              <a:buFontTx/>
              <a:buNone/>
              <a:defRPr/>
            </a:pPr>
            <a:r>
              <a:rPr lang="en-US" altLang="zh-CN" dirty="0">
                <a:effectLst>
                  <a:outerShdw blurRad="38100" dist="38100" dir="2700000" algn="tl">
                    <a:srgbClr val="000000">
                      <a:alpha val="43137"/>
                    </a:srgbClr>
                  </a:outerShdw>
                </a:effectLst>
              </a:rPr>
              <a:t>    display();</a:t>
            </a:r>
          </a:p>
          <a:p>
            <a:pPr marL="457200" lvl="1" indent="0">
              <a:buFontTx/>
              <a:buNone/>
              <a:defRPr/>
            </a:pPr>
            <a:r>
              <a:rPr lang="en-US" altLang="zh-CN" dirty="0">
                <a:effectLst>
                  <a:outerShdw blurRad="38100" dist="38100" dir="2700000" algn="tl">
                    <a:srgbClr val="000000">
                      <a:alpha val="43137"/>
                    </a:srgbClr>
                  </a:outerShdw>
                </a:effectLst>
              </a:rPr>
              <a:t>    ......</a:t>
            </a:r>
            <a:endParaRPr lang="zh-CN" altLang="zh-CN" dirty="0">
              <a:effectLst>
                <a:outerShdw blurRad="38100" dist="38100" dir="2700000" algn="tl">
                  <a:srgbClr val="000000">
                    <a:alpha val="43137"/>
                  </a:srgbClr>
                </a:outerShdw>
              </a:effectLst>
            </a:endParaRPr>
          </a:p>
          <a:p>
            <a:pPr marL="457200" lvl="1" indent="0">
              <a:buFontTx/>
              <a:buNone/>
              <a:defRPr/>
            </a:pPr>
            <a:r>
              <a:rPr lang="en-US" altLang="zh-CN" dirty="0">
                <a:effectLst>
                  <a:outerShdw blurRad="38100" dist="38100" dir="2700000" algn="tl">
                    <a:srgbClr val="000000">
                      <a:alpha val="43137"/>
                    </a:srgbClr>
                  </a:outerShdw>
                </a:effectLst>
              </a:rPr>
              <a:t>};</a:t>
            </a:r>
            <a:endParaRPr lang="zh-CN" altLang="zh-CN" dirty="0">
              <a:effectLst>
                <a:outerShdw blurRad="38100" dist="38100" dir="2700000" algn="tl">
                  <a:srgbClr val="000000">
                    <a:alpha val="43137"/>
                  </a:srgbClr>
                </a:outerShdw>
              </a:effectLs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A106498-6206-F18B-5BDB-8DC1233F71CD}"/>
              </a:ext>
            </a:extLst>
          </p:cNvPr>
          <p:cNvSpPr>
            <a:spLocks noGrp="1"/>
          </p:cNvSpPr>
          <p:nvPr>
            <p:ph idx="1"/>
          </p:nvPr>
        </p:nvSpPr>
        <p:spPr>
          <a:xfrm>
            <a:off x="539750" y="188913"/>
            <a:ext cx="8229600" cy="6407150"/>
          </a:xfrm>
        </p:spPr>
        <p:txBody>
          <a:bodyPr>
            <a:normAutofit fontScale="77500" lnSpcReduction="20000"/>
          </a:bodyPr>
          <a:lstStyle/>
          <a:p>
            <a:pPr>
              <a:defRPr/>
            </a:pPr>
            <a:r>
              <a:rPr lang="zh-CN" altLang="en-US" dirty="0"/>
              <a:t>建立“学生”容器</a:t>
            </a:r>
            <a:endParaRPr lang="en-US" altLang="zh-CN" dirty="0"/>
          </a:p>
          <a:p>
            <a:pPr marL="457200" lvl="1" indent="0">
              <a:buFontTx/>
              <a:buNone/>
              <a:defRPr/>
            </a:pPr>
            <a:r>
              <a:rPr lang="en-US" altLang="zh-CN" dirty="0">
                <a:solidFill>
                  <a:srgbClr val="FFC000"/>
                </a:solidFill>
              </a:rPr>
              <a:t>vector</a:t>
            </a:r>
            <a:r>
              <a:rPr lang="en-US" altLang="zh-CN" dirty="0"/>
              <a:t>&lt;Student&gt; students; //</a:t>
            </a:r>
            <a:r>
              <a:rPr lang="zh-CN" altLang="en-US" dirty="0"/>
              <a:t>创建学生容器</a:t>
            </a:r>
            <a:endParaRPr lang="en-US" altLang="zh-CN" dirty="0"/>
          </a:p>
          <a:p>
            <a:pPr marL="457200" lvl="1" indent="0">
              <a:buFontTx/>
              <a:buNone/>
              <a:defRPr/>
            </a:pPr>
            <a:r>
              <a:rPr lang="en-US" altLang="zh-CN" dirty="0"/>
              <a:t>while (...) //</a:t>
            </a:r>
            <a:r>
              <a:rPr lang="zh-CN" altLang="en-US" dirty="0"/>
              <a:t>循环输入每个学生信息并放入容器</a:t>
            </a:r>
            <a:endParaRPr lang="en-US" altLang="zh-CN" dirty="0"/>
          </a:p>
          <a:p>
            <a:pPr marL="457200" lvl="1" indent="0">
              <a:buFontTx/>
              <a:buNone/>
              <a:defRPr/>
            </a:pPr>
            <a:r>
              <a:rPr lang="en-US" altLang="zh-CN" dirty="0"/>
              <a:t>{ Student </a:t>
            </a:r>
            <a:r>
              <a:rPr lang="en-US" altLang="zh-CN" dirty="0" err="1"/>
              <a:t>st</a:t>
            </a:r>
            <a:r>
              <a:rPr lang="en-US" altLang="zh-CN" dirty="0"/>
              <a:t>;</a:t>
            </a:r>
          </a:p>
          <a:p>
            <a:pPr marL="457200" lvl="1" indent="0">
              <a:buFontTx/>
              <a:buNone/>
              <a:defRPr/>
            </a:pPr>
            <a:r>
              <a:rPr lang="en-US" altLang="zh-CN" dirty="0"/>
              <a:t>   ...... //</a:t>
            </a:r>
            <a:r>
              <a:rPr lang="zh-CN" altLang="en-US" dirty="0"/>
              <a:t>输入一个学生信息到</a:t>
            </a:r>
            <a:r>
              <a:rPr lang="en-US" altLang="zh-CN" dirty="0" err="1"/>
              <a:t>st</a:t>
            </a:r>
            <a:endParaRPr lang="en-US" altLang="zh-CN" dirty="0"/>
          </a:p>
          <a:p>
            <a:pPr marL="457200" lvl="1" indent="0">
              <a:buFontTx/>
              <a:buNone/>
              <a:defRPr/>
            </a:pPr>
            <a:r>
              <a:rPr lang="en-US" altLang="zh-CN" dirty="0"/>
              <a:t>   </a:t>
            </a:r>
            <a:r>
              <a:rPr lang="en-US" altLang="zh-CN" dirty="0" err="1"/>
              <a:t>students.</a:t>
            </a:r>
            <a:r>
              <a:rPr lang="en-US" altLang="zh-CN" dirty="0" err="1">
                <a:solidFill>
                  <a:srgbClr val="FFC000"/>
                </a:solidFill>
              </a:rPr>
              <a:t>push_back</a:t>
            </a:r>
            <a:r>
              <a:rPr lang="en-US" altLang="zh-CN" dirty="0"/>
              <a:t>(</a:t>
            </a:r>
            <a:r>
              <a:rPr lang="en-US" altLang="zh-CN" dirty="0" err="1"/>
              <a:t>st</a:t>
            </a:r>
            <a:r>
              <a:rPr lang="en-US" altLang="zh-CN" dirty="0"/>
              <a:t>); //</a:t>
            </a:r>
            <a:r>
              <a:rPr lang="zh-CN" altLang="en-US" dirty="0"/>
              <a:t>把</a:t>
            </a:r>
            <a:r>
              <a:rPr lang="en-US" altLang="zh-CN" dirty="0" err="1"/>
              <a:t>st</a:t>
            </a:r>
            <a:r>
              <a:rPr lang="zh-CN" altLang="en-US" dirty="0"/>
              <a:t>数据放入容器</a:t>
            </a:r>
            <a:endParaRPr lang="en-US" altLang="zh-CN" dirty="0"/>
          </a:p>
          <a:p>
            <a:pPr marL="457200" lvl="1" indent="0">
              <a:buFontTx/>
              <a:buNone/>
              <a:defRPr/>
            </a:pPr>
            <a:r>
              <a:rPr lang="en-US" altLang="zh-CN" dirty="0"/>
              <a:t>}</a:t>
            </a:r>
          </a:p>
          <a:p>
            <a:pPr marL="457200" lvl="1" indent="0">
              <a:buFontTx/>
              <a:buNone/>
              <a:defRPr/>
            </a:pPr>
            <a:endParaRPr lang="en-US" altLang="zh-CN" dirty="0"/>
          </a:p>
          <a:p>
            <a:pPr>
              <a:defRPr/>
            </a:pPr>
            <a:r>
              <a:rPr lang="zh-CN" altLang="en-US" dirty="0"/>
              <a:t>容器元素按“学号由小到大”排序</a:t>
            </a:r>
            <a:endParaRPr lang="en-US" altLang="zh-CN" dirty="0"/>
          </a:p>
          <a:p>
            <a:pPr marL="0" indent="0">
              <a:buFont typeface="Wingdings" panose="05000000000000000000" pitchFamily="2" charset="2"/>
              <a:buNone/>
              <a:defRPr/>
            </a:pPr>
            <a:r>
              <a:rPr lang="en-US" altLang="zh-CN" dirty="0"/>
              <a:t>   </a:t>
            </a:r>
            <a:r>
              <a:rPr lang="en-US" altLang="zh-CN" sz="2900" dirty="0"/>
              <a:t> bool </a:t>
            </a:r>
            <a:r>
              <a:rPr lang="en-US" altLang="zh-CN" sz="2900" dirty="0" err="1">
                <a:solidFill>
                  <a:srgbClr val="92D050"/>
                </a:solidFill>
              </a:rPr>
              <a:t>compare_no</a:t>
            </a:r>
            <a:r>
              <a:rPr lang="en-US" altLang="zh-CN" sz="2900" dirty="0"/>
              <a:t>(Student &amp;st1, Student &amp;st2)</a:t>
            </a:r>
          </a:p>
          <a:p>
            <a:pPr marL="0" indent="0">
              <a:buFont typeface="Wingdings" panose="05000000000000000000" pitchFamily="2" charset="2"/>
              <a:buNone/>
              <a:defRPr/>
            </a:pPr>
            <a:r>
              <a:rPr lang="en-US" altLang="zh-CN" sz="2900" dirty="0"/>
              <a:t>    { return st1.get_no() &lt; st2.get_no(); }</a:t>
            </a:r>
          </a:p>
          <a:p>
            <a:pPr marL="0" indent="0">
              <a:buFont typeface="Wingdings" panose="05000000000000000000" pitchFamily="2" charset="2"/>
              <a:buNone/>
              <a:defRPr/>
            </a:pPr>
            <a:r>
              <a:rPr lang="en-US" altLang="zh-CN" sz="2900" dirty="0"/>
              <a:t>    </a:t>
            </a:r>
            <a:r>
              <a:rPr lang="en-US" altLang="zh-CN" sz="2900" dirty="0">
                <a:solidFill>
                  <a:srgbClr val="FFC000"/>
                </a:solidFill>
              </a:rPr>
              <a:t>sort</a:t>
            </a:r>
            <a:r>
              <a:rPr lang="en-US" altLang="zh-CN" sz="2900" dirty="0"/>
              <a:t>(</a:t>
            </a:r>
            <a:r>
              <a:rPr lang="en-US" altLang="zh-CN" sz="2900" dirty="0" err="1"/>
              <a:t>students.begin</a:t>
            </a:r>
            <a:r>
              <a:rPr lang="en-US" altLang="zh-CN" sz="2900" dirty="0"/>
              <a:t>(),</a:t>
            </a:r>
            <a:r>
              <a:rPr lang="en-US" altLang="zh-CN" sz="2900" dirty="0" err="1"/>
              <a:t>students.end</a:t>
            </a:r>
            <a:r>
              <a:rPr lang="en-US" altLang="zh-CN" sz="2900" dirty="0"/>
              <a:t>(), </a:t>
            </a:r>
            <a:r>
              <a:rPr lang="en-US" altLang="zh-CN" sz="2900" dirty="0" err="1">
                <a:solidFill>
                  <a:srgbClr val="92D050"/>
                </a:solidFill>
              </a:rPr>
              <a:t>compare_no</a:t>
            </a:r>
            <a:r>
              <a:rPr lang="en-US" altLang="zh-CN" sz="2900" dirty="0"/>
              <a:t>);</a:t>
            </a:r>
          </a:p>
          <a:p>
            <a:pPr>
              <a:defRPr/>
            </a:pPr>
            <a:endParaRPr lang="en-US" altLang="zh-CN" dirty="0"/>
          </a:p>
          <a:p>
            <a:pPr>
              <a:defRPr/>
            </a:pPr>
            <a:r>
              <a:rPr lang="zh-CN" altLang="en-US" dirty="0"/>
              <a:t>显示每个学生的信息</a:t>
            </a:r>
            <a:endParaRPr lang="en-US" altLang="zh-CN" dirty="0"/>
          </a:p>
          <a:p>
            <a:pPr marL="457200" lvl="1" indent="0">
              <a:buFontTx/>
              <a:buNone/>
              <a:defRPr/>
            </a:pPr>
            <a:r>
              <a:rPr lang="en-US" altLang="zh-CN" dirty="0"/>
              <a:t>void </a:t>
            </a:r>
            <a:r>
              <a:rPr lang="en-US" altLang="zh-CN" dirty="0">
                <a:solidFill>
                  <a:srgbClr val="92D050"/>
                </a:solidFill>
              </a:rPr>
              <a:t>display</a:t>
            </a:r>
            <a:r>
              <a:rPr lang="en-US" altLang="zh-CN" dirty="0"/>
              <a:t>(Student &amp;</a:t>
            </a:r>
            <a:r>
              <a:rPr lang="en-US" altLang="zh-CN" dirty="0" err="1"/>
              <a:t>st</a:t>
            </a:r>
            <a:r>
              <a:rPr lang="en-US" altLang="zh-CN" dirty="0"/>
              <a:t>) //</a:t>
            </a:r>
            <a:r>
              <a:rPr lang="zh-CN" altLang="en-US" dirty="0"/>
              <a:t>显示</a:t>
            </a:r>
            <a:r>
              <a:rPr lang="en-US" altLang="zh-CN" dirty="0" err="1"/>
              <a:t>st</a:t>
            </a:r>
            <a:r>
              <a:rPr lang="zh-CN" altLang="en-US" dirty="0"/>
              <a:t>的信息</a:t>
            </a:r>
          </a:p>
          <a:p>
            <a:pPr marL="457200" lvl="1" indent="0">
              <a:buFontTx/>
              <a:buNone/>
              <a:defRPr/>
            </a:pPr>
            <a:r>
              <a:rPr lang="en-US" altLang="zh-CN" dirty="0"/>
              <a:t>{	</a:t>
            </a:r>
            <a:r>
              <a:rPr lang="en-US" altLang="zh-CN" dirty="0" err="1"/>
              <a:t>st.display</a:t>
            </a:r>
            <a:r>
              <a:rPr lang="en-US" altLang="zh-CN" dirty="0"/>
              <a:t>();	</a:t>
            </a:r>
            <a:r>
              <a:rPr lang="en-US" altLang="zh-CN" dirty="0" err="1"/>
              <a:t>cout</a:t>
            </a:r>
            <a:r>
              <a:rPr lang="en-US" altLang="zh-CN" dirty="0"/>
              <a:t> &lt;&lt; </a:t>
            </a:r>
            <a:r>
              <a:rPr lang="en-US" altLang="zh-CN" dirty="0" err="1"/>
              <a:t>endl</a:t>
            </a:r>
            <a:r>
              <a:rPr lang="en-US" altLang="zh-CN" dirty="0"/>
              <a:t>; </a:t>
            </a:r>
          </a:p>
          <a:p>
            <a:pPr marL="457200" lvl="1" indent="0">
              <a:buFontTx/>
              <a:buNone/>
              <a:defRPr/>
            </a:pPr>
            <a:r>
              <a:rPr lang="en-US" altLang="zh-CN" dirty="0"/>
              <a:t>}</a:t>
            </a:r>
          </a:p>
          <a:p>
            <a:pPr marL="457200" lvl="1" indent="0">
              <a:buFontTx/>
              <a:buNone/>
              <a:defRPr/>
            </a:pPr>
            <a:r>
              <a:rPr lang="en-US" altLang="zh-CN" dirty="0" err="1">
                <a:solidFill>
                  <a:srgbClr val="FFC000"/>
                </a:solidFill>
              </a:rPr>
              <a:t>for_each</a:t>
            </a:r>
            <a:r>
              <a:rPr lang="en-US" altLang="zh-CN" dirty="0"/>
              <a:t>(</a:t>
            </a:r>
            <a:r>
              <a:rPr lang="en-US" altLang="zh-CN" dirty="0" err="1"/>
              <a:t>students.begin</a:t>
            </a:r>
            <a:r>
              <a:rPr lang="en-US" altLang="zh-CN" dirty="0"/>
              <a:t>(),</a:t>
            </a:r>
            <a:r>
              <a:rPr lang="en-US" altLang="zh-CN" dirty="0" err="1"/>
              <a:t>students.end</a:t>
            </a:r>
            <a:r>
              <a:rPr lang="en-US" altLang="zh-CN" dirty="0"/>
              <a:t>(),</a:t>
            </a:r>
            <a:r>
              <a:rPr lang="en-US" altLang="zh-CN" dirty="0">
                <a:solidFill>
                  <a:srgbClr val="92D050"/>
                </a:solidFill>
              </a:rPr>
              <a:t>display</a:t>
            </a:r>
            <a:r>
              <a:rPr lang="en-US" altLang="zh-CN" dirty="0"/>
              <a:t>);</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94215B5-BAB4-5F98-803B-756CEBF34D30}"/>
              </a:ext>
            </a:extLst>
          </p:cNvPr>
          <p:cNvSpPr>
            <a:spLocks noGrp="1"/>
          </p:cNvSpPr>
          <p:nvPr>
            <p:ph idx="1"/>
          </p:nvPr>
        </p:nvSpPr>
        <p:spPr>
          <a:xfrm>
            <a:off x="539750" y="549275"/>
            <a:ext cx="8229600" cy="5761038"/>
          </a:xfrm>
        </p:spPr>
        <p:txBody>
          <a:bodyPr>
            <a:normAutofit fontScale="77500" lnSpcReduction="20000"/>
          </a:bodyPr>
          <a:lstStyle/>
          <a:p>
            <a:pPr>
              <a:defRPr/>
            </a:pPr>
            <a:r>
              <a:rPr lang="zh-CN" altLang="en-US" dirty="0"/>
              <a:t>统计“计算机”专业的人数</a:t>
            </a:r>
            <a:endParaRPr lang="en-US" altLang="zh-CN" dirty="0"/>
          </a:p>
          <a:p>
            <a:pPr marL="457200" lvl="1" indent="0">
              <a:buFontTx/>
              <a:buNone/>
              <a:defRPr/>
            </a:pPr>
            <a:r>
              <a:rPr lang="en-US" altLang="zh-CN" dirty="0" err="1"/>
              <a:t>bool</a:t>
            </a:r>
            <a:r>
              <a:rPr lang="en-US" altLang="zh-CN" dirty="0"/>
              <a:t> </a:t>
            </a:r>
            <a:r>
              <a:rPr lang="en-US" altLang="zh-CN" dirty="0" err="1">
                <a:solidFill>
                  <a:srgbClr val="92D050"/>
                </a:solidFill>
              </a:rPr>
              <a:t>match_major</a:t>
            </a:r>
            <a:r>
              <a:rPr lang="en-US" altLang="zh-CN" dirty="0"/>
              <a:t>(Student &amp;</a:t>
            </a:r>
            <a:r>
              <a:rPr lang="en-US" altLang="zh-CN" dirty="0" err="1"/>
              <a:t>st</a:t>
            </a:r>
            <a:r>
              <a:rPr lang="en-US" altLang="zh-CN" dirty="0"/>
              <a:t>)</a:t>
            </a:r>
            <a:endParaRPr lang="zh-CN" altLang="en-US" dirty="0"/>
          </a:p>
          <a:p>
            <a:pPr marL="457200" lvl="1" indent="0">
              <a:buFontTx/>
              <a:buNone/>
              <a:defRPr/>
            </a:pPr>
            <a:r>
              <a:rPr lang="en-US" altLang="zh-CN" dirty="0"/>
              <a:t>{ return </a:t>
            </a:r>
            <a:r>
              <a:rPr lang="en-US" altLang="zh-CN" dirty="0" err="1"/>
              <a:t>st.get_major</a:t>
            </a:r>
            <a:r>
              <a:rPr lang="en-US" altLang="zh-CN" dirty="0"/>
              <a:t>() == COMPUTER; </a:t>
            </a:r>
          </a:p>
          <a:p>
            <a:pPr marL="457200" lvl="1" indent="0">
              <a:buFontTx/>
              <a:buNone/>
              <a:defRPr/>
            </a:pPr>
            <a:r>
              <a:rPr lang="en-US" altLang="zh-CN" dirty="0"/>
              <a:t>}</a:t>
            </a:r>
          </a:p>
          <a:p>
            <a:pPr marL="457200" lvl="1" indent="0">
              <a:buFontTx/>
              <a:buNone/>
              <a:defRPr/>
            </a:pPr>
            <a:r>
              <a:rPr lang="en-US" altLang="zh-CN" dirty="0" err="1"/>
              <a:t>cout</a:t>
            </a:r>
            <a:r>
              <a:rPr lang="en-US" altLang="zh-CN" dirty="0"/>
              <a:t> &lt;&lt;  </a:t>
            </a:r>
            <a:r>
              <a:rPr lang="en-US" altLang="zh-CN" dirty="0" err="1">
                <a:solidFill>
                  <a:srgbClr val="FFC000"/>
                </a:solidFill>
              </a:rPr>
              <a:t>count_if</a:t>
            </a:r>
            <a:r>
              <a:rPr lang="en-US" altLang="zh-CN" dirty="0"/>
              <a:t>(</a:t>
            </a:r>
            <a:r>
              <a:rPr lang="en-US" altLang="zh-CN" dirty="0" err="1"/>
              <a:t>students.begin</a:t>
            </a:r>
            <a:r>
              <a:rPr lang="en-US" altLang="zh-CN" dirty="0"/>
              <a:t>(),</a:t>
            </a:r>
            <a:r>
              <a:rPr lang="en-US" altLang="zh-CN" dirty="0" err="1"/>
              <a:t>students.end</a:t>
            </a:r>
            <a:r>
              <a:rPr lang="en-US" altLang="zh-CN" dirty="0"/>
              <a:t>(),</a:t>
            </a:r>
          </a:p>
          <a:p>
            <a:pPr marL="457200" lvl="1" indent="0">
              <a:buFontTx/>
              <a:buNone/>
              <a:defRPr/>
            </a:pPr>
            <a:r>
              <a:rPr lang="en-US" altLang="zh-CN" dirty="0"/>
              <a:t>		 	                   	</a:t>
            </a:r>
            <a:r>
              <a:rPr lang="en-US" altLang="zh-CN" dirty="0" err="1">
                <a:solidFill>
                  <a:srgbClr val="92D050"/>
                </a:solidFill>
              </a:rPr>
              <a:t>match_major</a:t>
            </a:r>
            <a:r>
              <a:rPr lang="en-US" altLang="zh-CN" dirty="0"/>
              <a:t>);</a:t>
            </a:r>
          </a:p>
          <a:p>
            <a:pPr>
              <a:defRPr/>
            </a:pPr>
            <a:r>
              <a:rPr lang="zh-CN" altLang="en-US" dirty="0"/>
              <a:t>统计“物理”专业的人数呢？</a:t>
            </a:r>
            <a:endParaRPr lang="en-US" altLang="zh-CN" dirty="0"/>
          </a:p>
          <a:p>
            <a:pPr marL="457200" lvl="1" indent="0">
              <a:buFontTx/>
              <a:buNone/>
              <a:defRPr/>
            </a:pPr>
            <a:r>
              <a:rPr lang="en-US" altLang="zh-CN" dirty="0" err="1"/>
              <a:t>bool</a:t>
            </a:r>
            <a:r>
              <a:rPr lang="en-US" altLang="zh-CN" dirty="0"/>
              <a:t> </a:t>
            </a:r>
            <a:r>
              <a:rPr lang="en-US" altLang="zh-CN" dirty="0">
                <a:solidFill>
                  <a:srgbClr val="92D050"/>
                </a:solidFill>
              </a:rPr>
              <a:t>match_major2</a:t>
            </a:r>
            <a:r>
              <a:rPr lang="en-US" altLang="zh-CN" dirty="0"/>
              <a:t>(Student &amp;</a:t>
            </a:r>
            <a:r>
              <a:rPr lang="en-US" altLang="zh-CN" dirty="0" err="1"/>
              <a:t>st</a:t>
            </a:r>
            <a:r>
              <a:rPr lang="en-US" altLang="zh-CN" dirty="0"/>
              <a:t>)</a:t>
            </a:r>
            <a:endParaRPr lang="zh-CN" altLang="en-US" dirty="0"/>
          </a:p>
          <a:p>
            <a:pPr marL="457200" lvl="1" indent="0">
              <a:buFontTx/>
              <a:buNone/>
              <a:defRPr/>
            </a:pPr>
            <a:r>
              <a:rPr lang="en-US" altLang="zh-CN" dirty="0"/>
              <a:t>{ return </a:t>
            </a:r>
            <a:r>
              <a:rPr lang="en-US" altLang="zh-CN" dirty="0" err="1"/>
              <a:t>st.get_major</a:t>
            </a:r>
            <a:r>
              <a:rPr lang="en-US" altLang="zh-CN" dirty="0"/>
              <a:t>() == PHYSICS; </a:t>
            </a:r>
          </a:p>
          <a:p>
            <a:pPr marL="457200" lvl="1" indent="0">
              <a:buFontTx/>
              <a:buNone/>
              <a:defRPr/>
            </a:pPr>
            <a:r>
              <a:rPr lang="en-US" altLang="zh-CN" dirty="0"/>
              <a:t>}</a:t>
            </a:r>
          </a:p>
          <a:p>
            <a:pPr marL="457200" lvl="1" indent="0">
              <a:buFontTx/>
              <a:buNone/>
              <a:defRPr/>
            </a:pPr>
            <a:r>
              <a:rPr lang="en-US" altLang="zh-CN" dirty="0" err="1"/>
              <a:t>cout</a:t>
            </a:r>
            <a:r>
              <a:rPr lang="en-US" altLang="zh-CN" dirty="0"/>
              <a:t> &lt;&lt;  </a:t>
            </a:r>
            <a:r>
              <a:rPr lang="en-US" altLang="zh-CN" dirty="0" err="1">
                <a:solidFill>
                  <a:srgbClr val="FFC000"/>
                </a:solidFill>
              </a:rPr>
              <a:t>count_if</a:t>
            </a:r>
            <a:r>
              <a:rPr lang="en-US" altLang="zh-CN" dirty="0"/>
              <a:t>(</a:t>
            </a:r>
            <a:r>
              <a:rPr lang="en-US" altLang="zh-CN" dirty="0" err="1"/>
              <a:t>students.begin</a:t>
            </a:r>
            <a:r>
              <a:rPr lang="en-US" altLang="zh-CN" dirty="0"/>
              <a:t>(),</a:t>
            </a:r>
            <a:r>
              <a:rPr lang="en-US" altLang="zh-CN" dirty="0" err="1"/>
              <a:t>students.end</a:t>
            </a:r>
            <a:r>
              <a:rPr lang="en-US" altLang="zh-CN" dirty="0"/>
              <a:t>(),</a:t>
            </a:r>
          </a:p>
          <a:p>
            <a:pPr marL="457200" lvl="1" indent="0">
              <a:buFontTx/>
              <a:buNone/>
              <a:defRPr/>
            </a:pPr>
            <a:r>
              <a:rPr lang="en-US" altLang="zh-CN" dirty="0"/>
              <a:t>		 				</a:t>
            </a:r>
            <a:r>
              <a:rPr lang="en-US" altLang="zh-CN" dirty="0">
                <a:solidFill>
                  <a:srgbClr val="92D050"/>
                </a:solidFill>
              </a:rPr>
              <a:t>match_major2</a:t>
            </a:r>
            <a:r>
              <a:rPr lang="en-US" altLang="zh-CN" dirty="0"/>
              <a:t>);</a:t>
            </a:r>
          </a:p>
          <a:p>
            <a:pPr>
              <a:defRPr/>
            </a:pPr>
            <a:endParaRPr lang="en-US" altLang="zh-CN" dirty="0"/>
          </a:p>
          <a:p>
            <a:pPr>
              <a:defRPr/>
            </a:pPr>
            <a:r>
              <a:rPr lang="zh-CN" altLang="en-US" dirty="0">
                <a:solidFill>
                  <a:srgbClr val="FFC000"/>
                </a:solidFill>
              </a:rPr>
              <a:t>再统计“</a:t>
            </a:r>
            <a:r>
              <a:rPr lang="en-US" altLang="zh-CN" dirty="0">
                <a:solidFill>
                  <a:srgbClr val="FFC000"/>
                </a:solidFill>
              </a:rPr>
              <a:t>XXX</a:t>
            </a:r>
            <a:r>
              <a:rPr lang="zh-CN" altLang="en-US" dirty="0">
                <a:solidFill>
                  <a:srgbClr val="FFC000"/>
                </a:solidFill>
              </a:rPr>
              <a:t>”专业的人数呢？</a:t>
            </a:r>
            <a:endParaRPr lang="en-US" altLang="zh-CN" dirty="0">
              <a:solidFill>
                <a:srgbClr val="FFC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 calcmode="lin" valueType="num">
                                      <p:cBhvr additive="base">
                                        <p:cTn id="1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 calcmode="lin" valueType="num">
                                      <p:cBhvr additive="base">
                                        <p:cTn id="2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anim calcmode="lin" valueType="num">
                                      <p:cBhvr additive="base">
                                        <p:cTn id="2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anim calcmode="lin" valueType="num">
                                      <p:cBhvr additive="base">
                                        <p:cTn id="2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 calcmode="lin" valueType="num">
                                      <p:cBhvr additive="base">
                                        <p:cTn id="3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DD5A83D-B8E9-C510-2AB8-DEB11FDC7C0F}"/>
              </a:ext>
            </a:extLst>
          </p:cNvPr>
          <p:cNvSpPr>
            <a:spLocks noGrp="1"/>
          </p:cNvSpPr>
          <p:nvPr>
            <p:ph idx="1"/>
          </p:nvPr>
        </p:nvSpPr>
        <p:spPr>
          <a:xfrm>
            <a:off x="457200" y="549275"/>
            <a:ext cx="8229600" cy="6119813"/>
          </a:xfrm>
        </p:spPr>
        <p:txBody>
          <a:bodyPr>
            <a:normAutofit fontScale="77500" lnSpcReduction="20000"/>
          </a:bodyPr>
          <a:lstStyle/>
          <a:p>
            <a:pPr>
              <a:defRPr/>
            </a:pPr>
            <a:r>
              <a:rPr lang="zh-CN" altLang="en-US" sz="3600" dirty="0"/>
              <a:t>可利用</a:t>
            </a:r>
            <a:r>
              <a:rPr lang="zh-CN" altLang="en-US" sz="3600" dirty="0">
                <a:solidFill>
                  <a:srgbClr val="FFC000"/>
                </a:solidFill>
              </a:rPr>
              <a:t>函数对象</a:t>
            </a:r>
            <a:r>
              <a:rPr lang="zh-CN" altLang="en-US" sz="3600" dirty="0"/>
              <a:t>来解决上面的问题</a:t>
            </a:r>
            <a:endParaRPr lang="en-US" altLang="zh-CN" sz="3600" dirty="0"/>
          </a:p>
          <a:p>
            <a:pPr marL="457200" lvl="1" indent="0">
              <a:buFontTx/>
              <a:buNone/>
              <a:defRPr/>
            </a:pPr>
            <a:r>
              <a:rPr lang="en-US" altLang="zh-CN" dirty="0"/>
              <a:t>class </a:t>
            </a:r>
            <a:r>
              <a:rPr lang="en-US" altLang="zh-CN" dirty="0" err="1"/>
              <a:t>MatchMajor</a:t>
            </a:r>
            <a:endParaRPr lang="en-US" altLang="zh-CN" dirty="0"/>
          </a:p>
          <a:p>
            <a:pPr marL="457200" lvl="1" indent="0">
              <a:buFontTx/>
              <a:buNone/>
              <a:defRPr/>
            </a:pPr>
            <a:r>
              <a:rPr lang="en-US" altLang="zh-CN" dirty="0"/>
              <a:t>{	   Major </a:t>
            </a:r>
            <a:r>
              <a:rPr lang="en-US" altLang="zh-CN" dirty="0" err="1"/>
              <a:t>major</a:t>
            </a:r>
            <a:r>
              <a:rPr lang="en-US" altLang="zh-CN" dirty="0"/>
              <a:t>;</a:t>
            </a:r>
          </a:p>
          <a:p>
            <a:pPr marL="457200" lvl="1" indent="0">
              <a:buFontTx/>
              <a:buNone/>
              <a:defRPr/>
            </a:pPr>
            <a:r>
              <a:rPr lang="en-US" altLang="zh-CN" dirty="0"/>
              <a:t>	public:</a:t>
            </a:r>
          </a:p>
          <a:p>
            <a:pPr marL="457200" lvl="1" indent="0">
              <a:buFontTx/>
              <a:buNone/>
              <a:defRPr/>
            </a:pPr>
            <a:r>
              <a:rPr lang="en-US" altLang="zh-CN" dirty="0"/>
              <a:t>	   </a:t>
            </a:r>
            <a:r>
              <a:rPr lang="en-US" altLang="zh-CN" dirty="0" err="1"/>
              <a:t>MatchMajor</a:t>
            </a:r>
            <a:r>
              <a:rPr lang="en-US" altLang="zh-CN" dirty="0"/>
              <a:t> (Major m)</a:t>
            </a:r>
          </a:p>
          <a:p>
            <a:pPr marL="457200" lvl="1" indent="0">
              <a:buFontTx/>
              <a:buNone/>
              <a:defRPr/>
            </a:pPr>
            <a:r>
              <a:rPr lang="en-US" altLang="zh-CN" dirty="0"/>
              <a:t>	   {	major = m;</a:t>
            </a:r>
          </a:p>
          <a:p>
            <a:pPr marL="457200" lvl="1" indent="0">
              <a:buFontTx/>
              <a:buNone/>
              <a:defRPr/>
            </a:pPr>
            <a:r>
              <a:rPr lang="en-US" altLang="zh-CN" dirty="0"/>
              <a:t>	   }</a:t>
            </a:r>
          </a:p>
          <a:p>
            <a:pPr marL="457200" lvl="1" indent="0">
              <a:buFontTx/>
              <a:buNone/>
              <a:defRPr/>
            </a:pPr>
            <a:r>
              <a:rPr lang="en-US" altLang="zh-CN" dirty="0"/>
              <a:t>	   </a:t>
            </a:r>
            <a:r>
              <a:rPr lang="en-US" altLang="zh-CN" dirty="0" err="1"/>
              <a:t>bool</a:t>
            </a:r>
            <a:r>
              <a:rPr lang="en-US" altLang="zh-CN" dirty="0"/>
              <a:t> </a:t>
            </a:r>
            <a:r>
              <a:rPr lang="en-US" altLang="zh-CN" dirty="0">
                <a:solidFill>
                  <a:srgbClr val="FFC000"/>
                </a:solidFill>
              </a:rPr>
              <a:t>operator ()</a:t>
            </a:r>
            <a:r>
              <a:rPr lang="en-US" altLang="zh-CN" dirty="0"/>
              <a:t>(Student&amp; </a:t>
            </a:r>
            <a:r>
              <a:rPr lang="en-US" altLang="zh-CN" dirty="0" err="1"/>
              <a:t>st</a:t>
            </a:r>
            <a:r>
              <a:rPr lang="en-US" altLang="zh-CN" dirty="0"/>
              <a:t>)</a:t>
            </a:r>
          </a:p>
          <a:p>
            <a:pPr marL="457200" lvl="1" indent="0">
              <a:buFontTx/>
              <a:buNone/>
              <a:defRPr/>
            </a:pPr>
            <a:r>
              <a:rPr lang="en-US" altLang="zh-CN" dirty="0"/>
              <a:t>	   { return </a:t>
            </a:r>
            <a:r>
              <a:rPr lang="en-US" altLang="zh-CN" dirty="0" err="1"/>
              <a:t>st.get_major</a:t>
            </a:r>
            <a:r>
              <a:rPr lang="en-US" altLang="zh-CN" dirty="0"/>
              <a:t>() == major;</a:t>
            </a:r>
          </a:p>
          <a:p>
            <a:pPr marL="457200" lvl="1" indent="0">
              <a:buFontTx/>
              <a:buNone/>
              <a:defRPr/>
            </a:pPr>
            <a:r>
              <a:rPr lang="en-US" altLang="zh-CN" dirty="0"/>
              <a:t>	   }</a:t>
            </a:r>
          </a:p>
          <a:p>
            <a:pPr marL="457200" lvl="1" indent="0">
              <a:buFontTx/>
              <a:buNone/>
              <a:defRPr/>
            </a:pPr>
            <a:r>
              <a:rPr lang="en-US" altLang="zh-CN" dirty="0"/>
              <a:t>};</a:t>
            </a:r>
          </a:p>
          <a:p>
            <a:pPr marL="457200" lvl="1" indent="0">
              <a:buFontTx/>
              <a:buNone/>
              <a:defRPr/>
            </a:pPr>
            <a:r>
              <a:rPr lang="en-US" altLang="zh-CN" dirty="0" err="1"/>
              <a:t>count_if</a:t>
            </a:r>
            <a:r>
              <a:rPr lang="en-US" altLang="zh-CN" dirty="0"/>
              <a:t>(</a:t>
            </a:r>
            <a:r>
              <a:rPr lang="en-US" altLang="zh-CN" dirty="0" err="1"/>
              <a:t>students.begin</a:t>
            </a:r>
            <a:r>
              <a:rPr lang="en-US" altLang="zh-CN" dirty="0"/>
              <a:t>(),</a:t>
            </a:r>
            <a:r>
              <a:rPr lang="en-US" altLang="zh-CN" dirty="0" err="1"/>
              <a:t>students.end</a:t>
            </a:r>
            <a:r>
              <a:rPr lang="en-US" altLang="zh-CN" dirty="0"/>
              <a:t>(),</a:t>
            </a:r>
          </a:p>
          <a:p>
            <a:pPr marL="457200" lvl="1" indent="0">
              <a:buFontTx/>
              <a:buNone/>
              <a:defRPr/>
            </a:pPr>
            <a:r>
              <a:rPr lang="en-US" altLang="zh-CN" dirty="0"/>
              <a:t>			              </a:t>
            </a:r>
            <a:r>
              <a:rPr lang="en-US" altLang="zh-CN" dirty="0" err="1">
                <a:solidFill>
                  <a:srgbClr val="FFC000"/>
                </a:solidFill>
              </a:rPr>
              <a:t>MatchMajor</a:t>
            </a:r>
            <a:r>
              <a:rPr lang="en-US" altLang="zh-CN" dirty="0">
                <a:solidFill>
                  <a:srgbClr val="FFC000"/>
                </a:solidFill>
              </a:rPr>
              <a:t>(COMPUTER)</a:t>
            </a:r>
            <a:r>
              <a:rPr lang="en-US" altLang="zh-CN" dirty="0"/>
              <a:t>)</a:t>
            </a:r>
            <a:r>
              <a:rPr lang="zh-CN" altLang="en-US" dirty="0"/>
              <a:t>；</a:t>
            </a:r>
            <a:endParaRPr lang="en-US" altLang="zh-CN" dirty="0"/>
          </a:p>
          <a:p>
            <a:pPr marL="457200" lvl="1" indent="0">
              <a:buFontTx/>
              <a:buNone/>
              <a:defRPr/>
            </a:pPr>
            <a:r>
              <a:rPr lang="en-US" altLang="zh-CN" dirty="0" err="1"/>
              <a:t>count_if</a:t>
            </a:r>
            <a:r>
              <a:rPr lang="en-US" altLang="zh-CN" dirty="0"/>
              <a:t>(</a:t>
            </a:r>
            <a:r>
              <a:rPr lang="en-US" altLang="zh-CN" dirty="0" err="1"/>
              <a:t>students.begin</a:t>
            </a:r>
            <a:r>
              <a:rPr lang="en-US" altLang="zh-CN" dirty="0"/>
              <a:t>(),</a:t>
            </a:r>
            <a:r>
              <a:rPr lang="en-US" altLang="zh-CN" dirty="0" err="1"/>
              <a:t>students.end</a:t>
            </a:r>
            <a:r>
              <a:rPr lang="en-US" altLang="zh-CN" dirty="0"/>
              <a:t>(),</a:t>
            </a:r>
          </a:p>
          <a:p>
            <a:pPr marL="457200" lvl="1" indent="0">
              <a:buFontTx/>
              <a:buNone/>
              <a:defRPr/>
            </a:pPr>
            <a:r>
              <a:rPr lang="en-US" altLang="zh-CN" dirty="0"/>
              <a:t>			              </a:t>
            </a:r>
            <a:r>
              <a:rPr lang="en-US" altLang="zh-CN" dirty="0" err="1">
                <a:solidFill>
                  <a:srgbClr val="FFC000"/>
                </a:solidFill>
              </a:rPr>
              <a:t>MatchMajor</a:t>
            </a:r>
            <a:r>
              <a:rPr lang="en-US" altLang="zh-CN" dirty="0">
                <a:solidFill>
                  <a:srgbClr val="FFC000"/>
                </a:solidFill>
              </a:rPr>
              <a:t>(PHYSICS)</a:t>
            </a:r>
            <a:r>
              <a:rPr lang="en-US" altLang="zh-CN" dirty="0"/>
              <a:t>)</a:t>
            </a:r>
            <a:r>
              <a:rPr lang="zh-CN" altLang="en-US" dirty="0"/>
              <a:t>；</a:t>
            </a:r>
            <a:endParaRPr lang="en-US" altLang="zh-CN" dirty="0"/>
          </a:p>
          <a:p>
            <a:pPr marL="457200" lvl="1" indent="0">
              <a:buFontTx/>
              <a:buNone/>
              <a:defRPr/>
            </a:pPr>
            <a:r>
              <a:rPr lang="en-US" altLang="zh-CN" dirty="0" err="1"/>
              <a:t>count_if</a:t>
            </a:r>
            <a:r>
              <a:rPr lang="en-US" altLang="zh-CN" dirty="0"/>
              <a:t>(</a:t>
            </a:r>
            <a:r>
              <a:rPr lang="en-US" altLang="zh-CN" dirty="0" err="1"/>
              <a:t>students.begin</a:t>
            </a:r>
            <a:r>
              <a:rPr lang="en-US" altLang="zh-CN" dirty="0"/>
              <a:t>(),</a:t>
            </a:r>
            <a:r>
              <a:rPr lang="en-US" altLang="zh-CN" dirty="0" err="1"/>
              <a:t>students.end</a:t>
            </a:r>
            <a:r>
              <a:rPr lang="en-US" altLang="zh-CN" dirty="0"/>
              <a:t>(),</a:t>
            </a:r>
          </a:p>
          <a:p>
            <a:pPr marL="457200" lvl="1" indent="0">
              <a:buFontTx/>
              <a:buNone/>
              <a:defRPr/>
            </a:pPr>
            <a:r>
              <a:rPr lang="en-US" altLang="zh-CN" dirty="0"/>
              <a:t>			              </a:t>
            </a:r>
            <a:r>
              <a:rPr lang="en-US" altLang="zh-CN" dirty="0" err="1">
                <a:solidFill>
                  <a:srgbClr val="FFC000"/>
                </a:solidFill>
              </a:rPr>
              <a:t>MatchMajor</a:t>
            </a:r>
            <a:r>
              <a:rPr lang="en-US" altLang="zh-CN" dirty="0">
                <a:solidFill>
                  <a:srgbClr val="FFC000"/>
                </a:solidFill>
              </a:rPr>
              <a:t>(XXX)</a:t>
            </a:r>
            <a:r>
              <a:rPr lang="en-US" altLang="zh-CN" dirty="0"/>
              <a:t>)</a:t>
            </a:r>
            <a:r>
              <a:rPr lang="zh-CN" altLang="en-US" dirty="0"/>
              <a:t>；</a:t>
            </a:r>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AC7159D-0757-A70C-AB29-4D09A2A71B75}"/>
              </a:ext>
            </a:extLst>
          </p:cNvPr>
          <p:cNvSpPr>
            <a:spLocks noGrp="1"/>
          </p:cNvSpPr>
          <p:nvPr>
            <p:ph idx="1"/>
          </p:nvPr>
        </p:nvSpPr>
        <p:spPr>
          <a:xfrm>
            <a:off x="323850" y="260350"/>
            <a:ext cx="8712200" cy="6264275"/>
          </a:xfrm>
        </p:spPr>
        <p:txBody>
          <a:bodyPr>
            <a:normAutofit fontScale="77500" lnSpcReduction="20000"/>
          </a:bodyPr>
          <a:lstStyle/>
          <a:p>
            <a:pPr eaLnBrk="1" hangingPunct="1">
              <a:defRPr/>
            </a:pPr>
            <a:r>
              <a:rPr lang="zh-CN" altLang="en-US" dirty="0"/>
              <a:t>统计</a:t>
            </a:r>
            <a:r>
              <a:rPr lang="en-US" altLang="zh-CN" dirty="0"/>
              <a:t>XXX</a:t>
            </a:r>
            <a:r>
              <a:rPr lang="zh-CN" altLang="en-US" dirty="0"/>
              <a:t>专业男生</a:t>
            </a:r>
            <a:r>
              <a:rPr lang="en-US" altLang="zh-CN" dirty="0"/>
              <a:t>/</a:t>
            </a:r>
            <a:r>
              <a:rPr lang="zh-CN" altLang="en-US" dirty="0"/>
              <a:t>女生的人数</a:t>
            </a:r>
            <a:endParaRPr lang="en-US" altLang="zh-CN" dirty="0"/>
          </a:p>
          <a:p>
            <a:pPr marL="57150" indent="0">
              <a:lnSpc>
                <a:spcPct val="120000"/>
              </a:lnSpc>
              <a:buFontTx/>
              <a:buNone/>
              <a:defRPr/>
            </a:pPr>
            <a:r>
              <a:rPr lang="en-US" altLang="zh-CN" sz="2600" dirty="0"/>
              <a:t>class </a:t>
            </a:r>
            <a:r>
              <a:rPr lang="en-US" altLang="zh-CN" sz="2600" dirty="0" err="1"/>
              <a:t>MatchMajorAndSex</a:t>
            </a:r>
            <a:endParaRPr lang="en-US" altLang="zh-CN" sz="2600" dirty="0"/>
          </a:p>
          <a:p>
            <a:pPr marL="57150" indent="0">
              <a:lnSpc>
                <a:spcPct val="120000"/>
              </a:lnSpc>
              <a:buFontTx/>
              <a:buNone/>
              <a:defRPr/>
            </a:pPr>
            <a:r>
              <a:rPr lang="en-US" altLang="zh-CN" sz="2600" dirty="0"/>
              <a:t>{  Major </a:t>
            </a:r>
            <a:r>
              <a:rPr lang="en-US" altLang="zh-CN" sz="2600" dirty="0" err="1"/>
              <a:t>major</a:t>
            </a:r>
            <a:r>
              <a:rPr lang="en-US" altLang="zh-CN" sz="2600" dirty="0"/>
              <a:t>;</a:t>
            </a:r>
          </a:p>
          <a:p>
            <a:pPr marL="57150" indent="0">
              <a:lnSpc>
                <a:spcPct val="120000"/>
              </a:lnSpc>
              <a:buFontTx/>
              <a:buNone/>
              <a:defRPr/>
            </a:pPr>
            <a:r>
              <a:rPr lang="en-US" altLang="zh-CN" sz="2600" dirty="0"/>
              <a:t>    Sex </a:t>
            </a:r>
            <a:r>
              <a:rPr lang="en-US" altLang="zh-CN" sz="2600" dirty="0" err="1"/>
              <a:t>sex</a:t>
            </a:r>
            <a:r>
              <a:rPr lang="en-US" altLang="zh-CN" sz="2600" dirty="0"/>
              <a:t>;</a:t>
            </a:r>
          </a:p>
          <a:p>
            <a:pPr marL="57150" indent="0">
              <a:lnSpc>
                <a:spcPct val="120000"/>
              </a:lnSpc>
              <a:buFontTx/>
              <a:buNone/>
              <a:defRPr/>
            </a:pPr>
            <a:r>
              <a:rPr lang="en-US" altLang="zh-CN" sz="2600" dirty="0"/>
              <a:t>public:</a:t>
            </a:r>
          </a:p>
          <a:p>
            <a:pPr marL="57150" indent="0">
              <a:lnSpc>
                <a:spcPct val="120000"/>
              </a:lnSpc>
              <a:buFontTx/>
              <a:buNone/>
              <a:defRPr/>
            </a:pPr>
            <a:r>
              <a:rPr lang="en-US" altLang="zh-CN" sz="2600" dirty="0"/>
              <a:t>    </a:t>
            </a:r>
            <a:r>
              <a:rPr lang="en-US" altLang="zh-CN" sz="2600" dirty="0" err="1"/>
              <a:t>MatchMajorAndSex</a:t>
            </a:r>
            <a:r>
              <a:rPr lang="en-US" altLang="zh-CN" sz="2600" dirty="0"/>
              <a:t>(Major </a:t>
            </a:r>
            <a:r>
              <a:rPr lang="en-US" altLang="zh-CN" sz="2600" dirty="0" err="1"/>
              <a:t>m,Sex</a:t>
            </a:r>
            <a:r>
              <a:rPr lang="en-US" altLang="zh-CN" sz="2600" dirty="0"/>
              <a:t> s)</a:t>
            </a:r>
          </a:p>
          <a:p>
            <a:pPr marL="57150" indent="0">
              <a:lnSpc>
                <a:spcPct val="120000"/>
              </a:lnSpc>
              <a:buFontTx/>
              <a:buNone/>
              <a:defRPr/>
            </a:pPr>
            <a:r>
              <a:rPr lang="en-US" altLang="zh-CN" sz="2600" dirty="0"/>
              <a:t>    {	major = m;</a:t>
            </a:r>
          </a:p>
          <a:p>
            <a:pPr marL="57150" indent="0">
              <a:lnSpc>
                <a:spcPct val="120000"/>
              </a:lnSpc>
              <a:buFontTx/>
              <a:buNone/>
              <a:defRPr/>
            </a:pPr>
            <a:r>
              <a:rPr lang="en-US" altLang="zh-CN" sz="2600" dirty="0"/>
              <a:t>	sex = s;</a:t>
            </a:r>
          </a:p>
          <a:p>
            <a:pPr marL="57150" indent="0">
              <a:lnSpc>
                <a:spcPct val="120000"/>
              </a:lnSpc>
              <a:buFontTx/>
              <a:buNone/>
              <a:defRPr/>
            </a:pPr>
            <a:r>
              <a:rPr lang="en-US" altLang="zh-CN" sz="2600" dirty="0"/>
              <a:t>    }</a:t>
            </a:r>
          </a:p>
          <a:p>
            <a:pPr marL="57150" indent="0">
              <a:lnSpc>
                <a:spcPct val="120000"/>
              </a:lnSpc>
              <a:buFontTx/>
              <a:buNone/>
              <a:defRPr/>
            </a:pPr>
            <a:r>
              <a:rPr lang="en-US" altLang="zh-CN" sz="2600" dirty="0"/>
              <a:t>    bool operator ()(Student&amp; </a:t>
            </a:r>
            <a:r>
              <a:rPr lang="en-US" altLang="zh-CN" sz="2600" dirty="0" err="1"/>
              <a:t>st</a:t>
            </a:r>
            <a:r>
              <a:rPr lang="en-US" altLang="zh-CN" sz="2600" dirty="0"/>
              <a:t>)</a:t>
            </a:r>
          </a:p>
          <a:p>
            <a:pPr marL="57150" indent="0">
              <a:lnSpc>
                <a:spcPct val="120000"/>
              </a:lnSpc>
              <a:buFontTx/>
              <a:buNone/>
              <a:defRPr/>
            </a:pPr>
            <a:r>
              <a:rPr lang="en-US" altLang="zh-CN" sz="2600" dirty="0"/>
              <a:t>    { return </a:t>
            </a:r>
            <a:r>
              <a:rPr lang="en-US" altLang="zh-CN" sz="2600" dirty="0" err="1"/>
              <a:t>st.get_major</a:t>
            </a:r>
            <a:r>
              <a:rPr lang="en-US" altLang="zh-CN" sz="2600" dirty="0"/>
              <a:t>() == major &amp;&amp; </a:t>
            </a:r>
            <a:r>
              <a:rPr lang="en-US" altLang="zh-CN" sz="2600" dirty="0" err="1"/>
              <a:t>st.get_sex</a:t>
            </a:r>
            <a:r>
              <a:rPr lang="en-US" altLang="zh-CN" sz="2600" dirty="0"/>
              <a:t>() == sex;</a:t>
            </a:r>
          </a:p>
          <a:p>
            <a:pPr marL="57150" indent="0">
              <a:lnSpc>
                <a:spcPct val="120000"/>
              </a:lnSpc>
              <a:buFontTx/>
              <a:buNone/>
              <a:defRPr/>
            </a:pPr>
            <a:r>
              <a:rPr lang="en-US" altLang="zh-CN" sz="2600" dirty="0"/>
              <a:t>    }</a:t>
            </a:r>
          </a:p>
          <a:p>
            <a:pPr marL="57150" indent="0">
              <a:lnSpc>
                <a:spcPct val="120000"/>
              </a:lnSpc>
              <a:buFontTx/>
              <a:buNone/>
              <a:defRPr/>
            </a:pPr>
            <a:r>
              <a:rPr lang="en-US" altLang="zh-CN" sz="2600" dirty="0"/>
              <a:t>};</a:t>
            </a:r>
          </a:p>
          <a:p>
            <a:pPr marL="57150" indent="0">
              <a:lnSpc>
                <a:spcPct val="120000"/>
              </a:lnSpc>
              <a:buFontTx/>
              <a:buNone/>
              <a:defRPr/>
            </a:pPr>
            <a:r>
              <a:rPr lang="en-US" altLang="zh-CN" sz="2600" dirty="0" err="1"/>
              <a:t>count_if</a:t>
            </a:r>
            <a:r>
              <a:rPr lang="en-US" altLang="zh-CN" sz="2600" dirty="0"/>
              <a:t>(</a:t>
            </a:r>
            <a:r>
              <a:rPr lang="en-US" altLang="zh-CN" sz="2600" dirty="0" err="1"/>
              <a:t>students.begin</a:t>
            </a:r>
            <a:r>
              <a:rPr lang="en-US" altLang="zh-CN" sz="2600" dirty="0"/>
              <a:t>(),</a:t>
            </a:r>
            <a:r>
              <a:rPr lang="en-US" altLang="zh-CN" sz="2600" dirty="0" err="1"/>
              <a:t>students.end</a:t>
            </a:r>
            <a:r>
              <a:rPr lang="en-US" altLang="zh-CN" sz="2600" dirty="0"/>
              <a:t>(),</a:t>
            </a:r>
          </a:p>
          <a:p>
            <a:pPr marL="57150" indent="0">
              <a:lnSpc>
                <a:spcPct val="120000"/>
              </a:lnSpc>
              <a:buFontTx/>
              <a:buNone/>
              <a:defRPr/>
            </a:pPr>
            <a:r>
              <a:rPr lang="en-US" altLang="zh-CN" sz="2600" dirty="0"/>
              <a:t>             </a:t>
            </a:r>
            <a:r>
              <a:rPr lang="en-US" altLang="zh-CN" sz="2600" dirty="0" err="1">
                <a:solidFill>
                  <a:srgbClr val="FFC000"/>
                </a:solidFill>
              </a:rPr>
              <a:t>MatchMajorAndSex</a:t>
            </a:r>
            <a:r>
              <a:rPr lang="en-US" altLang="zh-CN" sz="2600" dirty="0">
                <a:solidFill>
                  <a:srgbClr val="FFC000"/>
                </a:solidFill>
              </a:rPr>
              <a:t>(COMPUTER,FEMALE)</a:t>
            </a:r>
            <a:r>
              <a:rPr lang="en-US" altLang="zh-CN" sz="2600" dirty="0"/>
              <a:t>) //</a:t>
            </a:r>
            <a:r>
              <a:rPr lang="zh-CN" altLang="en-US" sz="2600" dirty="0"/>
              <a:t>计算机女生</a:t>
            </a:r>
            <a:endParaRPr lang="en-US" altLang="zh-CN" sz="2600" dirty="0"/>
          </a:p>
          <a:p>
            <a:pPr marL="57150" indent="0">
              <a:lnSpc>
                <a:spcPct val="120000"/>
              </a:lnSpc>
              <a:buFontTx/>
              <a:buNone/>
              <a:defRPr/>
            </a:pPr>
            <a:r>
              <a:rPr lang="en-US" altLang="zh-CN" sz="2600" dirty="0" err="1"/>
              <a:t>count_if</a:t>
            </a:r>
            <a:r>
              <a:rPr lang="en-US" altLang="zh-CN" sz="2600" dirty="0"/>
              <a:t>(</a:t>
            </a:r>
            <a:r>
              <a:rPr lang="en-US" altLang="zh-CN" sz="2600" dirty="0" err="1"/>
              <a:t>students.begin</a:t>
            </a:r>
            <a:r>
              <a:rPr lang="en-US" altLang="zh-CN" sz="2600" dirty="0"/>
              <a:t>(),</a:t>
            </a:r>
            <a:r>
              <a:rPr lang="en-US" altLang="zh-CN" sz="2600" dirty="0" err="1"/>
              <a:t>students.end</a:t>
            </a:r>
            <a:r>
              <a:rPr lang="en-US" altLang="zh-CN" sz="2600" dirty="0"/>
              <a:t>(),</a:t>
            </a:r>
          </a:p>
          <a:p>
            <a:pPr marL="57150" indent="0">
              <a:lnSpc>
                <a:spcPct val="120000"/>
              </a:lnSpc>
              <a:buFontTx/>
              <a:buNone/>
              <a:defRPr/>
            </a:pPr>
            <a:r>
              <a:rPr lang="en-US" altLang="zh-CN" sz="2600" dirty="0"/>
              <a:t>             </a:t>
            </a:r>
            <a:r>
              <a:rPr lang="en-US" altLang="zh-CN" sz="2600" dirty="0" err="1">
                <a:solidFill>
                  <a:srgbClr val="FFC000"/>
                </a:solidFill>
              </a:rPr>
              <a:t>MatchMajorAndSex</a:t>
            </a:r>
            <a:r>
              <a:rPr lang="en-US" altLang="zh-CN" sz="2600" dirty="0">
                <a:solidFill>
                  <a:srgbClr val="FFC000"/>
                </a:solidFill>
              </a:rPr>
              <a:t>(PHYSICS,MALE)</a:t>
            </a:r>
            <a:r>
              <a:rPr lang="en-US" altLang="zh-CN" sz="2600" dirty="0"/>
              <a:t>) //</a:t>
            </a:r>
            <a:r>
              <a:rPr lang="zh-CN" altLang="en-US" sz="2600" dirty="0"/>
              <a:t>物理男生</a:t>
            </a:r>
            <a:endParaRPr lang="en-US" altLang="zh-CN" sz="2600" dirty="0"/>
          </a:p>
          <a:p>
            <a:pPr marL="57150" indent="0">
              <a:lnSpc>
                <a:spcPct val="120000"/>
              </a:lnSpc>
              <a:buFontTx/>
              <a:buNone/>
              <a:defRPr/>
            </a:pPr>
            <a:endParaRPr lang="en-US" altLang="zh-CN" sz="2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4F70BA7-FA90-C002-921B-4E3726471AE1}"/>
              </a:ext>
            </a:extLst>
          </p:cNvPr>
          <p:cNvSpPr>
            <a:spLocks noGrp="1"/>
          </p:cNvSpPr>
          <p:nvPr>
            <p:ph idx="1"/>
          </p:nvPr>
        </p:nvSpPr>
        <p:spPr>
          <a:xfrm>
            <a:off x="323850" y="981075"/>
            <a:ext cx="8712200" cy="4608513"/>
          </a:xfrm>
        </p:spPr>
        <p:txBody>
          <a:bodyPr>
            <a:normAutofit fontScale="92500" lnSpcReduction="10000"/>
          </a:bodyPr>
          <a:lstStyle/>
          <a:p>
            <a:pPr eaLnBrk="1" hangingPunct="1">
              <a:defRPr/>
            </a:pPr>
            <a:r>
              <a:rPr lang="zh-CN" altLang="en-US" dirty="0"/>
              <a:t>还有其它统计需求怎么办？例如，</a:t>
            </a:r>
            <a:endParaRPr lang="en-US" altLang="zh-CN" dirty="0"/>
          </a:p>
          <a:p>
            <a:pPr lvl="1" eaLnBrk="1" hangingPunct="1">
              <a:defRPr/>
            </a:pPr>
            <a:r>
              <a:rPr lang="zh-CN" altLang="en-US" dirty="0"/>
              <a:t>统计南京籍计算机专业的人数</a:t>
            </a:r>
            <a:endParaRPr lang="en-US" altLang="zh-CN" dirty="0"/>
          </a:p>
          <a:p>
            <a:pPr lvl="1" eaLnBrk="1" hangingPunct="1">
              <a:defRPr/>
            </a:pPr>
            <a:r>
              <a:rPr lang="zh-CN" altLang="en-US" dirty="0"/>
              <a:t>统计南京籍计算机专业女生的人数</a:t>
            </a:r>
            <a:endParaRPr lang="en-US" altLang="zh-CN" dirty="0"/>
          </a:p>
          <a:p>
            <a:pPr lvl="1" eaLnBrk="1" hangingPunct="1">
              <a:defRPr/>
            </a:pPr>
            <a:r>
              <a:rPr lang="en-US" altLang="zh-CN" dirty="0"/>
              <a:t>.......</a:t>
            </a:r>
          </a:p>
          <a:p>
            <a:pPr eaLnBrk="1" hangingPunct="1">
              <a:defRPr/>
            </a:pPr>
            <a:r>
              <a:rPr lang="zh-CN" altLang="en-US" dirty="0"/>
              <a:t>再定义其它的函数或函数对象？</a:t>
            </a:r>
            <a:endParaRPr lang="en-US" altLang="zh-CN" dirty="0"/>
          </a:p>
          <a:p>
            <a:pPr lvl="1" eaLnBrk="1" hangingPunct="1">
              <a:defRPr/>
            </a:pPr>
            <a:r>
              <a:rPr lang="zh-CN" altLang="en-US" dirty="0"/>
              <a:t>太多了！</a:t>
            </a:r>
            <a:endParaRPr lang="en-US" altLang="zh-CN" dirty="0"/>
          </a:p>
          <a:p>
            <a:pPr eaLnBrk="1" hangingPunct="1">
              <a:defRPr/>
            </a:pPr>
            <a:r>
              <a:rPr lang="zh-CN" altLang="en-US" dirty="0"/>
              <a:t>可以用</a:t>
            </a:r>
            <a:r>
              <a:rPr lang="el-GR" altLang="zh-CN" dirty="0">
                <a:solidFill>
                  <a:srgbClr val="FFC000"/>
                </a:solidFill>
              </a:rPr>
              <a:t>λ</a:t>
            </a:r>
            <a:r>
              <a:rPr lang="zh-CN" altLang="en-US" dirty="0">
                <a:solidFill>
                  <a:srgbClr val="FFC000"/>
                </a:solidFill>
              </a:rPr>
              <a:t>表达式</a:t>
            </a:r>
            <a:r>
              <a:rPr lang="zh-CN" altLang="en-US" dirty="0"/>
              <a:t>来解决！</a:t>
            </a:r>
            <a:endParaRPr lang="en-US" altLang="zh-CN" dirty="0"/>
          </a:p>
          <a:p>
            <a:pPr lvl="1" eaLnBrk="1" hangingPunct="1">
              <a:defRPr/>
            </a:pPr>
            <a:r>
              <a:rPr lang="zh-CN" altLang="en-US" dirty="0"/>
              <a:t>匿名函数</a:t>
            </a:r>
            <a:endParaRPr lang="en-US" altLang="zh-CN" dirty="0"/>
          </a:p>
          <a:p>
            <a:pPr lvl="1" eaLnBrk="1" hangingPunct="1">
              <a:defRPr/>
            </a:pPr>
            <a:r>
              <a:rPr lang="zh-CN" altLang="en-US" dirty="0"/>
              <a:t>编译器隐式地为之定义类（重载了函数调用操作符）和创建函数对象。</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 calcmode="lin" valueType="num">
                                      <p:cBhvr additive="base">
                                        <p:cTn id="2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EC102C5-A782-3655-9C23-70BCA656EFE6}"/>
              </a:ext>
            </a:extLst>
          </p:cNvPr>
          <p:cNvSpPr>
            <a:spLocks noGrp="1"/>
          </p:cNvSpPr>
          <p:nvPr>
            <p:ph idx="1"/>
          </p:nvPr>
        </p:nvSpPr>
        <p:spPr>
          <a:xfrm>
            <a:off x="457200" y="260350"/>
            <a:ext cx="8507413" cy="6481763"/>
          </a:xfrm>
        </p:spPr>
        <p:txBody>
          <a:bodyPr>
            <a:normAutofit fontScale="62500" lnSpcReduction="20000"/>
          </a:bodyPr>
          <a:lstStyle/>
          <a:p>
            <a:pPr marL="0" indent="0">
              <a:buFont typeface="Wingdings" panose="05000000000000000000" pitchFamily="2" charset="2"/>
              <a:buNone/>
              <a:defRPr/>
            </a:pPr>
            <a:r>
              <a:rPr lang="en-US" altLang="zh-CN" dirty="0"/>
              <a:t>//</a:t>
            </a:r>
            <a:r>
              <a:rPr lang="zh-CN" altLang="en-US" dirty="0"/>
              <a:t>统计“计算机专业女生”的人数	</a:t>
            </a:r>
          </a:p>
          <a:p>
            <a:pPr marL="0" indent="0">
              <a:buFont typeface="Wingdings" panose="05000000000000000000" pitchFamily="2" charset="2"/>
              <a:buNone/>
              <a:defRPr/>
            </a:pPr>
            <a:r>
              <a:rPr lang="en-US" altLang="zh-CN" dirty="0" err="1"/>
              <a:t>cout</a:t>
            </a:r>
            <a:r>
              <a:rPr lang="en-US" altLang="zh-CN" dirty="0"/>
              <a:t> &lt;&lt; "</a:t>
            </a:r>
            <a:r>
              <a:rPr lang="zh-CN" altLang="en-US" dirty="0"/>
              <a:t>计算机专业女生的人数是：</a:t>
            </a:r>
            <a:r>
              <a:rPr lang="en-US" altLang="zh-CN" dirty="0"/>
              <a:t>" </a:t>
            </a:r>
          </a:p>
          <a:p>
            <a:pPr marL="0" indent="0">
              <a:buFont typeface="Wingdings" panose="05000000000000000000" pitchFamily="2" charset="2"/>
              <a:buNone/>
              <a:defRPr/>
            </a:pPr>
            <a:r>
              <a:rPr lang="en-US" altLang="zh-CN" dirty="0"/>
              <a:t>      &lt;&lt; </a:t>
            </a:r>
            <a:r>
              <a:rPr lang="en-US" altLang="zh-CN" dirty="0" err="1"/>
              <a:t>count_if</a:t>
            </a:r>
            <a:r>
              <a:rPr lang="en-US" altLang="zh-CN" dirty="0"/>
              <a:t>(</a:t>
            </a:r>
            <a:r>
              <a:rPr lang="en-US" altLang="zh-CN" dirty="0" err="1"/>
              <a:t>students.begin</a:t>
            </a:r>
            <a:r>
              <a:rPr lang="en-US" altLang="zh-CN" dirty="0"/>
              <a:t>(),</a:t>
            </a:r>
            <a:r>
              <a:rPr lang="en-US" altLang="zh-CN" dirty="0" err="1"/>
              <a:t>students.end</a:t>
            </a:r>
            <a:r>
              <a:rPr lang="en-US" altLang="zh-CN" dirty="0"/>
              <a:t>(),</a:t>
            </a:r>
          </a:p>
          <a:p>
            <a:pPr marL="0" indent="0">
              <a:buFont typeface="Wingdings" panose="05000000000000000000" pitchFamily="2" charset="2"/>
              <a:buNone/>
              <a:defRPr/>
            </a:pPr>
            <a:r>
              <a:rPr lang="en-US" altLang="zh-CN" dirty="0"/>
              <a:t>        </a:t>
            </a:r>
            <a:r>
              <a:rPr lang="en-US" altLang="zh-CN" dirty="0">
                <a:solidFill>
                  <a:srgbClr val="FFC000"/>
                </a:solidFill>
              </a:rPr>
              <a:t>[](Student &amp;</a:t>
            </a:r>
            <a:r>
              <a:rPr lang="en-US" altLang="zh-CN" dirty="0" err="1">
                <a:solidFill>
                  <a:srgbClr val="FFC000"/>
                </a:solidFill>
              </a:rPr>
              <a:t>st</a:t>
            </a:r>
            <a:r>
              <a:rPr lang="en-US" altLang="zh-CN" dirty="0">
                <a:solidFill>
                  <a:srgbClr val="FFC000"/>
                </a:solidFill>
              </a:rPr>
              <a:t>) { return (</a:t>
            </a:r>
            <a:r>
              <a:rPr lang="en-US" altLang="zh-CN" dirty="0" err="1">
                <a:solidFill>
                  <a:srgbClr val="FFC000"/>
                </a:solidFill>
              </a:rPr>
              <a:t>st.get_major</a:t>
            </a:r>
            <a:r>
              <a:rPr lang="en-US" altLang="zh-CN" dirty="0">
                <a:solidFill>
                  <a:srgbClr val="FFC000"/>
                </a:solidFill>
              </a:rPr>
              <a:t>() == COMPUTER)</a:t>
            </a:r>
          </a:p>
          <a:p>
            <a:pPr marL="0" indent="0">
              <a:buFont typeface="Wingdings" panose="05000000000000000000" pitchFamily="2" charset="2"/>
              <a:buNone/>
              <a:defRPr/>
            </a:pPr>
            <a:r>
              <a:rPr lang="en-US" altLang="zh-CN" dirty="0">
                <a:solidFill>
                  <a:srgbClr val="FFC000"/>
                </a:solidFill>
              </a:rPr>
              <a:t>			     &amp;&amp; (</a:t>
            </a:r>
            <a:r>
              <a:rPr lang="en-US" altLang="zh-CN" dirty="0" err="1">
                <a:solidFill>
                  <a:srgbClr val="FFC000"/>
                </a:solidFill>
              </a:rPr>
              <a:t>st.get_sex</a:t>
            </a:r>
            <a:r>
              <a:rPr lang="en-US" altLang="zh-CN" dirty="0">
                <a:solidFill>
                  <a:srgbClr val="FFC000"/>
                </a:solidFill>
              </a:rPr>
              <a:t>() == FEMALE); }</a:t>
            </a:r>
            <a:r>
              <a:rPr lang="en-US" altLang="zh-CN" dirty="0"/>
              <a:t>);</a:t>
            </a:r>
          </a:p>
          <a:p>
            <a:pPr marL="0" indent="0">
              <a:buFont typeface="Wingdings" panose="05000000000000000000" pitchFamily="2" charset="2"/>
              <a:buNone/>
              <a:defRPr/>
            </a:pPr>
            <a:endParaRPr lang="en-US" altLang="zh-CN" dirty="0"/>
          </a:p>
          <a:p>
            <a:pPr marL="0" indent="0">
              <a:buFont typeface="Wingdings" panose="05000000000000000000" pitchFamily="2" charset="2"/>
              <a:buNone/>
              <a:defRPr/>
            </a:pPr>
            <a:r>
              <a:rPr lang="en-US" altLang="zh-CN" dirty="0"/>
              <a:t>//</a:t>
            </a:r>
            <a:r>
              <a:rPr lang="zh-CN" altLang="en-US" dirty="0"/>
              <a:t>统计出生地为</a:t>
            </a:r>
            <a:r>
              <a:rPr lang="en-US" altLang="zh-CN" dirty="0"/>
              <a:t>"</a:t>
            </a:r>
            <a:r>
              <a:rPr lang="zh-CN" altLang="en-US" dirty="0"/>
              <a:t>南京籍计算机专业</a:t>
            </a:r>
            <a:r>
              <a:rPr lang="en-US" altLang="zh-CN" dirty="0"/>
              <a:t>"</a:t>
            </a:r>
            <a:r>
              <a:rPr lang="zh-CN" altLang="en-US" dirty="0"/>
              <a:t>的学生人数</a:t>
            </a:r>
          </a:p>
          <a:p>
            <a:pPr marL="0" indent="0">
              <a:buFont typeface="Wingdings" panose="05000000000000000000" pitchFamily="2" charset="2"/>
              <a:buNone/>
              <a:defRPr/>
            </a:pPr>
            <a:r>
              <a:rPr lang="en-US" altLang="zh-CN" dirty="0" err="1"/>
              <a:t>cout</a:t>
            </a:r>
            <a:r>
              <a:rPr lang="en-US" altLang="zh-CN" dirty="0"/>
              <a:t> &lt;&lt; "</a:t>
            </a:r>
            <a:r>
              <a:rPr lang="zh-CN" altLang="en-US" dirty="0"/>
              <a:t>出生地为</a:t>
            </a:r>
            <a:r>
              <a:rPr lang="en-US" altLang="zh-CN" dirty="0"/>
              <a:t>\"</a:t>
            </a:r>
            <a:r>
              <a:rPr lang="zh-CN" altLang="en-US" dirty="0"/>
              <a:t>南京</a:t>
            </a:r>
            <a:r>
              <a:rPr lang="en-US" altLang="zh-CN" dirty="0"/>
              <a:t>\"</a:t>
            </a:r>
            <a:r>
              <a:rPr lang="zh-CN" altLang="en-US" dirty="0"/>
              <a:t>的学生人数是：</a:t>
            </a:r>
            <a:r>
              <a:rPr lang="en-US" altLang="zh-CN" dirty="0"/>
              <a:t>" </a:t>
            </a:r>
          </a:p>
          <a:p>
            <a:pPr marL="0" indent="0">
              <a:buFont typeface="Wingdings" panose="05000000000000000000" pitchFamily="2" charset="2"/>
              <a:buNone/>
              <a:defRPr/>
            </a:pPr>
            <a:r>
              <a:rPr lang="en-US" altLang="zh-CN" dirty="0"/>
              <a:t>      &lt;&lt; </a:t>
            </a:r>
            <a:r>
              <a:rPr lang="en-US" altLang="zh-CN" dirty="0" err="1"/>
              <a:t>count_if</a:t>
            </a:r>
            <a:r>
              <a:rPr lang="en-US" altLang="zh-CN" dirty="0"/>
              <a:t>(</a:t>
            </a:r>
            <a:r>
              <a:rPr lang="en-US" altLang="zh-CN" dirty="0" err="1"/>
              <a:t>students.begin</a:t>
            </a:r>
            <a:r>
              <a:rPr lang="en-US" altLang="zh-CN" dirty="0"/>
              <a:t>(),</a:t>
            </a:r>
            <a:r>
              <a:rPr lang="en-US" altLang="zh-CN" dirty="0" err="1"/>
              <a:t>students.end</a:t>
            </a:r>
            <a:r>
              <a:rPr lang="en-US" altLang="zh-CN" dirty="0"/>
              <a:t>(),</a:t>
            </a:r>
          </a:p>
          <a:p>
            <a:pPr marL="0" indent="0">
              <a:buFont typeface="Wingdings" panose="05000000000000000000" pitchFamily="2" charset="2"/>
              <a:buNone/>
              <a:defRPr/>
            </a:pPr>
            <a:r>
              <a:rPr lang="en-US" altLang="zh-CN" dirty="0"/>
              <a:t>  </a:t>
            </a:r>
            <a:r>
              <a:rPr lang="en-US" altLang="zh-CN" dirty="0">
                <a:solidFill>
                  <a:srgbClr val="FFC000"/>
                </a:solidFill>
              </a:rPr>
              <a:t>[](Student &amp;</a:t>
            </a:r>
            <a:r>
              <a:rPr lang="en-US" altLang="zh-CN" dirty="0" err="1">
                <a:solidFill>
                  <a:srgbClr val="FFC000"/>
                </a:solidFill>
              </a:rPr>
              <a:t>st</a:t>
            </a:r>
            <a:r>
              <a:rPr lang="en-US" altLang="zh-CN" dirty="0">
                <a:solidFill>
                  <a:srgbClr val="FFC000"/>
                </a:solidFill>
              </a:rPr>
              <a:t>) { return (</a:t>
            </a:r>
            <a:r>
              <a:rPr lang="en-US" altLang="zh-CN" dirty="0" err="1">
                <a:solidFill>
                  <a:srgbClr val="FFC000"/>
                </a:solidFill>
              </a:rPr>
              <a:t>st.get_major</a:t>
            </a:r>
            <a:r>
              <a:rPr lang="en-US" altLang="zh-CN" dirty="0">
                <a:solidFill>
                  <a:srgbClr val="FFC000"/>
                </a:solidFill>
              </a:rPr>
              <a:t>() == COMPUTER) </a:t>
            </a:r>
          </a:p>
          <a:p>
            <a:pPr marL="0" indent="0">
              <a:buFont typeface="Wingdings" panose="05000000000000000000" pitchFamily="2" charset="2"/>
              <a:buNone/>
              <a:defRPr/>
            </a:pPr>
            <a:r>
              <a:rPr lang="en-US" altLang="zh-CN" dirty="0">
                <a:solidFill>
                  <a:srgbClr val="FFC000"/>
                </a:solidFill>
              </a:rPr>
              <a:t>          &amp;&amp; (</a:t>
            </a:r>
            <a:r>
              <a:rPr lang="en-US" altLang="zh-CN" dirty="0" err="1">
                <a:solidFill>
                  <a:srgbClr val="FFC000"/>
                </a:solidFill>
              </a:rPr>
              <a:t>st.get_birth_place</a:t>
            </a:r>
            <a:r>
              <a:rPr lang="en-US" altLang="zh-CN" dirty="0">
                <a:solidFill>
                  <a:srgbClr val="FFC000"/>
                </a:solidFill>
              </a:rPr>
              <a:t>().find("</a:t>
            </a:r>
            <a:r>
              <a:rPr lang="zh-CN" altLang="en-US" dirty="0">
                <a:solidFill>
                  <a:srgbClr val="FFC000"/>
                </a:solidFill>
              </a:rPr>
              <a:t>南京</a:t>
            </a:r>
            <a:r>
              <a:rPr lang="en-US" altLang="zh-CN" dirty="0">
                <a:solidFill>
                  <a:srgbClr val="FFC000"/>
                </a:solidFill>
              </a:rPr>
              <a:t>")!= string::</a:t>
            </a:r>
            <a:r>
              <a:rPr lang="en-US" altLang="zh-CN" dirty="0" err="1">
                <a:solidFill>
                  <a:srgbClr val="FFC000"/>
                </a:solidFill>
              </a:rPr>
              <a:t>npos</a:t>
            </a:r>
            <a:r>
              <a:rPr lang="en-US" altLang="zh-CN" dirty="0">
                <a:solidFill>
                  <a:srgbClr val="FFC000"/>
                </a:solidFill>
              </a:rPr>
              <a:t>);}</a:t>
            </a:r>
            <a:r>
              <a:rPr lang="en-US" altLang="zh-CN" dirty="0"/>
              <a:t>);</a:t>
            </a:r>
          </a:p>
          <a:p>
            <a:pPr marL="0" indent="0">
              <a:buFont typeface="Wingdings" panose="05000000000000000000" pitchFamily="2" charset="2"/>
              <a:buNone/>
              <a:defRPr/>
            </a:pPr>
            <a:endParaRPr lang="en-US" altLang="zh-CN" dirty="0"/>
          </a:p>
          <a:p>
            <a:pPr marL="0" indent="0">
              <a:buFont typeface="Wingdings" panose="05000000000000000000" pitchFamily="2" charset="2"/>
              <a:buNone/>
              <a:defRPr/>
            </a:pPr>
            <a:r>
              <a:rPr lang="en-US" altLang="zh-CN" dirty="0"/>
              <a:t>//</a:t>
            </a:r>
            <a:r>
              <a:rPr lang="zh-CN" altLang="en-US" dirty="0"/>
              <a:t>按“学号由小到大”对</a:t>
            </a:r>
            <a:r>
              <a:rPr lang="en-US" altLang="zh-CN" dirty="0"/>
              <a:t>students</a:t>
            </a:r>
            <a:r>
              <a:rPr lang="zh-CN" altLang="en-US" dirty="0"/>
              <a:t>的元素进行排序</a:t>
            </a:r>
          </a:p>
          <a:p>
            <a:pPr marL="0" indent="0">
              <a:buFont typeface="Wingdings" panose="05000000000000000000" pitchFamily="2" charset="2"/>
              <a:buNone/>
              <a:defRPr/>
            </a:pPr>
            <a:r>
              <a:rPr lang="en-US" altLang="zh-CN" dirty="0"/>
              <a:t>sort(</a:t>
            </a:r>
            <a:r>
              <a:rPr lang="en-US" altLang="zh-CN" dirty="0" err="1"/>
              <a:t>students.begin</a:t>
            </a:r>
            <a:r>
              <a:rPr lang="en-US" altLang="zh-CN" dirty="0"/>
              <a:t>(),</a:t>
            </a:r>
            <a:r>
              <a:rPr lang="en-US" altLang="zh-CN" dirty="0" err="1"/>
              <a:t>students.end</a:t>
            </a:r>
            <a:r>
              <a:rPr lang="en-US" altLang="zh-CN" dirty="0"/>
              <a:t>(),</a:t>
            </a:r>
          </a:p>
          <a:p>
            <a:pPr marL="0" indent="0">
              <a:buFont typeface="Wingdings" panose="05000000000000000000" pitchFamily="2" charset="2"/>
              <a:buNone/>
              <a:defRPr/>
            </a:pPr>
            <a:r>
              <a:rPr lang="en-US" altLang="zh-CN" dirty="0"/>
              <a:t>		</a:t>
            </a:r>
            <a:r>
              <a:rPr lang="en-US" altLang="zh-CN" dirty="0">
                <a:solidFill>
                  <a:srgbClr val="FFC000"/>
                </a:solidFill>
              </a:rPr>
              <a:t>[](Student &amp;st1,Student &amp;st2) {  </a:t>
            </a:r>
          </a:p>
          <a:p>
            <a:pPr marL="0" indent="0">
              <a:buFont typeface="Wingdings" panose="05000000000000000000" pitchFamily="2" charset="2"/>
              <a:buNone/>
              <a:defRPr/>
            </a:pPr>
            <a:r>
              <a:rPr lang="en-US" altLang="zh-CN" dirty="0">
                <a:solidFill>
                  <a:srgbClr val="FFC000"/>
                </a:solidFill>
              </a:rPr>
              <a:t>                                 return  st1.get_no()&lt;st2.get_no();}</a:t>
            </a:r>
            <a:r>
              <a:rPr lang="en-US" altLang="zh-CN" dirty="0"/>
              <a:t>);</a:t>
            </a:r>
          </a:p>
          <a:p>
            <a:pPr marL="0" indent="0">
              <a:buFont typeface="Wingdings" panose="05000000000000000000" pitchFamily="2" charset="2"/>
              <a:buNone/>
              <a:defRPr/>
            </a:pPr>
            <a:r>
              <a:rPr lang="en-US" altLang="zh-CN" dirty="0"/>
              <a:t>//</a:t>
            </a:r>
            <a:r>
              <a:rPr lang="zh-CN" altLang="en-US" dirty="0"/>
              <a:t>按“姓名由小到大”对</a:t>
            </a:r>
            <a:r>
              <a:rPr lang="en-US" altLang="zh-CN" dirty="0"/>
              <a:t>students</a:t>
            </a:r>
            <a:r>
              <a:rPr lang="zh-CN" altLang="en-US" dirty="0"/>
              <a:t>的元素进行排序</a:t>
            </a:r>
          </a:p>
          <a:p>
            <a:pPr marL="0" indent="0">
              <a:buFont typeface="Wingdings" panose="05000000000000000000" pitchFamily="2" charset="2"/>
              <a:buNone/>
              <a:defRPr/>
            </a:pPr>
            <a:r>
              <a:rPr lang="en-US" altLang="zh-CN" dirty="0"/>
              <a:t>sort(</a:t>
            </a:r>
            <a:r>
              <a:rPr lang="en-US" altLang="zh-CN" dirty="0" err="1"/>
              <a:t>students.begin</a:t>
            </a:r>
            <a:r>
              <a:rPr lang="en-US" altLang="zh-CN" dirty="0"/>
              <a:t>(),</a:t>
            </a:r>
            <a:r>
              <a:rPr lang="en-US" altLang="zh-CN" dirty="0" err="1"/>
              <a:t>students.end</a:t>
            </a:r>
            <a:r>
              <a:rPr lang="en-US" altLang="zh-CN" dirty="0"/>
              <a:t>(),</a:t>
            </a:r>
          </a:p>
          <a:p>
            <a:pPr marL="0" indent="0">
              <a:buFont typeface="Wingdings" panose="05000000000000000000" pitchFamily="2" charset="2"/>
              <a:buNone/>
              <a:defRPr/>
            </a:pPr>
            <a:r>
              <a:rPr lang="en-US" altLang="zh-CN" dirty="0"/>
              <a:t>		</a:t>
            </a:r>
            <a:r>
              <a:rPr lang="en-US" altLang="zh-CN" dirty="0">
                <a:solidFill>
                  <a:srgbClr val="FFC000"/>
                </a:solidFill>
              </a:rPr>
              <a:t>[](Student &amp;st1,Student &amp;st2) {  </a:t>
            </a:r>
          </a:p>
          <a:p>
            <a:pPr marL="0" indent="0">
              <a:buFont typeface="Wingdings" panose="05000000000000000000" pitchFamily="2" charset="2"/>
              <a:buNone/>
              <a:defRPr/>
            </a:pPr>
            <a:r>
              <a:rPr lang="en-US" altLang="zh-CN" dirty="0">
                <a:solidFill>
                  <a:srgbClr val="FFC000"/>
                </a:solidFill>
              </a:rPr>
              <a:t>                           return st1.get_name()&lt;st2.get_name();}</a:t>
            </a:r>
            <a:r>
              <a:rPr lang="en-US" altLang="zh-CN" dirty="0"/>
              <a:t>);</a:t>
            </a:r>
          </a:p>
          <a:p>
            <a:pPr marL="0" indent="0">
              <a:buFont typeface="Wingdings" panose="05000000000000000000" pitchFamily="2" charset="2"/>
              <a:buNone/>
              <a:defRPr/>
            </a:pPr>
            <a:r>
              <a:rPr lang="en-US" altLang="zh-CN" dirty="0"/>
              <a:t>......</a:t>
            </a:r>
          </a:p>
        </p:txBody>
      </p:sp>
    </p:spTree>
  </p:cSld>
  <p:clrMapOvr>
    <a:masterClrMapping/>
  </p:clrMapOvr>
</p:sld>
</file>

<file path=ppt/theme/theme1.xml><?xml version="1.0" encoding="utf-8"?>
<a:theme xmlns:a="http://schemas.openxmlformats.org/drawingml/2006/main" name="Globe">
  <a:themeElements>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1_Globe 9">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themeOverride>
</file>

<file path=docProps/app.xml><?xml version="1.0" encoding="utf-8"?>
<Properties xmlns="http://schemas.openxmlformats.org/officeDocument/2006/extended-properties" xmlns:vt="http://schemas.openxmlformats.org/officeDocument/2006/docPropsVTypes">
  <Template>Globe</Template>
  <TotalTime>14931</TotalTime>
  <Words>5327</Words>
  <Application>Microsoft Office PowerPoint</Application>
  <PresentationFormat>全屏显示(4:3)</PresentationFormat>
  <Paragraphs>467</Paragraphs>
  <Slides>43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43</vt:i4>
      </vt:variant>
    </vt:vector>
  </HeadingPairs>
  <TitlesOfParts>
    <vt:vector size="49" baseType="lpstr">
      <vt:lpstr>Verdana</vt:lpstr>
      <vt:lpstr>宋体</vt:lpstr>
      <vt:lpstr>Arial</vt:lpstr>
      <vt:lpstr>Wingdings</vt:lpstr>
      <vt:lpstr>Calibri</vt:lpstr>
      <vt:lpstr>Globe</vt:lpstr>
      <vt:lpstr>泛型（类属）程序设计</vt:lpstr>
      <vt:lpstr>什么是STL？</vt:lpstr>
      <vt:lpstr>STL包含什么？</vt:lpstr>
      <vt:lpstr>基于STL编程的例子</vt:lpstr>
      <vt:lpstr>PowerPoint 演示文稿</vt:lpstr>
      <vt:lpstr>容器</vt:lpstr>
      <vt:lpstr>STL的主要容器</vt:lpstr>
      <vt:lpstr>PowerPoint 演示文稿</vt:lpstr>
      <vt:lpstr>PowerPoint 演示文稿</vt:lpstr>
      <vt:lpstr>PowerPoint 演示文稿</vt:lpstr>
      <vt:lpstr>容器的基本操作</vt:lpstr>
      <vt:lpstr>PowerPoint 演示文稿</vt:lpstr>
      <vt:lpstr>例：利用容器vector来实现序列元素的存储与统计</vt:lpstr>
      <vt:lpstr>PowerPoint 演示文稿</vt:lpstr>
      <vt:lpstr>PowerPoint 演示文稿</vt:lpstr>
      <vt:lpstr>例：利用容器map来实现电话号码簿功能</vt:lpstr>
      <vt:lpstr>PowerPoint 演示文稿</vt:lpstr>
      <vt:lpstr>PowerPoint 演示文稿</vt:lpstr>
      <vt:lpstr>迭代器</vt:lpstr>
      <vt:lpstr>PowerPoint 演示文稿</vt:lpstr>
      <vt:lpstr>迭代器之间的相容关系</vt:lpstr>
      <vt:lpstr>各容器的迭代器类型</vt:lpstr>
      <vt:lpstr>PowerPoint 演示文稿</vt:lpstr>
      <vt:lpstr>例：利用STL的容器list和迭代器实现求解约瑟夫问题</vt:lpstr>
      <vt:lpstr>PowerPoint 演示文稿</vt:lpstr>
      <vt:lpstr>算法</vt:lpstr>
      <vt:lpstr>PowerPoint 演示文稿</vt:lpstr>
      <vt:lpstr>算法与容器之间的关系</vt:lpstr>
      <vt:lpstr>算法接受的迭代器类型</vt:lpstr>
      <vt:lpstr>算法的操作范围</vt:lpstr>
      <vt:lpstr>PowerPoint 演示文稿</vt:lpstr>
      <vt:lpstr>算法的自定义操作条件</vt:lpstr>
      <vt:lpstr>PowerPoint 演示文稿</vt:lpstr>
      <vt:lpstr>算法的自定义操作</vt:lpstr>
      <vt:lpstr>PowerPoint 演示文稿</vt:lpstr>
      <vt:lpstr>PowerPoint 演示文稿</vt:lpstr>
      <vt:lpstr>STL算法的应用 --在“学生”容器中做统计</vt:lpstr>
      <vt:lpstr>PowerPoint 演示文稿</vt:lpstr>
      <vt:lpstr>PowerPoint 演示文稿</vt:lpstr>
      <vt:lpstr>PowerPoint 演示文稿</vt:lpstr>
      <vt:lpstr>PowerPoint 演示文稿</vt:lpstr>
      <vt:lpstr>PowerPoint 演示文稿</vt:lpstr>
      <vt:lpstr>PowerPoint 演示文稿</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第九章 类属机制－－模板</dc:title>
  <dc:creator>chenjiajun</dc:creator>
  <cp:lastModifiedBy>润泽 颜</cp:lastModifiedBy>
  <cp:revision>473</cp:revision>
  <dcterms:created xsi:type="dcterms:W3CDTF">2005-01-05T08:01:58Z</dcterms:created>
  <dcterms:modified xsi:type="dcterms:W3CDTF">2026-06-18T00:20:47Z</dcterms:modified>
</cp:coreProperties>
</file>