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39"/>
  </p:notesMasterIdLst>
  <p:sldIdLst>
    <p:sldId id="256" r:id="rId2"/>
    <p:sldId id="327" r:id="rId3"/>
    <p:sldId id="324" r:id="rId4"/>
    <p:sldId id="325" r:id="rId5"/>
    <p:sldId id="297" r:id="rId6"/>
    <p:sldId id="328" r:id="rId7"/>
    <p:sldId id="348" r:id="rId8"/>
    <p:sldId id="351" r:id="rId9"/>
    <p:sldId id="352" r:id="rId10"/>
    <p:sldId id="309" r:id="rId11"/>
    <p:sldId id="349" r:id="rId12"/>
    <p:sldId id="350" r:id="rId13"/>
    <p:sldId id="310" r:id="rId14"/>
    <p:sldId id="303" r:id="rId15"/>
    <p:sldId id="305" r:id="rId16"/>
    <p:sldId id="323" r:id="rId17"/>
    <p:sldId id="322" r:id="rId18"/>
    <p:sldId id="329" r:id="rId19"/>
    <p:sldId id="314" r:id="rId20"/>
    <p:sldId id="315" r:id="rId21"/>
    <p:sldId id="331" r:id="rId22"/>
    <p:sldId id="332" r:id="rId23"/>
    <p:sldId id="335" r:id="rId24"/>
    <p:sldId id="333" r:id="rId25"/>
    <p:sldId id="339" r:id="rId26"/>
    <p:sldId id="334" r:id="rId27"/>
    <p:sldId id="343" r:id="rId28"/>
    <p:sldId id="336" r:id="rId29"/>
    <p:sldId id="308" r:id="rId30"/>
    <p:sldId id="341" r:id="rId31"/>
    <p:sldId id="338" r:id="rId32"/>
    <p:sldId id="316" r:id="rId33"/>
    <p:sldId id="342" r:id="rId34"/>
    <p:sldId id="344" r:id="rId35"/>
    <p:sldId id="345" r:id="rId36"/>
    <p:sldId id="346" r:id="rId37"/>
    <p:sldId id="353" r:id="rId3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D"/>
    <a:srgbClr val="FA66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07" autoAdjust="0"/>
    <p:restoredTop sz="79803" autoAdjust="0"/>
  </p:normalViewPr>
  <p:slideViewPr>
    <p:cSldViewPr>
      <p:cViewPr varScale="1">
        <p:scale>
          <a:sx n="127" d="100"/>
          <a:sy n="127" d="100"/>
        </p:scale>
        <p:origin x="5388"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07748FB4-7E06-76CA-BF02-97C4B4D5C73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33123" name="Rectangle 3">
            <a:extLst>
              <a:ext uri="{FF2B5EF4-FFF2-40B4-BE49-F238E27FC236}">
                <a16:creationId xmlns:a16="http://schemas.microsoft.com/office/drawing/2014/main" id="{A1FFE86D-590F-3F69-7462-A630BC3EE7E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5EFB6D0A-115F-C15C-EB41-81656530BB6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5" name="Rectangle 5">
            <a:extLst>
              <a:ext uri="{FF2B5EF4-FFF2-40B4-BE49-F238E27FC236}">
                <a16:creationId xmlns:a16="http://schemas.microsoft.com/office/drawing/2014/main" id="{934A305B-9897-2279-C107-377420B79B2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33126" name="Rectangle 6">
            <a:extLst>
              <a:ext uri="{FF2B5EF4-FFF2-40B4-BE49-F238E27FC236}">
                <a16:creationId xmlns:a16="http://schemas.microsoft.com/office/drawing/2014/main" id="{41577ECD-1CD3-63A0-1DF1-506DA34F0E2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33127" name="Rectangle 7">
            <a:extLst>
              <a:ext uri="{FF2B5EF4-FFF2-40B4-BE49-F238E27FC236}">
                <a16:creationId xmlns:a16="http://schemas.microsoft.com/office/drawing/2014/main" id="{6173C1D2-E595-380C-DB48-A1E2B19F836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panose="020B0604020202020204" pitchFamily="34" charset="0"/>
              </a:defRPr>
            </a:lvl1pPr>
          </a:lstStyle>
          <a:p>
            <a:pPr>
              <a:defRPr/>
            </a:pPr>
            <a:fld id="{E4938451-07B2-40DF-A1A9-12252B2E952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7BB58DEE-4E15-9835-1529-6072B689E6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D6D0D0F-09D9-43C0-B429-4B47D3061894}" type="slidenum">
              <a:rPr lang="en-US" altLang="zh-CN"/>
              <a:pPr>
                <a:spcBef>
                  <a:spcPct val="0"/>
                </a:spcBef>
              </a:pPr>
              <a:t>1</a:t>
            </a:fld>
            <a:endParaRPr lang="en-US" altLang="zh-CN"/>
          </a:p>
        </p:txBody>
      </p:sp>
      <p:sp>
        <p:nvSpPr>
          <p:cNvPr id="5123" name="Rectangle 2">
            <a:extLst>
              <a:ext uri="{FF2B5EF4-FFF2-40B4-BE49-F238E27FC236}">
                <a16:creationId xmlns:a16="http://schemas.microsoft.com/office/drawing/2014/main" id="{9BD08F77-38F6-5744-46B3-C89C15AF8083}"/>
              </a:ext>
            </a:extLst>
          </p:cNvPr>
          <p:cNvSpPr>
            <a:spLocks noRot="1" noChangeArrowheads="1" noTextEdit="1"/>
          </p:cNvSpPr>
          <p:nvPr>
            <p:ph type="sldImg"/>
          </p:nvPr>
        </p:nvSpPr>
        <p:spPr>
          <a:ln/>
        </p:spPr>
      </p:sp>
      <p:sp>
        <p:nvSpPr>
          <p:cNvPr id="5124" name="Rectangle 3">
            <a:extLst>
              <a:ext uri="{FF2B5EF4-FFF2-40B4-BE49-F238E27FC236}">
                <a16:creationId xmlns:a16="http://schemas.microsoft.com/office/drawing/2014/main" id="{77FE6763-DB1B-216D-0F6E-BE1E697CA7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E058C4CE-F63A-5373-CA04-CEA572CDB310}"/>
              </a:ext>
            </a:extLst>
          </p:cNvPr>
          <p:cNvSpPr>
            <a:spLocks noGrp="1" noRot="1" noChangeAspect="1" noChangeArrowheads="1" noTextEdit="1"/>
          </p:cNvSpPr>
          <p:nvPr>
            <p:ph type="sldImg"/>
          </p:nvPr>
        </p:nvSpPr>
        <p:spPr>
          <a:ln/>
        </p:spPr>
      </p:sp>
      <p:sp>
        <p:nvSpPr>
          <p:cNvPr id="43011" name="备注占位符 2">
            <a:extLst>
              <a:ext uri="{FF2B5EF4-FFF2-40B4-BE49-F238E27FC236}">
                <a16:creationId xmlns:a16="http://schemas.microsoft.com/office/drawing/2014/main" id="{812F3DA7-F2B9-14B8-4A10-F540BBE8D3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灯片编号占位符 3">
            <a:extLst>
              <a:ext uri="{FF2B5EF4-FFF2-40B4-BE49-F238E27FC236}">
                <a16:creationId xmlns:a16="http://schemas.microsoft.com/office/drawing/2014/main" id="{D9881952-1636-C704-4146-E1CA9D40DB0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2340925-518B-4D14-B7F5-920AA6BF0276}" type="slidenum">
              <a:rPr lang="en-US" altLang="zh-CN">
                <a:latin typeface="Arial" panose="020B0604020202020204" pitchFamily="34" charset="0"/>
              </a:rPr>
              <a:pPr/>
              <a:t>37</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3EF46E7-3D45-59D7-A686-6EAFC88E68A0}"/>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60F40F02-CA58-D1CD-C9DA-805CAFCB3ADE}"/>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 name="Freeform 4">
              <a:extLst>
                <a:ext uri="{FF2B5EF4-FFF2-40B4-BE49-F238E27FC236}">
                  <a16:creationId xmlns:a16="http://schemas.microsoft.com/office/drawing/2014/main" id="{B1DA22D4-78AC-F254-F0FF-3B5CE6178B3A}"/>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5" name="Freeform 5">
              <a:extLst>
                <a:ext uri="{FF2B5EF4-FFF2-40B4-BE49-F238E27FC236}">
                  <a16:creationId xmlns:a16="http://schemas.microsoft.com/office/drawing/2014/main" id="{6856ADA7-1BC4-3301-D6D1-1D30B1E6B909}"/>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6" name="Group 6">
              <a:extLst>
                <a:ext uri="{FF2B5EF4-FFF2-40B4-BE49-F238E27FC236}">
                  <a16:creationId xmlns:a16="http://schemas.microsoft.com/office/drawing/2014/main" id="{36A8B11B-8B53-BC15-AF6F-43197D33F791}"/>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45CAA0A8-0BCA-4497-21D8-CF52DC35C5B7}"/>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7" name="Freeform 8">
                <a:extLst>
                  <a:ext uri="{FF2B5EF4-FFF2-40B4-BE49-F238E27FC236}">
                    <a16:creationId xmlns:a16="http://schemas.microsoft.com/office/drawing/2014/main" id="{2E814A24-1A72-3F9D-7C88-91B26E1F269B}"/>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8" name="Freeform 9">
                <a:extLst>
                  <a:ext uri="{FF2B5EF4-FFF2-40B4-BE49-F238E27FC236}">
                    <a16:creationId xmlns:a16="http://schemas.microsoft.com/office/drawing/2014/main" id="{E1C4E7BD-FEB8-C401-15DA-149FDCFB6090}"/>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9" name="Freeform 10">
                <a:extLst>
                  <a:ext uri="{FF2B5EF4-FFF2-40B4-BE49-F238E27FC236}">
                    <a16:creationId xmlns:a16="http://schemas.microsoft.com/office/drawing/2014/main" id="{3EF0AE7F-8539-5497-A454-11AB3D25108E}"/>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0" name="Freeform 11">
                <a:extLst>
                  <a:ext uri="{FF2B5EF4-FFF2-40B4-BE49-F238E27FC236}">
                    <a16:creationId xmlns:a16="http://schemas.microsoft.com/office/drawing/2014/main" id="{9074C331-8EBB-2C1C-C88A-1FDDBDBA2781}"/>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1" name="Freeform 12">
                <a:extLst>
                  <a:ext uri="{FF2B5EF4-FFF2-40B4-BE49-F238E27FC236}">
                    <a16:creationId xmlns:a16="http://schemas.microsoft.com/office/drawing/2014/main" id="{A2C5D22C-896C-D412-1373-7687D8C8077B}"/>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2" name="Freeform 13">
                <a:extLst>
                  <a:ext uri="{FF2B5EF4-FFF2-40B4-BE49-F238E27FC236}">
                    <a16:creationId xmlns:a16="http://schemas.microsoft.com/office/drawing/2014/main" id="{A44042E0-AD28-6E31-5F3B-E1C65F002A38}"/>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3" name="Freeform 14">
                <a:extLst>
                  <a:ext uri="{FF2B5EF4-FFF2-40B4-BE49-F238E27FC236}">
                    <a16:creationId xmlns:a16="http://schemas.microsoft.com/office/drawing/2014/main" id="{8D12EB46-A37F-1669-EDC2-98612F73FB23}"/>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4" name="Freeform 15">
                <a:extLst>
                  <a:ext uri="{FF2B5EF4-FFF2-40B4-BE49-F238E27FC236}">
                    <a16:creationId xmlns:a16="http://schemas.microsoft.com/office/drawing/2014/main" id="{E21666F0-3784-5ADF-C3F7-E7445AE44454}"/>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5" name="Freeform 16">
                <a:extLst>
                  <a:ext uri="{FF2B5EF4-FFF2-40B4-BE49-F238E27FC236}">
                    <a16:creationId xmlns:a16="http://schemas.microsoft.com/office/drawing/2014/main" id="{DA0F128F-4CF2-ACDE-D5EC-65B4A05A6F91}"/>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6" name="Freeform 17">
                <a:extLst>
                  <a:ext uri="{FF2B5EF4-FFF2-40B4-BE49-F238E27FC236}">
                    <a16:creationId xmlns:a16="http://schemas.microsoft.com/office/drawing/2014/main" id="{01649F68-290D-7CBF-1F65-A5D3EB26E3BF}"/>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7" name="Freeform 18">
                <a:extLst>
                  <a:ext uri="{FF2B5EF4-FFF2-40B4-BE49-F238E27FC236}">
                    <a16:creationId xmlns:a16="http://schemas.microsoft.com/office/drawing/2014/main" id="{FB166C0A-A56E-1D4B-277B-B1E43D28004D}"/>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8" name="Freeform 19">
                <a:extLst>
                  <a:ext uri="{FF2B5EF4-FFF2-40B4-BE49-F238E27FC236}">
                    <a16:creationId xmlns:a16="http://schemas.microsoft.com/office/drawing/2014/main" id="{90A93D7C-8DD8-A61C-B791-32391CEEA954}"/>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7" name="Freeform 20">
              <a:extLst>
                <a:ext uri="{FF2B5EF4-FFF2-40B4-BE49-F238E27FC236}">
                  <a16:creationId xmlns:a16="http://schemas.microsoft.com/office/drawing/2014/main" id="{D8B5C287-E067-A9FA-AA24-EBE4C4FB3030}"/>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8" name="Freeform 21">
              <a:extLst>
                <a:ext uri="{FF2B5EF4-FFF2-40B4-BE49-F238E27FC236}">
                  <a16:creationId xmlns:a16="http://schemas.microsoft.com/office/drawing/2014/main" id="{823B29EE-08A1-E1A0-AF58-5B81D17EB4C3}"/>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9" name="Freeform 22">
              <a:extLst>
                <a:ext uri="{FF2B5EF4-FFF2-40B4-BE49-F238E27FC236}">
                  <a16:creationId xmlns:a16="http://schemas.microsoft.com/office/drawing/2014/main" id="{1EF082B0-3CB2-E3A2-AEFB-E76F4C903857}"/>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 name="Freeform 23">
              <a:extLst>
                <a:ext uri="{FF2B5EF4-FFF2-40B4-BE49-F238E27FC236}">
                  <a16:creationId xmlns:a16="http://schemas.microsoft.com/office/drawing/2014/main" id="{DFB464A3-9B9F-7E83-E34C-C718073E7710}"/>
                </a:ext>
              </a:extLst>
            </p:cNvPr>
            <p:cNvSpPr>
              <a:spLocks/>
            </p:cNvSpPr>
            <p:nvPr/>
          </p:nvSpPr>
          <p:spPr bwMode="hidden">
            <a:xfrm>
              <a:off x="5041" y="0"/>
              <a:ext cx="719" cy="845"/>
            </a:xfrm>
            <a:custGeom>
              <a:avLst/>
              <a:gdLst>
                <a:gd name="T0" fmla="*/ 927 w 717"/>
                <a:gd name="T1" fmla="*/ 845 h 845"/>
                <a:gd name="T2" fmla="*/ 927 w 717"/>
                <a:gd name="T3" fmla="*/ 821 h 845"/>
                <a:gd name="T4" fmla="*/ 774 w 717"/>
                <a:gd name="T5" fmla="*/ 605 h 845"/>
                <a:gd name="T6" fmla="*/ 506 w 717"/>
                <a:gd name="T7" fmla="*/ 396 h 845"/>
                <a:gd name="T8" fmla="*/ 321 w 717"/>
                <a:gd name="T9" fmla="*/ 192 h 845"/>
                <a:gd name="T10" fmla="*/ 17 w 717"/>
                <a:gd name="T11" fmla="*/ 0 h 845"/>
                <a:gd name="T12" fmla="*/ 0 w 717"/>
                <a:gd name="T13" fmla="*/ 0 h 845"/>
                <a:gd name="T14" fmla="*/ 309 w 717"/>
                <a:gd name="T15" fmla="*/ 198 h 845"/>
                <a:gd name="T16" fmla="*/ 500 w 717"/>
                <a:gd name="T17" fmla="*/ 408 h 845"/>
                <a:gd name="T18" fmla="*/ 768 w 717"/>
                <a:gd name="T19" fmla="*/ 623 h 845"/>
                <a:gd name="T20" fmla="*/ 927 w 717"/>
                <a:gd name="T21" fmla="*/ 845 h 845"/>
                <a:gd name="T22" fmla="*/ 927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57A4CE07-54C8-31E6-9834-1EC78184DD3C}"/>
                </a:ext>
              </a:extLst>
            </p:cNvPr>
            <p:cNvSpPr>
              <a:spLocks/>
            </p:cNvSpPr>
            <p:nvPr/>
          </p:nvSpPr>
          <p:spPr bwMode="hidden">
            <a:xfrm>
              <a:off x="5352" y="0"/>
              <a:ext cx="408" cy="414"/>
            </a:xfrm>
            <a:custGeom>
              <a:avLst/>
              <a:gdLst>
                <a:gd name="T0" fmla="*/ 507 w 407"/>
                <a:gd name="T1" fmla="*/ 414 h 414"/>
                <a:gd name="T2" fmla="*/ 507 w 407"/>
                <a:gd name="T3" fmla="*/ 396 h 414"/>
                <a:gd name="T4" fmla="*/ 322 w 407"/>
                <a:gd name="T5" fmla="*/ 192 h 414"/>
                <a:gd name="T6" fmla="*/ 12 w 407"/>
                <a:gd name="T7" fmla="*/ 0 h 414"/>
                <a:gd name="T8" fmla="*/ 0 w 407"/>
                <a:gd name="T9" fmla="*/ 0 h 414"/>
                <a:gd name="T10" fmla="*/ 108 w 407"/>
                <a:gd name="T11" fmla="*/ 102 h 414"/>
                <a:gd name="T12" fmla="*/ 316 w 407"/>
                <a:gd name="T13" fmla="*/ 204 h 414"/>
                <a:gd name="T14" fmla="*/ 507 w 407"/>
                <a:gd name="T15" fmla="*/ 414 h 414"/>
                <a:gd name="T16" fmla="*/ 507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C1C29FA4-E0AD-F6DD-7877-A7EE7CB9635A}"/>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3" name="Freeform 26">
              <a:extLst>
                <a:ext uri="{FF2B5EF4-FFF2-40B4-BE49-F238E27FC236}">
                  <a16:creationId xmlns:a16="http://schemas.microsoft.com/office/drawing/2014/main" id="{67183EDF-4A83-104E-B1E1-EE8FA7EE96C5}"/>
                </a:ext>
              </a:extLst>
            </p:cNvPr>
            <p:cNvSpPr>
              <a:spLocks/>
            </p:cNvSpPr>
            <p:nvPr/>
          </p:nvSpPr>
          <p:spPr bwMode="hidden">
            <a:xfrm>
              <a:off x="6" y="0"/>
              <a:ext cx="588" cy="599"/>
            </a:xfrm>
            <a:custGeom>
              <a:avLst/>
              <a:gdLst>
                <a:gd name="T0" fmla="*/ 812 w 586"/>
                <a:gd name="T1" fmla="*/ 0 h 599"/>
                <a:gd name="T2" fmla="*/ 785 w 586"/>
                <a:gd name="T3" fmla="*/ 0 h 599"/>
                <a:gd name="T4" fmla="*/ 574 w 586"/>
                <a:gd name="T5" fmla="*/ 132 h 599"/>
                <a:gd name="T6" fmla="*/ 357 w 586"/>
                <a:gd name="T7" fmla="*/ 270 h 599"/>
                <a:gd name="T8" fmla="*/ 120 w 586"/>
                <a:gd name="T9" fmla="*/ 420 h 599"/>
                <a:gd name="T10" fmla="*/ 0 w 586"/>
                <a:gd name="T11" fmla="*/ 575 h 599"/>
                <a:gd name="T12" fmla="*/ 0 w 586"/>
                <a:gd name="T13" fmla="*/ 599 h 599"/>
                <a:gd name="T14" fmla="*/ 120 w 586"/>
                <a:gd name="T15" fmla="*/ 432 h 599"/>
                <a:gd name="T16" fmla="*/ 357 w 586"/>
                <a:gd name="T17" fmla="*/ 282 h 599"/>
                <a:gd name="T18" fmla="*/ 586 w 586"/>
                <a:gd name="T19" fmla="*/ 138 h 599"/>
                <a:gd name="T20" fmla="*/ 812 w 586"/>
                <a:gd name="T21" fmla="*/ 0 h 599"/>
                <a:gd name="T22" fmla="*/ 812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13129DA4-C5F0-C57F-2552-D5575617A05F}"/>
                </a:ext>
              </a:extLst>
            </p:cNvPr>
            <p:cNvSpPr>
              <a:spLocks/>
            </p:cNvSpPr>
            <p:nvPr/>
          </p:nvSpPr>
          <p:spPr bwMode="hidden">
            <a:xfrm>
              <a:off x="6" y="0"/>
              <a:ext cx="270" cy="252"/>
            </a:xfrm>
            <a:custGeom>
              <a:avLst/>
              <a:gdLst>
                <a:gd name="T0" fmla="*/ 369 w 269"/>
                <a:gd name="T1" fmla="*/ 0 h 252"/>
                <a:gd name="T2" fmla="*/ 3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69 w 269"/>
                <a:gd name="T15" fmla="*/ 0 h 252"/>
                <a:gd name="T16" fmla="*/ 369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23DDA034-A3AB-7306-8349-BA14E2970461}"/>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5063447C-5F5C-2333-7074-55E24AFCAC8D}"/>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F8B93783-F201-F4E7-2E84-F9292CADD3E4}"/>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7A14DA59-B96F-000F-C2FD-C335B60EC4DF}"/>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EB397855-4E2E-B7BE-8DAF-D7451161E0F4}"/>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61B2785E-78A4-3D9B-EBE3-5EC0AEBDB578}"/>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C57EE75F-DF62-205D-EC2A-0344E660FF05}"/>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541F9058-FCB0-0591-3376-10DCAFCC814D}"/>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6280105B-332C-3E0D-71FD-CC2B725401C3}"/>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431C6425-B7CA-2D52-F42A-648E8097DF0D}"/>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25738D76-9256-3A6A-913B-7A89B83FB1DD}"/>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1655"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111656"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4A4A1080-C06D-C46E-066A-2AE85D99CF38}"/>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B4E116FC-6D5C-754F-98C4-7C195FE9589C}"/>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870F6863-55AF-4B95-003F-08CA2BB9EA38}"/>
              </a:ext>
            </a:extLst>
          </p:cNvPr>
          <p:cNvSpPr>
            <a:spLocks noGrp="1" noChangeArrowheads="1"/>
          </p:cNvSpPr>
          <p:nvPr>
            <p:ph type="sldNum" sz="quarter" idx="12"/>
          </p:nvPr>
        </p:nvSpPr>
        <p:spPr/>
        <p:txBody>
          <a:bodyPr/>
          <a:lstStyle>
            <a:lvl1pPr>
              <a:defRPr smtClean="0"/>
            </a:lvl1pPr>
          </a:lstStyle>
          <a:p>
            <a:pPr>
              <a:defRPr/>
            </a:pPr>
            <a:fld id="{979BCD2F-EA9A-489A-A225-C1B8EAE452C6}" type="slidenum">
              <a:rPr lang="en-US" altLang="zh-CN"/>
              <a:pPr>
                <a:defRPr/>
              </a:pPr>
              <a:t>‹#›</a:t>
            </a:fld>
            <a:endParaRPr lang="en-US" altLang="zh-CN"/>
          </a:p>
        </p:txBody>
      </p:sp>
    </p:spTree>
    <p:extLst>
      <p:ext uri="{BB962C8B-B14F-4D97-AF65-F5344CB8AC3E}">
        <p14:creationId xmlns:p14="http://schemas.microsoft.com/office/powerpoint/2010/main" val="415890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1221F4A9-57FC-7277-A907-16814A19759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9364E4E8-22BC-4B41-E276-6F58369C7A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0D3B748B-93AC-2446-EB4C-8BA322D25BC0}"/>
              </a:ext>
            </a:extLst>
          </p:cNvPr>
          <p:cNvSpPr>
            <a:spLocks noGrp="1" noChangeArrowheads="1"/>
          </p:cNvSpPr>
          <p:nvPr>
            <p:ph type="sldNum" sz="quarter" idx="12"/>
          </p:nvPr>
        </p:nvSpPr>
        <p:spPr>
          <a:ln/>
        </p:spPr>
        <p:txBody>
          <a:bodyPr/>
          <a:lstStyle>
            <a:lvl1pPr>
              <a:defRPr/>
            </a:lvl1pPr>
          </a:lstStyle>
          <a:p>
            <a:pPr>
              <a:defRPr/>
            </a:pPr>
            <a:fld id="{E1F42CEA-F107-4410-ABE6-B7ECA44B6C5A}" type="slidenum">
              <a:rPr lang="en-US" altLang="zh-CN"/>
              <a:pPr>
                <a:defRPr/>
              </a:pPr>
              <a:t>‹#›</a:t>
            </a:fld>
            <a:endParaRPr lang="en-US" altLang="zh-CN"/>
          </a:p>
        </p:txBody>
      </p:sp>
    </p:spTree>
    <p:extLst>
      <p:ext uri="{BB962C8B-B14F-4D97-AF65-F5344CB8AC3E}">
        <p14:creationId xmlns:p14="http://schemas.microsoft.com/office/powerpoint/2010/main" val="4142656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14574F4B-43E5-95E8-7A76-14F6293AFB0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F898B1E7-3131-5F1B-1549-206587EF855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08FAD560-6139-1F7A-6113-5EC2A4BB1845}"/>
              </a:ext>
            </a:extLst>
          </p:cNvPr>
          <p:cNvSpPr>
            <a:spLocks noGrp="1" noChangeArrowheads="1"/>
          </p:cNvSpPr>
          <p:nvPr>
            <p:ph type="sldNum" sz="quarter" idx="12"/>
          </p:nvPr>
        </p:nvSpPr>
        <p:spPr>
          <a:ln/>
        </p:spPr>
        <p:txBody>
          <a:bodyPr/>
          <a:lstStyle>
            <a:lvl1pPr>
              <a:defRPr/>
            </a:lvl1pPr>
          </a:lstStyle>
          <a:p>
            <a:pPr>
              <a:defRPr/>
            </a:pPr>
            <a:fld id="{2F6A8B73-5730-4BAF-8292-2C87E389613A}" type="slidenum">
              <a:rPr lang="en-US" altLang="zh-CN"/>
              <a:pPr>
                <a:defRPr/>
              </a:pPr>
              <a:t>‹#›</a:t>
            </a:fld>
            <a:endParaRPr lang="en-US" altLang="zh-CN"/>
          </a:p>
        </p:txBody>
      </p:sp>
    </p:spTree>
    <p:extLst>
      <p:ext uri="{BB962C8B-B14F-4D97-AF65-F5344CB8AC3E}">
        <p14:creationId xmlns:p14="http://schemas.microsoft.com/office/powerpoint/2010/main" val="3262158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C04F024A-393F-94F6-20A2-D1F48FD042D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1643ABCB-48EB-E8D1-778D-DA9821440FE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2A790C71-E44F-61A3-E29A-412A5A9B8A4B}"/>
              </a:ext>
            </a:extLst>
          </p:cNvPr>
          <p:cNvSpPr>
            <a:spLocks noGrp="1" noChangeArrowheads="1"/>
          </p:cNvSpPr>
          <p:nvPr>
            <p:ph type="sldNum" sz="quarter" idx="12"/>
          </p:nvPr>
        </p:nvSpPr>
        <p:spPr>
          <a:ln/>
        </p:spPr>
        <p:txBody>
          <a:bodyPr/>
          <a:lstStyle>
            <a:lvl1pPr>
              <a:defRPr/>
            </a:lvl1pPr>
          </a:lstStyle>
          <a:p>
            <a:pPr>
              <a:defRPr/>
            </a:pPr>
            <a:fld id="{3C335E88-A7E2-4876-B8D0-D7CF2B75E865}" type="slidenum">
              <a:rPr lang="en-US" altLang="zh-CN"/>
              <a:pPr>
                <a:defRPr/>
              </a:pPr>
              <a:t>‹#›</a:t>
            </a:fld>
            <a:endParaRPr lang="en-US" altLang="zh-CN"/>
          </a:p>
        </p:txBody>
      </p:sp>
    </p:spTree>
    <p:extLst>
      <p:ext uri="{BB962C8B-B14F-4D97-AF65-F5344CB8AC3E}">
        <p14:creationId xmlns:p14="http://schemas.microsoft.com/office/powerpoint/2010/main" val="2291291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62FC6FE1-BA69-CD75-F354-A001A446140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888A9BCB-ACDE-7D41-0FDD-E131046975E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AAFE7069-D13B-641E-18E7-18C10E166A60}"/>
              </a:ext>
            </a:extLst>
          </p:cNvPr>
          <p:cNvSpPr>
            <a:spLocks noGrp="1" noChangeArrowheads="1"/>
          </p:cNvSpPr>
          <p:nvPr>
            <p:ph type="sldNum" sz="quarter" idx="12"/>
          </p:nvPr>
        </p:nvSpPr>
        <p:spPr>
          <a:ln/>
        </p:spPr>
        <p:txBody>
          <a:bodyPr/>
          <a:lstStyle>
            <a:lvl1pPr>
              <a:defRPr/>
            </a:lvl1pPr>
          </a:lstStyle>
          <a:p>
            <a:pPr>
              <a:defRPr/>
            </a:pPr>
            <a:fld id="{E2CA46A4-10C9-4A9A-AB1E-E117E1C0B492}" type="slidenum">
              <a:rPr lang="en-US" altLang="zh-CN"/>
              <a:pPr>
                <a:defRPr/>
              </a:pPr>
              <a:t>‹#›</a:t>
            </a:fld>
            <a:endParaRPr lang="en-US" altLang="zh-CN"/>
          </a:p>
        </p:txBody>
      </p:sp>
    </p:spTree>
    <p:extLst>
      <p:ext uri="{BB962C8B-B14F-4D97-AF65-F5344CB8AC3E}">
        <p14:creationId xmlns:p14="http://schemas.microsoft.com/office/powerpoint/2010/main" val="2247360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E19051DF-0D5E-73F7-8F1B-0DA6163AC18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A3E1E78C-2903-1ACA-4C39-B1FD50258D0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225B13E1-AEA9-3962-5F4D-27D719BB5B63}"/>
              </a:ext>
            </a:extLst>
          </p:cNvPr>
          <p:cNvSpPr>
            <a:spLocks noGrp="1" noChangeArrowheads="1"/>
          </p:cNvSpPr>
          <p:nvPr>
            <p:ph type="sldNum" sz="quarter" idx="12"/>
          </p:nvPr>
        </p:nvSpPr>
        <p:spPr>
          <a:ln/>
        </p:spPr>
        <p:txBody>
          <a:bodyPr/>
          <a:lstStyle>
            <a:lvl1pPr>
              <a:defRPr/>
            </a:lvl1pPr>
          </a:lstStyle>
          <a:p>
            <a:pPr>
              <a:defRPr/>
            </a:pPr>
            <a:fld id="{00AD977D-6601-4EA2-9E3F-A34E86363012}" type="slidenum">
              <a:rPr lang="en-US" altLang="zh-CN"/>
              <a:pPr>
                <a:defRPr/>
              </a:pPr>
              <a:t>‹#›</a:t>
            </a:fld>
            <a:endParaRPr lang="en-US" altLang="zh-CN"/>
          </a:p>
        </p:txBody>
      </p:sp>
    </p:spTree>
    <p:extLst>
      <p:ext uri="{BB962C8B-B14F-4D97-AF65-F5344CB8AC3E}">
        <p14:creationId xmlns:p14="http://schemas.microsoft.com/office/powerpoint/2010/main" val="2201827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89A47C6F-A6AB-D99B-DB0A-422B060D17B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7B8688A8-8AB6-9D78-6E4B-34405DB012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A02C6CC8-8500-F4BF-5E6F-D5BBA2799ECF}"/>
              </a:ext>
            </a:extLst>
          </p:cNvPr>
          <p:cNvSpPr>
            <a:spLocks noGrp="1" noChangeArrowheads="1"/>
          </p:cNvSpPr>
          <p:nvPr>
            <p:ph type="sldNum" sz="quarter" idx="12"/>
          </p:nvPr>
        </p:nvSpPr>
        <p:spPr>
          <a:ln/>
        </p:spPr>
        <p:txBody>
          <a:bodyPr/>
          <a:lstStyle>
            <a:lvl1pPr>
              <a:defRPr/>
            </a:lvl1pPr>
          </a:lstStyle>
          <a:p>
            <a:pPr>
              <a:defRPr/>
            </a:pPr>
            <a:fld id="{1A19D79C-92C5-4033-908A-9DD1D8E709B4}" type="slidenum">
              <a:rPr lang="en-US" altLang="zh-CN"/>
              <a:pPr>
                <a:defRPr/>
              </a:pPr>
              <a:t>‹#›</a:t>
            </a:fld>
            <a:endParaRPr lang="en-US" altLang="zh-CN"/>
          </a:p>
        </p:txBody>
      </p:sp>
    </p:spTree>
    <p:extLst>
      <p:ext uri="{BB962C8B-B14F-4D97-AF65-F5344CB8AC3E}">
        <p14:creationId xmlns:p14="http://schemas.microsoft.com/office/powerpoint/2010/main" val="2484008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766C756A-9AF8-C796-3466-5EE9F9C2203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90914FB1-3A57-9068-BB79-D02DEE1424F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941294A1-89C7-2C27-242F-75E0A50CF617}"/>
              </a:ext>
            </a:extLst>
          </p:cNvPr>
          <p:cNvSpPr>
            <a:spLocks noGrp="1" noChangeArrowheads="1"/>
          </p:cNvSpPr>
          <p:nvPr>
            <p:ph type="sldNum" sz="quarter" idx="12"/>
          </p:nvPr>
        </p:nvSpPr>
        <p:spPr>
          <a:ln/>
        </p:spPr>
        <p:txBody>
          <a:bodyPr/>
          <a:lstStyle>
            <a:lvl1pPr>
              <a:defRPr/>
            </a:lvl1pPr>
          </a:lstStyle>
          <a:p>
            <a:pPr>
              <a:defRPr/>
            </a:pPr>
            <a:fld id="{5577F668-8975-48DB-8989-2C863A4867D6}" type="slidenum">
              <a:rPr lang="en-US" altLang="zh-CN"/>
              <a:pPr>
                <a:defRPr/>
              </a:pPr>
              <a:t>‹#›</a:t>
            </a:fld>
            <a:endParaRPr lang="en-US" altLang="zh-CN"/>
          </a:p>
        </p:txBody>
      </p:sp>
    </p:spTree>
    <p:extLst>
      <p:ext uri="{BB962C8B-B14F-4D97-AF65-F5344CB8AC3E}">
        <p14:creationId xmlns:p14="http://schemas.microsoft.com/office/powerpoint/2010/main" val="3862409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6DDC5B55-D70F-0288-E1CC-CFA6371EF9D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0F3F4B8A-ECE5-F665-FBE1-A19A30B9EDC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CEFED7F2-2DFB-A8DB-0192-DC49317E29C7}"/>
              </a:ext>
            </a:extLst>
          </p:cNvPr>
          <p:cNvSpPr>
            <a:spLocks noGrp="1" noChangeArrowheads="1"/>
          </p:cNvSpPr>
          <p:nvPr>
            <p:ph type="sldNum" sz="quarter" idx="12"/>
          </p:nvPr>
        </p:nvSpPr>
        <p:spPr>
          <a:ln/>
        </p:spPr>
        <p:txBody>
          <a:bodyPr/>
          <a:lstStyle>
            <a:lvl1pPr>
              <a:defRPr/>
            </a:lvl1pPr>
          </a:lstStyle>
          <a:p>
            <a:pPr>
              <a:defRPr/>
            </a:pPr>
            <a:fld id="{6B30CFFB-C6BE-485E-9017-7CC4BC5D96CD}" type="slidenum">
              <a:rPr lang="en-US" altLang="zh-CN"/>
              <a:pPr>
                <a:defRPr/>
              </a:pPr>
              <a:t>‹#›</a:t>
            </a:fld>
            <a:endParaRPr lang="en-US" altLang="zh-CN"/>
          </a:p>
        </p:txBody>
      </p:sp>
    </p:spTree>
    <p:extLst>
      <p:ext uri="{BB962C8B-B14F-4D97-AF65-F5344CB8AC3E}">
        <p14:creationId xmlns:p14="http://schemas.microsoft.com/office/powerpoint/2010/main" val="2041826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2F6D7D3D-68C1-0718-649C-CFFF3D2A449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10B4940C-64AF-55AA-742A-3FE37BDEDA4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C24D128C-D64F-4345-0905-7777F7F471B8}"/>
              </a:ext>
            </a:extLst>
          </p:cNvPr>
          <p:cNvSpPr>
            <a:spLocks noGrp="1" noChangeArrowheads="1"/>
          </p:cNvSpPr>
          <p:nvPr>
            <p:ph type="sldNum" sz="quarter" idx="12"/>
          </p:nvPr>
        </p:nvSpPr>
        <p:spPr>
          <a:ln/>
        </p:spPr>
        <p:txBody>
          <a:bodyPr/>
          <a:lstStyle>
            <a:lvl1pPr>
              <a:defRPr/>
            </a:lvl1pPr>
          </a:lstStyle>
          <a:p>
            <a:pPr>
              <a:defRPr/>
            </a:pPr>
            <a:fld id="{02C9F21D-C0BF-4BDC-9250-314FC6DFACE0}" type="slidenum">
              <a:rPr lang="en-US" altLang="zh-CN"/>
              <a:pPr>
                <a:defRPr/>
              </a:pPr>
              <a:t>‹#›</a:t>
            </a:fld>
            <a:endParaRPr lang="en-US" altLang="zh-CN"/>
          </a:p>
        </p:txBody>
      </p:sp>
    </p:spTree>
    <p:extLst>
      <p:ext uri="{BB962C8B-B14F-4D97-AF65-F5344CB8AC3E}">
        <p14:creationId xmlns:p14="http://schemas.microsoft.com/office/powerpoint/2010/main" val="2061726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F97FE20B-DA08-1935-E80E-4DFAD796B88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75419628-396A-5FE5-AE34-24D487AB08E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2DD18105-EB40-9CF0-88D1-9347A782293C}"/>
              </a:ext>
            </a:extLst>
          </p:cNvPr>
          <p:cNvSpPr>
            <a:spLocks noGrp="1" noChangeArrowheads="1"/>
          </p:cNvSpPr>
          <p:nvPr>
            <p:ph type="sldNum" sz="quarter" idx="12"/>
          </p:nvPr>
        </p:nvSpPr>
        <p:spPr>
          <a:ln/>
        </p:spPr>
        <p:txBody>
          <a:bodyPr/>
          <a:lstStyle>
            <a:lvl1pPr>
              <a:defRPr/>
            </a:lvl1pPr>
          </a:lstStyle>
          <a:p>
            <a:pPr>
              <a:defRPr/>
            </a:pPr>
            <a:fld id="{2EAEAB93-6C23-44F2-BD95-F36B91D653AE}" type="slidenum">
              <a:rPr lang="en-US" altLang="zh-CN"/>
              <a:pPr>
                <a:defRPr/>
              </a:pPr>
              <a:t>‹#›</a:t>
            </a:fld>
            <a:endParaRPr lang="en-US" altLang="zh-CN"/>
          </a:p>
        </p:txBody>
      </p:sp>
    </p:spTree>
    <p:extLst>
      <p:ext uri="{BB962C8B-B14F-4D97-AF65-F5344CB8AC3E}">
        <p14:creationId xmlns:p14="http://schemas.microsoft.com/office/powerpoint/2010/main" val="12888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gs>
            <a:gs pos="89999">
              <a:srgbClr val="002C58"/>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58102C1E-21CF-84D8-8113-A409649B9A6B}"/>
              </a:ext>
            </a:extLst>
          </p:cNvPr>
          <p:cNvGrpSpPr>
            <a:grpSpLocks/>
          </p:cNvGrpSpPr>
          <p:nvPr/>
        </p:nvGrpSpPr>
        <p:grpSpPr bwMode="auto">
          <a:xfrm>
            <a:off x="1588" y="0"/>
            <a:ext cx="9148762" cy="6851650"/>
            <a:chOff x="1" y="0"/>
            <a:chExt cx="5763" cy="4316"/>
          </a:xfrm>
        </p:grpSpPr>
        <p:sp>
          <p:nvSpPr>
            <p:cNvPr id="110595" name="Freeform 3">
              <a:extLst>
                <a:ext uri="{FF2B5EF4-FFF2-40B4-BE49-F238E27FC236}">
                  <a16:creationId xmlns:a16="http://schemas.microsoft.com/office/drawing/2014/main" id="{25743839-9BD8-414A-1780-1BB0578C518A}"/>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110596" name="Freeform 4">
              <a:extLst>
                <a:ext uri="{FF2B5EF4-FFF2-40B4-BE49-F238E27FC236}">
                  <a16:creationId xmlns:a16="http://schemas.microsoft.com/office/drawing/2014/main" id="{9B9DD3B6-7B52-D04E-34A8-962C926074B6}"/>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110597" name="Freeform 5">
              <a:extLst>
                <a:ext uri="{FF2B5EF4-FFF2-40B4-BE49-F238E27FC236}">
                  <a16:creationId xmlns:a16="http://schemas.microsoft.com/office/drawing/2014/main" id="{98F05D7A-B9FA-B5A8-678F-B0A63DA5382F}"/>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1035" name="Group 6">
              <a:extLst>
                <a:ext uri="{FF2B5EF4-FFF2-40B4-BE49-F238E27FC236}">
                  <a16:creationId xmlns:a16="http://schemas.microsoft.com/office/drawing/2014/main" id="{34B8E8C1-5422-9CF7-D55B-DDE1E0DDBA37}"/>
                </a:ext>
              </a:extLst>
            </p:cNvPr>
            <p:cNvGrpSpPr>
              <a:grpSpLocks/>
            </p:cNvGrpSpPr>
            <p:nvPr/>
          </p:nvGrpSpPr>
          <p:grpSpPr bwMode="auto">
            <a:xfrm>
              <a:off x="288" y="0"/>
              <a:ext cx="5098" cy="4316"/>
              <a:chOff x="288" y="0"/>
              <a:chExt cx="5098" cy="4316"/>
            </a:xfrm>
          </p:grpSpPr>
          <p:sp>
            <p:nvSpPr>
              <p:cNvPr id="110599" name="Freeform 7">
                <a:extLst>
                  <a:ext uri="{FF2B5EF4-FFF2-40B4-BE49-F238E27FC236}">
                    <a16:creationId xmlns:a16="http://schemas.microsoft.com/office/drawing/2014/main" id="{4A5162F6-1DFD-E029-3ED0-99CD946AB03C}"/>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0" name="Freeform 8">
                <a:extLst>
                  <a:ext uri="{FF2B5EF4-FFF2-40B4-BE49-F238E27FC236}">
                    <a16:creationId xmlns:a16="http://schemas.microsoft.com/office/drawing/2014/main" id="{8E801BB6-8DCB-A2A1-9C3B-FCD2CAA25EDF}"/>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1" name="Freeform 9">
                <a:extLst>
                  <a:ext uri="{FF2B5EF4-FFF2-40B4-BE49-F238E27FC236}">
                    <a16:creationId xmlns:a16="http://schemas.microsoft.com/office/drawing/2014/main" id="{E6DD2FEA-2CE6-5480-105A-CF404210C1DC}"/>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2" name="Freeform 10">
                <a:extLst>
                  <a:ext uri="{FF2B5EF4-FFF2-40B4-BE49-F238E27FC236}">
                    <a16:creationId xmlns:a16="http://schemas.microsoft.com/office/drawing/2014/main" id="{00FA39C0-810B-2B72-3EB1-72335D54784E}"/>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3" name="Freeform 11">
                <a:extLst>
                  <a:ext uri="{FF2B5EF4-FFF2-40B4-BE49-F238E27FC236}">
                    <a16:creationId xmlns:a16="http://schemas.microsoft.com/office/drawing/2014/main" id="{00FC923C-3B0E-FF9B-485B-8326A30E55FF}"/>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4" name="Freeform 12">
                <a:extLst>
                  <a:ext uri="{FF2B5EF4-FFF2-40B4-BE49-F238E27FC236}">
                    <a16:creationId xmlns:a16="http://schemas.microsoft.com/office/drawing/2014/main" id="{234EF602-459A-7D4E-EB07-7B91ADA1A16C}"/>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5" name="Freeform 13">
                <a:extLst>
                  <a:ext uri="{FF2B5EF4-FFF2-40B4-BE49-F238E27FC236}">
                    <a16:creationId xmlns:a16="http://schemas.microsoft.com/office/drawing/2014/main" id="{B164E8B1-B992-F149-3DF6-AC3CC8B00CBE}"/>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6" name="Freeform 14">
                <a:extLst>
                  <a:ext uri="{FF2B5EF4-FFF2-40B4-BE49-F238E27FC236}">
                    <a16:creationId xmlns:a16="http://schemas.microsoft.com/office/drawing/2014/main" id="{833BA9E2-2A97-BAAD-2262-1674362B46AE}"/>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7" name="Freeform 15">
                <a:extLst>
                  <a:ext uri="{FF2B5EF4-FFF2-40B4-BE49-F238E27FC236}">
                    <a16:creationId xmlns:a16="http://schemas.microsoft.com/office/drawing/2014/main" id="{28EAB233-0A50-DE77-ACBA-2A3284F60957}"/>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8" name="Freeform 16">
                <a:extLst>
                  <a:ext uri="{FF2B5EF4-FFF2-40B4-BE49-F238E27FC236}">
                    <a16:creationId xmlns:a16="http://schemas.microsoft.com/office/drawing/2014/main" id="{30178182-8D5A-438E-699F-ACB0649AF25B}"/>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09" name="Freeform 17">
                <a:extLst>
                  <a:ext uri="{FF2B5EF4-FFF2-40B4-BE49-F238E27FC236}">
                    <a16:creationId xmlns:a16="http://schemas.microsoft.com/office/drawing/2014/main" id="{D3222AC2-156B-0033-2FF2-E80DF9E6D568}"/>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10" name="Freeform 18">
                <a:extLst>
                  <a:ext uri="{FF2B5EF4-FFF2-40B4-BE49-F238E27FC236}">
                    <a16:creationId xmlns:a16="http://schemas.microsoft.com/office/drawing/2014/main" id="{67A7FBF8-247E-7771-1BAD-9444EC54E38B}"/>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110611" name="Freeform 19">
                <a:extLst>
                  <a:ext uri="{FF2B5EF4-FFF2-40B4-BE49-F238E27FC236}">
                    <a16:creationId xmlns:a16="http://schemas.microsoft.com/office/drawing/2014/main" id="{A10D4842-4C36-3A0E-5A26-1B7531C2A297}"/>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110612" name="Freeform 20">
              <a:extLst>
                <a:ext uri="{FF2B5EF4-FFF2-40B4-BE49-F238E27FC236}">
                  <a16:creationId xmlns:a16="http://schemas.microsoft.com/office/drawing/2014/main" id="{9DA105D0-8E7C-24B4-8B44-412EB8C5CEEC}"/>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110613" name="Freeform 21">
              <a:extLst>
                <a:ext uri="{FF2B5EF4-FFF2-40B4-BE49-F238E27FC236}">
                  <a16:creationId xmlns:a16="http://schemas.microsoft.com/office/drawing/2014/main" id="{A21047AB-C71F-D9E0-42DF-8B114A534C25}"/>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110614" name="Freeform 22">
              <a:extLst>
                <a:ext uri="{FF2B5EF4-FFF2-40B4-BE49-F238E27FC236}">
                  <a16:creationId xmlns:a16="http://schemas.microsoft.com/office/drawing/2014/main" id="{97641392-1B30-045D-F4E3-6C0D0C320AD7}"/>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39" name="Freeform 23">
              <a:extLst>
                <a:ext uri="{FF2B5EF4-FFF2-40B4-BE49-F238E27FC236}">
                  <a16:creationId xmlns:a16="http://schemas.microsoft.com/office/drawing/2014/main" id="{F6DB886D-DB45-1992-1CF2-F13F764C612D}"/>
                </a:ext>
              </a:extLst>
            </p:cNvPr>
            <p:cNvSpPr>
              <a:spLocks/>
            </p:cNvSpPr>
            <p:nvPr/>
          </p:nvSpPr>
          <p:spPr bwMode="hidden">
            <a:xfrm>
              <a:off x="5041" y="0"/>
              <a:ext cx="719" cy="845"/>
            </a:xfrm>
            <a:custGeom>
              <a:avLst/>
              <a:gdLst>
                <a:gd name="T0" fmla="*/ 927 w 717"/>
                <a:gd name="T1" fmla="*/ 845 h 845"/>
                <a:gd name="T2" fmla="*/ 927 w 717"/>
                <a:gd name="T3" fmla="*/ 821 h 845"/>
                <a:gd name="T4" fmla="*/ 774 w 717"/>
                <a:gd name="T5" fmla="*/ 605 h 845"/>
                <a:gd name="T6" fmla="*/ 506 w 717"/>
                <a:gd name="T7" fmla="*/ 396 h 845"/>
                <a:gd name="T8" fmla="*/ 321 w 717"/>
                <a:gd name="T9" fmla="*/ 192 h 845"/>
                <a:gd name="T10" fmla="*/ 17 w 717"/>
                <a:gd name="T11" fmla="*/ 0 h 845"/>
                <a:gd name="T12" fmla="*/ 0 w 717"/>
                <a:gd name="T13" fmla="*/ 0 h 845"/>
                <a:gd name="T14" fmla="*/ 309 w 717"/>
                <a:gd name="T15" fmla="*/ 198 h 845"/>
                <a:gd name="T16" fmla="*/ 500 w 717"/>
                <a:gd name="T17" fmla="*/ 408 h 845"/>
                <a:gd name="T18" fmla="*/ 768 w 717"/>
                <a:gd name="T19" fmla="*/ 623 h 845"/>
                <a:gd name="T20" fmla="*/ 927 w 717"/>
                <a:gd name="T21" fmla="*/ 845 h 845"/>
                <a:gd name="T22" fmla="*/ 927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5A4584CF-D132-CA7A-0AF2-D4EEA7E39443}"/>
                </a:ext>
              </a:extLst>
            </p:cNvPr>
            <p:cNvSpPr>
              <a:spLocks/>
            </p:cNvSpPr>
            <p:nvPr/>
          </p:nvSpPr>
          <p:spPr bwMode="hidden">
            <a:xfrm>
              <a:off x="5352" y="0"/>
              <a:ext cx="408" cy="414"/>
            </a:xfrm>
            <a:custGeom>
              <a:avLst/>
              <a:gdLst>
                <a:gd name="T0" fmla="*/ 507 w 407"/>
                <a:gd name="T1" fmla="*/ 414 h 414"/>
                <a:gd name="T2" fmla="*/ 507 w 407"/>
                <a:gd name="T3" fmla="*/ 396 h 414"/>
                <a:gd name="T4" fmla="*/ 322 w 407"/>
                <a:gd name="T5" fmla="*/ 192 h 414"/>
                <a:gd name="T6" fmla="*/ 12 w 407"/>
                <a:gd name="T7" fmla="*/ 0 h 414"/>
                <a:gd name="T8" fmla="*/ 0 w 407"/>
                <a:gd name="T9" fmla="*/ 0 h 414"/>
                <a:gd name="T10" fmla="*/ 108 w 407"/>
                <a:gd name="T11" fmla="*/ 102 h 414"/>
                <a:gd name="T12" fmla="*/ 316 w 407"/>
                <a:gd name="T13" fmla="*/ 204 h 414"/>
                <a:gd name="T14" fmla="*/ 507 w 407"/>
                <a:gd name="T15" fmla="*/ 414 h 414"/>
                <a:gd name="T16" fmla="*/ 507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617" name="Freeform 25">
              <a:extLst>
                <a:ext uri="{FF2B5EF4-FFF2-40B4-BE49-F238E27FC236}">
                  <a16:creationId xmlns:a16="http://schemas.microsoft.com/office/drawing/2014/main" id="{20DB813D-F395-97AA-BB0A-760F7AB53BE6}"/>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42" name="Freeform 26">
              <a:extLst>
                <a:ext uri="{FF2B5EF4-FFF2-40B4-BE49-F238E27FC236}">
                  <a16:creationId xmlns:a16="http://schemas.microsoft.com/office/drawing/2014/main" id="{AF2D1D28-A3D0-04F9-FA6D-8B116A0C66A6}"/>
                </a:ext>
              </a:extLst>
            </p:cNvPr>
            <p:cNvSpPr>
              <a:spLocks/>
            </p:cNvSpPr>
            <p:nvPr/>
          </p:nvSpPr>
          <p:spPr bwMode="hidden">
            <a:xfrm>
              <a:off x="6" y="0"/>
              <a:ext cx="588" cy="599"/>
            </a:xfrm>
            <a:custGeom>
              <a:avLst/>
              <a:gdLst>
                <a:gd name="T0" fmla="*/ 812 w 586"/>
                <a:gd name="T1" fmla="*/ 0 h 599"/>
                <a:gd name="T2" fmla="*/ 785 w 586"/>
                <a:gd name="T3" fmla="*/ 0 h 599"/>
                <a:gd name="T4" fmla="*/ 574 w 586"/>
                <a:gd name="T5" fmla="*/ 132 h 599"/>
                <a:gd name="T6" fmla="*/ 357 w 586"/>
                <a:gd name="T7" fmla="*/ 270 h 599"/>
                <a:gd name="T8" fmla="*/ 120 w 586"/>
                <a:gd name="T9" fmla="*/ 420 h 599"/>
                <a:gd name="T10" fmla="*/ 0 w 586"/>
                <a:gd name="T11" fmla="*/ 575 h 599"/>
                <a:gd name="T12" fmla="*/ 0 w 586"/>
                <a:gd name="T13" fmla="*/ 599 h 599"/>
                <a:gd name="T14" fmla="*/ 120 w 586"/>
                <a:gd name="T15" fmla="*/ 432 h 599"/>
                <a:gd name="T16" fmla="*/ 357 w 586"/>
                <a:gd name="T17" fmla="*/ 282 h 599"/>
                <a:gd name="T18" fmla="*/ 586 w 586"/>
                <a:gd name="T19" fmla="*/ 138 h 599"/>
                <a:gd name="T20" fmla="*/ 812 w 586"/>
                <a:gd name="T21" fmla="*/ 0 h 599"/>
                <a:gd name="T22" fmla="*/ 812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98DE9E6C-4FC5-DC3F-0B5C-B06AF287002B}"/>
                </a:ext>
              </a:extLst>
            </p:cNvPr>
            <p:cNvSpPr>
              <a:spLocks/>
            </p:cNvSpPr>
            <p:nvPr/>
          </p:nvSpPr>
          <p:spPr bwMode="hidden">
            <a:xfrm>
              <a:off x="6" y="0"/>
              <a:ext cx="270" cy="252"/>
            </a:xfrm>
            <a:custGeom>
              <a:avLst/>
              <a:gdLst>
                <a:gd name="T0" fmla="*/ 369 w 269"/>
                <a:gd name="T1" fmla="*/ 0 h 252"/>
                <a:gd name="T2" fmla="*/ 3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69 w 269"/>
                <a:gd name="T15" fmla="*/ 0 h 252"/>
                <a:gd name="T16" fmla="*/ 369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8C94BB48-156D-D21A-9B60-5CB4D4280C10}"/>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A22F4CBA-413E-D7DA-DAF1-9AB52AF6B19A}"/>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33A70B66-2551-716D-E18B-20E9D0852357}"/>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ADFF713A-27D2-4B9A-E2DC-51EBB42854D6}"/>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2E68D92D-55B3-2F50-65AB-83B3EB16FBF9}"/>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AF23C103-124A-D397-6894-C988DBB6F43B}"/>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42CB3D0D-10AB-4619-AB93-F320B086F7A5}"/>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87A411C0-7CEA-809A-A959-CBE57944110F}"/>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7804F55A-DAFB-3EF4-7797-CA855310B17D}"/>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0B635119-BDC0-E031-4F05-62BDFE4047C4}"/>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E2E44FAB-6156-F646-C6AF-2535CA025E5E}"/>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0631" name="Rectangle 39">
            <a:extLst>
              <a:ext uri="{FF2B5EF4-FFF2-40B4-BE49-F238E27FC236}">
                <a16:creationId xmlns:a16="http://schemas.microsoft.com/office/drawing/2014/main" id="{20D5845E-6D6C-3DEE-4867-62492FA61B84}"/>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110632" name="Rectangle 40">
            <a:extLst>
              <a:ext uri="{FF2B5EF4-FFF2-40B4-BE49-F238E27FC236}">
                <a16:creationId xmlns:a16="http://schemas.microsoft.com/office/drawing/2014/main" id="{BF35E3EC-CBF3-6521-289B-F20A58E37726}"/>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10633" name="Rectangle 41">
            <a:extLst>
              <a:ext uri="{FF2B5EF4-FFF2-40B4-BE49-F238E27FC236}">
                <a16:creationId xmlns:a16="http://schemas.microsoft.com/office/drawing/2014/main" id="{25C94431-3883-12A4-D99B-62F7300612A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10634" name="Rectangle 42">
            <a:extLst>
              <a:ext uri="{FF2B5EF4-FFF2-40B4-BE49-F238E27FC236}">
                <a16:creationId xmlns:a16="http://schemas.microsoft.com/office/drawing/2014/main" id="{D16DADA9-C3D8-2CF0-D579-EF296191F53B}"/>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effectLst>
                  <a:outerShdw blurRad="38100" dist="38100" dir="2700000" algn="tl">
                    <a:srgbClr val="000000"/>
                  </a:outerShdw>
                </a:effectLst>
              </a:defRPr>
            </a:lvl1pPr>
          </a:lstStyle>
          <a:p>
            <a:pPr>
              <a:defRPr/>
            </a:pPr>
            <a:fld id="{FD9569AC-C5A6-4D1A-85B7-DB3BE11CE8CE}" type="slidenum">
              <a:rPr lang="en-US" altLang="zh-CN"/>
              <a:pPr>
                <a:defRPr/>
              </a:pPr>
              <a:t>‹#›</a:t>
            </a:fld>
            <a:endParaRPr lang="en-US" altLang="zh-CN"/>
          </a:p>
        </p:txBody>
      </p:sp>
      <p:sp>
        <p:nvSpPr>
          <p:cNvPr id="110635" name="Rectangle 43">
            <a:extLst>
              <a:ext uri="{FF2B5EF4-FFF2-40B4-BE49-F238E27FC236}">
                <a16:creationId xmlns:a16="http://schemas.microsoft.com/office/drawing/2014/main" id="{82D07B60-B036-664B-59D3-8879F2D28F8A}"/>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4939" r:id="rId1"/>
    <p:sldLayoutId id="2147484929" r:id="rId2"/>
    <p:sldLayoutId id="2147484930" r:id="rId3"/>
    <p:sldLayoutId id="2147484931" r:id="rId4"/>
    <p:sldLayoutId id="2147484932" r:id="rId5"/>
    <p:sldLayoutId id="2147484933" r:id="rId6"/>
    <p:sldLayoutId id="2147484934" r:id="rId7"/>
    <p:sldLayoutId id="2147484935" r:id="rId8"/>
    <p:sldLayoutId id="2147484936" r:id="rId9"/>
    <p:sldLayoutId id="2147484937" r:id="rId10"/>
    <p:sldLayoutId id="2147484938"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3DB8D41-492F-B570-20A0-11D9DFA4DB4C}"/>
              </a:ext>
            </a:extLst>
          </p:cNvPr>
          <p:cNvSpPr>
            <a:spLocks noGrp="1" noChangeArrowheads="1"/>
          </p:cNvSpPr>
          <p:nvPr>
            <p:ph type="ctrTitle"/>
          </p:nvPr>
        </p:nvSpPr>
        <p:spPr/>
        <p:txBody>
          <a:bodyPr/>
          <a:lstStyle/>
          <a:p>
            <a:pPr eaLnBrk="1" hangingPunct="1">
              <a:defRPr/>
            </a:pPr>
            <a:br>
              <a:rPr lang="en-US" altLang="zh-CN" dirty="0"/>
            </a:br>
            <a:r>
              <a:rPr lang="zh-CN" altLang="en-US" dirty="0"/>
              <a:t>声明式程序设计</a:t>
            </a:r>
            <a:endParaRPr lang="zh-CN" altLang="en-US" sz="4000" dirty="0">
              <a:solidFill>
                <a:schemeClr val="folHlink"/>
              </a:solidFill>
            </a:endParaRPr>
          </a:p>
        </p:txBody>
      </p:sp>
      <p:sp>
        <p:nvSpPr>
          <p:cNvPr id="2051" name="Rectangle 3">
            <a:extLst>
              <a:ext uri="{FF2B5EF4-FFF2-40B4-BE49-F238E27FC236}">
                <a16:creationId xmlns:a16="http://schemas.microsoft.com/office/drawing/2014/main" id="{C17A95B7-648C-BC8F-E682-488AA24E3B5E}"/>
              </a:ext>
            </a:extLst>
          </p:cNvPr>
          <p:cNvSpPr>
            <a:spLocks noGrp="1" noChangeArrowheads="1"/>
          </p:cNvSpPr>
          <p:nvPr>
            <p:ph type="subTitle" idx="1"/>
          </p:nvPr>
        </p:nvSpPr>
        <p:spPr>
          <a:xfrm>
            <a:off x="611188" y="3886200"/>
            <a:ext cx="8137525" cy="2063750"/>
          </a:xfrm>
        </p:spPr>
        <p:txBody>
          <a:bodyPr>
            <a:normAutofit/>
          </a:bodyPr>
          <a:lstStyle/>
          <a:p>
            <a:pPr algn="l" eaLnBrk="1" hangingPunct="1">
              <a:defRPr/>
            </a:pP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0F02DF-E7EA-1A7B-448F-B498AD451344}"/>
              </a:ext>
            </a:extLst>
          </p:cNvPr>
          <p:cNvSpPr>
            <a:spLocks noGrp="1"/>
          </p:cNvSpPr>
          <p:nvPr>
            <p:ph type="title"/>
          </p:nvPr>
        </p:nvSpPr>
        <p:spPr/>
        <p:txBody>
          <a:bodyPr/>
          <a:lstStyle/>
          <a:p>
            <a:pPr>
              <a:defRPr/>
            </a:pPr>
            <a:r>
              <a:rPr lang="zh-CN" altLang="en-US" dirty="0"/>
              <a:t>主要内容</a:t>
            </a:r>
          </a:p>
        </p:txBody>
      </p:sp>
      <p:sp>
        <p:nvSpPr>
          <p:cNvPr id="3" name="内容占位符 2">
            <a:extLst>
              <a:ext uri="{FF2B5EF4-FFF2-40B4-BE49-F238E27FC236}">
                <a16:creationId xmlns:a16="http://schemas.microsoft.com/office/drawing/2014/main" id="{4E5D5607-C460-3493-FD26-134EDF613511}"/>
              </a:ext>
            </a:extLst>
          </p:cNvPr>
          <p:cNvSpPr>
            <a:spLocks noGrp="1"/>
          </p:cNvSpPr>
          <p:nvPr>
            <p:ph idx="1"/>
          </p:nvPr>
        </p:nvSpPr>
        <p:spPr/>
        <p:txBody>
          <a:bodyPr/>
          <a:lstStyle/>
          <a:p>
            <a:pPr>
              <a:defRPr/>
            </a:pPr>
            <a:r>
              <a:rPr lang="zh-CN" altLang="en-US" dirty="0"/>
              <a:t>命令式</a:t>
            </a:r>
            <a:r>
              <a:rPr lang="en-US" altLang="zh-CN" dirty="0"/>
              <a:t>vs</a:t>
            </a:r>
            <a:r>
              <a:rPr lang="zh-CN" altLang="en-US" dirty="0"/>
              <a:t>声明式程序设计范式</a:t>
            </a:r>
            <a:endParaRPr lang="en-US" altLang="zh-CN" dirty="0"/>
          </a:p>
          <a:p>
            <a:pPr>
              <a:defRPr/>
            </a:pPr>
            <a:r>
              <a:rPr lang="zh-CN" altLang="en-US" dirty="0"/>
              <a:t>函数式程序设计</a:t>
            </a:r>
            <a:endParaRPr lang="en-US" altLang="zh-CN" dirty="0"/>
          </a:p>
          <a:p>
            <a:pPr>
              <a:defRPr/>
            </a:pPr>
            <a:r>
              <a:rPr lang="zh-CN" altLang="en-US" dirty="0"/>
              <a:t>逻辑式程序设计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555AC-6640-0908-07E4-07C0BD5749AA}"/>
              </a:ext>
            </a:extLst>
          </p:cNvPr>
          <p:cNvSpPr>
            <a:spLocks noGrp="1"/>
          </p:cNvSpPr>
          <p:nvPr>
            <p:ph type="title"/>
          </p:nvPr>
        </p:nvSpPr>
        <p:spPr/>
        <p:txBody>
          <a:bodyPr/>
          <a:lstStyle/>
          <a:p>
            <a:pPr>
              <a:defRPr/>
            </a:pPr>
            <a:r>
              <a:rPr lang="zh-CN" altLang="en-US" sz="4000" dirty="0"/>
              <a:t>命令式程序设计范式</a:t>
            </a:r>
            <a:br>
              <a:rPr lang="en-US" altLang="zh-CN" sz="4000" dirty="0"/>
            </a:br>
            <a:r>
              <a:rPr lang="zh-CN" altLang="en-US" sz="4000" dirty="0"/>
              <a:t>（</a:t>
            </a:r>
            <a:r>
              <a:rPr lang="en-US" altLang="zh-CN" sz="4000" dirty="0"/>
              <a:t>imperative programming</a:t>
            </a:r>
            <a:r>
              <a:rPr lang="zh-CN" altLang="en-US" sz="4000" dirty="0"/>
              <a:t>）</a:t>
            </a:r>
          </a:p>
        </p:txBody>
      </p:sp>
      <p:sp>
        <p:nvSpPr>
          <p:cNvPr id="3" name="内容占位符 2">
            <a:extLst>
              <a:ext uri="{FF2B5EF4-FFF2-40B4-BE49-F238E27FC236}">
                <a16:creationId xmlns:a16="http://schemas.microsoft.com/office/drawing/2014/main" id="{9030A32B-83E9-CFF4-9E98-5944DC5BF4D6}"/>
              </a:ext>
            </a:extLst>
          </p:cNvPr>
          <p:cNvSpPr>
            <a:spLocks noGrp="1"/>
          </p:cNvSpPr>
          <p:nvPr>
            <p:ph idx="1"/>
          </p:nvPr>
        </p:nvSpPr>
        <p:spPr>
          <a:xfrm>
            <a:off x="457200" y="1600200"/>
            <a:ext cx="8229600" cy="5068888"/>
          </a:xfrm>
        </p:spPr>
        <p:txBody>
          <a:bodyPr>
            <a:normAutofit lnSpcReduction="10000"/>
          </a:bodyPr>
          <a:lstStyle/>
          <a:p>
            <a:pPr eaLnBrk="1" hangingPunct="1">
              <a:lnSpc>
                <a:spcPct val="120000"/>
              </a:lnSpc>
              <a:defRPr/>
            </a:pPr>
            <a:r>
              <a:rPr lang="zh-CN" altLang="en-US" dirty="0">
                <a:solidFill>
                  <a:srgbClr val="FFC000"/>
                </a:solidFill>
              </a:rPr>
              <a:t>命令式程序设计范式</a:t>
            </a:r>
            <a:r>
              <a:rPr lang="zh-CN" altLang="en-US" dirty="0"/>
              <a:t>（</a:t>
            </a:r>
            <a:r>
              <a:rPr lang="en-US" altLang="zh-CN" sz="2800" dirty="0"/>
              <a:t>imperative programming</a:t>
            </a:r>
            <a:r>
              <a:rPr lang="zh-CN" altLang="en-US" dirty="0"/>
              <a:t>）是指：</a:t>
            </a:r>
            <a:endParaRPr lang="en-US" altLang="zh-CN" dirty="0"/>
          </a:p>
          <a:p>
            <a:pPr lvl="1" eaLnBrk="1" hangingPunct="1">
              <a:lnSpc>
                <a:spcPct val="120000"/>
              </a:lnSpc>
              <a:defRPr/>
            </a:pPr>
            <a:r>
              <a:rPr lang="zh-CN" altLang="en-US" dirty="0"/>
              <a:t>需要对“</a:t>
            </a:r>
            <a:r>
              <a:rPr lang="zh-CN" altLang="en-US" dirty="0">
                <a:solidFill>
                  <a:srgbClr val="FFC000"/>
                </a:solidFill>
              </a:rPr>
              <a:t>如何做</a:t>
            </a:r>
            <a:r>
              <a:rPr lang="zh-CN" altLang="en-US" dirty="0"/>
              <a:t>”进行详细描述，包括操作</a:t>
            </a:r>
            <a:r>
              <a:rPr lang="zh-CN" altLang="en-US" dirty="0">
                <a:solidFill>
                  <a:srgbClr val="FFC000"/>
                </a:solidFill>
              </a:rPr>
              <a:t>步骤</a:t>
            </a:r>
            <a:r>
              <a:rPr lang="zh-CN" altLang="en-US" dirty="0"/>
              <a:t>和</a:t>
            </a:r>
            <a:r>
              <a:rPr lang="zh-CN" altLang="en-US" dirty="0">
                <a:solidFill>
                  <a:srgbClr val="FFC000"/>
                </a:solidFill>
              </a:rPr>
              <a:t>状态</a:t>
            </a:r>
            <a:r>
              <a:rPr lang="zh-CN" altLang="en-US" dirty="0"/>
              <a:t>变化。</a:t>
            </a:r>
            <a:endParaRPr lang="en-US" altLang="zh-CN" dirty="0"/>
          </a:p>
          <a:p>
            <a:pPr lvl="1" eaLnBrk="1" hangingPunct="1">
              <a:lnSpc>
                <a:spcPct val="120000"/>
              </a:lnSpc>
              <a:defRPr/>
            </a:pPr>
            <a:r>
              <a:rPr lang="zh-CN" altLang="en-US" dirty="0"/>
              <a:t>与冯诺依曼体系结构一致，是使用较广泛的程序设计范式。</a:t>
            </a:r>
            <a:endParaRPr lang="en-US" altLang="zh-CN" dirty="0"/>
          </a:p>
          <a:p>
            <a:pPr eaLnBrk="1" hangingPunct="1">
              <a:lnSpc>
                <a:spcPct val="120000"/>
              </a:lnSpc>
              <a:defRPr/>
            </a:pPr>
            <a:r>
              <a:rPr lang="zh-CN" altLang="en-US" dirty="0"/>
              <a:t>命令式程序设计范式的典型代表：</a:t>
            </a:r>
            <a:endParaRPr lang="en-US" altLang="zh-CN" dirty="0"/>
          </a:p>
          <a:p>
            <a:pPr lvl="1" eaLnBrk="1" hangingPunct="1">
              <a:lnSpc>
                <a:spcPct val="120000"/>
              </a:lnSpc>
              <a:defRPr/>
            </a:pPr>
            <a:r>
              <a:rPr lang="zh-CN" altLang="en-US" dirty="0"/>
              <a:t>过程式程序设计</a:t>
            </a:r>
            <a:endParaRPr lang="en-US" altLang="zh-CN" dirty="0"/>
          </a:p>
          <a:p>
            <a:pPr lvl="1" eaLnBrk="1" hangingPunct="1">
              <a:lnSpc>
                <a:spcPct val="120000"/>
              </a:lnSpc>
              <a:defRPr/>
            </a:pPr>
            <a:r>
              <a:rPr lang="zh-CN" altLang="en-US" dirty="0"/>
              <a:t>面向对象程序设计</a:t>
            </a:r>
            <a:endParaRPr lang="en-US" altLang="zh-CN" dirty="0"/>
          </a:p>
          <a:p>
            <a:pPr>
              <a:defRPr/>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50A1F3-BE75-3E0C-35BF-5320388F5FD1}"/>
              </a:ext>
            </a:extLst>
          </p:cNvPr>
          <p:cNvSpPr>
            <a:spLocks noGrp="1"/>
          </p:cNvSpPr>
          <p:nvPr>
            <p:ph type="title"/>
          </p:nvPr>
        </p:nvSpPr>
        <p:spPr/>
        <p:txBody>
          <a:bodyPr/>
          <a:lstStyle/>
          <a:p>
            <a:pPr>
              <a:defRPr/>
            </a:pPr>
            <a:r>
              <a:rPr lang="zh-CN" altLang="en-US" sz="4000" dirty="0"/>
              <a:t>声明式程序设计范式</a:t>
            </a:r>
            <a:br>
              <a:rPr lang="en-US" altLang="zh-CN" sz="4000" dirty="0"/>
            </a:br>
            <a:r>
              <a:rPr lang="zh-CN" altLang="en-US" sz="4000" dirty="0"/>
              <a:t>（</a:t>
            </a:r>
            <a:r>
              <a:rPr lang="en-US" altLang="zh-CN" sz="4000" dirty="0"/>
              <a:t>declarative programming</a:t>
            </a:r>
            <a:r>
              <a:rPr lang="zh-CN" altLang="en-US" sz="4000" dirty="0"/>
              <a:t>）</a:t>
            </a:r>
          </a:p>
        </p:txBody>
      </p:sp>
      <p:sp>
        <p:nvSpPr>
          <p:cNvPr id="3" name="内容占位符 2">
            <a:extLst>
              <a:ext uri="{FF2B5EF4-FFF2-40B4-BE49-F238E27FC236}">
                <a16:creationId xmlns:a16="http://schemas.microsoft.com/office/drawing/2014/main" id="{6F656F16-0175-7833-9BE2-EFCDACCB8B9E}"/>
              </a:ext>
            </a:extLst>
          </p:cNvPr>
          <p:cNvSpPr>
            <a:spLocks noGrp="1"/>
          </p:cNvSpPr>
          <p:nvPr>
            <p:ph idx="1"/>
          </p:nvPr>
        </p:nvSpPr>
        <p:spPr>
          <a:xfrm>
            <a:off x="250825" y="1600200"/>
            <a:ext cx="8642350" cy="4924425"/>
          </a:xfrm>
        </p:spPr>
        <p:txBody>
          <a:bodyPr>
            <a:normAutofit lnSpcReduction="10000"/>
          </a:bodyPr>
          <a:lstStyle/>
          <a:p>
            <a:pPr eaLnBrk="1" hangingPunct="1">
              <a:lnSpc>
                <a:spcPct val="120000"/>
              </a:lnSpc>
              <a:defRPr/>
            </a:pPr>
            <a:r>
              <a:rPr lang="zh-CN" altLang="en-US" dirty="0"/>
              <a:t>除了命令式程序设计范式外，还有一类是</a:t>
            </a:r>
            <a:r>
              <a:rPr lang="zh-CN" altLang="en-US" dirty="0">
                <a:solidFill>
                  <a:srgbClr val="FFC000"/>
                </a:solidFill>
              </a:rPr>
              <a:t>声明式程序设计范式</a:t>
            </a:r>
            <a:r>
              <a:rPr lang="zh-CN" altLang="en-US" dirty="0"/>
              <a:t>（</a:t>
            </a:r>
            <a:r>
              <a:rPr lang="en-US" altLang="zh-CN" sz="3000" dirty="0"/>
              <a:t>declarative programming</a:t>
            </a:r>
            <a:r>
              <a:rPr lang="zh-CN" altLang="en-US" dirty="0"/>
              <a:t>）：</a:t>
            </a:r>
            <a:endParaRPr lang="en-US" altLang="zh-CN" dirty="0"/>
          </a:p>
          <a:p>
            <a:pPr lvl="1" eaLnBrk="1" hangingPunct="1">
              <a:lnSpc>
                <a:spcPct val="120000"/>
              </a:lnSpc>
              <a:defRPr/>
            </a:pPr>
            <a:r>
              <a:rPr lang="zh-CN" altLang="en-US" dirty="0"/>
              <a:t>只需要对“</a:t>
            </a:r>
            <a:r>
              <a:rPr lang="zh-CN" altLang="en-US" dirty="0">
                <a:solidFill>
                  <a:srgbClr val="FFC000"/>
                </a:solidFill>
              </a:rPr>
              <a:t>做什么</a:t>
            </a:r>
            <a:r>
              <a:rPr lang="zh-CN" altLang="en-US" dirty="0"/>
              <a:t>”进行描述，不需要给出操作步骤和状态变化。</a:t>
            </a:r>
          </a:p>
          <a:p>
            <a:pPr lvl="1" eaLnBrk="1" hangingPunct="1">
              <a:lnSpc>
                <a:spcPct val="120000"/>
              </a:lnSpc>
              <a:defRPr/>
            </a:pPr>
            <a:r>
              <a:rPr lang="zh-CN" altLang="en-US" dirty="0"/>
              <a:t>设计出的程序比较精炼和具有潜在的并行性。</a:t>
            </a:r>
            <a:endParaRPr lang="en-US" altLang="zh-CN" dirty="0"/>
          </a:p>
          <a:p>
            <a:pPr>
              <a:defRPr/>
            </a:pPr>
            <a:r>
              <a:rPr lang="zh-CN" altLang="en-US" dirty="0"/>
              <a:t>声明式程序设计范式的典型代表：</a:t>
            </a:r>
            <a:endParaRPr lang="en-US" altLang="zh-CN" dirty="0"/>
          </a:p>
          <a:p>
            <a:pPr lvl="1">
              <a:defRPr/>
            </a:pPr>
            <a:r>
              <a:rPr lang="zh-CN" altLang="en-US" dirty="0"/>
              <a:t>函数式程序设计</a:t>
            </a:r>
            <a:endParaRPr lang="en-US" altLang="zh-CN" dirty="0"/>
          </a:p>
          <a:p>
            <a:pPr lvl="1">
              <a:defRPr/>
            </a:pPr>
            <a:r>
              <a:rPr lang="zh-CN" altLang="en-US" dirty="0"/>
              <a:t>逻辑式程序设计</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01D90B-DF6B-E245-2582-DA36F00DEC8D}"/>
              </a:ext>
            </a:extLst>
          </p:cNvPr>
          <p:cNvSpPr>
            <a:spLocks noGrp="1"/>
          </p:cNvSpPr>
          <p:nvPr>
            <p:ph type="title"/>
          </p:nvPr>
        </p:nvSpPr>
        <p:spPr>
          <a:xfrm>
            <a:off x="457200" y="57150"/>
            <a:ext cx="8229600" cy="1139825"/>
          </a:xfrm>
        </p:spPr>
        <p:txBody>
          <a:bodyPr/>
          <a:lstStyle/>
          <a:p>
            <a:pPr>
              <a:defRPr/>
            </a:pPr>
            <a:r>
              <a:rPr lang="zh-CN" altLang="en-US" dirty="0"/>
              <a:t>什么是函数式程序设计</a:t>
            </a:r>
          </a:p>
        </p:txBody>
      </p:sp>
      <p:sp>
        <p:nvSpPr>
          <p:cNvPr id="3" name="内容占位符 2">
            <a:extLst>
              <a:ext uri="{FF2B5EF4-FFF2-40B4-BE49-F238E27FC236}">
                <a16:creationId xmlns:a16="http://schemas.microsoft.com/office/drawing/2014/main" id="{5836DF16-EE75-B7DA-5CE1-8D700BA5CB5C}"/>
              </a:ext>
            </a:extLst>
          </p:cNvPr>
          <p:cNvSpPr>
            <a:spLocks noGrp="1"/>
          </p:cNvSpPr>
          <p:nvPr>
            <p:ph idx="1"/>
          </p:nvPr>
        </p:nvSpPr>
        <p:spPr>
          <a:xfrm>
            <a:off x="457200" y="1485900"/>
            <a:ext cx="8229600" cy="4967288"/>
          </a:xfrm>
        </p:spPr>
        <p:txBody>
          <a:bodyPr>
            <a:normAutofit/>
          </a:bodyPr>
          <a:lstStyle/>
          <a:p>
            <a:pPr eaLnBrk="1" hangingPunct="1">
              <a:defRPr/>
            </a:pPr>
            <a:r>
              <a:rPr lang="zh-CN" altLang="en-US" dirty="0">
                <a:solidFill>
                  <a:srgbClr val="FFC000"/>
                </a:solidFill>
              </a:rPr>
              <a:t>函数式程序设计</a:t>
            </a:r>
            <a:r>
              <a:rPr lang="zh-CN" altLang="en-US" dirty="0"/>
              <a:t>（</a:t>
            </a:r>
            <a:r>
              <a:rPr lang="en-US" altLang="zh-CN" sz="2800" dirty="0"/>
              <a:t>functional programming</a:t>
            </a:r>
            <a:r>
              <a:rPr lang="zh-CN" altLang="en-US" dirty="0"/>
              <a:t>）是指把程序组织成一组</a:t>
            </a:r>
            <a:r>
              <a:rPr lang="zh-CN" altLang="en-US" dirty="0">
                <a:solidFill>
                  <a:srgbClr val="FFC000"/>
                </a:solidFill>
              </a:rPr>
              <a:t>数学函数</a:t>
            </a:r>
            <a:r>
              <a:rPr lang="zh-CN" altLang="en-US" dirty="0"/>
              <a:t>，计算过程体现为基于一系列</a:t>
            </a:r>
            <a:r>
              <a:rPr lang="zh-CN" altLang="en-US" dirty="0">
                <a:solidFill>
                  <a:srgbClr val="FFC000"/>
                </a:solidFill>
              </a:rPr>
              <a:t>函数应用</a:t>
            </a:r>
            <a:r>
              <a:rPr lang="zh-CN" altLang="en-US" dirty="0"/>
              <a:t>（把函数作用于数据）的表达式求值。</a:t>
            </a:r>
            <a:endParaRPr lang="en-US" altLang="zh-CN" dirty="0"/>
          </a:p>
          <a:p>
            <a:pPr eaLnBrk="1" hangingPunct="1">
              <a:defRPr/>
            </a:pPr>
            <a:r>
              <a:rPr lang="zh-CN" altLang="en-US" dirty="0">
                <a:solidFill>
                  <a:srgbClr val="FFC000"/>
                </a:solidFill>
              </a:rPr>
              <a:t>函数</a:t>
            </a:r>
            <a:r>
              <a:rPr lang="zh-CN" altLang="en-US" dirty="0"/>
              <a:t>也被作为</a:t>
            </a:r>
            <a:r>
              <a:rPr lang="zh-CN" altLang="en-US" dirty="0">
                <a:solidFill>
                  <a:srgbClr val="FFC000"/>
                </a:solidFill>
              </a:rPr>
              <a:t>值</a:t>
            </a:r>
            <a:r>
              <a:rPr lang="zh-CN" altLang="en-US" dirty="0"/>
              <a:t>（数据）来看待，即函数的参数和返回值也可以是函数。</a:t>
            </a:r>
            <a:endParaRPr lang="en-US" altLang="zh-CN" dirty="0"/>
          </a:p>
          <a:p>
            <a:pPr eaLnBrk="1" hangingPunct="1">
              <a:defRPr/>
            </a:pPr>
            <a:r>
              <a:rPr lang="zh-CN" altLang="en-US" dirty="0"/>
              <a:t>基于的理论是递归函数理论和</a:t>
            </a:r>
            <a:r>
              <a:rPr lang="en-US" altLang="zh-CN" dirty="0"/>
              <a:t>lambda</a:t>
            </a:r>
            <a:r>
              <a:rPr lang="zh-CN" altLang="en-US" dirty="0"/>
              <a:t>演算。</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A01572-F8BA-D0C9-5074-C73B19904140}"/>
              </a:ext>
            </a:extLst>
          </p:cNvPr>
          <p:cNvSpPr>
            <a:spLocks noGrp="1"/>
          </p:cNvSpPr>
          <p:nvPr>
            <p:ph type="title"/>
          </p:nvPr>
        </p:nvSpPr>
        <p:spPr>
          <a:xfrm>
            <a:off x="457200" y="57150"/>
            <a:ext cx="8229600" cy="1139825"/>
          </a:xfrm>
        </p:spPr>
        <p:txBody>
          <a:bodyPr/>
          <a:lstStyle/>
          <a:p>
            <a:pPr>
              <a:defRPr/>
            </a:pPr>
            <a:r>
              <a:rPr lang="zh-CN" altLang="en-US" dirty="0"/>
              <a:t>函数式程序设计的例子</a:t>
            </a:r>
          </a:p>
        </p:txBody>
      </p:sp>
      <p:sp>
        <p:nvSpPr>
          <p:cNvPr id="6" name="内容占位符 2">
            <a:extLst>
              <a:ext uri="{FF2B5EF4-FFF2-40B4-BE49-F238E27FC236}">
                <a16:creationId xmlns:a16="http://schemas.microsoft.com/office/drawing/2014/main" id="{C0F36C99-95FA-96D1-DD6B-B6F97A5F37DB}"/>
              </a:ext>
            </a:extLst>
          </p:cNvPr>
          <p:cNvSpPr>
            <a:spLocks noGrp="1"/>
          </p:cNvSpPr>
          <p:nvPr>
            <p:ph idx="1"/>
          </p:nvPr>
        </p:nvSpPr>
        <p:spPr>
          <a:xfrm>
            <a:off x="457200" y="1557338"/>
            <a:ext cx="8229600" cy="4608512"/>
          </a:xfrm>
        </p:spPr>
        <p:txBody>
          <a:bodyPr>
            <a:normAutofit/>
          </a:bodyPr>
          <a:lstStyle/>
          <a:p>
            <a:pPr>
              <a:defRPr/>
            </a:pPr>
            <a:r>
              <a:rPr lang="zh-CN" altLang="en-US" dirty="0"/>
              <a:t>计算整数</a:t>
            </a:r>
            <a:r>
              <a:rPr lang="en-US" altLang="zh-CN" dirty="0"/>
              <a:t>1</a:t>
            </a:r>
            <a:r>
              <a:rPr lang="zh-CN" altLang="en-US" dirty="0"/>
              <a:t>到</a:t>
            </a:r>
            <a:r>
              <a:rPr lang="en-US" altLang="zh-CN" dirty="0"/>
              <a:t>3</a:t>
            </a:r>
            <a:r>
              <a:rPr lang="zh-CN" altLang="en-US" dirty="0"/>
              <a:t>的和。</a:t>
            </a:r>
            <a:endParaRPr lang="en-US" altLang="zh-CN" dirty="0"/>
          </a:p>
          <a:p>
            <a:pPr>
              <a:defRPr/>
            </a:pPr>
            <a:r>
              <a:rPr lang="en-US" altLang="zh-CN" dirty="0"/>
              <a:t>C++</a:t>
            </a:r>
            <a:r>
              <a:rPr lang="zh-CN" altLang="en-US" dirty="0"/>
              <a:t>命令式实现：</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r>
              <a:rPr lang="en-US" altLang="zh-CN" dirty="0" err="1"/>
              <a:t>int</a:t>
            </a:r>
            <a:r>
              <a:rPr lang="en-US" altLang="zh-CN" dirty="0"/>
              <a:t> sum = 0;</a:t>
            </a:r>
          </a:p>
          <a:p>
            <a:pPr marL="0" indent="0">
              <a:buFont typeface="Wingdings" panose="05000000000000000000" pitchFamily="2" charset="2"/>
              <a:buNone/>
              <a:defRPr/>
            </a:pPr>
            <a:r>
              <a:rPr lang="en-US" altLang="zh-CN" dirty="0"/>
              <a:t>      for(</a:t>
            </a:r>
            <a:r>
              <a:rPr lang="en-US" altLang="zh-CN" dirty="0" err="1"/>
              <a:t>int</a:t>
            </a:r>
            <a:r>
              <a:rPr lang="en-US" altLang="zh-CN" dirty="0"/>
              <a:t> </a:t>
            </a:r>
            <a:r>
              <a:rPr lang="en-US" altLang="zh-CN" dirty="0" err="1"/>
              <a:t>i</a:t>
            </a:r>
            <a:r>
              <a:rPr lang="en-US" altLang="zh-CN" dirty="0"/>
              <a:t> = 1; </a:t>
            </a:r>
            <a:r>
              <a:rPr lang="en-US" altLang="zh-CN" dirty="0" err="1"/>
              <a:t>i</a:t>
            </a:r>
            <a:r>
              <a:rPr lang="en-US" altLang="zh-CN" dirty="0"/>
              <a:t> &lt;=3; </a:t>
            </a:r>
            <a:r>
              <a:rPr lang="en-US" altLang="zh-CN" dirty="0" err="1"/>
              <a:t>i</a:t>
            </a:r>
            <a:r>
              <a:rPr lang="en-US" altLang="zh-CN" dirty="0"/>
              <a:t>++)</a:t>
            </a:r>
          </a:p>
          <a:p>
            <a:pPr marL="0" indent="0">
              <a:buFont typeface="Wingdings" panose="05000000000000000000" pitchFamily="2" charset="2"/>
              <a:buNone/>
              <a:defRPr/>
            </a:pPr>
            <a:r>
              <a:rPr lang="en-US" altLang="zh-CN" dirty="0"/>
              <a:t>           sum += </a:t>
            </a:r>
            <a:r>
              <a:rPr lang="en-US" altLang="zh-CN" dirty="0" err="1"/>
              <a:t>i</a:t>
            </a:r>
            <a:r>
              <a:rPr lang="en-US" altLang="zh-CN" dirty="0"/>
              <a:t>;</a:t>
            </a:r>
          </a:p>
          <a:p>
            <a:pPr>
              <a:defRPr/>
            </a:pPr>
            <a:endParaRPr lang="zh-CN" altLang="en-US" dirty="0"/>
          </a:p>
        </p:txBody>
      </p:sp>
      <p:sp>
        <p:nvSpPr>
          <p:cNvPr id="10244" name="文本框 6">
            <a:extLst>
              <a:ext uri="{FF2B5EF4-FFF2-40B4-BE49-F238E27FC236}">
                <a16:creationId xmlns:a16="http://schemas.microsoft.com/office/drawing/2014/main" id="{650F0BF8-2B70-45C1-7CEE-BFC3A87CE956}"/>
              </a:ext>
            </a:extLst>
          </p:cNvPr>
          <p:cNvSpPr txBox="1">
            <a:spLocks noChangeArrowheads="1"/>
          </p:cNvSpPr>
          <p:nvPr/>
        </p:nvSpPr>
        <p:spPr bwMode="auto">
          <a:xfrm>
            <a:off x="539750" y="6237288"/>
            <a:ext cx="66246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Tx/>
              <a:buNone/>
            </a:pPr>
            <a:r>
              <a:rPr lang="zh-CN" altLang="en-US" sz="1600"/>
              <a:t>来源：</a:t>
            </a:r>
            <a:r>
              <a:rPr lang="en-US" altLang="zh-CN" sz="1600"/>
              <a:t>https://zhenjiang888.github.io/FP/2023/</a:t>
            </a:r>
            <a:endParaRPr lang="zh-CN" altLang="en-US" sz="160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C52984-0A10-D3E8-73E9-2D738B882856}"/>
              </a:ext>
            </a:extLst>
          </p:cNvPr>
          <p:cNvSpPr>
            <a:spLocks noGrp="1"/>
          </p:cNvSpPr>
          <p:nvPr>
            <p:ph type="title"/>
          </p:nvPr>
        </p:nvSpPr>
        <p:spPr>
          <a:xfrm>
            <a:off x="457200" y="57150"/>
            <a:ext cx="8229600" cy="1139825"/>
          </a:xfrm>
        </p:spPr>
        <p:txBody>
          <a:bodyPr/>
          <a:lstStyle/>
          <a:p>
            <a:pPr>
              <a:defRPr/>
            </a:pPr>
            <a:r>
              <a:rPr lang="zh-CN" altLang="en-US" dirty="0"/>
              <a:t>函数式程序设计的例子</a:t>
            </a:r>
          </a:p>
        </p:txBody>
      </p:sp>
      <p:sp>
        <p:nvSpPr>
          <p:cNvPr id="6" name="内容占位符 2">
            <a:extLst>
              <a:ext uri="{FF2B5EF4-FFF2-40B4-BE49-F238E27FC236}">
                <a16:creationId xmlns:a16="http://schemas.microsoft.com/office/drawing/2014/main" id="{D37C2C31-F0B1-C1D9-A100-1C0216A51BEE}"/>
              </a:ext>
            </a:extLst>
          </p:cNvPr>
          <p:cNvSpPr>
            <a:spLocks noGrp="1"/>
          </p:cNvSpPr>
          <p:nvPr>
            <p:ph idx="1"/>
          </p:nvPr>
        </p:nvSpPr>
        <p:spPr>
          <a:xfrm>
            <a:off x="457200" y="1557338"/>
            <a:ext cx="8229600" cy="4608512"/>
          </a:xfrm>
        </p:spPr>
        <p:txBody>
          <a:bodyPr>
            <a:normAutofit/>
          </a:bodyPr>
          <a:lstStyle/>
          <a:p>
            <a:pPr>
              <a:defRPr/>
            </a:pPr>
            <a:r>
              <a:rPr lang="zh-CN" altLang="en-US" dirty="0"/>
              <a:t>计算整数</a:t>
            </a:r>
            <a:r>
              <a:rPr lang="en-US" altLang="zh-CN" dirty="0"/>
              <a:t>1</a:t>
            </a:r>
            <a:r>
              <a:rPr lang="zh-CN" altLang="en-US" dirty="0"/>
              <a:t>到</a:t>
            </a:r>
            <a:r>
              <a:rPr lang="en-US" altLang="zh-CN" dirty="0"/>
              <a:t>3</a:t>
            </a:r>
            <a:r>
              <a:rPr lang="zh-CN" altLang="en-US" dirty="0"/>
              <a:t>的和。</a:t>
            </a:r>
            <a:endParaRPr lang="en-US" altLang="zh-CN" dirty="0"/>
          </a:p>
          <a:p>
            <a:pPr>
              <a:defRPr/>
            </a:pPr>
            <a:r>
              <a:rPr lang="zh-CN" altLang="en-US" dirty="0"/>
              <a:t>函数式实现（</a:t>
            </a:r>
            <a:r>
              <a:rPr lang="en-US" altLang="zh-CN" dirty="0"/>
              <a:t>Haskell</a:t>
            </a:r>
            <a:r>
              <a:rPr lang="zh-CN" altLang="en-US" dirty="0"/>
              <a:t>）：</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sum [] = 0;</a:t>
            </a:r>
          </a:p>
          <a:p>
            <a:pPr marL="0" indent="0">
              <a:buFont typeface="Wingdings" panose="05000000000000000000" pitchFamily="2" charset="2"/>
              <a:buNone/>
              <a:defRPr/>
            </a:pPr>
            <a:r>
              <a:rPr lang="en-US" altLang="zh-CN" dirty="0"/>
              <a:t>      sum (</a:t>
            </a:r>
            <a:r>
              <a:rPr lang="en-US" altLang="zh-CN" dirty="0" err="1"/>
              <a:t>x:xs</a:t>
            </a:r>
            <a:r>
              <a:rPr lang="en-US" altLang="zh-CN" dirty="0"/>
              <a:t>) = x + sum </a:t>
            </a:r>
            <a:r>
              <a:rPr lang="en-US" altLang="zh-CN" dirty="0" err="1"/>
              <a:t>xs</a:t>
            </a:r>
            <a:endParaRPr lang="en-US" altLang="zh-CN" dirty="0"/>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sum [1, 2, 3]</a:t>
            </a:r>
          </a:p>
          <a:p>
            <a:pPr>
              <a:defRPr/>
            </a:pPr>
            <a:endParaRPr lang="zh-CN" altLang="en-US" dirty="0"/>
          </a:p>
        </p:txBody>
      </p:sp>
      <p:sp>
        <p:nvSpPr>
          <p:cNvPr id="11268" name="文本框 3">
            <a:extLst>
              <a:ext uri="{FF2B5EF4-FFF2-40B4-BE49-F238E27FC236}">
                <a16:creationId xmlns:a16="http://schemas.microsoft.com/office/drawing/2014/main" id="{A679D526-024C-0032-2C1B-71B5C8ADF3E6}"/>
              </a:ext>
            </a:extLst>
          </p:cNvPr>
          <p:cNvSpPr txBox="1">
            <a:spLocks noChangeArrowheads="1"/>
          </p:cNvSpPr>
          <p:nvPr/>
        </p:nvSpPr>
        <p:spPr bwMode="auto">
          <a:xfrm>
            <a:off x="611188" y="6237288"/>
            <a:ext cx="66246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Tx/>
              <a:buNone/>
            </a:pPr>
            <a:r>
              <a:rPr lang="zh-CN" altLang="en-US" sz="1600"/>
              <a:t>来源：</a:t>
            </a:r>
            <a:r>
              <a:rPr lang="en-US" altLang="zh-CN" sz="1600"/>
              <a:t>https://zhenjiang888.github.io/FP/2023/</a:t>
            </a:r>
            <a:endParaRPr lang="zh-CN" altLang="en-US" sz="160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537DB4-5472-C651-84B8-167A62810ED1}"/>
              </a:ext>
            </a:extLst>
          </p:cNvPr>
          <p:cNvSpPr>
            <a:spLocks noGrp="1"/>
          </p:cNvSpPr>
          <p:nvPr>
            <p:ph type="title"/>
          </p:nvPr>
        </p:nvSpPr>
        <p:spPr>
          <a:xfrm>
            <a:off x="457200" y="57150"/>
            <a:ext cx="8229600" cy="1139825"/>
          </a:xfrm>
        </p:spPr>
        <p:txBody>
          <a:bodyPr/>
          <a:lstStyle/>
          <a:p>
            <a:pPr>
              <a:defRPr/>
            </a:pPr>
            <a:r>
              <a:rPr lang="zh-CN" altLang="en-US" dirty="0"/>
              <a:t>函数式程序设计的例子</a:t>
            </a:r>
          </a:p>
        </p:txBody>
      </p:sp>
      <p:sp>
        <p:nvSpPr>
          <p:cNvPr id="6" name="内容占位符 2">
            <a:extLst>
              <a:ext uri="{FF2B5EF4-FFF2-40B4-BE49-F238E27FC236}">
                <a16:creationId xmlns:a16="http://schemas.microsoft.com/office/drawing/2014/main" id="{7BD38F08-EAC8-BC12-756F-AAFF58ECFF1B}"/>
              </a:ext>
            </a:extLst>
          </p:cNvPr>
          <p:cNvSpPr>
            <a:spLocks noGrp="1"/>
          </p:cNvSpPr>
          <p:nvPr>
            <p:ph idx="1"/>
          </p:nvPr>
        </p:nvSpPr>
        <p:spPr>
          <a:xfrm>
            <a:off x="457200" y="1557338"/>
            <a:ext cx="4114800" cy="4608512"/>
          </a:xfrm>
        </p:spPr>
        <p:txBody>
          <a:bodyPr>
            <a:normAutofit/>
          </a:bodyPr>
          <a:lstStyle/>
          <a:p>
            <a:pPr marL="0" indent="0">
              <a:buFont typeface="Wingdings" panose="05000000000000000000" pitchFamily="2" charset="2"/>
              <a:buNone/>
              <a:defRPr/>
            </a:pPr>
            <a:r>
              <a:rPr lang="en-US" altLang="zh-CN" sz="2800" dirty="0"/>
              <a:t>sum [] = 0;</a:t>
            </a:r>
          </a:p>
          <a:p>
            <a:pPr marL="0" indent="0">
              <a:buFont typeface="Wingdings" panose="05000000000000000000" pitchFamily="2" charset="2"/>
              <a:buNone/>
              <a:defRPr/>
            </a:pPr>
            <a:r>
              <a:rPr lang="en-US" altLang="zh-CN" sz="2800" dirty="0"/>
              <a:t>sum(</a:t>
            </a:r>
            <a:r>
              <a:rPr lang="en-US" altLang="zh-CN" sz="2800" dirty="0" err="1"/>
              <a:t>x:xs</a:t>
            </a:r>
            <a:r>
              <a:rPr lang="en-US" altLang="zh-CN" sz="2800" dirty="0"/>
              <a:t>)=</a:t>
            </a:r>
            <a:r>
              <a:rPr lang="en-US" altLang="zh-CN" sz="2800" dirty="0" err="1"/>
              <a:t>x+sum</a:t>
            </a:r>
            <a:r>
              <a:rPr lang="en-US" altLang="zh-CN" sz="2800" dirty="0"/>
              <a:t> </a:t>
            </a:r>
            <a:r>
              <a:rPr lang="en-US" altLang="zh-CN" sz="2800" dirty="0" err="1"/>
              <a:t>xs</a:t>
            </a:r>
            <a:endParaRPr lang="en-US" altLang="zh-CN" sz="2800" dirty="0"/>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endParaRPr lang="zh-CN" altLang="en-US" dirty="0"/>
          </a:p>
        </p:txBody>
      </p:sp>
      <p:pic>
        <p:nvPicPr>
          <p:cNvPr id="12292" name="图片 2">
            <a:extLst>
              <a:ext uri="{FF2B5EF4-FFF2-40B4-BE49-F238E27FC236}">
                <a16:creationId xmlns:a16="http://schemas.microsoft.com/office/drawing/2014/main" id="{B4FEB604-C402-28B3-FF47-B343ACC17A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557338"/>
            <a:ext cx="3816350" cy="466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文本框 4">
            <a:extLst>
              <a:ext uri="{FF2B5EF4-FFF2-40B4-BE49-F238E27FC236}">
                <a16:creationId xmlns:a16="http://schemas.microsoft.com/office/drawing/2014/main" id="{BB7BD22B-CC5B-2865-F3B1-6F3B7899A276}"/>
              </a:ext>
            </a:extLst>
          </p:cNvPr>
          <p:cNvSpPr txBox="1">
            <a:spLocks noChangeArrowheads="1"/>
          </p:cNvSpPr>
          <p:nvPr/>
        </p:nvSpPr>
        <p:spPr bwMode="auto">
          <a:xfrm>
            <a:off x="539750" y="6381750"/>
            <a:ext cx="66246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Tx/>
              <a:buNone/>
            </a:pPr>
            <a:r>
              <a:rPr lang="zh-CN" altLang="en-US" sz="1600"/>
              <a:t>来源：</a:t>
            </a:r>
            <a:r>
              <a:rPr lang="en-US" altLang="zh-CN" sz="1600"/>
              <a:t>https://zhenjiang888.github.io/FP/2023/</a:t>
            </a:r>
            <a:endParaRPr lang="zh-CN" altLang="en-US" sz="160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76F0F-E134-EF21-4CD7-48F5CD710ECF}"/>
              </a:ext>
            </a:extLst>
          </p:cNvPr>
          <p:cNvSpPr>
            <a:spLocks noGrp="1"/>
          </p:cNvSpPr>
          <p:nvPr>
            <p:ph type="title"/>
          </p:nvPr>
        </p:nvSpPr>
        <p:spPr/>
        <p:txBody>
          <a:bodyPr/>
          <a:lstStyle/>
          <a:p>
            <a:pPr>
              <a:defRPr/>
            </a:pPr>
            <a:r>
              <a:rPr lang="zh-CN" altLang="en-US" dirty="0"/>
              <a:t>函数式程序设计语言</a:t>
            </a:r>
          </a:p>
        </p:txBody>
      </p:sp>
      <p:sp>
        <p:nvSpPr>
          <p:cNvPr id="3" name="内容占位符 2">
            <a:extLst>
              <a:ext uri="{FF2B5EF4-FFF2-40B4-BE49-F238E27FC236}">
                <a16:creationId xmlns:a16="http://schemas.microsoft.com/office/drawing/2014/main" id="{1F956D9F-B855-E899-31AF-A6612B8807AE}"/>
              </a:ext>
            </a:extLst>
          </p:cNvPr>
          <p:cNvSpPr>
            <a:spLocks noGrp="1"/>
          </p:cNvSpPr>
          <p:nvPr>
            <p:ph idx="1"/>
          </p:nvPr>
        </p:nvSpPr>
        <p:spPr>
          <a:xfrm>
            <a:off x="457200" y="1600200"/>
            <a:ext cx="8578850" cy="4530725"/>
          </a:xfrm>
        </p:spPr>
        <p:txBody>
          <a:bodyPr>
            <a:normAutofit/>
          </a:bodyPr>
          <a:lstStyle/>
          <a:p>
            <a:pPr>
              <a:defRPr/>
            </a:pPr>
            <a:r>
              <a:rPr lang="zh-CN" altLang="en-US" sz="2800" dirty="0"/>
              <a:t>讨论“计算”的鼻祖语⾔</a:t>
            </a:r>
            <a:endParaRPr lang="en-US" altLang="zh-CN" sz="2800" dirty="0"/>
          </a:p>
          <a:p>
            <a:pPr marL="400050" lvl="1" indent="0">
              <a:buFontTx/>
              <a:buNone/>
              <a:defRPr/>
            </a:pPr>
            <a:r>
              <a:rPr lang="en-US" altLang="zh-CN" sz="2400" i="1" dirty="0"/>
              <a:t>If an algorithm exists, then there is an equivalent Turing Machine or applicable Lambda-function for that algorithm.</a:t>
            </a:r>
          </a:p>
          <a:p>
            <a:pPr marL="0" indent="0">
              <a:buFont typeface="Wingdings" panose="05000000000000000000" pitchFamily="2" charset="2"/>
              <a:buNone/>
              <a:defRPr/>
            </a:pPr>
            <a:r>
              <a:rPr lang="en-US" altLang="zh-CN" sz="2400" i="1" dirty="0"/>
              <a:t>                                    – Church-Turing Thesis</a:t>
            </a:r>
            <a:endParaRPr lang="zh-CN" altLang="en-US" sz="2400" i="1" dirty="0"/>
          </a:p>
          <a:p>
            <a:pPr>
              <a:defRPr/>
            </a:pPr>
            <a:endParaRPr lang="en-US" altLang="zh-CN" sz="2800" dirty="0"/>
          </a:p>
          <a:p>
            <a:pPr>
              <a:defRPr/>
            </a:pPr>
            <a:r>
              <a:rPr lang="zh-CN" altLang="en-US" sz="2800" dirty="0"/>
              <a:t>程序设计</a:t>
            </a:r>
            <a:r>
              <a:rPr lang="en-US" altLang="zh-CN" sz="2800" dirty="0"/>
              <a:t>=</a:t>
            </a:r>
            <a:r>
              <a:rPr lang="zh-CN" altLang="en-US" sz="2800" dirty="0"/>
              <a:t>正确⽽简明的实现</a:t>
            </a:r>
            <a:r>
              <a:rPr lang="en-US" altLang="zh-CN" sz="2800" dirty="0"/>
              <a:t>+</a:t>
            </a:r>
            <a:r>
              <a:rPr lang="zh-CN" altLang="en-US" sz="2800" dirty="0"/>
              <a:t>基于程序推理的优化</a:t>
            </a:r>
            <a:endParaRPr lang="en-US" altLang="zh-CN" sz="2800" dirty="0"/>
          </a:p>
          <a:p>
            <a:pPr lvl="1">
              <a:defRPr/>
            </a:pPr>
            <a:r>
              <a:rPr lang="zh-CN" altLang="en-US" sz="2400" dirty="0"/>
              <a:t>抽象性：将琐碎的细节交给运⾏时</a:t>
            </a:r>
            <a:endParaRPr lang="en-US" altLang="zh-CN" sz="2400" dirty="0"/>
          </a:p>
          <a:p>
            <a:pPr lvl="1">
              <a:defRPr/>
            </a:pPr>
            <a:r>
              <a:rPr lang="zh-CN" altLang="en-US" sz="2400" dirty="0"/>
              <a:t>简洁透明性：不是封装不确定因素，⽽是减少不确定因素</a:t>
            </a:r>
            <a:endParaRPr lang="en-US" altLang="zh-CN" sz="2400" dirty="0"/>
          </a:p>
          <a:p>
            <a:pPr>
              <a:defRPr/>
            </a:pPr>
            <a:endParaRPr lang="en-US" altLang="zh-CN" sz="2400" i="1" dirty="0"/>
          </a:p>
        </p:txBody>
      </p:sp>
      <p:sp>
        <p:nvSpPr>
          <p:cNvPr id="13316" name="文本框 4">
            <a:extLst>
              <a:ext uri="{FF2B5EF4-FFF2-40B4-BE49-F238E27FC236}">
                <a16:creationId xmlns:a16="http://schemas.microsoft.com/office/drawing/2014/main" id="{7EEB575F-3A2F-7492-BE50-7A50B0AED8BD}"/>
              </a:ext>
            </a:extLst>
          </p:cNvPr>
          <p:cNvSpPr txBox="1">
            <a:spLocks noChangeArrowheads="1"/>
          </p:cNvSpPr>
          <p:nvPr/>
        </p:nvSpPr>
        <p:spPr bwMode="auto">
          <a:xfrm>
            <a:off x="539750" y="6237288"/>
            <a:ext cx="792003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Tx/>
              <a:buNone/>
            </a:pPr>
            <a:r>
              <a:rPr lang="en-US" altLang="zh-CN" sz="1600"/>
              <a:t>https://en.wikipedia.org/wiki/Church-Turing_thesis</a:t>
            </a:r>
          </a:p>
          <a:p>
            <a:pPr>
              <a:spcBef>
                <a:spcPct val="0"/>
              </a:spcBef>
              <a:buClrTx/>
              <a:buSzTx/>
              <a:buFontTx/>
              <a:buNone/>
            </a:pPr>
            <a:r>
              <a:rPr lang="en-US" altLang="zh-CN" sz="1600"/>
              <a:t>https://zhenjiang888.github.io/FP/2023/</a:t>
            </a:r>
          </a:p>
          <a:p>
            <a:pPr>
              <a:spcBef>
                <a:spcPct val="0"/>
              </a:spcBef>
              <a:buClrTx/>
              <a:buSzTx/>
              <a:buFontTx/>
              <a:buNone/>
            </a:pPr>
            <a:endParaRPr lang="zh-CN" altLang="en-US" sz="1600"/>
          </a:p>
          <a:p>
            <a:pPr>
              <a:spcBef>
                <a:spcPct val="0"/>
              </a:spcBef>
              <a:buClrTx/>
              <a:buSzTx/>
              <a:buFontTx/>
              <a:buNone/>
            </a:pPr>
            <a:endParaRPr lang="zh-CN"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378063-D09E-142C-C2DF-1C2A131255B9}"/>
              </a:ext>
            </a:extLst>
          </p:cNvPr>
          <p:cNvSpPr>
            <a:spLocks noGrp="1"/>
          </p:cNvSpPr>
          <p:nvPr>
            <p:ph type="title"/>
          </p:nvPr>
        </p:nvSpPr>
        <p:spPr/>
        <p:txBody>
          <a:bodyPr/>
          <a:lstStyle/>
          <a:p>
            <a:pPr>
              <a:defRPr/>
            </a:pPr>
            <a:r>
              <a:rPr lang="zh-CN" altLang="en-US" dirty="0"/>
              <a:t>函数式程序设计语言</a:t>
            </a:r>
          </a:p>
        </p:txBody>
      </p:sp>
      <p:sp>
        <p:nvSpPr>
          <p:cNvPr id="3" name="内容占位符 2">
            <a:extLst>
              <a:ext uri="{FF2B5EF4-FFF2-40B4-BE49-F238E27FC236}">
                <a16:creationId xmlns:a16="http://schemas.microsoft.com/office/drawing/2014/main" id="{8C9BD703-CF44-24A2-5219-FF7E2A8938A9}"/>
              </a:ext>
            </a:extLst>
          </p:cNvPr>
          <p:cNvSpPr>
            <a:spLocks noGrp="1"/>
          </p:cNvSpPr>
          <p:nvPr>
            <p:ph idx="1"/>
          </p:nvPr>
        </p:nvSpPr>
        <p:spPr/>
        <p:txBody>
          <a:bodyPr>
            <a:normAutofit lnSpcReduction="10000"/>
          </a:bodyPr>
          <a:lstStyle/>
          <a:p>
            <a:pPr>
              <a:defRPr/>
            </a:pPr>
            <a:r>
              <a:rPr lang="zh-CN" altLang="en-US" dirty="0"/>
              <a:t>纯函数式语言：</a:t>
            </a:r>
            <a:endParaRPr lang="en-US" altLang="zh-CN" dirty="0"/>
          </a:p>
          <a:p>
            <a:pPr lvl="1">
              <a:defRPr/>
            </a:pPr>
            <a:r>
              <a:rPr lang="en-US" altLang="zh-CN" dirty="0">
                <a:solidFill>
                  <a:srgbClr val="FFC000"/>
                </a:solidFill>
              </a:rPr>
              <a:t>Common Lisp</a:t>
            </a:r>
            <a:r>
              <a:rPr lang="en-US" altLang="zh-CN" dirty="0"/>
              <a:t>, Scheme, </a:t>
            </a:r>
            <a:r>
              <a:rPr lang="en-US" altLang="zh-CN" dirty="0" err="1"/>
              <a:t>Clojure</a:t>
            </a:r>
            <a:r>
              <a:rPr lang="en-US" altLang="zh-CN" dirty="0"/>
              <a:t>, Racket, </a:t>
            </a:r>
            <a:r>
              <a:rPr lang="en-US" altLang="zh-CN" dirty="0" err="1"/>
              <a:t>Erlang</a:t>
            </a:r>
            <a:r>
              <a:rPr lang="en-US" altLang="zh-CN" dirty="0"/>
              <a:t>, </a:t>
            </a:r>
            <a:r>
              <a:rPr lang="en-US" altLang="zh-CN" dirty="0" err="1"/>
              <a:t>OCaml</a:t>
            </a:r>
            <a:r>
              <a:rPr lang="en-US" altLang="zh-CN" dirty="0"/>
              <a:t>, </a:t>
            </a:r>
            <a:r>
              <a:rPr lang="en-US" altLang="zh-CN" dirty="0">
                <a:solidFill>
                  <a:srgbClr val="FFC000"/>
                </a:solidFill>
              </a:rPr>
              <a:t>Haskell</a:t>
            </a:r>
            <a:r>
              <a:rPr lang="en-US" altLang="zh-CN" dirty="0"/>
              <a:t>, F#</a:t>
            </a:r>
          </a:p>
          <a:p>
            <a:pPr>
              <a:defRPr/>
            </a:pPr>
            <a:r>
              <a:rPr lang="zh-CN" altLang="en-US" dirty="0"/>
              <a:t>对函数式编程提供支持的语言：</a:t>
            </a:r>
            <a:endParaRPr lang="en-US" altLang="zh-CN" dirty="0"/>
          </a:p>
          <a:p>
            <a:pPr lvl="1">
              <a:defRPr/>
            </a:pPr>
            <a:r>
              <a:rPr lang="en-US" altLang="zh-CN" dirty="0"/>
              <a:t>Perl, PHP, C# 3.0, Java 8, JS, Scala, </a:t>
            </a:r>
            <a:r>
              <a:rPr lang="en-US" altLang="zh-CN" dirty="0">
                <a:solidFill>
                  <a:srgbClr val="FFC000"/>
                </a:solidFill>
              </a:rPr>
              <a:t>Python</a:t>
            </a:r>
            <a:r>
              <a:rPr lang="en-US" altLang="zh-CN" dirty="0"/>
              <a:t>, </a:t>
            </a:r>
            <a:r>
              <a:rPr lang="en-US" altLang="zh-CN" dirty="0">
                <a:solidFill>
                  <a:srgbClr val="FFC000"/>
                </a:solidFill>
              </a:rPr>
              <a:t>C++(11)</a:t>
            </a:r>
          </a:p>
          <a:p>
            <a:pPr eaLnBrk="1" hangingPunct="1">
              <a:defRPr/>
            </a:pPr>
            <a:r>
              <a:rPr lang="en-US" altLang="zh-CN" dirty="0"/>
              <a:t>C++</a:t>
            </a:r>
            <a:r>
              <a:rPr lang="zh-CN" altLang="en-US" dirty="0"/>
              <a:t>是个多范式语言，它除了支持过程式和面向对象程序设计范式外，也支持函数式编程。</a:t>
            </a:r>
            <a:endParaRPr lang="en-US" altLang="zh-CN" dirty="0"/>
          </a:p>
          <a:p>
            <a:pPr>
              <a:defRPr/>
            </a:pP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1FEE29-110B-8C5C-AA6A-D9E9BB05BA43}"/>
              </a:ext>
            </a:extLst>
          </p:cNvPr>
          <p:cNvSpPr>
            <a:spLocks noGrp="1"/>
          </p:cNvSpPr>
          <p:nvPr>
            <p:ph type="title"/>
          </p:nvPr>
        </p:nvSpPr>
        <p:spPr>
          <a:xfrm>
            <a:off x="457200" y="57150"/>
            <a:ext cx="8229600" cy="1139825"/>
          </a:xfrm>
        </p:spPr>
        <p:txBody>
          <a:bodyPr/>
          <a:lstStyle/>
          <a:p>
            <a:pPr>
              <a:defRPr/>
            </a:pPr>
            <a:r>
              <a:rPr lang="zh-CN" altLang="en-US" dirty="0"/>
              <a:t>函数式程序设计的基本特征</a:t>
            </a:r>
          </a:p>
        </p:txBody>
      </p:sp>
      <p:sp>
        <p:nvSpPr>
          <p:cNvPr id="3" name="内容占位符 2">
            <a:extLst>
              <a:ext uri="{FF2B5EF4-FFF2-40B4-BE49-F238E27FC236}">
                <a16:creationId xmlns:a16="http://schemas.microsoft.com/office/drawing/2014/main" id="{F336D53F-1FCE-33EF-1048-BF580D28CA80}"/>
              </a:ext>
            </a:extLst>
          </p:cNvPr>
          <p:cNvSpPr>
            <a:spLocks noGrp="1"/>
          </p:cNvSpPr>
          <p:nvPr>
            <p:ph idx="1"/>
          </p:nvPr>
        </p:nvSpPr>
        <p:spPr>
          <a:xfrm>
            <a:off x="457200" y="1412875"/>
            <a:ext cx="8229600" cy="5184775"/>
          </a:xfrm>
        </p:spPr>
        <p:txBody>
          <a:bodyPr>
            <a:normAutofit fontScale="85000" lnSpcReduction="20000"/>
          </a:bodyPr>
          <a:lstStyle/>
          <a:p>
            <a:pPr eaLnBrk="1" hangingPunct="1">
              <a:lnSpc>
                <a:spcPct val="120000"/>
              </a:lnSpc>
              <a:defRPr/>
            </a:pPr>
            <a:r>
              <a:rPr lang="zh-CN" altLang="en-US" dirty="0"/>
              <a:t>“纯”函数：</a:t>
            </a:r>
            <a:endParaRPr lang="en-US" altLang="zh-CN" dirty="0"/>
          </a:p>
          <a:p>
            <a:pPr lvl="1" eaLnBrk="1" hangingPunct="1">
              <a:lnSpc>
                <a:spcPct val="120000"/>
              </a:lnSpc>
              <a:defRPr/>
            </a:pPr>
            <a:r>
              <a:rPr lang="zh-CN" altLang="en-US" dirty="0"/>
              <a:t>以相同的参数调用一个函数总得到相同的值。（引用透明）</a:t>
            </a:r>
            <a:endParaRPr lang="en-US" altLang="zh-CN" dirty="0"/>
          </a:p>
          <a:p>
            <a:pPr lvl="1" eaLnBrk="1" hangingPunct="1">
              <a:lnSpc>
                <a:spcPct val="120000"/>
              </a:lnSpc>
              <a:defRPr/>
            </a:pPr>
            <a:r>
              <a:rPr lang="zh-CN" altLang="en-US" dirty="0"/>
              <a:t>除了产生计算结果，不会改变其他任何东西。（无副作用）</a:t>
            </a:r>
            <a:endParaRPr lang="en-US" altLang="zh-CN" dirty="0"/>
          </a:p>
          <a:p>
            <a:pPr eaLnBrk="1" hangingPunct="1">
              <a:lnSpc>
                <a:spcPct val="120000"/>
              </a:lnSpc>
              <a:defRPr/>
            </a:pPr>
            <a:r>
              <a:rPr lang="zh-CN" altLang="en-US" dirty="0"/>
              <a:t>没有状态：计算体现为数据之间的映射，它不改变已有数据，而是产生新的数据。（无赋值操作）</a:t>
            </a:r>
            <a:endParaRPr lang="en-US" altLang="zh-CN" dirty="0"/>
          </a:p>
          <a:p>
            <a:pPr eaLnBrk="1" hangingPunct="1">
              <a:lnSpc>
                <a:spcPct val="120000"/>
              </a:lnSpc>
              <a:defRPr/>
            </a:pPr>
            <a:r>
              <a:rPr lang="zh-CN" altLang="en-US" dirty="0"/>
              <a:t>函数也是值：函数的参数和返回值都可以是函数，可由已有函数生成新的函数。（高阶函数）</a:t>
            </a:r>
            <a:endParaRPr lang="en-US" altLang="zh-CN" dirty="0"/>
          </a:p>
          <a:p>
            <a:pPr eaLnBrk="1" hangingPunct="1">
              <a:lnSpc>
                <a:spcPct val="120000"/>
              </a:lnSpc>
              <a:defRPr/>
            </a:pPr>
            <a:r>
              <a:rPr lang="zh-CN" altLang="en-US" dirty="0"/>
              <a:t>递归为主要控制结构：重复操作采用函数的递归调用来实现（循环）。</a:t>
            </a:r>
            <a:endParaRPr lang="en-US" altLang="zh-CN" dirty="0"/>
          </a:p>
          <a:p>
            <a:pPr lvl="1">
              <a:defRPr/>
            </a:pPr>
            <a:endParaRPr lang="en-US" altLang="zh-CN" dirty="0"/>
          </a:p>
          <a:p>
            <a:pPr>
              <a:defRPr/>
            </a:pP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71D5F2-0E12-0C4B-6EF7-68D19E2C7210}"/>
              </a:ext>
            </a:extLst>
          </p:cNvPr>
          <p:cNvSpPr>
            <a:spLocks noGrp="1"/>
          </p:cNvSpPr>
          <p:nvPr>
            <p:ph type="title"/>
          </p:nvPr>
        </p:nvSpPr>
        <p:spPr/>
        <p:txBody>
          <a:bodyPr/>
          <a:lstStyle/>
          <a:p>
            <a:pPr>
              <a:defRPr/>
            </a:pPr>
            <a:r>
              <a:rPr lang="zh-CN" altLang="en-US" dirty="0"/>
              <a:t>函数式程序设计的基本特征</a:t>
            </a:r>
          </a:p>
        </p:txBody>
      </p:sp>
      <p:sp>
        <p:nvSpPr>
          <p:cNvPr id="3" name="内容占位符 2">
            <a:extLst>
              <a:ext uri="{FF2B5EF4-FFF2-40B4-BE49-F238E27FC236}">
                <a16:creationId xmlns:a16="http://schemas.microsoft.com/office/drawing/2014/main" id="{41638A02-4DD1-BC82-A306-C5D53221D19E}"/>
              </a:ext>
            </a:extLst>
          </p:cNvPr>
          <p:cNvSpPr>
            <a:spLocks noGrp="1"/>
          </p:cNvSpPr>
          <p:nvPr>
            <p:ph idx="1"/>
          </p:nvPr>
        </p:nvSpPr>
        <p:spPr>
          <a:xfrm>
            <a:off x="457200" y="1600200"/>
            <a:ext cx="8229600" cy="2333625"/>
          </a:xfrm>
        </p:spPr>
        <p:txBody>
          <a:bodyPr>
            <a:normAutofit fontScale="85000" lnSpcReduction="20000"/>
          </a:bodyPr>
          <a:lstStyle/>
          <a:p>
            <a:pPr eaLnBrk="1" hangingPunct="1">
              <a:lnSpc>
                <a:spcPct val="120000"/>
              </a:lnSpc>
              <a:defRPr/>
            </a:pPr>
            <a:r>
              <a:rPr lang="zh-CN" altLang="en-US" dirty="0"/>
              <a:t>表达式的惰性（延迟）求值（</a:t>
            </a:r>
            <a:r>
              <a:rPr lang="en-US" altLang="zh-CN" dirty="0"/>
              <a:t>Lazy evaluation</a:t>
            </a:r>
            <a:r>
              <a:rPr lang="zh-CN" altLang="en-US" dirty="0"/>
              <a:t>）：需要用到表达式的值的时候才会去计算它。</a:t>
            </a:r>
            <a:endParaRPr lang="en-US" altLang="zh-CN" dirty="0"/>
          </a:p>
          <a:p>
            <a:pPr eaLnBrk="1" hangingPunct="1">
              <a:lnSpc>
                <a:spcPct val="120000"/>
              </a:lnSpc>
              <a:defRPr/>
            </a:pPr>
            <a:r>
              <a:rPr lang="zh-CN" altLang="en-US" dirty="0"/>
              <a:t>潜在的并行性：由于程序没有状态以及函数的引用透明和无副作用等特点，因此一些操作可以并行执行。</a:t>
            </a:r>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02F96-2C76-88B0-EE4D-3CF59302AF46}"/>
              </a:ext>
            </a:extLst>
          </p:cNvPr>
          <p:cNvSpPr>
            <a:spLocks noGrp="1"/>
          </p:cNvSpPr>
          <p:nvPr>
            <p:ph type="title"/>
          </p:nvPr>
        </p:nvSpPr>
        <p:spPr>
          <a:xfrm>
            <a:off x="457200" y="44450"/>
            <a:ext cx="8229600" cy="1139825"/>
          </a:xfrm>
        </p:spPr>
        <p:txBody>
          <a:bodyPr/>
          <a:lstStyle/>
          <a:p>
            <a:pPr>
              <a:defRPr/>
            </a:pPr>
            <a:r>
              <a:rPr lang="zh-CN" altLang="en-US" dirty="0"/>
              <a:t>函数式程序设计的基本手段</a:t>
            </a:r>
          </a:p>
        </p:txBody>
      </p:sp>
      <p:sp>
        <p:nvSpPr>
          <p:cNvPr id="3" name="内容占位符 2">
            <a:extLst>
              <a:ext uri="{FF2B5EF4-FFF2-40B4-BE49-F238E27FC236}">
                <a16:creationId xmlns:a16="http://schemas.microsoft.com/office/drawing/2014/main" id="{C30E7BDA-0418-03BF-11DA-8F0F7875D1BF}"/>
              </a:ext>
            </a:extLst>
          </p:cNvPr>
          <p:cNvSpPr>
            <a:spLocks noGrp="1"/>
          </p:cNvSpPr>
          <p:nvPr>
            <p:ph idx="1"/>
          </p:nvPr>
        </p:nvSpPr>
        <p:spPr>
          <a:xfrm>
            <a:off x="468313" y="1484313"/>
            <a:ext cx="8351837" cy="5040312"/>
          </a:xfrm>
        </p:spPr>
        <p:txBody>
          <a:bodyPr>
            <a:normAutofit/>
          </a:bodyPr>
          <a:lstStyle/>
          <a:p>
            <a:pPr eaLnBrk="1" hangingPunct="1">
              <a:lnSpc>
                <a:spcPct val="120000"/>
              </a:lnSpc>
              <a:defRPr/>
            </a:pPr>
            <a:r>
              <a:rPr lang="zh-CN" altLang="en-US" dirty="0"/>
              <a:t>递归和尾递归</a:t>
            </a:r>
            <a:endParaRPr lang="en-US" altLang="zh-CN" dirty="0"/>
          </a:p>
          <a:p>
            <a:pPr eaLnBrk="1" hangingPunct="1">
              <a:lnSpc>
                <a:spcPct val="120000"/>
              </a:lnSpc>
              <a:defRPr/>
            </a:pPr>
            <a:r>
              <a:rPr lang="zh-CN" altLang="en-US" dirty="0"/>
              <a:t>过滤</a:t>
            </a:r>
            <a:r>
              <a:rPr lang="en-US" altLang="zh-CN" dirty="0"/>
              <a:t>/</a:t>
            </a:r>
            <a:r>
              <a:rPr lang="zh-CN" altLang="en-US" dirty="0"/>
              <a:t>映射</a:t>
            </a:r>
            <a:r>
              <a:rPr lang="en-US" altLang="zh-CN" dirty="0"/>
              <a:t>/</a:t>
            </a:r>
            <a:r>
              <a:rPr lang="zh-CN" altLang="en-US" dirty="0"/>
              <a:t>规约操作（</a:t>
            </a:r>
            <a:r>
              <a:rPr lang="en-US" altLang="zh-CN" dirty="0"/>
              <a:t>Filter/Map/Reduce</a:t>
            </a:r>
            <a:r>
              <a:rPr lang="zh-CN" altLang="en-US" dirty="0"/>
              <a:t>）</a:t>
            </a:r>
            <a:endParaRPr lang="en-US" altLang="zh-CN" dirty="0"/>
          </a:p>
          <a:p>
            <a:pPr eaLnBrk="1" hangingPunct="1">
              <a:lnSpc>
                <a:spcPct val="120000"/>
              </a:lnSpc>
              <a:defRPr/>
            </a:pPr>
            <a:r>
              <a:rPr lang="zh-CN" altLang="en-US" dirty="0"/>
              <a:t>部分函数应用（</a:t>
            </a:r>
            <a:r>
              <a:rPr lang="en-US" altLang="zh-CN" sz="2800" dirty="0"/>
              <a:t>Partial Function Application</a:t>
            </a:r>
            <a:r>
              <a:rPr lang="zh-CN" altLang="en-US" dirty="0"/>
              <a:t>）</a:t>
            </a:r>
            <a:endParaRPr lang="en-US" altLang="zh-CN" dirty="0"/>
          </a:p>
          <a:p>
            <a:pPr eaLnBrk="1" hangingPunct="1">
              <a:lnSpc>
                <a:spcPct val="120000"/>
              </a:lnSpc>
              <a:defRPr/>
            </a:pPr>
            <a:r>
              <a:rPr lang="zh-CN" altLang="en-US" dirty="0"/>
              <a:t>柯里化（</a:t>
            </a:r>
            <a:r>
              <a:rPr lang="en-US" altLang="zh-CN" dirty="0"/>
              <a:t>Currying</a:t>
            </a:r>
            <a:r>
              <a:rPr lang="zh-CN" altLang="en-US" dirty="0"/>
              <a:t>）</a:t>
            </a:r>
            <a:endParaRPr lang="en-US" altLang="zh-CN" dirty="0"/>
          </a:p>
          <a:p>
            <a:pPr eaLnBrk="1" hangingPunct="1">
              <a:lnSpc>
                <a:spcPct val="120000"/>
              </a:lnSpc>
              <a:defRPr/>
            </a:pPr>
            <a:r>
              <a:rPr lang="en-US" altLang="zh-CN"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B12D1E-E350-425A-2B98-B91812E18257}"/>
              </a:ext>
            </a:extLst>
          </p:cNvPr>
          <p:cNvSpPr>
            <a:spLocks noGrp="1"/>
          </p:cNvSpPr>
          <p:nvPr>
            <p:ph type="title"/>
          </p:nvPr>
        </p:nvSpPr>
        <p:spPr>
          <a:xfrm>
            <a:off x="457200" y="44450"/>
            <a:ext cx="8229600" cy="1139825"/>
          </a:xfrm>
        </p:spPr>
        <p:txBody>
          <a:bodyPr/>
          <a:lstStyle/>
          <a:p>
            <a:pPr>
              <a:defRPr/>
            </a:pPr>
            <a:r>
              <a:rPr lang="zh-CN" altLang="en-US" dirty="0"/>
              <a:t>递归</a:t>
            </a:r>
          </a:p>
        </p:txBody>
      </p:sp>
      <p:sp>
        <p:nvSpPr>
          <p:cNvPr id="3" name="内容占位符 2">
            <a:extLst>
              <a:ext uri="{FF2B5EF4-FFF2-40B4-BE49-F238E27FC236}">
                <a16:creationId xmlns:a16="http://schemas.microsoft.com/office/drawing/2014/main" id="{96FF2066-CA21-1CBD-FE58-15C5031DE907}"/>
              </a:ext>
            </a:extLst>
          </p:cNvPr>
          <p:cNvSpPr>
            <a:spLocks noGrp="1"/>
          </p:cNvSpPr>
          <p:nvPr>
            <p:ph idx="1"/>
          </p:nvPr>
        </p:nvSpPr>
        <p:spPr>
          <a:xfrm>
            <a:off x="457200" y="1341438"/>
            <a:ext cx="8229600" cy="5472112"/>
          </a:xfrm>
        </p:spPr>
        <p:txBody>
          <a:bodyPr>
            <a:normAutofit fontScale="77500" lnSpcReduction="20000"/>
          </a:bodyPr>
          <a:lstStyle/>
          <a:p>
            <a:pPr eaLnBrk="1" hangingPunct="1">
              <a:lnSpc>
                <a:spcPct val="120000"/>
              </a:lnSpc>
              <a:buClr>
                <a:srgbClr val="FFFFFF"/>
              </a:buClr>
              <a:defRPr/>
            </a:pPr>
            <a:r>
              <a:rPr lang="zh-CN" altLang="en-US" dirty="0"/>
              <a:t>实现重复操作，不采用迭代方式（循环）。例如，求第</a:t>
            </a:r>
            <a:r>
              <a:rPr lang="en-US" altLang="zh-CN" dirty="0"/>
              <a:t>n</a:t>
            </a:r>
            <a:r>
              <a:rPr lang="zh-CN" altLang="en-US" dirty="0"/>
              <a:t>个</a:t>
            </a:r>
            <a:r>
              <a:rPr lang="en-US" altLang="zh-CN" dirty="0" err="1"/>
              <a:t>fibonacci</a:t>
            </a:r>
            <a:r>
              <a:rPr lang="zh-CN" altLang="en-US" dirty="0"/>
              <a:t>数：</a:t>
            </a:r>
            <a:endParaRPr lang="en-US" altLang="zh-CN" dirty="0">
              <a:solidFill>
                <a:srgbClr val="FFFFFF"/>
              </a:solidFill>
            </a:endParaRPr>
          </a:p>
          <a:p>
            <a:pPr lvl="1" eaLnBrk="1" hangingPunct="1">
              <a:buClr>
                <a:srgbClr val="FFFFFF"/>
              </a:buClr>
              <a:defRPr/>
            </a:pPr>
            <a:r>
              <a:rPr lang="zh-CN" altLang="en-US" dirty="0">
                <a:solidFill>
                  <a:srgbClr val="FFFFFF"/>
                </a:solidFill>
              </a:rPr>
              <a:t>命令式方案（</a:t>
            </a:r>
            <a:r>
              <a:rPr lang="zh-CN" altLang="en-US" dirty="0">
                <a:solidFill>
                  <a:srgbClr val="FFC000"/>
                </a:solidFill>
              </a:rPr>
              <a:t>迭代</a:t>
            </a:r>
            <a:r>
              <a:rPr lang="zh-CN" altLang="en-US" dirty="0">
                <a:solidFill>
                  <a:srgbClr val="FFFFFF"/>
                </a:solidFill>
              </a:rPr>
              <a:t>）</a:t>
            </a:r>
            <a:endParaRPr lang="en-US" altLang="zh-CN" dirty="0">
              <a:solidFill>
                <a:srgbClr val="FFFFFF"/>
              </a:solidFill>
            </a:endParaRPr>
          </a:p>
          <a:p>
            <a:pPr marL="457200" lvl="1" indent="0" eaLnBrk="1" hangingPunct="1">
              <a:buClr>
                <a:srgbClr val="FFFFFF"/>
              </a:buClr>
              <a:buFontTx/>
              <a:buNone/>
              <a:defRPr/>
            </a:pPr>
            <a:r>
              <a:rPr lang="en-US" altLang="zh-CN" dirty="0" err="1">
                <a:solidFill>
                  <a:srgbClr val="FFFFFF"/>
                </a:solidFill>
              </a:rPr>
              <a:t>int</a:t>
            </a:r>
            <a:r>
              <a:rPr lang="en-US" altLang="zh-CN" dirty="0">
                <a:solidFill>
                  <a:srgbClr val="FFFFFF"/>
                </a:solidFill>
              </a:rPr>
              <a:t> fib_1=1,fib_2=1,n=10;</a:t>
            </a:r>
            <a:endParaRPr lang="zh-CN" altLang="en-US" dirty="0">
              <a:solidFill>
                <a:srgbClr val="FFFFFF"/>
              </a:solidFill>
            </a:endParaRPr>
          </a:p>
          <a:p>
            <a:pPr marL="457200" lvl="1" indent="0" eaLnBrk="1" hangingPunct="1">
              <a:buClr>
                <a:srgbClr val="FFFFFF"/>
              </a:buClr>
              <a:buFontTx/>
              <a:buNone/>
              <a:defRPr/>
            </a:pPr>
            <a:r>
              <a:rPr lang="en-US" altLang="zh-CN" dirty="0">
                <a:solidFill>
                  <a:srgbClr val="FFFFFF"/>
                </a:solidFill>
              </a:rPr>
              <a:t>for (</a:t>
            </a:r>
            <a:r>
              <a:rPr lang="en-US" altLang="zh-CN" dirty="0" err="1">
                <a:solidFill>
                  <a:srgbClr val="FFFFFF"/>
                </a:solidFill>
              </a:rPr>
              <a:t>int</a:t>
            </a:r>
            <a:r>
              <a:rPr lang="en-US" altLang="zh-CN" dirty="0">
                <a:solidFill>
                  <a:srgbClr val="FFFFFF"/>
                </a:solidFill>
              </a:rPr>
              <a:t> </a:t>
            </a:r>
            <a:r>
              <a:rPr lang="en-US" altLang="zh-CN" dirty="0" err="1">
                <a:solidFill>
                  <a:srgbClr val="FFFFFF"/>
                </a:solidFill>
              </a:rPr>
              <a:t>i</a:t>
            </a:r>
            <a:r>
              <a:rPr lang="en-US" altLang="zh-CN" dirty="0">
                <a:solidFill>
                  <a:srgbClr val="FFFFFF"/>
                </a:solidFill>
              </a:rPr>
              <a:t>=3; </a:t>
            </a:r>
            <a:r>
              <a:rPr lang="en-US" altLang="zh-CN" dirty="0" err="1">
                <a:solidFill>
                  <a:srgbClr val="FFFFFF"/>
                </a:solidFill>
              </a:rPr>
              <a:t>i</a:t>
            </a:r>
            <a:r>
              <a:rPr lang="en-US" altLang="zh-CN" dirty="0">
                <a:solidFill>
                  <a:srgbClr val="FFFFFF"/>
                </a:solidFill>
              </a:rPr>
              <a:t>&lt;=n; </a:t>
            </a:r>
            <a:r>
              <a:rPr lang="en-US" altLang="zh-CN" dirty="0" err="1">
                <a:solidFill>
                  <a:srgbClr val="FFFFFF"/>
                </a:solidFill>
              </a:rPr>
              <a:t>i</a:t>
            </a:r>
            <a:r>
              <a:rPr lang="en-US" altLang="zh-CN" dirty="0">
                <a:solidFill>
                  <a:srgbClr val="FFFFFF"/>
                </a:solidFill>
              </a:rPr>
              <a:t>++)</a:t>
            </a:r>
            <a:endParaRPr lang="zh-CN" altLang="en-US" dirty="0">
              <a:solidFill>
                <a:srgbClr val="FFFFFF"/>
              </a:solidFill>
            </a:endParaRPr>
          </a:p>
          <a:p>
            <a:pPr marL="457200" lvl="1" indent="0" eaLnBrk="1" hangingPunct="1">
              <a:buClr>
                <a:srgbClr val="FFFFFF"/>
              </a:buClr>
              <a:buFontTx/>
              <a:buNone/>
              <a:defRPr/>
            </a:pPr>
            <a:r>
              <a:rPr lang="en-US" altLang="zh-CN" dirty="0">
                <a:solidFill>
                  <a:srgbClr val="FFFFFF"/>
                </a:solidFill>
              </a:rPr>
              <a:t>{	</a:t>
            </a:r>
            <a:r>
              <a:rPr lang="en-US" altLang="zh-CN" dirty="0" err="1">
                <a:solidFill>
                  <a:srgbClr val="FFFFFF"/>
                </a:solidFill>
              </a:rPr>
              <a:t>int</a:t>
            </a:r>
            <a:r>
              <a:rPr lang="en-US" altLang="zh-CN" dirty="0">
                <a:solidFill>
                  <a:srgbClr val="FFFFFF"/>
                </a:solidFill>
              </a:rPr>
              <a:t> temp=fib_1+fib_2;</a:t>
            </a:r>
            <a:endParaRPr lang="zh-CN" altLang="en-US" dirty="0">
              <a:solidFill>
                <a:srgbClr val="FFFFFF"/>
              </a:solidFill>
            </a:endParaRPr>
          </a:p>
          <a:p>
            <a:pPr marL="457200" lvl="1" indent="0" eaLnBrk="1" hangingPunct="1">
              <a:buClr>
                <a:srgbClr val="FFFFFF"/>
              </a:buClr>
              <a:buFontTx/>
              <a:buNone/>
              <a:defRPr/>
            </a:pPr>
            <a:r>
              <a:rPr lang="zh-CN" altLang="en-US" dirty="0">
                <a:solidFill>
                  <a:srgbClr val="FFFFFF"/>
                </a:solidFill>
              </a:rPr>
              <a:t>	</a:t>
            </a:r>
            <a:r>
              <a:rPr lang="en-US" altLang="zh-CN" dirty="0">
                <a:solidFill>
                  <a:srgbClr val="FFFFFF"/>
                </a:solidFill>
              </a:rPr>
              <a:t>fib_1 = fib_2; fib_2 = temp;</a:t>
            </a:r>
            <a:endParaRPr lang="zh-CN" altLang="en-US" dirty="0">
              <a:solidFill>
                <a:srgbClr val="FFFFFF"/>
              </a:solidFill>
            </a:endParaRPr>
          </a:p>
          <a:p>
            <a:pPr marL="457200" lvl="1" indent="0" eaLnBrk="1" hangingPunct="1">
              <a:buClr>
                <a:srgbClr val="FFFFFF"/>
              </a:buClr>
              <a:buFontTx/>
              <a:buNone/>
              <a:defRPr/>
            </a:pPr>
            <a:r>
              <a:rPr lang="en-US" altLang="zh-CN" dirty="0">
                <a:solidFill>
                  <a:srgbClr val="FFFFFF"/>
                </a:solidFill>
              </a:rPr>
              <a:t>}</a:t>
            </a:r>
          </a:p>
          <a:p>
            <a:pPr marL="457200" lvl="1" indent="0" eaLnBrk="1" hangingPunct="1">
              <a:buClr>
                <a:srgbClr val="FFFFFF"/>
              </a:buClr>
              <a:buFontTx/>
              <a:buNone/>
              <a:defRPr/>
            </a:pPr>
            <a:r>
              <a:rPr lang="en-US" altLang="zh-CN" dirty="0" err="1">
                <a:solidFill>
                  <a:srgbClr val="FFFFFF"/>
                </a:solidFill>
              </a:rPr>
              <a:t>cout</a:t>
            </a:r>
            <a:r>
              <a:rPr lang="en-US" altLang="zh-CN" dirty="0">
                <a:solidFill>
                  <a:srgbClr val="FFFFFF"/>
                </a:solidFill>
              </a:rPr>
              <a:t> &lt;&lt; fib_2 &lt;&lt; </a:t>
            </a:r>
            <a:r>
              <a:rPr lang="en-US" altLang="zh-CN" dirty="0" err="1">
                <a:solidFill>
                  <a:srgbClr val="FFFFFF"/>
                </a:solidFill>
              </a:rPr>
              <a:t>endl</a:t>
            </a:r>
            <a:r>
              <a:rPr lang="en-US" altLang="zh-CN" dirty="0">
                <a:solidFill>
                  <a:srgbClr val="FFFFFF"/>
                </a:solidFill>
              </a:rPr>
              <a:t>;</a:t>
            </a:r>
          </a:p>
          <a:p>
            <a:pPr lvl="1" eaLnBrk="1" hangingPunct="1">
              <a:buClr>
                <a:srgbClr val="FFFFFF"/>
              </a:buClr>
              <a:defRPr/>
            </a:pPr>
            <a:r>
              <a:rPr lang="zh-CN" altLang="en-US" dirty="0">
                <a:solidFill>
                  <a:srgbClr val="FFFFFF"/>
                </a:solidFill>
              </a:rPr>
              <a:t>函数式方案</a:t>
            </a:r>
            <a:r>
              <a:rPr lang="en-US" altLang="zh-CN" dirty="0">
                <a:solidFill>
                  <a:srgbClr val="FFFFFF"/>
                </a:solidFill>
              </a:rPr>
              <a:t>1</a:t>
            </a:r>
            <a:r>
              <a:rPr lang="zh-CN" altLang="en-US" dirty="0">
                <a:solidFill>
                  <a:srgbClr val="FFFFFF"/>
                </a:solidFill>
              </a:rPr>
              <a:t>（</a:t>
            </a:r>
            <a:r>
              <a:rPr lang="zh-CN" altLang="en-US" dirty="0">
                <a:solidFill>
                  <a:srgbClr val="FFC000"/>
                </a:solidFill>
              </a:rPr>
              <a:t>递归</a:t>
            </a:r>
            <a:r>
              <a:rPr lang="zh-CN" altLang="en-US" dirty="0">
                <a:solidFill>
                  <a:srgbClr val="FFFFFF"/>
                </a:solidFill>
              </a:rPr>
              <a:t>）</a:t>
            </a:r>
            <a:endParaRPr lang="en-US" altLang="zh-CN" dirty="0">
              <a:solidFill>
                <a:srgbClr val="FFFFFF"/>
              </a:solidFill>
            </a:endParaRPr>
          </a:p>
          <a:p>
            <a:pPr lvl="1" eaLnBrk="1" hangingPunct="1">
              <a:buClr>
                <a:srgbClr val="FFFFFF"/>
              </a:buClr>
              <a:buFontTx/>
              <a:buNone/>
              <a:defRPr/>
            </a:pPr>
            <a:r>
              <a:rPr lang="en-US" altLang="zh-CN" dirty="0" err="1">
                <a:solidFill>
                  <a:srgbClr val="FFFFFF"/>
                </a:solidFill>
              </a:rPr>
              <a:t>int</a:t>
            </a:r>
            <a:r>
              <a:rPr lang="en-US" altLang="zh-CN" dirty="0">
                <a:solidFill>
                  <a:srgbClr val="FFFFFF"/>
                </a:solidFill>
              </a:rPr>
              <a:t> </a:t>
            </a:r>
            <a:r>
              <a:rPr lang="en-US" altLang="zh-CN" dirty="0">
                <a:solidFill>
                  <a:srgbClr val="FFC000"/>
                </a:solidFill>
              </a:rPr>
              <a:t>fib</a:t>
            </a:r>
            <a:r>
              <a:rPr lang="en-US" altLang="zh-CN" dirty="0">
                <a:solidFill>
                  <a:srgbClr val="FFFFFF"/>
                </a:solidFill>
              </a:rPr>
              <a:t>(</a:t>
            </a:r>
            <a:r>
              <a:rPr lang="en-US" altLang="zh-CN" dirty="0" err="1">
                <a:solidFill>
                  <a:srgbClr val="FFFFFF"/>
                </a:solidFill>
              </a:rPr>
              <a:t>int</a:t>
            </a:r>
            <a:r>
              <a:rPr lang="en-US" altLang="zh-CN" dirty="0">
                <a:solidFill>
                  <a:srgbClr val="FFFFFF"/>
                </a:solidFill>
              </a:rPr>
              <a:t> n)</a:t>
            </a:r>
          </a:p>
          <a:p>
            <a:pPr lvl="1" eaLnBrk="1" hangingPunct="1">
              <a:buClr>
                <a:srgbClr val="FFFFFF"/>
              </a:buClr>
              <a:buFontTx/>
              <a:buNone/>
              <a:defRPr/>
            </a:pPr>
            <a:r>
              <a:rPr lang="en-US" altLang="zh-CN" dirty="0">
                <a:solidFill>
                  <a:srgbClr val="FFFFFF"/>
                </a:solidFill>
              </a:rPr>
              <a:t>{	if (n == 1 || n == 2)  return 1;</a:t>
            </a:r>
          </a:p>
          <a:p>
            <a:pPr lvl="1" eaLnBrk="1" hangingPunct="1">
              <a:buClr>
                <a:srgbClr val="FFFFFF"/>
              </a:buClr>
              <a:buFontTx/>
              <a:buNone/>
              <a:defRPr/>
            </a:pPr>
            <a:r>
              <a:rPr lang="en-US" altLang="zh-CN" dirty="0">
                <a:solidFill>
                  <a:srgbClr val="FFFFFF"/>
                </a:solidFill>
              </a:rPr>
              <a:t>	else  return </a:t>
            </a:r>
            <a:r>
              <a:rPr lang="en-US" altLang="zh-CN" dirty="0">
                <a:solidFill>
                  <a:srgbClr val="FFC000"/>
                </a:solidFill>
              </a:rPr>
              <a:t>fib</a:t>
            </a:r>
            <a:r>
              <a:rPr lang="en-US" altLang="zh-CN" dirty="0">
                <a:solidFill>
                  <a:srgbClr val="FFFFFF"/>
                </a:solidFill>
              </a:rPr>
              <a:t>(n-2)+</a:t>
            </a:r>
            <a:r>
              <a:rPr lang="en-US" altLang="zh-CN" dirty="0">
                <a:solidFill>
                  <a:srgbClr val="FFC000"/>
                </a:solidFill>
              </a:rPr>
              <a:t>fib</a:t>
            </a:r>
            <a:r>
              <a:rPr lang="en-US" altLang="zh-CN" dirty="0">
                <a:solidFill>
                  <a:srgbClr val="FFFFFF"/>
                </a:solidFill>
              </a:rPr>
              <a:t>(n-1);</a:t>
            </a:r>
          </a:p>
          <a:p>
            <a:pPr lvl="1" eaLnBrk="1" hangingPunct="1">
              <a:buClr>
                <a:srgbClr val="FFFFFF"/>
              </a:buClr>
              <a:buFontTx/>
              <a:buNone/>
              <a:defRPr/>
            </a:pPr>
            <a:r>
              <a:rPr lang="en-US" altLang="zh-CN" dirty="0">
                <a:solidFill>
                  <a:srgbClr val="FFFFFF"/>
                </a:solidFill>
              </a:rPr>
              <a:t>}</a:t>
            </a:r>
          </a:p>
          <a:p>
            <a:pPr lvl="1" eaLnBrk="1" hangingPunct="1">
              <a:buClr>
                <a:srgbClr val="FFFFFF"/>
              </a:buClr>
              <a:buFontTx/>
              <a:buNone/>
              <a:defRPr/>
            </a:pPr>
            <a:r>
              <a:rPr lang="en-US" altLang="zh-CN" dirty="0" err="1">
                <a:solidFill>
                  <a:srgbClr val="FFFFFF"/>
                </a:solidFill>
              </a:rPr>
              <a:t>cout</a:t>
            </a:r>
            <a:r>
              <a:rPr lang="en-US" altLang="zh-CN" dirty="0">
                <a:solidFill>
                  <a:srgbClr val="FFFFFF"/>
                </a:solidFill>
              </a:rPr>
              <a:t> &lt;&lt; fib(10) &lt;&lt; </a:t>
            </a:r>
            <a:r>
              <a:rPr lang="en-US" altLang="zh-CN" dirty="0" err="1">
                <a:solidFill>
                  <a:srgbClr val="FFFFFF"/>
                </a:solidFill>
              </a:rPr>
              <a:t>endl</a:t>
            </a:r>
            <a:r>
              <a:rPr lang="en-US" altLang="zh-CN" dirty="0">
                <a:solidFill>
                  <a:srgbClr val="FFFFFF"/>
                </a:solidFill>
              </a:rPr>
              <a:t>;</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F1D10B-F84E-5678-B743-E50CC03D3387}"/>
              </a:ext>
            </a:extLst>
          </p:cNvPr>
          <p:cNvSpPr>
            <a:spLocks noGrp="1"/>
          </p:cNvSpPr>
          <p:nvPr>
            <p:ph type="title"/>
          </p:nvPr>
        </p:nvSpPr>
        <p:spPr>
          <a:xfrm>
            <a:off x="457200" y="115888"/>
            <a:ext cx="8229600" cy="1139825"/>
          </a:xfrm>
        </p:spPr>
        <p:txBody>
          <a:bodyPr/>
          <a:lstStyle/>
          <a:p>
            <a:pPr>
              <a:defRPr/>
            </a:pPr>
            <a:r>
              <a:rPr lang="zh-CN" altLang="en-US" dirty="0"/>
              <a:t>尾递归</a:t>
            </a:r>
          </a:p>
        </p:txBody>
      </p:sp>
      <p:sp>
        <p:nvSpPr>
          <p:cNvPr id="3" name="内容占位符 2">
            <a:extLst>
              <a:ext uri="{FF2B5EF4-FFF2-40B4-BE49-F238E27FC236}">
                <a16:creationId xmlns:a16="http://schemas.microsoft.com/office/drawing/2014/main" id="{78FDFCAB-DFF8-F2FB-46C0-030DFC55D422}"/>
              </a:ext>
            </a:extLst>
          </p:cNvPr>
          <p:cNvSpPr>
            <a:spLocks noGrp="1"/>
          </p:cNvSpPr>
          <p:nvPr>
            <p:ph idx="1"/>
          </p:nvPr>
        </p:nvSpPr>
        <p:spPr>
          <a:xfrm>
            <a:off x="323850" y="1412875"/>
            <a:ext cx="8640763" cy="5184775"/>
          </a:xfrm>
        </p:spPr>
        <p:txBody>
          <a:bodyPr>
            <a:normAutofit fontScale="85000" lnSpcReduction="10000"/>
          </a:bodyPr>
          <a:lstStyle/>
          <a:p>
            <a:pPr eaLnBrk="1" hangingPunct="1">
              <a:buClr>
                <a:srgbClr val="FFFFFF"/>
              </a:buClr>
              <a:defRPr/>
            </a:pPr>
            <a:r>
              <a:rPr lang="zh-CN" altLang="en-US" dirty="0"/>
              <a:t>由于函数递归调用效率低、递归调用层次有限制，因此常采用</a:t>
            </a:r>
            <a:r>
              <a:rPr lang="zh-CN" altLang="en-US" dirty="0">
                <a:solidFill>
                  <a:srgbClr val="FFC000"/>
                </a:solidFill>
              </a:rPr>
              <a:t>尾递归</a:t>
            </a:r>
            <a:r>
              <a:rPr lang="zh-CN" altLang="en-US" dirty="0"/>
              <a:t>，即递归调用是函数的最后一步操作。</a:t>
            </a:r>
            <a:endParaRPr lang="en-US" altLang="zh-CN" dirty="0"/>
          </a:p>
          <a:p>
            <a:pPr lvl="1" eaLnBrk="1" hangingPunct="1">
              <a:buClr>
                <a:srgbClr val="FFFFFF"/>
              </a:buClr>
              <a:defRPr/>
            </a:pPr>
            <a:r>
              <a:rPr lang="zh-CN" altLang="en-US" dirty="0">
                <a:solidFill>
                  <a:srgbClr val="FFFFFF"/>
                </a:solidFill>
              </a:rPr>
              <a:t>函数式方案</a:t>
            </a:r>
            <a:r>
              <a:rPr lang="en-US" altLang="zh-CN" dirty="0">
                <a:solidFill>
                  <a:srgbClr val="FFFFFF"/>
                </a:solidFill>
              </a:rPr>
              <a:t>2</a:t>
            </a:r>
            <a:r>
              <a:rPr lang="zh-CN" altLang="en-US" dirty="0">
                <a:solidFill>
                  <a:srgbClr val="FFFFFF"/>
                </a:solidFill>
              </a:rPr>
              <a:t>（</a:t>
            </a:r>
            <a:r>
              <a:rPr lang="zh-CN" altLang="en-US" dirty="0">
                <a:solidFill>
                  <a:srgbClr val="FFC000"/>
                </a:solidFill>
              </a:rPr>
              <a:t>尾递归</a:t>
            </a:r>
            <a:r>
              <a:rPr lang="zh-CN" altLang="en-US" dirty="0">
                <a:solidFill>
                  <a:srgbClr val="FFFFFF"/>
                </a:solidFill>
              </a:rPr>
              <a:t>）</a:t>
            </a:r>
            <a:endParaRPr lang="en-US" altLang="zh-CN" dirty="0">
              <a:solidFill>
                <a:srgbClr val="FFFFFF"/>
              </a:solidFill>
            </a:endParaRPr>
          </a:p>
          <a:p>
            <a:pPr lvl="1" eaLnBrk="1" hangingPunct="1">
              <a:buClr>
                <a:srgbClr val="FFFFFF"/>
              </a:buClr>
              <a:buFontTx/>
              <a:buNone/>
              <a:defRPr/>
            </a:pPr>
            <a:r>
              <a:rPr lang="en-US" altLang="zh-CN" dirty="0" err="1">
                <a:solidFill>
                  <a:srgbClr val="FFFFFF"/>
                </a:solidFill>
              </a:rPr>
              <a:t>int</a:t>
            </a:r>
            <a:r>
              <a:rPr lang="en-US" altLang="zh-CN" dirty="0">
                <a:solidFill>
                  <a:srgbClr val="FFFFFF"/>
                </a:solidFill>
              </a:rPr>
              <a:t> </a:t>
            </a:r>
            <a:r>
              <a:rPr lang="en-US" altLang="zh-CN" dirty="0">
                <a:solidFill>
                  <a:srgbClr val="FFC000"/>
                </a:solidFill>
              </a:rPr>
              <a:t>fib</a:t>
            </a:r>
            <a:r>
              <a:rPr lang="en-US" altLang="zh-CN" dirty="0">
                <a:solidFill>
                  <a:srgbClr val="FFFFFF"/>
                </a:solidFill>
              </a:rPr>
              <a:t>(</a:t>
            </a:r>
            <a:r>
              <a:rPr lang="en-US" altLang="zh-CN" dirty="0" err="1">
                <a:solidFill>
                  <a:srgbClr val="FFFFFF"/>
                </a:solidFill>
              </a:rPr>
              <a:t>int</a:t>
            </a:r>
            <a:r>
              <a:rPr lang="en-US" altLang="zh-CN" dirty="0">
                <a:solidFill>
                  <a:srgbClr val="FFFFFF"/>
                </a:solidFill>
              </a:rPr>
              <a:t> n, </a:t>
            </a:r>
            <a:r>
              <a:rPr lang="en-US" altLang="zh-CN" dirty="0" err="1">
                <a:solidFill>
                  <a:srgbClr val="FFFFFF"/>
                </a:solidFill>
              </a:rPr>
              <a:t>int</a:t>
            </a:r>
            <a:r>
              <a:rPr lang="en-US" altLang="zh-CN" dirty="0">
                <a:solidFill>
                  <a:srgbClr val="FFFFFF"/>
                </a:solidFill>
              </a:rPr>
              <a:t> a, </a:t>
            </a:r>
            <a:r>
              <a:rPr lang="en-US" altLang="zh-CN" dirty="0" err="1">
                <a:solidFill>
                  <a:srgbClr val="FFFFFF"/>
                </a:solidFill>
              </a:rPr>
              <a:t>int</a:t>
            </a:r>
            <a:r>
              <a:rPr lang="en-US" altLang="zh-CN" dirty="0">
                <a:solidFill>
                  <a:srgbClr val="FFFFFF"/>
                </a:solidFill>
              </a:rPr>
              <a:t> b)</a:t>
            </a:r>
          </a:p>
          <a:p>
            <a:pPr lvl="1" eaLnBrk="1" hangingPunct="1">
              <a:buClr>
                <a:srgbClr val="FFFFFF"/>
              </a:buClr>
              <a:buFontTx/>
              <a:buNone/>
              <a:defRPr/>
            </a:pPr>
            <a:r>
              <a:rPr lang="en-US" altLang="zh-CN" dirty="0">
                <a:solidFill>
                  <a:srgbClr val="FFFFFF"/>
                </a:solidFill>
              </a:rPr>
              <a:t>{	if (n == 1)  return a;</a:t>
            </a:r>
          </a:p>
          <a:p>
            <a:pPr lvl="1" eaLnBrk="1" hangingPunct="1">
              <a:buClr>
                <a:srgbClr val="FFFFFF"/>
              </a:buClr>
              <a:buFontTx/>
              <a:buNone/>
              <a:defRPr/>
            </a:pPr>
            <a:r>
              <a:rPr lang="en-US" altLang="zh-CN" dirty="0">
                <a:solidFill>
                  <a:srgbClr val="FFFFFF"/>
                </a:solidFill>
              </a:rPr>
              <a:t>	else if (n == 2) return b;</a:t>
            </a:r>
          </a:p>
          <a:p>
            <a:pPr lvl="1" eaLnBrk="1" hangingPunct="1">
              <a:buClr>
                <a:srgbClr val="FFFFFF"/>
              </a:buClr>
              <a:buFontTx/>
              <a:buNone/>
              <a:defRPr/>
            </a:pPr>
            <a:r>
              <a:rPr lang="en-US" altLang="zh-CN" dirty="0">
                <a:solidFill>
                  <a:srgbClr val="FFFFFF"/>
                </a:solidFill>
              </a:rPr>
              <a:t>	else  return </a:t>
            </a:r>
            <a:r>
              <a:rPr lang="en-US" altLang="zh-CN" dirty="0">
                <a:solidFill>
                  <a:srgbClr val="FFC000"/>
                </a:solidFill>
              </a:rPr>
              <a:t>fib</a:t>
            </a:r>
            <a:r>
              <a:rPr lang="en-US" altLang="zh-CN" dirty="0">
                <a:solidFill>
                  <a:srgbClr val="FFFFFF"/>
                </a:solidFill>
              </a:rPr>
              <a:t>(n-1,b,a+b); </a:t>
            </a:r>
          </a:p>
          <a:p>
            <a:pPr lvl="1" eaLnBrk="1" hangingPunct="1">
              <a:buClr>
                <a:srgbClr val="FFFFFF"/>
              </a:buClr>
              <a:buFontTx/>
              <a:buNone/>
              <a:defRPr/>
            </a:pPr>
            <a:r>
              <a:rPr lang="en-US" altLang="zh-CN" dirty="0">
                <a:solidFill>
                  <a:srgbClr val="FFFFFF"/>
                </a:solidFill>
              </a:rPr>
              <a:t>}</a:t>
            </a:r>
          </a:p>
          <a:p>
            <a:pPr lvl="1" eaLnBrk="1" hangingPunct="1">
              <a:buClr>
                <a:srgbClr val="FFFFFF"/>
              </a:buClr>
              <a:buFontTx/>
              <a:buNone/>
              <a:defRPr/>
            </a:pPr>
            <a:r>
              <a:rPr lang="en-US" altLang="zh-CN" dirty="0" err="1">
                <a:solidFill>
                  <a:srgbClr val="FFFFFF"/>
                </a:solidFill>
              </a:rPr>
              <a:t>cout</a:t>
            </a:r>
            <a:r>
              <a:rPr lang="en-US" altLang="zh-CN" dirty="0">
                <a:solidFill>
                  <a:srgbClr val="FFFFFF"/>
                </a:solidFill>
              </a:rPr>
              <a:t> &lt;&lt; fib(10,1,1) &lt;&lt; </a:t>
            </a:r>
            <a:r>
              <a:rPr lang="en-US" altLang="zh-CN" dirty="0" err="1">
                <a:solidFill>
                  <a:srgbClr val="FFFFFF"/>
                </a:solidFill>
              </a:rPr>
              <a:t>endl</a:t>
            </a:r>
            <a:r>
              <a:rPr lang="en-US" altLang="zh-CN" dirty="0">
                <a:solidFill>
                  <a:srgbClr val="FFFFFF"/>
                </a:solidFill>
              </a:rPr>
              <a:t>;</a:t>
            </a:r>
            <a:endParaRPr lang="zh-CN" altLang="en-US" dirty="0"/>
          </a:p>
          <a:p>
            <a:pPr lvl="1">
              <a:defRPr/>
            </a:pPr>
            <a:r>
              <a:rPr lang="zh-CN" altLang="en-US" dirty="0"/>
              <a:t>尾递归调用便于编译程序优化：</a:t>
            </a:r>
            <a:endParaRPr lang="en-US" altLang="zh-CN" dirty="0"/>
          </a:p>
          <a:p>
            <a:pPr lvl="2">
              <a:defRPr/>
            </a:pPr>
            <a:r>
              <a:rPr lang="zh-CN" altLang="en-US" dirty="0"/>
              <a:t>由于递归调用后不再做其它事，从而不会再使用当前栈空间的内容，因此，递归调用时可重用当前的栈空间。</a:t>
            </a:r>
            <a:endParaRPr lang="en-US" altLang="zh-CN" dirty="0"/>
          </a:p>
          <a:p>
            <a:pPr lvl="2">
              <a:defRPr/>
            </a:pPr>
            <a:r>
              <a:rPr lang="zh-CN" altLang="en-US" dirty="0"/>
              <a:t>可以自动转成迭代。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8392C1A-B83D-B68C-750C-737C5A5304C8}"/>
              </a:ext>
            </a:extLst>
          </p:cNvPr>
          <p:cNvSpPr>
            <a:spLocks noGrp="1"/>
          </p:cNvSpPr>
          <p:nvPr>
            <p:ph idx="1"/>
          </p:nvPr>
        </p:nvSpPr>
        <p:spPr>
          <a:xfrm>
            <a:off x="457200" y="1268413"/>
            <a:ext cx="8229600" cy="5400675"/>
          </a:xfrm>
        </p:spPr>
        <p:txBody>
          <a:bodyPr>
            <a:normAutofit/>
          </a:bodyPr>
          <a:lstStyle/>
          <a:p>
            <a:pPr lvl="1" eaLnBrk="1" hangingPunct="1">
              <a:buClr>
                <a:srgbClr val="FFFFFF"/>
              </a:buClr>
              <a:buFontTx/>
              <a:buNone/>
              <a:defRPr/>
            </a:pPr>
            <a:r>
              <a:rPr lang="en-US" altLang="zh-CN" dirty="0" err="1">
                <a:solidFill>
                  <a:srgbClr val="FFFFFF"/>
                </a:solidFill>
              </a:rPr>
              <a:t>int</a:t>
            </a:r>
            <a:r>
              <a:rPr lang="en-US" altLang="zh-CN" dirty="0">
                <a:solidFill>
                  <a:srgbClr val="FFFFFF"/>
                </a:solidFill>
              </a:rPr>
              <a:t> </a:t>
            </a:r>
            <a:r>
              <a:rPr lang="en-US" altLang="zh-CN" dirty="0">
                <a:solidFill>
                  <a:srgbClr val="FFC000"/>
                </a:solidFill>
              </a:rPr>
              <a:t>fib</a:t>
            </a:r>
            <a:r>
              <a:rPr lang="en-US" altLang="zh-CN" dirty="0">
                <a:solidFill>
                  <a:srgbClr val="FFFFFF"/>
                </a:solidFill>
              </a:rPr>
              <a:t>(</a:t>
            </a:r>
            <a:r>
              <a:rPr lang="en-US" altLang="zh-CN" dirty="0" err="1">
                <a:solidFill>
                  <a:srgbClr val="FFFFFF"/>
                </a:solidFill>
              </a:rPr>
              <a:t>int</a:t>
            </a:r>
            <a:r>
              <a:rPr lang="en-US" altLang="zh-CN" dirty="0">
                <a:solidFill>
                  <a:srgbClr val="FFFFFF"/>
                </a:solidFill>
              </a:rPr>
              <a:t> n, </a:t>
            </a:r>
            <a:r>
              <a:rPr lang="en-US" altLang="zh-CN" dirty="0" err="1">
                <a:solidFill>
                  <a:srgbClr val="FFFFFF"/>
                </a:solidFill>
              </a:rPr>
              <a:t>int</a:t>
            </a:r>
            <a:r>
              <a:rPr lang="en-US" altLang="zh-CN" dirty="0">
                <a:solidFill>
                  <a:srgbClr val="FFFFFF"/>
                </a:solidFill>
              </a:rPr>
              <a:t> a, </a:t>
            </a:r>
            <a:r>
              <a:rPr lang="en-US" altLang="zh-CN" dirty="0" err="1">
                <a:solidFill>
                  <a:srgbClr val="FFFFFF"/>
                </a:solidFill>
              </a:rPr>
              <a:t>int</a:t>
            </a:r>
            <a:r>
              <a:rPr lang="en-US" altLang="zh-CN" dirty="0">
                <a:solidFill>
                  <a:srgbClr val="FFFFFF"/>
                </a:solidFill>
              </a:rPr>
              <a:t> b)</a:t>
            </a:r>
          </a:p>
          <a:p>
            <a:pPr lvl="1" eaLnBrk="1" hangingPunct="1">
              <a:buClr>
                <a:srgbClr val="FFFFFF"/>
              </a:buClr>
              <a:buFontTx/>
              <a:buNone/>
              <a:defRPr/>
            </a:pPr>
            <a:r>
              <a:rPr lang="en-US" altLang="zh-CN" dirty="0">
                <a:solidFill>
                  <a:srgbClr val="FFFFFF"/>
                </a:solidFill>
              </a:rPr>
              <a:t>{	 while (true)</a:t>
            </a:r>
          </a:p>
          <a:p>
            <a:pPr lvl="1" eaLnBrk="1" hangingPunct="1">
              <a:buClr>
                <a:srgbClr val="FFFFFF"/>
              </a:buClr>
              <a:buFontTx/>
              <a:buNone/>
              <a:defRPr/>
            </a:pPr>
            <a:r>
              <a:rPr lang="en-US" altLang="zh-CN" dirty="0">
                <a:solidFill>
                  <a:srgbClr val="FFFFFF"/>
                </a:solidFill>
              </a:rPr>
              <a:t>   { if (n == 1)  return a;</a:t>
            </a:r>
          </a:p>
          <a:p>
            <a:pPr lvl="1" eaLnBrk="1" hangingPunct="1">
              <a:buClr>
                <a:srgbClr val="FFFFFF"/>
              </a:buClr>
              <a:buFontTx/>
              <a:buNone/>
              <a:defRPr/>
            </a:pPr>
            <a:r>
              <a:rPr lang="en-US" altLang="zh-CN" dirty="0">
                <a:solidFill>
                  <a:srgbClr val="FFFFFF"/>
                </a:solidFill>
              </a:rPr>
              <a:t>      else if (n == 2) return b;</a:t>
            </a:r>
          </a:p>
          <a:p>
            <a:pPr lvl="1" eaLnBrk="1" hangingPunct="1">
              <a:buClr>
                <a:srgbClr val="FFFFFF"/>
              </a:buClr>
              <a:buFontTx/>
              <a:buNone/>
              <a:defRPr/>
            </a:pPr>
            <a:r>
              <a:rPr lang="en-US" altLang="zh-CN" dirty="0">
                <a:solidFill>
                  <a:srgbClr val="FFFFFF"/>
                </a:solidFill>
              </a:rPr>
              <a:t>	    else  //return </a:t>
            </a:r>
            <a:r>
              <a:rPr lang="en-US" altLang="zh-CN" dirty="0">
                <a:solidFill>
                  <a:srgbClr val="FFC000"/>
                </a:solidFill>
              </a:rPr>
              <a:t>fib</a:t>
            </a:r>
            <a:r>
              <a:rPr lang="en-US" altLang="zh-CN" dirty="0">
                <a:solidFill>
                  <a:srgbClr val="FFFFFF"/>
                </a:solidFill>
              </a:rPr>
              <a:t>(n-1,b,a+b);</a:t>
            </a:r>
          </a:p>
          <a:p>
            <a:pPr lvl="1" eaLnBrk="1" hangingPunct="1">
              <a:buClr>
                <a:srgbClr val="FFFFFF"/>
              </a:buClr>
              <a:buFontTx/>
              <a:buNone/>
              <a:defRPr/>
            </a:pPr>
            <a:r>
              <a:rPr lang="en-US" altLang="zh-CN" dirty="0">
                <a:solidFill>
                  <a:srgbClr val="FFFFFF"/>
                </a:solidFill>
              </a:rPr>
              <a:t>      { </a:t>
            </a:r>
            <a:r>
              <a:rPr lang="en-US" altLang="zh-CN" dirty="0" err="1">
                <a:solidFill>
                  <a:srgbClr val="FFFFFF"/>
                </a:solidFill>
              </a:rPr>
              <a:t>int</a:t>
            </a:r>
            <a:r>
              <a:rPr lang="en-US" altLang="zh-CN" dirty="0">
                <a:solidFill>
                  <a:srgbClr val="FFFFFF"/>
                </a:solidFill>
              </a:rPr>
              <a:t> t1=n-1,t2=b,t3=</a:t>
            </a:r>
            <a:r>
              <a:rPr lang="en-US" altLang="zh-CN" dirty="0" err="1">
                <a:solidFill>
                  <a:srgbClr val="FFFFFF"/>
                </a:solidFill>
              </a:rPr>
              <a:t>a+b</a:t>
            </a:r>
            <a:r>
              <a:rPr lang="en-US" altLang="zh-CN" dirty="0">
                <a:solidFill>
                  <a:srgbClr val="FFFFFF"/>
                </a:solidFill>
              </a:rPr>
              <a:t>;</a:t>
            </a:r>
          </a:p>
          <a:p>
            <a:pPr lvl="1" eaLnBrk="1" hangingPunct="1">
              <a:buClr>
                <a:srgbClr val="FFFFFF"/>
              </a:buClr>
              <a:buFontTx/>
              <a:buNone/>
              <a:defRPr/>
            </a:pPr>
            <a:r>
              <a:rPr lang="en-US" altLang="zh-CN" dirty="0">
                <a:solidFill>
                  <a:srgbClr val="FFFFFF"/>
                </a:solidFill>
              </a:rPr>
              <a:t>         n = t1; a = t2; b = t3;</a:t>
            </a:r>
          </a:p>
          <a:p>
            <a:pPr lvl="1" eaLnBrk="1" hangingPunct="1">
              <a:buClr>
                <a:srgbClr val="FFFFFF"/>
              </a:buClr>
              <a:buFontTx/>
              <a:buNone/>
              <a:defRPr/>
            </a:pPr>
            <a:r>
              <a:rPr lang="en-US" altLang="zh-CN" dirty="0">
                <a:solidFill>
                  <a:srgbClr val="FFFFFF"/>
                </a:solidFill>
              </a:rPr>
              <a:t>      }</a:t>
            </a:r>
          </a:p>
          <a:p>
            <a:pPr lvl="1" eaLnBrk="1" hangingPunct="1">
              <a:buClr>
                <a:srgbClr val="FFFFFF"/>
              </a:buClr>
              <a:buFontTx/>
              <a:buNone/>
              <a:defRPr/>
            </a:pPr>
            <a:r>
              <a:rPr lang="en-US" altLang="zh-CN" dirty="0">
                <a:solidFill>
                  <a:srgbClr val="FFFFFF"/>
                </a:solidFill>
              </a:rPr>
              <a:t>   }</a:t>
            </a:r>
          </a:p>
          <a:p>
            <a:pPr lvl="1" eaLnBrk="1" hangingPunct="1">
              <a:buClr>
                <a:srgbClr val="FFFFFF"/>
              </a:buClr>
              <a:buFontTx/>
              <a:buNone/>
              <a:defRPr/>
            </a:pPr>
            <a:r>
              <a:rPr lang="en-US" altLang="zh-CN" dirty="0">
                <a:solidFill>
                  <a:srgbClr val="FFFFFF"/>
                </a:solidFill>
              </a:rPr>
              <a:t>}</a:t>
            </a:r>
          </a:p>
          <a:p>
            <a:pPr marL="457200" lvl="1" indent="0">
              <a:buFontTx/>
              <a:buNone/>
              <a:defRPr/>
            </a:pPr>
            <a:endParaRPr lang="en-US" altLang="zh-CN" dirty="0"/>
          </a:p>
        </p:txBody>
      </p:sp>
      <p:sp>
        <p:nvSpPr>
          <p:cNvPr id="4" name="标题 1">
            <a:extLst>
              <a:ext uri="{FF2B5EF4-FFF2-40B4-BE49-F238E27FC236}">
                <a16:creationId xmlns:a16="http://schemas.microsoft.com/office/drawing/2014/main" id="{470C2D7A-F684-2840-6448-331FA9115C24}"/>
              </a:ext>
            </a:extLst>
          </p:cNvPr>
          <p:cNvSpPr>
            <a:spLocks noGrp="1"/>
          </p:cNvSpPr>
          <p:nvPr>
            <p:ph type="title"/>
          </p:nvPr>
        </p:nvSpPr>
        <p:spPr>
          <a:xfrm>
            <a:off x="468313" y="0"/>
            <a:ext cx="8229600" cy="1139825"/>
          </a:xfrm>
        </p:spPr>
        <p:txBody>
          <a:bodyPr/>
          <a:lstStyle/>
          <a:p>
            <a:pPr>
              <a:defRPr/>
            </a:pPr>
            <a:r>
              <a:rPr lang="zh-CN" altLang="en-US" dirty="0"/>
              <a:t>尾递归自动转迭代</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5C5B848-B3CA-4196-5A77-49496645ADAD}"/>
              </a:ext>
            </a:extLst>
          </p:cNvPr>
          <p:cNvSpPr>
            <a:spLocks noGrp="1"/>
          </p:cNvSpPr>
          <p:nvPr>
            <p:ph idx="1"/>
          </p:nvPr>
        </p:nvSpPr>
        <p:spPr>
          <a:xfrm>
            <a:off x="457200" y="333375"/>
            <a:ext cx="8229600" cy="6480175"/>
          </a:xfrm>
        </p:spPr>
        <p:txBody>
          <a:bodyPr>
            <a:normAutofit fontScale="70000" lnSpcReduction="20000"/>
          </a:bodyPr>
          <a:lstStyle/>
          <a:p>
            <a:pPr>
              <a:defRPr/>
            </a:pPr>
            <a:r>
              <a:rPr lang="zh-CN" altLang="en-US" dirty="0"/>
              <a:t>一般形式：</a:t>
            </a:r>
            <a:endParaRPr lang="en-US" altLang="zh-CN" dirty="0"/>
          </a:p>
          <a:p>
            <a:pPr marL="457200" lvl="1" indent="0">
              <a:buFontTx/>
              <a:buNone/>
              <a:defRPr/>
            </a:pPr>
            <a:r>
              <a:rPr lang="en-US" altLang="zh-CN" dirty="0"/>
              <a:t>T f(T1 x1, T2 x2, ...)</a:t>
            </a:r>
          </a:p>
          <a:p>
            <a:pPr marL="457200" lvl="1" indent="0">
              <a:buFontTx/>
              <a:buNone/>
              <a:defRPr/>
            </a:pPr>
            <a:r>
              <a:rPr lang="en-US" altLang="zh-CN" dirty="0"/>
              <a:t>{  ......</a:t>
            </a:r>
          </a:p>
          <a:p>
            <a:pPr marL="457200" lvl="1" indent="0">
              <a:buFontTx/>
              <a:buNone/>
              <a:defRPr/>
            </a:pPr>
            <a:r>
              <a:rPr lang="en-US" altLang="zh-CN" dirty="0"/>
              <a:t>    ... return f(m1,m2,...);</a:t>
            </a:r>
          </a:p>
          <a:p>
            <a:pPr marL="457200" lvl="1" indent="0">
              <a:buFontTx/>
              <a:buNone/>
              <a:defRPr/>
            </a:pPr>
            <a:r>
              <a:rPr lang="en-US" altLang="zh-CN" dirty="0"/>
              <a:t>    ......</a:t>
            </a:r>
          </a:p>
          <a:p>
            <a:pPr marL="457200" lvl="1" indent="0">
              <a:buFontTx/>
              <a:buNone/>
              <a:defRPr/>
            </a:pPr>
            <a:r>
              <a:rPr lang="en-US" altLang="zh-CN" dirty="0"/>
              <a:t>    ... return f(n1,n2,...);</a:t>
            </a:r>
          </a:p>
          <a:p>
            <a:pPr marL="457200" lvl="1" indent="0">
              <a:buFontTx/>
              <a:buNone/>
              <a:defRPr/>
            </a:pPr>
            <a:r>
              <a:rPr lang="en-US" altLang="zh-CN" dirty="0"/>
              <a:t>    ......</a:t>
            </a:r>
          </a:p>
          <a:p>
            <a:pPr marL="457200" lvl="1" indent="0">
              <a:buFontTx/>
              <a:buNone/>
              <a:defRPr/>
            </a:pPr>
            <a:r>
              <a:rPr lang="en-US" altLang="zh-CN" dirty="0"/>
              <a:t>}</a:t>
            </a:r>
          </a:p>
          <a:p>
            <a:pPr>
              <a:defRPr/>
            </a:pPr>
            <a:r>
              <a:rPr lang="zh-CN" altLang="en-US" dirty="0"/>
              <a:t>转换成：</a:t>
            </a:r>
            <a:endParaRPr lang="en-US" altLang="zh-CN" dirty="0"/>
          </a:p>
          <a:p>
            <a:pPr marL="457200" lvl="1" indent="0">
              <a:buFontTx/>
              <a:buNone/>
              <a:defRPr/>
            </a:pPr>
            <a:r>
              <a:rPr lang="en-US" altLang="zh-CN" dirty="0"/>
              <a:t>T f(T1 x1, T2 x2, ...)</a:t>
            </a:r>
          </a:p>
          <a:p>
            <a:pPr marL="457200" lvl="1" indent="0">
              <a:buFontTx/>
              <a:buNone/>
              <a:defRPr/>
            </a:pPr>
            <a:r>
              <a:rPr lang="en-US" altLang="zh-CN" dirty="0"/>
              <a:t>{  while (true)</a:t>
            </a:r>
          </a:p>
          <a:p>
            <a:pPr marL="457200" lvl="1" indent="0">
              <a:buFontTx/>
              <a:buNone/>
              <a:defRPr/>
            </a:pPr>
            <a:r>
              <a:rPr lang="en-US" altLang="zh-CN" dirty="0"/>
              <a:t>    { ......</a:t>
            </a:r>
          </a:p>
          <a:p>
            <a:pPr marL="457200" lvl="1" indent="0">
              <a:buFontTx/>
              <a:buNone/>
              <a:defRPr/>
            </a:pPr>
            <a:r>
              <a:rPr lang="en-US" altLang="zh-CN" dirty="0"/>
              <a:t>       ... { T1 t1=m1; T2 t2=m2; ... </a:t>
            </a:r>
          </a:p>
          <a:p>
            <a:pPr marL="457200" lvl="1" indent="0">
              <a:buFontTx/>
              <a:buNone/>
              <a:defRPr/>
            </a:pPr>
            <a:r>
              <a:rPr lang="en-US" altLang="zh-CN" dirty="0"/>
              <a:t>              x1 = t1; x2 = t2; ... continue;} </a:t>
            </a:r>
          </a:p>
          <a:p>
            <a:pPr marL="457200" lvl="1" indent="0">
              <a:buFontTx/>
              <a:buNone/>
              <a:defRPr/>
            </a:pPr>
            <a:r>
              <a:rPr lang="en-US" altLang="zh-CN" dirty="0"/>
              <a:t>       ......</a:t>
            </a:r>
          </a:p>
          <a:p>
            <a:pPr marL="457200" lvl="1" indent="0">
              <a:buFontTx/>
              <a:buNone/>
              <a:defRPr/>
            </a:pPr>
            <a:r>
              <a:rPr lang="en-US" altLang="zh-CN" dirty="0"/>
              <a:t>       ... { T1 t1=n1; T2 t2=n2; ... </a:t>
            </a:r>
          </a:p>
          <a:p>
            <a:pPr marL="457200" lvl="1" indent="0">
              <a:buFontTx/>
              <a:buNone/>
              <a:defRPr/>
            </a:pPr>
            <a:r>
              <a:rPr lang="en-US" altLang="zh-CN" dirty="0"/>
              <a:t>              x1 = t1; x2 = t2; ... continue;}</a:t>
            </a:r>
          </a:p>
          <a:p>
            <a:pPr marL="457200" lvl="1" indent="0">
              <a:buFontTx/>
              <a:buNone/>
              <a:defRPr/>
            </a:pPr>
            <a:r>
              <a:rPr lang="en-US" altLang="zh-CN" dirty="0"/>
              <a:t>       ......</a:t>
            </a:r>
          </a:p>
          <a:p>
            <a:pPr marL="457200" lvl="1" indent="0">
              <a:buFontTx/>
              <a:buNone/>
              <a:defRPr/>
            </a:pPr>
            <a:r>
              <a:rPr lang="en-US" altLang="zh-CN" dirty="0"/>
              <a:t>    }</a:t>
            </a:r>
          </a:p>
          <a:p>
            <a:pPr marL="457200" lvl="1" indent="0">
              <a:buFontTx/>
              <a:buNone/>
              <a:defRPr/>
            </a:pPr>
            <a:r>
              <a:rPr lang="en-US" altLang="zh-CN" dirty="0"/>
              <a:t>}</a:t>
            </a:r>
          </a:p>
          <a:p>
            <a:pPr lvl="1" eaLnBrk="1" hangingPunct="1">
              <a:buClr>
                <a:srgbClr val="FFFFFF"/>
              </a:buClr>
              <a:buFontTx/>
              <a:buNone/>
              <a:defRPr/>
            </a:pPr>
            <a:endParaRPr lang="en-US" altLang="zh-CN" dirty="0">
              <a:solidFill>
                <a:srgbClr val="FFFFFF"/>
              </a:solidFill>
            </a:endParaRPr>
          </a:p>
          <a:p>
            <a:pPr>
              <a:defRPr/>
            </a:pP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46FFA-43DF-1D5E-C39E-238C80862ED3}"/>
              </a:ext>
            </a:extLst>
          </p:cNvPr>
          <p:cNvSpPr>
            <a:spLocks noGrp="1"/>
          </p:cNvSpPr>
          <p:nvPr>
            <p:ph type="title"/>
          </p:nvPr>
        </p:nvSpPr>
        <p:spPr/>
        <p:txBody>
          <a:bodyPr/>
          <a:lstStyle/>
          <a:p>
            <a:pPr>
              <a:defRPr/>
            </a:pPr>
            <a:r>
              <a:rPr lang="zh-CN" altLang="en-US" dirty="0"/>
              <a:t>过滤操作（</a:t>
            </a:r>
            <a:r>
              <a:rPr lang="en-US" altLang="zh-CN" dirty="0"/>
              <a:t>Filter</a:t>
            </a:r>
            <a:r>
              <a:rPr lang="zh-CN" altLang="en-US" dirty="0"/>
              <a:t>）</a:t>
            </a:r>
          </a:p>
        </p:txBody>
      </p:sp>
      <p:sp>
        <p:nvSpPr>
          <p:cNvPr id="3" name="内容占位符 2">
            <a:extLst>
              <a:ext uri="{FF2B5EF4-FFF2-40B4-BE49-F238E27FC236}">
                <a16:creationId xmlns:a16="http://schemas.microsoft.com/office/drawing/2014/main" id="{EDD9ADFA-5EDB-91C1-C351-1431D60CE784}"/>
              </a:ext>
            </a:extLst>
          </p:cNvPr>
          <p:cNvSpPr>
            <a:spLocks noGrp="1"/>
          </p:cNvSpPr>
          <p:nvPr>
            <p:ph idx="1"/>
          </p:nvPr>
        </p:nvSpPr>
        <p:spPr>
          <a:xfrm>
            <a:off x="277813" y="1600200"/>
            <a:ext cx="8686800" cy="4530725"/>
          </a:xfrm>
        </p:spPr>
        <p:txBody>
          <a:bodyPr/>
          <a:lstStyle/>
          <a:p>
            <a:pPr>
              <a:defRPr/>
            </a:pPr>
            <a:r>
              <a:rPr lang="zh-CN" altLang="en-US" dirty="0"/>
              <a:t>把一个集合中满足某条件的元素选出来，构成一个新的集合。</a:t>
            </a:r>
            <a:endParaRPr lang="en-US" altLang="zh-CN" dirty="0"/>
          </a:p>
          <a:p>
            <a:pPr>
              <a:defRPr/>
            </a:pPr>
            <a:r>
              <a:rPr lang="zh-CN" altLang="en-US" dirty="0"/>
              <a:t>例如，求某整数集合中的所有正整数：</a:t>
            </a:r>
            <a:endParaRPr lang="en-US" altLang="zh-CN" dirty="0"/>
          </a:p>
          <a:p>
            <a:pPr marL="457200" lvl="1" indent="0">
              <a:buFontTx/>
              <a:buNone/>
              <a:defRPr/>
            </a:pPr>
            <a:r>
              <a:rPr lang="en-US" altLang="zh-CN" sz="2400" dirty="0"/>
              <a:t>vector &lt;</a:t>
            </a:r>
            <a:r>
              <a:rPr lang="en-US" altLang="zh-CN" sz="2400" dirty="0" err="1"/>
              <a:t>int</a:t>
            </a:r>
            <a:r>
              <a:rPr lang="en-US" altLang="zh-CN" sz="2400" dirty="0"/>
              <a:t>&gt; </a:t>
            </a:r>
            <a:r>
              <a:rPr lang="en-US" altLang="zh-CN" sz="2400" dirty="0" err="1"/>
              <a:t>nums</a:t>
            </a:r>
            <a:r>
              <a:rPr lang="en-US" altLang="zh-CN" sz="2400" dirty="0"/>
              <a:t>={1,-2,7,0,3}, positives;</a:t>
            </a:r>
          </a:p>
          <a:p>
            <a:pPr marL="457200" lvl="1" indent="0">
              <a:buFontTx/>
              <a:buNone/>
              <a:defRPr/>
            </a:pPr>
            <a:r>
              <a:rPr lang="en-US" altLang="zh-CN" sz="2400" dirty="0" err="1">
                <a:solidFill>
                  <a:srgbClr val="FFC000"/>
                </a:solidFill>
              </a:rPr>
              <a:t>copy_if</a:t>
            </a:r>
            <a:r>
              <a:rPr lang="en-US" altLang="zh-CN" sz="2400" dirty="0"/>
              <a:t>(</a:t>
            </a:r>
            <a:r>
              <a:rPr lang="en-US" altLang="zh-CN" sz="2400" dirty="0" err="1"/>
              <a:t>nums.begin</a:t>
            </a:r>
            <a:r>
              <a:rPr lang="en-US" altLang="zh-CN" sz="2400" dirty="0"/>
              <a:t>(),</a:t>
            </a:r>
            <a:r>
              <a:rPr lang="en-US" altLang="zh-CN" sz="2400" dirty="0" err="1"/>
              <a:t>nums.end</a:t>
            </a:r>
            <a:r>
              <a:rPr lang="en-US" altLang="zh-CN" sz="2400" dirty="0"/>
              <a:t>(),</a:t>
            </a:r>
          </a:p>
          <a:p>
            <a:pPr marL="457200" lvl="1" indent="0">
              <a:buFontTx/>
              <a:buNone/>
              <a:defRPr/>
            </a:pPr>
            <a:r>
              <a:rPr lang="en-US" altLang="zh-CN" sz="2400" dirty="0"/>
              <a:t>	</a:t>
            </a:r>
            <a:r>
              <a:rPr lang="en-US" altLang="zh-CN" sz="2400" dirty="0" err="1"/>
              <a:t>back_inserter</a:t>
            </a:r>
            <a:r>
              <a:rPr lang="en-US" altLang="zh-CN" sz="2400" dirty="0"/>
              <a:t>(positives),[](</a:t>
            </a:r>
            <a:r>
              <a:rPr lang="en-US" altLang="zh-CN" sz="2400" dirty="0" err="1"/>
              <a:t>int</a:t>
            </a:r>
            <a:r>
              <a:rPr lang="en-US" altLang="zh-CN" sz="2400" dirty="0"/>
              <a:t> x){return x&gt;0;});</a:t>
            </a:r>
          </a:p>
          <a:p>
            <a:pPr marL="457200" lvl="1" indent="0">
              <a:buFontTx/>
              <a:buNone/>
              <a:defRPr/>
            </a:pPr>
            <a:r>
              <a:rPr lang="en-US" altLang="zh-CN" sz="2400" dirty="0" err="1"/>
              <a:t>for_each</a:t>
            </a:r>
            <a:r>
              <a:rPr lang="en-US" altLang="zh-CN" sz="2400" dirty="0"/>
              <a:t>(</a:t>
            </a:r>
            <a:r>
              <a:rPr lang="en-US" altLang="zh-CN" sz="2400" dirty="0" err="1"/>
              <a:t>positives.begin</a:t>
            </a:r>
            <a:r>
              <a:rPr lang="en-US" altLang="zh-CN" sz="2400" dirty="0"/>
              <a:t>(),</a:t>
            </a:r>
            <a:r>
              <a:rPr lang="en-US" altLang="zh-CN" sz="2400" dirty="0" err="1"/>
              <a:t>positives.end</a:t>
            </a:r>
            <a:r>
              <a:rPr lang="en-US" altLang="zh-CN" sz="2400" dirty="0"/>
              <a:t>(),</a:t>
            </a:r>
          </a:p>
          <a:p>
            <a:pPr marL="457200" lvl="1" indent="0">
              <a:buFontTx/>
              <a:buNone/>
              <a:defRPr/>
            </a:pPr>
            <a:r>
              <a:rPr lang="en-US" altLang="zh-CN" sz="2400" dirty="0"/>
              <a:t>	[](</a:t>
            </a:r>
            <a:r>
              <a:rPr lang="en-US" altLang="zh-CN" sz="2400" dirty="0" err="1"/>
              <a:t>int</a:t>
            </a:r>
            <a:r>
              <a:rPr lang="en-US" altLang="zh-CN" sz="2400" dirty="0"/>
              <a:t> x){ </a:t>
            </a:r>
            <a:r>
              <a:rPr lang="en-US" altLang="zh-CN" sz="2400" dirty="0" err="1"/>
              <a:t>cout</a:t>
            </a:r>
            <a:r>
              <a:rPr lang="en-US" altLang="zh-CN" sz="2400" dirty="0"/>
              <a:t> &lt;&lt; x &lt;&lt;',';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6DD045-56D3-2636-7462-07C01432AF43}"/>
              </a:ext>
            </a:extLst>
          </p:cNvPr>
          <p:cNvSpPr>
            <a:spLocks noGrp="1"/>
          </p:cNvSpPr>
          <p:nvPr>
            <p:ph type="title"/>
          </p:nvPr>
        </p:nvSpPr>
        <p:spPr>
          <a:xfrm>
            <a:off x="457200" y="44450"/>
            <a:ext cx="8229600" cy="1139825"/>
          </a:xfrm>
        </p:spPr>
        <p:txBody>
          <a:bodyPr/>
          <a:lstStyle/>
          <a:p>
            <a:pPr>
              <a:defRPr/>
            </a:pPr>
            <a:r>
              <a:rPr lang="zh-CN" altLang="en-US" dirty="0"/>
              <a:t>映射操作（</a:t>
            </a:r>
            <a:r>
              <a:rPr lang="en-US" altLang="zh-CN" dirty="0"/>
              <a:t>Map</a:t>
            </a:r>
            <a:r>
              <a:rPr lang="zh-CN" altLang="en-US" dirty="0"/>
              <a:t>）</a:t>
            </a:r>
          </a:p>
        </p:txBody>
      </p:sp>
      <p:sp>
        <p:nvSpPr>
          <p:cNvPr id="3" name="内容占位符 2">
            <a:extLst>
              <a:ext uri="{FF2B5EF4-FFF2-40B4-BE49-F238E27FC236}">
                <a16:creationId xmlns:a16="http://schemas.microsoft.com/office/drawing/2014/main" id="{83FC6F8C-AAFC-7EF4-5DDE-FFCC075CC621}"/>
              </a:ext>
            </a:extLst>
          </p:cNvPr>
          <p:cNvSpPr>
            <a:spLocks noGrp="1"/>
          </p:cNvSpPr>
          <p:nvPr>
            <p:ph idx="1"/>
          </p:nvPr>
        </p:nvSpPr>
        <p:spPr>
          <a:xfrm>
            <a:off x="107950" y="1268413"/>
            <a:ext cx="8856663" cy="5329237"/>
          </a:xfrm>
        </p:spPr>
        <p:txBody>
          <a:bodyPr>
            <a:normAutofit/>
          </a:bodyPr>
          <a:lstStyle/>
          <a:p>
            <a:pPr>
              <a:defRPr/>
            </a:pPr>
            <a:r>
              <a:rPr lang="zh-CN" altLang="en-US" dirty="0"/>
              <a:t>分别对一个集合中的每个元素进行某种操作，结果放到一个新集合中。</a:t>
            </a:r>
            <a:endParaRPr lang="en-US" altLang="zh-CN" dirty="0"/>
          </a:p>
          <a:p>
            <a:pPr>
              <a:defRPr/>
            </a:pPr>
            <a:r>
              <a:rPr lang="zh-CN" altLang="en-US" dirty="0"/>
              <a:t>例如，计算某整数集合中各整数的平方</a:t>
            </a:r>
            <a:endParaRPr lang="en-US" altLang="zh-CN" dirty="0"/>
          </a:p>
          <a:p>
            <a:pPr marL="457200" lvl="1" indent="0">
              <a:buFontTx/>
              <a:buNone/>
              <a:defRPr/>
            </a:pPr>
            <a:r>
              <a:rPr lang="en-US" altLang="zh-CN" sz="2400" dirty="0"/>
              <a:t>vector &lt;</a:t>
            </a:r>
            <a:r>
              <a:rPr lang="en-US" altLang="zh-CN" sz="2400" dirty="0" err="1"/>
              <a:t>int</a:t>
            </a:r>
            <a:r>
              <a:rPr lang="en-US" altLang="zh-CN" sz="2400" dirty="0"/>
              <a:t>&gt; </a:t>
            </a:r>
            <a:r>
              <a:rPr lang="en-US" altLang="zh-CN" sz="2400" dirty="0" err="1"/>
              <a:t>nums</a:t>
            </a:r>
            <a:r>
              <a:rPr lang="en-US" altLang="zh-CN" sz="2400" dirty="0"/>
              <a:t>={1,-2,7,0,3}, squares;</a:t>
            </a:r>
          </a:p>
          <a:p>
            <a:pPr marL="457200" lvl="1" indent="0">
              <a:buFontTx/>
              <a:buNone/>
              <a:defRPr/>
            </a:pPr>
            <a:r>
              <a:rPr lang="en-US" altLang="zh-CN" sz="2400" dirty="0">
                <a:solidFill>
                  <a:srgbClr val="FFC000"/>
                </a:solidFill>
              </a:rPr>
              <a:t>transform</a:t>
            </a:r>
            <a:r>
              <a:rPr lang="en-US" altLang="zh-CN" sz="2400" dirty="0"/>
              <a:t>(</a:t>
            </a:r>
            <a:r>
              <a:rPr lang="en-US" altLang="zh-CN" sz="2400" dirty="0" err="1"/>
              <a:t>nums.begin</a:t>
            </a:r>
            <a:r>
              <a:rPr lang="en-US" altLang="zh-CN" sz="2400" dirty="0"/>
              <a:t>(),</a:t>
            </a:r>
            <a:r>
              <a:rPr lang="en-US" altLang="zh-CN" sz="2400" dirty="0" err="1"/>
              <a:t>nums.end</a:t>
            </a:r>
            <a:r>
              <a:rPr lang="en-US" altLang="zh-CN" sz="2400" dirty="0"/>
              <a:t>(), </a:t>
            </a:r>
          </a:p>
          <a:p>
            <a:pPr marL="457200" lvl="1" indent="0">
              <a:buFontTx/>
              <a:buNone/>
              <a:defRPr/>
            </a:pPr>
            <a:r>
              <a:rPr lang="en-US" altLang="zh-CN" sz="2400" dirty="0"/>
              <a:t>	</a:t>
            </a:r>
            <a:r>
              <a:rPr lang="en-US" altLang="zh-CN" sz="2400" dirty="0" err="1"/>
              <a:t>back_inserter</a:t>
            </a:r>
            <a:r>
              <a:rPr lang="en-US" altLang="zh-CN" sz="2400" dirty="0"/>
              <a:t>(squares), [](</a:t>
            </a:r>
            <a:r>
              <a:rPr lang="en-US" altLang="zh-CN" sz="2400" dirty="0" err="1"/>
              <a:t>int</a:t>
            </a:r>
            <a:r>
              <a:rPr lang="en-US" altLang="zh-CN" sz="2400" dirty="0"/>
              <a:t> x){return x*x;});</a:t>
            </a:r>
          </a:p>
          <a:p>
            <a:pPr marL="457200" lvl="1" indent="0">
              <a:buFontTx/>
              <a:buNone/>
              <a:defRPr/>
            </a:pPr>
            <a:r>
              <a:rPr lang="en-US" altLang="zh-CN" sz="2400" dirty="0" err="1"/>
              <a:t>for_each</a:t>
            </a:r>
            <a:r>
              <a:rPr lang="en-US" altLang="zh-CN" sz="2400" dirty="0"/>
              <a:t>(</a:t>
            </a:r>
            <a:r>
              <a:rPr lang="en-US" altLang="zh-CN" sz="2400" dirty="0" err="1"/>
              <a:t>squares</a:t>
            </a:r>
            <a:r>
              <a:rPr lang="en-US" altLang="zh-CN" sz="2400" dirty="0" err="1">
                <a:effectLst>
                  <a:outerShdw blurRad="38100" dist="38100" dir="2700000" algn="tl">
                    <a:srgbClr val="000000">
                      <a:alpha val="43137"/>
                    </a:srgbClr>
                  </a:outerShdw>
                </a:effectLst>
              </a:rPr>
              <a:t>.begin</a:t>
            </a:r>
            <a:r>
              <a:rPr lang="en-US" altLang="zh-CN" sz="2400" dirty="0">
                <a:effectLst>
                  <a:outerShdw blurRad="38100" dist="38100" dir="2700000" algn="tl">
                    <a:srgbClr val="000000">
                      <a:alpha val="43137"/>
                    </a:srgbClr>
                  </a:outerShdw>
                </a:effectLst>
              </a:rPr>
              <a:t>(),</a:t>
            </a:r>
            <a:r>
              <a:rPr lang="en-US" altLang="zh-CN" sz="2400" dirty="0"/>
              <a:t> </a:t>
            </a:r>
            <a:r>
              <a:rPr lang="en-US" altLang="zh-CN" sz="2400" dirty="0" err="1"/>
              <a:t>squares</a:t>
            </a:r>
            <a:r>
              <a:rPr lang="en-US" altLang="zh-CN" sz="2400" dirty="0" err="1">
                <a:effectLst>
                  <a:outerShdw blurRad="38100" dist="38100" dir="2700000" algn="tl">
                    <a:srgbClr val="000000">
                      <a:alpha val="43137"/>
                    </a:srgbClr>
                  </a:outerShdw>
                </a:effectLst>
              </a:rPr>
              <a:t>.end</a:t>
            </a:r>
            <a:r>
              <a:rPr lang="en-US" altLang="zh-CN" sz="2400" dirty="0">
                <a:effectLst>
                  <a:outerShdw blurRad="38100" dist="38100" dir="2700000" algn="tl">
                    <a:srgbClr val="000000">
                      <a:alpha val="43137"/>
                    </a:srgbClr>
                  </a:outerShdw>
                </a:effectLst>
              </a:rPr>
              <a:t>(),</a:t>
            </a:r>
          </a:p>
          <a:p>
            <a:pPr marL="457200" lvl="1" indent="0">
              <a:buFontTx/>
              <a:buNone/>
              <a:defRPr/>
            </a:pPr>
            <a:r>
              <a:rPr lang="en-US" altLang="zh-CN" sz="2400" dirty="0">
                <a:effectLst>
                  <a:outerShdw blurRad="38100" dist="38100" dir="2700000" algn="tl">
                    <a:srgbClr val="000000">
                      <a:alpha val="43137"/>
                    </a:srgbClr>
                  </a:outerShdw>
                </a:effectLst>
              </a:rPr>
              <a:t>              </a:t>
            </a:r>
            <a:r>
              <a:rPr lang="en-US" altLang="zh-CN" sz="2400" dirty="0"/>
              <a:t>[](</a:t>
            </a:r>
            <a:r>
              <a:rPr lang="en-US" altLang="zh-CN" sz="2400" dirty="0" err="1"/>
              <a:t>int</a:t>
            </a:r>
            <a:r>
              <a:rPr lang="en-US" altLang="zh-CN" sz="2400" dirty="0"/>
              <a:t> x){</a:t>
            </a:r>
            <a:r>
              <a:rPr lang="en-US" altLang="zh-CN" sz="2400" dirty="0" err="1"/>
              <a:t>cout</a:t>
            </a:r>
            <a:r>
              <a:rPr lang="en-US" altLang="zh-CN" sz="2400" dirty="0"/>
              <a:t>&lt;&lt;x&lt;&lt;',';}</a:t>
            </a:r>
            <a:r>
              <a:rPr lang="en-US" altLang="zh-CN" sz="2400" dirty="0">
                <a:effectLst>
                  <a:outerShdw blurRad="38100" dist="38100" dir="2700000" algn="tl">
                    <a:srgbClr val="000000">
                      <a:alpha val="43137"/>
                    </a:srgbClr>
                  </a:outerShdw>
                </a:effectLst>
              </a:rPr>
              <a:t>);</a:t>
            </a:r>
          </a:p>
          <a:p>
            <a:pPr lvl="1">
              <a:defRPr/>
            </a:pPr>
            <a:r>
              <a:rPr lang="zh-CN" altLang="en-US" dirty="0"/>
              <a:t>便于并行优化</a:t>
            </a: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DA6BE-1948-86ED-A288-722C8DC424F0}"/>
              </a:ext>
            </a:extLst>
          </p:cNvPr>
          <p:cNvSpPr>
            <a:spLocks noGrp="1"/>
          </p:cNvSpPr>
          <p:nvPr>
            <p:ph type="title"/>
          </p:nvPr>
        </p:nvSpPr>
        <p:spPr>
          <a:xfrm>
            <a:off x="457200" y="44450"/>
            <a:ext cx="8229600" cy="1139825"/>
          </a:xfrm>
        </p:spPr>
        <p:txBody>
          <a:bodyPr/>
          <a:lstStyle/>
          <a:p>
            <a:pPr>
              <a:defRPr/>
            </a:pPr>
            <a:r>
              <a:rPr lang="zh-CN" altLang="en-US" dirty="0"/>
              <a:t>规约操作（</a:t>
            </a:r>
            <a:r>
              <a:rPr lang="en-US" altLang="zh-CN" dirty="0"/>
              <a:t>Reduce</a:t>
            </a:r>
            <a:r>
              <a:rPr lang="zh-CN" altLang="en-US" dirty="0"/>
              <a:t>）</a:t>
            </a:r>
          </a:p>
        </p:txBody>
      </p:sp>
      <p:sp>
        <p:nvSpPr>
          <p:cNvPr id="3" name="内容占位符 2">
            <a:extLst>
              <a:ext uri="{FF2B5EF4-FFF2-40B4-BE49-F238E27FC236}">
                <a16:creationId xmlns:a16="http://schemas.microsoft.com/office/drawing/2014/main" id="{1D2CBA68-372C-C5BF-67A5-C69AA2EEE25E}"/>
              </a:ext>
            </a:extLst>
          </p:cNvPr>
          <p:cNvSpPr>
            <a:spLocks noGrp="1"/>
          </p:cNvSpPr>
          <p:nvPr>
            <p:ph idx="1"/>
          </p:nvPr>
        </p:nvSpPr>
        <p:spPr>
          <a:xfrm>
            <a:off x="250825" y="1268413"/>
            <a:ext cx="8642350" cy="4862512"/>
          </a:xfrm>
        </p:spPr>
        <p:txBody>
          <a:bodyPr>
            <a:normAutofit/>
          </a:bodyPr>
          <a:lstStyle/>
          <a:p>
            <a:pPr>
              <a:defRPr/>
            </a:pPr>
            <a:r>
              <a:rPr lang="zh-CN" altLang="en-US" dirty="0"/>
              <a:t>对一个集合中的所有元素进行某个操作后得到一个值。</a:t>
            </a:r>
            <a:endParaRPr lang="en-US" altLang="zh-CN" dirty="0"/>
          </a:p>
          <a:p>
            <a:pPr>
              <a:defRPr/>
            </a:pPr>
            <a:r>
              <a:rPr lang="zh-CN" altLang="en-US" dirty="0"/>
              <a:t>例如，计算某整数集合中所有整数的和</a:t>
            </a:r>
            <a:endParaRPr lang="en-US" altLang="zh-CN" dirty="0"/>
          </a:p>
          <a:p>
            <a:pPr marL="457200" lvl="1" indent="0">
              <a:buFontTx/>
              <a:buNone/>
              <a:defRPr/>
            </a:pPr>
            <a:r>
              <a:rPr lang="en-US" altLang="zh-CN" sz="2400" dirty="0"/>
              <a:t>vector &lt;</a:t>
            </a:r>
            <a:r>
              <a:rPr lang="en-US" altLang="zh-CN" sz="2400" dirty="0" err="1"/>
              <a:t>int</a:t>
            </a:r>
            <a:r>
              <a:rPr lang="en-US" altLang="zh-CN" sz="2400" dirty="0"/>
              <a:t>&gt; </a:t>
            </a:r>
            <a:r>
              <a:rPr lang="en-US" altLang="zh-CN" sz="2400" dirty="0" err="1"/>
              <a:t>nums</a:t>
            </a:r>
            <a:r>
              <a:rPr lang="en-US" altLang="zh-CN" sz="2400" dirty="0"/>
              <a:t>={1,-2,7,0,3};</a:t>
            </a:r>
          </a:p>
          <a:p>
            <a:pPr marL="457200" lvl="1" indent="0">
              <a:buFontTx/>
              <a:buNone/>
              <a:defRPr/>
            </a:pPr>
            <a:r>
              <a:rPr lang="en-US" altLang="zh-CN" sz="2400" dirty="0" err="1"/>
              <a:t>int</a:t>
            </a:r>
            <a:r>
              <a:rPr lang="en-US" altLang="zh-CN" sz="2400" dirty="0"/>
              <a:t> sum = </a:t>
            </a:r>
            <a:r>
              <a:rPr lang="en-US" altLang="zh-CN" sz="2400" dirty="0">
                <a:solidFill>
                  <a:srgbClr val="FFC000"/>
                </a:solidFill>
              </a:rPr>
              <a:t>accumulate</a:t>
            </a:r>
            <a:r>
              <a:rPr lang="en-US" altLang="zh-CN" sz="2400" dirty="0"/>
              <a:t>(</a:t>
            </a:r>
            <a:r>
              <a:rPr lang="en-US" altLang="zh-CN" sz="2400" dirty="0" err="1"/>
              <a:t>nums.begin</a:t>
            </a:r>
            <a:r>
              <a:rPr lang="en-US" altLang="zh-CN" sz="2400" dirty="0"/>
              <a:t>(), </a:t>
            </a:r>
            <a:r>
              <a:rPr lang="en-US" altLang="zh-CN" sz="2400" dirty="0" err="1"/>
              <a:t>nums.end</a:t>
            </a:r>
            <a:r>
              <a:rPr lang="en-US" altLang="zh-CN" sz="2400" dirty="0"/>
              <a:t>(),</a:t>
            </a:r>
          </a:p>
          <a:p>
            <a:pPr marL="457200" lvl="1" indent="0">
              <a:buFontTx/>
              <a:buNone/>
              <a:defRPr/>
            </a:pPr>
            <a:r>
              <a:rPr lang="en-US" altLang="zh-CN" sz="2400" dirty="0"/>
              <a:t>			0, [](</a:t>
            </a:r>
            <a:r>
              <a:rPr lang="en-US" altLang="zh-CN" sz="2400" dirty="0" err="1"/>
              <a:t>int</a:t>
            </a:r>
            <a:r>
              <a:rPr lang="en-US" altLang="zh-CN" sz="2400" dirty="0"/>
              <a:t> </a:t>
            </a:r>
            <a:r>
              <a:rPr lang="en-US" altLang="zh-CN" sz="2400" dirty="0" err="1"/>
              <a:t>a,int</a:t>
            </a:r>
            <a:r>
              <a:rPr lang="en-US" altLang="zh-CN" sz="2400" dirty="0"/>
              <a:t> x) {return </a:t>
            </a:r>
            <a:r>
              <a:rPr lang="en-US" altLang="zh-CN" sz="2400" dirty="0" err="1"/>
              <a:t>a+x</a:t>
            </a:r>
            <a:r>
              <a:rPr lang="en-US" altLang="zh-CN" sz="2400" dirty="0"/>
              <a:t>;});</a:t>
            </a:r>
          </a:p>
          <a:p>
            <a:pPr marL="457200" lvl="1" indent="0">
              <a:buFontTx/>
              <a:buNone/>
              <a:defRPr/>
            </a:pPr>
            <a:r>
              <a:rPr lang="en-US" altLang="zh-CN" sz="2400" dirty="0" err="1"/>
              <a:t>cout</a:t>
            </a:r>
            <a:r>
              <a:rPr lang="en-US" altLang="zh-CN" sz="2400" dirty="0"/>
              <a:t> &lt;&lt; sum;</a:t>
            </a:r>
            <a:endParaRPr lang="zh-CN"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49A56E1-0C6C-F3B7-9FAB-61868591A6B2}"/>
              </a:ext>
            </a:extLst>
          </p:cNvPr>
          <p:cNvSpPr>
            <a:spLocks noGrp="1"/>
          </p:cNvSpPr>
          <p:nvPr>
            <p:ph idx="1"/>
          </p:nvPr>
        </p:nvSpPr>
        <p:spPr>
          <a:xfrm>
            <a:off x="34925" y="404813"/>
            <a:ext cx="9036050" cy="6337300"/>
          </a:xfrm>
        </p:spPr>
        <p:txBody>
          <a:bodyPr>
            <a:normAutofit fontScale="70000" lnSpcReduction="20000"/>
          </a:bodyPr>
          <a:lstStyle/>
          <a:p>
            <a:pPr>
              <a:lnSpc>
                <a:spcPct val="120000"/>
              </a:lnSpc>
              <a:defRPr/>
            </a:pPr>
            <a:r>
              <a:rPr lang="zh-CN" altLang="en-US" sz="4000" dirty="0"/>
              <a:t>运用过滤</a:t>
            </a:r>
            <a:r>
              <a:rPr lang="en-US" altLang="zh-CN" sz="4000" dirty="0"/>
              <a:t>/</a:t>
            </a:r>
            <a:r>
              <a:rPr lang="zh-CN" altLang="en-US" sz="4000" dirty="0"/>
              <a:t>映射</a:t>
            </a:r>
            <a:r>
              <a:rPr lang="en-US" altLang="zh-CN" sz="4000" dirty="0"/>
              <a:t>/</a:t>
            </a:r>
            <a:r>
              <a:rPr lang="zh-CN" altLang="en-US" sz="4000" dirty="0"/>
              <a:t>规约操作来实现：输出学生中所有女生的名字和平均年龄：</a:t>
            </a:r>
          </a:p>
          <a:p>
            <a:pPr marL="171450" lvl="1" indent="0">
              <a:buFontTx/>
              <a:buNone/>
              <a:defRPr/>
            </a:pPr>
            <a:r>
              <a:rPr lang="en-US" altLang="zh-CN" dirty="0"/>
              <a:t>vector&lt;Student&gt; students,students_2;</a:t>
            </a:r>
          </a:p>
          <a:p>
            <a:pPr marL="171450" lvl="1" indent="0">
              <a:buFontTx/>
              <a:buNone/>
              <a:defRPr/>
            </a:pPr>
            <a:r>
              <a:rPr lang="en-US" altLang="zh-CN" dirty="0"/>
              <a:t>vector&lt;string&gt; names;</a:t>
            </a:r>
          </a:p>
          <a:p>
            <a:pPr marL="171450" lvl="1" indent="0">
              <a:buFontTx/>
              <a:buNone/>
              <a:defRPr/>
            </a:pPr>
            <a:r>
              <a:rPr lang="en-US" altLang="zh-CN" dirty="0"/>
              <a:t>//</a:t>
            </a:r>
            <a:r>
              <a:rPr lang="zh-CN" altLang="en-US" dirty="0"/>
              <a:t>先筛选出“女生”</a:t>
            </a:r>
            <a:endParaRPr lang="en-US" altLang="zh-CN" dirty="0"/>
          </a:p>
          <a:p>
            <a:pPr marL="171450" lvl="1" indent="0">
              <a:buFontTx/>
              <a:buNone/>
              <a:defRPr/>
            </a:pPr>
            <a:r>
              <a:rPr lang="en-US" altLang="zh-CN" dirty="0" err="1">
                <a:solidFill>
                  <a:srgbClr val="FFC000"/>
                </a:solidFill>
              </a:rPr>
              <a:t>copy_if</a:t>
            </a:r>
            <a:r>
              <a:rPr lang="en-US" altLang="zh-CN" dirty="0"/>
              <a:t>(</a:t>
            </a:r>
            <a:r>
              <a:rPr lang="en-US" altLang="zh-CN" dirty="0" err="1"/>
              <a:t>students.begin</a:t>
            </a:r>
            <a:r>
              <a:rPr lang="en-US" altLang="zh-CN" dirty="0"/>
              <a:t>(),</a:t>
            </a:r>
            <a:r>
              <a:rPr lang="en-US" altLang="zh-CN" dirty="0" err="1"/>
              <a:t>students.end</a:t>
            </a:r>
            <a:r>
              <a:rPr lang="en-US" altLang="zh-CN" dirty="0"/>
              <a:t>(),</a:t>
            </a:r>
          </a:p>
          <a:p>
            <a:pPr marL="171450" lvl="1" indent="0">
              <a:buFontTx/>
              <a:buNone/>
              <a:defRPr/>
            </a:pPr>
            <a:r>
              <a:rPr lang="en-US" altLang="zh-CN" dirty="0"/>
              <a:t>	     </a:t>
            </a:r>
            <a:r>
              <a:rPr lang="en-US" altLang="zh-CN" dirty="0" err="1"/>
              <a:t>back_inserter</a:t>
            </a:r>
            <a:r>
              <a:rPr lang="en-US" altLang="zh-CN" dirty="0"/>
              <a:t>(</a:t>
            </a:r>
            <a:r>
              <a:rPr lang="en-US" altLang="zh-CN" dirty="0">
                <a:solidFill>
                  <a:srgbClr val="FFC000"/>
                </a:solidFill>
              </a:rPr>
              <a:t>students_2</a:t>
            </a:r>
            <a:r>
              <a:rPr lang="en-US" altLang="zh-CN" dirty="0"/>
              <a:t>),</a:t>
            </a:r>
          </a:p>
          <a:p>
            <a:pPr marL="171450" lvl="1" indent="0">
              <a:buFontTx/>
              <a:buNone/>
              <a:defRPr/>
            </a:pPr>
            <a:r>
              <a:rPr lang="en-US" altLang="zh-CN" dirty="0"/>
              <a:t>   	[](Student &amp;</a:t>
            </a:r>
            <a:r>
              <a:rPr lang="en-US" altLang="zh-CN" dirty="0" err="1"/>
              <a:t>st</a:t>
            </a:r>
            <a:r>
              <a:rPr lang="en-US" altLang="zh-CN" dirty="0"/>
              <a:t>) { return </a:t>
            </a:r>
            <a:r>
              <a:rPr lang="en-US" altLang="zh-CN" dirty="0" err="1"/>
              <a:t>st.get_sex</a:t>
            </a:r>
            <a:r>
              <a:rPr lang="en-US" altLang="zh-CN" dirty="0"/>
              <a:t>()==FEMALE;});</a:t>
            </a:r>
          </a:p>
          <a:p>
            <a:pPr marL="171450" lvl="1" indent="0">
              <a:buFontTx/>
              <a:buNone/>
              <a:defRPr/>
            </a:pPr>
            <a:r>
              <a:rPr lang="en-US" altLang="zh-CN" dirty="0"/>
              <a:t>//</a:t>
            </a:r>
            <a:r>
              <a:rPr lang="zh-CN" altLang="en-US" dirty="0"/>
              <a:t>生成所有女生的名字</a:t>
            </a:r>
            <a:endParaRPr lang="en-US" altLang="zh-CN" dirty="0"/>
          </a:p>
          <a:p>
            <a:pPr marL="171450" lvl="1" indent="0">
              <a:buFontTx/>
              <a:buNone/>
              <a:defRPr/>
            </a:pPr>
            <a:r>
              <a:rPr lang="en-US" altLang="zh-CN" dirty="0">
                <a:solidFill>
                  <a:srgbClr val="FFC000"/>
                </a:solidFill>
              </a:rPr>
              <a:t>transform</a:t>
            </a:r>
            <a:r>
              <a:rPr lang="en-US" altLang="zh-CN" dirty="0"/>
              <a:t>(students_2.begin(),students_2.end(),</a:t>
            </a:r>
          </a:p>
          <a:p>
            <a:pPr marL="171450" lvl="1" indent="0">
              <a:buFontTx/>
              <a:buNone/>
              <a:defRPr/>
            </a:pPr>
            <a:r>
              <a:rPr lang="en-US" altLang="zh-CN" dirty="0"/>
              <a:t>		</a:t>
            </a:r>
            <a:r>
              <a:rPr lang="en-US" altLang="zh-CN" dirty="0" err="1"/>
              <a:t>back_inserter</a:t>
            </a:r>
            <a:r>
              <a:rPr lang="en-US" altLang="zh-CN" dirty="0"/>
              <a:t>(</a:t>
            </a:r>
            <a:r>
              <a:rPr lang="en-US" altLang="zh-CN" dirty="0">
                <a:solidFill>
                  <a:srgbClr val="FFC000"/>
                </a:solidFill>
              </a:rPr>
              <a:t>names</a:t>
            </a:r>
            <a:r>
              <a:rPr lang="en-US" altLang="zh-CN" dirty="0"/>
              <a:t>),</a:t>
            </a:r>
          </a:p>
          <a:p>
            <a:pPr marL="171450" lvl="1" indent="0">
              <a:buFontTx/>
              <a:buNone/>
              <a:defRPr/>
            </a:pPr>
            <a:r>
              <a:rPr lang="en-US" altLang="zh-CN" dirty="0"/>
              <a:t>	[](Student &amp;</a:t>
            </a:r>
            <a:r>
              <a:rPr lang="en-US" altLang="zh-CN" dirty="0" err="1"/>
              <a:t>st</a:t>
            </a:r>
            <a:r>
              <a:rPr lang="en-US" altLang="zh-CN" dirty="0"/>
              <a:t>) { return </a:t>
            </a:r>
            <a:r>
              <a:rPr lang="en-US" altLang="zh-CN" dirty="0" err="1"/>
              <a:t>st.get_name</a:t>
            </a:r>
            <a:r>
              <a:rPr lang="en-US" altLang="zh-CN" dirty="0"/>
              <a:t>(); });</a:t>
            </a:r>
          </a:p>
          <a:p>
            <a:pPr marL="171450" lvl="1" indent="0">
              <a:buFontTx/>
              <a:buNone/>
              <a:defRPr/>
            </a:pPr>
            <a:r>
              <a:rPr lang="en-US" altLang="zh-CN" dirty="0"/>
              <a:t>//</a:t>
            </a:r>
            <a:r>
              <a:rPr lang="zh-CN" altLang="en-US" dirty="0"/>
              <a:t>对名字进行排序并输出</a:t>
            </a:r>
            <a:endParaRPr lang="en-US" altLang="zh-CN" dirty="0"/>
          </a:p>
          <a:p>
            <a:pPr marL="171450" lvl="1" indent="0">
              <a:buFontTx/>
              <a:buNone/>
              <a:defRPr/>
            </a:pPr>
            <a:r>
              <a:rPr lang="en-US" altLang="zh-CN" dirty="0">
                <a:solidFill>
                  <a:srgbClr val="FFC000"/>
                </a:solidFill>
              </a:rPr>
              <a:t>sort</a:t>
            </a:r>
            <a:r>
              <a:rPr lang="en-US" altLang="zh-CN" dirty="0"/>
              <a:t>(</a:t>
            </a:r>
            <a:r>
              <a:rPr lang="en-US" altLang="zh-CN" dirty="0" err="1"/>
              <a:t>names.begin</a:t>
            </a:r>
            <a:r>
              <a:rPr lang="en-US" altLang="zh-CN" dirty="0"/>
              <a:t>(),</a:t>
            </a:r>
            <a:r>
              <a:rPr lang="en-US" altLang="zh-CN" dirty="0" err="1"/>
              <a:t>names.end</a:t>
            </a:r>
            <a:r>
              <a:rPr lang="en-US" altLang="zh-CN" dirty="0"/>
              <a:t>());</a:t>
            </a:r>
          </a:p>
          <a:p>
            <a:pPr marL="171450" lvl="1" indent="0">
              <a:buFontTx/>
              <a:buNone/>
              <a:defRPr/>
            </a:pPr>
            <a:r>
              <a:rPr lang="en-US" altLang="zh-CN" dirty="0" err="1">
                <a:solidFill>
                  <a:srgbClr val="FFC000"/>
                </a:solidFill>
              </a:rPr>
              <a:t>for_each</a:t>
            </a:r>
            <a:r>
              <a:rPr lang="en-US" altLang="zh-CN" dirty="0"/>
              <a:t>(</a:t>
            </a:r>
            <a:r>
              <a:rPr lang="en-US" altLang="zh-CN" dirty="0" err="1"/>
              <a:t>names.begin</a:t>
            </a:r>
            <a:r>
              <a:rPr lang="en-US" altLang="zh-CN" dirty="0"/>
              <a:t>(),</a:t>
            </a:r>
            <a:r>
              <a:rPr lang="en-US" altLang="zh-CN" dirty="0" err="1"/>
              <a:t>names.end</a:t>
            </a:r>
            <a:r>
              <a:rPr lang="en-US" altLang="zh-CN" dirty="0"/>
              <a:t>(),</a:t>
            </a:r>
          </a:p>
          <a:p>
            <a:pPr marL="171450" lvl="1" indent="0">
              <a:buFontTx/>
              <a:buNone/>
              <a:defRPr/>
            </a:pPr>
            <a:r>
              <a:rPr lang="en-US" altLang="zh-CN" dirty="0"/>
              <a:t>	[](string&amp; s) { </a:t>
            </a:r>
            <a:r>
              <a:rPr lang="en-US" altLang="zh-CN" dirty="0" err="1"/>
              <a:t>cout</a:t>
            </a:r>
            <a:r>
              <a:rPr lang="en-US" altLang="zh-CN" dirty="0"/>
              <a:t> &lt;&lt; s &lt;&lt; </a:t>
            </a:r>
            <a:r>
              <a:rPr lang="en-US" altLang="zh-CN" dirty="0" err="1"/>
              <a:t>endl</a:t>
            </a:r>
            <a:r>
              <a:rPr lang="en-US" altLang="zh-CN" dirty="0"/>
              <a:t>; });</a:t>
            </a:r>
          </a:p>
          <a:p>
            <a:pPr marL="171450" lvl="1" indent="0">
              <a:buFontTx/>
              <a:buNone/>
              <a:defRPr/>
            </a:pPr>
            <a:r>
              <a:rPr lang="en-US" altLang="zh-CN" dirty="0"/>
              <a:t>//</a:t>
            </a:r>
            <a:r>
              <a:rPr lang="zh-CN" altLang="en-US" dirty="0"/>
              <a:t>求平均年龄</a:t>
            </a:r>
            <a:endParaRPr lang="en-US" altLang="zh-CN" dirty="0"/>
          </a:p>
          <a:p>
            <a:pPr marL="171450" lvl="1" indent="0">
              <a:buFontTx/>
              <a:buNone/>
              <a:defRPr/>
            </a:pPr>
            <a:r>
              <a:rPr lang="en-US" altLang="zh-CN" dirty="0" err="1"/>
              <a:t>cout</a:t>
            </a:r>
            <a:r>
              <a:rPr lang="en-US" altLang="zh-CN" dirty="0"/>
              <a:t> &lt;&lt; </a:t>
            </a:r>
            <a:r>
              <a:rPr lang="en-US" altLang="zh-CN" dirty="0">
                <a:solidFill>
                  <a:srgbClr val="FFC000"/>
                </a:solidFill>
              </a:rPr>
              <a:t>accumulate</a:t>
            </a:r>
            <a:r>
              <a:rPr lang="en-US" altLang="zh-CN" dirty="0"/>
              <a:t>(students_2.begin(),students_2.end(),0,</a:t>
            </a:r>
          </a:p>
          <a:p>
            <a:pPr marL="171450" lvl="1" indent="0">
              <a:buFontTx/>
              <a:buNone/>
              <a:defRPr/>
            </a:pPr>
            <a:r>
              <a:rPr lang="en-US" altLang="zh-CN" dirty="0"/>
              <a:t>[](</a:t>
            </a:r>
            <a:r>
              <a:rPr lang="en-US" altLang="zh-CN" dirty="0" err="1"/>
              <a:t>int</a:t>
            </a:r>
            <a:r>
              <a:rPr lang="en-US" altLang="zh-CN" dirty="0"/>
              <a:t> </a:t>
            </a:r>
            <a:r>
              <a:rPr lang="en-US" altLang="zh-CN" dirty="0" err="1"/>
              <a:t>a,Student</a:t>
            </a:r>
            <a:r>
              <a:rPr lang="en-US" altLang="zh-CN" dirty="0"/>
              <a:t> &amp;</a:t>
            </a:r>
            <a:r>
              <a:rPr lang="en-US" altLang="zh-CN" dirty="0" err="1"/>
              <a:t>st</a:t>
            </a:r>
            <a:r>
              <a:rPr lang="en-US" altLang="zh-CN" dirty="0"/>
              <a:t>) {return </a:t>
            </a:r>
            <a:r>
              <a:rPr lang="en-US" altLang="zh-CN" dirty="0" err="1"/>
              <a:t>a+st.get_age</a:t>
            </a:r>
            <a:r>
              <a:rPr lang="en-US" altLang="zh-CN" dirty="0"/>
              <a:t>();})/students_2.size();</a:t>
            </a:r>
          </a:p>
          <a:p>
            <a:pPr>
              <a:defRPr/>
            </a:pP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4CC2E-22C1-4457-33E1-B6096BFD220C}"/>
              </a:ext>
            </a:extLst>
          </p:cNvPr>
          <p:cNvSpPr>
            <a:spLocks noGrp="1"/>
          </p:cNvSpPr>
          <p:nvPr>
            <p:ph type="title"/>
          </p:nvPr>
        </p:nvSpPr>
        <p:spPr>
          <a:xfrm>
            <a:off x="457200" y="201613"/>
            <a:ext cx="8229600" cy="1139825"/>
          </a:xfrm>
        </p:spPr>
        <p:txBody>
          <a:bodyPr/>
          <a:lstStyle/>
          <a:p>
            <a:pPr>
              <a:defRPr/>
            </a:pPr>
            <a:r>
              <a:rPr lang="zh-CN" altLang="en-US" dirty="0"/>
              <a:t>部分函数应用</a:t>
            </a:r>
            <a:br>
              <a:rPr lang="en-US" altLang="zh-CN" dirty="0"/>
            </a:br>
            <a:r>
              <a:rPr lang="zh-CN" altLang="en-US" dirty="0"/>
              <a:t>（</a:t>
            </a:r>
            <a:r>
              <a:rPr lang="en-US" altLang="zh-CN" dirty="0"/>
              <a:t>Partial Function Application</a:t>
            </a:r>
            <a:r>
              <a:rPr lang="zh-CN" altLang="en-US" dirty="0"/>
              <a:t>）</a:t>
            </a:r>
          </a:p>
        </p:txBody>
      </p:sp>
      <p:sp>
        <p:nvSpPr>
          <p:cNvPr id="3" name="内容占位符 2">
            <a:extLst>
              <a:ext uri="{FF2B5EF4-FFF2-40B4-BE49-F238E27FC236}">
                <a16:creationId xmlns:a16="http://schemas.microsoft.com/office/drawing/2014/main" id="{ED6ED3AC-9E2A-8E1A-D2F9-232AB7E7BBFA}"/>
              </a:ext>
            </a:extLst>
          </p:cNvPr>
          <p:cNvSpPr>
            <a:spLocks noGrp="1"/>
          </p:cNvSpPr>
          <p:nvPr>
            <p:ph idx="1"/>
          </p:nvPr>
        </p:nvSpPr>
        <p:spPr>
          <a:xfrm>
            <a:off x="323850" y="1700213"/>
            <a:ext cx="8507413" cy="4032250"/>
          </a:xfrm>
        </p:spPr>
        <p:txBody>
          <a:bodyPr>
            <a:normAutofit fontScale="85000" lnSpcReduction="20000"/>
          </a:bodyPr>
          <a:lstStyle/>
          <a:p>
            <a:pPr eaLnBrk="1" hangingPunct="1">
              <a:lnSpc>
                <a:spcPct val="120000"/>
              </a:lnSpc>
              <a:defRPr/>
            </a:pPr>
            <a:r>
              <a:rPr lang="zh-CN" altLang="en-US" dirty="0"/>
              <a:t>对于一个多参数的函数，在某些应用场景下，它的一些参数往往取固定的值。</a:t>
            </a:r>
            <a:endParaRPr lang="en-US" altLang="zh-CN" dirty="0"/>
          </a:p>
          <a:p>
            <a:pPr eaLnBrk="1" hangingPunct="1">
              <a:lnSpc>
                <a:spcPct val="120000"/>
              </a:lnSpc>
              <a:defRPr/>
            </a:pPr>
            <a:r>
              <a:rPr lang="zh-CN" altLang="en-US" dirty="0"/>
              <a:t>可以通过固定某函数的一些参数的值，生成一个新函数，该新函数不包含原函数中已指定固定值的参数，通过生成的新函数来使用原来的函数，这样可以省略一些具有固定值的参数传递。（偏函数应用，</a:t>
            </a:r>
            <a:r>
              <a:rPr lang="en-US" altLang="zh-CN" dirty="0"/>
              <a:t>partial function application</a:t>
            </a:r>
            <a:r>
              <a:rPr lang="zh-CN" altLang="en-US" dirty="0"/>
              <a:t>）</a:t>
            </a:r>
            <a:endParaRPr lang="en-US" altLang="zh-CN" dirty="0"/>
          </a:p>
          <a:p>
            <a:pPr eaLnBrk="1" hangingPunct="1">
              <a:lnSpc>
                <a:spcPct val="120000"/>
              </a:lnSpc>
              <a:defRPr/>
            </a:pPr>
            <a:r>
              <a:rPr lang="zh-CN" altLang="en-US" dirty="0"/>
              <a:t>偏函数应用可缩小一个函数的适用范围，提高函数的针对性。</a:t>
            </a:r>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AFFA3B-581A-949B-410E-52D7064F5A50}"/>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3E41FCB3-F0C4-8471-5CB3-83494CCDD2D9}"/>
              </a:ext>
            </a:extLst>
          </p:cNvPr>
          <p:cNvSpPr>
            <a:spLocks noGrp="1"/>
          </p:cNvSpPr>
          <p:nvPr>
            <p:ph idx="1"/>
          </p:nvPr>
        </p:nvSpPr>
        <p:spPr>
          <a:xfrm>
            <a:off x="457200" y="1600200"/>
            <a:ext cx="8229600" cy="4852988"/>
          </a:xfrm>
        </p:spPr>
        <p:txBody>
          <a:bodyPr>
            <a:normAutofit fontScale="77500" lnSpcReduction="20000"/>
          </a:bodyPr>
          <a:lstStyle/>
          <a:p>
            <a:pPr>
              <a:lnSpc>
                <a:spcPct val="120000"/>
              </a:lnSpc>
              <a:defRPr/>
            </a:pPr>
            <a:r>
              <a:rPr lang="zh-CN" altLang="en-US" sz="3600" dirty="0"/>
              <a:t>例如，对于下面的</a:t>
            </a:r>
            <a:r>
              <a:rPr lang="en-US" altLang="zh-CN" sz="3600" dirty="0"/>
              <a:t>print</a:t>
            </a:r>
            <a:r>
              <a:rPr lang="zh-CN" altLang="en-US" sz="3600" dirty="0"/>
              <a:t>函数：</a:t>
            </a:r>
            <a:endParaRPr lang="en-US" altLang="zh-CN" sz="3600" dirty="0"/>
          </a:p>
          <a:p>
            <a:pPr marL="457200" lvl="1" indent="0">
              <a:lnSpc>
                <a:spcPct val="120000"/>
              </a:lnSpc>
              <a:buFontTx/>
              <a:buNone/>
              <a:defRPr/>
            </a:pPr>
            <a:r>
              <a:rPr lang="en-US" altLang="zh-CN" dirty="0"/>
              <a:t>void print(</a:t>
            </a:r>
            <a:r>
              <a:rPr lang="en-US" altLang="zh-CN" dirty="0" err="1"/>
              <a:t>int</a:t>
            </a:r>
            <a:r>
              <a:rPr lang="en-US" altLang="zh-CN" dirty="0"/>
              <a:t> </a:t>
            </a:r>
            <a:r>
              <a:rPr lang="en-US" altLang="zh-CN" dirty="0" err="1"/>
              <a:t>n,int</a:t>
            </a:r>
            <a:r>
              <a:rPr lang="en-US" altLang="zh-CN" dirty="0"/>
              <a:t> base); //</a:t>
            </a:r>
            <a:r>
              <a:rPr lang="zh-CN" altLang="en-US" dirty="0"/>
              <a:t>按</a:t>
            </a:r>
            <a:r>
              <a:rPr lang="en-US" altLang="zh-CN" dirty="0"/>
              <a:t>base</a:t>
            </a:r>
            <a:r>
              <a:rPr lang="zh-CN" altLang="en-US" dirty="0"/>
              <a:t>指定的进制输出</a:t>
            </a:r>
            <a:r>
              <a:rPr lang="en-US" altLang="zh-CN" dirty="0"/>
              <a:t>n</a:t>
            </a:r>
          </a:p>
          <a:p>
            <a:pPr eaLnBrk="1" hangingPunct="1">
              <a:lnSpc>
                <a:spcPct val="120000"/>
              </a:lnSpc>
              <a:defRPr/>
            </a:pPr>
            <a:r>
              <a:rPr lang="zh-CN" altLang="en-US" sz="3600" dirty="0"/>
              <a:t>由于它常常用来按十进制输出，因此，可以基于</a:t>
            </a:r>
            <a:r>
              <a:rPr lang="en-US" altLang="zh-CN" sz="3600" dirty="0"/>
              <a:t>print</a:t>
            </a:r>
            <a:r>
              <a:rPr lang="zh-CN" altLang="en-US" sz="3600" dirty="0"/>
              <a:t>生成一个新函数</a:t>
            </a:r>
            <a:r>
              <a:rPr lang="en-US" altLang="zh-CN" sz="3600" dirty="0"/>
              <a:t>print10</a:t>
            </a:r>
            <a:r>
              <a:rPr lang="zh-CN" altLang="en-US" sz="3600" dirty="0"/>
              <a:t>，它只接受一个参数</a:t>
            </a:r>
            <a:r>
              <a:rPr lang="en-US" altLang="zh-CN" sz="3600" dirty="0"/>
              <a:t>n</a:t>
            </a:r>
            <a:r>
              <a:rPr lang="zh-CN" altLang="en-US" sz="3600" dirty="0"/>
              <a:t>，</a:t>
            </a:r>
            <a:r>
              <a:rPr lang="en-US" altLang="zh-CN" sz="3600" dirty="0"/>
              <a:t>base</a:t>
            </a:r>
            <a:r>
              <a:rPr lang="zh-CN" altLang="en-US" sz="3600" dirty="0"/>
              <a:t>固定为</a:t>
            </a:r>
            <a:r>
              <a:rPr lang="en-US" altLang="zh-CN" sz="3600" dirty="0"/>
              <a:t>10</a:t>
            </a:r>
            <a:r>
              <a:rPr lang="zh-CN" altLang="en-US" sz="3600" dirty="0"/>
              <a:t>：</a:t>
            </a:r>
            <a:endParaRPr lang="en-US" altLang="zh-CN" sz="3600" dirty="0"/>
          </a:p>
          <a:p>
            <a:pPr marL="457200" lvl="1" indent="0">
              <a:lnSpc>
                <a:spcPct val="120000"/>
              </a:lnSpc>
              <a:buFontTx/>
              <a:buNone/>
              <a:defRPr/>
            </a:pPr>
            <a:r>
              <a:rPr lang="en-US" altLang="zh-CN" dirty="0"/>
              <a:t>#include &lt;functional&gt;</a:t>
            </a:r>
          </a:p>
          <a:p>
            <a:pPr marL="457200" lvl="1" indent="0">
              <a:lnSpc>
                <a:spcPct val="120000"/>
              </a:lnSpc>
              <a:buFontTx/>
              <a:buNone/>
              <a:defRPr/>
            </a:pPr>
            <a:r>
              <a:rPr lang="en-US" altLang="zh-CN" dirty="0"/>
              <a:t>function&lt;void(</a:t>
            </a:r>
            <a:r>
              <a:rPr lang="en-US" altLang="zh-CN" dirty="0" err="1"/>
              <a:t>int</a:t>
            </a:r>
            <a:r>
              <a:rPr lang="en-US" altLang="zh-CN" dirty="0"/>
              <a:t>)&gt; print10=</a:t>
            </a:r>
          </a:p>
          <a:p>
            <a:pPr marL="457200" lvl="1" indent="0">
              <a:lnSpc>
                <a:spcPct val="120000"/>
              </a:lnSpc>
              <a:buFontTx/>
              <a:buNone/>
              <a:defRPr/>
            </a:pPr>
            <a:r>
              <a:rPr lang="en-US" altLang="zh-CN" dirty="0"/>
              <a:t>			       [](</a:t>
            </a:r>
            <a:r>
              <a:rPr lang="en-US" altLang="zh-CN" dirty="0" err="1"/>
              <a:t>int</a:t>
            </a:r>
            <a:r>
              <a:rPr lang="en-US" altLang="zh-CN" dirty="0"/>
              <a:t> n) { return print(n,10); };</a:t>
            </a:r>
          </a:p>
          <a:p>
            <a:pPr marL="457200" lvl="1" indent="0">
              <a:lnSpc>
                <a:spcPct val="120000"/>
              </a:lnSpc>
              <a:buFontTx/>
              <a:buNone/>
              <a:defRPr/>
            </a:pPr>
            <a:r>
              <a:rPr lang="zh-CN" altLang="en-US" dirty="0"/>
              <a:t>或者</a:t>
            </a:r>
            <a:endParaRPr lang="en-US" altLang="zh-CN" dirty="0"/>
          </a:p>
          <a:p>
            <a:pPr marL="457200" lvl="1" indent="0">
              <a:lnSpc>
                <a:spcPct val="120000"/>
              </a:lnSpc>
              <a:buFontTx/>
              <a:buNone/>
              <a:defRPr/>
            </a:pPr>
            <a:r>
              <a:rPr lang="en-US" altLang="zh-CN" dirty="0">
                <a:solidFill>
                  <a:srgbClr val="FFC000"/>
                </a:solidFill>
              </a:rPr>
              <a:t>auto</a:t>
            </a:r>
            <a:r>
              <a:rPr lang="en-US" altLang="zh-CN" dirty="0"/>
              <a:t> print10=[](</a:t>
            </a:r>
            <a:r>
              <a:rPr lang="en-US" altLang="zh-CN" dirty="0" err="1"/>
              <a:t>int</a:t>
            </a:r>
            <a:r>
              <a:rPr lang="en-US" altLang="zh-CN" dirty="0"/>
              <a:t> n) { return print(n,10); };</a:t>
            </a:r>
          </a:p>
          <a:p>
            <a:pPr marL="457200" lvl="1" indent="0">
              <a:lnSpc>
                <a:spcPct val="120000"/>
              </a:lnSpc>
              <a:buFontTx/>
              <a:buNone/>
              <a:defRPr/>
            </a:pPr>
            <a:r>
              <a:rPr lang="en-US" altLang="zh-CN" dirty="0"/>
              <a:t>print10(23); //print(23,10);</a:t>
            </a:r>
          </a:p>
          <a:p>
            <a:pPr>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D2CC4-120C-39DF-0543-8192A382E0A4}"/>
              </a:ext>
            </a:extLst>
          </p:cNvPr>
          <p:cNvSpPr>
            <a:spLocks noGrp="1"/>
          </p:cNvSpPr>
          <p:nvPr>
            <p:ph idx="1"/>
          </p:nvPr>
        </p:nvSpPr>
        <p:spPr>
          <a:xfrm>
            <a:off x="323850" y="981075"/>
            <a:ext cx="8496300" cy="4968875"/>
          </a:xfrm>
        </p:spPr>
        <p:txBody>
          <a:bodyPr>
            <a:normAutofit fontScale="92500" lnSpcReduction="20000"/>
          </a:bodyPr>
          <a:lstStyle/>
          <a:p>
            <a:pPr>
              <a:lnSpc>
                <a:spcPct val="120000"/>
              </a:lnSpc>
              <a:defRPr/>
            </a:pPr>
            <a:r>
              <a:rPr lang="zh-CN" altLang="en-US" dirty="0"/>
              <a:t>上面的</a:t>
            </a:r>
            <a:r>
              <a:rPr lang="en-US" altLang="zh-CN" dirty="0"/>
              <a:t>print10</a:t>
            </a:r>
            <a:r>
              <a:rPr lang="zh-CN" altLang="en-US" dirty="0"/>
              <a:t>也可以通过</a:t>
            </a:r>
            <a:r>
              <a:rPr lang="en-US" altLang="zh-CN" dirty="0"/>
              <a:t>STL</a:t>
            </a:r>
            <a:r>
              <a:rPr lang="zh-CN" altLang="en-US" dirty="0"/>
              <a:t>中的算法</a:t>
            </a:r>
            <a:r>
              <a:rPr lang="en-US" altLang="zh-CN" dirty="0"/>
              <a:t>bind</a:t>
            </a:r>
            <a:r>
              <a:rPr lang="zh-CN" altLang="en-US" dirty="0"/>
              <a:t>以一种更通用的方式来实现：</a:t>
            </a:r>
            <a:endParaRPr lang="en-US" altLang="zh-CN" dirty="0"/>
          </a:p>
          <a:p>
            <a:pPr marL="457200" lvl="1" indent="0">
              <a:lnSpc>
                <a:spcPct val="120000"/>
              </a:lnSpc>
              <a:buFontTx/>
              <a:buNone/>
              <a:defRPr/>
            </a:pPr>
            <a:r>
              <a:rPr lang="de-DE" altLang="zh-CN" dirty="0"/>
              <a:t>Fty2 </a:t>
            </a:r>
            <a:r>
              <a:rPr lang="de-DE" altLang="zh-CN" dirty="0">
                <a:solidFill>
                  <a:srgbClr val="FFC000"/>
                </a:solidFill>
              </a:rPr>
              <a:t>bind</a:t>
            </a:r>
            <a:r>
              <a:rPr lang="de-DE" altLang="zh-CN" dirty="0"/>
              <a:t>(Fty1 fn, T1 t1, T2 t2, ..., TN tN);</a:t>
            </a:r>
          </a:p>
          <a:p>
            <a:pPr lvl="1">
              <a:lnSpc>
                <a:spcPct val="120000"/>
              </a:lnSpc>
              <a:defRPr/>
            </a:pPr>
            <a:r>
              <a:rPr lang="en-US" altLang="zh-CN" dirty="0" err="1"/>
              <a:t>fn</a:t>
            </a:r>
            <a:r>
              <a:rPr lang="zh-CN" altLang="en-US" dirty="0"/>
              <a:t>为一个带</a:t>
            </a:r>
            <a:r>
              <a:rPr lang="en-US" altLang="zh-CN" dirty="0"/>
              <a:t>n</a:t>
            </a:r>
            <a:r>
              <a:rPr lang="zh-CN" altLang="en-US" dirty="0"/>
              <a:t>个参数的函数（或函数对象）；</a:t>
            </a:r>
            <a:endParaRPr lang="en-US" altLang="zh-CN" dirty="0"/>
          </a:p>
          <a:p>
            <a:pPr lvl="1">
              <a:lnSpc>
                <a:spcPct val="120000"/>
              </a:lnSpc>
              <a:defRPr/>
            </a:pPr>
            <a:r>
              <a:rPr lang="en-US" altLang="zh-CN" dirty="0"/>
              <a:t>t1</a:t>
            </a:r>
            <a:r>
              <a:rPr lang="zh-CN" altLang="en-US" dirty="0"/>
              <a:t>～</a:t>
            </a:r>
            <a:r>
              <a:rPr lang="en-US" altLang="zh-CN" dirty="0" err="1"/>
              <a:t>tn</a:t>
            </a:r>
            <a:r>
              <a:rPr lang="zh-CN" altLang="en-US" dirty="0"/>
              <a:t>是为函数</a:t>
            </a:r>
            <a:r>
              <a:rPr lang="en-US" altLang="zh-CN" dirty="0" err="1"/>
              <a:t>fn</a:t>
            </a:r>
            <a:r>
              <a:rPr lang="zh-CN" altLang="en-US" dirty="0"/>
              <a:t>指定的参数值，其中的</a:t>
            </a:r>
            <a:r>
              <a:rPr lang="en-US" altLang="zh-CN" dirty="0" err="1"/>
              <a:t>ti</a:t>
            </a:r>
            <a:r>
              <a:rPr lang="zh-CN" altLang="en-US" dirty="0"/>
              <a:t>可以是绑定的固定值，也可以是未绑定的值。</a:t>
            </a:r>
            <a:endParaRPr lang="en-US" altLang="zh-CN" dirty="0"/>
          </a:p>
          <a:p>
            <a:pPr lvl="2">
              <a:lnSpc>
                <a:spcPct val="120000"/>
              </a:lnSpc>
              <a:defRPr/>
            </a:pPr>
            <a:r>
              <a:rPr lang="zh-CN" altLang="en-US" dirty="0"/>
              <a:t>未绑定的值用下划线加上一个数字（如：</a:t>
            </a:r>
            <a:r>
              <a:rPr lang="en-US" altLang="zh-CN" dirty="0"/>
              <a:t>_1</a:t>
            </a:r>
            <a:r>
              <a:rPr lang="zh-CN" altLang="en-US" dirty="0"/>
              <a:t>、</a:t>
            </a:r>
            <a:r>
              <a:rPr lang="en-US" altLang="zh-CN" dirty="0"/>
              <a:t>_2</a:t>
            </a:r>
            <a:r>
              <a:rPr lang="zh-CN" altLang="en-US" dirty="0"/>
              <a:t>、</a:t>
            </a:r>
            <a:r>
              <a:rPr lang="en-US" altLang="zh-CN" dirty="0"/>
              <a:t>...</a:t>
            </a:r>
            <a:r>
              <a:rPr lang="zh-CN" altLang="en-US" dirty="0"/>
              <a:t>等，在名空间</a:t>
            </a:r>
            <a:r>
              <a:rPr lang="en-US" altLang="zh-CN" dirty="0" err="1"/>
              <a:t>std</a:t>
            </a:r>
            <a:r>
              <a:rPr lang="en-US" altLang="zh-CN" dirty="0"/>
              <a:t>::placeholders</a:t>
            </a:r>
            <a:r>
              <a:rPr lang="zh-CN" altLang="en-US" dirty="0"/>
              <a:t>中定义）这样的特殊名称来表示，其中的数字表示未绑定值的参数在新函数参数表中的位置；</a:t>
            </a:r>
            <a:endParaRPr lang="en-US" altLang="zh-CN" dirty="0"/>
          </a:p>
          <a:p>
            <a:pPr lvl="1">
              <a:lnSpc>
                <a:spcPct val="120000"/>
              </a:lnSpc>
              <a:defRPr/>
            </a:pPr>
            <a:r>
              <a:rPr lang="en-US" altLang="zh-CN" dirty="0"/>
              <a:t>bind</a:t>
            </a:r>
            <a:r>
              <a:rPr lang="zh-CN" altLang="en-US" dirty="0"/>
              <a:t>返回由所有未绑定值的参数所构成的新函数。</a:t>
            </a:r>
            <a:endParaRPr lang="en-US" altLang="zh-CN" dirty="0"/>
          </a:p>
          <a:p>
            <a:pPr>
              <a:defRPr/>
            </a:pPr>
            <a:endParaRPr lang="zh-CN" altLang="en-US" dirty="0"/>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11D008-897D-9C9F-ECDA-070CEEA671CF}"/>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4372B05F-D471-9335-65BC-7551ADC0314A}"/>
              </a:ext>
            </a:extLst>
          </p:cNvPr>
          <p:cNvSpPr>
            <a:spLocks noGrp="1"/>
          </p:cNvSpPr>
          <p:nvPr>
            <p:ph idx="1"/>
          </p:nvPr>
        </p:nvSpPr>
        <p:spPr>
          <a:xfrm>
            <a:off x="395288" y="1600200"/>
            <a:ext cx="8424862" cy="3268663"/>
          </a:xfrm>
        </p:spPr>
        <p:txBody>
          <a:bodyPr>
            <a:normAutofit fontScale="85000" lnSpcReduction="20000"/>
          </a:bodyPr>
          <a:lstStyle/>
          <a:p>
            <a:pPr>
              <a:lnSpc>
                <a:spcPct val="120000"/>
              </a:lnSpc>
              <a:defRPr/>
            </a:pPr>
            <a:r>
              <a:rPr lang="zh-CN" altLang="en-US" sz="3600" dirty="0"/>
              <a:t>例如，下面是基于</a:t>
            </a:r>
            <a:r>
              <a:rPr lang="en-US" altLang="zh-CN" sz="3600" dirty="0"/>
              <a:t>bind</a:t>
            </a:r>
            <a:r>
              <a:rPr lang="zh-CN" altLang="en-US" sz="3600" dirty="0"/>
              <a:t>实现的</a:t>
            </a:r>
            <a:r>
              <a:rPr lang="en-US" altLang="zh-CN" sz="3600" dirty="0"/>
              <a:t>print10</a:t>
            </a:r>
            <a:r>
              <a:rPr lang="zh-CN" altLang="en-US" sz="3600" dirty="0"/>
              <a:t>：</a:t>
            </a:r>
            <a:endParaRPr lang="en-US" altLang="zh-CN" sz="3600" dirty="0"/>
          </a:p>
          <a:p>
            <a:pPr marL="457200" lvl="1" indent="0">
              <a:lnSpc>
                <a:spcPct val="120000"/>
              </a:lnSpc>
              <a:buFontTx/>
              <a:buNone/>
              <a:defRPr/>
            </a:pPr>
            <a:r>
              <a:rPr lang="en-US" altLang="zh-CN" dirty="0"/>
              <a:t>#include &lt;functional&gt;</a:t>
            </a:r>
          </a:p>
          <a:p>
            <a:pPr marL="457200" lvl="1" indent="0">
              <a:lnSpc>
                <a:spcPct val="120000"/>
              </a:lnSpc>
              <a:buFontTx/>
              <a:buNone/>
              <a:defRPr/>
            </a:pPr>
            <a:r>
              <a:rPr lang="en-US" altLang="zh-CN" dirty="0"/>
              <a:t>using namespace </a:t>
            </a:r>
            <a:r>
              <a:rPr lang="en-US" altLang="zh-CN" dirty="0" err="1"/>
              <a:t>std</a:t>
            </a:r>
            <a:r>
              <a:rPr lang="en-US" altLang="zh-CN" dirty="0"/>
              <a:t>;</a:t>
            </a:r>
          </a:p>
          <a:p>
            <a:pPr marL="457200" lvl="1" indent="0">
              <a:lnSpc>
                <a:spcPct val="120000"/>
              </a:lnSpc>
              <a:buFontTx/>
              <a:buNone/>
              <a:defRPr/>
            </a:pPr>
            <a:r>
              <a:rPr lang="en-US" altLang="zh-CN" dirty="0"/>
              <a:t>using namespace </a:t>
            </a:r>
            <a:r>
              <a:rPr lang="en-US" altLang="zh-CN" dirty="0" err="1"/>
              <a:t>std</a:t>
            </a:r>
            <a:r>
              <a:rPr lang="en-US" altLang="zh-CN" dirty="0"/>
              <a:t>::placeholders;</a:t>
            </a:r>
          </a:p>
          <a:p>
            <a:pPr marL="457200" lvl="1" indent="0">
              <a:lnSpc>
                <a:spcPct val="120000"/>
              </a:lnSpc>
              <a:buFontTx/>
              <a:buNone/>
              <a:defRPr/>
            </a:pPr>
            <a:r>
              <a:rPr lang="en-US" altLang="zh-CN" dirty="0"/>
              <a:t>void print(</a:t>
            </a:r>
            <a:r>
              <a:rPr lang="en-US" altLang="zh-CN" dirty="0" err="1"/>
              <a:t>int</a:t>
            </a:r>
            <a:r>
              <a:rPr lang="en-US" altLang="zh-CN" dirty="0"/>
              <a:t> </a:t>
            </a:r>
            <a:r>
              <a:rPr lang="en-US" altLang="zh-CN" dirty="0" err="1"/>
              <a:t>n,int</a:t>
            </a:r>
            <a:r>
              <a:rPr lang="en-US" altLang="zh-CN" dirty="0"/>
              <a:t> base);</a:t>
            </a:r>
          </a:p>
          <a:p>
            <a:pPr marL="457200" lvl="1" indent="0">
              <a:lnSpc>
                <a:spcPct val="120000"/>
              </a:lnSpc>
              <a:buFontTx/>
              <a:buNone/>
              <a:defRPr/>
            </a:pPr>
            <a:r>
              <a:rPr lang="en-US" altLang="zh-CN" dirty="0"/>
              <a:t>function&lt;void(</a:t>
            </a:r>
            <a:r>
              <a:rPr lang="en-US" altLang="zh-CN" dirty="0" err="1"/>
              <a:t>int</a:t>
            </a:r>
            <a:r>
              <a:rPr lang="en-US" altLang="zh-CN" dirty="0"/>
              <a:t>)&gt; print10=</a:t>
            </a:r>
            <a:r>
              <a:rPr lang="en-US" altLang="zh-CN" dirty="0">
                <a:solidFill>
                  <a:srgbClr val="FFC000"/>
                </a:solidFill>
              </a:rPr>
              <a:t>bind</a:t>
            </a:r>
            <a:r>
              <a:rPr lang="en-US" altLang="zh-CN" dirty="0"/>
              <a:t>(print,_1,10);</a:t>
            </a:r>
          </a:p>
          <a:p>
            <a:pPr marL="457200" lvl="1" indent="0">
              <a:lnSpc>
                <a:spcPct val="120000"/>
              </a:lnSpc>
              <a:buFontTx/>
              <a:buNone/>
              <a:defRPr/>
            </a:pPr>
            <a:r>
              <a:rPr lang="en-US" altLang="zh-CN" dirty="0"/>
              <a:t>print10(23); //print(23,10);</a:t>
            </a:r>
          </a:p>
          <a:p>
            <a:pPr>
              <a:defRPr/>
            </a:pPr>
            <a:endParaRPr lang="zh-CN" altLang="en-US"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A73B641-0A95-C2A3-05D8-FD830E49F497}"/>
              </a:ext>
            </a:extLst>
          </p:cNvPr>
          <p:cNvSpPr>
            <a:spLocks noGrp="1"/>
          </p:cNvSpPr>
          <p:nvPr>
            <p:ph idx="1"/>
          </p:nvPr>
        </p:nvSpPr>
        <p:spPr>
          <a:xfrm>
            <a:off x="323850" y="836613"/>
            <a:ext cx="8424863" cy="5329237"/>
          </a:xfrm>
        </p:spPr>
        <p:txBody>
          <a:bodyPr>
            <a:normAutofit fontScale="70000" lnSpcReduction="20000"/>
          </a:bodyPr>
          <a:lstStyle/>
          <a:p>
            <a:pPr eaLnBrk="1" hangingPunct="1">
              <a:lnSpc>
                <a:spcPct val="120000"/>
              </a:lnSpc>
              <a:defRPr/>
            </a:pPr>
            <a:r>
              <a:rPr lang="zh-CN" altLang="en-US" sz="4000" dirty="0"/>
              <a:t>再例如，下面的</a:t>
            </a:r>
            <a:r>
              <a:rPr lang="en-US" altLang="zh-CN" sz="4000" dirty="0"/>
              <a:t>f2</a:t>
            </a:r>
            <a:r>
              <a:rPr lang="zh-CN" altLang="en-US" sz="4000" dirty="0"/>
              <a:t>把</a:t>
            </a:r>
            <a:r>
              <a:rPr lang="en-US" altLang="zh-CN" sz="4000" dirty="0"/>
              <a:t>product</a:t>
            </a:r>
            <a:r>
              <a:rPr lang="zh-CN" altLang="en-US" sz="4000" dirty="0"/>
              <a:t>的第二个参数</a:t>
            </a:r>
            <a:r>
              <a:rPr lang="en-US" altLang="zh-CN" sz="4000" dirty="0"/>
              <a:t>y</a:t>
            </a:r>
            <a:r>
              <a:rPr lang="zh-CN" altLang="en-US" sz="4000" dirty="0"/>
              <a:t>绑定为</a:t>
            </a:r>
            <a:r>
              <a:rPr lang="en-US" altLang="zh-CN" sz="4000" dirty="0"/>
              <a:t>4</a:t>
            </a:r>
            <a:r>
              <a:rPr lang="zh-CN" altLang="en-US" sz="4000" dirty="0"/>
              <a:t>，第一个参数为</a:t>
            </a:r>
            <a:r>
              <a:rPr lang="en-US" altLang="zh-CN" sz="4000" dirty="0"/>
              <a:t>x</a:t>
            </a:r>
            <a:r>
              <a:rPr lang="zh-CN" altLang="en-US" sz="4000" dirty="0"/>
              <a:t>，第二个参数为</a:t>
            </a:r>
            <a:r>
              <a:rPr lang="en-US" altLang="zh-CN" sz="4000" dirty="0"/>
              <a:t>z</a:t>
            </a:r>
            <a:r>
              <a:rPr lang="zh-CN" altLang="en-US" sz="4000" dirty="0"/>
              <a:t>：</a:t>
            </a:r>
            <a:endParaRPr lang="en-US" altLang="zh-CN" sz="4000" dirty="0"/>
          </a:p>
          <a:p>
            <a:pPr marL="400050" lvl="1" indent="0">
              <a:lnSpc>
                <a:spcPct val="120000"/>
              </a:lnSpc>
              <a:buFont typeface="Wingdings" panose="05000000000000000000" pitchFamily="2" charset="2"/>
              <a:buNone/>
              <a:defRPr/>
            </a:pPr>
            <a:r>
              <a:rPr lang="en-US" altLang="zh-CN" dirty="0"/>
              <a:t>#include &lt;functional&gt;</a:t>
            </a:r>
          </a:p>
          <a:p>
            <a:pPr marL="400050" lvl="1" indent="0">
              <a:lnSpc>
                <a:spcPct val="120000"/>
              </a:lnSpc>
              <a:buFont typeface="Wingdings" panose="05000000000000000000" pitchFamily="2" charset="2"/>
              <a:buNone/>
              <a:defRPr/>
            </a:pPr>
            <a:r>
              <a:rPr lang="en-US" altLang="zh-CN" dirty="0"/>
              <a:t>using namespace </a:t>
            </a:r>
            <a:r>
              <a:rPr lang="en-US" altLang="zh-CN" dirty="0" err="1"/>
              <a:t>std</a:t>
            </a:r>
            <a:r>
              <a:rPr lang="en-US" altLang="zh-CN" dirty="0"/>
              <a:t>; </a:t>
            </a:r>
          </a:p>
          <a:p>
            <a:pPr marL="400050" lvl="1" indent="0">
              <a:lnSpc>
                <a:spcPct val="120000"/>
              </a:lnSpc>
              <a:buFont typeface="Wingdings" panose="05000000000000000000" pitchFamily="2" charset="2"/>
              <a:buNone/>
              <a:defRPr/>
            </a:pPr>
            <a:r>
              <a:rPr lang="en-US" altLang="zh-CN" dirty="0"/>
              <a:t>using namespace </a:t>
            </a:r>
            <a:r>
              <a:rPr lang="en-US" altLang="zh-CN" dirty="0" err="1"/>
              <a:t>std</a:t>
            </a:r>
            <a:r>
              <a:rPr lang="en-US" altLang="zh-CN" dirty="0"/>
              <a:t>::placeholders; </a:t>
            </a:r>
          </a:p>
          <a:p>
            <a:pPr marL="400050" lvl="1" indent="0">
              <a:lnSpc>
                <a:spcPct val="120000"/>
              </a:lnSpc>
              <a:buFont typeface="Wingdings" panose="05000000000000000000" pitchFamily="2" charset="2"/>
              <a:buNone/>
              <a:defRPr/>
            </a:pPr>
            <a:r>
              <a:rPr lang="en-US" altLang="zh-CN" dirty="0"/>
              <a:t>                              //_1</a:t>
            </a:r>
            <a:r>
              <a:rPr lang="zh-CN" altLang="en-US" dirty="0"/>
              <a:t>、</a:t>
            </a:r>
            <a:r>
              <a:rPr lang="en-US" altLang="zh-CN" dirty="0"/>
              <a:t>_2</a:t>
            </a:r>
            <a:r>
              <a:rPr lang="zh-CN" altLang="en-US" dirty="0"/>
              <a:t>、</a:t>
            </a:r>
            <a:r>
              <a:rPr lang="en-US" altLang="zh-CN" dirty="0"/>
              <a:t>...</a:t>
            </a:r>
            <a:r>
              <a:rPr lang="zh-CN" altLang="en-US" dirty="0"/>
              <a:t>的定义所在的名空间</a:t>
            </a:r>
          </a:p>
          <a:p>
            <a:pPr marL="400050" lvl="1" indent="0">
              <a:lnSpc>
                <a:spcPct val="120000"/>
              </a:lnSpc>
              <a:buFont typeface="Wingdings" panose="05000000000000000000" pitchFamily="2" charset="2"/>
              <a:buNone/>
              <a:defRPr/>
            </a:pPr>
            <a:r>
              <a:rPr lang="en-US" altLang="zh-CN" dirty="0"/>
              <a:t>void product(double x, double y, double z)</a:t>
            </a:r>
          </a:p>
          <a:p>
            <a:pPr marL="400050" lvl="1" indent="0">
              <a:lnSpc>
                <a:spcPct val="120000"/>
              </a:lnSpc>
              <a:buFont typeface="Wingdings" panose="05000000000000000000" pitchFamily="2" charset="2"/>
              <a:buNone/>
              <a:defRPr/>
            </a:pPr>
            <a:r>
              <a:rPr lang="en-US" altLang="zh-CN" dirty="0"/>
              <a:t>{  </a:t>
            </a:r>
            <a:r>
              <a:rPr lang="en-US" altLang="zh-CN" dirty="0" err="1"/>
              <a:t>cout</a:t>
            </a:r>
            <a:r>
              <a:rPr lang="en-US" altLang="zh-CN" dirty="0"/>
              <a:t> &lt;&lt; x &lt;&lt; "*" &lt;&lt; y &lt;&lt; "*" &lt;&lt; z &lt;&lt; </a:t>
            </a:r>
            <a:r>
              <a:rPr lang="en-US" altLang="zh-CN" dirty="0" err="1"/>
              <a:t>endl</a:t>
            </a:r>
            <a:r>
              <a:rPr lang="en-US" altLang="zh-CN" dirty="0"/>
              <a:t>;</a:t>
            </a:r>
          </a:p>
          <a:p>
            <a:pPr marL="400050" lvl="1" indent="0">
              <a:lnSpc>
                <a:spcPct val="120000"/>
              </a:lnSpc>
              <a:buFont typeface="Wingdings" panose="05000000000000000000" pitchFamily="2" charset="2"/>
              <a:buNone/>
              <a:defRPr/>
            </a:pPr>
            <a:r>
              <a:rPr lang="en-US" altLang="zh-CN" dirty="0"/>
              <a:t>}</a:t>
            </a:r>
          </a:p>
          <a:p>
            <a:pPr marL="400050" lvl="1" indent="0">
              <a:lnSpc>
                <a:spcPct val="120000"/>
              </a:lnSpc>
              <a:buFont typeface="Wingdings" panose="05000000000000000000" pitchFamily="2" charset="2"/>
              <a:buNone/>
              <a:defRPr/>
            </a:pPr>
            <a:r>
              <a:rPr lang="en-US" altLang="zh-CN" dirty="0"/>
              <a:t>......</a:t>
            </a:r>
          </a:p>
          <a:p>
            <a:pPr marL="400050" lvl="1" indent="0">
              <a:lnSpc>
                <a:spcPct val="120000"/>
              </a:lnSpc>
              <a:buFont typeface="Wingdings" panose="05000000000000000000" pitchFamily="2" charset="2"/>
              <a:buNone/>
              <a:defRPr/>
            </a:pPr>
            <a:r>
              <a:rPr lang="en-US" altLang="zh-CN" dirty="0"/>
              <a:t>function&lt;void(</a:t>
            </a:r>
            <a:r>
              <a:rPr lang="en-US" altLang="zh-CN" dirty="0" err="1"/>
              <a:t>double,double</a:t>
            </a:r>
            <a:r>
              <a:rPr lang="en-US" altLang="zh-CN" dirty="0"/>
              <a:t>)&gt; f2=bind(product,</a:t>
            </a:r>
            <a:r>
              <a:rPr lang="en-US" altLang="zh-CN" dirty="0">
                <a:solidFill>
                  <a:srgbClr val="FFC000"/>
                </a:solidFill>
              </a:rPr>
              <a:t>_1</a:t>
            </a:r>
            <a:r>
              <a:rPr lang="en-US" altLang="zh-CN" dirty="0"/>
              <a:t>,4,</a:t>
            </a:r>
            <a:r>
              <a:rPr lang="en-US" altLang="zh-CN" dirty="0">
                <a:solidFill>
                  <a:srgbClr val="FF0000"/>
                </a:solidFill>
              </a:rPr>
              <a:t>_2</a:t>
            </a:r>
            <a:r>
              <a:rPr lang="en-US" altLang="zh-CN" dirty="0"/>
              <a:t>);</a:t>
            </a:r>
          </a:p>
          <a:p>
            <a:pPr marL="400050" lvl="1" indent="0">
              <a:lnSpc>
                <a:spcPct val="120000"/>
              </a:lnSpc>
              <a:buFont typeface="Wingdings" panose="05000000000000000000" pitchFamily="2" charset="2"/>
              <a:buNone/>
              <a:defRPr/>
            </a:pPr>
            <a:r>
              <a:rPr lang="en-US" altLang="zh-CN" dirty="0"/>
              <a:t>				//bind</a:t>
            </a:r>
            <a:r>
              <a:rPr lang="zh-CN" altLang="en-US" dirty="0"/>
              <a:t>返回一个带两个参数的函数</a:t>
            </a:r>
          </a:p>
          <a:p>
            <a:pPr marL="400050" lvl="1" indent="0">
              <a:lnSpc>
                <a:spcPct val="120000"/>
              </a:lnSpc>
              <a:buFont typeface="Wingdings" panose="05000000000000000000" pitchFamily="2" charset="2"/>
              <a:buNone/>
              <a:defRPr/>
            </a:pPr>
            <a:r>
              <a:rPr lang="en-US" altLang="zh-CN" dirty="0"/>
              <a:t>f2(</a:t>
            </a:r>
            <a:r>
              <a:rPr lang="en-US" altLang="zh-CN" dirty="0">
                <a:solidFill>
                  <a:srgbClr val="FFC000"/>
                </a:solidFill>
              </a:rPr>
              <a:t>3</a:t>
            </a:r>
            <a:r>
              <a:rPr lang="en-US" altLang="zh-CN" dirty="0"/>
              <a:t>,</a:t>
            </a:r>
            <a:r>
              <a:rPr lang="en-US" altLang="zh-CN" dirty="0">
                <a:solidFill>
                  <a:srgbClr val="FF0000"/>
                </a:solidFill>
              </a:rPr>
              <a:t>5</a:t>
            </a:r>
            <a:r>
              <a:rPr lang="en-US" altLang="zh-CN" dirty="0"/>
              <a:t>); //</a:t>
            </a:r>
            <a:r>
              <a:rPr lang="zh-CN" altLang="en-US" dirty="0"/>
              <a:t>把</a:t>
            </a:r>
            <a:r>
              <a:rPr lang="en-US" altLang="zh-CN" dirty="0"/>
              <a:t>bind</a:t>
            </a:r>
            <a:r>
              <a:rPr lang="zh-CN" altLang="en-US" dirty="0"/>
              <a:t>返回的函数作用于</a:t>
            </a:r>
            <a:r>
              <a:rPr lang="en-US" altLang="zh-CN" dirty="0"/>
              <a:t>(3,5)</a:t>
            </a:r>
            <a:r>
              <a:rPr lang="zh-CN" altLang="en-US" dirty="0"/>
              <a:t>，输出：</a:t>
            </a:r>
            <a:r>
              <a:rPr lang="en-US" altLang="zh-CN" dirty="0">
                <a:solidFill>
                  <a:srgbClr val="FFC000"/>
                </a:solidFill>
              </a:rPr>
              <a:t>3</a:t>
            </a:r>
            <a:r>
              <a:rPr lang="en-US" altLang="zh-CN" dirty="0"/>
              <a:t>*4*</a:t>
            </a:r>
            <a:r>
              <a:rPr lang="en-US" altLang="zh-CN" dirty="0">
                <a:solidFill>
                  <a:srgbClr val="FF0000"/>
                </a:solidFill>
              </a:rPr>
              <a:t>5</a:t>
            </a:r>
          </a:p>
          <a:p>
            <a:pPr marL="0" indent="0">
              <a:lnSpc>
                <a:spcPct val="120000"/>
              </a:lnSpc>
              <a:buFont typeface="Wingdings" panose="05000000000000000000" pitchFamily="2" charset="2"/>
              <a:buNone/>
              <a:defRPr/>
            </a:pPr>
            <a:endParaRPr lang="en-US" altLang="zh-CN" dirty="0"/>
          </a:p>
          <a:p>
            <a:pPr>
              <a:defRPr/>
            </a:pPr>
            <a:endParaRPr lang="zh-CN" altLang="en-US"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0A340FF-1338-F10A-6C61-34F4C877FC86}"/>
              </a:ext>
            </a:extLst>
          </p:cNvPr>
          <p:cNvSpPr>
            <a:spLocks noGrp="1"/>
          </p:cNvSpPr>
          <p:nvPr>
            <p:ph idx="1"/>
          </p:nvPr>
        </p:nvSpPr>
        <p:spPr>
          <a:xfrm>
            <a:off x="323850" y="836613"/>
            <a:ext cx="8424863" cy="5329237"/>
          </a:xfrm>
        </p:spPr>
        <p:txBody>
          <a:bodyPr>
            <a:normAutofit fontScale="70000" lnSpcReduction="20000"/>
          </a:bodyPr>
          <a:lstStyle/>
          <a:p>
            <a:pPr eaLnBrk="1" hangingPunct="1">
              <a:lnSpc>
                <a:spcPct val="120000"/>
              </a:lnSpc>
              <a:defRPr/>
            </a:pPr>
            <a:r>
              <a:rPr lang="zh-CN" altLang="en-US" sz="4000" dirty="0"/>
              <a:t>再例如，下面的</a:t>
            </a:r>
            <a:r>
              <a:rPr lang="en-US" altLang="zh-CN" sz="4000" dirty="0"/>
              <a:t>f2</a:t>
            </a:r>
            <a:r>
              <a:rPr lang="zh-CN" altLang="en-US" sz="4000" dirty="0"/>
              <a:t>把</a:t>
            </a:r>
            <a:r>
              <a:rPr lang="en-US" altLang="zh-CN" sz="4000" dirty="0"/>
              <a:t>product</a:t>
            </a:r>
            <a:r>
              <a:rPr lang="zh-CN" altLang="en-US" sz="4000" dirty="0"/>
              <a:t>的第二个参数</a:t>
            </a:r>
            <a:r>
              <a:rPr lang="en-US" altLang="zh-CN" sz="4000" dirty="0"/>
              <a:t>y</a:t>
            </a:r>
            <a:r>
              <a:rPr lang="zh-CN" altLang="en-US" sz="4000" dirty="0"/>
              <a:t>绑定为</a:t>
            </a:r>
            <a:r>
              <a:rPr lang="en-US" altLang="zh-CN" sz="4000" dirty="0"/>
              <a:t>4</a:t>
            </a:r>
            <a:r>
              <a:rPr lang="zh-CN" altLang="en-US" sz="4000" dirty="0"/>
              <a:t>，第一个参数为</a:t>
            </a:r>
            <a:r>
              <a:rPr lang="en-US" altLang="zh-CN" sz="4000" dirty="0"/>
              <a:t>z</a:t>
            </a:r>
            <a:r>
              <a:rPr lang="zh-CN" altLang="en-US" sz="4000" dirty="0"/>
              <a:t>，第二个参数为</a:t>
            </a:r>
            <a:r>
              <a:rPr lang="en-US" altLang="zh-CN" sz="4000" dirty="0"/>
              <a:t>x</a:t>
            </a:r>
            <a:r>
              <a:rPr lang="zh-CN" altLang="en-US" sz="4000" dirty="0"/>
              <a:t>：</a:t>
            </a:r>
            <a:endParaRPr lang="en-US" altLang="zh-CN" sz="4000" dirty="0"/>
          </a:p>
          <a:p>
            <a:pPr marL="400050" lvl="1" indent="0">
              <a:lnSpc>
                <a:spcPct val="120000"/>
              </a:lnSpc>
              <a:buFont typeface="Wingdings" panose="05000000000000000000" pitchFamily="2" charset="2"/>
              <a:buNone/>
              <a:defRPr/>
            </a:pPr>
            <a:r>
              <a:rPr lang="en-US" altLang="zh-CN" dirty="0"/>
              <a:t>#include &lt;functional&gt;</a:t>
            </a:r>
          </a:p>
          <a:p>
            <a:pPr marL="400050" lvl="1" indent="0">
              <a:lnSpc>
                <a:spcPct val="120000"/>
              </a:lnSpc>
              <a:buFont typeface="Wingdings" panose="05000000000000000000" pitchFamily="2" charset="2"/>
              <a:buNone/>
              <a:defRPr/>
            </a:pPr>
            <a:r>
              <a:rPr lang="en-US" altLang="zh-CN" dirty="0"/>
              <a:t>using namespace </a:t>
            </a:r>
            <a:r>
              <a:rPr lang="en-US" altLang="zh-CN" dirty="0" err="1"/>
              <a:t>std</a:t>
            </a:r>
            <a:r>
              <a:rPr lang="en-US" altLang="zh-CN" dirty="0"/>
              <a:t>; </a:t>
            </a:r>
          </a:p>
          <a:p>
            <a:pPr marL="400050" lvl="1" indent="0">
              <a:lnSpc>
                <a:spcPct val="120000"/>
              </a:lnSpc>
              <a:buFont typeface="Wingdings" panose="05000000000000000000" pitchFamily="2" charset="2"/>
              <a:buNone/>
              <a:defRPr/>
            </a:pPr>
            <a:r>
              <a:rPr lang="en-US" altLang="zh-CN" dirty="0"/>
              <a:t>using namespace </a:t>
            </a:r>
            <a:r>
              <a:rPr lang="en-US" altLang="zh-CN" dirty="0" err="1"/>
              <a:t>std</a:t>
            </a:r>
            <a:r>
              <a:rPr lang="en-US" altLang="zh-CN" dirty="0"/>
              <a:t>::placeholders; </a:t>
            </a:r>
          </a:p>
          <a:p>
            <a:pPr marL="400050" lvl="1" indent="0">
              <a:lnSpc>
                <a:spcPct val="120000"/>
              </a:lnSpc>
              <a:buFont typeface="Wingdings" panose="05000000000000000000" pitchFamily="2" charset="2"/>
              <a:buNone/>
              <a:defRPr/>
            </a:pPr>
            <a:r>
              <a:rPr lang="en-US" altLang="zh-CN" dirty="0"/>
              <a:t>                              //_1</a:t>
            </a:r>
            <a:r>
              <a:rPr lang="zh-CN" altLang="en-US" dirty="0"/>
              <a:t>、</a:t>
            </a:r>
            <a:r>
              <a:rPr lang="en-US" altLang="zh-CN" dirty="0"/>
              <a:t>_2</a:t>
            </a:r>
            <a:r>
              <a:rPr lang="zh-CN" altLang="en-US" dirty="0"/>
              <a:t>、</a:t>
            </a:r>
            <a:r>
              <a:rPr lang="en-US" altLang="zh-CN" dirty="0"/>
              <a:t>...</a:t>
            </a:r>
            <a:r>
              <a:rPr lang="zh-CN" altLang="en-US" dirty="0"/>
              <a:t>的定义所在的名空间</a:t>
            </a:r>
          </a:p>
          <a:p>
            <a:pPr marL="400050" lvl="1" indent="0">
              <a:lnSpc>
                <a:spcPct val="120000"/>
              </a:lnSpc>
              <a:buFont typeface="Wingdings" panose="05000000000000000000" pitchFamily="2" charset="2"/>
              <a:buNone/>
              <a:defRPr/>
            </a:pPr>
            <a:r>
              <a:rPr lang="en-US" altLang="zh-CN" dirty="0"/>
              <a:t>void product(double x, double y, double z)</a:t>
            </a:r>
          </a:p>
          <a:p>
            <a:pPr marL="400050" lvl="1" indent="0">
              <a:lnSpc>
                <a:spcPct val="120000"/>
              </a:lnSpc>
              <a:buFont typeface="Wingdings" panose="05000000000000000000" pitchFamily="2" charset="2"/>
              <a:buNone/>
              <a:defRPr/>
            </a:pPr>
            <a:r>
              <a:rPr lang="en-US" altLang="zh-CN" dirty="0"/>
              <a:t>{  </a:t>
            </a:r>
            <a:r>
              <a:rPr lang="en-US" altLang="zh-CN" dirty="0" err="1"/>
              <a:t>cout</a:t>
            </a:r>
            <a:r>
              <a:rPr lang="en-US" altLang="zh-CN" dirty="0"/>
              <a:t> &lt;&lt; x &lt;&lt; "*" &lt;&lt; y &lt;&lt; "*" &lt;&lt; z &lt;&lt; </a:t>
            </a:r>
            <a:r>
              <a:rPr lang="en-US" altLang="zh-CN" dirty="0" err="1"/>
              <a:t>endl</a:t>
            </a:r>
            <a:r>
              <a:rPr lang="en-US" altLang="zh-CN" dirty="0"/>
              <a:t>;</a:t>
            </a:r>
          </a:p>
          <a:p>
            <a:pPr marL="400050" lvl="1" indent="0">
              <a:lnSpc>
                <a:spcPct val="120000"/>
              </a:lnSpc>
              <a:buFont typeface="Wingdings" panose="05000000000000000000" pitchFamily="2" charset="2"/>
              <a:buNone/>
              <a:defRPr/>
            </a:pPr>
            <a:r>
              <a:rPr lang="en-US" altLang="zh-CN" dirty="0"/>
              <a:t>}</a:t>
            </a:r>
          </a:p>
          <a:p>
            <a:pPr marL="400050" lvl="1" indent="0">
              <a:lnSpc>
                <a:spcPct val="120000"/>
              </a:lnSpc>
              <a:buFont typeface="Wingdings" panose="05000000000000000000" pitchFamily="2" charset="2"/>
              <a:buNone/>
              <a:defRPr/>
            </a:pPr>
            <a:r>
              <a:rPr lang="en-US" altLang="zh-CN" dirty="0"/>
              <a:t>......</a:t>
            </a:r>
          </a:p>
          <a:p>
            <a:pPr marL="400050" lvl="1" indent="0">
              <a:lnSpc>
                <a:spcPct val="120000"/>
              </a:lnSpc>
              <a:buFont typeface="Wingdings" panose="05000000000000000000" pitchFamily="2" charset="2"/>
              <a:buNone/>
              <a:defRPr/>
            </a:pPr>
            <a:r>
              <a:rPr lang="en-US" altLang="zh-CN" dirty="0"/>
              <a:t>function&lt;void(</a:t>
            </a:r>
            <a:r>
              <a:rPr lang="en-US" altLang="zh-CN" dirty="0" err="1"/>
              <a:t>double,double</a:t>
            </a:r>
            <a:r>
              <a:rPr lang="en-US" altLang="zh-CN" dirty="0"/>
              <a:t>)&gt; f2=bind(product,</a:t>
            </a:r>
            <a:r>
              <a:rPr lang="en-US" altLang="zh-CN" dirty="0">
                <a:solidFill>
                  <a:srgbClr val="FFC000"/>
                </a:solidFill>
              </a:rPr>
              <a:t>_2</a:t>
            </a:r>
            <a:r>
              <a:rPr lang="en-US" altLang="zh-CN" dirty="0"/>
              <a:t>,4,</a:t>
            </a:r>
            <a:r>
              <a:rPr lang="en-US" altLang="zh-CN" dirty="0">
                <a:solidFill>
                  <a:srgbClr val="FF0000"/>
                </a:solidFill>
              </a:rPr>
              <a:t>_1</a:t>
            </a:r>
            <a:r>
              <a:rPr lang="en-US" altLang="zh-CN" dirty="0"/>
              <a:t>);</a:t>
            </a:r>
          </a:p>
          <a:p>
            <a:pPr marL="400050" lvl="1" indent="0">
              <a:lnSpc>
                <a:spcPct val="120000"/>
              </a:lnSpc>
              <a:buFont typeface="Wingdings" panose="05000000000000000000" pitchFamily="2" charset="2"/>
              <a:buNone/>
              <a:defRPr/>
            </a:pPr>
            <a:r>
              <a:rPr lang="en-US" altLang="zh-CN" dirty="0"/>
              <a:t>				//bind</a:t>
            </a:r>
            <a:r>
              <a:rPr lang="zh-CN" altLang="en-US" dirty="0"/>
              <a:t>返回一个带两个参数的函数</a:t>
            </a:r>
          </a:p>
          <a:p>
            <a:pPr marL="400050" lvl="1" indent="0">
              <a:lnSpc>
                <a:spcPct val="120000"/>
              </a:lnSpc>
              <a:buFont typeface="Wingdings" panose="05000000000000000000" pitchFamily="2" charset="2"/>
              <a:buNone/>
              <a:defRPr/>
            </a:pPr>
            <a:r>
              <a:rPr lang="en-US" altLang="zh-CN" dirty="0"/>
              <a:t>f2(</a:t>
            </a:r>
            <a:r>
              <a:rPr lang="en-US" altLang="zh-CN" dirty="0">
                <a:solidFill>
                  <a:srgbClr val="FF0000"/>
                </a:solidFill>
              </a:rPr>
              <a:t>3</a:t>
            </a:r>
            <a:r>
              <a:rPr lang="en-US" altLang="zh-CN" dirty="0"/>
              <a:t>,</a:t>
            </a:r>
            <a:r>
              <a:rPr lang="en-US" altLang="zh-CN" dirty="0">
                <a:solidFill>
                  <a:srgbClr val="FFC000"/>
                </a:solidFill>
              </a:rPr>
              <a:t>5</a:t>
            </a:r>
            <a:r>
              <a:rPr lang="en-US" altLang="zh-CN" dirty="0"/>
              <a:t>); //</a:t>
            </a:r>
            <a:r>
              <a:rPr lang="zh-CN" altLang="en-US" dirty="0"/>
              <a:t>把</a:t>
            </a:r>
            <a:r>
              <a:rPr lang="en-US" altLang="zh-CN" dirty="0"/>
              <a:t>bind</a:t>
            </a:r>
            <a:r>
              <a:rPr lang="zh-CN" altLang="en-US" dirty="0"/>
              <a:t>返回的函数作用于</a:t>
            </a:r>
            <a:r>
              <a:rPr lang="en-US" altLang="zh-CN" dirty="0"/>
              <a:t>(3,5)</a:t>
            </a:r>
            <a:r>
              <a:rPr lang="zh-CN" altLang="en-US" dirty="0"/>
              <a:t>，输出：</a:t>
            </a:r>
            <a:r>
              <a:rPr lang="en-US" altLang="zh-CN" dirty="0">
                <a:solidFill>
                  <a:srgbClr val="FFC000"/>
                </a:solidFill>
              </a:rPr>
              <a:t>5</a:t>
            </a:r>
            <a:r>
              <a:rPr lang="en-US" altLang="zh-CN" dirty="0"/>
              <a:t>*4*</a:t>
            </a:r>
            <a:r>
              <a:rPr lang="en-US" altLang="zh-CN" dirty="0">
                <a:solidFill>
                  <a:srgbClr val="FF0000"/>
                </a:solidFill>
              </a:rPr>
              <a:t>3</a:t>
            </a:r>
          </a:p>
          <a:p>
            <a:pPr marL="0" indent="0">
              <a:lnSpc>
                <a:spcPct val="120000"/>
              </a:lnSpc>
              <a:buFont typeface="Wingdings" panose="05000000000000000000" pitchFamily="2" charset="2"/>
              <a:buNone/>
              <a:defRPr/>
            </a:pPr>
            <a:endParaRPr lang="en-US" altLang="zh-CN" dirty="0"/>
          </a:p>
          <a:p>
            <a:pPr>
              <a:defRPr/>
            </a:pPr>
            <a:endParaRPr lang="zh-CN" altLang="en-US"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0E86343-BB43-1478-6DF7-4ECB8751BA11}"/>
              </a:ext>
            </a:extLst>
          </p:cNvPr>
          <p:cNvSpPr>
            <a:spLocks noGrp="1"/>
          </p:cNvSpPr>
          <p:nvPr>
            <p:ph idx="1"/>
          </p:nvPr>
        </p:nvSpPr>
        <p:spPr>
          <a:xfrm>
            <a:off x="323850" y="1052513"/>
            <a:ext cx="8640763" cy="3529012"/>
          </a:xfrm>
        </p:spPr>
        <p:txBody>
          <a:bodyPr>
            <a:normAutofit fontScale="70000" lnSpcReduction="20000"/>
          </a:bodyPr>
          <a:lstStyle/>
          <a:p>
            <a:pPr>
              <a:lnSpc>
                <a:spcPct val="120000"/>
              </a:lnSpc>
              <a:defRPr/>
            </a:pPr>
            <a:r>
              <a:rPr lang="zh-CN" altLang="en-US" sz="4000" dirty="0"/>
              <a:t>再例如：</a:t>
            </a:r>
            <a:endParaRPr lang="en-US" altLang="zh-CN" sz="4000" dirty="0"/>
          </a:p>
          <a:p>
            <a:pPr marL="400050" lvl="1" indent="0">
              <a:lnSpc>
                <a:spcPct val="120000"/>
              </a:lnSpc>
              <a:buFont typeface="Wingdings" panose="05000000000000000000" pitchFamily="2" charset="2"/>
              <a:buNone/>
              <a:defRPr/>
            </a:pPr>
            <a:r>
              <a:rPr lang="en-US" altLang="zh-CN" dirty="0"/>
              <a:t>#include &lt;functional&gt;</a:t>
            </a:r>
          </a:p>
          <a:p>
            <a:pPr marL="400050" lvl="1" indent="0">
              <a:lnSpc>
                <a:spcPct val="120000"/>
              </a:lnSpc>
              <a:buFont typeface="Wingdings" panose="05000000000000000000" pitchFamily="2" charset="2"/>
              <a:buNone/>
              <a:defRPr/>
            </a:pPr>
            <a:r>
              <a:rPr lang="en-US" altLang="zh-CN" dirty="0"/>
              <a:t>using namespace </a:t>
            </a:r>
            <a:r>
              <a:rPr lang="en-US" altLang="zh-CN" dirty="0" err="1"/>
              <a:t>std</a:t>
            </a:r>
            <a:r>
              <a:rPr lang="en-US" altLang="zh-CN" dirty="0"/>
              <a:t>; </a:t>
            </a:r>
          </a:p>
          <a:p>
            <a:pPr marL="400050" lvl="1" indent="0">
              <a:lnSpc>
                <a:spcPct val="120000"/>
              </a:lnSpc>
              <a:buFont typeface="Wingdings" panose="05000000000000000000" pitchFamily="2" charset="2"/>
              <a:buNone/>
              <a:defRPr/>
            </a:pPr>
            <a:r>
              <a:rPr lang="en-US" altLang="zh-CN" dirty="0"/>
              <a:t>using namespace </a:t>
            </a:r>
            <a:r>
              <a:rPr lang="en-US" altLang="zh-CN" dirty="0" err="1"/>
              <a:t>std</a:t>
            </a:r>
            <a:r>
              <a:rPr lang="en-US" altLang="zh-CN" dirty="0"/>
              <a:t>::placeholders; </a:t>
            </a:r>
          </a:p>
          <a:p>
            <a:pPr marL="400050" lvl="1" indent="0">
              <a:lnSpc>
                <a:spcPct val="120000"/>
              </a:lnSpc>
              <a:buFont typeface="Wingdings" panose="05000000000000000000" pitchFamily="2" charset="2"/>
              <a:buNone/>
              <a:defRPr/>
            </a:pPr>
            <a:r>
              <a:rPr lang="en-US" altLang="zh-CN" dirty="0"/>
              <a:t>bool greater2(double x, double y) { return x &gt; y; }</a:t>
            </a:r>
          </a:p>
          <a:p>
            <a:pPr marL="400050" lvl="1" indent="0">
              <a:lnSpc>
                <a:spcPct val="120000"/>
              </a:lnSpc>
              <a:buFont typeface="Wingdings" panose="05000000000000000000" pitchFamily="2" charset="2"/>
              <a:buNone/>
              <a:defRPr/>
            </a:pPr>
            <a:r>
              <a:rPr lang="en-US" altLang="zh-CN" dirty="0"/>
              <a:t>auto is_greater_than_42=bind(greater2, _1, 42);</a:t>
            </a:r>
          </a:p>
          <a:p>
            <a:pPr marL="400050" lvl="1" indent="0">
              <a:lnSpc>
                <a:spcPct val="120000"/>
              </a:lnSpc>
              <a:buFont typeface="Wingdings" panose="05000000000000000000" pitchFamily="2" charset="2"/>
              <a:buNone/>
              <a:defRPr/>
            </a:pPr>
            <a:r>
              <a:rPr lang="en-US" altLang="zh-CN" dirty="0" err="1"/>
              <a:t>cout</a:t>
            </a:r>
            <a:r>
              <a:rPr lang="en-US" altLang="zh-CN" dirty="0"/>
              <a:t> &lt;&lt; is_greater_than_42(45); //true</a:t>
            </a:r>
          </a:p>
          <a:p>
            <a:pPr marL="400050" lvl="1" indent="0">
              <a:lnSpc>
                <a:spcPct val="120000"/>
              </a:lnSpc>
              <a:buFontTx/>
              <a:buNone/>
              <a:defRPr/>
            </a:pPr>
            <a:r>
              <a:rPr lang="en-US" altLang="zh-CN" dirty="0"/>
              <a:t>auto is_less_than_42=bind(greater2, 42, _1);</a:t>
            </a:r>
          </a:p>
          <a:p>
            <a:pPr marL="400050" lvl="1" indent="0">
              <a:lnSpc>
                <a:spcPct val="120000"/>
              </a:lnSpc>
              <a:buFont typeface="Wingdings" panose="05000000000000000000" pitchFamily="2" charset="2"/>
              <a:buNone/>
              <a:defRPr/>
            </a:pPr>
            <a:r>
              <a:rPr lang="en-US" altLang="zh-CN" dirty="0" err="1"/>
              <a:t>cout</a:t>
            </a:r>
            <a:r>
              <a:rPr lang="en-US" altLang="zh-CN" dirty="0"/>
              <a:t> &lt;&lt; is_less_than_42(45); //false</a:t>
            </a:r>
            <a:endParaRPr lang="zh-CN" altLang="en-US" dirty="0"/>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6678466-C4AD-D5EC-30F5-E8FC17A7F398}"/>
              </a:ext>
            </a:extLst>
          </p:cNvPr>
          <p:cNvSpPr>
            <a:spLocks noGrp="1"/>
          </p:cNvSpPr>
          <p:nvPr>
            <p:ph idx="1"/>
          </p:nvPr>
        </p:nvSpPr>
        <p:spPr>
          <a:xfrm>
            <a:off x="250825" y="1557338"/>
            <a:ext cx="8642350" cy="3887787"/>
          </a:xfrm>
        </p:spPr>
        <p:txBody>
          <a:bodyPr>
            <a:normAutofit/>
          </a:bodyPr>
          <a:lstStyle/>
          <a:p>
            <a:pPr eaLnBrk="1">
              <a:defRPr/>
            </a:pPr>
            <a:r>
              <a:rPr lang="zh-CN" altLang="en-US" sz="2800" dirty="0"/>
              <a:t>以数学家和逻辑学家</a:t>
            </a:r>
            <a:r>
              <a:rPr lang="en-US" altLang="zh-CN" sz="2800" dirty="0"/>
              <a:t>Haskell Curry</a:t>
            </a:r>
            <a:r>
              <a:rPr lang="zh-CN" altLang="en-US" sz="2800" dirty="0"/>
              <a:t>的名字来命名的。</a:t>
            </a:r>
            <a:endParaRPr lang="en-US" altLang="zh-CN" sz="2800" dirty="0"/>
          </a:p>
          <a:p>
            <a:pPr eaLnBrk="1">
              <a:defRPr/>
            </a:pPr>
            <a:r>
              <a:rPr lang="zh-CN" altLang="en-US" sz="2800" dirty="0"/>
              <a:t>把一个多参数的函数变换成一系列单参数的函数，它们分别接收原函数的第一个参数、第二个个参数、</a:t>
            </a:r>
            <a:r>
              <a:rPr lang="en-US" altLang="zh-CN" sz="2800" dirty="0"/>
              <a:t>......</a:t>
            </a:r>
            <a:r>
              <a:rPr lang="zh-CN" altLang="en-US" sz="2800" dirty="0"/>
              <a:t>。</a:t>
            </a:r>
            <a:endParaRPr lang="en-US" altLang="zh-CN" sz="2800" dirty="0"/>
          </a:p>
          <a:p>
            <a:pPr eaLnBrk="1">
              <a:defRPr/>
            </a:pPr>
            <a:r>
              <a:rPr lang="zh-CN" altLang="en-US" sz="2800" dirty="0"/>
              <a:t>在柯里化的应用过程中会用到部分函数应用。</a:t>
            </a:r>
            <a:endParaRPr lang="en-US" altLang="zh-CN" sz="2800" dirty="0"/>
          </a:p>
        </p:txBody>
      </p:sp>
      <p:sp>
        <p:nvSpPr>
          <p:cNvPr id="4" name="标题 1">
            <a:extLst>
              <a:ext uri="{FF2B5EF4-FFF2-40B4-BE49-F238E27FC236}">
                <a16:creationId xmlns:a16="http://schemas.microsoft.com/office/drawing/2014/main" id="{2CB389B5-D571-2F09-37FD-632982817D37}"/>
              </a:ext>
            </a:extLst>
          </p:cNvPr>
          <p:cNvSpPr>
            <a:spLocks noGrp="1"/>
          </p:cNvSpPr>
          <p:nvPr>
            <p:ph type="title"/>
          </p:nvPr>
        </p:nvSpPr>
        <p:spPr>
          <a:xfrm>
            <a:off x="457200" y="-26988"/>
            <a:ext cx="8229600" cy="1139826"/>
          </a:xfrm>
        </p:spPr>
        <p:txBody>
          <a:bodyPr/>
          <a:lstStyle/>
          <a:p>
            <a:pPr>
              <a:defRPr/>
            </a:pPr>
            <a:r>
              <a:rPr lang="zh-CN" altLang="en-US" dirty="0"/>
              <a:t>柯里化操作（</a:t>
            </a:r>
            <a:r>
              <a:rPr lang="en-US" altLang="zh-CN" dirty="0"/>
              <a:t>Currying</a:t>
            </a:r>
            <a:r>
              <a:rPr lang="zh-CN" altLang="en-US"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CAF2D9-60B3-272E-9AF5-5DAF772007D9}"/>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E73731E3-6E46-691F-7687-1DF2FE35A3FA}"/>
              </a:ext>
            </a:extLst>
          </p:cNvPr>
          <p:cNvSpPr>
            <a:spLocks noGrp="1"/>
          </p:cNvSpPr>
          <p:nvPr>
            <p:ph idx="1"/>
          </p:nvPr>
        </p:nvSpPr>
        <p:spPr/>
        <p:txBody>
          <a:bodyPr/>
          <a:lstStyle/>
          <a:p>
            <a:pPr eaLnBrk="1">
              <a:defRPr/>
            </a:pPr>
            <a:r>
              <a:rPr lang="zh-CN" altLang="en-US" sz="2800" dirty="0"/>
              <a:t>柯里化操作的意义：</a:t>
            </a:r>
            <a:endParaRPr lang="en-US" altLang="zh-CN" sz="2800" dirty="0"/>
          </a:p>
          <a:p>
            <a:pPr lvl="1" eaLnBrk="1">
              <a:defRPr/>
            </a:pPr>
            <a:r>
              <a:rPr lang="zh-CN" altLang="en-US" sz="2400" dirty="0"/>
              <a:t>数学上：对单参数函数的研究模型可以用到多参数函数上。</a:t>
            </a:r>
            <a:endParaRPr lang="en-US" altLang="zh-CN" sz="2400" dirty="0"/>
          </a:p>
          <a:p>
            <a:pPr lvl="1" eaLnBrk="1">
              <a:defRPr/>
            </a:pPr>
            <a:r>
              <a:rPr lang="zh-CN" altLang="en-US" sz="2400" dirty="0"/>
              <a:t>对程序设计：不必把一个多参数的函数所需要的参数同时提供给它，可以逐步提供。</a:t>
            </a:r>
            <a:endParaRPr lang="en-US" altLang="zh-C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8258448-85FA-36FC-AE53-1124E4016404}"/>
              </a:ext>
            </a:extLst>
          </p:cNvPr>
          <p:cNvSpPr>
            <a:spLocks noGrp="1"/>
          </p:cNvSpPr>
          <p:nvPr>
            <p:ph idx="1"/>
          </p:nvPr>
        </p:nvSpPr>
        <p:spPr>
          <a:xfrm>
            <a:off x="323850" y="765175"/>
            <a:ext cx="8351838" cy="5543550"/>
          </a:xfrm>
        </p:spPr>
        <p:txBody>
          <a:bodyPr>
            <a:normAutofit fontScale="85000" lnSpcReduction="10000"/>
          </a:bodyPr>
          <a:lstStyle/>
          <a:p>
            <a:pPr>
              <a:lnSpc>
                <a:spcPct val="120000"/>
              </a:lnSpc>
              <a:defRPr/>
            </a:pPr>
            <a:r>
              <a:rPr lang="zh-CN" altLang="en-US" sz="3300" dirty="0"/>
              <a:t>例如，对于下面带两个参数的函数</a:t>
            </a:r>
            <a:r>
              <a:rPr lang="en-US" altLang="zh-CN" sz="3300" dirty="0"/>
              <a:t>f(</a:t>
            </a:r>
            <a:r>
              <a:rPr lang="en-US" altLang="zh-CN" sz="3300" dirty="0" err="1"/>
              <a:t>x,y</a:t>
            </a:r>
            <a:r>
              <a:rPr lang="en-US" altLang="zh-CN" sz="3300" dirty="0"/>
              <a:t>)</a:t>
            </a:r>
            <a:r>
              <a:rPr lang="zh-CN" altLang="en-US" sz="3300" dirty="0"/>
              <a:t>：</a:t>
            </a:r>
            <a:endParaRPr lang="en-US" altLang="zh-CN" sz="3300" dirty="0"/>
          </a:p>
          <a:p>
            <a:pPr marL="400050" lvl="1" indent="0">
              <a:buFont typeface="Wingdings" pitchFamily="2" charset="2"/>
              <a:buNone/>
              <a:defRPr/>
            </a:pPr>
            <a:r>
              <a:rPr lang="en-US" altLang="zh-CN" sz="2600" dirty="0"/>
              <a:t>#include &lt;functional&gt;</a:t>
            </a:r>
          </a:p>
          <a:p>
            <a:pPr marL="400050" lvl="1" indent="0">
              <a:buFont typeface="Wingdings" pitchFamily="2" charset="2"/>
              <a:buNone/>
              <a:defRPr/>
            </a:pPr>
            <a:r>
              <a:rPr lang="en-US" altLang="zh-CN" sz="2600" dirty="0"/>
              <a:t>using namespace </a:t>
            </a:r>
            <a:r>
              <a:rPr lang="en-US" altLang="zh-CN" sz="2600" dirty="0" err="1"/>
              <a:t>std</a:t>
            </a:r>
            <a:r>
              <a:rPr lang="en-US" altLang="zh-CN" sz="2600" dirty="0"/>
              <a:t>;</a:t>
            </a:r>
          </a:p>
          <a:p>
            <a:pPr marL="400050" lvl="1" indent="0">
              <a:buFont typeface="Wingdings" pitchFamily="2" charset="2"/>
              <a:buNone/>
              <a:defRPr/>
            </a:pPr>
            <a:r>
              <a:rPr lang="en-US" altLang="zh-CN" sz="2600" dirty="0" err="1"/>
              <a:t>int</a:t>
            </a:r>
            <a:r>
              <a:rPr lang="en-US" altLang="zh-CN" sz="2600" dirty="0"/>
              <a:t> f(</a:t>
            </a:r>
            <a:r>
              <a:rPr lang="en-US" altLang="zh-CN" sz="2600" dirty="0" err="1"/>
              <a:t>int</a:t>
            </a:r>
            <a:r>
              <a:rPr lang="en-US" altLang="zh-CN" sz="2600" dirty="0"/>
              <a:t> </a:t>
            </a:r>
            <a:r>
              <a:rPr lang="en-US" altLang="zh-CN" sz="2600" dirty="0" err="1"/>
              <a:t>x,int</a:t>
            </a:r>
            <a:r>
              <a:rPr lang="en-US" altLang="zh-CN" sz="2600" dirty="0"/>
              <a:t> y) { return </a:t>
            </a:r>
            <a:r>
              <a:rPr lang="en-US" altLang="zh-CN" sz="2600" dirty="0" err="1"/>
              <a:t>x+y</a:t>
            </a:r>
            <a:r>
              <a:rPr lang="en-US" altLang="zh-CN" sz="2600" dirty="0"/>
              <a:t>; }</a:t>
            </a:r>
          </a:p>
          <a:p>
            <a:pPr marL="361950" indent="-361950" eaLnBrk="1">
              <a:defRPr/>
            </a:pPr>
            <a:r>
              <a:rPr lang="zh-CN" altLang="en-US" sz="3300" dirty="0"/>
              <a:t>可把它变成一个</a:t>
            </a:r>
            <a:r>
              <a:rPr lang="zh-CN" altLang="en-US" sz="3300" dirty="0">
                <a:solidFill>
                  <a:srgbClr val="FFC000"/>
                </a:solidFill>
              </a:rPr>
              <a:t>单参数</a:t>
            </a:r>
            <a:r>
              <a:rPr lang="zh-CN" altLang="en-US" sz="3300" dirty="0"/>
              <a:t>函数</a:t>
            </a:r>
            <a:r>
              <a:rPr lang="en-US" altLang="zh-CN" sz="3300" dirty="0" err="1"/>
              <a:t>f_cd</a:t>
            </a:r>
            <a:r>
              <a:rPr lang="zh-CN" altLang="en-US" sz="3300" dirty="0"/>
              <a:t>（参数为</a:t>
            </a:r>
            <a:r>
              <a:rPr lang="en-US" altLang="zh-CN" sz="3300" dirty="0"/>
              <a:t>f</a:t>
            </a:r>
            <a:r>
              <a:rPr lang="zh-CN" altLang="en-US" sz="3300" dirty="0"/>
              <a:t>的参数</a:t>
            </a:r>
            <a:r>
              <a:rPr lang="en-US" altLang="zh-CN" sz="3300" dirty="0"/>
              <a:t>x</a:t>
            </a:r>
            <a:r>
              <a:rPr lang="zh-CN" altLang="en-US" sz="3300" dirty="0"/>
              <a:t>），该函数返回另一个单参数函数（参数为</a:t>
            </a:r>
            <a:r>
              <a:rPr lang="en-US" altLang="zh-CN" sz="3300" dirty="0"/>
              <a:t>f</a:t>
            </a:r>
            <a:r>
              <a:rPr lang="zh-CN" altLang="en-US" sz="3300" dirty="0"/>
              <a:t>的参数</a:t>
            </a:r>
            <a:r>
              <a:rPr lang="en-US" altLang="zh-CN" sz="3300" dirty="0"/>
              <a:t>y</a:t>
            </a:r>
            <a:r>
              <a:rPr lang="zh-CN" altLang="en-US" sz="3300" dirty="0"/>
              <a:t>）</a:t>
            </a:r>
            <a:endParaRPr lang="en-US" altLang="zh-CN" sz="3300" dirty="0"/>
          </a:p>
          <a:p>
            <a:pPr marL="400050" lvl="1" indent="0">
              <a:buFont typeface="Wingdings" pitchFamily="2" charset="2"/>
              <a:buNone/>
              <a:defRPr/>
            </a:pPr>
            <a:r>
              <a:rPr lang="en-US" altLang="zh-CN" sz="2600" dirty="0">
                <a:solidFill>
                  <a:srgbClr val="FFC000"/>
                </a:solidFill>
              </a:rPr>
              <a:t>function&lt;</a:t>
            </a:r>
            <a:r>
              <a:rPr lang="en-US" altLang="zh-CN" sz="2600" dirty="0" err="1">
                <a:solidFill>
                  <a:srgbClr val="FFC000"/>
                </a:solidFill>
              </a:rPr>
              <a:t>int</a:t>
            </a:r>
            <a:r>
              <a:rPr lang="en-US" altLang="zh-CN" sz="2600" dirty="0">
                <a:solidFill>
                  <a:srgbClr val="FFC000"/>
                </a:solidFill>
              </a:rPr>
              <a:t> (</a:t>
            </a:r>
            <a:r>
              <a:rPr lang="en-US" altLang="zh-CN" sz="2600" dirty="0" err="1">
                <a:solidFill>
                  <a:srgbClr val="FFC000"/>
                </a:solidFill>
              </a:rPr>
              <a:t>int</a:t>
            </a:r>
            <a:r>
              <a:rPr lang="en-US" altLang="zh-CN" sz="2600" dirty="0">
                <a:solidFill>
                  <a:srgbClr val="FFC000"/>
                </a:solidFill>
              </a:rPr>
              <a:t>)&gt;</a:t>
            </a:r>
            <a:r>
              <a:rPr lang="en-US" altLang="zh-CN" sz="2600" dirty="0"/>
              <a:t>  </a:t>
            </a:r>
            <a:r>
              <a:rPr lang="en-US" altLang="zh-CN" sz="2600" dirty="0" err="1"/>
              <a:t>f_cd</a:t>
            </a:r>
            <a:r>
              <a:rPr lang="en-US" altLang="zh-CN" sz="2600" dirty="0"/>
              <a:t>(</a:t>
            </a:r>
            <a:r>
              <a:rPr lang="en-US" altLang="zh-CN" sz="2600" dirty="0" err="1"/>
              <a:t>int</a:t>
            </a:r>
            <a:r>
              <a:rPr lang="en-US" altLang="zh-CN" sz="2600" dirty="0"/>
              <a:t> x) //</a:t>
            </a:r>
            <a:r>
              <a:rPr lang="zh-CN" altLang="en-US" sz="2600" dirty="0">
                <a:solidFill>
                  <a:srgbClr val="FFC000"/>
                </a:solidFill>
              </a:rPr>
              <a:t>返回值是个单参数函数</a:t>
            </a:r>
            <a:endParaRPr lang="en-US" altLang="zh-CN" sz="2600" dirty="0">
              <a:solidFill>
                <a:srgbClr val="FFC000"/>
              </a:solidFill>
            </a:endParaRPr>
          </a:p>
          <a:p>
            <a:pPr marL="400050" lvl="1" indent="0">
              <a:buFont typeface="Wingdings" pitchFamily="2" charset="2"/>
              <a:buNone/>
              <a:defRPr/>
            </a:pPr>
            <a:r>
              <a:rPr lang="en-US" altLang="zh-CN" sz="2600" dirty="0"/>
              <a:t>{ return bind(f,x,_1);</a:t>
            </a:r>
          </a:p>
          <a:p>
            <a:pPr marL="400050" lvl="1" indent="0">
              <a:buFont typeface="Wingdings" pitchFamily="2" charset="2"/>
              <a:buNone/>
              <a:defRPr/>
            </a:pPr>
            <a:r>
              <a:rPr lang="en-US" altLang="zh-CN" sz="2600" dirty="0"/>
              <a:t>   //</a:t>
            </a:r>
            <a:r>
              <a:rPr lang="zh-CN" altLang="en-US" sz="2600" dirty="0"/>
              <a:t>或</a:t>
            </a:r>
            <a:endParaRPr lang="en-US" altLang="zh-CN" sz="2600" dirty="0"/>
          </a:p>
          <a:p>
            <a:pPr marL="400050" lvl="1" indent="0">
              <a:buFont typeface="Wingdings" pitchFamily="2" charset="2"/>
              <a:buNone/>
              <a:defRPr/>
            </a:pPr>
            <a:r>
              <a:rPr lang="en-US" altLang="zh-CN" sz="2600" dirty="0"/>
              <a:t>   return [x](</a:t>
            </a:r>
            <a:r>
              <a:rPr lang="en-US" altLang="zh-CN" sz="2600" dirty="0" err="1"/>
              <a:t>int</a:t>
            </a:r>
            <a:r>
              <a:rPr lang="en-US" altLang="zh-CN" sz="2600" dirty="0"/>
              <a:t> y)-&gt;</a:t>
            </a:r>
            <a:r>
              <a:rPr lang="en-US" altLang="zh-CN" sz="2600" dirty="0" err="1"/>
              <a:t>int</a:t>
            </a:r>
            <a:r>
              <a:rPr lang="en-US" altLang="zh-CN" sz="2600" dirty="0"/>
              <a:t> { return f(</a:t>
            </a:r>
            <a:r>
              <a:rPr lang="en-US" altLang="zh-CN" sz="2600" dirty="0" err="1"/>
              <a:t>x,y</a:t>
            </a:r>
            <a:r>
              <a:rPr lang="en-US" altLang="zh-CN" sz="2600" dirty="0"/>
              <a:t>); };</a:t>
            </a:r>
          </a:p>
          <a:p>
            <a:pPr marL="400050" lvl="1" indent="0">
              <a:buFont typeface="Wingdings" pitchFamily="2" charset="2"/>
              <a:buNone/>
              <a:defRPr/>
            </a:pPr>
            <a:r>
              <a:rPr lang="en-US" altLang="zh-CN" sz="2600" dirty="0"/>
              <a:t>}</a:t>
            </a:r>
          </a:p>
          <a:p>
            <a:pPr marL="400050" lvl="1" indent="0">
              <a:buFont typeface="Wingdings" pitchFamily="2" charset="2"/>
              <a:buNone/>
              <a:defRPr/>
            </a:pPr>
            <a:r>
              <a:rPr lang="en-US" altLang="zh-CN" sz="2600" dirty="0" err="1"/>
              <a:t>cout</a:t>
            </a:r>
            <a:r>
              <a:rPr lang="en-US" altLang="zh-CN" sz="2600" dirty="0"/>
              <a:t> &lt;&lt; f(1,2);</a:t>
            </a:r>
          </a:p>
          <a:p>
            <a:pPr marL="400050" lvl="1" indent="0">
              <a:buFont typeface="Wingdings" pitchFamily="2" charset="2"/>
              <a:buNone/>
              <a:defRPr/>
            </a:pPr>
            <a:r>
              <a:rPr lang="en-US" altLang="zh-CN" sz="2600" dirty="0" err="1"/>
              <a:t>cout</a:t>
            </a:r>
            <a:r>
              <a:rPr lang="en-US" altLang="zh-CN" sz="2600" dirty="0"/>
              <a:t> &lt;&lt; </a:t>
            </a:r>
            <a:r>
              <a:rPr lang="en-US" altLang="zh-CN" sz="2600" dirty="0" err="1"/>
              <a:t>f_cd</a:t>
            </a:r>
            <a:r>
              <a:rPr lang="en-US" altLang="zh-CN" sz="2600" dirty="0"/>
              <a:t>(1)(2);</a:t>
            </a:r>
          </a:p>
          <a:p>
            <a:pPr>
              <a:defRPr/>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EAAC0A-82F6-0B4A-F230-00487F066E16}"/>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25C06B02-6C45-BDCF-9FC5-AFCECED5E613}"/>
              </a:ext>
            </a:extLst>
          </p:cNvPr>
          <p:cNvSpPr>
            <a:spLocks noGrp="1"/>
          </p:cNvSpPr>
          <p:nvPr>
            <p:ph idx="1"/>
          </p:nvPr>
        </p:nvSpPr>
        <p:spPr>
          <a:xfrm>
            <a:off x="457200" y="1600200"/>
            <a:ext cx="8507413" cy="4530725"/>
          </a:xfrm>
        </p:spPr>
        <p:txBody>
          <a:bodyPr>
            <a:normAutofit fontScale="92500" lnSpcReduction="10000"/>
          </a:bodyPr>
          <a:lstStyle/>
          <a:p>
            <a:pPr eaLnBrk="1" hangingPunct="1">
              <a:lnSpc>
                <a:spcPct val="120000"/>
              </a:lnSpc>
              <a:defRPr/>
            </a:pPr>
            <a:r>
              <a:rPr lang="zh-CN" altLang="en-US" dirty="0"/>
              <a:t>例如，利用上面的函数</a:t>
            </a:r>
            <a:r>
              <a:rPr lang="en-US" altLang="zh-CN" dirty="0" err="1"/>
              <a:t>f_cd</a:t>
            </a:r>
            <a:r>
              <a:rPr lang="zh-CN" altLang="en-US" dirty="0"/>
              <a:t>可以先给函数</a:t>
            </a:r>
            <a:r>
              <a:rPr lang="en-US" altLang="zh-CN" dirty="0"/>
              <a:t>f</a:t>
            </a:r>
            <a:r>
              <a:rPr lang="zh-CN" altLang="en-US" dirty="0"/>
              <a:t>提供一个参数</a:t>
            </a:r>
            <a:r>
              <a:rPr lang="en-US" altLang="zh-CN" dirty="0"/>
              <a:t>5</a:t>
            </a:r>
            <a:r>
              <a:rPr lang="zh-CN" altLang="en-US" dirty="0"/>
              <a:t>，从而得到一个特定的函数</a:t>
            </a:r>
            <a:r>
              <a:rPr lang="en-US" altLang="zh-CN" dirty="0"/>
              <a:t>add5</a:t>
            </a:r>
            <a:r>
              <a:rPr lang="zh-CN" altLang="en-US" dirty="0"/>
              <a:t>：</a:t>
            </a:r>
            <a:endParaRPr lang="en-US" altLang="zh-CN" dirty="0"/>
          </a:p>
          <a:p>
            <a:pPr marL="457200" lvl="1" indent="0">
              <a:lnSpc>
                <a:spcPct val="120000"/>
              </a:lnSpc>
              <a:buFontTx/>
              <a:buNone/>
              <a:defRPr/>
            </a:pPr>
            <a:r>
              <a:rPr lang="en-US" altLang="zh-CN" sz="2400" dirty="0"/>
              <a:t>function&lt;</a:t>
            </a:r>
            <a:r>
              <a:rPr lang="en-US" altLang="zh-CN" sz="2400" dirty="0" err="1"/>
              <a:t>int</a:t>
            </a:r>
            <a:r>
              <a:rPr lang="en-US" altLang="zh-CN" sz="2400" dirty="0"/>
              <a:t> (</a:t>
            </a:r>
            <a:r>
              <a:rPr lang="en-US" altLang="zh-CN" sz="2400" dirty="0" err="1"/>
              <a:t>int</a:t>
            </a:r>
            <a:r>
              <a:rPr lang="en-US" altLang="zh-CN" sz="2400" dirty="0"/>
              <a:t>)&gt; </a:t>
            </a:r>
            <a:r>
              <a:rPr lang="en-US" altLang="zh-CN" sz="2400" dirty="0">
                <a:solidFill>
                  <a:srgbClr val="FFC000"/>
                </a:solidFill>
              </a:rPr>
              <a:t>add5</a:t>
            </a:r>
            <a:r>
              <a:rPr lang="en-US" altLang="zh-CN" sz="2400" dirty="0"/>
              <a:t>=</a:t>
            </a:r>
            <a:r>
              <a:rPr lang="en-US" altLang="zh-CN" sz="2400" dirty="0" err="1"/>
              <a:t>f_cd</a:t>
            </a:r>
            <a:r>
              <a:rPr lang="en-US" altLang="zh-CN" sz="2400" dirty="0"/>
              <a:t>(5); //add5(y)=5+y</a:t>
            </a:r>
          </a:p>
          <a:p>
            <a:pPr>
              <a:lnSpc>
                <a:spcPct val="120000"/>
              </a:lnSpc>
              <a:defRPr/>
            </a:pPr>
            <a:r>
              <a:rPr lang="zh-CN" altLang="en-US" sz="2800" dirty="0"/>
              <a:t>然后，利用</a:t>
            </a:r>
            <a:r>
              <a:rPr lang="en-US" altLang="zh-CN" sz="2800" dirty="0"/>
              <a:t>add5</a:t>
            </a:r>
            <a:r>
              <a:rPr lang="zh-CN" altLang="en-US" sz="2800" dirty="0"/>
              <a:t>再给</a:t>
            </a:r>
            <a:r>
              <a:rPr lang="en-US" altLang="zh-CN" sz="2800" dirty="0"/>
              <a:t>f</a:t>
            </a:r>
            <a:r>
              <a:rPr lang="zh-CN" altLang="en-US" sz="2800" dirty="0"/>
              <a:t>提供第二个参数：</a:t>
            </a:r>
            <a:endParaRPr lang="en-US" altLang="zh-CN" sz="2800" dirty="0"/>
          </a:p>
          <a:p>
            <a:pPr marL="457200" lvl="1" indent="0">
              <a:lnSpc>
                <a:spcPct val="120000"/>
              </a:lnSpc>
              <a:buFontTx/>
              <a:buNone/>
              <a:defRPr/>
            </a:pPr>
            <a:r>
              <a:rPr lang="en-US" altLang="zh-CN" sz="2400" dirty="0" err="1"/>
              <a:t>int</a:t>
            </a:r>
            <a:r>
              <a:rPr lang="en-US" altLang="zh-CN" sz="2400" dirty="0"/>
              <a:t> </a:t>
            </a:r>
            <a:r>
              <a:rPr lang="en-US" altLang="zh-CN" sz="2400" dirty="0" err="1"/>
              <a:t>a,b,c</a:t>
            </a:r>
            <a:r>
              <a:rPr lang="en-US" altLang="zh-CN" sz="2400" dirty="0"/>
              <a:t>;</a:t>
            </a:r>
          </a:p>
          <a:p>
            <a:pPr marL="457200" lvl="1" indent="0">
              <a:lnSpc>
                <a:spcPct val="120000"/>
              </a:lnSpc>
              <a:buFontTx/>
              <a:buNone/>
              <a:defRPr/>
            </a:pPr>
            <a:r>
              <a:rPr lang="en-US" altLang="zh-CN" sz="2400" dirty="0"/>
              <a:t>......</a:t>
            </a:r>
          </a:p>
          <a:p>
            <a:pPr marL="457200" lvl="1" indent="0">
              <a:lnSpc>
                <a:spcPct val="120000"/>
              </a:lnSpc>
              <a:buFontTx/>
              <a:buNone/>
              <a:defRPr/>
            </a:pPr>
            <a:r>
              <a:rPr lang="en-US" altLang="zh-CN" sz="2400" dirty="0"/>
              <a:t>... add5(a) ... //</a:t>
            </a:r>
            <a:r>
              <a:rPr lang="zh-CN" altLang="en-US" sz="2400" dirty="0"/>
              <a:t>返回</a:t>
            </a:r>
            <a:r>
              <a:rPr lang="en-US" altLang="zh-CN" sz="2400" dirty="0"/>
              <a:t>a+5</a:t>
            </a:r>
          </a:p>
          <a:p>
            <a:pPr marL="457200" lvl="1" indent="0">
              <a:lnSpc>
                <a:spcPct val="120000"/>
              </a:lnSpc>
              <a:buFontTx/>
              <a:buNone/>
              <a:defRPr/>
            </a:pPr>
            <a:r>
              <a:rPr lang="en-US" altLang="zh-CN" sz="2400" dirty="0"/>
              <a:t>... add5(b) ... //</a:t>
            </a:r>
            <a:r>
              <a:rPr lang="zh-CN" altLang="en-US" sz="2400" dirty="0"/>
              <a:t>返回</a:t>
            </a:r>
            <a:r>
              <a:rPr lang="en-US" altLang="zh-CN" sz="2400" dirty="0"/>
              <a:t>b+5</a:t>
            </a:r>
          </a:p>
          <a:p>
            <a:pPr marL="457200" lvl="1" indent="0">
              <a:lnSpc>
                <a:spcPct val="120000"/>
              </a:lnSpc>
              <a:buFontTx/>
              <a:buNone/>
              <a:defRPr/>
            </a:pPr>
            <a:r>
              <a:rPr lang="en-US" altLang="zh-CN" sz="2400" dirty="0"/>
              <a:t>... add5(c) ... //</a:t>
            </a:r>
            <a:r>
              <a:rPr lang="zh-CN" altLang="en-US" sz="2400" dirty="0"/>
              <a:t>返回</a:t>
            </a:r>
            <a:r>
              <a:rPr lang="en-US" altLang="zh-CN" sz="2400" dirty="0"/>
              <a:t>c+5</a:t>
            </a:r>
          </a:p>
          <a:p>
            <a:pPr marL="457200" lvl="1" indent="0">
              <a:buFontTx/>
              <a:buNone/>
              <a:defRPr/>
            </a:pPr>
            <a:endParaRPr lang="en-US" altLang="zh-CN"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E48C0C-B55B-C651-1671-454E74964335}"/>
              </a:ext>
            </a:extLst>
          </p:cNvPr>
          <p:cNvSpPr>
            <a:spLocks noGrp="1"/>
          </p:cNvSpPr>
          <p:nvPr>
            <p:ph type="title"/>
          </p:nvPr>
        </p:nvSpPr>
        <p:spPr/>
        <p:txBody>
          <a:bodyPr/>
          <a:lstStyle/>
          <a:p>
            <a:pPr>
              <a:defRPr/>
            </a:pPr>
            <a:r>
              <a:rPr lang="zh-CN" altLang="zh-CN" dirty="0">
                <a:effectLst/>
              </a:rPr>
              <a:t>偏函数应用和柯里化</a:t>
            </a:r>
            <a:r>
              <a:rPr lang="zh-CN" altLang="en-US" dirty="0">
                <a:effectLst/>
              </a:rPr>
              <a:t>的区别</a:t>
            </a:r>
            <a:endParaRPr lang="zh-CN" altLang="en-US" dirty="0"/>
          </a:p>
        </p:txBody>
      </p:sp>
      <p:sp>
        <p:nvSpPr>
          <p:cNvPr id="3" name="内容占位符 2">
            <a:extLst>
              <a:ext uri="{FF2B5EF4-FFF2-40B4-BE49-F238E27FC236}">
                <a16:creationId xmlns:a16="http://schemas.microsoft.com/office/drawing/2014/main" id="{7CB43307-F6D2-C0BA-7478-9D9309BF8DC0}"/>
              </a:ext>
            </a:extLst>
          </p:cNvPr>
          <p:cNvSpPr>
            <a:spLocks noGrp="1"/>
          </p:cNvSpPr>
          <p:nvPr>
            <p:ph idx="1"/>
          </p:nvPr>
        </p:nvSpPr>
        <p:spPr>
          <a:xfrm>
            <a:off x="457200" y="1600200"/>
            <a:ext cx="8229600" cy="4997450"/>
          </a:xfrm>
        </p:spPr>
        <p:txBody>
          <a:bodyPr>
            <a:normAutofit fontScale="92500" lnSpcReduction="20000"/>
          </a:bodyPr>
          <a:lstStyle/>
          <a:p>
            <a:pPr eaLnBrk="1" hangingPunct="1">
              <a:lnSpc>
                <a:spcPct val="120000"/>
              </a:lnSpc>
              <a:defRPr/>
            </a:pPr>
            <a:r>
              <a:rPr lang="zh-CN" altLang="en-US" dirty="0"/>
              <a:t>虽然偏函数应用和柯里化都能实现类似的功能，但它们是有区别的：</a:t>
            </a:r>
            <a:endParaRPr lang="en-US" altLang="zh-CN" dirty="0"/>
          </a:p>
          <a:p>
            <a:pPr lvl="1" eaLnBrk="1" hangingPunct="1">
              <a:lnSpc>
                <a:spcPct val="120000"/>
              </a:lnSpc>
              <a:defRPr/>
            </a:pPr>
            <a:r>
              <a:rPr lang="zh-CN" altLang="en-US" dirty="0"/>
              <a:t>偏函数应用是通过固定原函数的一些参数值来得到一个参数个数较少的函数，对该函数的调用将得到一个具体的值；</a:t>
            </a:r>
            <a:endParaRPr lang="en-US" altLang="zh-CN" dirty="0"/>
          </a:p>
          <a:p>
            <a:pPr lvl="1" eaLnBrk="1" hangingPunct="1">
              <a:lnSpc>
                <a:spcPct val="120000"/>
              </a:lnSpc>
              <a:defRPr/>
            </a:pPr>
            <a:r>
              <a:rPr lang="zh-CN" altLang="en-US" dirty="0"/>
              <a:t>柯里化则是把原函数转换成由一系列单参数的函数构成的函数链，对柯里化后的函数调用将得到函数链上的下一个函数，对函数链上最后一个函数的调用才会得到具体的值。</a:t>
            </a:r>
            <a:endParaRPr lang="en-US" altLang="zh-CN" dirty="0"/>
          </a:p>
          <a:p>
            <a:pPr lvl="1" eaLnBrk="1" hangingPunct="1">
              <a:lnSpc>
                <a:spcPct val="120000"/>
              </a:lnSpc>
              <a:defRPr/>
            </a:pPr>
            <a:r>
              <a:rPr lang="zh-CN" altLang="en-US" dirty="0"/>
              <a:t>偏函数应用可以按任意次序绑定原函数的参数值，而柯里化只能依次绑定原函数的参数值。</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9B9B01-663F-1731-7701-EF3923B752E2}"/>
              </a:ext>
            </a:extLst>
          </p:cNvPr>
          <p:cNvSpPr>
            <a:spLocks noGrp="1"/>
          </p:cNvSpPr>
          <p:nvPr>
            <p:ph type="title"/>
          </p:nvPr>
        </p:nvSpPr>
        <p:spPr/>
        <p:txBody>
          <a:bodyPr/>
          <a:lstStyle/>
          <a:p>
            <a:pPr>
              <a:defRPr/>
            </a:pPr>
            <a:r>
              <a:rPr lang="zh-CN" altLang="en-US" dirty="0"/>
              <a:t>逻辑式程序设计简介</a:t>
            </a:r>
          </a:p>
        </p:txBody>
      </p:sp>
      <p:sp>
        <p:nvSpPr>
          <p:cNvPr id="3" name="内容占位符 2">
            <a:extLst>
              <a:ext uri="{FF2B5EF4-FFF2-40B4-BE49-F238E27FC236}">
                <a16:creationId xmlns:a16="http://schemas.microsoft.com/office/drawing/2014/main" id="{94AB82DB-271E-DCDB-7B1B-D764610E2883}"/>
              </a:ext>
            </a:extLst>
          </p:cNvPr>
          <p:cNvSpPr>
            <a:spLocks noGrp="1"/>
          </p:cNvSpPr>
          <p:nvPr>
            <p:ph idx="1"/>
          </p:nvPr>
        </p:nvSpPr>
        <p:spPr/>
        <p:txBody>
          <a:bodyPr>
            <a:normAutofit fontScale="92500" lnSpcReduction="10000"/>
          </a:bodyPr>
          <a:lstStyle/>
          <a:p>
            <a:pPr eaLnBrk="1" hangingPunct="1">
              <a:defRPr/>
            </a:pPr>
            <a:r>
              <a:rPr lang="zh-CN" altLang="en-US" dirty="0"/>
              <a:t>程序由一组</a:t>
            </a:r>
            <a:r>
              <a:rPr lang="zh-CN" altLang="en-US" dirty="0">
                <a:solidFill>
                  <a:srgbClr val="FFC000"/>
                </a:solidFill>
              </a:rPr>
              <a:t>事实</a:t>
            </a:r>
            <a:r>
              <a:rPr lang="zh-CN" altLang="en-US" dirty="0"/>
              <a:t>和一组</a:t>
            </a:r>
            <a:r>
              <a:rPr lang="zh-CN" altLang="en-US" dirty="0">
                <a:solidFill>
                  <a:srgbClr val="FFC000"/>
                </a:solidFill>
              </a:rPr>
              <a:t>推理规则</a:t>
            </a:r>
            <a:r>
              <a:rPr lang="zh-CN" altLang="en-US" dirty="0"/>
              <a:t>构成，在事实基础上运用推理规则来实施计算。</a:t>
            </a:r>
            <a:endParaRPr lang="en-US" altLang="zh-CN" dirty="0"/>
          </a:p>
          <a:p>
            <a:pPr eaLnBrk="1" hangingPunct="1">
              <a:defRPr/>
            </a:pPr>
            <a:r>
              <a:rPr lang="zh-CN" altLang="en-US" dirty="0"/>
              <a:t>基于的理论是谓词演算。</a:t>
            </a:r>
            <a:endParaRPr lang="en-US" altLang="zh-CN" dirty="0"/>
          </a:p>
          <a:p>
            <a:pPr>
              <a:defRPr/>
            </a:pPr>
            <a:r>
              <a:rPr lang="zh-CN" altLang="en-US" dirty="0"/>
              <a:t>特征</a:t>
            </a:r>
            <a:endParaRPr lang="en-US" altLang="zh-CN" dirty="0"/>
          </a:p>
          <a:p>
            <a:pPr lvl="1">
              <a:defRPr/>
            </a:pPr>
            <a:r>
              <a:rPr lang="zh-CN" altLang="en-US" dirty="0"/>
              <a:t>数据（事实和规则）就是程序。</a:t>
            </a:r>
            <a:endParaRPr lang="en-US" altLang="zh-CN" dirty="0"/>
          </a:p>
          <a:p>
            <a:pPr lvl="1">
              <a:defRPr/>
            </a:pPr>
            <a:r>
              <a:rPr lang="zh-CN" altLang="en-US" dirty="0"/>
              <a:t>计算（匹配、搜索、回溯）由实现系统自动完成。</a:t>
            </a:r>
            <a:endParaRPr lang="en-US" altLang="zh-CN" dirty="0"/>
          </a:p>
          <a:p>
            <a:pPr>
              <a:defRPr/>
            </a:pPr>
            <a:r>
              <a:rPr lang="zh-CN" altLang="en-US" dirty="0"/>
              <a:t>语言</a:t>
            </a:r>
            <a:endParaRPr lang="en-US" altLang="zh-CN" dirty="0"/>
          </a:p>
          <a:p>
            <a:pPr lvl="1">
              <a:defRPr/>
            </a:pPr>
            <a:r>
              <a:rPr lang="en-US" altLang="zh-CN" dirty="0">
                <a:solidFill>
                  <a:srgbClr val="FFC000"/>
                </a:solidFill>
              </a:rPr>
              <a:t>Prolog</a:t>
            </a:r>
            <a:r>
              <a:rPr lang="en-US" altLang="zh-CN" dirty="0"/>
              <a:t>, ALF, </a:t>
            </a:r>
            <a:r>
              <a:rPr lang="en-US" altLang="zh-CN" dirty="0" err="1"/>
              <a:t>Fril</a:t>
            </a:r>
            <a:r>
              <a:rPr lang="en-US" altLang="zh-CN" dirty="0"/>
              <a:t>, Gödel, Mercury, Oz, Ciao, Visual Prolog, XSB</a:t>
            </a:r>
          </a:p>
          <a:p>
            <a:pPr lvl="1">
              <a:defRPr/>
            </a:pPr>
            <a:r>
              <a:rPr lang="en-US" altLang="zh-CN" dirty="0" err="1">
                <a:solidFill>
                  <a:srgbClr val="FFFF00"/>
                </a:solidFill>
              </a:rPr>
              <a:t>Datalog</a:t>
            </a:r>
            <a:endParaRPr lang="zh-CN" altLang="en-US" dirty="0">
              <a:solidFill>
                <a:srgbClr val="FFFF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758B6-03E8-BBD6-E9A1-9EA4983E69BD}"/>
              </a:ext>
            </a:extLst>
          </p:cNvPr>
          <p:cNvSpPr>
            <a:spLocks noGrp="1"/>
          </p:cNvSpPr>
          <p:nvPr>
            <p:ph type="title"/>
          </p:nvPr>
        </p:nvSpPr>
        <p:spPr/>
        <p:txBody>
          <a:bodyPr/>
          <a:lstStyle/>
          <a:p>
            <a:pPr>
              <a:defRPr/>
            </a:pPr>
            <a:r>
              <a:rPr lang="zh-CN" altLang="en-US" dirty="0"/>
              <a:t>例：判断两城市之间是否有公路</a:t>
            </a:r>
          </a:p>
        </p:txBody>
      </p:sp>
      <p:sp>
        <p:nvSpPr>
          <p:cNvPr id="3" name="内容占位符 2">
            <a:extLst>
              <a:ext uri="{FF2B5EF4-FFF2-40B4-BE49-F238E27FC236}">
                <a16:creationId xmlns:a16="http://schemas.microsoft.com/office/drawing/2014/main" id="{F536D51B-5C2B-0E97-91B9-9C2B347B1E9C}"/>
              </a:ext>
            </a:extLst>
          </p:cNvPr>
          <p:cNvSpPr>
            <a:spLocks noGrp="1"/>
          </p:cNvSpPr>
          <p:nvPr>
            <p:ph idx="1"/>
          </p:nvPr>
        </p:nvSpPr>
        <p:spPr>
          <a:xfrm>
            <a:off x="457200" y="1600200"/>
            <a:ext cx="8229600" cy="4997450"/>
          </a:xfrm>
        </p:spPr>
        <p:txBody>
          <a:bodyPr>
            <a:normAutofit fontScale="85000" lnSpcReduction="10000"/>
          </a:bodyPr>
          <a:lstStyle/>
          <a:p>
            <a:pPr marL="0" indent="0">
              <a:buFont typeface="Wingdings" panose="05000000000000000000" pitchFamily="2" charset="2"/>
              <a:buNone/>
              <a:defRPr/>
            </a:pPr>
            <a:r>
              <a:rPr lang="en-US" altLang="zh-CN" dirty="0"/>
              <a:t>//</a:t>
            </a:r>
            <a:r>
              <a:rPr lang="zh-CN" altLang="en-US" dirty="0"/>
              <a:t>事实</a:t>
            </a:r>
            <a:endParaRPr lang="en-US" altLang="zh-CN" dirty="0"/>
          </a:p>
          <a:p>
            <a:pPr marL="0" indent="0">
              <a:buFont typeface="Wingdings" panose="05000000000000000000" pitchFamily="2" charset="2"/>
              <a:buNone/>
              <a:defRPr/>
            </a:pPr>
            <a:r>
              <a:rPr lang="en-US" altLang="zh-CN" dirty="0"/>
              <a:t>path(</a:t>
            </a:r>
            <a:r>
              <a:rPr lang="en-US" altLang="zh-CN" dirty="0" err="1"/>
              <a:t>a,b</a:t>
            </a:r>
            <a:r>
              <a:rPr lang="en-US" altLang="zh-CN" dirty="0"/>
              <a:t>)   </a:t>
            </a:r>
          </a:p>
          <a:p>
            <a:pPr marL="0" indent="0">
              <a:buFont typeface="Wingdings" panose="05000000000000000000" pitchFamily="2" charset="2"/>
              <a:buNone/>
              <a:defRPr/>
            </a:pPr>
            <a:r>
              <a:rPr lang="en-US" altLang="zh-CN" dirty="0"/>
              <a:t>path(</a:t>
            </a:r>
            <a:r>
              <a:rPr lang="en-US" altLang="zh-CN" dirty="0" err="1"/>
              <a:t>c,d</a:t>
            </a:r>
            <a:r>
              <a:rPr lang="en-US" altLang="zh-CN" dirty="0"/>
              <a:t>)</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a:t>
            </a:r>
            <a:r>
              <a:rPr lang="zh-CN" altLang="en-US" dirty="0"/>
              <a:t>规则</a:t>
            </a:r>
            <a:endParaRPr lang="en-US" altLang="zh-CN" dirty="0"/>
          </a:p>
          <a:p>
            <a:pPr marL="0" indent="0">
              <a:buFont typeface="Wingdings" panose="05000000000000000000" pitchFamily="2" charset="2"/>
              <a:buNone/>
              <a:defRPr/>
            </a:pPr>
            <a:r>
              <a:rPr lang="en-US" altLang="zh-CN" dirty="0"/>
              <a:t>path(X,Y):-path(Y,X)</a:t>
            </a:r>
          </a:p>
          <a:p>
            <a:pPr marL="0" indent="0">
              <a:buFont typeface="Wingdings" panose="05000000000000000000" pitchFamily="2" charset="2"/>
              <a:buNone/>
              <a:defRPr/>
            </a:pPr>
            <a:r>
              <a:rPr lang="en-US" altLang="zh-CN" dirty="0"/>
              <a:t>path(X,Y):-path(X,Z),path(Z,Y)</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a:t>
            </a:r>
            <a:r>
              <a:rPr lang="zh-CN" altLang="en-US" dirty="0"/>
              <a:t>计算</a:t>
            </a:r>
            <a:endParaRPr lang="en-US" altLang="zh-CN" dirty="0"/>
          </a:p>
          <a:p>
            <a:pPr marL="0" indent="0">
              <a:buFont typeface="Wingdings" panose="05000000000000000000" pitchFamily="2" charset="2"/>
              <a:buNone/>
              <a:defRPr/>
            </a:pPr>
            <a:r>
              <a:rPr lang="en-US" altLang="zh-CN" dirty="0"/>
              <a:t>?-path(</a:t>
            </a:r>
            <a:r>
              <a:rPr lang="en-US" altLang="zh-CN" dirty="0" err="1"/>
              <a:t>m,n</a:t>
            </a:r>
            <a:r>
              <a:rPr lang="en-US" altLang="zh-CN" dirty="0"/>
              <a:t>)</a:t>
            </a:r>
          </a:p>
          <a:p>
            <a:pPr marL="0" indent="0">
              <a:buFont typeface="Wingdings" panose="05000000000000000000" pitchFamily="2" charset="2"/>
              <a:buNone/>
              <a:defRPr/>
            </a:pPr>
            <a:r>
              <a:rPr lang="zh-CN" altLang="en-US" dirty="0"/>
              <a:t>输出</a:t>
            </a:r>
            <a:r>
              <a:rPr lang="en-US" altLang="zh-CN" dirty="0"/>
              <a:t>true</a:t>
            </a:r>
            <a:r>
              <a:rPr lang="zh-CN" altLang="en-US" dirty="0"/>
              <a:t>或</a:t>
            </a:r>
            <a:r>
              <a:rPr lang="en-US" altLang="zh-CN" dirty="0"/>
              <a:t>false</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6A44AD-A412-A155-3D3A-7AE836E53D12}"/>
              </a:ext>
            </a:extLst>
          </p:cNvPr>
          <p:cNvSpPr>
            <a:spLocks noGrp="1"/>
          </p:cNvSpPr>
          <p:nvPr>
            <p:ph type="title"/>
          </p:nvPr>
        </p:nvSpPr>
        <p:spPr/>
        <p:txBody>
          <a:bodyPr/>
          <a:lstStyle/>
          <a:p>
            <a:pPr>
              <a:defRPr/>
            </a:pPr>
            <a:r>
              <a:rPr lang="zh-CN" altLang="en-US" dirty="0"/>
              <a:t>例：判断亲属关系</a:t>
            </a:r>
          </a:p>
        </p:txBody>
      </p:sp>
      <p:sp>
        <p:nvSpPr>
          <p:cNvPr id="3" name="内容占位符 2">
            <a:extLst>
              <a:ext uri="{FF2B5EF4-FFF2-40B4-BE49-F238E27FC236}">
                <a16:creationId xmlns:a16="http://schemas.microsoft.com/office/drawing/2014/main" id="{92279D88-177D-B15E-CD3E-3C15FC62A3F6}"/>
              </a:ext>
            </a:extLst>
          </p:cNvPr>
          <p:cNvSpPr>
            <a:spLocks noGrp="1"/>
          </p:cNvSpPr>
          <p:nvPr>
            <p:ph idx="1"/>
          </p:nvPr>
        </p:nvSpPr>
        <p:spPr/>
        <p:txBody>
          <a:bodyPr>
            <a:normAutofit fontScale="92500" lnSpcReduction="10000"/>
          </a:bodyPr>
          <a:lstStyle/>
          <a:p>
            <a:pPr marL="0" indent="0">
              <a:buFont typeface="Wingdings" panose="05000000000000000000" pitchFamily="2" charset="2"/>
              <a:buNone/>
              <a:defRPr/>
            </a:pPr>
            <a:r>
              <a:rPr lang="en-US" altLang="zh-CN" dirty="0"/>
              <a:t>father(</a:t>
            </a:r>
            <a:r>
              <a:rPr lang="en-US" altLang="zh-CN" dirty="0" err="1"/>
              <a:t>a,b</a:t>
            </a:r>
            <a:r>
              <a:rPr lang="en-US" altLang="zh-CN" dirty="0"/>
              <a:t>)</a:t>
            </a:r>
          </a:p>
          <a:p>
            <a:pPr marL="0" indent="0">
              <a:buFont typeface="Wingdings" panose="05000000000000000000" pitchFamily="2" charset="2"/>
              <a:buNone/>
              <a:defRPr/>
            </a:pPr>
            <a:r>
              <a:rPr lang="en-US" altLang="zh-CN" dirty="0"/>
              <a:t>father(</a:t>
            </a:r>
            <a:r>
              <a:rPr lang="en-US" altLang="zh-CN" dirty="0" err="1"/>
              <a:t>c,d</a:t>
            </a:r>
            <a:r>
              <a:rPr lang="en-US" altLang="zh-CN" dirty="0"/>
              <a:t>)</a:t>
            </a:r>
          </a:p>
          <a:p>
            <a:pPr marL="0" indent="0">
              <a:buFont typeface="Wingdings" panose="05000000000000000000" pitchFamily="2" charset="2"/>
              <a:buNone/>
              <a:defRPr/>
            </a:pPr>
            <a:r>
              <a:rPr lang="en-US" altLang="zh-CN" dirty="0"/>
              <a:t>brother(</a:t>
            </a:r>
            <a:r>
              <a:rPr lang="en-US" altLang="zh-CN" dirty="0" err="1"/>
              <a:t>a,c</a:t>
            </a:r>
            <a:r>
              <a:rPr lang="en-US" altLang="zh-CN" dirty="0"/>
              <a:t>)</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brother(X,Y):-brother(Y,X)</a:t>
            </a:r>
          </a:p>
          <a:p>
            <a:pPr marL="0" indent="0">
              <a:buFont typeface="Wingdings" panose="05000000000000000000" pitchFamily="2" charset="2"/>
              <a:buNone/>
              <a:defRPr/>
            </a:pPr>
            <a:r>
              <a:rPr lang="en-US" altLang="zh-CN" dirty="0"/>
              <a:t>uncle(X,Y):-brother(X,Z),father(Z,Y)</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?-uncle(</a:t>
            </a:r>
            <a:r>
              <a:rPr lang="en-US" altLang="zh-CN" dirty="0" err="1"/>
              <a:t>a,U</a:t>
            </a:r>
            <a:r>
              <a:rPr lang="en-US" altLang="zh-CN" dirty="0"/>
              <a:t>)</a:t>
            </a:r>
          </a:p>
          <a:p>
            <a:pPr marL="0" indent="0">
              <a:buFont typeface="Wingdings" panose="05000000000000000000" pitchFamily="2" charset="2"/>
              <a:buNone/>
              <a:defRPr/>
            </a:pPr>
            <a:r>
              <a:rPr lang="zh-CN" altLang="en-US" dirty="0"/>
              <a:t>输出</a:t>
            </a:r>
            <a:r>
              <a:rPr lang="en-US" altLang="zh-CN" dirty="0"/>
              <a:t>U</a:t>
            </a:r>
            <a:r>
              <a:rPr lang="zh-CN" altLang="en-US" dirty="0"/>
              <a:t>的值</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图片 3">
            <a:extLst>
              <a:ext uri="{FF2B5EF4-FFF2-40B4-BE49-F238E27FC236}">
                <a16:creationId xmlns:a16="http://schemas.microsoft.com/office/drawing/2014/main" id="{BF767A89-2042-4C8A-046E-C01B5A08A87E}"/>
              </a:ext>
            </a:extLst>
          </p:cNvPr>
          <p:cNvPicPr>
            <a:picLocks noChangeAspect="1"/>
          </p:cNvPicPr>
          <p:nvPr/>
        </p:nvPicPr>
        <p:blipFill>
          <a:blip r:embed="rId3">
            <a:extLst>
              <a:ext uri="{28A0092B-C50C-407E-A947-70E740481C1C}">
                <a14:useLocalDpi xmlns:a14="http://schemas.microsoft.com/office/drawing/2010/main" val="0"/>
              </a:ext>
            </a:extLst>
          </a:blip>
          <a:srcRect b="45168"/>
          <a:stretch>
            <a:fillRect/>
          </a:stretch>
        </p:blipFill>
        <p:spPr bwMode="auto">
          <a:xfrm>
            <a:off x="2843213" y="347663"/>
            <a:ext cx="5832475"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7" name="图片 4">
            <a:extLst>
              <a:ext uri="{FF2B5EF4-FFF2-40B4-BE49-F238E27FC236}">
                <a16:creationId xmlns:a16="http://schemas.microsoft.com/office/drawing/2014/main" id="{5E6374C2-D03B-13E6-B8E1-4B08DC879B9F}"/>
              </a:ext>
            </a:extLst>
          </p:cNvPr>
          <p:cNvPicPr>
            <a:picLocks noChangeAspect="1"/>
          </p:cNvPicPr>
          <p:nvPr/>
        </p:nvPicPr>
        <p:blipFill>
          <a:blip r:embed="rId3">
            <a:extLst>
              <a:ext uri="{28A0092B-C50C-407E-A947-70E740481C1C}">
                <a14:useLocalDpi xmlns:a14="http://schemas.microsoft.com/office/drawing/2010/main" val="0"/>
              </a:ext>
            </a:extLst>
          </a:blip>
          <a:srcRect t="57739"/>
          <a:stretch>
            <a:fillRect/>
          </a:stretch>
        </p:blipFill>
        <p:spPr bwMode="auto">
          <a:xfrm>
            <a:off x="2843213" y="3860800"/>
            <a:ext cx="5832475"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a:extLst>
              <a:ext uri="{FF2B5EF4-FFF2-40B4-BE49-F238E27FC236}">
                <a16:creationId xmlns:a16="http://schemas.microsoft.com/office/drawing/2014/main" id="{8D760B31-412D-B71F-392D-5464F27EBEE5}"/>
              </a:ext>
            </a:extLst>
          </p:cNvPr>
          <p:cNvSpPr>
            <a:spLocks noGrp="1"/>
          </p:cNvSpPr>
          <p:nvPr>
            <p:ph type="title"/>
          </p:nvPr>
        </p:nvSpPr>
        <p:spPr>
          <a:xfrm>
            <a:off x="457200" y="277813"/>
            <a:ext cx="1666875" cy="1139825"/>
          </a:xfrm>
        </p:spPr>
        <p:txBody>
          <a:bodyPr/>
          <a:lstStyle/>
          <a:p>
            <a:pPr>
              <a:defRPr/>
            </a:pPr>
            <a:r>
              <a:rPr lang="zh-CN" altLang="en-US" dirty="0"/>
              <a:t>示例</a:t>
            </a:r>
          </a:p>
        </p:txBody>
      </p:sp>
      <p:sp>
        <p:nvSpPr>
          <p:cNvPr id="41989" name="文本框 7">
            <a:extLst>
              <a:ext uri="{FF2B5EF4-FFF2-40B4-BE49-F238E27FC236}">
                <a16:creationId xmlns:a16="http://schemas.microsoft.com/office/drawing/2014/main" id="{262054E3-B2D2-E625-097A-FF995238218E}"/>
              </a:ext>
            </a:extLst>
          </p:cNvPr>
          <p:cNvSpPr txBox="1">
            <a:spLocks noChangeArrowheads="1"/>
          </p:cNvSpPr>
          <p:nvPr/>
        </p:nvSpPr>
        <p:spPr bwMode="auto">
          <a:xfrm>
            <a:off x="539750" y="6597650"/>
            <a:ext cx="3887788"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spcBef>
                <a:spcPct val="0"/>
              </a:spcBef>
              <a:buClrTx/>
              <a:buSzTx/>
              <a:buFontTx/>
              <a:buNone/>
            </a:pPr>
            <a:r>
              <a:rPr lang="en-US" altLang="zh-CN" sz="900"/>
              <a:t>https://blog.csdn.net/qq_40260394/article/details/134845294</a:t>
            </a:r>
            <a:endParaRPr lang="zh-CN" altLang="en-US" sz="900"/>
          </a:p>
        </p:txBody>
      </p:sp>
    </p:spTree>
  </p:cSld>
  <p:clrMapOvr>
    <a:masterClrMapping/>
  </p:clrMapOvr>
</p:sld>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23821</TotalTime>
  <Words>3260</Words>
  <Application>Microsoft Office PowerPoint</Application>
  <PresentationFormat>全屏显示(4:3)</PresentationFormat>
  <Paragraphs>304</Paragraphs>
  <Slides>37</Slides>
  <Notes>2</Notes>
  <HiddenSlides>6</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37</vt:i4>
      </vt:variant>
    </vt:vector>
  </HeadingPairs>
  <TitlesOfParts>
    <vt:vector size="42" baseType="lpstr">
      <vt:lpstr>Verdana</vt:lpstr>
      <vt:lpstr>宋体</vt:lpstr>
      <vt:lpstr>Arial</vt:lpstr>
      <vt:lpstr>Wingdings</vt:lpstr>
      <vt:lpstr>Globe</vt:lpstr>
      <vt:lpstr> 声明式程序设计</vt:lpstr>
      <vt:lpstr>主要内容</vt:lpstr>
      <vt:lpstr>命令式程序设计范式 （imperative programming）</vt:lpstr>
      <vt:lpstr>声明式程序设计范式 （declarative programming）</vt:lpstr>
      <vt:lpstr>什么是函数式程序设计</vt:lpstr>
      <vt:lpstr>函数式程序设计的例子</vt:lpstr>
      <vt:lpstr>函数式程序设计的例子</vt:lpstr>
      <vt:lpstr>函数式程序设计的例子</vt:lpstr>
      <vt:lpstr>函数式程序设计语言</vt:lpstr>
      <vt:lpstr>函数式程序设计语言</vt:lpstr>
      <vt:lpstr>函数式程序设计的基本特征</vt:lpstr>
      <vt:lpstr>函数式程序设计的基本特征</vt:lpstr>
      <vt:lpstr>函数式程序设计的基本手段</vt:lpstr>
      <vt:lpstr>递归</vt:lpstr>
      <vt:lpstr>尾递归</vt:lpstr>
      <vt:lpstr>尾递归自动转迭代</vt:lpstr>
      <vt:lpstr>PowerPoint 演示文稿</vt:lpstr>
      <vt:lpstr>过滤操作（Filter）</vt:lpstr>
      <vt:lpstr>映射操作（Map）</vt:lpstr>
      <vt:lpstr>规约操作（Reduce）</vt:lpstr>
      <vt:lpstr>PowerPoint 演示文稿</vt:lpstr>
      <vt:lpstr>部分函数应用 （Partial Function Application）</vt:lpstr>
      <vt:lpstr>PowerPoint 演示文稿</vt:lpstr>
      <vt:lpstr>PowerPoint 演示文稿</vt:lpstr>
      <vt:lpstr>PowerPoint 演示文稿</vt:lpstr>
      <vt:lpstr>PowerPoint 演示文稿</vt:lpstr>
      <vt:lpstr>PowerPoint 演示文稿</vt:lpstr>
      <vt:lpstr>PowerPoint 演示文稿</vt:lpstr>
      <vt:lpstr>柯里化操作（Currying）</vt:lpstr>
      <vt:lpstr>PowerPoint 演示文稿</vt:lpstr>
      <vt:lpstr>PowerPoint 演示文稿</vt:lpstr>
      <vt:lpstr>PowerPoint 演示文稿</vt:lpstr>
      <vt:lpstr>偏函数应用和柯里化的区别</vt:lpstr>
      <vt:lpstr>逻辑式程序设计简介</vt:lpstr>
      <vt:lpstr>例：判断两城市之间是否有公路</vt:lpstr>
      <vt:lpstr>例：判断亲属关系</vt:lpstr>
      <vt:lpstr>示例</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《程序设计》课程教学</dc:title>
  <dc:creator>chenjiajun</dc:creator>
  <cp:lastModifiedBy>润泽 颜</cp:lastModifiedBy>
  <cp:revision>504</cp:revision>
  <dcterms:created xsi:type="dcterms:W3CDTF">2005-06-30T13:15:58Z</dcterms:created>
  <dcterms:modified xsi:type="dcterms:W3CDTF">2026-06-18T00:20:37Z</dcterms:modified>
</cp:coreProperties>
</file>